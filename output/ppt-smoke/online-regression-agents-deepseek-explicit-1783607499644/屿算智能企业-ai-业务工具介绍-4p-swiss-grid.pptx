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屿算智脑：企业专属AI业务工作台</a:t>
            </a:r>
          </a:p>
          <a:p>
            <a:endParaRPr lang="en-US" dirty="0"/>
          </a:p>
          <a:p>
            <a:r>
              <a:rPr lang="zh-CN" dirty="0"/>
              <a:t>实用AI大于AI概念；知道AI能写文案、做图片和视频，但接不进真实工作流程。</a:t>
            </a:r>
          </a:p>
          <a:p>
            <a:endParaRPr lang="en-US" dirty="0"/>
          </a:p>
          <a:p>
            <a:r>
              <a:rPr lang="zh-CN" dirty="0"/>
              <a:t>• 17个AI智能体员工覆盖策划·销售·客服·法务等关键岗位</a:t>
            </a:r>
          </a:p>
          <a:p>
            <a:r>
              <a:rPr lang="zh-CN" dirty="0"/>
              <a:t>• 40+模型与工具接入，七层业务闭环从诊断直通资产沉淀</a:t>
            </a:r>
          </a:p>
          <a:p>
            <a:r>
              <a:rPr lang="zh-CN" dirty="0"/>
              <a:t>• 把单点AI工具升级为可执行、可管理、可复利的企业增长系统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决策路径</a:t>
            </a:r>
          </a:p>
          <a:p>
            <a:endParaRPr lang="en-US" dirty="0"/>
          </a:p>
          <a:p>
            <a:r>
              <a:rPr lang="zh-CN" dirty="0"/>
              <a:t>实用AI大于AI概念。</a:t>
            </a:r>
          </a:p>
          <a:p>
            <a:endParaRPr lang="en-US" dirty="0"/>
          </a:p>
          <a:p>
            <a:r>
              <a:rPr lang="zh-CN" dirty="0"/>
              <a:t>• 100个问题，一个答案：业务闭环</a:t>
            </a:r>
          </a:p>
          <a:p>
            <a:r>
              <a:rPr lang="zh-CN" dirty="0"/>
              <a:t>• 不会问·不会用·不沉淀</a:t>
            </a:r>
          </a:p>
          <a:p>
            <a:r>
              <a:rPr lang="zh-CN" dirty="0"/>
              <a:t>• 让AI进入岗位、流程、结果</a:t>
            </a:r>
          </a:p>
          <a:p>
            <a:r>
              <a:rPr lang="zh-CN" dirty="0"/>
              <a:t>• 从工具碎片到业务工作台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断层</a:t>
            </a:r>
          </a:p>
          <a:p>
            <a:endParaRPr lang="en-US" dirty="0"/>
          </a:p>
          <a:p>
            <a:r>
              <a:rPr lang="zh-CN" dirty="0"/>
              <a:t>实用AI大于AI概念。</a:t>
            </a:r>
          </a:p>
          <a:p>
            <a:endParaRPr lang="en-US" dirty="0"/>
          </a:p>
          <a:p>
            <a:r>
              <a:rPr lang="zh-CN" dirty="0"/>
              <a:t>• 多数企业停留在“知道AI能做什么”但接不进真实流程的断层带</a:t>
            </a:r>
          </a:p>
          <a:p>
            <a:r>
              <a:rPr lang="zh-CN" dirty="0"/>
              <a:t>• 员工零散使用工具，结果流失在个人聊天记录，能力无法沉淀</a:t>
            </a:r>
          </a:p>
          <a:p>
            <a:r>
              <a:rPr lang="zh-CN" dirty="0"/>
              <a:t>• 屿算把AI拆解为可配置的岗位、可编排的流程、可追溯的资产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下一步行动</a:t>
            </a:r>
          </a:p>
          <a:p>
            <a:endParaRPr lang="en-US" dirty="0"/>
          </a:p>
          <a:p>
            <a:r>
              <a:rPr lang="zh-CN" dirty="0"/>
              <a:t>先帮企业问清楚，再进入立项和执行。</a:t>
            </a:r>
          </a:p>
          <a:p>
            <a:endParaRPr lang="en-US" dirty="0"/>
          </a:p>
          <a:p>
            <a:r>
              <a:rPr lang="zh-CN" dirty="0"/>
              <a:t>• 系统主动提问完成业务地图，拒绝空白对话框</a:t>
            </a:r>
          </a:p>
          <a:p>
            <a:r>
              <a:rPr lang="zh-CN" dirty="0"/>
              <a:t>• 17个AI员工进入策划、销售、客服、法务等真实角色</a:t>
            </a:r>
          </a:p>
          <a:p>
            <a:r>
              <a:rPr lang="zh-CN" dirty="0"/>
              <a:t>• 内容生产→多平台分发→评论回收→线索跟进连续推进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0" y="0"/>
              <a:ext cx="762000" cy="6858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430000" y="0"/>
              <a:ext cx="762000" cy="6858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382000" y="0"/>
              <a:ext cx="3048000" cy="1143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677400" y="342900"/>
              <a:ext cx="457200" cy="4572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810750" y="49530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0"/>
                  </a:moveTo>
                  <a:lnTo>
                    <a:pt x="1905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6FF3D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143000" y="1714500"/>
            <a:ext cx="4838700" cy="4140137"/>
            <a:chOff x="1143000" y="1714500"/>
            <a:chExt cx="4838700" cy="4140137"/>
          </a:xfrm>
        </p:grpSpPr>
        <p:sp>
          <p:nvSpPr>
            <p:cNvPr id="20" name="Rectangle 20"/>
            <p:cNvSpPr/>
            <p:nvPr/>
          </p:nvSpPr>
          <p:spPr>
            <a:xfrm>
              <a:off x="1143000" y="1714500"/>
              <a:ext cx="76200" cy="13335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04366" y="1982152"/>
              <a:ext cx="964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225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GRIDBRIEF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91412" y="2278380"/>
              <a:ext cx="20720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屿算智脑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97508" y="2979420"/>
              <a:ext cx="35550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企业专属AI业务工作台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409700" y="3619500"/>
              <a:ext cx="4572000" cy="28575"/>
            </a:xfrm>
            <a:prstGeom prst="rect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02842" y="3950018"/>
              <a:ext cx="3191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实用AI大于AI概念；知道AI能写文案、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02842" y="42357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做图片和视频，但接不进真实工作流程。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409700" y="47625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38100">
              <a:solidFill>
                <a:srgbClr val="E6FF3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04366" y="5077778"/>
              <a:ext cx="4001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▸ 17个AI智能体员工覆盖策划·销售·客服·法务等关键岗位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04366" y="5363528"/>
              <a:ext cx="3795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▸ 40+模型与工具接入，七层业务闭环从诊断直通资产沉淀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04366" y="5649278"/>
              <a:ext cx="4354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▸ 把单点AI工具升级为可执行、可管理、可复利的企业增长系统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858000" y="1905000"/>
            <a:ext cx="3810000" cy="3810000"/>
            <a:chOff x="6858000" y="1905000"/>
            <a:chExt cx="3810000" cy="3810000"/>
          </a:xfrm>
        </p:grpSpPr>
        <p:sp>
          <p:nvSpPr>
            <p:cNvPr id="32" name="Rectangle 32"/>
            <p:cNvSpPr/>
            <p:nvPr/>
          </p:nvSpPr>
          <p:spPr>
            <a:xfrm>
              <a:off x="6858000" y="1905000"/>
              <a:ext cx="3810000" cy="3810000"/>
            </a:xfrm>
            <a:prstGeom prst="rect">
              <a:avLst/>
            </a:prstGeom>
            <a:solidFill>
              <a:srgbClr val="F5F4EF"/>
            </a:solidFill>
            <a:ln w="19050">
              <a:solidFill>
                <a:srgbClr val="CFCFC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0" y="2286000"/>
              <a:ext cx="3048000" cy="571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23404" y="2537460"/>
              <a:ext cx="1365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6FF3D"/>
                  </a:solidFill>
                  <a:latin typeface="Arial"/>
                  <a:ea typeface="Arial"/>
                  <a:cs typeface="Arial"/>
                </a:rPr>
                <a:t>AI WORKSTATION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39000" y="3048000"/>
              <a:ext cx="1333500" cy="762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0" y="3048000"/>
              <a:ext cx="1333500" cy="38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20356" y="313944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17+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24738" y="35699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智能体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763000" y="3048000"/>
              <a:ext cx="1524000" cy="762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763000" y="3048000"/>
              <a:ext cx="1524000" cy="381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44356" y="313944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40+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48738" y="35699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模型接入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239000" y="4000500"/>
              <a:ext cx="3048000" cy="1143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CFC8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7239000" y="4191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7239000" y="4381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239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7239000" y="4762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239000" y="4953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848600" y="4229100"/>
              <a:ext cx="114300" cy="1143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229600" y="4229100"/>
              <a:ext cx="114300" cy="1143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610600" y="4229100"/>
              <a:ext cx="114300" cy="1143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8991600" y="4229100"/>
              <a:ext cx="114300" cy="1143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9372600" y="4229100"/>
              <a:ext cx="114300" cy="1143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15238" y="4578191"/>
              <a:ext cx="2316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策划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96238" y="4578191"/>
              <a:ext cx="2316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销售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77238" y="4578191"/>
              <a:ext cx="2316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客服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58238" y="4578191"/>
              <a:ext cx="2316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法务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9238" y="4578191"/>
              <a:ext cx="2316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更多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239000" y="4000500"/>
              <a:ext cx="3048000" cy="381000"/>
            </a:xfrm>
            <a:prstGeom prst="rect">
              <a:avLst/>
            </a:prstGeom>
            <a:solidFill>
              <a:srgbClr val="0A0A0A">
                <a:alpha val="9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24738" y="4160520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6FF3D"/>
                  </a:solidFill>
                  <a:latin typeface="Arial"/>
                  <a:ea typeface="Microsoft YaHei"/>
                  <a:cs typeface="Arial"/>
                </a:rPr>
                <a:t>七层业务闭环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239000" y="5334000"/>
              <a:ext cx="3048000" cy="381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14666" y="5477828"/>
              <a:ext cx="1687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可执行 · 可管理 · 可复利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CECE8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0" y="0"/>
            <a:ext cx="12192000" cy="2356675"/>
            <a:chOff x="0" y="0"/>
            <a:chExt cx="12192000" cy="2356675"/>
          </a:xfrm>
        </p:grpSpPr>
        <p:sp>
          <p:nvSpPr>
            <p:cNvPr id="8" name="Rectangle 8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4142" y="34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CECE8"/>
                  </a:solidFill>
                  <a:latin typeface="Arial"/>
                  <a:ea typeface="Microsoft YaHei"/>
                  <a:cs typeface="Arial"/>
                </a:rPr>
                <a:t>屿算智能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32140" y="381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CFCFC8"/>
                  </a:solidFill>
                  <a:latin typeface="Arial"/>
                  <a:ea typeface="Arial"/>
                  <a:cs typeface="Arial"/>
                </a:rPr>
                <a:t>02 / 04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" y="952500"/>
              <a:ext cx="76200" cy="3048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166" y="1067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A0A0A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模块目录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1000" y="1333500"/>
              <a:ext cx="26670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2712" y="1468755"/>
              <a:ext cx="20720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决策路径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4142" y="2092642"/>
              <a:ext cx="1492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实用AI大于AI概念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2667000"/>
            <a:ext cx="11430000" cy="1714500"/>
            <a:chOff x="381000" y="2667000"/>
            <a:chExt cx="11430000" cy="1714500"/>
          </a:xfrm>
        </p:grpSpPr>
        <p:grpSp>
          <p:nvGrpSpPr>
            <p:cNvPr id="22" name="Group 22"/>
            <p:cNvGrpSpPr/>
            <p:nvPr/>
          </p:nvGrpSpPr>
          <p:grpSpPr>
            <a:xfrm>
              <a:off x="381000" y="2667000"/>
              <a:ext cx="3429000" cy="762000"/>
              <a:chOff x="381000" y="2667000"/>
              <a:chExt cx="3429000" cy="762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81000" y="2667000"/>
                <a:ext cx="3429000" cy="762000"/>
              </a:xfrm>
              <a:prstGeom prst="rect">
                <a:avLst/>
              </a:prstGeom>
              <a:solidFill>
                <a:srgbClr val="F5F4EF"/>
              </a:solidFill>
              <a:ln w="9525">
                <a:solidFill>
                  <a:srgbClr val="CFCFC8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81000" y="2667000"/>
                <a:ext cx="571500" cy="762000"/>
              </a:xfrm>
              <a:prstGeom prst="rect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56082" y="29165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E6FF3D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90041" y="2887028"/>
                <a:ext cx="144290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100个问题，一个答案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90612" y="31413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A0A0A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业务闭环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000500" y="2667000"/>
              <a:ext cx="3429000" cy="762000"/>
              <a:chOff x="4000500" y="2667000"/>
              <a:chExt cx="3429000" cy="762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000500" y="2667000"/>
                <a:ext cx="3429000" cy="762000"/>
              </a:xfrm>
              <a:prstGeom prst="rect">
                <a:avLst/>
              </a:prstGeom>
              <a:solidFill>
                <a:srgbClr val="F5F4EF"/>
              </a:solidFill>
              <a:ln w="9525">
                <a:solidFill>
                  <a:srgbClr val="CFCFC8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000500" y="2667000"/>
                <a:ext cx="571500" cy="762000"/>
              </a:xfrm>
              <a:prstGeom prst="rect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275582" y="29165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E6FF3D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709541" y="2887028"/>
                <a:ext cx="15096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不会问·不会用·不沉淀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710112" y="31413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A0A0A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能力缺口诊断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620000" y="2667000"/>
              <a:ext cx="4191000" cy="762000"/>
              <a:chOff x="7620000" y="2667000"/>
              <a:chExt cx="4191000" cy="762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620000" y="2667000"/>
                <a:ext cx="4191000" cy="762000"/>
              </a:xfrm>
              <a:prstGeom prst="rect">
                <a:avLst/>
              </a:prstGeom>
              <a:solidFill>
                <a:srgbClr val="F5F4EF"/>
              </a:solidFill>
              <a:ln w="9525">
                <a:solidFill>
                  <a:srgbClr val="CFCFC8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7620000" y="2667000"/>
                <a:ext cx="571500" cy="762000"/>
              </a:xfrm>
              <a:prstGeom prst="rect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895082" y="29165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E6FF3D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29041" y="2887028"/>
                <a:ext cx="18689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让AI进入岗位、流程、结果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29612" y="31413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A0A0A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落地路径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81000" y="3619500"/>
              <a:ext cx="5524500" cy="762000"/>
              <a:chOff x="381000" y="3619500"/>
              <a:chExt cx="5524500" cy="7620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381000" y="3619500"/>
                <a:ext cx="5524500" cy="762000"/>
              </a:xfrm>
              <a:prstGeom prst="rect">
                <a:avLst/>
              </a:prstGeom>
              <a:solidFill>
                <a:srgbClr val="F5F4EF"/>
              </a:solidFill>
              <a:ln w="9525">
                <a:solidFill>
                  <a:srgbClr val="CFCFC8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81000" y="3619500"/>
                <a:ext cx="571500" cy="762000"/>
              </a:xfrm>
              <a:prstGeom prst="rect">
                <a:avLst/>
              </a:prstGeom>
              <a:solidFill>
                <a:srgbClr val="E6FF3D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56082" y="38690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0A0A0A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90041" y="3839528"/>
                <a:ext cx="16432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从工具碎片到业务工作台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90612" y="40938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A0A0A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整合升级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96000" y="3619500"/>
              <a:ext cx="5715000" cy="762000"/>
              <a:chOff x="6096000" y="3619500"/>
              <a:chExt cx="5715000" cy="762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096000" y="3619500"/>
                <a:ext cx="5715000" cy="762000"/>
              </a:xfrm>
              <a:prstGeom prst="rect">
                <a:avLst/>
              </a:prstGeom>
              <a:solidFill>
                <a:srgbClr val="F5F4EF"/>
              </a:solidFill>
              <a:ln w="9525">
                <a:solidFill>
                  <a:srgbClr val="CFCFC8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096000" y="3619500"/>
                <a:ext cx="571500" cy="762000"/>
              </a:xfrm>
              <a:prstGeom prst="rect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371082" y="38690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E6FF3D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805041" y="3839528"/>
                <a:ext cx="18213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诊断→立项→生产→分发→资产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05612" y="40938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A0A0A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完整流程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376238" y="4762500"/>
            <a:ext cx="11434762" cy="1241107"/>
            <a:chOff x="376238" y="4762500"/>
            <a:chExt cx="11434762" cy="1241107"/>
          </a:xfrm>
        </p:grpSpPr>
        <p:sp>
          <p:nvSpPr>
            <p:cNvPr id="48" name="Rectangle 48"/>
            <p:cNvSpPr/>
            <p:nvPr/>
          </p:nvSpPr>
          <p:spPr>
            <a:xfrm>
              <a:off x="381000" y="4762500"/>
              <a:ext cx="11430000" cy="9525"/>
            </a:xfrm>
            <a:prstGeom prst="rect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1905000" y="4953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38100">
              <a:solidFill>
                <a:srgbClr val="E6FF3D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714500" y="5429250"/>
              <a:ext cx="381000" cy="381000"/>
            </a:xfrm>
            <a:prstGeom prst="ellipse">
              <a:avLst/>
            </a:prstGeom>
            <a:noFill/>
            <a:ln w="19050">
              <a:solidFill>
                <a:srgbClr val="0A0A0A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10287000" y="4953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38100">
              <a:solidFill>
                <a:srgbClr val="E6FF3D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096500" y="5429250"/>
              <a:ext cx="381000" cy="381000"/>
            </a:xfrm>
            <a:prstGeom prst="ellipse">
              <a:avLst/>
            </a:prstGeom>
            <a:noFill/>
            <a:ln w="19050">
              <a:solidFill>
                <a:srgbClr val="0A0A0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76238" y="5808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A0A0A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模块进度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43000" y="5810250"/>
              <a:ext cx="1524000" cy="152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43000" y="5810250"/>
              <a:ext cx="381000" cy="1524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667000" y="5810250"/>
              <a:ext cx="1524000" cy="152400"/>
            </a:xfrm>
            <a:prstGeom prst="rect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381500" y="5810250"/>
              <a:ext cx="1524000" cy="152400"/>
            </a:xfrm>
            <a:prstGeom prst="rect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0" y="5810250"/>
              <a:ext cx="1524000" cy="152400"/>
            </a:xfrm>
            <a:prstGeom prst="rect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05738" y="58273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1/4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CECE8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0" y="330518"/>
            <a:ext cx="12192000" cy="345757"/>
            <a:chOff x="0" y="330518"/>
            <a:chExt cx="12192000" cy="345757"/>
          </a:xfrm>
        </p:grpSpPr>
        <p:sp>
          <p:nvSpPr>
            <p:cNvPr id="14" name="TextBox 14"/>
            <p:cNvSpPr txBox="1"/>
            <p:nvPr/>
          </p:nvSpPr>
          <p:spPr>
            <a:xfrm>
              <a:off x="374142" y="330518"/>
              <a:ext cx="2596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屿算智能企业 AI 业务工具介绍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95234" y="33051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3 / 4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0" y="666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CFCFC8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81000" y="830580"/>
            <a:ext cx="9906000" cy="5308854"/>
            <a:chOff x="381000" y="830580"/>
            <a:chExt cx="9906000" cy="5308854"/>
          </a:xfrm>
        </p:grpSpPr>
        <p:sp>
          <p:nvSpPr>
            <p:cNvPr id="18" name="Rectangle 18"/>
            <p:cNvSpPr/>
            <p:nvPr/>
          </p:nvSpPr>
          <p:spPr>
            <a:xfrm>
              <a:off x="381000" y="952500"/>
              <a:ext cx="1333500" cy="381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6077" y="10572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关键判断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86712" y="830580"/>
              <a:ext cx="105430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断层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05000" y="1714500"/>
              <a:ext cx="8382000" cy="2667000"/>
            </a:xfrm>
            <a:prstGeom prst="rect">
              <a:avLst/>
            </a:prstGeom>
            <a:solidFill>
              <a:srgbClr val="F5F4EF"/>
            </a:solidFill>
            <a:ln w="571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05000" y="1714500"/>
              <a:ext cx="190500" cy="2667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26919" y="2590800"/>
              <a:ext cx="693816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实用AI大于AI概念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2400300" y="4876800"/>
              <a:ext cx="152400" cy="1524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57856" y="48348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知道但接不进流程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2400300" y="5353050"/>
              <a:ext cx="152400" cy="1524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657856" y="53111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零散工具结果流失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400300" y="5829300"/>
              <a:ext cx="152400" cy="1524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657856" y="5787390"/>
              <a:ext cx="2465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屿算：岗位·流程·资产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1000" y="1714500"/>
            <a:ext cx="11430000" cy="4772025"/>
            <a:chOff x="381000" y="1714500"/>
            <a:chExt cx="11430000" cy="4772025"/>
          </a:xfrm>
        </p:grpSpPr>
        <p:sp>
          <p:nvSpPr>
            <p:cNvPr id="31" name="Line 31"/>
            <p:cNvSpPr/>
            <p:nvPr/>
          </p:nvSpPr>
          <p:spPr>
            <a:xfrm>
              <a:off x="381000" y="64770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38100">
              <a:solidFill>
                <a:srgbClr val="E6FF3D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171450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38100">
              <a:solidFill>
                <a:srgbClr val="E6FF3D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62000"/>
            <a:chOff x="0" y="0"/>
            <a:chExt cx="12192000" cy="762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5142" y="330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FF3D"/>
                  </a:solidFill>
                  <a:latin typeface="Arial"/>
                  <a:ea typeface="Microsoft YaHei"/>
                  <a:cs typeface="Arial"/>
                </a:rPr>
                <a:t>推进序列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123276" y="3305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ECECE8"/>
                  </a:solidFill>
                  <a:latin typeface="Arial"/>
                  <a:ea typeface="Arial"/>
                  <a:cs typeface="Arial"/>
                </a:rPr>
                <a:t>4/4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3712" y="1040130"/>
            <a:ext cx="8872728" cy="3338131"/>
            <a:chOff x="743712" y="1040130"/>
            <a:chExt cx="8872728" cy="3338131"/>
          </a:xfrm>
        </p:grpSpPr>
        <p:sp>
          <p:nvSpPr>
            <p:cNvPr id="6" name="TextBox 6"/>
            <p:cNvSpPr txBox="1"/>
            <p:nvPr/>
          </p:nvSpPr>
          <p:spPr>
            <a:xfrm>
              <a:off x="743712" y="1040130"/>
              <a:ext cx="25808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下一步行动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8059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先帮企业问清楚，再进入立项和执行。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38100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638300" y="3543300"/>
              <a:ext cx="533400" cy="5334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16494" y="3283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诊断入轨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2911" y="41729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系统提问构建业务地图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924300" y="3543300"/>
              <a:ext cx="533400" cy="5334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02494" y="3283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岗位部署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7316" y="4172902"/>
              <a:ext cx="13473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17个AI岗位角色就位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210300" y="3543300"/>
              <a:ext cx="533400" cy="5334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8494" y="3283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闭环运转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8296" y="4172902"/>
              <a:ext cx="165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内容→分发→回收→线索跟进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496300" y="3543300"/>
              <a:ext cx="533400" cy="5334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494" y="3283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资产复利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09560" y="41729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方案知识流程入库反哺增长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0"/>
            <a:ext cx="12201525" cy="6858000"/>
            <a:chOff x="0" y="0"/>
            <a:chExt cx="12201525" cy="6858000"/>
          </a:xfrm>
        </p:grpSpPr>
        <p:sp>
          <p:nvSpPr>
            <p:cNvPr id="22" name="Line 2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762000" y="2190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28575">
              <a:solidFill>
                <a:srgbClr val="E6FF3D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2026-07-09T14:36:55Z</dcterms:created>
  <dcterms:modified xsi:type="dcterms:W3CDTF">2026-07-09T14:36:55Z</dcterms:modified>
  <cp:category/>
  <cp:contentStatus/>
</cp:coreProperties>
</file>