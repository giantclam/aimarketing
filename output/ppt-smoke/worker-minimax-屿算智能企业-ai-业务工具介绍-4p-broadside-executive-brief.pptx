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屿算智脑·企业专属AI业务工作台</a:t>
            </a:r>
          </a:p>
          <a:p>
            <a:endParaRPr lang="en-US" dirty="0"/>
          </a:p>
          <a:p>
            <a:r>
              <a:rPr lang="zh-CN" dirty="0"/>
              <a:t>实用AI大于AI概念；知道AI能写文案、做图片和视频，但接不进真实工作流程。</a:t>
            </a:r>
          </a:p>
          <a:p>
            <a:endParaRPr lang="en-US" dirty="0"/>
          </a:p>
          <a:p>
            <a:r>
              <a:rPr lang="zh-CN" dirty="0"/>
              <a:t>• 17个AI智能体员工上岗，替代员工自学</a:t>
            </a:r>
          </a:p>
          <a:p>
            <a:r>
              <a:rPr lang="zh-CN" dirty="0"/>
              <a:t>• 40+模型工具与10+触点，装进同一套业务流</a:t>
            </a:r>
          </a:p>
          <a:p>
            <a:r>
              <a:rPr lang="zh-CN" dirty="0"/>
              <a:t>• 让AI进入岗位、流程与结果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本份简报的五条线索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企业AI焦虑背后，是不会问、不好用、不能沉淀的三个真实卡点</a:t>
            </a:r>
          </a:p>
          <a:p>
            <a:r>
              <a:rPr lang="zh-CN" dirty="0"/>
              <a:t>• 屿算智脑不是又一个AI工具，而是企业专属的AI业务工作台</a:t>
            </a:r>
          </a:p>
          <a:p>
            <a:r>
              <a:rPr lang="zh-CN" dirty="0"/>
              <a:t>• 七层业务闭环+智能体员工矩阵，把能力嵌进岗位</a:t>
            </a:r>
          </a:p>
          <a:p>
            <a:r>
              <a:rPr lang="zh-CN" dirty="0"/>
              <a:t>• 降本、提效、强执行、促增长四类结果，对应可验证指标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企业不缺AI认知，缺一条从问题走到结果的业务路径</a:t>
            </a:r>
          </a:p>
          <a:p>
            <a:endParaRPr lang="en-US" dirty="0"/>
          </a:p>
          <a:p>
            <a:r>
              <a:rPr lang="zh-CN" dirty="0"/>
              <a:t>实用AI大于AI概念。</a:t>
            </a:r>
          </a:p>
          <a:p>
            <a:endParaRPr lang="en-US" dirty="0"/>
          </a:p>
          <a:p>
            <a:r>
              <a:rPr lang="zh-CN" dirty="0"/>
              <a:t>• 三个卡点：不会问、不好用、不能沉淀——认知与执行之间缺一公里</a:t>
            </a:r>
          </a:p>
          <a:p>
            <a:r>
              <a:rPr lang="zh-CN" dirty="0"/>
              <a:t>• 工作台以业务梳理、立项管理与AI员工主动引导，替代员工自学</a:t>
            </a:r>
          </a:p>
          <a:p>
            <a:r>
              <a:rPr lang="zh-CN" dirty="0"/>
              <a:t>• 风险：单点工具堆叠，只把结果留在聊天记录里，资产归零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给管理层的下一步</a:t>
            </a:r>
          </a:p>
          <a:p>
            <a:endParaRPr lang="en-US" dirty="0"/>
          </a:p>
          <a:p>
            <a:r>
              <a:rPr lang="zh-CN" dirty="0"/>
              <a:t>先帮企业问清楚，再进入立项和执行。</a:t>
            </a:r>
          </a:p>
          <a:p>
            <a:endParaRPr lang="en-US" dirty="0"/>
          </a:p>
          <a:p>
            <a:r>
              <a:rPr lang="zh-CN" dirty="0"/>
              <a:t>• 在SaaS快速启动与独立部署定制之间选定形态，锁定1条业务跑道</a:t>
            </a:r>
          </a:p>
          <a:p>
            <a:r>
              <a:rPr lang="zh-CN" dirty="0"/>
              <a:t>• 完成业务梳理、立项清单与首批AI员工上岗，把流程跑通一次</a:t>
            </a:r>
          </a:p>
          <a:p>
            <a:r>
              <a:rPr lang="zh-CN" dirty="0"/>
              <a:t>• 用内容产能、线索转化、资产沉淀三项指标验证复利效应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3276600" cy="6858000"/>
            <a:chOff x="0" y="0"/>
            <a:chExt cx="32766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3238500" cy="6858000"/>
            </a:xfrm>
            <a:prstGeom prst="rect">
              <a:avLst/>
            </a:prstGeom>
            <a:solidFill>
              <a:srgbClr val="1A1A1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238500" y="0"/>
              <a:ext cx="3810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72415" y="476250"/>
            <a:ext cx="10815828" cy="6100762"/>
            <a:chOff x="272415" y="476250"/>
            <a:chExt cx="10815828" cy="6100762"/>
          </a:xfrm>
        </p:grpSpPr>
        <p:sp>
          <p:nvSpPr>
            <p:cNvPr id="6" name="Rectangle 6"/>
            <p:cNvSpPr/>
            <p:nvPr/>
          </p:nvSpPr>
          <p:spPr>
            <a:xfrm>
              <a:off x="285750" y="476250"/>
              <a:ext cx="76200" cy="762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01015" y="805815"/>
              <a:ext cx="137708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6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大字报头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2415" y="6363652"/>
              <a:ext cx="5269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0ECE5">
                      <a:alphaMod val="60000"/>
                    </a:srgbClr>
                  </a:solidFill>
                  <a:latin typeface="Arial"/>
                  <a:ea typeface="Arial"/>
                  <a:cs typeface="Arial"/>
                </a:rPr>
                <a:t>01 / 04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64165" y="6363652"/>
              <a:ext cx="624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屿算智能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31920" y="1322070"/>
            <a:ext cx="5049545" cy="3616642"/>
            <a:chOff x="3931920" y="1322070"/>
            <a:chExt cx="5049545" cy="3616642"/>
          </a:xfrm>
        </p:grpSpPr>
        <p:sp>
          <p:nvSpPr>
            <p:cNvPr id="11" name="TextBox 11"/>
            <p:cNvSpPr txBox="1"/>
            <p:nvPr/>
          </p:nvSpPr>
          <p:spPr>
            <a:xfrm>
              <a:off x="3931920" y="1322070"/>
              <a:ext cx="3363163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屿算智脑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47160" y="2308860"/>
              <a:ext cx="261579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企业专属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47160" y="3070860"/>
              <a:ext cx="377625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AI业务工作台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3905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79545" y="4298632"/>
              <a:ext cx="18490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0ECE5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实用AI大于AI概念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3355" y="4664392"/>
              <a:ext cx="49981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0ECE5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知道AI能写文案、做图片和视频，但接不进真实工作流程。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43350" y="5347335"/>
            <a:ext cx="3557168" cy="1005840"/>
            <a:chOff x="3943350" y="5347335"/>
            <a:chExt cx="3557168" cy="1005840"/>
          </a:xfrm>
        </p:grpSpPr>
        <p:sp>
          <p:nvSpPr>
            <p:cNvPr id="18" name="Ellipse 18"/>
            <p:cNvSpPr/>
            <p:nvPr/>
          </p:nvSpPr>
          <p:spPr>
            <a:xfrm>
              <a:off x="3943350" y="5372100"/>
              <a:ext cx="114300" cy="1143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75760" y="5347335"/>
              <a:ext cx="29236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17个AI智能体员工上岗，替代员工自学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943350" y="5753100"/>
              <a:ext cx="114300" cy="1143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75760" y="5728335"/>
              <a:ext cx="33247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40+模型工具与10+触点，装进同一套业务流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943350" y="6134100"/>
              <a:ext cx="114300" cy="1143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75760" y="6109335"/>
              <a:ext cx="20531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让AI进入岗位、流程与结果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A1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4355" y="997268"/>
            <a:ext cx="9688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spc="300" dirty="0">
                <a:solidFill>
                  <a:srgbClr val="E85D26"/>
                </a:solidFill>
                <a:latin typeface="Arial"/>
                <a:ea typeface="Microsoft YaHei"/>
                <a:cs typeface="Arial"/>
              </a:rPr>
              <a:t>栏目排版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8160" y="1451610"/>
            <a:ext cx="261579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本份简报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8160" y="2118360"/>
            <a:ext cx="324307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的五条线索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857500"/>
            <a:ext cx="1143000" cy="381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44830" y="3392805"/>
            <a:ext cx="24683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实用AI大于AI概念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165" y="5792152"/>
            <a:ext cx="6240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屿算智能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165" y="6030278"/>
            <a:ext cx="13335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AI BUSINESS TOOLS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0" y="762000"/>
            <a:ext cx="6858000" cy="952500"/>
          </a:xfrm>
          <a:prstGeom prst="rect">
            <a:avLst/>
          </a:prstGeom>
          <a:solidFill>
            <a:srgbClr val="1A1A18"/>
          </a:solidFill>
          <a:ln w="9525">
            <a:solidFill>
              <a:srgbClr val="282826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0" y="762000"/>
            <a:ext cx="76200" cy="9525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320665" y="982028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5D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16855" y="123539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诊断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6010" y="1251585"/>
            <a:ext cx="49548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企业AI焦虑背后，是不会问、不好用、不能沉淀的三个真实卡点。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953000" y="1905000"/>
            <a:ext cx="6858000" cy="952500"/>
          </a:xfrm>
          <a:prstGeom prst="rect">
            <a:avLst/>
          </a:prstGeom>
          <a:solidFill>
            <a:srgbClr val="1A1A18"/>
          </a:solidFill>
          <a:ln w="9525">
            <a:solidFill>
              <a:srgbClr val="28282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953000" y="1905000"/>
            <a:ext cx="76200" cy="9525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320665" y="2125028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5D2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16855" y="237839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定位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6010" y="2394585"/>
            <a:ext cx="45878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屿算智脑不是又一个AI工具，而是企业专属的AI业务工作台。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953000" y="3048000"/>
            <a:ext cx="6858000" cy="952500"/>
          </a:xfrm>
          <a:prstGeom prst="rect">
            <a:avLst/>
          </a:prstGeom>
          <a:solidFill>
            <a:srgbClr val="1A1A18"/>
          </a:solidFill>
          <a:ln w="9525">
            <a:solidFill>
              <a:srgbClr val="282826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4953000" y="3048000"/>
            <a:ext cx="76200" cy="9525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320665" y="3268028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5D2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16855" y="352139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结构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76010" y="3537585"/>
            <a:ext cx="38794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七层业务闭环+智能体员工矩阵，把能力嵌进岗位。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4191000"/>
            <a:ext cx="6858000" cy="952500"/>
          </a:xfrm>
          <a:prstGeom prst="rect">
            <a:avLst/>
          </a:prstGeom>
          <a:solidFill>
            <a:srgbClr val="1A1A18"/>
          </a:solidFill>
          <a:ln w="9525">
            <a:solidFill>
              <a:srgbClr val="282826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4953000" y="4191000"/>
            <a:ext cx="76200" cy="9525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20665" y="4411028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5D2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16855" y="466439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回报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176010" y="4680585"/>
            <a:ext cx="44683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降本、提效、强执行、促增长四类结果，对应可验证指标。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953000" y="5334000"/>
            <a:ext cx="6858000" cy="952500"/>
          </a:xfrm>
          <a:prstGeom prst="rect">
            <a:avLst/>
          </a:prstGeom>
          <a:solidFill>
            <a:srgbClr val="1A1A18"/>
          </a:solidFill>
          <a:ln w="9525">
            <a:solidFill>
              <a:srgbClr val="282826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4953000" y="5334000"/>
            <a:ext cx="76200" cy="952500"/>
          </a:xfrm>
          <a:prstGeom prst="rect">
            <a:avLst/>
          </a:prstGeom>
          <a:solidFill>
            <a:srgbClr val="E85D26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320665" y="5554028"/>
            <a:ext cx="199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5D2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16855" y="580739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0ECE5"/>
                </a:solidFill>
                <a:latin typeface="Arial"/>
                <a:ea typeface="Microsoft YaHei"/>
                <a:cs typeface="Arial"/>
              </a:rPr>
              <a:t>行动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176010" y="5823585"/>
            <a:ext cx="4084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套餐选择、定制部署、风险边界与30/90天落地路径。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71123" y="6554152"/>
            <a:ext cx="3627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/ 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2115800" y="0"/>
              <a:ext cx="76200" cy="6858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800850"/>
              <a:ext cx="12192000" cy="5715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57200" y="457200"/>
            <a:ext cx="11277600" cy="5857875"/>
            <a:chOff x="457200" y="457200"/>
            <a:chExt cx="11277600" cy="5857875"/>
          </a:xfrm>
        </p:grpSpPr>
        <p:grpSp>
          <p:nvGrpSpPr>
            <p:cNvPr id="10" name="Group 10"/>
            <p:cNvGrpSpPr/>
            <p:nvPr/>
          </p:nvGrpSpPr>
          <p:grpSpPr>
            <a:xfrm>
              <a:off x="457200" y="457200"/>
              <a:ext cx="1714500" cy="461962"/>
              <a:chOff x="457200" y="457200"/>
              <a:chExt cx="1714500" cy="461962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57200" y="457200"/>
                <a:ext cx="1714500" cy="457200"/>
              </a:xfrm>
              <a:prstGeom prst="rect">
                <a:avLst/>
              </a:prstGeom>
              <a:solidFill>
                <a:srgbClr val="E85D2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00633" y="583882"/>
                <a:ext cx="102763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11111"/>
                    </a:solidFill>
                    <a:latin typeface="Arial"/>
                    <a:ea typeface="Microsoft YaHei"/>
                    <a:cs typeface="Arial"/>
                  </a:rPr>
                  <a:t>核心宣言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2092147" y="1577340"/>
              <a:ext cx="8007706" cy="2499360"/>
              <a:chOff x="2092147" y="1577340"/>
              <a:chExt cx="8007706" cy="249936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579693" y="1577340"/>
                <a:ext cx="5032614" cy="975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企业不缺AI认知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092147" y="2339340"/>
                <a:ext cx="8007706" cy="975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缺一条从问题走到结果的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601261" y="3101340"/>
                <a:ext cx="2989478" cy="975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800" b="1" dirty="0">
                    <a:solidFill>
                      <a:srgbClr val="E85D26"/>
                    </a:solidFill>
                    <a:latin typeface="Arial"/>
                    <a:ea typeface="Microsoft YaHei"/>
                    <a:cs typeface="Arial"/>
                  </a:rPr>
                  <a:t>业务路径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" y="4000500"/>
              <a:ext cx="11277600" cy="966788"/>
              <a:chOff x="457200" y="4000500"/>
              <a:chExt cx="11277600" cy="966788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57200" y="4000500"/>
                <a:ext cx="11277600" cy="952500"/>
              </a:xfrm>
              <a:prstGeom prst="rect">
                <a:avLst/>
              </a:prstGeom>
              <a:solidFill>
                <a:srgbClr val="1A1A18"/>
              </a:solidFill>
              <a:ln>
                <a:noFill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57200" y="4000500"/>
                <a:ext cx="9525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0">
                    <a:moveTo>
                      <a:pt x="0" y="0"/>
                    </a:moveTo>
                    <a:lnTo>
                      <a:pt x="0" y="952500"/>
                    </a:lnTo>
                  </a:path>
                </a:pathLst>
              </a:custGeom>
              <a:noFill/>
              <a:ln w="57150">
                <a:solidFill>
                  <a:srgbClr val="E85D2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244729" y="4327208"/>
                <a:ext cx="3702543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F0ECE5"/>
                    </a:solidFill>
                    <a:latin typeface="Arial"/>
                    <a:ea typeface="Microsoft YaHei"/>
                    <a:cs typeface="Arial"/>
                  </a:rPr>
                  <a:t>实用AI大于AI概念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5248275"/>
              <a:ext cx="6532626" cy="1066800"/>
              <a:chOff x="762000" y="5248275"/>
              <a:chExt cx="6532626" cy="1066800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762000" y="5248275"/>
                <a:ext cx="6532626" cy="304800"/>
                <a:chOff x="762000" y="5248275"/>
                <a:chExt cx="6532626" cy="304800"/>
              </a:xfrm>
            </p:grpSpPr>
            <p:sp>
              <p:nvSpPr>
                <p:cNvPr id="19" name="Ellipse 19"/>
                <p:cNvSpPr/>
                <p:nvPr/>
              </p:nvSpPr>
              <p:spPr>
                <a:xfrm>
                  <a:off x="762000" y="5257800"/>
                  <a:ext cx="152400" cy="152400"/>
                </a:xfrm>
                <a:prstGeom prst="ellipse">
                  <a:avLst/>
                </a:prstGeom>
                <a:solidFill>
                  <a:srgbClr val="E85D26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47750" y="5248275"/>
                  <a:ext cx="6246876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三个卡点：不会问、不好用、不能沉淀——认知与执行之间缺一公里</a:t>
                  </a:r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762000" y="5629275"/>
                <a:ext cx="6265926" cy="304800"/>
                <a:chOff x="762000" y="5629275"/>
                <a:chExt cx="6265926" cy="304800"/>
              </a:xfrm>
            </p:grpSpPr>
            <p:sp>
              <p:nvSpPr>
                <p:cNvPr id="22" name="Ellipse 22"/>
                <p:cNvSpPr/>
                <p:nvPr/>
              </p:nvSpPr>
              <p:spPr>
                <a:xfrm>
                  <a:off x="762000" y="5638800"/>
                  <a:ext cx="152400" cy="152400"/>
                </a:xfrm>
                <a:prstGeom prst="ellipse">
                  <a:avLst/>
                </a:prstGeom>
                <a:solidFill>
                  <a:srgbClr val="E85D26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047750" y="5629275"/>
                  <a:ext cx="5980176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工作台以业务梳理、立项管理与AI员工主动引导，替代员工自学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762000" y="6010275"/>
                <a:ext cx="5871210" cy="304800"/>
                <a:chOff x="762000" y="6010275"/>
                <a:chExt cx="5871210" cy="304800"/>
              </a:xfrm>
            </p:grpSpPr>
            <p:sp>
              <p:nvSpPr>
                <p:cNvPr id="25" name="Ellipse 25"/>
                <p:cNvSpPr/>
                <p:nvPr/>
              </p:nvSpPr>
              <p:spPr>
                <a:xfrm>
                  <a:off x="762000" y="6019800"/>
                  <a:ext cx="152400" cy="152400"/>
                </a:xfrm>
                <a:prstGeom prst="ellipse">
                  <a:avLst/>
                </a:prstGeom>
                <a:solidFill>
                  <a:srgbClr val="E85D26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047750" y="6010275"/>
                  <a:ext cx="558546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rgbClr val="F0ECE5"/>
                      </a:solidFill>
                      <a:latin typeface="Arial"/>
                      <a:ea typeface="Microsoft YaHei"/>
                      <a:cs typeface="Arial"/>
                    </a:rPr>
                    <a:t>风险：单点工具堆叠，只把结果留在聊天记录里，资产归零</a:t>
                  </a:r>
                </a:p>
              </p:txBody>
            </p:sp>
          </p:grpSp>
        </p:grpSp>
      </p:grpSp>
      <p:grpSp>
        <p:nvGrpSpPr>
          <p:cNvPr id="31" name="Group 31"/>
          <p:cNvGrpSpPr/>
          <p:nvPr/>
        </p:nvGrpSpPr>
        <p:grpSpPr>
          <a:xfrm>
            <a:off x="11221136" y="6554152"/>
            <a:ext cx="526999" cy="213360"/>
            <a:chOff x="11221136" y="6554152"/>
            <a:chExt cx="526999" cy="213360"/>
          </a:xfrm>
        </p:grpSpPr>
        <p:sp>
          <p:nvSpPr>
            <p:cNvPr id="30" name="TextBox 30"/>
            <p:cNvSpPr txBox="1"/>
            <p:nvPr/>
          </p:nvSpPr>
          <p:spPr>
            <a:xfrm>
              <a:off x="11221136" y="6554152"/>
              <a:ext cx="5269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282826"/>
                  </a:solidFill>
                  <a:latin typeface="Arial"/>
                  <a:ea typeface="Arial"/>
                  <a:cs typeface="Arial"/>
                </a:rPr>
                <a:t>03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A1A18">
                <a:alpha val="30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457200"/>
            <a:ext cx="12192000" cy="695325"/>
            <a:chOff x="0" y="457200"/>
            <a:chExt cx="12192000" cy="695325"/>
          </a:xfrm>
        </p:grpSpPr>
        <p:sp>
          <p:nvSpPr>
            <p:cNvPr id="5" name="Line 5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28282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457200"/>
              <a:ext cx="76200" cy="3810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2955" y="597218"/>
              <a:ext cx="7245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300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2920" y="1322070"/>
            <a:ext cx="11117580" cy="4295299"/>
            <a:chOff x="502920" y="1322070"/>
            <a:chExt cx="11117580" cy="4295299"/>
          </a:xfrm>
        </p:grpSpPr>
        <p:sp>
          <p:nvSpPr>
            <p:cNvPr id="9" name="TextBox 9"/>
            <p:cNvSpPr txBox="1"/>
            <p:nvPr/>
          </p:nvSpPr>
          <p:spPr>
            <a:xfrm>
              <a:off x="502920" y="1322070"/>
              <a:ext cx="6589166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给管理层的下一步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4830" y="2249805"/>
              <a:ext cx="51313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0ECE5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先帮企业问清楚，再进入立项和执行。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71500" y="3619500"/>
              <a:ext cx="11049000" cy="57150"/>
            </a:xfrm>
            <a:custGeom>
              <a:avLst/>
              <a:gdLst/>
              <a:ahLst/>
              <a:cxnLst/>
              <a:rect l="l" t="t" r="r" b="b"/>
              <a:pathLst>
                <a:path w="11049000" h="57150">
                  <a:moveTo>
                    <a:pt x="28575" y="0"/>
                  </a:moveTo>
                  <a:lnTo>
                    <a:pt x="11020425" y="0"/>
                  </a:lnTo>
                  <a:cubicBezTo>
                    <a:pt x="11036207" y="0"/>
                    <a:pt x="11049000" y="12793"/>
                    <a:pt x="11049000" y="28575"/>
                  </a:cubicBezTo>
                  <a:lnTo>
                    <a:pt x="11049000" y="28575"/>
                  </a:lnTo>
                  <a:cubicBezTo>
                    <a:pt x="11049000" y="44357"/>
                    <a:pt x="11036207" y="57150"/>
                    <a:pt x="1102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82826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571500" y="3619500"/>
              <a:ext cx="11049000" cy="57150"/>
            </a:xfrm>
            <a:custGeom>
              <a:avLst/>
              <a:gdLst/>
              <a:ahLst/>
              <a:cxnLst/>
              <a:rect l="l" t="t" r="r" b="b"/>
              <a:pathLst>
                <a:path w="11049000" h="57150">
                  <a:moveTo>
                    <a:pt x="28575" y="0"/>
                  </a:moveTo>
                  <a:lnTo>
                    <a:pt x="11020425" y="0"/>
                  </a:lnTo>
                  <a:cubicBezTo>
                    <a:pt x="11036207" y="0"/>
                    <a:pt x="11049000" y="12793"/>
                    <a:pt x="11049000" y="28575"/>
                  </a:cubicBezTo>
                  <a:lnTo>
                    <a:pt x="11049000" y="28575"/>
                  </a:lnTo>
                  <a:cubicBezTo>
                    <a:pt x="11049000" y="44357"/>
                    <a:pt x="11036207" y="57150"/>
                    <a:pt x="11020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E85D26"/>
                </a:gs>
                <a:gs pos="100000">
                  <a:srgbClr val="E85D26">
                    <a:alpha val="60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352550" y="3476625"/>
              <a:ext cx="342900" cy="3429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428750" y="3552825"/>
              <a:ext cx="190500" cy="1905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476375" y="3600450"/>
              <a:ext cx="95250" cy="952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400550" y="3476625"/>
              <a:ext cx="342900" cy="3429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476750" y="3552825"/>
              <a:ext cx="190500" cy="1905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524375" y="3600450"/>
              <a:ext cx="95250" cy="952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448550" y="3476625"/>
              <a:ext cx="342900" cy="3429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524750" y="3552825"/>
              <a:ext cx="190500" cy="1905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572375" y="3600450"/>
              <a:ext cx="95250" cy="952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96550" y="3476625"/>
              <a:ext cx="342900" cy="34290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572750" y="3552825"/>
              <a:ext cx="190500" cy="1905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620375" y="3600450"/>
              <a:ext cx="95250" cy="95250"/>
            </a:xfrm>
            <a:prstGeom prst="ellipse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0183" y="315563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立即决策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55328" y="3155632"/>
              <a:ext cx="6333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30 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03328" y="3155632"/>
              <a:ext cx="6333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90 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54183" y="315563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关键风险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4000500"/>
              <a:ext cx="2667000" cy="1524000"/>
            </a:xfrm>
            <a:prstGeom prst="rect">
              <a:avLst/>
            </a:prstGeom>
            <a:solidFill>
              <a:srgbClr val="1A1A18"/>
            </a:solidFill>
            <a:ln w="9525">
              <a:solidFill>
                <a:srgbClr val="28282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" y="4000500"/>
              <a:ext cx="2667000" cy="38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6760" y="42519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选定形态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712" y="4545806"/>
              <a:ext cx="32609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在SaaS快速启动与独立部署定制之间选定形态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7712" y="4926806"/>
              <a:ext cx="12367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锁定1条业务跑道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19500" y="4000500"/>
              <a:ext cx="2667000" cy="1524000"/>
            </a:xfrm>
            <a:prstGeom prst="rect">
              <a:avLst/>
            </a:prstGeom>
            <a:solidFill>
              <a:srgbClr val="1A1A18"/>
            </a:solidFill>
            <a:ln w="9525">
              <a:solidFill>
                <a:srgbClr val="28282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19500" y="4000500"/>
              <a:ext cx="2667000" cy="38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794760" y="42519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流程跑通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95712" y="4545806"/>
              <a:ext cx="17887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完成业务梳理、立项清单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95712" y="4831556"/>
              <a:ext cx="1124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首批AI员工上岗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95712" y="5117306"/>
              <a:ext cx="11487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把流程跑通一次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67500" y="4000500"/>
              <a:ext cx="2667000" cy="1524000"/>
            </a:xfrm>
            <a:prstGeom prst="rect">
              <a:avLst/>
            </a:prstGeom>
            <a:solidFill>
              <a:srgbClr val="1A1A18"/>
            </a:solidFill>
            <a:ln w="9525">
              <a:solidFill>
                <a:srgbClr val="282826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67500" y="4000500"/>
              <a:ext cx="2667000" cy="38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42760" y="42519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验证复利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43712" y="4545806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内容产能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43712" y="4831556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线索转化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3712" y="5117306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资产沉淀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715500" y="4000500"/>
              <a:ext cx="1905000" cy="1524000"/>
            </a:xfrm>
            <a:prstGeom prst="rect">
              <a:avLst/>
            </a:prstGeom>
            <a:solidFill>
              <a:srgbClr val="1A1A18"/>
            </a:solidFill>
            <a:ln w="19050">
              <a:solidFill>
                <a:srgbClr val="E85D26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15500" y="4000500"/>
              <a:ext cx="1905000" cy="38100"/>
            </a:xfrm>
            <a:prstGeom prst="rect">
              <a:avLst/>
            </a:prstGeom>
            <a:solidFill>
              <a:srgbClr val="E85D2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90760" y="4251960"/>
              <a:ext cx="7473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5D26"/>
                  </a:solidFill>
                  <a:latin typeface="Arial"/>
                  <a:ea typeface="Microsoft YaHei"/>
                  <a:cs typeface="Arial"/>
                </a:rPr>
                <a:t>三条边界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91712" y="4545806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数据合规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91712" y="4831556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平台合规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91712" y="5117306"/>
              <a:ext cx="6686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0ECE5"/>
                  </a:solidFill>
                  <a:latin typeface="Arial"/>
                  <a:ea typeface="Microsoft YaHei"/>
                  <a:cs typeface="Arial"/>
                </a:rPr>
                <a:t>组织适配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93618" y="5419249"/>
              <a:ext cx="12729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0ECE5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避免上得快也散得快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8165" y="1905000"/>
            <a:ext cx="11100435" cy="4481512"/>
            <a:chOff x="558165" y="1905000"/>
            <a:chExt cx="11100435" cy="4481512"/>
          </a:xfrm>
        </p:grpSpPr>
        <p:sp>
          <p:nvSpPr>
            <p:cNvPr id="54" name="Rectangle 54"/>
            <p:cNvSpPr/>
            <p:nvPr/>
          </p:nvSpPr>
          <p:spPr>
            <a:xfrm>
              <a:off x="11620500" y="1905000"/>
              <a:ext cx="38100" cy="952500"/>
            </a:xfrm>
            <a:prstGeom prst="rect">
              <a:avLst/>
            </a:prstGeom>
            <a:solidFill>
              <a:srgbClr val="E85D26">
                <a:alpha val="6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8165" y="6173152"/>
              <a:ext cx="1736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0ECE5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屿算智能企业 AI 业务工具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71123" y="6173152"/>
              <a:ext cx="3627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85D26"/>
                  </a:solidFill>
                  <a:latin typeface="Arial"/>
                  <a:ea typeface="Arial"/>
                  <a:cs typeface="Arial"/>
                </a:rPr>
                <a:t>4 / 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2026-06-25T07:29:49Z</dcterms:created>
  <dcterms:modified xsi:type="dcterms:W3CDTF">2026-06-25T07:29:49Z</dcterms:modified>
  <cp:category/>
  <cp:contentStatus/>
</cp:coreProperties>
</file>