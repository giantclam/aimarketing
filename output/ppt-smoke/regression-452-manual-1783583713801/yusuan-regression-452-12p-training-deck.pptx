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50121fbe944f61" /><Relationship Type="http://schemas.openxmlformats.org/officeDocument/2006/relationships/extended-properties" Target="/docProps/app.xml" Id="R87514b4ea0094cdd" /><Relationship Type="http://schemas.openxmlformats.org/officeDocument/2006/relationships/officeDocument" Target="/ppt/presentation.xml" Id="Rbb49c2fe58e94d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d3abe444954478"/>
  </p:sldMasterIdLst>
  <p:notesMasterIdLst>
    <p:notesMasterId xmlns:r="http://schemas.openxmlformats.org/officeDocument/2006/relationships" r:id="Rdcd88888f3e94144"/>
  </p:notesMasterIdLst>
  <p:sldIdLst>
    <p:sldId xmlns:r="http://schemas.openxmlformats.org/officeDocument/2006/relationships" id="256" r:id="R46fdae116c0c412d"/>
    <p:sldId xmlns:r="http://schemas.openxmlformats.org/officeDocument/2006/relationships" id="257" r:id="Rd6e80a44522a43d4"/>
    <p:sldId xmlns:r="http://schemas.openxmlformats.org/officeDocument/2006/relationships" id="258" r:id="Re6ed6810160e45d0"/>
    <p:sldId xmlns:r="http://schemas.openxmlformats.org/officeDocument/2006/relationships" id="259" r:id="R9f990a44739b4a95"/>
    <p:sldId xmlns:r="http://schemas.openxmlformats.org/officeDocument/2006/relationships" id="260" r:id="R39c4256e615a4b73"/>
    <p:sldId xmlns:r="http://schemas.openxmlformats.org/officeDocument/2006/relationships" id="261" r:id="Rae437e9690d14cd0"/>
    <p:sldId xmlns:r="http://schemas.openxmlformats.org/officeDocument/2006/relationships" id="262" r:id="R375a530025bb4aee"/>
    <p:sldId xmlns:r="http://schemas.openxmlformats.org/officeDocument/2006/relationships" id="263" r:id="Re1763aa9f9584218"/>
    <p:sldId xmlns:r="http://schemas.openxmlformats.org/officeDocument/2006/relationships" id="264" r:id="Rcebb822b84794a5a"/>
    <p:sldId xmlns:r="http://schemas.openxmlformats.org/officeDocument/2006/relationships" id="265" r:id="R36a0fc74e129412c"/>
    <p:sldId xmlns:r="http://schemas.openxmlformats.org/officeDocument/2006/relationships" id="266" r:id="R2398aefac7f54e4d"/>
    <p:sldId xmlns:r="http://schemas.openxmlformats.org/officeDocument/2006/relationships" id="267" r:id="R9dcb6493a5ec48b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0c7f0b97134f95" /><Relationship Type="http://schemas.openxmlformats.org/officeDocument/2006/relationships/slideMaster" Target="/ppt/slideMasters/slideMaster1.xml" Id="Rbdd3abe444954478" /><Relationship Type="http://schemas.openxmlformats.org/officeDocument/2006/relationships/notesMaster" Target="/ppt/notesMasters/notesMaster1.xml" Id="Rdcd88888f3e94144" /><Relationship Type="http://schemas.openxmlformats.org/officeDocument/2006/relationships/presProps" Target="/ppt/presProps.xml" Id="R17486c45377c44e3" /><Relationship Type="http://schemas.openxmlformats.org/officeDocument/2006/relationships/tableStyles" Target="/ppt/tableStyles.xml" Id="Rc4fb5ff754b64c69" /><Relationship Type="http://schemas.openxmlformats.org/officeDocument/2006/relationships/slide" Target="/ppt/slides/slide1.xml" Id="R46fdae116c0c412d" /><Relationship Type="http://schemas.openxmlformats.org/officeDocument/2006/relationships/slide" Target="/ppt/slides/slide2.xml" Id="Rd6e80a44522a43d4" /><Relationship Type="http://schemas.openxmlformats.org/officeDocument/2006/relationships/slide" Target="/ppt/slides/slide3.xml" Id="Re6ed6810160e45d0" /><Relationship Type="http://schemas.openxmlformats.org/officeDocument/2006/relationships/slide" Target="/ppt/slides/slide4.xml" Id="R9f990a44739b4a95" /><Relationship Type="http://schemas.openxmlformats.org/officeDocument/2006/relationships/slide" Target="/ppt/slides/slide5.xml" Id="R39c4256e615a4b73" /><Relationship Type="http://schemas.openxmlformats.org/officeDocument/2006/relationships/slide" Target="/ppt/slides/slide6.xml" Id="Rae437e9690d14cd0" /><Relationship Type="http://schemas.openxmlformats.org/officeDocument/2006/relationships/slide" Target="/ppt/slides/slide7.xml" Id="R375a530025bb4aee" /><Relationship Type="http://schemas.openxmlformats.org/officeDocument/2006/relationships/slide" Target="/ppt/slides/slide8.xml" Id="Re1763aa9f9584218" /><Relationship Type="http://schemas.openxmlformats.org/officeDocument/2006/relationships/slide" Target="/ppt/slides/slide9.xml" Id="Rcebb822b84794a5a" /><Relationship Type="http://schemas.openxmlformats.org/officeDocument/2006/relationships/slide" Target="/ppt/slides/slide10.xml" Id="R36a0fc74e129412c" /><Relationship Type="http://schemas.openxmlformats.org/officeDocument/2006/relationships/slide" Target="/ppt/slides/slide11.xml" Id="R2398aefac7f54e4d" /><Relationship Type="http://schemas.openxmlformats.org/officeDocument/2006/relationships/slide" Target="/ppt/slides/slide12.xml" Id="R9dcb6493a5ec48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584d56410c49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58edc96a95a4750" /><Relationship Type="http://schemas.openxmlformats.org/officeDocument/2006/relationships/notesMaster" Target="/ppt/notesMasters/notesMaster1.xml" Id="Ra49a121eae3347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e5a8be8bf548ff" /><Relationship Type="http://schemas.openxmlformats.org/officeDocument/2006/relationships/notesMaster" Target="/ppt/notesMasters/notesMaster1.xml" Id="R5ca3ebd0d62b496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ad782092f3042e3" /><Relationship Type="http://schemas.openxmlformats.org/officeDocument/2006/relationships/notesMaster" Target="/ppt/notesMasters/notesMaster1.xml" Id="R66716734e9454e1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6b9553d6a754f98" /><Relationship Type="http://schemas.openxmlformats.org/officeDocument/2006/relationships/notesMaster" Target="/ppt/notesMasters/notesMaster1.xml" Id="Rd0fc59c0078a42f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5bec9fee2b0416b" /><Relationship Type="http://schemas.openxmlformats.org/officeDocument/2006/relationships/notesMaster" Target="/ppt/notesMasters/notesMaster1.xml" Id="R52fbd4b8081f4f9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8ae286864244e50" /><Relationship Type="http://schemas.openxmlformats.org/officeDocument/2006/relationships/notesMaster" Target="/ppt/notesMasters/notesMaster1.xml" Id="R94d1555fe68a4fd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d0d21431a9b4e06" /><Relationship Type="http://schemas.openxmlformats.org/officeDocument/2006/relationships/notesMaster" Target="/ppt/notesMasters/notesMaster1.xml" Id="R74fdfdee850e43e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ad1a1d85d224511" /><Relationship Type="http://schemas.openxmlformats.org/officeDocument/2006/relationships/notesMaster" Target="/ppt/notesMasters/notesMaster1.xml" Id="Reca3d3d508f941a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ecf3ae689eb468a" /><Relationship Type="http://schemas.openxmlformats.org/officeDocument/2006/relationships/notesMaster" Target="/ppt/notesMasters/notesMaster1.xml" Id="Raf5f57c6a25c4ed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5e10a1a72f54378" /><Relationship Type="http://schemas.openxmlformats.org/officeDocument/2006/relationships/notesMaster" Target="/ppt/notesMasters/notesMaster1.xml" Id="Raf71b0a25c88484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7ac9220c8d048b3" /><Relationship Type="http://schemas.openxmlformats.org/officeDocument/2006/relationships/notesMaster" Target="/ppt/notesMasters/notesMaster1.xml" Id="Rd4842b42202d415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d20995cfdbf4edd" /><Relationship Type="http://schemas.openxmlformats.org/officeDocument/2006/relationships/notesMaster" Target="/ppt/notesMasters/notesMaster1.xml" Id="R91a0bf33a7ec43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c52ae12c7f48d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a593b0f449a4f69" /><Relationship Type="http://schemas.openxmlformats.org/officeDocument/2006/relationships/slideLayout" Target="/ppt/slideLayouts/slideLayout1.xml" Id="Rc273c707231541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273c707231541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6a4809d21543fc" /><Relationship Type="http://schemas.openxmlformats.org/officeDocument/2006/relationships/notesSlide" Target="/ppt/notesSlides/notesSlide1.xml" Id="R687ecbc4faed4b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7511755fdb4e0b" /><Relationship Type="http://schemas.openxmlformats.org/officeDocument/2006/relationships/notesSlide" Target="/ppt/notesSlides/notesSlide2.xml" Id="Rfe31420b35014be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1a826950194850" /><Relationship Type="http://schemas.openxmlformats.org/officeDocument/2006/relationships/notesSlide" Target="/ppt/notesSlides/notesSlide3.xml" Id="R3f9ccca0fee843a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e5797e052e4c73" /><Relationship Type="http://schemas.openxmlformats.org/officeDocument/2006/relationships/notesSlide" Target="/ppt/notesSlides/notesSlide4.xml" Id="Rf3ca48b74a39433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df50f729cd4b44" /><Relationship Type="http://schemas.openxmlformats.org/officeDocument/2006/relationships/notesSlide" Target="/ppt/notesSlides/notesSlide5.xml" Id="Rc6403ed39df7455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f436412fc74f98" /><Relationship Type="http://schemas.openxmlformats.org/officeDocument/2006/relationships/notesSlide" Target="/ppt/notesSlides/notesSlide6.xml" Id="R596cd4773c454d8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8f04efc13f4c97" /><Relationship Type="http://schemas.openxmlformats.org/officeDocument/2006/relationships/notesSlide" Target="/ppt/notesSlides/notesSlide7.xml" Id="Rf47ab3b3af7b45c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75dd6be2c04edf" /><Relationship Type="http://schemas.openxmlformats.org/officeDocument/2006/relationships/notesSlide" Target="/ppt/notesSlides/notesSlide8.xml" Id="Rddcc3897e5d846d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85ad78794d41e0" /><Relationship Type="http://schemas.openxmlformats.org/officeDocument/2006/relationships/notesSlide" Target="/ppt/notesSlides/notesSlide9.xml" Id="R2be3d48118f0450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eb37462ccd428e" /><Relationship Type="http://schemas.openxmlformats.org/officeDocument/2006/relationships/notesSlide" Target="/ppt/notesSlides/notesSlide10.xml" Id="R5da3b1d78eb149e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7b0f53edd749ae" /><Relationship Type="http://schemas.openxmlformats.org/officeDocument/2006/relationships/notesSlide" Target="/ppt/notesSlides/notesSlide11.xml" Id="R28d7e2a1049d4ca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7e2da0a724429d" /><Relationship Type="http://schemas.openxmlformats.org/officeDocument/2006/relationships/notesSlide" Target="/ppt/notesSlides/notesSlide12.xml" Id="R68d00571f5ba4c6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EF366E-3FA0-4642-9222-CE37FA1F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4CBBD4-9676-4FD4-89C2-13C42D432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7D617C-58D4-4E73-9A91-267264E0B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7627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B1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FB1FF"/>
                </a:solidFill>
                <a:latin typeface="Aptos"/>
                <a:ea typeface="Aptos"/>
                <a:cs typeface="Aptos"/>
              </a:rPr>
              <a:t>内部培训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46EC72-BA04-4BDD-B77E-2B3D15B2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838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屿算智能产品认知培训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044766-A05B-47C3-ABE4-833C686C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7429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CB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CBC8"/>
                </a:solidFill>
                <a:latin typeface="Aptos"/>
                <a:ea typeface="Aptos"/>
                <a:cs typeface="Aptos"/>
              </a:rPr>
              <a:t>从“AI 概念”到“业务系统”，统一管理层认知与对外表达口径。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271C53-662E-4807-ADC9-3049BA82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524000"/>
            <a:ext cx="3028950" cy="4095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F587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97E877-E20E-4131-A293-38D8C5284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28800"/>
            <a:ext cx="2495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FB1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FB1FF"/>
                </a:solidFill>
                <a:latin typeface="Aptos"/>
                <a:ea typeface="Aptos"/>
                <a:cs typeface="Aptos"/>
              </a:rPr>
              <a:t>关键要点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E110C5-27F7-498B-AA12-F6ECE7A3F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47900"/>
            <a:ext cx="2362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主题聚焦：产品认知、价值主张、产品体系</a:t>
            </a:r>
          </a:p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适用场景：管理层培训与统一认知</a:t>
            </a:r>
          </a:p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版本：12 页培训讲解 deck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F61B59-91B2-4DB3-81FA-83ECF4CA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7CB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CBC8"/>
                </a:solidFill>
                <a:latin typeface="Aptos"/>
                <a:ea typeface="Aptos"/>
                <a:cs typeface="Aptos"/>
              </a:rPr>
              <a:t>屿算智能产品认知培训：从“AI 概念”到“业务系统”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3866F0-917A-4AC8-AF13-15C14C3A1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62103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7CB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CBC8"/>
                </a:solidFill>
                <a:latin typeface="Aptos"/>
                <a:ea typeface="Aptos"/>
                <a:cs typeface="Aptos"/>
              </a:rPr>
              <a:t>培训课件 · 1/12</a:t>
            </a:r>
          </a:p>
        </p:txBody>
      </p:sp>
    </p:spTree>
    <p:extLst>
      <p:ext uri="{BB962C8B-B14F-4D97-AF65-F5344CB8AC3E}">
        <p14:creationId xmlns:p14="http://schemas.microsoft.com/office/powerpoint/2010/main" val="43621746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B0BCD2-4ED9-4F7A-A6BF-887FF00C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0E982A-928D-49B7-A8B8-D81995C13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147878-B927-43B1-A9D9-0365B1A1E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7627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B1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FB1FF"/>
                </a:solidFill>
                <a:latin typeface="Aptos"/>
                <a:ea typeface="Aptos"/>
                <a:cs typeface="Aptos"/>
              </a:rPr>
              <a:t>培训目标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1A7285-4C13-434F-9CE5-B35CE16D8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838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为什么需要这次培训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C06F58-E740-444B-BA7C-1CF514FE6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7429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CB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CBC8"/>
                </a:solidFill>
                <a:latin typeface="Aptos"/>
                <a:ea typeface="Aptos"/>
                <a:cs typeface="Aptos"/>
              </a:rPr>
              <a:t>当前对外沟通中，大家对产品定位、能力边界和价值表达的理解并不完全一致。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260EAF-AD13-46E7-B0CC-3BE4A4EA5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524000"/>
            <a:ext cx="3028950" cy="4095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F587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3190B1-48ED-4DCC-820A-F0B4FF853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28800"/>
            <a:ext cx="2495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FB1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FB1FF"/>
                </a:solidFill>
                <a:latin typeface="Aptos"/>
                <a:ea typeface="Aptos"/>
                <a:cs typeface="Aptos"/>
              </a:rPr>
              <a:t>关键要点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6587CE-CA4A-4EF2-BA73-CA8CC4A7D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47900"/>
            <a:ext cx="2362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统一管理层认知，减少口径偏差</a:t>
            </a:r>
          </a:p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讲清“与通用大模型的区别”</a:t>
            </a:r>
          </a:p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沉淀一套可复用的对外表达逻辑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D9D150-6639-4260-85C4-1260A38D9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7CB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CBC8"/>
                </a:solidFill>
                <a:latin typeface="Aptos"/>
                <a:ea typeface="Aptos"/>
                <a:cs typeface="Aptos"/>
              </a:rPr>
              <a:t>屿算智能产品认知培训：从“AI 概念”到“业务系统”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E84022-C235-4408-9451-D95220484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62103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7CB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CBC8"/>
                </a:solidFill>
                <a:latin typeface="Aptos"/>
                <a:ea typeface="Aptos"/>
                <a:cs typeface="Aptos"/>
              </a:rPr>
              <a:t>培训课件 · 2/12</a:t>
            </a:r>
          </a:p>
        </p:txBody>
      </p:sp>
    </p:spTree>
    <p:extLst>
      <p:ext uri="{BB962C8B-B14F-4D97-AF65-F5344CB8AC3E}">
        <p14:creationId xmlns:p14="http://schemas.microsoft.com/office/powerpoint/2010/main" val="111863940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0EE5D6-4D1A-4FA8-9E4B-C8A35B62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A9B639-FB3A-4C5C-B57C-E9D2F0D8D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5D1292-C278-49FC-9C72-5AF6D2767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7627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B1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FB1FF"/>
                </a:solidFill>
                <a:latin typeface="Aptos"/>
                <a:ea typeface="Aptos"/>
                <a:cs typeface="Aptos"/>
              </a:rPr>
              <a:t>需求锚点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F43D43-6526-4A04-8C74-236A43B2C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838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客户从哪里来？企业到底焦虑什么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BC5728-D633-434F-9CF4-774AE6E9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7429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CB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CBC8"/>
                </a:solidFill>
                <a:latin typeface="Aptos"/>
                <a:ea typeface="Aptos"/>
                <a:cs typeface="Aptos"/>
              </a:rPr>
              <a:t>“客户从哪里来”是企业经营焦虑的起点，也是后续产品逻辑成立的根本原因。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A6808F-BBD4-4367-BA28-B408A98A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524000"/>
            <a:ext cx="3028950" cy="4095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F587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16495F-E5AC-426C-A775-E5FD85F60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28800"/>
            <a:ext cx="2495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FB1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FB1FF"/>
                </a:solidFill>
                <a:latin typeface="Aptos"/>
                <a:ea typeface="Aptos"/>
                <a:cs typeface="Aptos"/>
              </a:rPr>
              <a:t>关键要点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C9D630-B8A6-43B8-8C01-40A7CB324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47900"/>
            <a:ext cx="2362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客户来源不稳定</a:t>
            </a:r>
          </a:p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内容生产难持续</a:t>
            </a:r>
          </a:p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团队执行断层</a:t>
            </a:r>
          </a:p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数据与经验难沉淀</a:t>
            </a:r>
          </a:p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AI 不知道如何真正用进业务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8E4F90-F5E6-492A-833B-5128BD44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7CB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CBC8"/>
                </a:solidFill>
                <a:latin typeface="Aptos"/>
                <a:ea typeface="Aptos"/>
                <a:cs typeface="Aptos"/>
              </a:rPr>
              <a:t>屿算智能产品认知培训：从“AI 概念”到“业务系统”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6B563D-619E-4E02-9733-ED3C29DC5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62103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7CB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CBC8"/>
                </a:solidFill>
                <a:latin typeface="Aptos"/>
                <a:ea typeface="Aptos"/>
                <a:cs typeface="Aptos"/>
              </a:rPr>
              <a:t>培训课件 · 3/12</a:t>
            </a:r>
          </a:p>
        </p:txBody>
      </p:sp>
    </p:spTree>
    <p:extLst>
      <p:ext uri="{BB962C8B-B14F-4D97-AF65-F5344CB8AC3E}">
        <p14:creationId xmlns:p14="http://schemas.microsoft.com/office/powerpoint/2010/main" val="81161723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7A9C12-C3CC-42D9-B7AC-F5279784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DB2CF7-6D60-4203-BDCC-F0CD18E68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93465D-C82E-4208-B6A3-2E137DB6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7627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B1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FB1FF"/>
                </a:solidFill>
                <a:latin typeface="Aptos"/>
                <a:ea typeface="Aptos"/>
                <a:cs typeface="Aptos"/>
              </a:rPr>
              <a:t>真实卡点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4E347F-7458-43C4-94BF-2C1E4330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838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企业 AI 落地的真实卡点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0309ED-09B3-435B-BA6B-7E9B50FC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7429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CB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CBC8"/>
                </a:solidFill>
                <a:latin typeface="Aptos"/>
                <a:ea typeface="Aptos"/>
                <a:cs typeface="Aptos"/>
              </a:rPr>
              <a:t>企业不是不理解 AI，而是缺少从问题到执行再到结果的完整业务路径。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B1AC0C-879C-44EB-A95E-DD81E2E3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524000"/>
            <a:ext cx="3028950" cy="4095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F587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865FA2-FB52-4478-A7EE-51C814FA2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28800"/>
            <a:ext cx="2495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FB1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FB1FF"/>
                </a:solidFill>
                <a:latin typeface="Aptos"/>
                <a:ea typeface="Aptos"/>
                <a:cs typeface="Aptos"/>
              </a:rPr>
              <a:t>关键要点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D831CF-065F-45B5-B6DE-ED87FFA63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47900"/>
            <a:ext cx="2362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不会问：难以描述业务需求</a:t>
            </a:r>
          </a:p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不会用：接不进真实工作流</a:t>
            </a:r>
          </a:p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不能沉淀：结果留不进企业资产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C9583F-37C6-4DDD-AE9C-51CA464D4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7CB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CBC8"/>
                </a:solidFill>
                <a:latin typeface="Aptos"/>
                <a:ea typeface="Aptos"/>
                <a:cs typeface="Aptos"/>
              </a:rPr>
              <a:t>屿算智能产品认知培训：从“AI 概念”到“业务系统”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F3DD0C-069A-4AAC-AE7C-2952F51D0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62103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7CB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CBC8"/>
                </a:solidFill>
                <a:latin typeface="Aptos"/>
                <a:ea typeface="Aptos"/>
                <a:cs typeface="Aptos"/>
              </a:rPr>
              <a:t>培训课件 · 4/12</a:t>
            </a:r>
          </a:p>
        </p:txBody>
      </p:sp>
    </p:spTree>
    <p:extLst>
      <p:ext uri="{BB962C8B-B14F-4D97-AF65-F5344CB8AC3E}">
        <p14:creationId xmlns:p14="http://schemas.microsoft.com/office/powerpoint/2010/main" val="19892939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690B83-2A58-454C-A1D2-48ABF285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7A31DB-525C-4C96-AA23-D66DC2B1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A9E5A5-A036-4236-A080-404D5083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7627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B1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FB1FF"/>
                </a:solidFill>
                <a:latin typeface="Aptos"/>
                <a:ea typeface="Aptos"/>
                <a:cs typeface="Aptos"/>
              </a:rPr>
              <a:t>产品定义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D57645-BA06-4603-B1D6-E7B1216EE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838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屿算智脑是什么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5AC06D-A7DE-43B9-B1AB-A1A4ECD8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7429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CB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CBC8"/>
                </a:solidFill>
                <a:latin typeface="Aptos"/>
                <a:ea typeface="Aptos"/>
                <a:cs typeface="Aptos"/>
              </a:rPr>
              <a:t>屿算智脑把大模型、数字员工、业务流程和应用工具组合成企业专属 AI 业务能力。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51F03E-123E-40F5-9322-ABE0A456C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524000"/>
            <a:ext cx="3028950" cy="4095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F587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7DDF3F-66C8-4A2C-8DF5-85828B5E2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28800"/>
            <a:ext cx="2495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FB1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FB1FF"/>
                </a:solidFill>
                <a:latin typeface="Aptos"/>
                <a:ea typeface="Aptos"/>
                <a:cs typeface="Aptos"/>
              </a:rPr>
              <a:t>关键要点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970398-96A6-4850-A77C-8FD89E7B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47900"/>
            <a:ext cx="2362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进入岗位：17 个 AI 智能体员工</a:t>
            </a:r>
          </a:p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进入流程：从业务梳理到资产沉淀</a:t>
            </a:r>
          </a:p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进入结果：降成本、提效率、强执行、促增长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DF0F76-82C2-44D1-BCDE-FEB46818B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7CB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CBC8"/>
                </a:solidFill>
                <a:latin typeface="Aptos"/>
                <a:ea typeface="Aptos"/>
                <a:cs typeface="Aptos"/>
              </a:rPr>
              <a:t>屿算智能产品认知培训：从“AI 概念”到“业务系统”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3A273D-C3E6-4BBA-B089-17D853A9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62103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7CB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CBC8"/>
                </a:solidFill>
                <a:latin typeface="Aptos"/>
                <a:ea typeface="Aptos"/>
                <a:cs typeface="Aptos"/>
              </a:rPr>
              <a:t>培训课件 · 5/12</a:t>
            </a:r>
          </a:p>
        </p:txBody>
      </p:sp>
    </p:spTree>
    <p:extLst>
      <p:ext uri="{BB962C8B-B14F-4D97-AF65-F5344CB8AC3E}">
        <p14:creationId xmlns:p14="http://schemas.microsoft.com/office/powerpoint/2010/main" val="89825871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C8C2DC-6FCB-4472-9C08-2F0E177F8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F867AB-3DCF-4345-BA19-6AD30625D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448990-DE60-4BA6-BBAC-3CA2B675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7627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B1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FB1FF"/>
                </a:solidFill>
                <a:latin typeface="Aptos"/>
                <a:ea typeface="Aptos"/>
                <a:cs typeface="Aptos"/>
              </a:rPr>
              <a:t>产品形态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ABF99C-09EC-42EF-BB85-425C0183B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838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从单点工具到业务工作台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3618F8-DF8F-4073-AAC9-6DAB993C3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7429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CB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CBC8"/>
                </a:solidFill>
                <a:latin typeface="Aptos"/>
                <a:ea typeface="Aptos"/>
                <a:cs typeface="Aptos"/>
              </a:rPr>
              <a:t>屿算智脑的核心不是多一个工具入口，而是把岗位、流程、结果资产组织到同一系统。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9BE349-47D2-4EB3-90CD-1501DEF1A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524000"/>
            <a:ext cx="3028950" cy="4095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F587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98CA29-C698-422D-9162-AA38DA1A7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28800"/>
            <a:ext cx="2495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FB1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FB1FF"/>
                </a:solidFill>
                <a:latin typeface="Aptos"/>
                <a:ea typeface="Aptos"/>
                <a:cs typeface="Aptos"/>
              </a:rPr>
              <a:t>关键要点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E52A18-CD84-4A50-BF09-B7C982BD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47900"/>
            <a:ext cx="2362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传统单点 AI：工具分散、流程靠人拼接</a:t>
            </a:r>
          </a:p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屿算工作台：按业务路径组织能力</a:t>
            </a:r>
          </a:p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结果进入企业资产库，可复用、可管理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9E571D-CEE0-45C0-BF96-1966E8B9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7CB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CBC8"/>
                </a:solidFill>
                <a:latin typeface="Aptos"/>
                <a:ea typeface="Aptos"/>
                <a:cs typeface="Aptos"/>
              </a:rPr>
              <a:t>屿算智能产品认知培训：从“AI 概念”到“业务系统”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22F3B5-3AB6-4DE7-A7BA-55E26195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62103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7CB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CBC8"/>
                </a:solidFill>
                <a:latin typeface="Aptos"/>
                <a:ea typeface="Aptos"/>
                <a:cs typeface="Aptos"/>
              </a:rPr>
              <a:t>培训课件 · 6/12</a:t>
            </a:r>
          </a:p>
        </p:txBody>
      </p:sp>
    </p:spTree>
    <p:extLst>
      <p:ext uri="{BB962C8B-B14F-4D97-AF65-F5344CB8AC3E}">
        <p14:creationId xmlns:p14="http://schemas.microsoft.com/office/powerpoint/2010/main" val="49332154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2C19C0-19BE-4C26-8948-8224B412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ECD59E-D70E-4298-90FF-5D9199ECA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D7C7B1-CC97-47A1-B731-CDEBB3C0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7627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B1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FB1FF"/>
                </a:solidFill>
                <a:latin typeface="Aptos"/>
                <a:ea typeface="Aptos"/>
                <a:cs typeface="Aptos"/>
              </a:rPr>
              <a:t>全景图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BCE4A3-3DA9-4A10-B77A-A6A94DE6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838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七层业务闭环全景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D242E9-C290-4AF4-ABC0-6E2C20D7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7429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CB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CBC8"/>
                </a:solidFill>
                <a:latin typeface="Aptos"/>
                <a:ea typeface="Aptos"/>
                <a:cs typeface="Aptos"/>
              </a:rPr>
              <a:t>从模型接入到底层资产沉淀，形成企业 AI 落地的一条完整链路。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2422F2-8EAD-4D06-8801-C0C546052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524000"/>
            <a:ext cx="3028950" cy="4095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F587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195069-9605-4E68-8CBC-F7C617D99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28800"/>
            <a:ext cx="2495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FB1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FB1FF"/>
                </a:solidFill>
                <a:latin typeface="Aptos"/>
                <a:ea typeface="Aptos"/>
                <a:cs typeface="Aptos"/>
              </a:rPr>
              <a:t>关键要点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FDDBE5-4DF2-4DBA-B35B-02D87C8F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47900"/>
            <a:ext cx="2362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底座层：40+ 模型与工具接入</a:t>
            </a:r>
          </a:p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诊断层：业务梳理与问题澄清</a:t>
            </a:r>
          </a:p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立项层：方案生成</a:t>
            </a:r>
          </a:p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管理层：目标拆解与看板</a:t>
            </a:r>
          </a:p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生产层 / 分发层 / 资产层闭环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6F250F-063D-4C20-87AD-05C9F8EC2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7CB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CBC8"/>
                </a:solidFill>
                <a:latin typeface="Aptos"/>
                <a:ea typeface="Aptos"/>
                <a:cs typeface="Aptos"/>
              </a:rPr>
              <a:t>屿算智能产品认知培训：从“AI 概念”到“业务系统”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7058A8-D649-4F99-86F3-8B26CD4E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62103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7CB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CBC8"/>
                </a:solidFill>
                <a:latin typeface="Aptos"/>
                <a:ea typeface="Aptos"/>
                <a:cs typeface="Aptos"/>
              </a:rPr>
              <a:t>培训课件 · 7/12</a:t>
            </a:r>
          </a:p>
        </p:txBody>
      </p:sp>
    </p:spTree>
    <p:extLst>
      <p:ext uri="{BB962C8B-B14F-4D97-AF65-F5344CB8AC3E}">
        <p14:creationId xmlns:p14="http://schemas.microsoft.com/office/powerpoint/2010/main" val="65098933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FD9EC1-680E-46F6-B56F-27D8FB68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B83395-7A72-4DAB-97F3-8B45022F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FADE63-3F69-473E-8A09-067FA116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7627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B1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FB1FF"/>
                </a:solidFill>
                <a:latin typeface="Aptos"/>
                <a:ea typeface="Aptos"/>
                <a:cs typeface="Aptos"/>
              </a:rPr>
              <a:t>阶段拆解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CDAE77-DFE7-4CA0-9951-5B49D3BF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838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四个阶段如何跑通业务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B49E68-05D0-4FAE-A1A1-5E18EA5E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7429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CB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CBC8"/>
                </a:solidFill>
                <a:latin typeface="Aptos"/>
                <a:ea typeface="Aptos"/>
                <a:cs typeface="Aptos"/>
              </a:rPr>
              <a:t>系统以阶段化方式帮助企业从认知进入执行，并把执行结果沉淀为长期能力。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71CC67-1D77-4E9A-97AA-467E260E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524000"/>
            <a:ext cx="3028950" cy="4095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F587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8A925A-AE35-4646-9A1A-ED570D62E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28800"/>
            <a:ext cx="2495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FB1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FB1FF"/>
                </a:solidFill>
                <a:latin typeface="Aptos"/>
                <a:ea typeface="Aptos"/>
                <a:cs typeface="Aptos"/>
              </a:rPr>
              <a:t>关键要点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6F1627-21AB-4B59-8432-ADFAC6DB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47900"/>
            <a:ext cx="2362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阶段一：业务梳理</a:t>
            </a:r>
          </a:p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阶段二：立项与执行管理</a:t>
            </a:r>
          </a:p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阶段三：生产与分发</a:t>
            </a:r>
          </a:p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阶段四：风控与资产沉淀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A26724-072B-44DB-B993-2EB157B59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7CB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CBC8"/>
                </a:solidFill>
                <a:latin typeface="Aptos"/>
                <a:ea typeface="Aptos"/>
                <a:cs typeface="Aptos"/>
              </a:rPr>
              <a:t>屿算智能产品认知培训：从“AI 概念”到“业务系统”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4198DC-588C-4A3B-9E9E-38C8F6CC1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62103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7CB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CBC8"/>
                </a:solidFill>
                <a:latin typeface="Aptos"/>
                <a:ea typeface="Aptos"/>
                <a:cs typeface="Aptos"/>
              </a:rPr>
              <a:t>培训课件 · 8/12</a:t>
            </a:r>
          </a:p>
        </p:txBody>
      </p:sp>
    </p:spTree>
    <p:extLst>
      <p:ext uri="{BB962C8B-B14F-4D97-AF65-F5344CB8AC3E}">
        <p14:creationId xmlns:p14="http://schemas.microsoft.com/office/powerpoint/2010/main" val="8591986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2C1887-7A06-4590-90C8-A65299A35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9B43DE-88A1-44EA-86D6-35EFF9F3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BD7C3B-5953-4EBB-9F7D-11AE7BCD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7627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B1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FB1FF"/>
                </a:solidFill>
                <a:latin typeface="Aptos"/>
                <a:ea typeface="Aptos"/>
                <a:cs typeface="Aptos"/>
              </a:rPr>
              <a:t>组织能力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595862-6D0B-4D82-8C1B-4FB2A75E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838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AI 智能体员工矩阵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8211FF-2DA1-4AF6-BDB7-67A05F109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7429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CB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CBC8"/>
                </a:solidFill>
                <a:latin typeface="Aptos"/>
                <a:ea typeface="Aptos"/>
                <a:cs typeface="Aptos"/>
              </a:rPr>
              <a:t>17 个 AI 智能体员工不是抽象能力集合，而是进入真实岗位分工与协同流程。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B95D0E-1FCB-4176-ADD3-C39199CD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524000"/>
            <a:ext cx="3028950" cy="4095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F587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18470D-95D0-4C6D-8CF4-4C221AE4E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28800"/>
            <a:ext cx="2495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FB1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FB1FF"/>
                </a:solidFill>
                <a:latin typeface="Aptos"/>
                <a:ea typeface="Aptos"/>
                <a:cs typeface="Aptos"/>
              </a:rPr>
              <a:t>关键要点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14FFFC-C2FA-4D4A-B352-EA044417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47900"/>
            <a:ext cx="2362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内容策略类</a:t>
            </a:r>
          </a:p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成交与私域裂变类</a:t>
            </a:r>
          </a:p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组织裂变类</a:t>
            </a:r>
          </a:p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专业支持类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57C8CC-44DB-4902-99D6-5AEC7A7F9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7CB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CBC8"/>
                </a:solidFill>
                <a:latin typeface="Aptos"/>
                <a:ea typeface="Aptos"/>
                <a:cs typeface="Aptos"/>
              </a:rPr>
              <a:t>屿算智能产品认知培训：从“AI 概念”到“业务系统”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5DEC37-3B0B-4DBD-A52D-539DB5A0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62103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7CB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CBC8"/>
                </a:solidFill>
                <a:latin typeface="Aptos"/>
                <a:ea typeface="Aptos"/>
                <a:cs typeface="Aptos"/>
              </a:rPr>
              <a:t>培训课件 · 9/12</a:t>
            </a:r>
          </a:p>
        </p:txBody>
      </p:sp>
    </p:spTree>
    <p:extLst>
      <p:ext uri="{BB962C8B-B14F-4D97-AF65-F5344CB8AC3E}">
        <p14:creationId xmlns:p14="http://schemas.microsoft.com/office/powerpoint/2010/main" val="77751170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959298-7C02-4B07-821C-326248B7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A649FE-B099-44F0-A00C-58F5B785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F5863E-DA86-4B21-9C29-5DF3E687F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7627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B1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FB1FF"/>
                </a:solidFill>
                <a:latin typeface="Aptos"/>
                <a:ea typeface="Aptos"/>
                <a:cs typeface="Aptos"/>
              </a:rPr>
              <a:t>业务价值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A2A574-5EE4-4CDF-9F5E-53460640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838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客户最终买到什么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845F12-859B-4A4E-965B-16639A11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7429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CB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CBC8"/>
                </a:solidFill>
                <a:latin typeface="Aptos"/>
                <a:ea typeface="Aptos"/>
                <a:cs typeface="Aptos"/>
              </a:rPr>
              <a:t>客户买到的不是 AI 概念，而是可执行、可管理、可复用的业务能力。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CFBB0E-0810-47A2-BA2B-2ED75B0A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524000"/>
            <a:ext cx="3028950" cy="4095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F587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490C16-1128-4EAB-ADB0-755B5E0C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28800"/>
            <a:ext cx="2495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FB1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FB1FF"/>
                </a:solidFill>
                <a:latin typeface="Aptos"/>
                <a:ea typeface="Aptos"/>
                <a:cs typeface="Aptos"/>
              </a:rPr>
              <a:t>关键要点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E33BB1-470A-4039-85EA-120ED549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47900"/>
            <a:ext cx="2362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降成本：减少咨询、制作、试错投入</a:t>
            </a:r>
          </a:p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提效率：从等待变连续推进</a:t>
            </a:r>
          </a:p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强执行：想法到任务闭环</a:t>
            </a:r>
          </a:p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促增长：内容、获客、私域形成联动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9EFD65-D670-4D50-AAD0-60A0F9F81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7CB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CBC8"/>
                </a:solidFill>
                <a:latin typeface="Aptos"/>
                <a:ea typeface="Aptos"/>
                <a:cs typeface="Aptos"/>
              </a:rPr>
              <a:t>屿算智能产品认知培训：从“AI 概念”到“业务系统”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1F7B09-4738-44AE-984B-B17D8227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62103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7CB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CBC8"/>
                </a:solidFill>
                <a:latin typeface="Aptos"/>
                <a:ea typeface="Aptos"/>
                <a:cs typeface="Aptos"/>
              </a:rPr>
              <a:t>培训课件 · 10/12</a:t>
            </a:r>
          </a:p>
        </p:txBody>
      </p:sp>
    </p:spTree>
    <p:extLst>
      <p:ext uri="{BB962C8B-B14F-4D97-AF65-F5344CB8AC3E}">
        <p14:creationId xmlns:p14="http://schemas.microsoft.com/office/powerpoint/2010/main" val="207391196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342DE1-F802-4514-A0D0-DAA2C655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EA7C71-7404-477A-91D3-2F2A5478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1CDBF0-133C-4744-8513-7DB7BF66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7627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B1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FB1FF"/>
                </a:solidFill>
                <a:latin typeface="Aptos"/>
                <a:ea typeface="Aptos"/>
                <a:cs typeface="Aptos"/>
              </a:rPr>
              <a:t>产品体系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F0CDBA-0ADC-4121-9B95-3541EEAC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838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产品体系与套餐价格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28BDA8-ECDE-4A0B-97CF-2E0686F6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7429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CB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CBC8"/>
                </a:solidFill>
                <a:latin typeface="Aptos"/>
                <a:ea typeface="Aptos"/>
                <a:cs typeface="Aptos"/>
              </a:rPr>
              <a:t>标准 SaaS 套餐与超脑定制方案共同构成完整产品边界，方便管理层对外准确推荐。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779878-9C3D-4484-A410-6C962E8F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524000"/>
            <a:ext cx="3028950" cy="4095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F587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7FA962-6177-45C8-9A41-788034840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28800"/>
            <a:ext cx="2495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FB1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FB1FF"/>
                </a:solidFill>
                <a:latin typeface="Aptos"/>
                <a:ea typeface="Aptos"/>
                <a:cs typeface="Aptos"/>
              </a:rPr>
              <a:t>关键要点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3B6642-0864-462B-9CAC-BC480547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47900"/>
            <a:ext cx="2362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入门版 ¥19,800：先跑通一个业务场景</a:t>
            </a:r>
          </a:p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标准版 ¥39,800：团队协同持续运营</a:t>
            </a:r>
          </a:p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增长版 ¥59,800：多账号、多流程、多业务线规模化</a:t>
            </a:r>
          </a:p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屿算超脑：定制化独立部署，一企一案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D1051D-9183-4A71-9F99-AC57A714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7CB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CBC8"/>
                </a:solidFill>
                <a:latin typeface="Aptos"/>
                <a:ea typeface="Aptos"/>
                <a:cs typeface="Aptos"/>
              </a:rPr>
              <a:t>屿算智能产品认知培训：从“AI 概念”到“业务系统”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4791A6-A172-40A7-984A-D129BD2C5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62103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7CB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CBC8"/>
                </a:solidFill>
                <a:latin typeface="Aptos"/>
                <a:ea typeface="Aptos"/>
                <a:cs typeface="Aptos"/>
              </a:rPr>
              <a:t>培训课件 · 11/12</a:t>
            </a:r>
          </a:p>
        </p:txBody>
      </p:sp>
    </p:spTree>
    <p:extLst>
      <p:ext uri="{BB962C8B-B14F-4D97-AF65-F5344CB8AC3E}">
        <p14:creationId xmlns:p14="http://schemas.microsoft.com/office/powerpoint/2010/main" val="385809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B5C9DA-8314-45BA-B29F-1FEAAC6F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BDA030-00AF-4F0A-B761-EF0879DA0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4A583D-4601-4209-96E7-171E4E75F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7627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B1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FB1FF"/>
                </a:solidFill>
                <a:latin typeface="Aptos"/>
                <a:ea typeface="Aptos"/>
                <a:cs typeface="Aptos"/>
              </a:rPr>
              <a:t>统一口径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2D6654-FB86-4C11-8E1F-30C93AEE1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838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总结与统一对外口径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74C5DC-5E00-4287-90B3-B295C4AA7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7429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CB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CBC8"/>
                </a:solidFill>
                <a:latin typeface="Aptos"/>
                <a:ea typeface="Aptos"/>
                <a:cs typeface="Aptos"/>
              </a:rPr>
              <a:t>屿算智脑面向传统企业，把 AI 从单点工具升级为可执行、可管理、可沉淀的增长系统。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6D7F6A-7354-4E40-BC0F-BAF25073F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524000"/>
            <a:ext cx="3028950" cy="4095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F587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774E88-7816-42FE-BC38-2B49B5AB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28800"/>
            <a:ext cx="2495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FB1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FB1FF"/>
                </a:solidFill>
                <a:latin typeface="Aptos"/>
                <a:ea typeface="Aptos"/>
                <a:cs typeface="Aptos"/>
              </a:rPr>
              <a:t>关键要点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3E6FAF-DE06-4697-BA5C-634BF08F8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47900"/>
            <a:ext cx="2362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不是工具，是业务系统</a:t>
            </a:r>
          </a:p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不是让员工学 AI，而是让 AI 进入岗位和流程</a:t>
            </a:r>
          </a:p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从诊断到执行到沉淀，形成企业闭环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8F2F9F-A838-4A15-B295-5F0AACB3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7CB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CBC8"/>
                </a:solidFill>
                <a:latin typeface="Aptos"/>
                <a:ea typeface="Aptos"/>
                <a:cs typeface="Aptos"/>
              </a:rPr>
              <a:t>屿算智能产品认知培训：从“AI 概念”到“业务系统”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6359E1-EE87-4254-A991-5D463D1AC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62103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7CB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CBC8"/>
                </a:solidFill>
                <a:latin typeface="Aptos"/>
                <a:ea typeface="Aptos"/>
                <a:cs typeface="Aptos"/>
              </a:rPr>
              <a:t>培训课件 · 12/12</a:t>
            </a:r>
          </a:p>
        </p:txBody>
      </p:sp>
    </p:spTree>
    <p:extLst>
      <p:ext uri="{BB962C8B-B14F-4D97-AF65-F5344CB8AC3E}">
        <p14:creationId xmlns:p14="http://schemas.microsoft.com/office/powerpoint/2010/main" val="2015329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2026-07-09T07:55:18.0320000Z</dcterms:created>
  <dcterms:modified xsi:type="dcterms:W3CDTF">2026-07-09T07:55:18.0320000Z</dcterms:modified>
</coreProperties>
</file>