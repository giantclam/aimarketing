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招商银行交易银行解决方案</a:t>
            </a:r>
          </a:p>
          <a:p>
            <a:endParaRPr lang="en-US" dirty="0"/>
          </a:p>
          <a:p>
            <a:r>
              <a:rPr lang="zh-CN" dirty="0"/>
              <a:t>面向企业司库的集成化流动性治理与支付直通平台。</a:t>
            </a:r>
          </a:p>
          <a:p>
            <a:endParaRPr lang="en-US" dirty="0"/>
          </a:p>
          <a:p>
            <a:r>
              <a:rPr lang="zh-CN" dirty="0"/>
              <a:t>• 长桌评审·售前深度诊断会议</a:t>
            </a:r>
          </a:p>
          <a:p>
            <a:r>
              <a:rPr lang="zh-CN" dirty="0"/>
              <a:t>• 议题主导：司库能力重构与交易银行落地路径</a:t>
            </a:r>
          </a:p>
          <a:p>
            <a:r>
              <a:rPr lang="zh-CN" dirty="0"/>
              <a:t>• 招商银行交易银行部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评审议程</a:t>
            </a:r>
          </a:p>
          <a:p>
            <a:endParaRPr lang="en-US" dirty="0"/>
          </a:p>
          <a:p>
            <a:r>
              <a:rPr lang="zh-CN" dirty="0"/>
              <a:t>本次长桌评审将围绕贵司现行资金运营模式分五节展开，每节形成可追溯的会议结论与行动输入。</a:t>
            </a:r>
          </a:p>
          <a:p>
            <a:endParaRPr lang="en-US" dirty="0"/>
          </a:p>
          <a:p>
            <a:r>
              <a:rPr lang="zh-CN" dirty="0"/>
              <a:t>• 全程五节，每节独立主持并形成决议纪要</a:t>
            </a:r>
          </a:p>
          <a:p>
            <a:r>
              <a:rPr lang="zh-CN" dirty="0"/>
              <a:t>• 会议输出：差异分析、对标评分卡、试点路线图</a:t>
            </a:r>
          </a:p>
          <a:p>
            <a:r>
              <a:rPr lang="zh-CN" dirty="0"/>
              <a:t>• 海峡通行现状</a:t>
            </a:r>
          </a:p>
          <a:p>
            <a:r>
              <a:rPr lang="zh-CN" dirty="0"/>
              <a:t>• 能源与航运影响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核心决断</a:t>
            </a:r>
          </a:p>
          <a:p>
            <a:endParaRPr lang="en-US" dirty="0"/>
          </a:p>
          <a:p>
            <a:r>
              <a:rPr lang="zh-CN" dirty="0"/>
              <a:t>企业资金运营的碎片化正在显性吞噬净利润——集成化交易银行平台是重构流动性护城河的唯一路径。</a:t>
            </a:r>
          </a:p>
          <a:p>
            <a:endParaRPr lang="en-US" dirty="0"/>
          </a:p>
          <a:p>
            <a:r>
              <a:rPr lang="zh-CN" dirty="0"/>
              <a:t>• 手工归集与分散账户导致年化机会成本达3%–5%净利润</a:t>
            </a:r>
          </a:p>
          <a:p>
            <a:r>
              <a:rPr lang="zh-CN" dirty="0"/>
              <a:t>• 实时可视、主动归集与智能预测构成司库新基线</a:t>
            </a:r>
          </a:p>
          <a:p>
            <a:r>
              <a:rPr lang="zh-CN" dirty="0"/>
              <a:t>• 招商银行交易银行方案已实现支付直通率99.6%与资金预报偏差&lt;2%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模式对标：传统银企直连vs招行交易银行</a:t>
            </a:r>
          </a:p>
          <a:p>
            <a:endParaRPr lang="en-US" dirty="0"/>
          </a:p>
          <a:p>
            <a:r>
              <a:rPr lang="zh-CN" dirty="0"/>
              <a:t>以下三项关键维度展示了两种资金运营模式在效率、控制与扩展性上的结构性差异。</a:t>
            </a:r>
          </a:p>
          <a:p>
            <a:endParaRPr lang="en-US" dirty="0"/>
          </a:p>
          <a:p>
            <a:r>
              <a:rPr lang="zh-CN" dirty="0"/>
              <a:t>• 评审委员会一致判定：集成化平台在资金可见性上具备压倒性优势</a:t>
            </a:r>
          </a:p>
          <a:p>
            <a:r>
              <a:rPr lang="zh-CN" dirty="0"/>
              <a:t>• 手工环节每减少1步，资金归集时效平均提升4小时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实证矩阵：标杆客户增效数据</a:t>
            </a:r>
          </a:p>
          <a:p>
            <a:endParaRPr lang="en-US" dirty="0"/>
          </a:p>
          <a:p>
            <a:r>
              <a:rPr lang="zh-CN" dirty="0"/>
              <a:t>以下数据摘自已上线客户的例行评审报告，由行内及企业双方财务总监共同签认。</a:t>
            </a:r>
          </a:p>
          <a:p>
            <a:endParaRPr lang="en-US" dirty="0"/>
          </a:p>
          <a:p>
            <a:r>
              <a:rPr lang="zh-CN" dirty="0"/>
              <a:t>• 数据采样周期为上线后完整6个结算月</a:t>
            </a:r>
          </a:p>
          <a:p>
            <a:r>
              <a:rPr lang="zh-CN" dirty="0"/>
              <a:t>• 所有指标经对比基准期形成差异分析备忘录</a:t>
            </a:r>
          </a:p>
          <a:p>
            <a:r>
              <a:rPr lang="zh-CN" dirty="0"/>
              <a:t>• 事实锚点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下一步行动与评审节点</a:t>
            </a:r>
          </a:p>
          <a:p>
            <a:endParaRPr lang="en-US" dirty="0"/>
          </a:p>
          <a:p>
            <a:r>
              <a:rPr lang="zh-CN" dirty="0"/>
              <a:t>会议决议：以九个月为总窗口完成全平台上线，设置三个阶段性评审关口，确保每阶段输出可衡量业务成果。</a:t>
            </a:r>
          </a:p>
          <a:p>
            <a:endParaRPr lang="en-US" dirty="0"/>
          </a:p>
          <a:p>
            <a:r>
              <a:rPr lang="zh-CN" dirty="0"/>
              <a:t>• 每阶段完结后向双方风控与财务委员会提交纪要</a:t>
            </a:r>
          </a:p>
          <a:p>
            <a:r>
              <a:rPr lang="zh-CN" dirty="0"/>
              <a:t>• 所有铺底部署对现有银企接口零中断</a:t>
            </a:r>
          </a:p>
          <a:p>
            <a:r>
              <a:rPr lang="zh-CN" dirty="0"/>
              <a:t>• 收束判断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43712" y="0"/>
            <a:ext cx="11448288" cy="6858000"/>
            <a:chOff x="743712" y="0"/>
            <a:chExt cx="11448288" cy="6858000"/>
          </a:xfrm>
        </p:grpSpPr>
        <p:grpSp>
          <p:nvGrpSpPr>
            <p:cNvPr id="9" name="Group 9"/>
            <p:cNvGrpSpPr/>
            <p:nvPr/>
          </p:nvGrpSpPr>
          <p:grpSpPr>
            <a:xfrm>
              <a:off x="762000" y="762000"/>
              <a:ext cx="390525" cy="5715000"/>
              <a:chOff x="762000" y="762000"/>
              <a:chExt cx="390525" cy="571500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762000" y="762000"/>
                <a:ext cx="9525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0">
                    <a:moveTo>
                      <a:pt x="0" y="0"/>
                    </a:moveTo>
                    <a:lnTo>
                      <a:pt x="0" y="571500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952500" y="762000"/>
                <a:ext cx="9525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0">
                    <a:moveTo>
                      <a:pt x="0" y="0"/>
                    </a:moveTo>
                    <a:lnTo>
                      <a:pt x="0" y="571500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143000" y="762000"/>
                <a:ext cx="9525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0">
                    <a:moveTo>
                      <a:pt x="0" y="0"/>
                    </a:moveTo>
                    <a:lnTo>
                      <a:pt x="0" y="571500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762000" y="952500"/>
              <a:ext cx="1714500" cy="342900"/>
              <a:chOff x="762000" y="952500"/>
              <a:chExt cx="1714500" cy="342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62000" y="952500"/>
                <a:ext cx="1714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342900">
                    <a:moveTo>
                      <a:pt x="19050" y="0"/>
                    </a:moveTo>
                    <a:lnTo>
                      <a:pt x="1695450" y="0"/>
                    </a:lnTo>
                    <a:cubicBezTo>
                      <a:pt x="1705971" y="0"/>
                      <a:pt x="1714500" y="8529"/>
                      <a:pt x="1714500" y="19050"/>
                    </a:cubicBezTo>
                    <a:lnTo>
                      <a:pt x="1714500" y="323850"/>
                    </a:lnTo>
                    <a:cubicBezTo>
                      <a:pt x="1714500" y="334371"/>
                      <a:pt x="1705971" y="342900"/>
                      <a:pt x="1695450" y="342900"/>
                    </a:cubicBezTo>
                    <a:lnTo>
                      <a:pt x="19050" y="342900"/>
                    </a:lnTo>
                    <a:cubicBezTo>
                      <a:pt x="8529" y="342900"/>
                      <a:pt x="0" y="334371"/>
                      <a:pt x="0" y="3238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B53D2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60538" y="107727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7EC"/>
                    </a:solidFill>
                    <a:latin typeface="Segoe UI"/>
                    <a:ea typeface="Microsoft YaHei"/>
                    <a:cs typeface="Segoe UI"/>
                  </a:rPr>
                  <a:t>长桌主议题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43712" y="1706880"/>
              <a:ext cx="4107485" cy="1323213"/>
              <a:chOff x="743712" y="1706880"/>
              <a:chExt cx="4107485" cy="132321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43712" y="1706880"/>
                <a:ext cx="2072030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招商银行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3712" y="2326005"/>
                <a:ext cx="4107485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交易银行解决方案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54380" y="31718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A4A4A"/>
                  </a:solidFill>
                  <a:latin typeface="Segoe UI"/>
                  <a:ea typeface="Microsoft YaHei"/>
                  <a:cs typeface="Segoe UI"/>
                </a:rPr>
                <a:t>面向企业司库的集成化流动性治理与支付直通平台。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3810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D9BCA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62000" y="5524500"/>
              <a:ext cx="10668000" cy="762000"/>
              <a:chOff x="762000" y="5524500"/>
              <a:chExt cx="10668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2000" y="5524500"/>
                <a:ext cx="3429000" cy="762000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381500" y="5524500"/>
                <a:ext cx="3429000" cy="762000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8001000" y="5524500"/>
                <a:ext cx="3429000" cy="762000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229422" y="57607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会议形式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84188" y="5982652"/>
                <a:ext cx="1784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长桌评审·售前深度诊断会议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848921" y="57607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议题主导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30534" y="598265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司库能力重构与交易银行落地路径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68422" y="57607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组织机构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074086" y="59826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4A4A4A"/>
                    </a:solidFill>
                    <a:latin typeface="Segoe UI"/>
                    <a:ea typeface="Microsoft YaHei"/>
                    <a:cs typeface="Segoe UI"/>
                  </a:rPr>
                  <a:t>招商银行交易银行部</a:t>
                </a:r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10477500" y="0"/>
              <a:ext cx="1714500" cy="6858000"/>
            </a:xfrm>
            <a:custGeom>
              <a:avLst/>
              <a:gdLst/>
              <a:ahLst/>
              <a:cxnLst/>
              <a:rect l="l" t="t" r="r" b="b"/>
              <a:pathLst>
                <a:path w="1714500" h="6858000">
                  <a:moveTo>
                    <a:pt x="0" y="0"/>
                  </a:moveTo>
                  <a:lnTo>
                    <a:pt x="1714500" y="0"/>
                  </a:lnTo>
                  <a:lnTo>
                    <a:pt x="1714500" y="6858000"/>
                  </a:lnTo>
                  <a:lnTo>
                    <a:pt x="476250" y="6858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FFF7EC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477500" y="0"/>
              <a:ext cx="1714500" cy="6858000"/>
            </a:xfrm>
            <a:custGeom>
              <a:avLst/>
              <a:gdLst/>
              <a:ahLst/>
              <a:cxnLst/>
              <a:rect l="l" t="t" r="r" b="b"/>
              <a:pathLst>
                <a:path w="1714500" h="6858000">
                  <a:moveTo>
                    <a:pt x="0" y="0"/>
                  </a:moveTo>
                  <a:lnTo>
                    <a:pt x="1714500" y="0"/>
                  </a:lnTo>
                  <a:lnTo>
                    <a:pt x="1714500" y="6858000"/>
                  </a:lnTo>
                  <a:lnTo>
                    <a:pt x="476250" y="6858000"/>
                  </a:lnTo>
                  <a:lnTo>
                    <a:pt x="0" y="5715000"/>
                  </a:lnTo>
                  <a:close/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953750" y="952500"/>
            <a:ext cx="862584" cy="5807011"/>
            <a:chOff x="10953750" y="952500"/>
            <a:chExt cx="862584" cy="5807011"/>
          </a:xfrm>
        </p:grpSpPr>
        <p:sp>
          <p:nvSpPr>
            <p:cNvPr id="31" name="Rectangle 31"/>
            <p:cNvSpPr/>
            <p:nvPr/>
          </p:nvSpPr>
          <p:spPr>
            <a:xfrm>
              <a:off x="10953750" y="952500"/>
              <a:ext cx="762000" cy="762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953750" y="952500"/>
              <a:ext cx="76200" cy="7620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487626" y="6554152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53D2A"/>
                  </a:solidFill>
                  <a:latin typeface="Segoe UI"/>
                  <a:ea typeface="Segoe UI"/>
                  <a:cs typeface="Segoe UI"/>
                </a:rPr>
                <a:t>1 / 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1E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2192000" cy="762000"/>
            <a:chOff x="0" y="0"/>
            <a:chExt cx="12192000" cy="762000"/>
          </a:xfrm>
        </p:grpSpPr>
        <p:sp>
          <p:nvSpPr>
            <p:cNvPr id="8" name="Rectangle 8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416" y="3819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AF1E2"/>
                  </a:solidFill>
                  <a:latin typeface="Arial"/>
                  <a:ea typeface="Microsoft YaHei"/>
                  <a:cs typeface="Arial"/>
                </a:rPr>
                <a:t>长桌评审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988" y="566738"/>
              <a:ext cx="156171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FFF7EC"/>
                  </a:solidFill>
                  <a:latin typeface="Arial"/>
                  <a:ea typeface="Arial"/>
                  <a:cs typeface="Arial"/>
                </a:rPr>
                <a:t>TRANSACTION BANKING ADVISORY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47882" y="37909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FAF1E2"/>
                  </a:solidFill>
                  <a:latin typeface="Arial"/>
                  <a:ea typeface="Arial"/>
                  <a:cs typeface="Arial"/>
                </a:rPr>
                <a:t>2 / 6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56082" y="1149191"/>
            <a:ext cx="9345168" cy="3803809"/>
            <a:chOff x="656082" y="1149191"/>
            <a:chExt cx="9345168" cy="3803809"/>
          </a:xfrm>
        </p:grpSpPr>
        <p:sp>
          <p:nvSpPr>
            <p:cNvPr id="13" name="TextBox 13"/>
            <p:cNvSpPr txBox="1"/>
            <p:nvPr/>
          </p:nvSpPr>
          <p:spPr>
            <a:xfrm>
              <a:off x="661988" y="1149191"/>
              <a:ext cx="9459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B53D2A"/>
                  </a:solidFill>
                  <a:latin typeface="Arial"/>
                  <a:ea typeface="Microsoft YaHei"/>
                  <a:cs typeface="Arial"/>
                </a:rPr>
                <a:t>议程清单 AGENDA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6082" y="134493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B53D2A"/>
                  </a:solidFill>
                  <a:latin typeface="Arial"/>
                  <a:ea typeface="Microsoft YaHei"/>
                  <a:cs typeface="Arial"/>
                </a:rPr>
                <a:t>评审议程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66750" y="176212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19050">
              <a:solidFill>
                <a:srgbClr val="B53D2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1942624"/>
              <a:ext cx="5653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本次长桌评审将围绕贵司现行资金运营模式分五节展开，每节形成可追溯的会议结论与行动输入。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66750" y="2333625"/>
              <a:ext cx="9334500" cy="2619375"/>
              <a:chOff x="666750" y="2333625"/>
              <a:chExt cx="9334500" cy="26193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66750" y="2333625"/>
                <a:ext cx="4572000" cy="809625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02767" y="2473642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议题一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71041" y="2506028"/>
                <a:ext cx="11980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流动性健康度诊断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04862" y="2768441"/>
                <a:ext cx="345243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扫描账户结构、归集频次与在途资金，定位隐性资金淤积与错配风险。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429250" y="2333625"/>
                <a:ext cx="4572000" cy="809625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565267" y="2473642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议题二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33541" y="2506028"/>
                <a:ext cx="11980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交易银行能力模型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67362" y="2768441"/>
                <a:ext cx="378561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解析招行交易银行在支付网关、虚拟账户、智能扫款与预测性司库上的架构。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66750" y="3238500"/>
                <a:ext cx="4572000" cy="809625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2767" y="3378518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议题三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71041" y="3410902"/>
                <a:ext cx="13464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模式对标与断点揭示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4862" y="3673316"/>
                <a:ext cx="389667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将传统银企直连模式与集成化平台并置，识别手工干预与数据割裂的损失漏斗。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429250" y="3238500"/>
                <a:ext cx="4572000" cy="809625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565267" y="3378518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议题四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233541" y="3410902"/>
                <a:ext cx="13464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实证回顾与增效量化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7362" y="3673316"/>
                <a:ext cx="378561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调取已部署客户的资金效率提升、直通率与减值成本节约数据，形成证据链。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66750" y="4143375"/>
                <a:ext cx="9334500" cy="809625"/>
              </a:xfrm>
              <a:prstGeom prst="rect">
                <a:avLst/>
              </a:prstGeom>
              <a:solidFill>
                <a:srgbClr val="FFF7EC"/>
              </a:solidFill>
              <a:ln w="9525">
                <a:solidFill>
                  <a:srgbClr val="D9BCA6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02767" y="4283392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议题五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471041" y="4315778"/>
                <a:ext cx="16432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3D2A"/>
                    </a:solidFill>
                    <a:latin typeface="Arial"/>
                    <a:ea typeface="Microsoft YaHei"/>
                    <a:cs typeface="Arial"/>
                  </a:rPr>
                  <a:t>落地路线与关键评审节点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04862" y="4578191"/>
                <a:ext cx="300818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出具分阶段上线计划、责任矩阵与行内风控委员会对齐要求。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66750" y="5191125"/>
            <a:ext cx="10858500" cy="1190625"/>
            <a:chOff x="666750" y="5191125"/>
            <a:chExt cx="10858500" cy="1190625"/>
          </a:xfrm>
        </p:grpSpPr>
        <p:sp>
          <p:nvSpPr>
            <p:cNvPr id="39" name="Rectangle 39"/>
            <p:cNvSpPr/>
            <p:nvPr/>
          </p:nvSpPr>
          <p:spPr>
            <a:xfrm>
              <a:off x="666750" y="5191125"/>
              <a:ext cx="9334500" cy="523875"/>
            </a:xfrm>
            <a:prstGeom prst="rect">
              <a:avLst/>
            </a:prstGeom>
            <a:solidFill>
              <a:srgbClr val="B53D2A">
                <a:alpha val="10000"/>
              </a:srgbClr>
            </a:solidFill>
            <a:ln w="9525">
              <a:solidFill>
                <a:srgbClr val="B53D2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81050" y="5372100"/>
              <a:ext cx="152400" cy="152400"/>
            </a:xfrm>
            <a:prstGeom prst="ellipse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3938" y="539877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53D2A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04988" y="5406866"/>
              <a:ext cx="176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差异分析 | 对标评分卡 | 试点路线图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66750" y="585787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6750" y="6048375"/>
              <a:ext cx="1905000" cy="333375"/>
            </a:xfrm>
            <a:prstGeom prst="rect">
              <a:avLst/>
            </a:prstGeom>
            <a:noFill/>
            <a:ln w="9525">
              <a:solidFill>
                <a:srgbClr val="D9BCA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7238" y="61864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全程五节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28738" y="61864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独立主持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52612" y="61864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形成决议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762250" y="6048375"/>
              <a:ext cx="1714500" cy="333375"/>
            </a:xfrm>
            <a:prstGeom prst="rect">
              <a:avLst/>
            </a:prstGeom>
            <a:noFill/>
            <a:ln w="9525">
              <a:solidFill>
                <a:srgbClr val="D9BCA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00362" y="6186488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海峡通行现状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6048375"/>
              <a:ext cx="1524000" cy="333375"/>
            </a:xfrm>
            <a:prstGeom prst="rect">
              <a:avLst/>
            </a:prstGeom>
            <a:noFill/>
            <a:ln w="9525">
              <a:solidFill>
                <a:srgbClr val="D9BCA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05362" y="618648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能源与航运影响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61988" y="6667500"/>
            <a:ext cx="10868025" cy="203359"/>
            <a:chOff x="661988" y="6667500"/>
            <a:chExt cx="10868025" cy="203359"/>
          </a:xfrm>
        </p:grpSpPr>
        <p:sp>
          <p:nvSpPr>
            <p:cNvPr id="53" name="Line 53"/>
            <p:cNvSpPr/>
            <p:nvPr/>
          </p:nvSpPr>
          <p:spPr>
            <a:xfrm>
              <a:off x="666750" y="66675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1988" y="6737509"/>
              <a:ext cx="101285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CHINA MERCHANTS BANK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15612" y="6737509"/>
              <a:ext cx="61440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CONFIDENTIAL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0"/>
            <a:ext cx="57150" cy="68580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19150" y="0"/>
            <a:ext cx="19050" cy="6858000"/>
          </a:xfrm>
          <a:prstGeom prst="rect">
            <a:avLst/>
          </a:prstGeom>
          <a:solidFill>
            <a:srgbClr val="D9BCA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42416" y="4200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案头判断</a:t>
            </a:r>
          </a:p>
        </p:txBody>
      </p:sp>
      <p:sp>
        <p:nvSpPr>
          <p:cNvPr id="7" name="Line 7"/>
          <p:cNvSpPr/>
          <p:nvPr/>
        </p:nvSpPr>
        <p:spPr>
          <a:xfrm>
            <a:off x="1047750" y="647700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9525">
            <a:solidFill>
              <a:srgbClr val="D9BCA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34034" y="8134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核心决断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1371600"/>
            <a:ext cx="10096500" cy="2095500"/>
          </a:xfrm>
          <a:prstGeom prst="rect">
            <a:avLst/>
          </a:prstGeom>
          <a:solidFill>
            <a:srgbClr val="FFF7EC"/>
          </a:solidFill>
          <a:ln w="19050">
            <a:solidFill>
              <a:srgbClr val="D9BCA6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047750" y="1371600"/>
            <a:ext cx="76200" cy="20955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344168" y="1726882"/>
            <a:ext cx="44814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企业资金运营的碎片化正在显性吞噬净利润——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4168" y="206978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集成化交易银行平台是重构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4168" y="24126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流动性护城河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4168" y="2755582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的唯一路径。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352550" y="3086100"/>
            <a:ext cx="1714500" cy="28575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219200" y="3505200"/>
            <a:ext cx="266700" cy="2667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06401" y="35728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3154" y="35566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手工归集与分散账户导致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61254" y="3556635"/>
            <a:ext cx="22427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年化机会成本达3%–5%净利润</a:t>
            </a:r>
          </a:p>
        </p:txBody>
      </p:sp>
      <p:sp>
        <p:nvSpPr>
          <p:cNvPr id="20" name="Ellipse 20"/>
          <p:cNvSpPr/>
          <p:nvPr/>
        </p:nvSpPr>
        <p:spPr>
          <a:xfrm>
            <a:off x="1219200" y="3981450"/>
            <a:ext cx="266700" cy="2667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306401" y="40490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3154" y="4032885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实时可视、主动归集与智能预测构成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99354" y="403288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司库新基线</a:t>
            </a:r>
          </a:p>
        </p:txBody>
      </p:sp>
      <p:sp>
        <p:nvSpPr>
          <p:cNvPr id="24" name="Ellipse 24"/>
          <p:cNvSpPr/>
          <p:nvPr/>
        </p:nvSpPr>
        <p:spPr>
          <a:xfrm>
            <a:off x="1219200" y="4457700"/>
            <a:ext cx="266700" cy="2667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306401" y="45253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13154" y="4509135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招商银行交易银行方案已实现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27854" y="4509135"/>
            <a:ext cx="13606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支付直通率99.6%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13854" y="450913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42454" y="4509135"/>
            <a:ext cx="13437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资金预报偏差&lt;2%</a:t>
            </a:r>
          </a:p>
        </p:txBody>
      </p:sp>
      <p:sp>
        <p:nvSpPr>
          <p:cNvPr id="30" name="Line 30"/>
          <p:cNvSpPr/>
          <p:nvPr/>
        </p:nvSpPr>
        <p:spPr>
          <a:xfrm>
            <a:off x="1047750" y="50482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9BCA6"/>
            </a:solidFill>
          </a:ln>
        </p:spPr>
      </p:sp>
      <p:sp>
        <p:nvSpPr>
          <p:cNvPr id="31" name="Line 31"/>
          <p:cNvSpPr/>
          <p:nvPr/>
        </p:nvSpPr>
        <p:spPr>
          <a:xfrm>
            <a:off x="1047750" y="50863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9BCA6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1047750" y="6477000"/>
            <a:ext cx="228600" cy="38100"/>
          </a:xfrm>
          <a:prstGeom prst="rect">
            <a:avLst/>
          </a:prstGeom>
          <a:solidFill>
            <a:srgbClr val="D9BCA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366838" y="6426041"/>
            <a:ext cx="9146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评审议程 · 第三页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0477500" y="6191250"/>
            <a:ext cx="666750" cy="228600"/>
          </a:xfrm>
          <a:prstGeom prst="rect">
            <a:avLst/>
          </a:prstGeom>
          <a:noFill/>
          <a:ln w="9525">
            <a:solidFill>
              <a:srgbClr val="D9BCA6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0639520" y="6264116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决断栏</a:t>
            </a:r>
          </a:p>
        </p:txBody>
      </p:sp>
      <p:sp>
        <p:nvSpPr>
          <p:cNvPr id="36" name="Ellipse 36"/>
          <p:cNvSpPr/>
          <p:nvPr/>
        </p:nvSpPr>
        <p:spPr>
          <a:xfrm>
            <a:off x="10429875" y="5314950"/>
            <a:ext cx="762000" cy="762000"/>
          </a:xfrm>
          <a:prstGeom prst="ellipse">
            <a:avLst/>
          </a:prstGeom>
          <a:noFill/>
          <a:ln w="19050">
            <a:solidFill>
              <a:srgbClr val="B53D2A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0506075" y="5391150"/>
            <a:ext cx="609600" cy="609600"/>
          </a:xfrm>
          <a:prstGeom prst="ellipse">
            <a:avLst/>
          </a:prstGeom>
          <a:solidFill>
            <a:srgbClr val="FFF7EC"/>
          </a:solidFill>
          <a:ln w="9525">
            <a:solidFill>
              <a:srgbClr val="D9BCA6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689498" y="5568791"/>
            <a:ext cx="24275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唯一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89498" y="5721191"/>
            <a:ext cx="24275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B53D2A"/>
                </a:solidFill>
                <a:latin typeface="Arial"/>
                <a:ea typeface="Microsoft YaHei"/>
                <a:cs typeface="Arial"/>
              </a:rPr>
              <a:t>路径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0763250" y="5334000"/>
            <a:ext cx="95250" cy="381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41" name="Line 41"/>
          <p:cNvSpPr/>
          <p:nvPr/>
        </p:nvSpPr>
        <p:spPr>
          <a:xfrm>
            <a:off x="10810875" y="50482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53D2A"/>
            </a:solidFill>
          </a:ln>
        </p:spPr>
      </p:sp>
      <p:sp>
        <p:nvSpPr>
          <p:cNvPr id="42" name="Freeform 42"/>
          <p:cNvSpPr/>
          <p:nvPr/>
        </p:nvSpPr>
        <p:spPr>
          <a:xfrm>
            <a:off x="10477500" y="609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95250"/>
                </a:moveTo>
                <a:lnTo>
                  <a:pt x="0" y="0"/>
                </a:lnTo>
                <a:lnTo>
                  <a:pt x="95250" y="0"/>
                </a:lnTo>
              </a:path>
            </a:pathLst>
          </a:custGeom>
          <a:noFill/>
          <a:ln w="9525">
            <a:solidFill>
              <a:srgbClr val="D9BCA6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1E2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552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4191000" y="1143000"/>
              <a:ext cx="9525" cy="5715000"/>
            </a:xfrm>
            <a:custGeom>
              <a:avLst/>
              <a:gdLst/>
              <a:ahLst/>
              <a:cxnLst/>
              <a:rect l="l" t="t" r="r" b="b"/>
              <a:pathLst>
                <a:path w="9525" h="5715000">
                  <a:moveTo>
                    <a:pt x="0" y="0"/>
                  </a:moveTo>
                  <a:lnTo>
                    <a:pt x="0" y="5715000"/>
                  </a:lnTo>
                </a:path>
              </a:pathLst>
            </a:custGeom>
            <a:noFill/>
            <a:ln w="19050">
              <a:solidFill>
                <a:srgbClr val="D9BCA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001000" y="1143000"/>
              <a:ext cx="9525" cy="5715000"/>
            </a:xfrm>
            <a:custGeom>
              <a:avLst/>
              <a:gdLst/>
              <a:ahLst/>
              <a:cxnLst/>
              <a:rect l="l" t="t" r="r" b="b"/>
              <a:pathLst>
                <a:path w="9525" h="5715000">
                  <a:moveTo>
                    <a:pt x="0" y="0"/>
                  </a:moveTo>
                  <a:lnTo>
                    <a:pt x="0" y="5715000"/>
                  </a:lnTo>
                </a:path>
              </a:pathLst>
            </a:custGeom>
            <a:noFill/>
            <a:ln w="19050">
              <a:solidFill>
                <a:srgbClr val="D9BCA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2192000" cy="581025"/>
            <a:chOff x="0" y="0"/>
            <a:chExt cx="12192000" cy="581025"/>
          </a:xfrm>
        </p:grpSpPr>
        <p:sp>
          <p:nvSpPr>
            <p:cNvPr id="8" name="Rectangle 8"/>
            <p:cNvSpPr/>
            <p:nvPr/>
          </p:nvSpPr>
          <p:spPr>
            <a:xfrm>
              <a:off x="0" y="0"/>
              <a:ext cx="12192000" cy="5715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2618" y="2028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7EC"/>
                  </a:solidFill>
                  <a:latin typeface="Arial"/>
                  <a:ea typeface="SimHei"/>
                  <a:cs typeface="Arial"/>
                </a:rPr>
                <a:t>评审决策文稿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95234" y="235268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F7EC"/>
                  </a:solidFill>
                  <a:latin typeface="Arial"/>
                  <a:ea typeface="Arial"/>
                  <a:cs typeface="Arial"/>
                </a:rPr>
                <a:t>4 / 6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FFF7EC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368808" y="839152"/>
            <a:ext cx="11442192" cy="4694873"/>
            <a:chOff x="368808" y="839152"/>
            <a:chExt cx="11442192" cy="4694873"/>
          </a:xfrm>
        </p:grpSpPr>
        <p:sp>
          <p:nvSpPr>
            <p:cNvPr id="13" name="TextBox 13"/>
            <p:cNvSpPr txBox="1"/>
            <p:nvPr/>
          </p:nvSpPr>
          <p:spPr>
            <a:xfrm>
              <a:off x="375666" y="839152"/>
              <a:ext cx="666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rgbClr val="B53D2A"/>
                  </a:solidFill>
                  <a:latin typeface="Arial"/>
                  <a:ea typeface="Microsoft YaHei"/>
                  <a:cs typeface="Arial"/>
                </a:rPr>
                <a:t>路径并置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808" y="1217295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B53D2A"/>
                  </a:solidFill>
                  <a:latin typeface="Arial"/>
                  <a:ea typeface="SimHei"/>
                  <a:cs typeface="Arial"/>
                </a:rPr>
                <a:t>模式对标：传统银企直连vs招行交易银行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4142" y="1711642"/>
              <a:ext cx="7118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7355"/>
                  </a:solidFill>
                  <a:latin typeface="Arial"/>
                  <a:ea typeface="SimSun"/>
                  <a:cs typeface="Arial"/>
                </a:rPr>
                <a:t>以下三项关键维度展示了两种资金运营模式在效率、控制与扩展性上的结构性差异。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381000" y="2190750"/>
              <a:ext cx="11430000" cy="476250"/>
              <a:chOff x="381000" y="2190750"/>
              <a:chExt cx="11430000" cy="4762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81000" y="2190750"/>
                <a:ext cx="3619500" cy="476250"/>
              </a:xfrm>
              <a:prstGeom prst="rect">
                <a:avLst/>
              </a:prstGeom>
              <a:solidFill>
                <a:srgbClr val="D9BCA6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547050" y="23336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AF1E2"/>
                    </a:solidFill>
                    <a:latin typeface="Arial"/>
                    <a:ea typeface="SimHei"/>
                    <a:cs typeface="Arial"/>
                  </a:rPr>
                  <a:t>传统银企直连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191000" y="2190750"/>
                <a:ext cx="3810000" cy="476250"/>
              </a:xfrm>
              <a:prstGeom prst="rect">
                <a:avLst/>
              </a:prstGeom>
              <a:solidFill>
                <a:srgbClr val="FFF7EC"/>
              </a:solidFill>
              <a:ln>
                <a:noFill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4191000" y="2190750"/>
                <a:ext cx="95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0">
                    <a:moveTo>
                      <a:pt x="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19050">
                <a:solidFill>
                  <a:srgbClr val="D9BCA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452301" y="23336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B53D2A"/>
                    </a:solidFill>
                    <a:latin typeface="Arial"/>
                    <a:ea typeface="SimHei"/>
                    <a:cs typeface="Arial"/>
                  </a:rPr>
                  <a:t>招行交易银行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8191500" y="2190750"/>
                <a:ext cx="3619500" cy="476250"/>
              </a:xfrm>
              <a:prstGeom prst="rect">
                <a:avLst/>
              </a:prstGeom>
              <a:solidFill>
                <a:srgbClr val="B53D2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569577" y="23336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7EC"/>
                    </a:solidFill>
                    <a:latin typeface="Arial"/>
                    <a:ea typeface="SimHei"/>
                    <a:cs typeface="Arial"/>
                  </a:rPr>
                  <a:t>关键变量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81000" y="2762250"/>
              <a:ext cx="11430000" cy="1284351"/>
              <a:chOff x="381000" y="2762250"/>
              <a:chExt cx="11430000" cy="1284351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81000" y="2762250"/>
                <a:ext cx="3619500" cy="1238250"/>
              </a:xfrm>
              <a:prstGeom prst="rect">
                <a:avLst/>
              </a:prstGeom>
              <a:solidFill>
                <a:srgbClr val="FFF7EC"/>
              </a:solidFill>
              <a:ln>
                <a:noFill/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381000" y="27622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65404" y="291846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53D2A"/>
                    </a:solidFill>
                    <a:latin typeface="Arial"/>
                    <a:ea typeface="SimHei"/>
                    <a:cs typeface="Arial"/>
                  </a:rPr>
                  <a:t>账户归集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66166" y="3172778"/>
                <a:ext cx="85450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355"/>
                    </a:solidFill>
                    <a:latin typeface="Arial"/>
                    <a:ea typeface="SimHei"/>
                    <a:cs typeface="Arial"/>
                  </a:rPr>
                  <a:t>T+1批量归集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66738" y="3427095"/>
                <a:ext cx="128968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依赖脚本与人工触发，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66738" y="3598545"/>
                <a:ext cx="128968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在途资金规模不可视，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66738" y="3769995"/>
                <a:ext cx="128968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归集成功无自动校验。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4191000" y="2762250"/>
                <a:ext cx="3810000" cy="1238250"/>
              </a:xfrm>
              <a:prstGeom prst="rect">
                <a:avLst/>
              </a:prstGeom>
              <a:solidFill>
                <a:srgbClr val="FFF7EC"/>
              </a:solidFill>
              <a:ln>
                <a:noFill/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4191000" y="276225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rgbClr val="D9BCA6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75404" y="2918460"/>
                <a:ext cx="18780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53D2A"/>
                    </a:solidFill>
                    <a:latin typeface="Arial"/>
                    <a:ea typeface="SimHei"/>
                    <a:cs typeface="Arial"/>
                  </a:rPr>
                  <a:t>实时扫款与自助归集策略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376738" y="3427095"/>
                <a:ext cx="174414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虚拟账户体系+智能归集引擎，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376738" y="3598545"/>
                <a:ext cx="128968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余额零沉淀，归集状态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76738" y="3769995"/>
                <a:ext cx="7776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毫秒级反馈。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191500" y="2762250"/>
                <a:ext cx="3619500" cy="1238250"/>
              </a:xfrm>
              <a:prstGeom prst="rect">
                <a:avLst/>
              </a:prstGeom>
              <a:solidFill>
                <a:srgbClr val="FAF1E2"/>
              </a:solidFill>
              <a:ln>
                <a:noFill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8191500" y="276225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rgbClr val="D9BCA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654852" y="2947035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B53D2A"/>
                    </a:solidFill>
                    <a:latin typeface="Arial"/>
                    <a:ea typeface="Arial"/>
                    <a:cs typeface="Arial"/>
                  </a:rPr>
                  <a:t>T+0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920021" y="3466624"/>
                <a:ext cx="1624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8B7355"/>
                    </a:solidFill>
                    <a:latin typeface="Arial"/>
                    <a:ea typeface="Arial"/>
                    <a:cs typeface="Arial"/>
                  </a:rPr>
                  <a:t>vs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654852" y="3518535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B53D2A"/>
                    </a:solidFill>
                    <a:latin typeface="Arial"/>
                    <a:ea typeface="Arial"/>
                    <a:cs typeface="Arial"/>
                  </a:rPr>
                  <a:t>T+1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381000" y="4095750"/>
              <a:ext cx="11430000" cy="1353312"/>
              <a:chOff x="381000" y="4095750"/>
              <a:chExt cx="11430000" cy="1353312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381000" y="4095750"/>
                <a:ext cx="3619500" cy="1238250"/>
              </a:xfrm>
              <a:prstGeom prst="rect">
                <a:avLst/>
              </a:prstGeom>
              <a:solidFill>
                <a:srgbClr val="FFF7EC"/>
              </a:solidFill>
              <a:ln>
                <a:noFill/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381000" y="40957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65404" y="425196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53D2A"/>
                    </a:solidFill>
                    <a:latin typeface="Arial"/>
                    <a:ea typeface="SimHei"/>
                    <a:cs typeface="Arial"/>
                  </a:rPr>
                  <a:t>支付控制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66166" y="450627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355"/>
                    </a:solidFill>
                    <a:latin typeface="Arial"/>
                    <a:ea typeface="SimHei"/>
                    <a:cs typeface="Arial"/>
                  </a:rPr>
                  <a:t>单点验签与事后对账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66738" y="4760595"/>
                <a:ext cx="167373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支付成败取决于前置机状态，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66738" y="4932045"/>
                <a:ext cx="180174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异常需人工穿透多个系统追溯，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66738" y="5103495"/>
                <a:ext cx="88643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直通率仅92%。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4191000" y="4095750"/>
                <a:ext cx="3810000" cy="1238250"/>
              </a:xfrm>
              <a:prstGeom prst="rect">
                <a:avLst/>
              </a:prstGeom>
              <a:solidFill>
                <a:srgbClr val="FFF7EC"/>
              </a:solidFill>
              <a:ln>
                <a:noFill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4191000" y="409575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rgbClr val="D9BCA6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375404" y="4251960"/>
                <a:ext cx="18780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53D2A"/>
                    </a:solidFill>
                    <a:latin typeface="Arial"/>
                    <a:ea typeface="SimHei"/>
                    <a:cs typeface="Arial"/>
                  </a:rPr>
                  <a:t>直通路由与全景交易监控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376738" y="4760595"/>
                <a:ext cx="180174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内嵌多维反欺诈与支付预校验，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376738" y="4932045"/>
                <a:ext cx="11616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异常自动熔断，实测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376738" y="5103495"/>
                <a:ext cx="8992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5B4F"/>
                    </a:solidFill>
                    <a:latin typeface="Arial"/>
                    <a:ea typeface="SimSun"/>
                    <a:cs typeface="Arial"/>
                  </a:rPr>
                  <a:t>直通率99.6%。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191500" y="4095750"/>
                <a:ext cx="3619500" cy="1238250"/>
              </a:xfrm>
              <a:prstGeom prst="rect">
                <a:avLst/>
              </a:prstGeom>
              <a:solidFill>
                <a:srgbClr val="FAF1E2"/>
              </a:solidFill>
              <a:ln>
                <a:noFill/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8191500" y="409575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rgbClr val="D9BCA6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675259" y="4312920"/>
                <a:ext cx="65198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B53D2A"/>
                    </a:solidFill>
                    <a:latin typeface="Arial"/>
                    <a:ea typeface="Arial"/>
                    <a:cs typeface="Arial"/>
                  </a:rPr>
                  <a:t>92%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920021" y="4800124"/>
                <a:ext cx="1624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8B7355"/>
                    </a:solidFill>
                    <a:latin typeface="Arial"/>
                    <a:ea typeface="Arial"/>
                    <a:cs typeface="Arial"/>
                  </a:rPr>
                  <a:t>vs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488675" y="4979670"/>
                <a:ext cx="1025149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B53D2A"/>
                    </a:solidFill>
                    <a:latin typeface="Arial"/>
                    <a:ea typeface="Arial"/>
                    <a:cs typeface="Arial"/>
                  </a:rPr>
                  <a:t>99.6%</a:t>
                </a:r>
              </a:p>
            </p:txBody>
          </p:sp>
        </p:grpSp>
        <p:sp>
          <p:nvSpPr>
            <p:cNvPr id="62" name="Line 62"/>
            <p:cNvSpPr/>
            <p:nvPr/>
          </p:nvSpPr>
          <p:spPr>
            <a:xfrm>
              <a:off x="381000" y="55245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rgbClr val="D9BCA6"/>
              </a:solidFill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381000" y="5715000"/>
            <a:ext cx="11430000" cy="1076039"/>
            <a:chOff x="381000" y="5715000"/>
            <a:chExt cx="11430000" cy="1076039"/>
          </a:xfrm>
        </p:grpSpPr>
        <p:sp>
          <p:nvSpPr>
            <p:cNvPr id="64" name="Rectangle 64"/>
            <p:cNvSpPr/>
            <p:nvPr/>
          </p:nvSpPr>
          <p:spPr>
            <a:xfrm>
              <a:off x="381000" y="5715000"/>
              <a:ext cx="11430000" cy="952500"/>
            </a:xfrm>
            <a:prstGeom prst="rect">
              <a:avLst/>
            </a:prstGeom>
            <a:solidFill>
              <a:srgbClr val="FFF7E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381000" y="571500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38100">
              <a:solidFill>
                <a:srgbClr val="B53D2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6166" y="5887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53D2A"/>
                  </a:solidFill>
                  <a:latin typeface="Arial"/>
                  <a:ea typeface="SimHei"/>
                  <a:cs typeface="Arial"/>
                </a:rPr>
                <a:t>评审委员会决议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33400" y="6248400"/>
              <a:ext cx="76200" cy="76200"/>
            </a:xfrm>
            <a:prstGeom prst="ellipse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9422" y="6219349"/>
              <a:ext cx="2644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5B4F"/>
                  </a:solidFill>
                  <a:latin typeface="Arial"/>
                  <a:ea typeface="SimSun"/>
                  <a:cs typeface="Arial"/>
                </a:rPr>
                <a:t>集成化平台在资金可见性上具备压倒性优势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33400" y="6438900"/>
              <a:ext cx="76200" cy="76200"/>
            </a:xfrm>
            <a:prstGeom prst="ellipse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9422" y="6409849"/>
              <a:ext cx="30748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5B4F"/>
                  </a:solidFill>
                  <a:latin typeface="Arial"/>
                  <a:ea typeface="SimSun"/>
                  <a:cs typeface="Arial"/>
                </a:rPr>
                <a:t>手工环节每减少1步，资金归集时效平均提升4小时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533400" y="6629400"/>
              <a:ext cx="76200" cy="76200"/>
            </a:xfrm>
            <a:prstGeom prst="ellipse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9422" y="6600349"/>
              <a:ext cx="19514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5B4F"/>
                  </a:solidFill>
                  <a:latin typeface="Arial"/>
                  <a:ea typeface="SimSun"/>
                  <a:cs typeface="Arial"/>
                </a:rPr>
                <a:t>关键变量对比揭示不同路径影响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1239500" y="5715000"/>
              <a:ext cx="571500" cy="952500"/>
            </a:xfrm>
            <a:prstGeom prst="rect">
              <a:avLst/>
            </a:prstGeom>
            <a:gradFill>
              <a:gsLst>
                <a:gs pos="0">
                  <a:srgbClr val="B53D2A"/>
                </a:gs>
                <a:gs pos="100000">
                  <a:srgbClr val="D96A4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11239500" y="5715000"/>
              <a:ext cx="571500" cy="952500"/>
            </a:xfrm>
            <a:custGeom>
              <a:avLst/>
              <a:gdLst/>
              <a:ahLst/>
              <a:cxnLst/>
              <a:rect l="l" t="t" r="r" b="b"/>
              <a:pathLst>
                <a:path w="571500" h="952500">
                  <a:moveTo>
                    <a:pt x="0" y="0"/>
                  </a:moveTo>
                  <a:lnTo>
                    <a:pt x="571500" y="952500"/>
                  </a:lnTo>
                </a:path>
              </a:pathLst>
            </a:custGeom>
            <a:noFill/>
            <a:ln w="19050">
              <a:solidFill>
                <a:srgbClr val="FFF7EC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11239500" y="5715000"/>
              <a:ext cx="571500" cy="952500"/>
            </a:xfrm>
            <a:custGeom>
              <a:avLst/>
              <a:gdLst/>
              <a:ahLst/>
              <a:cxnLst/>
              <a:rect l="l" t="t" r="r" b="b"/>
              <a:pathLst>
                <a:path w="571500" h="952500">
                  <a:moveTo>
                    <a:pt x="0" y="95250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FFF7EC"/>
              </a:soli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1811000" y="0"/>
            <a:ext cx="390525" cy="581025"/>
            <a:chOff x="11811000" y="0"/>
            <a:chExt cx="390525" cy="581025"/>
          </a:xfrm>
        </p:grpSpPr>
        <p:sp>
          <p:nvSpPr>
            <p:cNvPr id="77" name="Line 77"/>
            <p:cNvSpPr/>
            <p:nvPr/>
          </p:nvSpPr>
          <p:spPr>
            <a:xfrm>
              <a:off x="11811000" y="571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FFF7EC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12192000" y="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F7EC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381000"/>
              <a:ext cx="38100" cy="6096000"/>
            </a:xfrm>
            <a:prstGeom prst="rect">
              <a:avLst/>
            </a:prstGeom>
            <a:solidFill>
              <a:srgbClr val="D9BCA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1582400" y="381000"/>
              <a:ext cx="38100" cy="6096000"/>
            </a:xfrm>
            <a:prstGeom prst="rect">
              <a:avLst/>
            </a:prstGeom>
            <a:solidFill>
              <a:srgbClr val="D9BCA6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114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476250"/>
              <a:ext cx="1143000" cy="304800"/>
            </a:xfrm>
            <a:prstGeom prst="rect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5464" y="572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AF1E2"/>
                  </a:solidFill>
                  <a:latin typeface="Segoe UI"/>
                  <a:ea typeface="Microsoft YaHei"/>
                  <a:cs typeface="Segoe UI"/>
                </a:rPr>
                <a:t>证据摘录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8784" y="1470660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B53D2A"/>
                  </a:solidFill>
                  <a:latin typeface="Segoe UI"/>
                  <a:ea typeface="Microsoft YaHei"/>
                  <a:cs typeface="Segoe UI"/>
                </a:rPr>
                <a:t>实证矩阵：标杆客户增效数据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166" y="1982152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355"/>
                  </a:solidFill>
                  <a:latin typeface="Segoe UI"/>
                  <a:ea typeface="Microsoft YaHei"/>
                  <a:cs typeface="Segoe UI"/>
                </a:rPr>
                <a:t>以下数据摘自已上线客户的例行评审报告，由行内及企业双方财务总监共同签认。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52500" y="233362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  <a:custDash>
                <a:ds d="400000" sp="200000"/>
              </a:custDash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2500" y="2524125"/>
              <a:ext cx="10287000" cy="3619500"/>
            </a:xfrm>
            <a:prstGeom prst="rect">
              <a:avLst/>
            </a:prstGeom>
            <a:solidFill>
              <a:srgbClr val="FFF7EC"/>
            </a:solidFill>
            <a:ln w="19050">
              <a:solidFill>
                <a:srgbClr val="D9BCA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381500" y="2524125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810500" y="2524125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52500" y="4333875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52500" y="52387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D9BCA6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238250" y="2857500"/>
            <a:ext cx="9715500" cy="3143250"/>
            <a:chOff x="1238250" y="2857500"/>
            <a:chExt cx="9715500" cy="3143250"/>
          </a:xfrm>
        </p:grpSpPr>
        <p:grpSp>
          <p:nvGrpSpPr>
            <p:cNvPr id="30" name="Group 30"/>
            <p:cNvGrpSpPr/>
            <p:nvPr/>
          </p:nvGrpSpPr>
          <p:grpSpPr>
            <a:xfrm>
              <a:off x="1238250" y="2857500"/>
              <a:ext cx="2857500" cy="3143250"/>
              <a:chOff x="1238250" y="2857500"/>
              <a:chExt cx="2857500" cy="3143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238250" y="2857500"/>
                <a:ext cx="2857500" cy="285750"/>
              </a:xfrm>
              <a:prstGeom prst="rect">
                <a:avLst/>
              </a:prstGeom>
              <a:solidFill>
                <a:srgbClr val="B53D2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237613" y="2934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1E2"/>
                    </a:solidFill>
                    <a:latin typeface="Segoe UI"/>
                    <a:ea typeface="Microsoft YaHei"/>
                    <a:cs typeface="Segoe UI"/>
                  </a:rPr>
                  <a:t>资金归集时效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020352" y="3244215"/>
                <a:ext cx="129329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62%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337816" y="39185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B7355"/>
                    </a:solidFill>
                    <a:latin typeface="Segoe UI"/>
                    <a:ea typeface="Microsoft YaHei"/>
                    <a:cs typeface="Segoe UI"/>
                  </a:rPr>
                  <a:t>提升幅度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1524000" y="4238625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328547" y="4419124"/>
                <a:ext cx="13482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4A3A"/>
                    </a:solidFill>
                    <a:latin typeface="Segoe UI"/>
                    <a:ea typeface="Microsoft YaHei"/>
                    <a:cs typeface="Segoe UI"/>
                  </a:rPr>
                  <a:t>从T+1早盘归集缩短至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28547" y="460962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4A3A"/>
                    </a:solidFill>
                    <a:latin typeface="Segoe UI"/>
                    <a:ea typeface="Microsoft YaHei"/>
                    <a:cs typeface="Segoe UI"/>
                  </a:rPr>
                  <a:t>日中实时扫款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28547" y="4847749"/>
                <a:ext cx="11124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日均可再投资头寸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326642" y="5045392"/>
                <a:ext cx="12826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增加约1.7亿元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3619500" y="5619750"/>
                <a:ext cx="381000" cy="381000"/>
              </a:xfrm>
              <a:prstGeom prst="ellipse">
                <a:avLst/>
              </a:prstGeom>
              <a:solidFill>
                <a:srgbClr val="FAF1E2"/>
              </a:solidFill>
              <a:ln w="19050">
                <a:solidFill>
                  <a:srgbClr val="B53D2A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771919" y="5760720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4667250" y="2857500"/>
              <a:ext cx="3148397" cy="3143250"/>
              <a:chOff x="4667250" y="2857500"/>
              <a:chExt cx="3148397" cy="3143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667250" y="2857500"/>
                <a:ext cx="2857500" cy="285750"/>
              </a:xfrm>
              <a:prstGeom prst="rect">
                <a:avLst/>
              </a:prstGeom>
              <a:solidFill>
                <a:srgbClr val="B53D2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737288" y="29346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1E2"/>
                    </a:solidFill>
                    <a:latin typeface="Segoe UI"/>
                    <a:ea typeface="Microsoft YaHei"/>
                    <a:cs typeface="Segoe UI"/>
                  </a:rPr>
                  <a:t>支付直通率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347583" y="3535680"/>
                <a:ext cx="5443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rgbClr val="8B7355"/>
                    </a:solidFill>
                    <a:latin typeface="Segoe UI"/>
                    <a:ea typeface="Segoe UI"/>
                    <a:cs typeface="Segoe UI"/>
                  </a:rPr>
                  <a:t>92%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83839" y="3535680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→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62354" y="3470910"/>
                <a:ext cx="115329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99.6%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4953000" y="40005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757547" y="41333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4A3A"/>
                    </a:solidFill>
                    <a:latin typeface="Segoe UI"/>
                    <a:ea typeface="Microsoft YaHei"/>
                    <a:cs typeface="Segoe UI"/>
                  </a:rPr>
                  <a:t>人工介入笔数下降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753356" y="4282440"/>
                <a:ext cx="48898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85%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757547" y="4704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4A3A"/>
                    </a:solidFill>
                    <a:latin typeface="Segoe UI"/>
                    <a:ea typeface="Microsoft YaHei"/>
                    <a:cs typeface="Segoe UI"/>
                  </a:rPr>
                  <a:t>全链路异常自动侦测与告警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4953000" y="5000625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757547" y="5181124"/>
                <a:ext cx="8368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B53D2A"/>
                    </a:solidFill>
                    <a:latin typeface="Segoe UI"/>
                    <a:ea typeface="Microsoft YaHei"/>
                    <a:cs typeface="Segoe UI"/>
                  </a:rPr>
                  <a:t>财务团队释放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754880" y="5362575"/>
                <a:ext cx="8217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3.2 FTE</a:t>
                </a: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048500" y="5619750"/>
                <a:ext cx="381000" cy="381000"/>
              </a:xfrm>
              <a:prstGeom prst="ellipse">
                <a:avLst/>
              </a:prstGeom>
              <a:solidFill>
                <a:srgbClr val="FAF1E2"/>
              </a:solidFill>
              <a:ln w="19050">
                <a:solidFill>
                  <a:srgbClr val="B53D2A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00919" y="5760720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096250" y="2857500"/>
              <a:ext cx="2857500" cy="3143250"/>
              <a:chOff x="8096250" y="2857500"/>
              <a:chExt cx="2857500" cy="31432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096250" y="2857500"/>
                <a:ext cx="2857500" cy="285750"/>
              </a:xfrm>
              <a:prstGeom prst="rect">
                <a:avLst/>
              </a:prstGeom>
              <a:solidFill>
                <a:srgbClr val="B53D2A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024938" y="29346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AF1E2"/>
                    </a:solidFill>
                    <a:latin typeface="Segoe UI"/>
                    <a:ea typeface="Microsoft YaHei"/>
                    <a:cs typeface="Segoe UI"/>
                  </a:rPr>
                  <a:t>年化流动性成本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89648" y="3308985"/>
                <a:ext cx="1670704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2,400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195559" y="3902392"/>
                <a:ext cx="6588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8B7355"/>
                    </a:solidFill>
                    <a:latin typeface="Segoe UI"/>
                    <a:ea typeface="Microsoft YaHei"/>
                    <a:cs typeface="Segoe UI"/>
                  </a:rPr>
                  <a:t>万元/年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8382000" y="4238625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186547" y="441912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4A3A"/>
                    </a:solidFill>
                    <a:latin typeface="Segoe UI"/>
                    <a:ea typeface="Microsoft YaHei"/>
                    <a:cs typeface="Segoe UI"/>
                  </a:rPr>
                  <a:t>精准预测减少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186547" y="463819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4A3A"/>
                    </a:solidFill>
                    <a:latin typeface="Segoe UI"/>
                    <a:ea typeface="Microsoft YaHei"/>
                    <a:cs typeface="Segoe UI"/>
                  </a:rPr>
                  <a:t>高成本透支与应急贷款</a:t>
                </a:r>
              </a:p>
            </p:txBody>
          </p:sp>
          <p:sp>
            <p:nvSpPr>
              <p:cNvPr id="53" name="Line 53"/>
              <p:cNvSpPr/>
              <p:nvPr/>
            </p:nvSpPr>
            <p:spPr>
              <a:xfrm>
                <a:off x="8382000" y="4905375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rgbClr val="D9BCA6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186547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4A3A"/>
                    </a:solidFill>
                    <a:latin typeface="Segoe UI"/>
                    <a:ea typeface="Microsoft YaHei"/>
                    <a:cs typeface="Segoe UI"/>
                  </a:rPr>
                  <a:t>同时加强闲置资金理财收益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0477500" y="5619750"/>
                <a:ext cx="381000" cy="381000"/>
              </a:xfrm>
              <a:prstGeom prst="ellipse">
                <a:avLst/>
              </a:prstGeom>
              <a:solidFill>
                <a:srgbClr val="FAF1E2"/>
              </a:solidFill>
              <a:ln w="19050">
                <a:solidFill>
                  <a:srgbClr val="B53D2A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629919" y="5760720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B53D2A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952500" y="6286500"/>
            <a:ext cx="10291762" cy="381000"/>
            <a:chOff x="952500" y="6286500"/>
            <a:chExt cx="10291762" cy="381000"/>
          </a:xfrm>
        </p:grpSpPr>
        <p:sp>
          <p:nvSpPr>
            <p:cNvPr id="59" name="Rectangle 59"/>
            <p:cNvSpPr/>
            <p:nvPr/>
          </p:nvSpPr>
          <p:spPr>
            <a:xfrm>
              <a:off x="952500" y="6286500"/>
              <a:ext cx="10287000" cy="381000"/>
            </a:xfrm>
            <a:prstGeom prst="rect">
              <a:avLst/>
            </a:prstGeom>
            <a:solidFill>
              <a:srgbClr val="FAF1E2"/>
            </a:solidFill>
            <a:ln w="9525">
              <a:solidFill>
                <a:srgbClr val="D9BCA6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200150" y="6438900"/>
              <a:ext cx="76200" cy="76200"/>
            </a:xfrm>
            <a:prstGeom prst="ellipse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376362" y="6427470"/>
              <a:ext cx="2014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4A3A"/>
                  </a:solidFill>
                  <a:latin typeface="Segoe UI"/>
                  <a:ea typeface="Microsoft YaHei"/>
                  <a:cs typeface="Segoe UI"/>
                </a:rPr>
                <a:t>数据采样周期为上线后完整6个结算月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533900" y="6438900"/>
              <a:ext cx="76200" cy="76200"/>
            </a:xfrm>
            <a:prstGeom prst="ellipse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710112" y="6427470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4A3A"/>
                  </a:solidFill>
                  <a:latin typeface="Segoe UI"/>
                  <a:ea typeface="Microsoft YaHei"/>
                  <a:cs typeface="Segoe UI"/>
                </a:rPr>
                <a:t>所有指标经对比基准期形成差异分析备忘录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962900" y="6438900"/>
              <a:ext cx="76200" cy="76200"/>
            </a:xfrm>
            <a:prstGeom prst="ellipse">
              <a:avLst/>
            </a:prstGeom>
            <a:solidFill>
              <a:srgbClr val="B53D2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39112" y="64274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4A3A"/>
                  </a:solidFill>
                  <a:latin typeface="Segoe UI"/>
                  <a:ea typeface="Microsoft YaHei"/>
                  <a:cs typeface="Segoe UI"/>
                </a:rPr>
                <a:t>事实锚点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84849" y="643556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B7355"/>
                  </a:solidFill>
                  <a:latin typeface="Segoe UI"/>
                  <a:ea typeface="Segoe UI"/>
                  <a:cs typeface="Segoe UI"/>
                </a:rPr>
                <a:t>5 / 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5334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BCA6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757047" y="237649"/>
            <a:ext cx="595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150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执行排期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808" y="693420"/>
            <a:ext cx="341680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下一步行动与评审节点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066800"/>
            <a:ext cx="3048000" cy="381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714500" y="1666875"/>
            <a:ext cx="9525" cy="4238625"/>
          </a:xfrm>
          <a:custGeom>
            <a:avLst/>
            <a:gdLst/>
            <a:ahLst/>
            <a:cxnLst/>
            <a:rect l="l" t="t" r="r" b="b"/>
            <a:pathLst>
              <a:path w="9525" h="4238625">
                <a:moveTo>
                  <a:pt x="0" y="0"/>
                </a:moveTo>
                <a:lnTo>
                  <a:pt x="0" y="4238625"/>
                </a:lnTo>
              </a:path>
            </a:pathLst>
          </a:custGeom>
          <a:noFill/>
          <a:ln w="19050">
            <a:solidFill>
              <a:srgbClr val="D9BCA6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428750"/>
            <a:ext cx="9525000" cy="666750"/>
          </a:xfrm>
          <a:prstGeom prst="rect">
            <a:avLst/>
          </a:prstGeom>
          <a:solidFill>
            <a:srgbClr val="FFF7EC"/>
          </a:solidFill>
          <a:ln w="9525">
            <a:solidFill>
              <a:srgbClr val="D9BCA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6785" y="1545431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会议决议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166" y="1772602"/>
            <a:ext cx="6088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以九个月为总窗口完成全平台上线，设置三个阶段性评审关口，确保每阶段输出可衡量业务成果。</a:t>
            </a:r>
          </a:p>
        </p:txBody>
      </p:sp>
      <p:sp>
        <p:nvSpPr>
          <p:cNvPr id="10" name="Ellipse 10"/>
          <p:cNvSpPr/>
          <p:nvPr/>
        </p:nvSpPr>
        <p:spPr>
          <a:xfrm>
            <a:off x="914400" y="2343150"/>
            <a:ext cx="76200" cy="762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90612" y="232219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每阶段完结后向双方风控与财务委员会提交纪要</a:t>
            </a:r>
          </a:p>
        </p:txBody>
      </p:sp>
      <p:sp>
        <p:nvSpPr>
          <p:cNvPr id="12" name="Ellipse 12"/>
          <p:cNvSpPr/>
          <p:nvPr/>
        </p:nvSpPr>
        <p:spPr>
          <a:xfrm>
            <a:off x="4248150" y="2343150"/>
            <a:ext cx="76200" cy="762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424362" y="2322195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所有铺底部署对现有银企接口零中断</a:t>
            </a:r>
          </a:p>
        </p:txBody>
      </p:sp>
      <p:sp>
        <p:nvSpPr>
          <p:cNvPr id="14" name="Ellipse 14"/>
          <p:cNvSpPr/>
          <p:nvPr/>
        </p:nvSpPr>
        <p:spPr>
          <a:xfrm>
            <a:off x="7391400" y="2343150"/>
            <a:ext cx="76200" cy="762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67612" y="23221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收束判断</a:t>
            </a:r>
          </a:p>
        </p:txBody>
      </p:sp>
      <p:sp>
        <p:nvSpPr>
          <p:cNvPr id="16" name="Ellipse 16"/>
          <p:cNvSpPr/>
          <p:nvPr/>
        </p:nvSpPr>
        <p:spPr>
          <a:xfrm>
            <a:off x="1562100" y="2847975"/>
            <a:ext cx="304800" cy="3048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668351" y="293465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2524125"/>
            <a:ext cx="3143250" cy="1333500"/>
          </a:xfrm>
          <a:prstGeom prst="rect">
            <a:avLst/>
          </a:prstGeom>
          <a:solidFill>
            <a:srgbClr val="FFF7EC"/>
          </a:solidFill>
          <a:ln w="9525">
            <a:solidFill>
              <a:srgbClr val="D9BCA6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2095500" y="2524125"/>
            <a:ext cx="3143250" cy="381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281047" y="2704624"/>
            <a:ext cx="15741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第一评审节点 · 第1-30天</a:t>
            </a:r>
          </a:p>
        </p:txBody>
      </p:sp>
      <p:sp>
        <p:nvSpPr>
          <p:cNvPr id="21" name="Line 21"/>
          <p:cNvSpPr/>
          <p:nvPr/>
        </p:nvSpPr>
        <p:spPr>
          <a:xfrm>
            <a:off x="2286000" y="290512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D9BCA6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281047" y="3018949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试点账户归集与虚拟账户开通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81047" y="3228499"/>
            <a:ext cx="17293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完成首批10个账户的实时扫款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286000" y="3476625"/>
            <a:ext cx="2762250" cy="266700"/>
          </a:xfrm>
          <a:prstGeom prst="rect">
            <a:avLst/>
          </a:prstGeom>
          <a:solidFill>
            <a:srgbClr val="FAF1E2"/>
          </a:solidFill>
          <a:ln w="4762">
            <a:solidFill>
              <a:srgbClr val="D9BCA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2395538" y="35509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输出《试点归集效能评估纪要》</a:t>
            </a:r>
          </a:p>
        </p:txBody>
      </p:sp>
      <p:sp>
        <p:nvSpPr>
          <p:cNvPr id="26" name="Ellipse 26"/>
          <p:cNvSpPr/>
          <p:nvPr/>
        </p:nvSpPr>
        <p:spPr>
          <a:xfrm>
            <a:off x="1562100" y="4229100"/>
            <a:ext cx="304800" cy="3048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668351" y="43157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095500" y="3905250"/>
            <a:ext cx="3143250" cy="1333500"/>
          </a:xfrm>
          <a:prstGeom prst="rect">
            <a:avLst/>
          </a:prstGeom>
          <a:solidFill>
            <a:srgbClr val="FFF7EC"/>
          </a:solidFill>
          <a:ln w="9525">
            <a:solidFill>
              <a:srgbClr val="D9BCA6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095500" y="3905250"/>
            <a:ext cx="3143250" cy="381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281047" y="4085749"/>
            <a:ext cx="16499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第二评审节点 · 第31-90天</a:t>
            </a:r>
          </a:p>
        </p:txBody>
      </p:sp>
      <p:sp>
        <p:nvSpPr>
          <p:cNvPr id="31" name="Line 31"/>
          <p:cNvSpPr/>
          <p:nvPr/>
        </p:nvSpPr>
        <p:spPr>
          <a:xfrm>
            <a:off x="2286000" y="428625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D9BCA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281047" y="440007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全面推广多账户自动归集与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81047" y="4581049"/>
            <a:ext cx="25037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支付直通路由，接入预测模型初始训练数据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286000" y="4857750"/>
            <a:ext cx="2381250" cy="266700"/>
          </a:xfrm>
          <a:prstGeom prst="rect">
            <a:avLst/>
          </a:prstGeom>
          <a:solidFill>
            <a:srgbClr val="FAF1E2"/>
          </a:solidFill>
          <a:ln w="4762">
            <a:solidFill>
              <a:srgbClr val="D9BCA6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395538" y="4932045"/>
            <a:ext cx="14634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签署《全量上线核准决议》</a:t>
            </a:r>
          </a:p>
        </p:txBody>
      </p:sp>
      <p:sp>
        <p:nvSpPr>
          <p:cNvPr id="36" name="Ellipse 36"/>
          <p:cNvSpPr/>
          <p:nvPr/>
        </p:nvSpPr>
        <p:spPr>
          <a:xfrm>
            <a:off x="1562100" y="5610225"/>
            <a:ext cx="304800" cy="3048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668351" y="56969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095500" y="5286375"/>
            <a:ext cx="3143250" cy="1333500"/>
          </a:xfrm>
          <a:prstGeom prst="rect">
            <a:avLst/>
          </a:prstGeom>
          <a:solidFill>
            <a:srgbClr val="FFF7EC"/>
          </a:solidFill>
          <a:ln w="9525">
            <a:solidFill>
              <a:srgbClr val="D9BCA6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2095500" y="5286375"/>
            <a:ext cx="3143250" cy="381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281047" y="5466874"/>
            <a:ext cx="17257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第三评审节点 · 第91-270天</a:t>
            </a:r>
          </a:p>
        </p:txBody>
      </p:sp>
      <p:sp>
        <p:nvSpPr>
          <p:cNvPr id="41" name="Line 41"/>
          <p:cNvSpPr/>
          <p:nvPr/>
        </p:nvSpPr>
        <p:spPr>
          <a:xfrm>
            <a:off x="2286000" y="5667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D9BCA6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2281047" y="57811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司库预测与动态头寸模块全量启用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281047" y="5962174"/>
            <a:ext cx="14668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完成12个完整结算月跑数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286000" y="6238875"/>
            <a:ext cx="2762250" cy="266700"/>
          </a:xfrm>
          <a:prstGeom prst="rect">
            <a:avLst/>
          </a:prstGeom>
          <a:solidFill>
            <a:srgbClr val="FAF1E2"/>
          </a:solidFill>
          <a:ln w="4762">
            <a:solidFill>
              <a:srgbClr val="D9BCA6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2395538" y="6313170"/>
            <a:ext cx="2311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召开《项目终验与年度流动性治理复盘会》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905500" y="2524125"/>
            <a:ext cx="4381500" cy="4095750"/>
          </a:xfrm>
          <a:prstGeom prst="rect">
            <a:avLst/>
          </a:prstGeom>
          <a:solidFill>
            <a:srgbClr val="FFF7EC"/>
          </a:solidFill>
          <a:ln w="9525">
            <a:solidFill>
              <a:srgbClr val="D9BCA6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089904" y="27279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九个月上线里程碑</a:t>
            </a:r>
          </a:p>
        </p:txBody>
      </p:sp>
      <p:sp>
        <p:nvSpPr>
          <p:cNvPr id="48" name="Line 48"/>
          <p:cNvSpPr/>
          <p:nvPr/>
        </p:nvSpPr>
        <p:spPr>
          <a:xfrm>
            <a:off x="6096000" y="304800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4762">
            <a:solidFill>
              <a:srgbClr val="D9BCA6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286500" y="3619500"/>
            <a:ext cx="3619500" cy="190500"/>
          </a:xfrm>
          <a:prstGeom prst="rect">
            <a:avLst/>
          </a:prstGeom>
          <a:solidFill>
            <a:srgbClr val="FAF1E2"/>
          </a:solidFill>
          <a:ln w="9525">
            <a:solidFill>
              <a:srgbClr val="D9BCA6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6286500" y="3619500"/>
            <a:ext cx="1200150" cy="190500"/>
          </a:xfrm>
          <a:prstGeom prst="rect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7486650" y="3619500"/>
            <a:ext cx="1209675" cy="190500"/>
          </a:xfrm>
          <a:prstGeom prst="rect">
            <a:avLst/>
          </a:prstGeom>
          <a:solidFill>
            <a:srgbClr val="B53D2A">
              <a:alpha val="60000"/>
            </a:srgbClr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8696325" y="3619500"/>
            <a:ext cx="1209675" cy="190500"/>
          </a:xfrm>
          <a:prstGeom prst="rect">
            <a:avLst/>
          </a:prstGeom>
          <a:solidFill>
            <a:srgbClr val="B53D2A">
              <a:alpha val="3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704114" y="3892391"/>
            <a:ext cx="3649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0-30天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883247" y="3892391"/>
            <a:ext cx="4260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31-90天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062380" y="3892391"/>
            <a:ext cx="4870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91-270天</a:t>
            </a:r>
          </a:p>
        </p:txBody>
      </p:sp>
      <p:sp>
        <p:nvSpPr>
          <p:cNvPr id="56" name="Ellipse 56"/>
          <p:cNvSpPr/>
          <p:nvPr/>
        </p:nvSpPr>
        <p:spPr>
          <a:xfrm>
            <a:off x="6229350" y="4419600"/>
            <a:ext cx="114300" cy="1143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6343650" y="447675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D9BCA6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472047" y="4419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试点账户归集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72238" y="4646295"/>
            <a:ext cx="13543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首批10账户实时扫款上线</a:t>
            </a:r>
          </a:p>
        </p:txBody>
      </p:sp>
      <p:sp>
        <p:nvSpPr>
          <p:cNvPr id="60" name="Ellipse 60"/>
          <p:cNvSpPr/>
          <p:nvPr/>
        </p:nvSpPr>
        <p:spPr>
          <a:xfrm>
            <a:off x="6229350" y="5086350"/>
            <a:ext cx="114300" cy="1143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61" name="Line 61"/>
          <p:cNvSpPr/>
          <p:nvPr/>
        </p:nvSpPr>
        <p:spPr>
          <a:xfrm>
            <a:off x="6343650" y="514350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D9BCA6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472047" y="5085874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多账户自动归集全面推广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472238" y="5313045"/>
            <a:ext cx="16027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支付直通路由 + 预测模型训练</a:t>
            </a:r>
          </a:p>
        </p:txBody>
      </p:sp>
      <p:sp>
        <p:nvSpPr>
          <p:cNvPr id="64" name="Ellipse 64"/>
          <p:cNvSpPr/>
          <p:nvPr/>
        </p:nvSpPr>
        <p:spPr>
          <a:xfrm>
            <a:off x="6229350" y="5753100"/>
            <a:ext cx="114300" cy="114300"/>
          </a:xfrm>
          <a:prstGeom prst="ellipse">
            <a:avLst/>
          </a:prstGeom>
          <a:solidFill>
            <a:srgbClr val="B53D2A"/>
          </a:solidFill>
          <a:ln>
            <a:noFill/>
          </a:ln>
        </p:spPr>
      </p:sp>
      <p:sp>
        <p:nvSpPr>
          <p:cNvPr id="65" name="Line 65"/>
          <p:cNvSpPr/>
          <p:nvPr/>
        </p:nvSpPr>
        <p:spPr>
          <a:xfrm>
            <a:off x="6343650" y="5810250"/>
            <a:ext cx="3752850" cy="9525"/>
          </a:xfrm>
          <a:custGeom>
            <a:avLst/>
            <a:gdLst/>
            <a:ahLst/>
            <a:cxnLst/>
            <a:rect l="l" t="t" r="r" b="b"/>
            <a:pathLst>
              <a:path w="3752850" h="9525">
                <a:moveTo>
                  <a:pt x="0" y="0"/>
                </a:moveTo>
                <a:lnTo>
                  <a:pt x="3752850" y="0"/>
                </a:lnTo>
              </a:path>
            </a:pathLst>
          </a:custGeom>
          <a:noFill/>
          <a:ln w="4762">
            <a:solidFill>
              <a:srgbClr val="D9BCA6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6472047" y="575262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4A4A4A"/>
                </a:solidFill>
                <a:latin typeface="Segoe UI"/>
                <a:ea typeface="Microsoft YaHei"/>
                <a:cs typeface="Segoe UI"/>
              </a:rPr>
              <a:t>司库预测与动态头寸全量启用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472238" y="5979795"/>
            <a:ext cx="17360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12个完整结算月跑数 + 项目终验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096000" y="6286500"/>
            <a:ext cx="1524000" cy="266700"/>
          </a:xfrm>
          <a:prstGeom prst="rect">
            <a:avLst/>
          </a:prstGeom>
          <a:noFill/>
          <a:ln w="14288">
            <a:solidFill>
              <a:srgbClr val="B53D2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6518840" y="6362224"/>
            <a:ext cx="6783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B53D2A"/>
                </a:solidFill>
                <a:latin typeface="Segoe UI"/>
                <a:ea typeface="Microsoft YaHei"/>
                <a:cs typeface="Segoe UI"/>
              </a:rPr>
              <a:t>✓ 收束判断</a:t>
            </a:r>
          </a:p>
        </p:txBody>
      </p:sp>
      <p:sp>
        <p:nvSpPr>
          <p:cNvPr id="70" name="Line 70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9BCA6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2026-07-09T11:06:45Z</dcterms:created>
  <dcterms:modified xsi:type="dcterms:W3CDTF">2026-07-09T11:06:45Z</dcterms:modified>
  <cp:category/>
  <cp:contentStatus/>
</cp:coreProperties>
</file>