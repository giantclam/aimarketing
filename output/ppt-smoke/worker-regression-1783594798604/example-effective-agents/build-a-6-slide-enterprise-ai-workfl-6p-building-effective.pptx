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企业AI工作流：智能编排与自主执行</a:t>
            </a:r>
          </a:p>
          <a:p>
            <a:endParaRPr lang="en-US" dirty="0"/>
          </a:p>
          <a:p>
            <a:r>
              <a:rPr lang="zh-CN" dirty="0"/>
              <a:t>用多层能力体替代单体模型，将业务知识转化为可运行、可恢复、可观测的决策链路。</a:t>
            </a:r>
          </a:p>
          <a:p>
            <a:endParaRPr lang="en-US" dirty="0"/>
          </a:p>
          <a:p>
            <a:r>
              <a:rPr lang="zh-CN" dirty="0"/>
              <a:t>• 从单次推理走向持续任务闭环</a:t>
            </a:r>
          </a:p>
          <a:p>
            <a:r>
              <a:rPr lang="zh-CN" dirty="0"/>
              <a:t>• 能力分层：感知·推理·工具·记忆</a:t>
            </a:r>
          </a:p>
          <a:p>
            <a:r>
              <a:rPr lang="zh-CN" dirty="0"/>
              <a:t>• 操作员优先：可视、可控、可干预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今天您将看到</a:t>
            </a:r>
          </a:p>
          <a:p>
            <a:endParaRPr lang="en-US" dirty="0"/>
          </a:p>
          <a:p>
            <a:r>
              <a:rPr lang="zh-CN" dirty="0"/>
              <a:t>围绕AI工作流落地的五个决策支点，从理念到行动。</a:t>
            </a:r>
          </a:p>
          <a:p>
            <a:endParaRPr lang="en-US" dirty="0"/>
          </a:p>
          <a:p>
            <a:r>
              <a:rPr lang="zh-CN" dirty="0"/>
              <a:t>• 为什么工作流是智能体价值释放的核心</a:t>
            </a:r>
          </a:p>
          <a:p>
            <a:r>
              <a:rPr lang="zh-CN" dirty="0"/>
              <a:t>• 感知－推理－工具－记忆四层架构</a:t>
            </a:r>
          </a:p>
          <a:p>
            <a:r>
              <a:rPr lang="zh-CN" dirty="0"/>
              <a:t>• 三种主流模式与我们的选择</a:t>
            </a:r>
          </a:p>
          <a:p>
            <a:r>
              <a:rPr lang="zh-CN" dirty="0"/>
              <a:t>• 生产环境中可验证的效率跃迁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瓶颈不是模型，是任务流</a:t>
            </a:r>
          </a:p>
          <a:p>
            <a:endParaRPr lang="en-US" dirty="0"/>
          </a:p>
          <a:p>
            <a:r>
              <a:rPr lang="zh-CN" dirty="0"/>
              <a:t>企业AI的失效点集中在任务分解、上下文路由与异常恢复，这恰好是工作流编排的决策空间。</a:t>
            </a:r>
          </a:p>
          <a:p>
            <a:endParaRPr lang="en-US" dirty="0"/>
          </a:p>
          <a:p>
            <a:r>
              <a:rPr lang="zh-CN" dirty="0"/>
              <a:t>• 80%的失败来自上下文断裂与工具误用，而非模型能力不足</a:t>
            </a:r>
          </a:p>
          <a:p>
            <a:r>
              <a:rPr lang="zh-CN" dirty="0"/>
              <a:t>• 将领域知识固化为可恢复的子任务回路，而非依赖单次提示</a:t>
            </a:r>
          </a:p>
          <a:p>
            <a:r>
              <a:rPr lang="zh-CN" dirty="0"/>
              <a:t>• 编排器负责状态机，操作员可见每一步决策理由与回退路径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三种路线，一套基准</a:t>
            </a:r>
          </a:p>
          <a:p>
            <a:endParaRPr lang="en-US" dirty="0"/>
          </a:p>
          <a:p>
            <a:r>
              <a:rPr lang="zh-CN" dirty="0"/>
              <a:t>不同架构对同一业务目标的完成度、可靠性和运维成本差异显著。</a:t>
            </a:r>
          </a:p>
          <a:p>
            <a:endParaRPr lang="en-US" dirty="0"/>
          </a:p>
          <a:p>
            <a:r>
              <a:rPr lang="zh-CN" dirty="0"/>
              <a:t>• 缺乏执行边界，不可观测，错误传播无法止回。适合简单问答，不适于多步事务</a:t>
            </a:r>
          </a:p>
          <a:p>
            <a:r>
              <a:rPr lang="zh-CN" dirty="0"/>
              <a:t>• 可靠性高但僵化，无法处理例外。每新增一个场景就需要重新开发链路</a:t>
            </a:r>
          </a:p>
          <a:p>
            <a:r>
              <a:rPr lang="zh-CN" dirty="0"/>
              <a:t>• 感知层识别意图、推理层规划步骤、工具层执行与校验、记忆层跨任务复用，支持人工牵引与自动回退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生产环境中的速度证据</a:t>
            </a:r>
          </a:p>
          <a:p>
            <a:endParaRPr lang="en-US" dirty="0"/>
          </a:p>
          <a:p>
            <a:r>
              <a:rPr lang="zh-CN" dirty="0"/>
              <a:t>三组行业场景在30天内的实测结果，全部采用相同编排内核。</a:t>
            </a:r>
          </a:p>
          <a:p>
            <a:endParaRPr lang="en-US" dirty="0"/>
          </a:p>
          <a:p>
            <a:r>
              <a:rPr lang="zh-CN" dirty="0"/>
              <a:t>• 跨国银行将合规审查嵌入多步Agent回路，端到端审批周期由5天缩短至4小时，错误拦截率提升至99.2%</a:t>
            </a:r>
          </a:p>
          <a:p>
            <a:r>
              <a:rPr lang="zh-CN" dirty="0"/>
              <a:t>• 保险公司在分诊－核损－赔付链路中引入工具记忆体，首次通过率从47%提升至82%，人工介入减少60%</a:t>
            </a:r>
          </a:p>
          <a:p>
            <a:r>
              <a:rPr lang="zh-CN" dirty="0"/>
              <a:t>• 制造商将故障代码诊断拆解为感知与推理环节，现场工程师获得逐步可溯源的维修指令，平均修复时间下降54%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两周内，让工作流跑起来</a:t>
            </a:r>
          </a:p>
          <a:p>
            <a:endParaRPr lang="en-US" dirty="0"/>
          </a:p>
          <a:p>
            <a:r>
              <a:rPr lang="zh-CN" dirty="0"/>
              <a:t>我们交付的不是一套概念，而是一个立即可调试、可扩展、可集成的生产就绪框架。</a:t>
            </a:r>
          </a:p>
          <a:p>
            <a:endParaRPr lang="en-US" dirty="0"/>
          </a:p>
          <a:p>
            <a:r>
              <a:rPr lang="zh-CN" dirty="0"/>
              <a:t>• 选定一条核心流程，完成感知层与工具注册</a:t>
            </a:r>
          </a:p>
          <a:p>
            <a:r>
              <a:rPr lang="zh-CN" dirty="0"/>
              <a:t>• 部署编排器及人工干预面板，开始真实数据回路测试</a:t>
            </a:r>
          </a:p>
          <a:p>
            <a:r>
              <a:rPr lang="zh-CN" dirty="0"/>
              <a:t>• 输出运行基线、异常模式报告及扩展场景建议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1"/>
          <p:cNvGrpSpPr/>
          <p:nvPr/>
        </p:nvGrpSpPr>
        <p:grpSpPr>
          <a:xfrm>
            <a:off x="0" y="0"/>
            <a:ext cx="11430000" cy="6858000"/>
            <a:chOff x="0" y="0"/>
            <a:chExt cx="11430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62000" y="1143000"/>
              <a:ext cx="3048000" cy="4572000"/>
            </a:xfrm>
            <a:prstGeom prst="rect">
              <a:avLst/>
            </a:prstGeom>
            <a:solidFill>
              <a:srgbClr val="F9FBF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1143000"/>
              <a:ext cx="3048000" cy="4572000"/>
            </a:xfrm>
            <a:prstGeom prst="rect">
              <a:avLst/>
            </a:prstGeom>
            <a:noFill/>
            <a:ln w="9525">
              <a:solidFill>
                <a:srgbClr val="CED8C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209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62000" y="3048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4000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4953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428750"/>
              <a:ext cx="76200" cy="4762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2381250"/>
              <a:ext cx="76200" cy="4762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3333750"/>
              <a:ext cx="76200" cy="4762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4286250"/>
              <a:ext cx="76200" cy="4762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33500" y="16192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47625"/>
                  </a:moveTo>
                  <a:lnTo>
                    <a:pt x="381000" y="47625"/>
                  </a:lnTo>
                  <a:lnTo>
                    <a:pt x="333375" y="0"/>
                  </a:lnTo>
                  <a:moveTo>
                    <a:pt x="381000" y="47625"/>
                  </a:moveTo>
                  <a:lnTo>
                    <a:pt x="333375" y="9525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33500" y="25717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47625"/>
                  </a:moveTo>
                  <a:lnTo>
                    <a:pt x="381000" y="47625"/>
                  </a:lnTo>
                  <a:lnTo>
                    <a:pt x="333375" y="0"/>
                  </a:lnTo>
                  <a:moveTo>
                    <a:pt x="381000" y="47625"/>
                  </a:moveTo>
                  <a:lnTo>
                    <a:pt x="333375" y="9525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33500" y="35242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47625"/>
                  </a:moveTo>
                  <a:lnTo>
                    <a:pt x="381000" y="47625"/>
                  </a:lnTo>
                  <a:lnTo>
                    <a:pt x="333375" y="0"/>
                  </a:lnTo>
                  <a:moveTo>
                    <a:pt x="381000" y="47625"/>
                  </a:moveTo>
                  <a:lnTo>
                    <a:pt x="333375" y="9525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33500" y="4476750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47625"/>
                  </a:moveTo>
                  <a:lnTo>
                    <a:pt x="381000" y="47625"/>
                  </a:lnTo>
                  <a:lnTo>
                    <a:pt x="333375" y="0"/>
                  </a:lnTo>
                  <a:moveTo>
                    <a:pt x="381000" y="47625"/>
                  </a:moveTo>
                  <a:lnTo>
                    <a:pt x="333375" y="9525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286000" y="1476375"/>
              <a:ext cx="381000" cy="381000"/>
            </a:xfrm>
            <a:prstGeom prst="ellipse">
              <a:avLst/>
            </a:prstGeom>
            <a:solidFill>
              <a:srgbClr val="EEF2EC"/>
            </a:solidFill>
            <a:ln w="9525">
              <a:solidFill>
                <a:srgbClr val="10141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00300" y="1590675"/>
              <a:ext cx="152400" cy="1524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286000" y="2428875"/>
              <a:ext cx="381000" cy="381000"/>
            </a:xfrm>
            <a:prstGeom prst="ellipse">
              <a:avLst/>
            </a:prstGeom>
            <a:solidFill>
              <a:srgbClr val="EEF2EC"/>
            </a:solidFill>
            <a:ln w="9525">
              <a:solidFill>
                <a:srgbClr val="10141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400300" y="2543175"/>
              <a:ext cx="152400" cy="1524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286000" y="3381375"/>
              <a:ext cx="381000" cy="381000"/>
            </a:xfrm>
            <a:prstGeom prst="ellipse">
              <a:avLst/>
            </a:prstGeom>
            <a:solidFill>
              <a:srgbClr val="EEF2EC"/>
            </a:solidFill>
            <a:ln w="9525">
              <a:solidFill>
                <a:srgbClr val="10141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400300" y="3495675"/>
              <a:ext cx="152400" cy="1524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286000" y="4333875"/>
              <a:ext cx="381000" cy="381000"/>
            </a:xfrm>
            <a:prstGeom prst="ellipse">
              <a:avLst/>
            </a:prstGeom>
            <a:solidFill>
              <a:srgbClr val="EEF2EC"/>
            </a:solidFill>
            <a:ln w="9525">
              <a:solidFill>
                <a:srgbClr val="10141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400300" y="4448175"/>
              <a:ext cx="152400" cy="1524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2476500" y="1857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476500" y="28098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476500" y="3762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572500" y="5715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048750" y="600075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6286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4553712" y="1187768"/>
            <a:ext cx="5733288" cy="3277552"/>
            <a:chOff x="4553712" y="1187768"/>
            <a:chExt cx="5733288" cy="3277552"/>
          </a:xfrm>
        </p:grpSpPr>
        <p:sp>
          <p:nvSpPr>
            <p:cNvPr id="32" name="TextBox 32"/>
            <p:cNvSpPr txBox="1"/>
            <p:nvPr/>
          </p:nvSpPr>
          <p:spPr>
            <a:xfrm>
              <a:off x="4565142" y="1187768"/>
              <a:ext cx="1252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300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GRIDBRIEF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3712" y="2087880"/>
              <a:ext cx="37195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企业AI工作流：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3712" y="2754630"/>
              <a:ext cx="461634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智能编排与自主执行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72000" y="3333750"/>
              <a:ext cx="5715000" cy="571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64380" y="38385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用多层能力体替代单体模型，将业务知识转化为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4380" y="41719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可运行、可恢复、可观测的决策链路。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4857750"/>
            <a:ext cx="12192000" cy="2000250"/>
            <a:chOff x="0" y="4857750"/>
            <a:chExt cx="12192000" cy="2000250"/>
          </a:xfrm>
        </p:grpSpPr>
        <p:sp>
          <p:nvSpPr>
            <p:cNvPr id="39" name="Line 39"/>
            <p:cNvSpPr/>
            <p:nvPr/>
          </p:nvSpPr>
          <p:spPr>
            <a:xfrm>
              <a:off x="4572000" y="48577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572000" y="5143500"/>
              <a:ext cx="1905000" cy="342900"/>
              <a:chOff x="4572000" y="5143500"/>
              <a:chExt cx="1905000" cy="3429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572000" y="5143500"/>
                <a:ext cx="1905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42900">
                    <a:moveTo>
                      <a:pt x="38100" y="0"/>
                    </a:moveTo>
                    <a:lnTo>
                      <a:pt x="1866900" y="0"/>
                    </a:lnTo>
                    <a:cubicBezTo>
                      <a:pt x="1887942" y="0"/>
                      <a:pt x="1905000" y="17058"/>
                      <a:pt x="1905000" y="38100"/>
                    </a:cubicBezTo>
                    <a:lnTo>
                      <a:pt x="1905000" y="304800"/>
                    </a:lnTo>
                    <a:cubicBezTo>
                      <a:pt x="1905000" y="325842"/>
                      <a:pt x="1887942" y="342900"/>
                      <a:pt x="1866900" y="342900"/>
                    </a:cubicBez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666393" y="5266849"/>
                <a:ext cx="17162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01418"/>
                    </a:solidFill>
                    <a:latin typeface="Arial"/>
                    <a:ea typeface="Microsoft YaHei"/>
                    <a:cs typeface="Arial"/>
                  </a:rPr>
                  <a:t>从单次推理走向持续任务闭环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667500" y="5143500"/>
              <a:ext cx="2095500" cy="342900"/>
              <a:chOff x="6667500" y="5143500"/>
              <a:chExt cx="2095500" cy="3429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7500" y="5143500"/>
                <a:ext cx="2095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342900">
                    <a:moveTo>
                      <a:pt x="38100" y="0"/>
                    </a:moveTo>
                    <a:lnTo>
                      <a:pt x="2057400" y="0"/>
                    </a:lnTo>
                    <a:cubicBezTo>
                      <a:pt x="2078442" y="0"/>
                      <a:pt x="2095500" y="17058"/>
                      <a:pt x="2095500" y="38100"/>
                    </a:cubicBezTo>
                    <a:lnTo>
                      <a:pt x="2095500" y="304800"/>
                    </a:lnTo>
                    <a:cubicBezTo>
                      <a:pt x="2095500" y="325842"/>
                      <a:pt x="2078442" y="342900"/>
                      <a:pt x="2057400" y="342900"/>
                    </a:cubicBez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748858" y="5266849"/>
                <a:ext cx="19327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01418"/>
                    </a:solidFill>
                    <a:latin typeface="Arial"/>
                    <a:ea typeface="Microsoft YaHei"/>
                    <a:cs typeface="Arial"/>
                  </a:rPr>
                  <a:t>能力分层：感知·推理·工具·记忆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952643" y="5143500"/>
              <a:ext cx="1716214" cy="342900"/>
              <a:chOff x="8952643" y="5143500"/>
              <a:chExt cx="1716214" cy="3429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953500" y="5143500"/>
                <a:ext cx="1714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342900">
                    <a:moveTo>
                      <a:pt x="38100" y="0"/>
                    </a:moveTo>
                    <a:lnTo>
                      <a:pt x="1676400" y="0"/>
                    </a:lnTo>
                    <a:cubicBezTo>
                      <a:pt x="1697442" y="0"/>
                      <a:pt x="1714500" y="17058"/>
                      <a:pt x="1714500" y="38100"/>
                    </a:cubicBezTo>
                    <a:lnTo>
                      <a:pt x="1714500" y="304800"/>
                    </a:lnTo>
                    <a:cubicBezTo>
                      <a:pt x="1714500" y="325842"/>
                      <a:pt x="1697442" y="342900"/>
                      <a:pt x="1676400" y="342900"/>
                    </a:cubicBez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52643" y="5266849"/>
                <a:ext cx="171621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01418"/>
                    </a:solidFill>
                    <a:latin typeface="Arial"/>
                    <a:ea typeface="Microsoft YaHei"/>
                    <a:cs typeface="Arial"/>
                  </a:rPr>
                  <a:t>操作员优先：可视可控可干预</a:t>
                </a:r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1106626" y="655415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1 / 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11430000" cy="6096000"/>
            <a:chOff x="381000" y="381000"/>
            <a:chExt cx="11430000" cy="6096000"/>
          </a:xfrm>
        </p:grpSpPr>
        <p:sp>
          <p:nvSpPr>
            <p:cNvPr id="3" name="Freeform 3"/>
            <p:cNvSpPr/>
            <p:nvPr/>
          </p:nvSpPr>
          <p:spPr>
            <a:xfrm>
              <a:off x="381000" y="381000"/>
              <a:ext cx="11430000" cy="6096000"/>
            </a:xfrm>
            <a:custGeom>
              <a:avLst/>
              <a:gdLst/>
              <a:ahLst/>
              <a:cxnLst/>
              <a:rect l="l" t="t" r="r" b="b"/>
              <a:pathLst>
                <a:path w="11430000" h="6096000">
                  <a:moveTo>
                    <a:pt x="152400" y="0"/>
                  </a:moveTo>
                  <a:lnTo>
                    <a:pt x="11277600" y="0"/>
                  </a:lnTo>
                  <a:cubicBezTo>
                    <a:pt x="11361768" y="0"/>
                    <a:pt x="11430000" y="68232"/>
                    <a:pt x="11430000" y="152400"/>
                  </a:cubicBezTo>
                  <a:lnTo>
                    <a:pt x="11430000" y="5943600"/>
                  </a:lnTo>
                  <a:cubicBezTo>
                    <a:pt x="11430000" y="6027768"/>
                    <a:pt x="11361768" y="6096000"/>
                    <a:pt x="11277600" y="6096000"/>
                  </a:cubicBezTo>
                  <a:lnTo>
                    <a:pt x="152400" y="6096000"/>
                  </a:lnTo>
                  <a:cubicBezTo>
                    <a:pt x="68232" y="6096000"/>
                    <a:pt x="0" y="6027768"/>
                    <a:pt x="0" y="594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9FBF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381000" y="381000"/>
              <a:ext cx="11430000" cy="6096000"/>
            </a:xfrm>
            <a:custGeom>
              <a:avLst/>
              <a:gdLst/>
              <a:ahLst/>
              <a:cxnLst/>
              <a:rect l="l" t="t" r="r" b="b"/>
              <a:pathLst>
                <a:path w="11430000" h="6096000">
                  <a:moveTo>
                    <a:pt x="152400" y="0"/>
                  </a:moveTo>
                  <a:lnTo>
                    <a:pt x="11277600" y="0"/>
                  </a:lnTo>
                  <a:cubicBezTo>
                    <a:pt x="11361768" y="0"/>
                    <a:pt x="11430000" y="68232"/>
                    <a:pt x="11430000" y="152400"/>
                  </a:cubicBezTo>
                  <a:lnTo>
                    <a:pt x="11430000" y="5943600"/>
                  </a:lnTo>
                  <a:cubicBezTo>
                    <a:pt x="11430000" y="6027768"/>
                    <a:pt x="11361768" y="6096000"/>
                    <a:pt x="11277600" y="6096000"/>
                  </a:cubicBezTo>
                  <a:lnTo>
                    <a:pt x="152400" y="6096000"/>
                  </a:lnTo>
                  <a:cubicBezTo>
                    <a:pt x="68232" y="6096000"/>
                    <a:pt x="0" y="6027768"/>
                    <a:pt x="0" y="594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33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0" y="17145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49808" y="743902"/>
            <a:ext cx="10489692" cy="5666423"/>
            <a:chOff x="749808" y="743902"/>
            <a:chExt cx="10489692" cy="5666423"/>
          </a:xfrm>
        </p:grpSpPr>
        <p:grpSp>
          <p:nvGrpSpPr>
            <p:cNvPr id="11" name="Group 11"/>
            <p:cNvGrpSpPr/>
            <p:nvPr/>
          </p:nvGrpSpPr>
          <p:grpSpPr>
            <a:xfrm>
              <a:off x="749808" y="743902"/>
              <a:ext cx="3918509" cy="1123379"/>
              <a:chOff x="749808" y="743902"/>
              <a:chExt cx="3918509" cy="112337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56666" y="743902"/>
                <a:ext cx="6366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spc="150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模块目录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9808" y="931545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今天您将看到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1632585"/>
                <a:ext cx="39124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01418">
                        <a:alphaMod val="7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围绕AI工作流落地的五个决策支点，从理念到行动。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76300" y="2400300"/>
              <a:ext cx="3452003" cy="4010025"/>
              <a:chOff x="876300" y="2400300"/>
              <a:chExt cx="3452003" cy="4010025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876300" y="2400300"/>
                <a:ext cx="3452003" cy="657225"/>
                <a:chOff x="876300" y="2400300"/>
                <a:chExt cx="3452003" cy="657225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876300" y="2400300"/>
                  <a:ext cx="533400" cy="5334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031189" y="259746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101418"/>
                      </a:solidFill>
                      <a:latin typeface="Segoe UI"/>
                      <a:ea typeface="Segoe UI"/>
                      <a:cs typeface="Segoe UI"/>
                    </a:rPr>
                    <a:t>01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613535" y="2497931"/>
                  <a:ext cx="271476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为什么工作流是智能体价值释放的核心</a:t>
                  </a:r>
                </a:p>
              </p:txBody>
            </p:sp>
            <p:sp>
              <p:nvSpPr>
                <p:cNvPr id="15" name="Line 15"/>
                <p:cNvSpPr/>
                <p:nvPr/>
              </p:nvSpPr>
              <p:spPr>
                <a:xfrm>
                  <a:off x="1143000" y="304800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CED8C2"/>
                  </a:solidFill>
                  <a:prstDash val="dash"/>
                </a:ln>
              </p:spPr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876300" y="3257550"/>
                <a:ext cx="3133963" cy="657225"/>
                <a:chOff x="876300" y="3257550"/>
                <a:chExt cx="3133963" cy="657225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876300" y="3257550"/>
                  <a:ext cx="533400" cy="5334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31189" y="34547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101418"/>
                      </a:solidFill>
                      <a:latin typeface="Segoe UI"/>
                      <a:ea typeface="Segoe UI"/>
                      <a:cs typeface="Segoe UI"/>
                    </a:rPr>
                    <a:t>02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613535" y="3355181"/>
                  <a:ext cx="239672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感知－推理－工具－记忆四层架构</a:t>
                  </a:r>
                </a:p>
              </p:txBody>
            </p:sp>
            <p:sp>
              <p:nvSpPr>
                <p:cNvPr id="20" name="Line 20"/>
                <p:cNvSpPr/>
                <p:nvPr/>
              </p:nvSpPr>
              <p:spPr>
                <a:xfrm>
                  <a:off x="1143000" y="390525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CED8C2"/>
                  </a:solidFill>
                  <a:prstDash val="dash"/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876300" y="4114800"/>
                <a:ext cx="2656903" cy="657225"/>
                <a:chOff x="876300" y="4114800"/>
                <a:chExt cx="2656903" cy="657225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876300" y="4114800"/>
                  <a:ext cx="533400" cy="5334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031189" y="431196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101418"/>
                      </a:solidFill>
                      <a:latin typeface="Segoe UI"/>
                      <a:ea typeface="Segoe UI"/>
                      <a:cs typeface="Segoe UI"/>
                    </a:rPr>
                    <a:t>03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613535" y="4212431"/>
                  <a:ext cx="191966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三种主流模式与我们的选择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1143000" y="476250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CED8C2"/>
                  </a:solidFill>
                  <a:prstDash val="dash"/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876300" y="4972050"/>
                <a:ext cx="2815923" cy="704850"/>
                <a:chOff x="876300" y="4972050"/>
                <a:chExt cx="2815923" cy="704850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876300" y="4972050"/>
                  <a:ext cx="533400" cy="5334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31189" y="5169218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101418"/>
                      </a:solidFill>
                      <a:latin typeface="Segoe UI"/>
                      <a:ea typeface="Segoe UI"/>
                      <a:cs typeface="Segoe UI"/>
                    </a:rPr>
                    <a:t>04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613535" y="5069681"/>
                  <a:ext cx="207868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生产环境中可验证的效率跃迁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1143000" y="5667375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CED8C2"/>
                  </a:solidFill>
                  <a:prstDash val="dash"/>
                </a:ln>
              </p:spPr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876300" y="5876925"/>
                <a:ext cx="2497884" cy="533400"/>
                <a:chOff x="876300" y="5876925"/>
                <a:chExt cx="2497884" cy="533400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876300" y="5876925"/>
                  <a:ext cx="533400" cy="533400"/>
                </a:xfrm>
                <a:prstGeom prst="ellipse">
                  <a:avLst/>
                </a:prstGeom>
                <a:solidFill>
                  <a:srgbClr val="B7F36B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031189" y="607409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101418"/>
                      </a:solidFill>
                      <a:latin typeface="Segoe UI"/>
                      <a:ea typeface="Segoe UI"/>
                      <a:cs typeface="Segoe UI"/>
                    </a:rPr>
                    <a:t>05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613535" y="5974556"/>
                  <a:ext cx="176064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01418"/>
                      </a:solidFill>
                      <a:latin typeface="Segoe UI"/>
                      <a:ea typeface="Microsoft YaHei"/>
                      <a:cs typeface="Segoe UI"/>
                    </a:rPr>
                    <a:t>本周即可启动的协同行动</a:t>
                  </a:r>
                </a:p>
              </p:txBody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4242735" y="2095500"/>
              <a:ext cx="6996765" cy="4286250"/>
              <a:chOff x="4242735" y="2095500"/>
              <a:chExt cx="6996765" cy="4286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381500" y="2095500"/>
                <a:ext cx="685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62000">
                    <a:moveTo>
                      <a:pt x="76200" y="0"/>
                    </a:moveTo>
                    <a:lnTo>
                      <a:pt x="6781800" y="0"/>
                    </a:lnTo>
                    <a:cubicBezTo>
                      <a:pt x="6823884" y="0"/>
                      <a:pt x="6858000" y="34116"/>
                      <a:pt x="6858000" y="76200"/>
                    </a:cubicBezTo>
                    <a:lnTo>
                      <a:pt x="6858000" y="685800"/>
                    </a:lnTo>
                    <a:cubicBezTo>
                      <a:pt x="6858000" y="727884"/>
                      <a:pt x="6823884" y="762000"/>
                      <a:pt x="678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919601" y="2323624"/>
                <a:ext cx="23527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为什么工作流是智能体价值释放的核心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337277" y="2577941"/>
                <a:ext cx="151744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>
                        <a:alphaMod val="6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任务流设计决定AI能力天花板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7810500" y="2857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  <p:sp>
            <p:nvSpPr>
              <p:cNvPr id="41" name="Polygon 41"/>
              <p:cNvSpPr/>
              <p:nvPr/>
            </p:nvSpPr>
            <p:spPr>
              <a:xfrm>
                <a:off x="7762875" y="3190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381500" y="3333750"/>
                <a:ext cx="685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62000">
                    <a:moveTo>
                      <a:pt x="76200" y="0"/>
                    </a:moveTo>
                    <a:lnTo>
                      <a:pt x="6781800" y="0"/>
                    </a:lnTo>
                    <a:cubicBezTo>
                      <a:pt x="6823884" y="0"/>
                      <a:pt x="6858000" y="34116"/>
                      <a:pt x="6858000" y="76200"/>
                    </a:cubicBezTo>
                    <a:lnTo>
                      <a:pt x="6858000" y="685800"/>
                    </a:lnTo>
                    <a:cubicBezTo>
                      <a:pt x="6858000" y="727884"/>
                      <a:pt x="6823884" y="762000"/>
                      <a:pt x="678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057418" y="3561874"/>
                <a:ext cx="20771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感知－推理－工具－记忆四层架构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480399" y="3816191"/>
                <a:ext cx="12312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>
                        <a:alphaMod val="6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能力分层实现系统化编排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7810500" y="409575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7762875" y="4429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381500" y="4572000"/>
                <a:ext cx="685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62000">
                    <a:moveTo>
                      <a:pt x="76200" y="0"/>
                    </a:moveTo>
                    <a:lnTo>
                      <a:pt x="6781800" y="0"/>
                    </a:lnTo>
                    <a:cubicBezTo>
                      <a:pt x="6823884" y="0"/>
                      <a:pt x="6858000" y="34116"/>
                      <a:pt x="6858000" y="76200"/>
                    </a:cubicBezTo>
                    <a:lnTo>
                      <a:pt x="6858000" y="685800"/>
                    </a:lnTo>
                    <a:cubicBezTo>
                      <a:pt x="6858000" y="727884"/>
                      <a:pt x="6823884" y="762000"/>
                      <a:pt x="678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264144" y="4800124"/>
                <a:ext cx="16637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三种主流模式与我们的选择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535930" y="5054441"/>
                <a:ext cx="112014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>
                        <a:alphaMod val="6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编排链路决定执行效率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7810500" y="53340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7762875" y="5667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381500" y="5810250"/>
                <a:ext cx="3238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571500">
                    <a:moveTo>
                      <a:pt x="76200" y="0"/>
                    </a:moveTo>
                    <a:lnTo>
                      <a:pt x="3162300" y="0"/>
                    </a:lnTo>
                    <a:cubicBezTo>
                      <a:pt x="3204384" y="0"/>
                      <a:pt x="3238500" y="34116"/>
                      <a:pt x="3238500" y="76200"/>
                    </a:cubicBezTo>
                    <a:lnTo>
                      <a:pt x="3238500" y="495300"/>
                    </a:lnTo>
                    <a:cubicBezTo>
                      <a:pt x="3238500" y="537384"/>
                      <a:pt x="3204384" y="571500"/>
                      <a:pt x="3162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242735" y="5990749"/>
                <a:ext cx="18015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生产环境中可验证的效率跃迁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8001000" y="5810250"/>
                <a:ext cx="3238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571500">
                    <a:moveTo>
                      <a:pt x="76200" y="0"/>
                    </a:moveTo>
                    <a:lnTo>
                      <a:pt x="3162300" y="0"/>
                    </a:lnTo>
                    <a:cubicBezTo>
                      <a:pt x="3204384" y="0"/>
                      <a:pt x="3238500" y="34116"/>
                      <a:pt x="3238500" y="76200"/>
                    </a:cubicBezTo>
                    <a:lnTo>
                      <a:pt x="3238500" y="495300"/>
                    </a:lnTo>
                    <a:cubicBezTo>
                      <a:pt x="3238500" y="537384"/>
                      <a:pt x="3204384" y="571500"/>
                      <a:pt x="3162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B7F36B">
                  <a:alpha val="30000"/>
                </a:srgbClr>
              </a:solidFill>
              <a:ln w="19050">
                <a:solidFill>
                  <a:srgbClr val="B7F36B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000052" y="5990749"/>
                <a:ext cx="15258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本周即可启动的协同行动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7620000" y="60960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B7F36B"/>
                </a:solidFill>
              </a:ln>
            </p:spPr>
          </p:sp>
        </p:grpSp>
      </p:grpSp>
      <p:grpSp>
        <p:nvGrpSpPr>
          <p:cNvPr id="60" name="Group 60"/>
          <p:cNvGrpSpPr/>
          <p:nvPr/>
        </p:nvGrpSpPr>
        <p:grpSpPr>
          <a:xfrm>
            <a:off x="11053181" y="6387941"/>
            <a:ext cx="381581" cy="161925"/>
            <a:chOff x="11053181" y="6387941"/>
            <a:chExt cx="381581" cy="161925"/>
          </a:xfrm>
        </p:grpSpPr>
        <p:sp>
          <p:nvSpPr>
            <p:cNvPr id="59" name="TextBox 59"/>
            <p:cNvSpPr txBox="1"/>
            <p:nvPr/>
          </p:nvSpPr>
          <p:spPr>
            <a:xfrm>
              <a:off x="11053181" y="63879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101418">
                      <a:alphaMod val="40000"/>
                    </a:srgbClr>
                  </a:solidFill>
                  <a:latin typeface="Segoe UI"/>
                  <a:ea typeface="Segoe UI"/>
                  <a:cs typeface="Segoe UI"/>
                </a:rPr>
                <a:t>02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304800"/>
            <a:ext cx="12192000" cy="466725"/>
            <a:chOff x="0" y="304800"/>
            <a:chExt cx="12192000" cy="466725"/>
          </a:xfrm>
        </p:grpSpPr>
        <p:sp>
          <p:nvSpPr>
            <p:cNvPr id="2" name="Line 2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04800"/>
              <a:ext cx="57150" cy="22860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616" y="40100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关键判断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143000"/>
            <a:ext cx="11049000" cy="4572000"/>
            <a:chOff x="571500" y="1143000"/>
            <a:chExt cx="110490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143000"/>
              <a:ext cx="3619500" cy="4572000"/>
              <a:chOff x="571500" y="1143000"/>
              <a:chExt cx="3619500" cy="4572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71500" y="1143000"/>
                <a:ext cx="36195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4572000">
                    <a:moveTo>
                      <a:pt x="114300" y="0"/>
                    </a:moveTo>
                    <a:lnTo>
                      <a:pt x="3505200" y="0"/>
                    </a:lnTo>
                    <a:cubicBezTo>
                      <a:pt x="3568326" y="0"/>
                      <a:pt x="3619500" y="51174"/>
                      <a:pt x="3619500" y="114300"/>
                    </a:cubicBezTo>
                    <a:lnTo>
                      <a:pt x="3619500" y="4457700"/>
                    </a:lnTo>
                    <a:cubicBezTo>
                      <a:pt x="3619500" y="4520826"/>
                      <a:pt x="3568326" y="4572000"/>
                      <a:pt x="35052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597079" y="1590675"/>
                <a:ext cx="3568341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0" b="1" dirty="0">
                    <a:solidFill>
                      <a:srgbClr val="101418"/>
                    </a:solidFill>
                    <a:latin typeface="Segoe UI"/>
                    <a:ea typeface="Segoe UI"/>
                    <a:cs typeface="Segoe UI"/>
                  </a:rPr>
                  <a:t>80%</a:t>
                </a:r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952500" y="40005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19050">
                <a:solidFill>
                  <a:srgbClr val="101418">
                    <a:alpha val="20000"/>
                  </a:srgbClr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94021" y="43076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失败源于上下文断裂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96916" y="4545806"/>
                <a:ext cx="76866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与工具误用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51279" y="48477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01418">
                        <a:alphaMod val="6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而非模型能力不足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1143000"/>
              <a:ext cx="7048500" cy="1905000"/>
              <a:chOff x="4572000" y="1143000"/>
              <a:chExt cx="7048500" cy="1905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572000" y="1143000"/>
                <a:ext cx="70485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7048500" h="1905000">
                    <a:moveTo>
                      <a:pt x="76200" y="0"/>
                    </a:moveTo>
                    <a:lnTo>
                      <a:pt x="6972300" y="0"/>
                    </a:lnTo>
                    <a:cubicBezTo>
                      <a:pt x="7014384" y="0"/>
                      <a:pt x="7048500" y="34116"/>
                      <a:pt x="7048500" y="76200"/>
                    </a:cubicBezTo>
                    <a:lnTo>
                      <a:pt x="7048500" y="1828800"/>
                    </a:lnTo>
                    <a:cubicBezTo>
                      <a:pt x="7048500" y="1870884"/>
                      <a:pt x="7014384" y="1905000"/>
                      <a:pt x="6972300" y="1905000"/>
                    </a:cubicBezTo>
                    <a:lnTo>
                      <a:pt x="76200" y="1905000"/>
                    </a:lnTo>
                    <a:cubicBezTo>
                      <a:pt x="34116" y="1905000"/>
                      <a:pt x="0" y="1870884"/>
                      <a:pt x="0" y="1828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841748" y="1326832"/>
                <a:ext cx="4929816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瓶颈不是模型，是任务流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857750" y="1905000"/>
                <a:ext cx="133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9525">
                    <a:moveTo>
                      <a:pt x="0" y="0"/>
                    </a:moveTo>
                    <a:lnTo>
                      <a:pt x="1333500" y="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851273" y="2195989"/>
                <a:ext cx="470100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101418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企业AI的失效点集中在任务分解、上下文路由与异常恢复，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51273" y="2434114"/>
                <a:ext cx="258756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101418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这恰好是工作流编排的决策空间。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572000" y="3333750"/>
              <a:ext cx="7048500" cy="2381250"/>
              <a:chOff x="4572000" y="3333750"/>
              <a:chExt cx="7048500" cy="23812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572000" y="3333750"/>
                <a:ext cx="7048500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7048500" h="2381250">
                    <a:moveTo>
                      <a:pt x="76200" y="0"/>
                    </a:moveTo>
                    <a:lnTo>
                      <a:pt x="6972300" y="0"/>
                    </a:lnTo>
                    <a:cubicBezTo>
                      <a:pt x="7014384" y="0"/>
                      <a:pt x="7048500" y="34116"/>
                      <a:pt x="7048500" y="76200"/>
                    </a:cubicBezTo>
                    <a:lnTo>
                      <a:pt x="7048500" y="2305050"/>
                    </a:lnTo>
                    <a:cubicBezTo>
                      <a:pt x="7048500" y="2347134"/>
                      <a:pt x="7014384" y="2381250"/>
                      <a:pt x="6972300" y="2381250"/>
                    </a:cubicBezTo>
                    <a:lnTo>
                      <a:pt x="76200" y="2381250"/>
                    </a:lnTo>
                    <a:cubicBezTo>
                      <a:pt x="34116" y="2381250"/>
                      <a:pt x="0" y="2347134"/>
                      <a:pt x="0" y="2305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810125" y="3810000"/>
                <a:ext cx="95250" cy="9525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042535" y="378380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将领域知识固化为可恢复的子任务回路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810125" y="4286250"/>
                <a:ext cx="95250" cy="9525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42535" y="426005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而非依赖单次提示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4810125" y="4762500"/>
                <a:ext cx="95250" cy="9525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042535" y="4736306"/>
                <a:ext cx="39490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编排器负责状态机，操作员可见每一步决策理由与回退路径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0828858" y="6379845"/>
            <a:ext cx="415404" cy="176212"/>
            <a:chOff x="10828858" y="6379845"/>
            <a:chExt cx="41540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10828858" y="63798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CED8C2"/>
                  </a:solidFill>
                  <a:latin typeface="Segoe UI"/>
                  <a:ea typeface="Segoe UI"/>
                  <a:cs typeface="Segoe UI"/>
                </a:rPr>
                <a:t>03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E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6166" y="381952"/>
            <a:ext cx="11054334" cy="313373"/>
            <a:chOff x="566166" y="381952"/>
            <a:chExt cx="11054334" cy="313373"/>
          </a:xfrm>
        </p:grpSpPr>
        <p:sp>
          <p:nvSpPr>
            <p:cNvPr id="3" name="TextBox 3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1418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系统比较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685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59308" y="883920"/>
            <a:ext cx="11061192" cy="4640580"/>
            <a:chOff x="559308" y="883920"/>
            <a:chExt cx="11061192" cy="4640580"/>
          </a:xfrm>
        </p:grpSpPr>
        <p:sp>
          <p:nvSpPr>
            <p:cNvPr id="6" name="TextBox 6"/>
            <p:cNvSpPr txBox="1"/>
            <p:nvPr/>
          </p:nvSpPr>
          <p:spPr>
            <a:xfrm>
              <a:off x="559308" y="8839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三种路线，一套基准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404" y="139446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不同架构对同一业务目标的完成度、可靠性和运维成本差异显著。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571500" y="1905000"/>
              <a:ext cx="11049000" cy="3619500"/>
              <a:chOff x="571500" y="1905000"/>
              <a:chExt cx="11049000" cy="3619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71500" y="190500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76200" y="0"/>
                    </a:moveTo>
                    <a:lnTo>
                      <a:pt x="3352800" y="0"/>
                    </a:lnTo>
                    <a:cubicBezTo>
                      <a:pt x="3394884" y="0"/>
                      <a:pt x="3429000" y="34116"/>
                      <a:pt x="3429000" y="76200"/>
                    </a:cubicBezTo>
                    <a:lnTo>
                      <a:pt x="3429000" y="3543300"/>
                    </a:lnTo>
                    <a:cubicBezTo>
                      <a:pt x="3429000" y="3585384"/>
                      <a:pt x="3394884" y="3619500"/>
                      <a:pt x="3352800" y="3619500"/>
                    </a:cubicBezTo>
                    <a:lnTo>
                      <a:pt x="76200" y="3619500"/>
                    </a:lnTo>
                    <a:cubicBezTo>
                      <a:pt x="34116" y="3619500"/>
                      <a:pt x="0" y="3585384"/>
                      <a:pt x="0" y="3543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49630" y="22002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单体提示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51916" y="25917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单模型长链提示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857250" y="28956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ED8C2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800100" y="3276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42797" y="32665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缺乏执行边界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800100" y="3657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797" y="36475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不可观测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800100" y="4038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2797" y="402859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错误传播无法止回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800100" y="4419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797" y="44095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适合简单问答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00100" y="4800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42797" y="47905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不适于多步事务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57250" y="514350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CED8C2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2988" y="5208270"/>
                <a:ext cx="4759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⚠ 不推荐</a:t>
                </a: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4381500" y="190500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76200" y="0"/>
                    </a:moveTo>
                    <a:lnTo>
                      <a:pt x="3352800" y="0"/>
                    </a:lnTo>
                    <a:cubicBezTo>
                      <a:pt x="3394884" y="0"/>
                      <a:pt x="3429000" y="34116"/>
                      <a:pt x="3429000" y="76200"/>
                    </a:cubicBezTo>
                    <a:lnTo>
                      <a:pt x="3429000" y="3543300"/>
                    </a:lnTo>
                    <a:cubicBezTo>
                      <a:pt x="3429000" y="3585384"/>
                      <a:pt x="3394884" y="3619500"/>
                      <a:pt x="3352800" y="3619500"/>
                    </a:cubicBezTo>
                    <a:lnTo>
                      <a:pt x="76200" y="3619500"/>
                    </a:lnTo>
                    <a:cubicBezTo>
                      <a:pt x="34116" y="3619500"/>
                      <a:pt x="0" y="3585384"/>
                      <a:pt x="0" y="3543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9525">
                <a:solidFill>
                  <a:srgbClr val="CED8C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659630" y="220027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固定流水线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61916" y="25917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硬编码流程编排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667250" y="28956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ED8C2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610100" y="3276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52797" y="32665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可靠性高但僵化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4610100" y="3657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852797" y="36475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无法处理例外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610100" y="4038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852797" y="40285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新增场景需重新开发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4610100" y="4419600"/>
                <a:ext cx="114300" cy="114300"/>
              </a:xfrm>
              <a:prstGeom prst="ellipse">
                <a:avLst/>
              </a:prstGeom>
              <a:solidFill>
                <a:srgbClr val="CED8C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852797" y="44095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运维成本高</a:t>
                </a:r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4667250" y="514350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CED8C2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52988" y="5208270"/>
                <a:ext cx="5971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⚠ 有限适用</a:t>
                </a:r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191500" y="190500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76200" y="0"/>
                    </a:moveTo>
                    <a:lnTo>
                      <a:pt x="3352800" y="0"/>
                    </a:lnTo>
                    <a:cubicBezTo>
                      <a:pt x="3394884" y="0"/>
                      <a:pt x="3429000" y="34116"/>
                      <a:pt x="3429000" y="76200"/>
                    </a:cubicBezTo>
                    <a:lnTo>
                      <a:pt x="3429000" y="3543300"/>
                    </a:lnTo>
                    <a:cubicBezTo>
                      <a:pt x="3429000" y="3585384"/>
                      <a:pt x="3394884" y="3619500"/>
                      <a:pt x="3352800" y="3619500"/>
                    </a:cubicBezTo>
                    <a:lnTo>
                      <a:pt x="76200" y="3619500"/>
                    </a:lnTo>
                    <a:cubicBezTo>
                      <a:pt x="34116" y="3619500"/>
                      <a:pt x="0" y="3585384"/>
                      <a:pt x="0" y="3543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B7F36B"/>
              </a:solidFill>
              <a:ln w="19050">
                <a:solidFill>
                  <a:srgbClr val="101418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469630" y="220027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多层智能体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71916" y="2591752"/>
                <a:ext cx="1173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分层Agent工作流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8477250" y="28956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19050">
                <a:solidFill>
                  <a:srgbClr val="101418">
                    <a:alpha val="30000"/>
                  </a:srgbClr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420100" y="3276600"/>
                <a:ext cx="114300" cy="114300"/>
              </a:xfrm>
              <a:prstGeom prst="ellipse">
                <a:avLst/>
              </a:pr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662797" y="32665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感知层识别意图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8420100" y="3657600"/>
                <a:ext cx="114300" cy="114300"/>
              </a:xfrm>
              <a:prstGeom prst="ellipse">
                <a:avLst/>
              </a:pr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62797" y="36475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推理层规划步骤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8420100" y="4038600"/>
                <a:ext cx="114300" cy="114300"/>
              </a:xfrm>
              <a:prstGeom prst="ellipse">
                <a:avLst/>
              </a:pr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662797" y="402859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工具层执行与校验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8420100" y="4419600"/>
                <a:ext cx="114300" cy="114300"/>
              </a:xfrm>
              <a:prstGeom prst="ellipse">
                <a:avLst/>
              </a:pr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662797" y="440959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记忆层跨任务复用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8420100" y="4800600"/>
                <a:ext cx="114300" cy="114300"/>
              </a:xfrm>
              <a:prstGeom prst="ellipse">
                <a:avLst/>
              </a:pr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662797" y="47905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人工牵引与自动回退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8477250" y="5143500"/>
                <a:ext cx="1143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190500"/>
                    </a:lnTo>
                    <a:cubicBezTo>
                      <a:pt x="1143000" y="211542"/>
                      <a:pt x="1125942" y="228600"/>
                      <a:pt x="11049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662988" y="5208270"/>
                <a:ext cx="62652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✓ 推荐方案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71500" y="5905500"/>
            <a:ext cx="10268179" cy="304800"/>
            <a:chOff x="571500" y="5905500"/>
            <a:chExt cx="10268179" cy="304800"/>
          </a:xfrm>
        </p:grpSpPr>
        <p:sp>
          <p:nvSpPr>
            <p:cNvPr id="56" name="Freeform 56"/>
            <p:cNvSpPr/>
            <p:nvPr/>
          </p:nvSpPr>
          <p:spPr>
            <a:xfrm>
              <a:off x="571500" y="59055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38100" y="0"/>
                  </a:moveTo>
                  <a:lnTo>
                    <a:pt x="1676400" y="0"/>
                  </a:lnTo>
                  <a:cubicBezTo>
                    <a:pt x="1697442" y="0"/>
                    <a:pt x="1714500" y="17058"/>
                    <a:pt x="1714500" y="38100"/>
                  </a:cubicBezTo>
                  <a:lnTo>
                    <a:pt x="1714500" y="266700"/>
                  </a:lnTo>
                  <a:cubicBezTo>
                    <a:pt x="1714500" y="287742"/>
                    <a:pt x="1697442" y="304800"/>
                    <a:pt x="1676400" y="304800"/>
                  </a:cubicBezTo>
                  <a:lnTo>
                    <a:pt x="38100" y="304800"/>
                  </a:lnTo>
                  <a:cubicBezTo>
                    <a:pt x="17058" y="304800"/>
                    <a:pt x="0" y="287742"/>
                    <a:pt x="0" y="266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7047" y="6000274"/>
              <a:ext cx="836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EF2EC"/>
                  </a:solidFill>
                  <a:latin typeface="Segoe UI"/>
                  <a:ea typeface="Microsoft YaHei"/>
                  <a:cs typeface="Segoe UI"/>
                </a:rPr>
                <a:t>关键变量对比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2571750" y="60579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101418"/>
              </a:solidFill>
              <a:custDash>
                <a:ds d="400000" sp="200000"/>
              </a:custDash>
            </a:ln>
          </p:spPr>
        </p:sp>
        <p:sp>
          <p:nvSpPr>
            <p:cNvPr id="59" name="Ellipse 59"/>
            <p:cNvSpPr/>
            <p:nvPr/>
          </p:nvSpPr>
          <p:spPr>
            <a:xfrm>
              <a:off x="4533900" y="6019800"/>
              <a:ext cx="76200" cy="762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4762500" y="60579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01418"/>
              </a:solidFill>
              <a:custDash>
                <a:ds d="400000" sp="200000"/>
              </a:custDash>
            </a:ln>
          </p:spPr>
        </p:sp>
        <p:sp>
          <p:nvSpPr>
            <p:cNvPr id="61" name="Ellipse 61"/>
            <p:cNvSpPr/>
            <p:nvPr/>
          </p:nvSpPr>
          <p:spPr>
            <a:xfrm>
              <a:off x="6438900" y="6019800"/>
              <a:ext cx="76200" cy="762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6667500" y="60579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01418"/>
              </a:solidFill>
              <a:custDash>
                <a:ds d="400000" sp="200000"/>
              </a:custDash>
            </a:ln>
          </p:spPr>
        </p:sp>
        <p:sp>
          <p:nvSpPr>
            <p:cNvPr id="63" name="Ellipse 63"/>
            <p:cNvSpPr/>
            <p:nvPr/>
          </p:nvSpPr>
          <p:spPr>
            <a:xfrm>
              <a:off x="8343900" y="6019800"/>
              <a:ext cx="76200" cy="76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567238" y="600694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01418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执行边界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72238" y="6006941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01418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灵活性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77238" y="6006941"/>
              <a:ext cx="3593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可观测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72738" y="6008370"/>
              <a:ext cx="36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01418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页 4/6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F9FBF6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6738" y="321945"/>
              <a:ext cx="865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PROOFGRID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43132" y="3219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5 / 6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59308" y="1074420"/>
            <a:ext cx="11061192" cy="5195887"/>
            <a:chOff x="559308" y="1074420"/>
            <a:chExt cx="11061192" cy="5195887"/>
          </a:xfrm>
        </p:grpSpPr>
        <p:grpSp>
          <p:nvGrpSpPr>
            <p:cNvPr id="9" name="Group 9"/>
            <p:cNvGrpSpPr/>
            <p:nvPr/>
          </p:nvGrpSpPr>
          <p:grpSpPr>
            <a:xfrm>
              <a:off x="559308" y="1074420"/>
              <a:ext cx="3848138" cy="636841"/>
              <a:chOff x="559308" y="1074420"/>
              <a:chExt cx="3848138" cy="63684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59308" y="1074420"/>
                <a:ext cx="341680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生产环境中的速度证据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66166" y="1505902"/>
                <a:ext cx="38412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>
                        <a:alphaMod val="7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三组行业场景在30天内的实测结果，全部采用相同编排内核。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571500" y="2000250"/>
              <a:ext cx="11049000" cy="3650932"/>
              <a:chOff x="571500" y="2000250"/>
              <a:chExt cx="11049000" cy="3650932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571500" y="2000250"/>
                <a:ext cx="3429000" cy="3619500"/>
                <a:chOff x="571500" y="2000250"/>
                <a:chExt cx="3429000" cy="36195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71500" y="2000250"/>
                  <a:ext cx="3429000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36195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3543300"/>
                      </a:lnTo>
                      <a:cubicBezTo>
                        <a:pt x="3429000" y="3585384"/>
                        <a:pt x="3394884" y="3619500"/>
                        <a:pt x="3352800" y="3619500"/>
                      </a:cubicBezTo>
                      <a:lnTo>
                        <a:pt x="76200" y="3619500"/>
                      </a:lnTo>
                      <a:cubicBezTo>
                        <a:pt x="34116" y="3619500"/>
                        <a:pt x="0" y="3585384"/>
                        <a:pt x="0" y="3543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F9FBF6"/>
                </a:solidFill>
                <a:ln w="9525">
                  <a:solidFill>
                    <a:srgbClr val="CED8C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71500" y="2000250"/>
                  <a:ext cx="3429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685800"/>
                      </a:lnTo>
                      <a:cubicBezTo>
                        <a:pt x="3429000" y="727884"/>
                        <a:pt x="3394884" y="762000"/>
                        <a:pt x="3352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12" name="Rectangle 12"/>
                <p:cNvSpPr/>
                <p:nvPr/>
              </p:nvSpPr>
              <p:spPr>
                <a:xfrm>
                  <a:off x="571500" y="2609850"/>
                  <a:ext cx="3429000" cy="152400"/>
                </a:xfrm>
                <a:prstGeom prst="rect">
                  <a:avLst/>
                </a:pr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2500" y="2381250"/>
                  <a:ext cx="1905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42875">
                      <a:moveTo>
                        <a:pt x="0" y="0"/>
                      </a:moveTo>
                      <a:lnTo>
                        <a:pt x="95250" y="142875"/>
                      </a:lnTo>
                      <a:lnTo>
                        <a:pt x="190500" y="0"/>
                      </a:lnTo>
                      <a:moveTo>
                        <a:pt x="47625" y="76200"/>
                      </a:moveTo>
                      <a:lnTo>
                        <a:pt x="142875" y="76200"/>
                      </a:lnTo>
                    </a:path>
                  </a:pathLst>
                </a:custGeom>
                <a:noFill/>
                <a:ln w="23812" cap="rnd">
                  <a:solidFill>
                    <a:srgbClr val="B7F36B"/>
                  </a:solidFill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326642" y="23117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9FBF6"/>
                      </a:solidFill>
                      <a:latin typeface="Segoe UI"/>
                      <a:ea typeface="Microsoft YaHei"/>
                      <a:cs typeface="Segoe UI"/>
                    </a:rPr>
                    <a:t>信贷审批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95147" y="3037999"/>
                  <a:ext cx="236604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rgbClr val="101418">
                          <a:alphaMod val="8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跨国银行将合规审查嵌入多步Agent回路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95338" y="3435191"/>
                  <a:ext cx="78695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端到端审批周期</a:t>
                  </a:r>
                </a:p>
              </p:txBody>
            </p:sp>
            <p:grpSp>
              <p:nvGrpSpPr>
                <p:cNvPr id="19" name="Group 19"/>
                <p:cNvGrpSpPr/>
                <p:nvPr/>
              </p:nvGrpSpPr>
              <p:grpSpPr>
                <a:xfrm>
                  <a:off x="800100" y="3667125"/>
                  <a:ext cx="666750" cy="342900"/>
                  <a:chOff x="800100" y="3667125"/>
                  <a:chExt cx="666750" cy="342900"/>
                </a:xfrm>
              </p:grpSpPr>
              <p:sp>
                <p:nvSpPr>
                  <p:cNvPr id="17" name="Freeform 17"/>
                  <p:cNvSpPr/>
                  <p:nvPr/>
                </p:nvSpPr>
                <p:spPr>
                  <a:xfrm>
                    <a:off x="800100" y="3667125"/>
                    <a:ext cx="66675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750" h="342900">
                        <a:moveTo>
                          <a:pt x="38100" y="0"/>
                        </a:moveTo>
                        <a:lnTo>
                          <a:pt x="628650" y="0"/>
                        </a:lnTo>
                        <a:cubicBezTo>
                          <a:pt x="649692" y="0"/>
                          <a:pt x="666750" y="17058"/>
                          <a:pt x="666750" y="38100"/>
                        </a:cubicBezTo>
                        <a:lnTo>
                          <a:pt x="666750" y="304800"/>
                        </a:lnTo>
                        <a:cubicBezTo>
                          <a:pt x="666750" y="325842"/>
                          <a:pt x="649692" y="342900"/>
                          <a:pt x="62865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018594" y="3782378"/>
                    <a:ext cx="22976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50" dirty="0">
                        <a:solidFill>
                          <a:srgbClr val="101418">
                            <a:alphaMod val="50000"/>
                          </a:srgbClr>
                        </a:solidFill>
                        <a:latin typeface="Segoe UI"/>
                        <a:ea typeface="Microsoft YaHei"/>
                        <a:cs typeface="Segoe UI"/>
                      </a:rPr>
                      <a:t>5天</a:t>
                    </a:r>
                  </a:p>
                </p:txBody>
              </p:sp>
            </p:grpSp>
            <p:grpSp>
              <p:nvGrpSpPr>
                <p:cNvPr id="22" name="Group 22"/>
                <p:cNvGrpSpPr/>
                <p:nvPr/>
              </p:nvGrpSpPr>
              <p:grpSpPr>
                <a:xfrm>
                  <a:off x="1562100" y="3667125"/>
                  <a:ext cx="952500" cy="342900"/>
                  <a:chOff x="1562100" y="3667125"/>
                  <a:chExt cx="952500" cy="342900"/>
                </a:xfrm>
              </p:grpSpPr>
              <p:sp>
                <p:nvSpPr>
                  <p:cNvPr id="20" name="Freeform 20"/>
                  <p:cNvSpPr/>
                  <p:nvPr/>
                </p:nvSpPr>
                <p:spPr>
                  <a:xfrm>
                    <a:off x="1562100" y="3667125"/>
                    <a:ext cx="95250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0" h="342900">
                        <a:moveTo>
                          <a:pt x="38100" y="0"/>
                        </a:moveTo>
                        <a:lnTo>
                          <a:pt x="914400" y="0"/>
                        </a:lnTo>
                        <a:cubicBezTo>
                          <a:pt x="935442" y="0"/>
                          <a:pt x="952500" y="17058"/>
                          <a:pt x="952500" y="38100"/>
                        </a:cubicBezTo>
                        <a:lnTo>
                          <a:pt x="952500" y="304800"/>
                        </a:lnTo>
                        <a:cubicBezTo>
                          <a:pt x="952500" y="325842"/>
                          <a:pt x="935442" y="342900"/>
                          <a:pt x="91440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7F36B"/>
                      </a:gs>
                      <a:gs pos="100000">
                        <a:srgbClr val="9DD855"/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1843782" y="3782378"/>
                    <a:ext cx="389135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50" b="1" dirty="0">
                        <a:solidFill>
                          <a:srgbClr val="101418"/>
                        </a:solidFill>
                        <a:latin typeface="Segoe UI"/>
                        <a:ea typeface="Microsoft YaHei"/>
                        <a:cs typeface="Segoe UI"/>
                      </a:rPr>
                      <a:t>4小时</a:t>
                    </a:r>
                  </a:p>
                </p:txBody>
              </p:sp>
            </p:grpSp>
            <p:sp>
              <p:nvSpPr>
                <p:cNvPr id="23" name="TextBox 23"/>
                <p:cNvSpPr txBox="1"/>
                <p:nvPr/>
              </p:nvSpPr>
              <p:spPr>
                <a:xfrm>
                  <a:off x="795338" y="4197191"/>
                  <a:ext cx="564832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错误拦截率</a:t>
                  </a:r>
                </a:p>
              </p:txBody>
            </p:sp>
            <p:grpSp>
              <p:nvGrpSpPr>
                <p:cNvPr id="27" name="Group 27"/>
                <p:cNvGrpSpPr/>
                <p:nvPr/>
              </p:nvGrpSpPr>
              <p:grpSpPr>
                <a:xfrm>
                  <a:off x="800100" y="4476750"/>
                  <a:ext cx="2971800" cy="457200"/>
                  <a:chOff x="800100" y="4476750"/>
                  <a:chExt cx="2971800" cy="457200"/>
                </a:xfrm>
              </p:grpSpPr>
              <p:sp>
                <p:nvSpPr>
                  <p:cNvPr id="24" name="Freeform 24"/>
                  <p:cNvSpPr/>
                  <p:nvPr/>
                </p:nvSpPr>
                <p:spPr>
                  <a:xfrm>
                    <a:off x="800100" y="4476750"/>
                    <a:ext cx="2971800" cy="45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00" h="457200">
                        <a:moveTo>
                          <a:pt x="57150" y="0"/>
                        </a:moveTo>
                        <a:lnTo>
                          <a:pt x="2914650" y="0"/>
                        </a:lnTo>
                        <a:cubicBezTo>
                          <a:pt x="2946213" y="0"/>
                          <a:pt x="2971800" y="25587"/>
                          <a:pt x="2971800" y="57150"/>
                        </a:cubicBezTo>
                        <a:lnTo>
                          <a:pt x="2971800" y="400050"/>
                        </a:lnTo>
                        <a:cubicBezTo>
                          <a:pt x="2971800" y="431613"/>
                          <a:pt x="2946213" y="457200"/>
                          <a:pt x="2914650" y="457200"/>
                        </a:cubicBezTo>
                        <a:lnTo>
                          <a:pt x="57150" y="457200"/>
                        </a:lnTo>
                        <a:cubicBezTo>
                          <a:pt x="25587" y="457200"/>
                          <a:pt x="0" y="431613"/>
                          <a:pt x="0" y="4000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38200" y="4514850"/>
                    <a:ext cx="2819400" cy="381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9400" h="381000">
                        <a:moveTo>
                          <a:pt x="38100" y="0"/>
                        </a:moveTo>
                        <a:lnTo>
                          <a:pt x="2781300" y="0"/>
                        </a:lnTo>
                        <a:cubicBezTo>
                          <a:pt x="2802342" y="0"/>
                          <a:pt x="2819400" y="17058"/>
                          <a:pt x="2819400" y="38100"/>
                        </a:cubicBezTo>
                        <a:lnTo>
                          <a:pt x="2819400" y="342900"/>
                        </a:lnTo>
                        <a:cubicBezTo>
                          <a:pt x="2819400" y="363942"/>
                          <a:pt x="2802342" y="381000"/>
                          <a:pt x="2781300" y="381000"/>
                        </a:cubicBezTo>
                        <a:lnTo>
                          <a:pt x="38100" y="381000"/>
                        </a:lnTo>
                        <a:cubicBezTo>
                          <a:pt x="17058" y="381000"/>
                          <a:pt x="0" y="363942"/>
                          <a:pt x="0" y="3429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B7F36B"/>
                  </a:solidFill>
                  <a:ln>
                    <a:noFill/>
                  </a:ln>
                </p:spPr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2003741" y="4600575"/>
                    <a:ext cx="640718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rgbClr val="101418"/>
                        </a:solidFill>
                        <a:latin typeface="Segoe UI"/>
                        <a:ea typeface="Segoe UI"/>
                        <a:cs typeface="Segoe UI"/>
                      </a:rPr>
                      <a:t>99.2%</a:t>
                    </a:r>
                  </a:p>
                </p:txBody>
              </p:sp>
            </p:grpSp>
            <p:sp>
              <p:nvSpPr>
                <p:cNvPr id="28" name="Rectangle 28"/>
                <p:cNvSpPr/>
                <p:nvPr/>
              </p:nvSpPr>
              <p:spPr>
                <a:xfrm>
                  <a:off x="800100" y="5143500"/>
                  <a:ext cx="2971800" cy="19050"/>
                </a:xfrm>
                <a:prstGeom prst="rect">
                  <a:avLst/>
                </a:prstGeom>
                <a:solidFill>
                  <a:srgbClr val="CED8C2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95338" y="5284470"/>
                  <a:ext cx="99090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01418">
                          <a:alphaMod val="7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↑ 98.8% 效率提升</a:t>
                  </a: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4381500" y="2000250"/>
                <a:ext cx="3429000" cy="3619500"/>
                <a:chOff x="4381500" y="2000250"/>
                <a:chExt cx="3429000" cy="36195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381500" y="2000250"/>
                  <a:ext cx="3429000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36195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3543300"/>
                      </a:lnTo>
                      <a:cubicBezTo>
                        <a:pt x="3429000" y="3585384"/>
                        <a:pt x="3394884" y="3619500"/>
                        <a:pt x="3352800" y="3619500"/>
                      </a:cubicBezTo>
                      <a:lnTo>
                        <a:pt x="76200" y="3619500"/>
                      </a:lnTo>
                      <a:cubicBezTo>
                        <a:pt x="34116" y="3619500"/>
                        <a:pt x="0" y="3585384"/>
                        <a:pt x="0" y="3543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F9FBF6"/>
                </a:solidFill>
                <a:ln w="9525">
                  <a:solidFill>
                    <a:srgbClr val="CED8C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81500" y="2000250"/>
                  <a:ext cx="3429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685800"/>
                      </a:lnTo>
                      <a:cubicBezTo>
                        <a:pt x="3429000" y="727884"/>
                        <a:pt x="3394884" y="762000"/>
                        <a:pt x="3352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4381500" y="2609850"/>
                  <a:ext cx="3429000" cy="152400"/>
                </a:xfrm>
                <a:prstGeom prst="rect">
                  <a:avLst/>
                </a:pr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62500" y="2286000"/>
                  <a:ext cx="1905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66700">
                      <a:moveTo>
                        <a:pt x="0" y="0"/>
                      </a:moveTo>
                      <a:lnTo>
                        <a:pt x="0" y="190500"/>
                      </a:lnTo>
                      <a:lnTo>
                        <a:pt x="95250" y="266700"/>
                      </a:lnTo>
                      <a:lnTo>
                        <a:pt x="190500" y="190500"/>
                      </a:lnTo>
                      <a:lnTo>
                        <a:pt x="190500" y="0"/>
                      </a:lnTo>
                      <a:close/>
                    </a:path>
                  </a:pathLst>
                </a:custGeom>
                <a:noFill/>
                <a:ln w="23812">
                  <a:solidFill>
                    <a:srgbClr val="B7F36B"/>
                  </a:solidFill>
                  <a:round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136642" y="23117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9FBF6"/>
                      </a:solidFill>
                      <a:latin typeface="Segoe UI"/>
                      <a:ea typeface="Microsoft YaHei"/>
                      <a:cs typeface="Segoe UI"/>
                    </a:rPr>
                    <a:t>索赔处理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605147" y="3037999"/>
                  <a:ext cx="30287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rgbClr val="101418">
                          <a:alphaMod val="8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保险公司在分诊－核损－赔付链路中引入工具记忆体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605338" y="3435191"/>
                  <a:ext cx="564832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首次通过率</a:t>
                  </a:r>
                </a:p>
              </p:txBody>
            </p:sp>
            <p:grpSp>
              <p:nvGrpSpPr>
                <p:cNvPr id="40" name="Group 40"/>
                <p:cNvGrpSpPr/>
                <p:nvPr/>
              </p:nvGrpSpPr>
              <p:grpSpPr>
                <a:xfrm>
                  <a:off x="4610100" y="3667125"/>
                  <a:ext cx="571500" cy="342900"/>
                  <a:chOff x="4610100" y="3667125"/>
                  <a:chExt cx="571500" cy="342900"/>
                </a:xfrm>
              </p:grpSpPr>
              <p:sp>
                <p:nvSpPr>
                  <p:cNvPr id="38" name="Freeform 38"/>
                  <p:cNvSpPr/>
                  <p:nvPr/>
                </p:nvSpPr>
                <p:spPr>
                  <a:xfrm>
                    <a:off x="4610100" y="3667125"/>
                    <a:ext cx="57150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0" h="342900">
                        <a:moveTo>
                          <a:pt x="38100" y="0"/>
                        </a:moveTo>
                        <a:lnTo>
                          <a:pt x="533400" y="0"/>
                        </a:lnTo>
                        <a:cubicBezTo>
                          <a:pt x="554442" y="0"/>
                          <a:pt x="571500" y="17058"/>
                          <a:pt x="571500" y="38100"/>
                        </a:cubicBezTo>
                        <a:lnTo>
                          <a:pt x="571500" y="304800"/>
                        </a:lnTo>
                        <a:cubicBezTo>
                          <a:pt x="571500" y="325842"/>
                          <a:pt x="554442" y="342900"/>
                          <a:pt x="53340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4759766" y="3782378"/>
                    <a:ext cx="272167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050" dirty="0">
                        <a:solidFill>
                          <a:srgbClr val="101418">
                            <a:alphaMod val="50000"/>
                          </a:srgbClr>
                        </a:solidFill>
                        <a:latin typeface="Segoe UI"/>
                        <a:ea typeface="Segoe UI"/>
                        <a:cs typeface="Segoe UI"/>
                      </a:rPr>
                      <a:t>47%</a:t>
                    </a:r>
                  </a:p>
                </p:txBody>
              </p:sp>
            </p:grpSp>
            <p:grpSp>
              <p:nvGrpSpPr>
                <p:cNvPr id="43" name="Group 43"/>
                <p:cNvGrpSpPr/>
                <p:nvPr/>
              </p:nvGrpSpPr>
              <p:grpSpPr>
                <a:xfrm>
                  <a:off x="5276850" y="3667125"/>
                  <a:ext cx="1047750" cy="342900"/>
                  <a:chOff x="5276850" y="3667125"/>
                  <a:chExt cx="1047750" cy="342900"/>
                </a:xfrm>
              </p:grpSpPr>
              <p:sp>
                <p:nvSpPr>
                  <p:cNvPr id="41" name="Freeform 41"/>
                  <p:cNvSpPr/>
                  <p:nvPr/>
                </p:nvSpPr>
                <p:spPr>
                  <a:xfrm>
                    <a:off x="5276850" y="3667125"/>
                    <a:ext cx="104775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7750" h="342900">
                        <a:moveTo>
                          <a:pt x="38100" y="0"/>
                        </a:moveTo>
                        <a:lnTo>
                          <a:pt x="1009650" y="0"/>
                        </a:lnTo>
                        <a:cubicBezTo>
                          <a:pt x="1030692" y="0"/>
                          <a:pt x="1047750" y="17058"/>
                          <a:pt x="1047750" y="38100"/>
                        </a:cubicBezTo>
                        <a:lnTo>
                          <a:pt x="1047750" y="304800"/>
                        </a:lnTo>
                        <a:cubicBezTo>
                          <a:pt x="1047750" y="325842"/>
                          <a:pt x="1030692" y="342900"/>
                          <a:pt x="100965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7F36B"/>
                      </a:gs>
                      <a:gs pos="100000">
                        <a:srgbClr val="9DD855"/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5658104" y="3782378"/>
                    <a:ext cx="28524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050" b="1" dirty="0">
                        <a:solidFill>
                          <a:srgbClr val="101418"/>
                        </a:solidFill>
                        <a:latin typeface="Segoe UI"/>
                        <a:ea typeface="Segoe UI"/>
                        <a:cs typeface="Segoe UI"/>
                      </a:rPr>
                      <a:t>82%</a:t>
                    </a:r>
                  </a:p>
                </p:txBody>
              </p:sp>
            </p:grpSp>
            <p:sp>
              <p:nvSpPr>
                <p:cNvPr id="44" name="TextBox 44"/>
                <p:cNvSpPr txBox="1"/>
                <p:nvPr/>
              </p:nvSpPr>
              <p:spPr>
                <a:xfrm>
                  <a:off x="4605338" y="4197191"/>
                  <a:ext cx="675894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人工介入减少</a:t>
                  </a:r>
                </a:p>
              </p:txBody>
            </p:sp>
            <p:grpSp>
              <p:nvGrpSpPr>
                <p:cNvPr id="48" name="Group 48"/>
                <p:cNvGrpSpPr/>
                <p:nvPr/>
              </p:nvGrpSpPr>
              <p:grpSpPr>
                <a:xfrm>
                  <a:off x="4610100" y="4476750"/>
                  <a:ext cx="2971800" cy="457200"/>
                  <a:chOff x="4610100" y="4476750"/>
                  <a:chExt cx="2971800" cy="457200"/>
                </a:xfrm>
              </p:grpSpPr>
              <p:sp>
                <p:nvSpPr>
                  <p:cNvPr id="45" name="Freeform 45"/>
                  <p:cNvSpPr/>
                  <p:nvPr/>
                </p:nvSpPr>
                <p:spPr>
                  <a:xfrm>
                    <a:off x="4610100" y="4476750"/>
                    <a:ext cx="2971800" cy="45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00" h="457200">
                        <a:moveTo>
                          <a:pt x="57150" y="0"/>
                        </a:moveTo>
                        <a:lnTo>
                          <a:pt x="2914650" y="0"/>
                        </a:lnTo>
                        <a:cubicBezTo>
                          <a:pt x="2946213" y="0"/>
                          <a:pt x="2971800" y="25587"/>
                          <a:pt x="2971800" y="57150"/>
                        </a:cubicBezTo>
                        <a:lnTo>
                          <a:pt x="2971800" y="400050"/>
                        </a:lnTo>
                        <a:cubicBezTo>
                          <a:pt x="2971800" y="431613"/>
                          <a:pt x="2946213" y="457200"/>
                          <a:pt x="2914650" y="457200"/>
                        </a:cubicBezTo>
                        <a:lnTo>
                          <a:pt x="57150" y="457200"/>
                        </a:lnTo>
                        <a:cubicBezTo>
                          <a:pt x="25587" y="457200"/>
                          <a:pt x="0" y="431613"/>
                          <a:pt x="0" y="4000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46" name="Freeform 46"/>
                  <p:cNvSpPr/>
                  <p:nvPr/>
                </p:nvSpPr>
                <p:spPr>
                  <a:xfrm>
                    <a:off x="4648200" y="4514850"/>
                    <a:ext cx="1781175" cy="381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1175" h="381000">
                        <a:moveTo>
                          <a:pt x="38100" y="0"/>
                        </a:moveTo>
                        <a:lnTo>
                          <a:pt x="1743075" y="0"/>
                        </a:lnTo>
                        <a:cubicBezTo>
                          <a:pt x="1764117" y="0"/>
                          <a:pt x="1781175" y="17058"/>
                          <a:pt x="1781175" y="38100"/>
                        </a:cubicBezTo>
                        <a:lnTo>
                          <a:pt x="1781175" y="342900"/>
                        </a:lnTo>
                        <a:cubicBezTo>
                          <a:pt x="1781175" y="363942"/>
                          <a:pt x="1764117" y="381000"/>
                          <a:pt x="1743075" y="381000"/>
                        </a:cubicBezTo>
                        <a:lnTo>
                          <a:pt x="38100" y="381000"/>
                        </a:lnTo>
                        <a:cubicBezTo>
                          <a:pt x="17058" y="381000"/>
                          <a:pt x="0" y="363942"/>
                          <a:pt x="0" y="3429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B7F36B"/>
                  </a:solidFill>
                  <a:ln>
                    <a:noFill/>
                  </a:ln>
                </p:spPr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5358855" y="4600575"/>
                    <a:ext cx="40748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rgbClr val="101418"/>
                        </a:solidFill>
                        <a:latin typeface="Segoe UI"/>
                        <a:ea typeface="Segoe UI"/>
                        <a:cs typeface="Segoe UI"/>
                      </a:rPr>
                      <a:t>60%</a:t>
                    </a:r>
                  </a:p>
                </p:txBody>
              </p:sp>
            </p:grpSp>
            <p:sp>
              <p:nvSpPr>
                <p:cNvPr id="49" name="Rectangle 49"/>
                <p:cNvSpPr/>
                <p:nvPr/>
              </p:nvSpPr>
              <p:spPr>
                <a:xfrm>
                  <a:off x="4610100" y="5143500"/>
                  <a:ext cx="2971800" cy="19050"/>
                </a:xfrm>
                <a:prstGeom prst="rect">
                  <a:avLst/>
                </a:prstGeom>
                <a:solidFill>
                  <a:srgbClr val="CED8C2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4605338" y="5284470"/>
                  <a:ext cx="97878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01418">
                          <a:alphaMod val="7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↑ 35% 通过率增长</a:t>
                  </a:r>
                </a:p>
              </p:txBody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8191500" y="2000250"/>
                <a:ext cx="3429000" cy="3650932"/>
                <a:chOff x="8191500" y="2000250"/>
                <a:chExt cx="3429000" cy="3650932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191500" y="2000250"/>
                  <a:ext cx="3429000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36195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3543300"/>
                      </a:lnTo>
                      <a:cubicBezTo>
                        <a:pt x="3429000" y="3585384"/>
                        <a:pt x="3394884" y="3619500"/>
                        <a:pt x="3352800" y="3619500"/>
                      </a:cubicBezTo>
                      <a:lnTo>
                        <a:pt x="76200" y="3619500"/>
                      </a:lnTo>
                      <a:cubicBezTo>
                        <a:pt x="34116" y="3619500"/>
                        <a:pt x="0" y="3585384"/>
                        <a:pt x="0" y="35433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F9FBF6"/>
                </a:solidFill>
                <a:ln w="9525">
                  <a:solidFill>
                    <a:srgbClr val="CED8C2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191500" y="2000250"/>
                  <a:ext cx="3429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685800"/>
                      </a:lnTo>
                      <a:cubicBezTo>
                        <a:pt x="3429000" y="727884"/>
                        <a:pt x="3394884" y="762000"/>
                        <a:pt x="3352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54" name="Rectangle 54"/>
                <p:cNvSpPr/>
                <p:nvPr/>
              </p:nvSpPr>
              <p:spPr>
                <a:xfrm>
                  <a:off x="8191500" y="2609850"/>
                  <a:ext cx="3429000" cy="152400"/>
                </a:xfrm>
                <a:prstGeom prst="rect">
                  <a:avLst/>
                </a:prstGeom>
                <a:solidFill>
                  <a:srgbClr val="101418"/>
                </a:solidFill>
                <a:ln>
                  <a:noFill/>
                </a:ln>
              </p:spPr>
            </p:sp>
            <p:sp>
              <p:nvSpPr>
                <p:cNvPr id="55" name="Ellipse 55"/>
                <p:cNvSpPr/>
                <p:nvPr/>
              </p:nvSpPr>
              <p:spPr>
                <a:xfrm>
                  <a:off x="8553450" y="2266950"/>
                  <a:ext cx="228600" cy="228600"/>
                </a:xfrm>
                <a:prstGeom prst="ellipse">
                  <a:avLst/>
                </a:prstGeom>
                <a:noFill/>
                <a:ln w="23812">
                  <a:solidFill>
                    <a:srgbClr val="B7F36B"/>
                  </a:solidFill>
                </a:ln>
              </p:spPr>
            </p:sp>
            <p:sp>
              <p:nvSpPr>
                <p:cNvPr id="56" name="Ellipse 56"/>
                <p:cNvSpPr/>
                <p:nvPr/>
              </p:nvSpPr>
              <p:spPr>
                <a:xfrm>
                  <a:off x="8620125" y="2333625"/>
                  <a:ext cx="95250" cy="95250"/>
                </a:xfrm>
                <a:prstGeom prst="ellipse">
                  <a:avLst/>
                </a:prstGeom>
                <a:noFill/>
                <a:ln w="19050">
                  <a:solidFill>
                    <a:srgbClr val="B7F36B"/>
                  </a:solidFill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946642" y="23117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9FBF6"/>
                      </a:solidFill>
                      <a:latin typeface="Segoe UI"/>
                      <a:ea typeface="Microsoft YaHei"/>
                      <a:cs typeface="Segoe UI"/>
                    </a:rPr>
                    <a:t>设备维护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415147" y="3037999"/>
                  <a:ext cx="263499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rgbClr val="101418">
                          <a:alphaMod val="8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制造商将故障代码诊断拆解为感知与推理环节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415338" y="3435191"/>
                  <a:ext cx="1897570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现场工程师获得逐步可溯源的维修指令</a:t>
                  </a:r>
                </a:p>
              </p:txBody>
            </p:sp>
            <p:grpSp>
              <p:nvGrpSpPr>
                <p:cNvPr id="62" name="Group 62"/>
                <p:cNvGrpSpPr/>
                <p:nvPr/>
              </p:nvGrpSpPr>
              <p:grpSpPr>
                <a:xfrm>
                  <a:off x="8420100" y="3857625"/>
                  <a:ext cx="952500" cy="342900"/>
                  <a:chOff x="8420100" y="3857625"/>
                  <a:chExt cx="952500" cy="342900"/>
                </a:xfrm>
              </p:grpSpPr>
              <p:sp>
                <p:nvSpPr>
                  <p:cNvPr id="60" name="Freeform 60"/>
                  <p:cNvSpPr/>
                  <p:nvPr/>
                </p:nvSpPr>
                <p:spPr>
                  <a:xfrm>
                    <a:off x="8420100" y="3857625"/>
                    <a:ext cx="95250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0" h="342900">
                        <a:moveTo>
                          <a:pt x="38100" y="0"/>
                        </a:moveTo>
                        <a:lnTo>
                          <a:pt x="914400" y="0"/>
                        </a:lnTo>
                        <a:cubicBezTo>
                          <a:pt x="935442" y="0"/>
                          <a:pt x="952500" y="17058"/>
                          <a:pt x="952500" y="38100"/>
                        </a:cubicBezTo>
                        <a:lnTo>
                          <a:pt x="952500" y="304800"/>
                        </a:lnTo>
                        <a:cubicBezTo>
                          <a:pt x="952500" y="325842"/>
                          <a:pt x="935442" y="342900"/>
                          <a:pt x="91440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8608314" y="3972878"/>
                    <a:ext cx="576072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50" dirty="0">
                        <a:solidFill>
                          <a:srgbClr val="101418">
                            <a:alphaMod val="50000"/>
                          </a:srgbClr>
                        </a:solidFill>
                        <a:latin typeface="Segoe UI"/>
                        <a:ea typeface="Microsoft YaHei"/>
                        <a:cs typeface="Segoe UI"/>
                      </a:rPr>
                      <a:t>传统方式</a:t>
                    </a:r>
                  </a:p>
                </p:txBody>
              </p:sp>
            </p:grpSp>
            <p:grpSp>
              <p:nvGrpSpPr>
                <p:cNvPr id="65" name="Group 65"/>
                <p:cNvGrpSpPr/>
                <p:nvPr/>
              </p:nvGrpSpPr>
              <p:grpSpPr>
                <a:xfrm>
                  <a:off x="9467850" y="3857625"/>
                  <a:ext cx="1924050" cy="342900"/>
                  <a:chOff x="9467850" y="3857625"/>
                  <a:chExt cx="1924050" cy="342900"/>
                </a:xfrm>
              </p:grpSpPr>
              <p:sp>
                <p:nvSpPr>
                  <p:cNvPr id="63" name="Freeform 63"/>
                  <p:cNvSpPr/>
                  <p:nvPr/>
                </p:nvSpPr>
                <p:spPr>
                  <a:xfrm>
                    <a:off x="9467850" y="3857625"/>
                    <a:ext cx="1924050" cy="3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24050" h="342900">
                        <a:moveTo>
                          <a:pt x="38100" y="0"/>
                        </a:moveTo>
                        <a:lnTo>
                          <a:pt x="1885950" y="0"/>
                        </a:lnTo>
                        <a:cubicBezTo>
                          <a:pt x="1906992" y="0"/>
                          <a:pt x="1924050" y="17058"/>
                          <a:pt x="1924050" y="38100"/>
                        </a:cubicBezTo>
                        <a:lnTo>
                          <a:pt x="1924050" y="304800"/>
                        </a:lnTo>
                        <a:cubicBezTo>
                          <a:pt x="1924050" y="325842"/>
                          <a:pt x="1906992" y="342900"/>
                          <a:pt x="1885950" y="342900"/>
                        </a:cubicBezTo>
                        <a:lnTo>
                          <a:pt x="38100" y="342900"/>
                        </a:lnTo>
                        <a:cubicBezTo>
                          <a:pt x="17058" y="342900"/>
                          <a:pt x="0" y="325842"/>
                          <a:pt x="0" y="3048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7F36B"/>
                      </a:gs>
                      <a:gs pos="100000">
                        <a:srgbClr val="9DD855"/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9979285" y="3972878"/>
                    <a:ext cx="901179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50" b="1" dirty="0">
                        <a:solidFill>
                          <a:srgbClr val="101418"/>
                        </a:solidFill>
                        <a:latin typeface="Segoe UI"/>
                        <a:ea typeface="Microsoft YaHei"/>
                        <a:cs typeface="Segoe UI"/>
                      </a:rPr>
                      <a:t>可溯源推理链</a:t>
                    </a:r>
                  </a:p>
                </p:txBody>
              </p:sp>
            </p:grpSp>
            <p:sp>
              <p:nvSpPr>
                <p:cNvPr id="66" name="TextBox 66"/>
                <p:cNvSpPr txBox="1"/>
                <p:nvPr/>
              </p:nvSpPr>
              <p:spPr>
                <a:xfrm>
                  <a:off x="8415338" y="4387691"/>
                  <a:ext cx="675894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01418">
                          <a:alphaMod val="6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平均修复时间</a:t>
                  </a:r>
                </a:p>
              </p:txBody>
            </p:sp>
            <p:grpSp>
              <p:nvGrpSpPr>
                <p:cNvPr id="70" name="Group 70"/>
                <p:cNvGrpSpPr/>
                <p:nvPr/>
              </p:nvGrpSpPr>
              <p:grpSpPr>
                <a:xfrm>
                  <a:off x="8420100" y="4667250"/>
                  <a:ext cx="2971800" cy="457200"/>
                  <a:chOff x="8420100" y="4667250"/>
                  <a:chExt cx="2971800" cy="457200"/>
                </a:xfrm>
              </p:grpSpPr>
              <p:sp>
                <p:nvSpPr>
                  <p:cNvPr id="67" name="Freeform 67"/>
                  <p:cNvSpPr/>
                  <p:nvPr/>
                </p:nvSpPr>
                <p:spPr>
                  <a:xfrm>
                    <a:off x="8420100" y="4667250"/>
                    <a:ext cx="2971800" cy="45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1800" h="457200">
                        <a:moveTo>
                          <a:pt x="57150" y="0"/>
                        </a:moveTo>
                        <a:lnTo>
                          <a:pt x="2914650" y="0"/>
                        </a:lnTo>
                        <a:cubicBezTo>
                          <a:pt x="2946213" y="0"/>
                          <a:pt x="2971800" y="25587"/>
                          <a:pt x="2971800" y="57150"/>
                        </a:cubicBezTo>
                        <a:lnTo>
                          <a:pt x="2971800" y="400050"/>
                        </a:lnTo>
                        <a:cubicBezTo>
                          <a:pt x="2971800" y="431613"/>
                          <a:pt x="2946213" y="457200"/>
                          <a:pt x="2914650" y="457200"/>
                        </a:cubicBezTo>
                        <a:lnTo>
                          <a:pt x="57150" y="457200"/>
                        </a:lnTo>
                        <a:cubicBezTo>
                          <a:pt x="25587" y="457200"/>
                          <a:pt x="0" y="431613"/>
                          <a:pt x="0" y="400050"/>
                        </a:cubicBezTo>
                        <a:lnTo>
                          <a:pt x="0" y="57150"/>
                        </a:lnTo>
                        <a:cubicBezTo>
                          <a:pt x="0" y="25587"/>
                          <a:pt x="25587" y="0"/>
                          <a:pt x="57150" y="0"/>
                        </a:cubicBezTo>
                        <a:close/>
                      </a:path>
                    </a:pathLst>
                  </a:custGeom>
                  <a:solidFill>
                    <a:srgbClr val="EEF2EC"/>
                  </a:solidFill>
                  <a:ln>
                    <a:noFill/>
                  </a:ln>
                </p:spPr>
              </p:sp>
              <p:sp>
                <p:nvSpPr>
                  <p:cNvPr id="68" name="Freeform 68"/>
                  <p:cNvSpPr/>
                  <p:nvPr/>
                </p:nvSpPr>
                <p:spPr>
                  <a:xfrm>
                    <a:off x="8458200" y="4705350"/>
                    <a:ext cx="1600200" cy="381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81000">
                        <a:moveTo>
                          <a:pt x="38100" y="0"/>
                        </a:moveTo>
                        <a:lnTo>
                          <a:pt x="1562100" y="0"/>
                        </a:lnTo>
                        <a:cubicBezTo>
                          <a:pt x="1583142" y="0"/>
                          <a:pt x="1600200" y="17058"/>
                          <a:pt x="1600200" y="38100"/>
                        </a:cubicBezTo>
                        <a:lnTo>
                          <a:pt x="1600200" y="342900"/>
                        </a:lnTo>
                        <a:cubicBezTo>
                          <a:pt x="1600200" y="363942"/>
                          <a:pt x="1583142" y="381000"/>
                          <a:pt x="1562100" y="381000"/>
                        </a:cubicBezTo>
                        <a:lnTo>
                          <a:pt x="38100" y="381000"/>
                        </a:lnTo>
                        <a:cubicBezTo>
                          <a:pt x="17058" y="381000"/>
                          <a:pt x="0" y="363942"/>
                          <a:pt x="0" y="3429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B7F36B"/>
                  </a:solidFill>
                  <a:ln>
                    <a:noFill/>
                  </a:ln>
                </p:spPr>
              </p:sp>
              <p:sp>
                <p:nvSpPr>
                  <p:cNvPr id="69" name="TextBox 69"/>
                  <p:cNvSpPr txBox="1"/>
                  <p:nvPr/>
                </p:nvSpPr>
                <p:spPr>
                  <a:xfrm>
                    <a:off x="8996248" y="4791075"/>
                    <a:ext cx="524104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rgbClr val="101418"/>
                        </a:solidFill>
                        <a:latin typeface="Segoe UI"/>
                        <a:ea typeface="Segoe UI"/>
                        <a:cs typeface="Segoe UI"/>
                      </a:rPr>
                      <a:t>-54%</a:t>
                    </a:r>
                  </a:p>
                </p:txBody>
              </p:sp>
            </p:grpSp>
            <p:sp>
              <p:nvSpPr>
                <p:cNvPr id="71" name="Rectangle 71"/>
                <p:cNvSpPr/>
                <p:nvPr/>
              </p:nvSpPr>
              <p:spPr>
                <a:xfrm>
                  <a:off x="8420100" y="5334000"/>
                  <a:ext cx="2971800" cy="19050"/>
                </a:xfrm>
                <a:prstGeom prst="rect">
                  <a:avLst/>
                </a:prstGeom>
                <a:solidFill>
                  <a:srgbClr val="CED8C2"/>
                </a:solidFill>
                <a:ln>
                  <a:noFill/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415338" y="5474970"/>
                  <a:ext cx="85763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01418">
                          <a:alphaMod val="70000"/>
                        </a:srgbClr>
                      </a:solidFill>
                      <a:latin typeface="Segoe UI"/>
                      <a:ea typeface="Microsoft YaHei"/>
                      <a:cs typeface="Segoe UI"/>
                    </a:rPr>
                    <a:t>↑ 54% 时间节省</a:t>
                  </a:r>
                </a:p>
              </p:txBody>
            </p:sp>
          </p:grpSp>
        </p:grpSp>
        <p:grpSp>
          <p:nvGrpSpPr>
            <p:cNvPr id="78" name="Group 78"/>
            <p:cNvGrpSpPr/>
            <p:nvPr/>
          </p:nvGrpSpPr>
          <p:grpSpPr>
            <a:xfrm>
              <a:off x="571500" y="5867400"/>
              <a:ext cx="11049000" cy="402907"/>
              <a:chOff x="571500" y="5867400"/>
              <a:chExt cx="11049000" cy="402907"/>
            </a:xfrm>
          </p:grpSpPr>
          <p:sp>
            <p:nvSpPr>
              <p:cNvPr id="75" name="Line 75"/>
              <p:cNvSpPr/>
              <p:nvPr/>
            </p:nvSpPr>
            <p:spPr>
              <a:xfrm>
                <a:off x="571500" y="5905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CED8C2"/>
                </a:solidFill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5962650" y="5867400"/>
                <a:ext cx="76200" cy="7620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941913" y="6094095"/>
                <a:ext cx="211767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01418">
                        <a:alphaMod val="6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30天实测 · 同一编排内核 · 全场景验证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381000" y="6477000"/>
            <a:ext cx="11430000" cy="190500"/>
            <a:chOff x="381000" y="6477000"/>
            <a:chExt cx="11430000" cy="190500"/>
          </a:xfrm>
        </p:grpSpPr>
        <p:sp>
          <p:nvSpPr>
            <p:cNvPr id="80" name="Freeform 80"/>
            <p:cNvSpPr/>
            <p:nvPr/>
          </p:nvSpPr>
          <p:spPr>
            <a:xfrm>
              <a:off x="116205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3810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E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838200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66166" y="266700"/>
            <a:ext cx="11016234" cy="339661"/>
            <a:chOff x="566166" y="266700"/>
            <a:chExt cx="11016234" cy="33966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7F36B"/>
                  </a:solidFill>
                  <a:latin typeface="Segoe UI"/>
                  <a:ea typeface="Microsoft YaHei"/>
                  <a:cs typeface="Segoe UI"/>
                </a:rPr>
                <a:t>推进序列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99666" y="401002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ED8C2"/>
                  </a:solidFill>
                  <a:latin typeface="Segoe UI"/>
                  <a:ea typeface="Segoe UI"/>
                  <a:cs typeface="Segoe UI"/>
                </a:rPr>
                <a:t>|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0166" y="401002"/>
              <a:ext cx="38693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ED8C2"/>
                  </a:solidFill>
                  <a:latin typeface="Segoe UI"/>
                  <a:ea typeface="Segoe UI"/>
                  <a:cs typeface="Segoe UI"/>
                </a:rPr>
                <a:t>Build a 6-slide enterprise AI workflow introduction deck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11277600" y="266700"/>
              <a:ext cx="304800" cy="3048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90253" y="3695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01418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7784" y="1156335"/>
            <a:ext cx="11062716" cy="4955476"/>
            <a:chOff x="557784" y="1156335"/>
            <a:chExt cx="11062716" cy="4955476"/>
          </a:xfrm>
        </p:grpSpPr>
        <p:sp>
          <p:nvSpPr>
            <p:cNvPr id="11" name="TextBox 11"/>
            <p:cNvSpPr txBox="1"/>
            <p:nvPr/>
          </p:nvSpPr>
          <p:spPr>
            <a:xfrm>
              <a:off x="557784" y="115633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01418"/>
                  </a:solidFill>
                  <a:latin typeface="Segoe UI"/>
                  <a:ea typeface="Microsoft YaHei"/>
                  <a:cs typeface="Segoe UI"/>
                </a:rPr>
                <a:t>两周内，让工作流跑起来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68306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418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我们交付的不是一套概念，而是一个立即可调试、可扩展、可集成的生产就绪框架。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190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28575">
              <a:solidFill>
                <a:srgbClr val="B7F36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71500" y="2952750"/>
              <a:ext cx="10096500" cy="1809750"/>
              <a:chOff x="571500" y="2952750"/>
              <a:chExt cx="10096500" cy="180975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1524000" y="45720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38100">
                <a:solidFill>
                  <a:srgbClr val="CED8C2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333500" y="4381500"/>
                <a:ext cx="381000" cy="381000"/>
              </a:xfrm>
              <a:prstGeom prst="ellipse">
                <a:avLst/>
              </a:prstGeom>
              <a:solidFill>
                <a:srgbClr val="B7F36B"/>
              </a:solidFill>
              <a:ln w="28575">
                <a:solidFill>
                  <a:srgbClr val="101418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71258" y="44900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01418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4953000" y="4381500"/>
                <a:ext cx="381000" cy="381000"/>
              </a:xfrm>
              <a:prstGeom prst="ellipse">
                <a:avLst/>
              </a:prstGeom>
              <a:solidFill>
                <a:srgbClr val="B7F36B"/>
              </a:solidFill>
              <a:ln w="28575">
                <a:solidFill>
                  <a:srgbClr val="101418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90758" y="44900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01418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572500" y="4381500"/>
                <a:ext cx="381000" cy="381000"/>
              </a:xfrm>
              <a:prstGeom prst="ellipse">
                <a:avLst/>
              </a:prstGeom>
              <a:solidFill>
                <a:srgbClr val="B7F36B"/>
              </a:solidFill>
              <a:ln w="28575">
                <a:solidFill>
                  <a:srgbClr val="10141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710258" y="44900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01418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524000" y="38100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CED8C2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5143500" y="38100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CED8C2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763000" y="38100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CED8C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71500" y="2952750"/>
                <a:ext cx="1905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762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685800"/>
                    </a:lnTo>
                    <a:cubicBezTo>
                      <a:pt x="1905000" y="727884"/>
                      <a:pt x="1870884" y="762000"/>
                      <a:pt x="1828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19050">
                <a:solidFill>
                  <a:srgbClr val="CED8C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347985" y="3172778"/>
                <a:ext cx="3520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本 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74992" y="3454241"/>
                <a:ext cx="89801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选定一条核心流程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63930" y="3606641"/>
                <a:ext cx="112014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完成感知层与工具注册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4191000" y="2952750"/>
                <a:ext cx="1905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762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685800"/>
                    </a:lnTo>
                    <a:cubicBezTo>
                      <a:pt x="1905000" y="727884"/>
                      <a:pt x="1870884" y="762000"/>
                      <a:pt x="1828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19050">
                <a:solidFill>
                  <a:srgbClr val="CED8C2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967485" y="3172778"/>
                <a:ext cx="3520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下 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94492" y="3454241"/>
                <a:ext cx="89801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部署编排器及人工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38961" y="3606641"/>
                <a:ext cx="1009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干预面板，真实测试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7810500" y="2952750"/>
                <a:ext cx="1905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762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685800"/>
                    </a:lnTo>
                    <a:cubicBezTo>
                      <a:pt x="1905000" y="727884"/>
                      <a:pt x="1870884" y="762000"/>
                      <a:pt x="1828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9FBF6"/>
              </a:solidFill>
              <a:ln w="19050">
                <a:solidFill>
                  <a:srgbClr val="CED8C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68432" y="3172778"/>
                <a:ext cx="3891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第3周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258461" y="3454241"/>
                <a:ext cx="1009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输出运行基线、异常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58461" y="3606641"/>
                <a:ext cx="1009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模式报告及扩展建议</a:t>
                </a:r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1714500" y="3810000"/>
                <a:ext cx="381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85750">
                    <a:moveTo>
                      <a:pt x="0" y="190500"/>
                    </a:moveTo>
                    <a:lnTo>
                      <a:pt x="95250" y="285750"/>
                    </a:ln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34000" y="3810000"/>
                <a:ext cx="381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85750">
                    <a:moveTo>
                      <a:pt x="0" y="190500"/>
                    </a:moveTo>
                    <a:lnTo>
                      <a:pt x="95250" y="285750"/>
                    </a:ln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B7F36B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5334000"/>
              <a:ext cx="3485007" cy="777811"/>
              <a:chOff x="571500" y="5334000"/>
              <a:chExt cx="3485007" cy="77781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71500" y="53340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9050" y="0"/>
                    </a:move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  <a:cubicBezTo>
                      <a:pt x="114300" y="105771"/>
                      <a:pt x="105771" y="114300"/>
                      <a:pt x="95250" y="114300"/>
                    </a:cubicBezTo>
                    <a:lnTo>
                      <a:pt x="19050" y="114300"/>
                    </a:lnTo>
                    <a:cubicBezTo>
                      <a:pt x="8529" y="114300"/>
                      <a:pt x="0" y="105771"/>
                      <a:pt x="0" y="952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94766" y="5334952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选定一条核心流程，完成感知层与工具注册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571500" y="5619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9050" y="0"/>
                    </a:move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  <a:cubicBezTo>
                      <a:pt x="114300" y="105771"/>
                      <a:pt x="105771" y="114300"/>
                      <a:pt x="95250" y="114300"/>
                    </a:cubicBezTo>
                    <a:lnTo>
                      <a:pt x="19050" y="114300"/>
                    </a:lnTo>
                    <a:cubicBezTo>
                      <a:pt x="8529" y="114300"/>
                      <a:pt x="0" y="105771"/>
                      <a:pt x="0" y="952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4766" y="5620702"/>
                <a:ext cx="32617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部署编排器及人工干预面板，开始真实数据回路测试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571500" y="59055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9050" y="0"/>
                    </a:move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  <a:cubicBezTo>
                      <a:pt x="114300" y="105771"/>
                      <a:pt x="105771" y="114300"/>
                      <a:pt x="95250" y="114300"/>
                    </a:cubicBezTo>
                    <a:lnTo>
                      <a:pt x="19050" y="114300"/>
                    </a:lnTo>
                    <a:cubicBezTo>
                      <a:pt x="8529" y="114300"/>
                      <a:pt x="0" y="105771"/>
                      <a:pt x="0" y="952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94766" y="5906452"/>
                <a:ext cx="2837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01418"/>
                    </a:solidFill>
                    <a:latin typeface="Segoe UI"/>
                    <a:ea typeface="Microsoft YaHei"/>
                    <a:cs typeface="Segoe UI"/>
                  </a:rPr>
                  <a:t>输出运行基线、异常模式报告及扩展场景建议</a:t>
                </a:r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6667500" y="15240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190500"/>
                  </a:moveTo>
                  <a:lnTo>
                    <a:pt x="381000" y="190500"/>
                  </a:lnTo>
                  <a:lnTo>
                    <a:pt x="381000" y="0"/>
                  </a:lnTo>
                  <a:lnTo>
                    <a:pt x="762000" y="285750"/>
                  </a:lnTo>
                  <a:lnTo>
                    <a:pt x="381000" y="571500"/>
                  </a:lnTo>
                  <a:lnTo>
                    <a:pt x="38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620000" y="1333500"/>
              <a:ext cx="4000500" cy="1333500"/>
              <a:chOff x="7620000" y="1333500"/>
              <a:chExt cx="4000500" cy="1333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620000" y="1333500"/>
                <a:ext cx="4000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1333500">
                    <a:moveTo>
                      <a:pt x="114300" y="0"/>
                    </a:moveTo>
                    <a:lnTo>
                      <a:pt x="3886200" y="0"/>
                    </a:lnTo>
                    <a:cubicBezTo>
                      <a:pt x="3949326" y="0"/>
                      <a:pt x="4000500" y="51174"/>
                      <a:pt x="4000500" y="114300"/>
                    </a:cubicBezTo>
                    <a:lnTo>
                      <a:pt x="4000500" y="1219200"/>
                    </a:lnTo>
                    <a:cubicBezTo>
                      <a:pt x="4000500" y="1282326"/>
                      <a:pt x="3949326" y="1333500"/>
                      <a:pt x="3886200" y="1333500"/>
                    </a:cubicBezTo>
                    <a:lnTo>
                      <a:pt x="114300" y="1333500"/>
                    </a:lnTo>
                    <a:cubicBezTo>
                      <a:pt x="51174" y="1333500"/>
                      <a:pt x="0" y="1282326"/>
                      <a:pt x="0" y="1219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101418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04404" y="1537335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7F36B"/>
                    </a:solidFill>
                    <a:latin typeface="Segoe UI"/>
                    <a:ea typeface="Microsoft YaHei"/>
                    <a:cs typeface="Segoe UI"/>
                  </a:rPr>
                  <a:t>生产就绪框架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7810500" y="1857375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9525">
                <a:solidFill>
                  <a:srgbClr val="B7F36B">
                    <a:alpha val="40000"/>
                  </a:srgbClr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7924800" y="2066925"/>
                <a:ext cx="152400" cy="15240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186547" y="2085499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9FBF6"/>
                    </a:solidFill>
                    <a:latin typeface="Segoe UI"/>
                    <a:ea typeface="Microsoft YaHei"/>
                    <a:cs typeface="Segoe UI"/>
                  </a:rPr>
                  <a:t>可调试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8877300" y="2066925"/>
                <a:ext cx="152400" cy="15240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139047" y="2085499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9FBF6"/>
                    </a:solidFill>
                    <a:latin typeface="Segoe UI"/>
                    <a:ea typeface="Microsoft YaHei"/>
                    <a:cs typeface="Segoe UI"/>
                  </a:rPr>
                  <a:t>可扩展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10020300" y="2066925"/>
                <a:ext cx="152400" cy="152400"/>
              </a:xfrm>
              <a:prstGeom prst="ellipse">
                <a:avLst/>
              </a:prstGeom>
              <a:solidFill>
                <a:srgbClr val="B7F36B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282047" y="2085499"/>
                <a:ext cx="40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9FBF6"/>
                    </a:solidFill>
                    <a:latin typeface="Segoe UI"/>
                    <a:ea typeface="Microsoft YaHei"/>
                    <a:cs typeface="Segoe UI"/>
                  </a:rPr>
                  <a:t>可集成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9768911" y="6586538"/>
            <a:ext cx="1475351" cy="147638"/>
            <a:chOff x="9768911" y="6586538"/>
            <a:chExt cx="1475351" cy="147638"/>
          </a:xfrm>
        </p:grpSpPr>
        <p:sp>
          <p:nvSpPr>
            <p:cNvPr id="58" name="TextBox 58"/>
            <p:cNvSpPr txBox="1"/>
            <p:nvPr/>
          </p:nvSpPr>
          <p:spPr>
            <a:xfrm>
              <a:off x="9768911" y="6586538"/>
              <a:ext cx="147535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CED8C2"/>
                  </a:solidFill>
                  <a:latin typeface="Segoe UI"/>
                  <a:ea typeface="Segoe UI"/>
                  <a:cs typeface="Segoe UI"/>
                </a:rPr>
                <a:t>sales-deck | Effective Agents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2026-07-09T11:12:17Z</dcterms:created>
  <dcterms:modified xsi:type="dcterms:W3CDTF">2026-07-09T11:12:17Z</dcterms:modified>
  <cp:category/>
  <cp:contentStatus/>
</cp:coreProperties>
</file>