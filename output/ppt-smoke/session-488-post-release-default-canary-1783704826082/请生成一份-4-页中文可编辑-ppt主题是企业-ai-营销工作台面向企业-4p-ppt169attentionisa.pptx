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智能营销中枢</a:t>
            </a:r>
          </a:p>
          <a:p>
            <a:endParaRPr lang="en-US" dirty="0"/>
          </a:p>
          <a:p>
            <a:r>
              <a:rPr lang="zh-CN" dirty="0"/>
              <a:t>为管理团队展示AI驱动的全渠道自动化营销SaaS方案，直击增长瓶颈。</a:t>
            </a:r>
          </a:p>
          <a:p>
            <a:endParaRPr lang="en-US" dirty="0"/>
          </a:p>
          <a:p>
            <a:r>
              <a:rPr lang="zh-CN" dirty="0"/>
              <a:t>• 智能营销中枢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五大决策议程</a:t>
            </a:r>
          </a:p>
          <a:p>
            <a:endParaRPr lang="en-US" dirty="0"/>
          </a:p>
          <a:p>
            <a:r>
              <a:rPr lang="zh-CN" dirty="0"/>
              <a:t>本页概览核心议题：现状、风险、全球影响与后续观察重点。</a:t>
            </a:r>
          </a:p>
          <a:p>
            <a:endParaRPr lang="en-US" dirty="0"/>
          </a:p>
          <a:p>
            <a:r>
              <a:rPr lang="zh-CN" dirty="0"/>
              <a:t>• 打通多源数据，构建单一客户视图</a:t>
            </a:r>
          </a:p>
          <a:p>
            <a:r>
              <a:rPr lang="zh-CN" dirty="0"/>
              <a:t>• 从历史报表到实时预测与建议</a:t>
            </a:r>
          </a:p>
          <a:p>
            <a:r>
              <a:rPr lang="zh-CN" dirty="0"/>
              <a:t>• 跨渠道旅程编排，释放人力</a:t>
            </a:r>
          </a:p>
          <a:p>
            <a:r>
              <a:rPr lang="zh-CN" dirty="0"/>
              <a:t>• 归因度量与自动优化，持续提升ROI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数据割裂，增长失速</a:t>
            </a:r>
          </a:p>
          <a:p>
            <a:endParaRPr lang="en-US" dirty="0"/>
          </a:p>
          <a:p>
            <a:r>
              <a:rPr lang="zh-CN" dirty="0"/>
              <a:t>传统营销堆栈因数据孤岛与人工流程，每年侵蚀超过20%的潜在增量。</a:t>
            </a:r>
          </a:p>
          <a:p>
            <a:endParaRPr lang="en-US" dirty="0"/>
          </a:p>
          <a:p>
            <a:r>
              <a:rPr lang="zh-CN" dirty="0"/>
              <a:t>• 平均决策延迟</a:t>
            </a:r>
          </a:p>
          <a:p>
            <a:r>
              <a:rPr lang="zh-CN" dirty="0"/>
              <a:t>• 人工执行错误率</a:t>
            </a:r>
          </a:p>
          <a:p>
            <a:r>
              <a:rPr lang="zh-CN" dirty="0"/>
              <a:t>• AI活动创建提速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下一步：90天落地路径</a:t>
            </a:r>
          </a:p>
          <a:p>
            <a:endParaRPr lang="en-US" dirty="0"/>
          </a:p>
          <a:p>
            <a:r>
              <a:rPr lang="zh-CN" dirty="0"/>
              <a:t>分三阶段快速验证价值，逐步扩展至全链路自动化营销。</a:t>
            </a:r>
          </a:p>
          <a:p>
            <a:endParaRPr lang="en-US" dirty="0"/>
          </a:p>
          <a:p>
            <a:r>
              <a:rPr lang="zh-CN" dirty="0"/>
              <a:t>• 数据基础整合：接入核心渠道，部署统一客户数据平台（CDP），准备AI模型训练环境</a:t>
            </a:r>
          </a:p>
          <a:p>
            <a:r>
              <a:rPr lang="zh-CN" dirty="0"/>
              <a:t>• AI决策试点：启动自动化受众定向与内容生成，跑通首轮AI营销活动，测量基线效果</a:t>
            </a:r>
          </a:p>
          <a:p>
            <a:r>
              <a:rPr lang="zh-CN" dirty="0"/>
              <a:t>• 全链路自动化：扩展跨渠道旅程编排，建立实时度量仪表盘，设置自动归因与优化规则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905750" y="0"/>
              <a:ext cx="428625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2000"/>
                  </a:schemeClr>
                </a:gs>
                <a:gs pos="100000">
                  <a:schemeClr val="lt2">
                    <a:alpha val="9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8191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2388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5785" y="392906"/>
            <a:ext cx="11040428" cy="6214110"/>
            <a:chOff x="565785" y="392906"/>
            <a:chExt cx="11040428" cy="6214110"/>
          </a:xfrm>
        </p:grpSpPr>
        <p:sp>
          <p:nvSpPr>
            <p:cNvPr id="8" name="TextBox 8"/>
            <p:cNvSpPr txBox="1"/>
            <p:nvPr/>
          </p:nvSpPr>
          <p:spPr>
            <a:xfrm>
              <a:off x="565785" y="392906"/>
              <a:ext cx="894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91440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738" y="6445091"/>
              <a:ext cx="18401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/ 产品发布场景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74520" y="64450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52450" y="1257300"/>
            <a:ext cx="10591800" cy="4191000"/>
            <a:chOff x="552450" y="1257300"/>
            <a:chExt cx="10591800" cy="4191000"/>
          </a:xfrm>
        </p:grpSpPr>
        <p:sp>
          <p:nvSpPr>
            <p:cNvPr id="13" name="TextBox 13"/>
            <p:cNvSpPr txBox="1"/>
            <p:nvPr/>
          </p:nvSpPr>
          <p:spPr>
            <a:xfrm>
              <a:off x="564642" y="1530668"/>
              <a:ext cx="3264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面向企业管理层的全渠道增长操作系统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2450" y="2040255"/>
              <a:ext cx="3116885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spc="75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智能营销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450" y="2783205"/>
              <a:ext cx="1572158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spc="75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中枢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1406" y="3596640"/>
              <a:ext cx="4998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为管理团队展示 AI 驱动的全渠道自动化营销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1406" y="3939540"/>
              <a:ext cx="31329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SaaS 方案，直击增长瓶颈。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334000" y="142875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762750" y="1257300"/>
              <a:ext cx="4381500" cy="4191000"/>
            </a:xfrm>
            <a:custGeom>
              <a:avLst/>
              <a:gdLst/>
              <a:ahLst/>
              <a:cxnLst/>
              <a:rect l="l" t="t" r="r" b="b"/>
              <a:pathLst>
                <a:path w="4381500" h="4191000">
                  <a:moveTo>
                    <a:pt x="171450" y="0"/>
                  </a:moveTo>
                  <a:lnTo>
                    <a:pt x="4210050" y="0"/>
                  </a:lnTo>
                  <a:cubicBezTo>
                    <a:pt x="4304739" y="0"/>
                    <a:pt x="4381500" y="76761"/>
                    <a:pt x="4381500" y="171450"/>
                  </a:cubicBezTo>
                  <a:lnTo>
                    <a:pt x="4381500" y="4019550"/>
                  </a:lnTo>
                  <a:cubicBezTo>
                    <a:pt x="4381500" y="4114239"/>
                    <a:pt x="4304739" y="4191000"/>
                    <a:pt x="4210050" y="4191000"/>
                  </a:cubicBezTo>
                  <a:lnTo>
                    <a:pt x="171450" y="4191000"/>
                  </a:lnTo>
                  <a:cubicBezTo>
                    <a:pt x="76761" y="4191000"/>
                    <a:pt x="0" y="4114239"/>
                    <a:pt x="0" y="40195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067550" y="1600200"/>
              <a:ext cx="1047750" cy="400050"/>
            </a:xfrm>
            <a:custGeom>
              <a:avLst/>
              <a:gdLst/>
              <a:ahLst/>
              <a:cxnLst/>
              <a:rect l="l" t="t" r="r" b="b"/>
              <a:pathLst>
                <a:path w="1047750" h="400050">
                  <a:moveTo>
                    <a:pt x="200025" y="0"/>
                  </a:moveTo>
                  <a:lnTo>
                    <a:pt x="847725" y="0"/>
                  </a:lnTo>
                  <a:cubicBezTo>
                    <a:pt x="958196" y="0"/>
                    <a:pt x="1047750" y="89554"/>
                    <a:pt x="1047750" y="200025"/>
                  </a:cubicBezTo>
                  <a:lnTo>
                    <a:pt x="1047750" y="200025"/>
                  </a:lnTo>
                  <a:cubicBezTo>
                    <a:pt x="1047750" y="310496"/>
                    <a:pt x="958196" y="400050"/>
                    <a:pt x="84772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6366" y="1727835"/>
              <a:ext cx="4901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AI HUB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267700" y="2266950"/>
              <a:ext cx="1371600" cy="13716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515350" y="2514600"/>
              <a:ext cx="876300" cy="8763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858250" y="28575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45017" y="2749868"/>
              <a:ext cx="41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营销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45017" y="2987992"/>
              <a:ext cx="41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中枢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486650" y="2400300"/>
              <a:ext cx="990600" cy="400050"/>
            </a:xfrm>
            <a:custGeom>
              <a:avLst/>
              <a:gdLst/>
              <a:ahLst/>
              <a:cxnLst/>
              <a:rect l="l" t="t" r="r" b="b"/>
              <a:pathLst>
                <a:path w="990600" h="400050">
                  <a:moveTo>
                    <a:pt x="114300" y="0"/>
                  </a:moveTo>
                  <a:lnTo>
                    <a:pt x="876300" y="0"/>
                  </a:lnTo>
                  <a:cubicBezTo>
                    <a:pt x="939426" y="0"/>
                    <a:pt x="990600" y="51174"/>
                    <a:pt x="990600" y="114300"/>
                  </a:cubicBezTo>
                  <a:lnTo>
                    <a:pt x="990600" y="285750"/>
                  </a:lnTo>
                  <a:cubicBezTo>
                    <a:pt x="990600" y="348876"/>
                    <a:pt x="939426" y="400050"/>
                    <a:pt x="876300" y="400050"/>
                  </a:cubicBezTo>
                  <a:lnTo>
                    <a:pt x="114300" y="400050"/>
                  </a:lnTo>
                  <a:cubicBezTo>
                    <a:pt x="51174" y="400050"/>
                    <a:pt x="0" y="348876"/>
                    <a:pt x="0" y="285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32192" y="25103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9486900" y="2400300"/>
              <a:ext cx="990600" cy="400050"/>
            </a:xfrm>
            <a:custGeom>
              <a:avLst/>
              <a:gdLst/>
              <a:ahLst/>
              <a:cxnLst/>
              <a:rect l="l" t="t" r="r" b="b"/>
              <a:pathLst>
                <a:path w="990600" h="400050">
                  <a:moveTo>
                    <a:pt x="114300" y="0"/>
                  </a:moveTo>
                  <a:lnTo>
                    <a:pt x="876300" y="0"/>
                  </a:lnTo>
                  <a:cubicBezTo>
                    <a:pt x="939426" y="0"/>
                    <a:pt x="990600" y="51174"/>
                    <a:pt x="990600" y="114300"/>
                  </a:cubicBezTo>
                  <a:lnTo>
                    <a:pt x="990600" y="285750"/>
                  </a:lnTo>
                  <a:cubicBezTo>
                    <a:pt x="990600" y="348876"/>
                    <a:pt x="939426" y="400050"/>
                    <a:pt x="876300" y="400050"/>
                  </a:cubicBezTo>
                  <a:lnTo>
                    <a:pt x="114300" y="400050"/>
                  </a:lnTo>
                  <a:cubicBezTo>
                    <a:pt x="51174" y="400050"/>
                    <a:pt x="0" y="348876"/>
                    <a:pt x="0" y="285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714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90087" y="2510314"/>
              <a:ext cx="584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486650" y="3390900"/>
              <a:ext cx="990600" cy="400050"/>
            </a:xfrm>
            <a:custGeom>
              <a:avLst/>
              <a:gdLst/>
              <a:ahLst/>
              <a:cxnLst/>
              <a:rect l="l" t="t" r="r" b="b"/>
              <a:pathLst>
                <a:path w="990600" h="400050">
                  <a:moveTo>
                    <a:pt x="114300" y="0"/>
                  </a:moveTo>
                  <a:lnTo>
                    <a:pt x="876300" y="0"/>
                  </a:lnTo>
                  <a:cubicBezTo>
                    <a:pt x="939426" y="0"/>
                    <a:pt x="990600" y="51174"/>
                    <a:pt x="990600" y="114300"/>
                  </a:cubicBezTo>
                  <a:lnTo>
                    <a:pt x="990600" y="285750"/>
                  </a:lnTo>
                  <a:cubicBezTo>
                    <a:pt x="990600" y="348876"/>
                    <a:pt x="939426" y="400050"/>
                    <a:pt x="876300" y="400050"/>
                  </a:cubicBezTo>
                  <a:lnTo>
                    <a:pt x="114300" y="400050"/>
                  </a:lnTo>
                  <a:cubicBezTo>
                    <a:pt x="51174" y="400050"/>
                    <a:pt x="0" y="348876"/>
                    <a:pt x="0" y="285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7145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32192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9486900" y="3390900"/>
              <a:ext cx="990600" cy="400050"/>
            </a:xfrm>
            <a:custGeom>
              <a:avLst/>
              <a:gdLst/>
              <a:ahLst/>
              <a:cxnLst/>
              <a:rect l="l" t="t" r="r" b="b"/>
              <a:pathLst>
                <a:path w="990600" h="400050">
                  <a:moveTo>
                    <a:pt x="114300" y="0"/>
                  </a:moveTo>
                  <a:lnTo>
                    <a:pt x="876300" y="0"/>
                  </a:lnTo>
                  <a:cubicBezTo>
                    <a:pt x="939426" y="0"/>
                    <a:pt x="990600" y="51174"/>
                    <a:pt x="990600" y="114300"/>
                  </a:cubicBezTo>
                  <a:lnTo>
                    <a:pt x="990600" y="285750"/>
                  </a:lnTo>
                  <a:cubicBezTo>
                    <a:pt x="990600" y="348876"/>
                    <a:pt x="939426" y="400050"/>
                    <a:pt x="876300" y="400050"/>
                  </a:cubicBezTo>
                  <a:lnTo>
                    <a:pt x="114300" y="400050"/>
                  </a:lnTo>
                  <a:cubicBezTo>
                    <a:pt x="51174" y="400050"/>
                    <a:pt x="0" y="348876"/>
                    <a:pt x="0" y="285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714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32442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77250" y="2600325"/>
              <a:ext cx="161925" cy="952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Line 36"/>
            <p:cNvSpPr/>
            <p:nvPr/>
          </p:nvSpPr>
          <p:spPr>
            <a:xfrm flipV="1">
              <a:off x="9429750" y="2600325"/>
              <a:ext cx="66675" cy="952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7" name="Line 37"/>
            <p:cNvSpPr/>
            <p:nvPr/>
          </p:nvSpPr>
          <p:spPr>
            <a:xfrm flipV="1">
              <a:off x="8477250" y="3209925"/>
              <a:ext cx="161925" cy="381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>
              <a:off x="9429750" y="3209925"/>
              <a:ext cx="66675" cy="381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7239000" y="4057650"/>
              <a:ext cx="1295400" cy="419100"/>
            </a:xfrm>
            <a:custGeom>
              <a:avLst/>
              <a:gdLst/>
              <a:ahLst/>
              <a:cxnLst/>
              <a:rect l="l" t="t" r="r" b="b"/>
              <a:pathLst>
                <a:path w="1295400" h="419100">
                  <a:moveTo>
                    <a:pt x="0" y="419100"/>
                  </a:moveTo>
                  <a:cubicBezTo>
                    <a:pt x="428625" y="114300"/>
                    <a:pt x="857250" y="0"/>
                    <a:pt x="1295400" y="381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50000" sp="300000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9382125" y="4057650"/>
              <a:ext cx="1285875" cy="419100"/>
            </a:xfrm>
            <a:custGeom>
              <a:avLst/>
              <a:gdLst/>
              <a:ahLst/>
              <a:cxnLst/>
              <a:rect l="l" t="t" r="r" b="b"/>
              <a:pathLst>
                <a:path w="1285875" h="419100">
                  <a:moveTo>
                    <a:pt x="1285875" y="419100"/>
                  </a:moveTo>
                  <a:cubicBezTo>
                    <a:pt x="828675" y="114300"/>
                    <a:pt x="409575" y="0"/>
                    <a:pt x="0" y="381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50000" sp="300000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7124700" y="4495800"/>
              <a:ext cx="1562100" cy="609600"/>
            </a:xfrm>
            <a:custGeom>
              <a:avLst/>
              <a:gdLst/>
              <a:ahLst/>
              <a:cxnLst/>
              <a:rect l="l" t="t" r="r" b="b"/>
              <a:pathLst>
                <a:path w="1562100" h="609600">
                  <a:moveTo>
                    <a:pt x="114300" y="0"/>
                  </a:moveTo>
                  <a:lnTo>
                    <a:pt x="1447800" y="0"/>
                  </a:lnTo>
                  <a:cubicBezTo>
                    <a:pt x="1510926" y="0"/>
                    <a:pt x="1562100" y="51174"/>
                    <a:pt x="1562100" y="114300"/>
                  </a:cubicBezTo>
                  <a:lnTo>
                    <a:pt x="1562100" y="495300"/>
                  </a:lnTo>
                  <a:cubicBezTo>
                    <a:pt x="1562100" y="558426"/>
                    <a:pt x="1510926" y="609600"/>
                    <a:pt x="14478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91388" y="4646295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议程 01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88530" y="4810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现状概览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9220200" y="4495800"/>
              <a:ext cx="1562100" cy="609600"/>
            </a:xfrm>
            <a:custGeom>
              <a:avLst/>
              <a:gdLst/>
              <a:ahLst/>
              <a:cxnLst/>
              <a:rect l="l" t="t" r="r" b="b"/>
              <a:pathLst>
                <a:path w="1562100" h="609600">
                  <a:moveTo>
                    <a:pt x="114300" y="0"/>
                  </a:moveTo>
                  <a:lnTo>
                    <a:pt x="1447800" y="0"/>
                  </a:lnTo>
                  <a:cubicBezTo>
                    <a:pt x="1510926" y="0"/>
                    <a:pt x="1562100" y="51174"/>
                    <a:pt x="1562100" y="114300"/>
                  </a:cubicBezTo>
                  <a:lnTo>
                    <a:pt x="1562100" y="495300"/>
                  </a:lnTo>
                  <a:cubicBezTo>
                    <a:pt x="1562100" y="558426"/>
                    <a:pt x="1510926" y="609600"/>
                    <a:pt x="14478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86888" y="4646295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议程 02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84030" y="4810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4642" y="4254818"/>
            <a:ext cx="4674108" cy="873633"/>
            <a:chOff x="564642" y="4254818"/>
            <a:chExt cx="4674108" cy="873633"/>
          </a:xfrm>
        </p:grpSpPr>
        <p:sp>
          <p:nvSpPr>
            <p:cNvPr id="48" name="Line 48"/>
            <p:cNvSpPr/>
            <p:nvPr/>
          </p:nvSpPr>
          <p:spPr>
            <a:xfrm>
              <a:off x="4476750" y="43434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5162550" y="4305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4642" y="42548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围绕客户、渠道、投放与转化构建统一决策视图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476750" y="4953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162550" y="4914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4642" y="48644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以结构化流程替代碎片化工具堆叠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8191500" y="381000"/>
              <a:ext cx="3238500" cy="2095500"/>
            </a:xfrm>
            <a:custGeom>
              <a:avLst/>
              <a:gdLst/>
              <a:ahLst/>
              <a:cxnLst/>
              <a:rect l="l" t="t" r="r" b="b"/>
              <a:pathLst>
                <a:path w="3238500" h="2095500">
                  <a:moveTo>
                    <a:pt x="1619250" y="0"/>
                  </a:moveTo>
                  <a:lnTo>
                    <a:pt x="1619250" y="0"/>
                  </a:lnTo>
                  <a:cubicBezTo>
                    <a:pt x="2513537" y="0"/>
                    <a:pt x="3238500" y="469094"/>
                    <a:pt x="3238500" y="1047750"/>
                  </a:cubicBezTo>
                  <a:lnTo>
                    <a:pt x="3238500" y="1047750"/>
                  </a:lnTo>
                  <a:cubicBezTo>
                    <a:pt x="3238500" y="1626406"/>
                    <a:pt x="2513537" y="2095500"/>
                    <a:pt x="1619250" y="2095500"/>
                  </a:cubicBezTo>
                  <a:lnTo>
                    <a:pt x="1619250" y="2095500"/>
                  </a:lnTo>
                  <a:cubicBezTo>
                    <a:pt x="724963" y="2095500"/>
                    <a:pt x="0" y="1626406"/>
                    <a:pt x="0" y="1047750"/>
                  </a:cubicBezTo>
                  <a:lnTo>
                    <a:pt x="0" y="1047750"/>
                  </a:lnTo>
                  <a:cubicBezTo>
                    <a:pt x="0" y="469094"/>
                    <a:pt x="724963" y="0"/>
                    <a:pt x="1619250" y="0"/>
                  </a:cubicBezTo>
                  <a:close/>
                </a:path>
              </a:pathLst>
            </a:cu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8858250" y="114300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1047750" y="0"/>
                  </a:moveTo>
                  <a:lnTo>
                    <a:pt x="1047750" y="0"/>
                  </a:lnTo>
                  <a:cubicBezTo>
                    <a:pt x="1626406" y="0"/>
                    <a:pt x="2095500" y="469094"/>
                    <a:pt x="2095500" y="1047750"/>
                  </a:cubicBezTo>
                  <a:lnTo>
                    <a:pt x="2095500" y="1047750"/>
                  </a:lnTo>
                  <a:cubicBezTo>
                    <a:pt x="2095500" y="1626406"/>
                    <a:pt x="1626406" y="2095500"/>
                    <a:pt x="1047750" y="2095500"/>
                  </a:cubicBezTo>
                  <a:lnTo>
                    <a:pt x="1047750" y="2095500"/>
                  </a:lnTo>
                  <a:cubicBezTo>
                    <a:pt x="469094" y="2095500"/>
                    <a:pt x="0" y="1626406"/>
                    <a:pt x="0" y="1047750"/>
                  </a:cubicBezTo>
                  <a:lnTo>
                    <a:pt x="0" y="1047750"/>
                  </a:lnTo>
                  <a:cubicBezTo>
                    <a:pt x="0" y="469094"/>
                    <a:pt x="469094" y="0"/>
                    <a:pt x="1047750" y="0"/>
                  </a:cubicBezTo>
                  <a:close/>
                </a:path>
              </a:pathLst>
            </a:cu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210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906000" y="47625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  <a:custDash>
                <a:ds d="400000" sp="800000"/>
              </a:custDash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7784" y="629602"/>
            <a:ext cx="10972229" cy="5958364"/>
            <a:chOff x="557784" y="629602"/>
            <a:chExt cx="10972229" cy="59583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629602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7753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五大决策议程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71500" y="1200150"/>
              <a:ext cx="1524000" cy="38100"/>
            </a:xfrm>
            <a:custGeom>
              <a:avLst/>
              <a:gdLst/>
              <a:ahLst/>
              <a:cxnLst/>
              <a:rect l="l" t="t" r="r" b="b"/>
              <a:pathLst>
                <a:path w="1524000" h="38100">
                  <a:moveTo>
                    <a:pt x="19050" y="0"/>
                  </a:moveTo>
                  <a:lnTo>
                    <a:pt x="1504950" y="0"/>
                  </a:lnTo>
                  <a:cubicBezTo>
                    <a:pt x="1515471" y="0"/>
                    <a:pt x="1524000" y="8529"/>
                    <a:pt x="1524000" y="19050"/>
                  </a:cubicBezTo>
                  <a:lnTo>
                    <a:pt x="1524000" y="19050"/>
                  </a:lnTo>
                  <a:cubicBezTo>
                    <a:pt x="1524000" y="29571"/>
                    <a:pt x="1515471" y="38100"/>
                    <a:pt x="1504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3880" y="14573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本页概览核心议题：现状、风险、全球影响与后续观察重点。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260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98320" y="64260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71500" y="2095500"/>
            <a:ext cx="11105198" cy="3714750"/>
            <a:chOff x="571500" y="2095500"/>
            <a:chExt cx="11105198" cy="3714750"/>
          </a:xfrm>
        </p:grpSpPr>
        <p:sp>
          <p:nvSpPr>
            <p:cNvPr id="16" name="Freeform 16"/>
            <p:cNvSpPr/>
            <p:nvPr/>
          </p:nvSpPr>
          <p:spPr>
            <a:xfrm>
              <a:off x="571500" y="2095500"/>
              <a:ext cx="8763000" cy="3714750"/>
            </a:xfrm>
            <a:custGeom>
              <a:avLst/>
              <a:gdLst/>
              <a:ahLst/>
              <a:cxnLst/>
              <a:rect l="l" t="t" r="r" b="b"/>
              <a:pathLst>
                <a:path w="8763000" h="3714750">
                  <a:moveTo>
                    <a:pt x="171450" y="0"/>
                  </a:moveTo>
                  <a:lnTo>
                    <a:pt x="8591550" y="0"/>
                  </a:lnTo>
                  <a:cubicBezTo>
                    <a:pt x="8686239" y="0"/>
                    <a:pt x="8763000" y="76761"/>
                    <a:pt x="8763000" y="171450"/>
                  </a:cubicBezTo>
                  <a:lnTo>
                    <a:pt x="8763000" y="3543300"/>
                  </a:lnTo>
                  <a:cubicBezTo>
                    <a:pt x="8763000" y="3637989"/>
                    <a:pt x="8686239" y="3714750"/>
                    <a:pt x="8591550" y="3714750"/>
                  </a:cubicBezTo>
                  <a:lnTo>
                    <a:pt x="171450" y="3714750"/>
                  </a:lnTo>
                  <a:cubicBezTo>
                    <a:pt x="76761" y="3714750"/>
                    <a:pt x="0" y="3637989"/>
                    <a:pt x="0" y="3543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428750" y="2714625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  <a:custDash>
                <a:ds d="50000" sp="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428750" y="2714625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" name="Freeform 19"/>
            <p:cNvSpPr/>
            <p:nvPr/>
          </p:nvSpPr>
          <p:spPr>
            <a:xfrm>
              <a:off x="952500" y="2381250"/>
              <a:ext cx="1428750" cy="666750"/>
            </a:xfrm>
            <a:custGeom>
              <a:avLst/>
              <a:gdLst/>
              <a:ahLst/>
              <a:cxnLst/>
              <a:rect l="l" t="t" r="r" b="b"/>
              <a:pathLst>
                <a:path w="1428750" h="666750">
                  <a:moveTo>
                    <a:pt x="333375" y="0"/>
                  </a:moveTo>
                  <a:lnTo>
                    <a:pt x="1095375" y="0"/>
                  </a:lnTo>
                  <a:cubicBezTo>
                    <a:pt x="1279493" y="0"/>
                    <a:pt x="1428750" y="149257"/>
                    <a:pt x="1428750" y="333375"/>
                  </a:cubicBezTo>
                  <a:lnTo>
                    <a:pt x="1428750" y="333375"/>
                  </a:lnTo>
                  <a:cubicBezTo>
                    <a:pt x="1428750" y="517493"/>
                    <a:pt x="1279493" y="666750"/>
                    <a:pt x="1095375" y="666750"/>
                  </a:cubicBezTo>
                  <a:lnTo>
                    <a:pt x="333375" y="666750"/>
                  </a:lnTo>
                  <a:cubicBezTo>
                    <a:pt x="149257" y="666750"/>
                    <a:pt x="0" y="517493"/>
                    <a:pt x="0" y="333375"/>
                  </a:cubicBezTo>
                  <a:lnTo>
                    <a:pt x="0" y="333375"/>
                  </a:lnTo>
                  <a:cubicBezTo>
                    <a:pt x="0" y="149257"/>
                    <a:pt x="149257" y="0"/>
                    <a:pt x="333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5954" y="251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3668" y="2698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71750" y="2381250"/>
              <a:ext cx="1428750" cy="666750"/>
            </a:xfrm>
            <a:custGeom>
              <a:avLst/>
              <a:gdLst/>
              <a:ahLst/>
              <a:cxnLst/>
              <a:rect l="l" t="t" r="r" b="b"/>
              <a:pathLst>
                <a:path w="1428750" h="666750">
                  <a:moveTo>
                    <a:pt x="333375" y="0"/>
                  </a:moveTo>
                  <a:lnTo>
                    <a:pt x="1095375" y="0"/>
                  </a:lnTo>
                  <a:cubicBezTo>
                    <a:pt x="1279493" y="0"/>
                    <a:pt x="1428750" y="149257"/>
                    <a:pt x="1428750" y="333375"/>
                  </a:cubicBezTo>
                  <a:lnTo>
                    <a:pt x="1428750" y="333375"/>
                  </a:lnTo>
                  <a:cubicBezTo>
                    <a:pt x="1428750" y="517493"/>
                    <a:pt x="1279493" y="666750"/>
                    <a:pt x="1095375" y="666750"/>
                  </a:cubicBezTo>
                  <a:lnTo>
                    <a:pt x="333375" y="666750"/>
                  </a:lnTo>
                  <a:cubicBezTo>
                    <a:pt x="149257" y="666750"/>
                    <a:pt x="0" y="517493"/>
                    <a:pt x="0" y="333375"/>
                  </a:cubicBezTo>
                  <a:lnTo>
                    <a:pt x="0" y="333375"/>
                  </a:lnTo>
                  <a:cubicBezTo>
                    <a:pt x="0" y="149257"/>
                    <a:pt x="149257" y="0"/>
                    <a:pt x="33337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775204" y="251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72918" y="2698432"/>
              <a:ext cx="793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191000" y="2381250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333375" y="0"/>
                  </a:moveTo>
                  <a:lnTo>
                    <a:pt x="1285875" y="0"/>
                  </a:lnTo>
                  <a:cubicBezTo>
                    <a:pt x="1469993" y="0"/>
                    <a:pt x="1619250" y="149257"/>
                    <a:pt x="1619250" y="333375"/>
                  </a:cubicBezTo>
                  <a:lnTo>
                    <a:pt x="1619250" y="333375"/>
                  </a:lnTo>
                  <a:cubicBezTo>
                    <a:pt x="1619250" y="517493"/>
                    <a:pt x="1469993" y="666750"/>
                    <a:pt x="1285875" y="666750"/>
                  </a:cubicBezTo>
                  <a:lnTo>
                    <a:pt x="333375" y="666750"/>
                  </a:lnTo>
                  <a:cubicBezTo>
                    <a:pt x="149257" y="666750"/>
                    <a:pt x="0" y="517493"/>
                    <a:pt x="0" y="333375"/>
                  </a:cubicBezTo>
                  <a:lnTo>
                    <a:pt x="0" y="333375"/>
                  </a:lnTo>
                  <a:cubicBezTo>
                    <a:pt x="0" y="149257"/>
                    <a:pt x="149257" y="0"/>
                    <a:pt x="33337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94454" y="251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2168" y="26984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00750" y="2381250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333375" y="0"/>
                  </a:moveTo>
                  <a:lnTo>
                    <a:pt x="1285875" y="0"/>
                  </a:lnTo>
                  <a:cubicBezTo>
                    <a:pt x="1469993" y="0"/>
                    <a:pt x="1619250" y="149257"/>
                    <a:pt x="1619250" y="333375"/>
                  </a:cubicBezTo>
                  <a:lnTo>
                    <a:pt x="1619250" y="333375"/>
                  </a:lnTo>
                  <a:cubicBezTo>
                    <a:pt x="1619250" y="517493"/>
                    <a:pt x="1469993" y="666750"/>
                    <a:pt x="1285875" y="666750"/>
                  </a:cubicBezTo>
                  <a:lnTo>
                    <a:pt x="333375" y="666750"/>
                  </a:lnTo>
                  <a:cubicBezTo>
                    <a:pt x="149257" y="666750"/>
                    <a:pt x="0" y="517493"/>
                    <a:pt x="0" y="333375"/>
                  </a:cubicBezTo>
                  <a:lnTo>
                    <a:pt x="0" y="333375"/>
                  </a:lnTo>
                  <a:cubicBezTo>
                    <a:pt x="0" y="149257"/>
                    <a:pt x="149257" y="0"/>
                    <a:pt x="33337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04204" y="251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1918" y="2698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810500" y="2381250"/>
              <a:ext cx="1143000" cy="666750"/>
            </a:xfrm>
            <a:custGeom>
              <a:avLst/>
              <a:gdLst/>
              <a:ahLst/>
              <a:cxnLst/>
              <a:rect l="l" t="t" r="r" b="b"/>
              <a:pathLst>
                <a:path w="1143000" h="666750">
                  <a:moveTo>
                    <a:pt x="333375" y="0"/>
                  </a:moveTo>
                  <a:lnTo>
                    <a:pt x="809625" y="0"/>
                  </a:lnTo>
                  <a:cubicBezTo>
                    <a:pt x="993743" y="0"/>
                    <a:pt x="1143000" y="149257"/>
                    <a:pt x="1143000" y="333375"/>
                  </a:cubicBezTo>
                  <a:lnTo>
                    <a:pt x="1143000" y="333375"/>
                  </a:lnTo>
                  <a:cubicBezTo>
                    <a:pt x="1143000" y="517493"/>
                    <a:pt x="993743" y="666750"/>
                    <a:pt x="809625" y="666750"/>
                  </a:cubicBezTo>
                  <a:lnTo>
                    <a:pt x="333375" y="666750"/>
                  </a:lnTo>
                  <a:cubicBezTo>
                    <a:pt x="149257" y="666750"/>
                    <a:pt x="0" y="517493"/>
                    <a:pt x="0" y="333375"/>
                  </a:cubicBezTo>
                  <a:lnTo>
                    <a:pt x="0" y="333375"/>
                  </a:lnTo>
                  <a:cubicBezTo>
                    <a:pt x="0" y="149257"/>
                    <a:pt x="149257" y="0"/>
                    <a:pt x="33337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13954" y="251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11668" y="26984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落地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14400" y="3352800"/>
              <a:ext cx="1638300" cy="2019300"/>
            </a:xfrm>
            <a:custGeom>
              <a:avLst/>
              <a:gdLst/>
              <a:ahLst/>
              <a:cxnLst/>
              <a:rect l="l" t="t" r="r" b="b"/>
              <a:pathLst>
                <a:path w="1638300" h="2019300">
                  <a:moveTo>
                    <a:pt x="114300" y="0"/>
                  </a:moveTo>
                  <a:lnTo>
                    <a:pt x="1524000" y="0"/>
                  </a:lnTo>
                  <a:cubicBezTo>
                    <a:pt x="1587126" y="0"/>
                    <a:pt x="1638300" y="51174"/>
                    <a:pt x="1638300" y="114300"/>
                  </a:cubicBezTo>
                  <a:lnTo>
                    <a:pt x="1638300" y="1905000"/>
                  </a:lnTo>
                  <a:cubicBezTo>
                    <a:pt x="1638300" y="1968126"/>
                    <a:pt x="1587126" y="2019300"/>
                    <a:pt x="15240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14400" y="3352800"/>
              <a:ext cx="1638300" cy="76200"/>
            </a:xfrm>
            <a:custGeom>
              <a:avLst/>
              <a:gdLst/>
              <a:ahLst/>
              <a:cxnLst/>
              <a:rect l="l" t="t" r="r" b="b"/>
              <a:pathLst>
                <a:path w="1638300" h="76200">
                  <a:moveTo>
                    <a:pt x="38100" y="0"/>
                  </a:moveTo>
                  <a:lnTo>
                    <a:pt x="1600200" y="0"/>
                  </a:lnTo>
                  <a:cubicBezTo>
                    <a:pt x="1621242" y="0"/>
                    <a:pt x="1638300" y="17058"/>
                    <a:pt x="1638300" y="38100"/>
                  </a:cubicBezTo>
                  <a:lnTo>
                    <a:pt x="1638300" y="38100"/>
                  </a:lnTo>
                  <a:cubicBezTo>
                    <a:pt x="1638300" y="59142"/>
                    <a:pt x="1621242" y="76200"/>
                    <a:pt x="16002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7750" y="358140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23950" y="36766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66675"/>
                  </a:moveTo>
                  <a:cubicBezTo>
                    <a:pt x="38100" y="0"/>
                    <a:pt x="114300" y="0"/>
                    <a:pt x="152400" y="66675"/>
                  </a:cubicBezTo>
                  <a:cubicBezTo>
                    <a:pt x="114300" y="133350"/>
                    <a:pt x="38100" y="133350"/>
                    <a:pt x="0" y="66675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66800" y="360045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133350" y="0"/>
                  </a:moveTo>
                  <a:lnTo>
                    <a:pt x="133350" y="76200"/>
                  </a:lnTo>
                  <a:moveTo>
                    <a:pt x="0" y="247650"/>
                  </a:moveTo>
                  <a:lnTo>
                    <a:pt x="266700" y="247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33856" y="3901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打通多源数据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6142" y="4311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构建统一客户视图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6142" y="4578668"/>
              <a:ext cx="1578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连接 CRM、广告、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6142" y="48453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电商与私域触点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724150" y="3352800"/>
              <a:ext cx="1638300" cy="2019300"/>
            </a:xfrm>
            <a:custGeom>
              <a:avLst/>
              <a:gdLst/>
              <a:ahLst/>
              <a:cxnLst/>
              <a:rect l="l" t="t" r="r" b="b"/>
              <a:pathLst>
                <a:path w="1638300" h="2019300">
                  <a:moveTo>
                    <a:pt x="114300" y="0"/>
                  </a:moveTo>
                  <a:lnTo>
                    <a:pt x="1524000" y="0"/>
                  </a:lnTo>
                  <a:cubicBezTo>
                    <a:pt x="1587126" y="0"/>
                    <a:pt x="1638300" y="51174"/>
                    <a:pt x="1638300" y="114300"/>
                  </a:cubicBezTo>
                  <a:lnTo>
                    <a:pt x="1638300" y="1905000"/>
                  </a:lnTo>
                  <a:cubicBezTo>
                    <a:pt x="1638300" y="1968126"/>
                    <a:pt x="1587126" y="2019300"/>
                    <a:pt x="15240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724150" y="3352800"/>
              <a:ext cx="1638300" cy="76200"/>
            </a:xfrm>
            <a:custGeom>
              <a:avLst/>
              <a:gdLst/>
              <a:ahLst/>
              <a:cxnLst/>
              <a:rect l="l" t="t" r="r" b="b"/>
              <a:pathLst>
                <a:path w="1638300" h="76200">
                  <a:moveTo>
                    <a:pt x="38100" y="0"/>
                  </a:moveTo>
                  <a:lnTo>
                    <a:pt x="1600200" y="0"/>
                  </a:lnTo>
                  <a:cubicBezTo>
                    <a:pt x="1621242" y="0"/>
                    <a:pt x="1638300" y="17058"/>
                    <a:pt x="1638300" y="38100"/>
                  </a:cubicBezTo>
                  <a:lnTo>
                    <a:pt x="1638300" y="38100"/>
                  </a:lnTo>
                  <a:cubicBezTo>
                    <a:pt x="1638300" y="59142"/>
                    <a:pt x="1621242" y="76200"/>
                    <a:pt x="16002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857500" y="358140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924175" y="36480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171450"/>
                  </a:moveTo>
                  <a:lnTo>
                    <a:pt x="0" y="57150"/>
                  </a:lnTo>
                  <a:lnTo>
                    <a:pt x="66675" y="57150"/>
                  </a:lnTo>
                  <a:lnTo>
                    <a:pt x="66675" y="0"/>
                  </a:lnTo>
                  <a:lnTo>
                    <a:pt x="171450" y="0"/>
                  </a:lnTo>
                  <a:lnTo>
                    <a:pt x="171450" y="17145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133725" y="35909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2286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109912" y="3538538"/>
              <a:ext cx="47625" cy="476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43606" y="3901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从历史报表到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43606" y="41871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实时预测与建议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945892" y="4521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识别高价值客群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45892" y="4788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预测流失、预算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45892" y="5054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与内容机会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4533900" y="3352800"/>
              <a:ext cx="1638300" cy="2019300"/>
            </a:xfrm>
            <a:custGeom>
              <a:avLst/>
              <a:gdLst/>
              <a:ahLst/>
              <a:cxnLst/>
              <a:rect l="l" t="t" r="r" b="b"/>
              <a:pathLst>
                <a:path w="1638300" h="2019300">
                  <a:moveTo>
                    <a:pt x="114300" y="0"/>
                  </a:moveTo>
                  <a:lnTo>
                    <a:pt x="1524000" y="0"/>
                  </a:lnTo>
                  <a:cubicBezTo>
                    <a:pt x="1587126" y="0"/>
                    <a:pt x="1638300" y="51174"/>
                    <a:pt x="1638300" y="114300"/>
                  </a:cubicBezTo>
                  <a:lnTo>
                    <a:pt x="1638300" y="1905000"/>
                  </a:lnTo>
                  <a:cubicBezTo>
                    <a:pt x="1638300" y="1968126"/>
                    <a:pt x="1587126" y="2019300"/>
                    <a:pt x="15240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4533900" y="3352800"/>
              <a:ext cx="1638300" cy="76200"/>
            </a:xfrm>
            <a:custGeom>
              <a:avLst/>
              <a:gdLst/>
              <a:ahLst/>
              <a:cxnLst/>
              <a:rect l="l" t="t" r="r" b="b"/>
              <a:pathLst>
                <a:path w="1638300" h="76200">
                  <a:moveTo>
                    <a:pt x="38100" y="0"/>
                  </a:moveTo>
                  <a:lnTo>
                    <a:pt x="1600200" y="0"/>
                  </a:lnTo>
                  <a:cubicBezTo>
                    <a:pt x="1621242" y="0"/>
                    <a:pt x="1638300" y="17058"/>
                    <a:pt x="1638300" y="38100"/>
                  </a:cubicBezTo>
                  <a:lnTo>
                    <a:pt x="1638300" y="38100"/>
                  </a:lnTo>
                  <a:cubicBezTo>
                    <a:pt x="1638300" y="59142"/>
                    <a:pt x="1621242" y="76200"/>
                    <a:pt x="16002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4667250" y="358140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4724400" y="37433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4819650" y="364807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676775" y="360045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4905375" y="360045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4676775" y="382905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905375" y="382905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753356" y="3901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跨渠道旅程编排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755642" y="4311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自动触发人群、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755642" y="4578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内容与投放动作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755642" y="4845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释放运营人力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343650" y="3352800"/>
              <a:ext cx="1638300" cy="2019300"/>
            </a:xfrm>
            <a:custGeom>
              <a:avLst/>
              <a:gdLst/>
              <a:ahLst/>
              <a:cxnLst/>
              <a:rect l="l" t="t" r="r" b="b"/>
              <a:pathLst>
                <a:path w="1638300" h="2019300">
                  <a:moveTo>
                    <a:pt x="114300" y="0"/>
                  </a:moveTo>
                  <a:lnTo>
                    <a:pt x="1524000" y="0"/>
                  </a:lnTo>
                  <a:cubicBezTo>
                    <a:pt x="1587126" y="0"/>
                    <a:pt x="1638300" y="51174"/>
                    <a:pt x="1638300" y="114300"/>
                  </a:cubicBezTo>
                  <a:lnTo>
                    <a:pt x="1638300" y="1905000"/>
                  </a:lnTo>
                  <a:cubicBezTo>
                    <a:pt x="1638300" y="1968126"/>
                    <a:pt x="1587126" y="2019300"/>
                    <a:pt x="15240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343650" y="3352800"/>
              <a:ext cx="1638300" cy="76200"/>
            </a:xfrm>
            <a:custGeom>
              <a:avLst/>
              <a:gdLst/>
              <a:ahLst/>
              <a:cxnLst/>
              <a:rect l="l" t="t" r="r" b="b"/>
              <a:pathLst>
                <a:path w="1638300" h="76200">
                  <a:moveTo>
                    <a:pt x="38100" y="0"/>
                  </a:moveTo>
                  <a:lnTo>
                    <a:pt x="1600200" y="0"/>
                  </a:lnTo>
                  <a:cubicBezTo>
                    <a:pt x="1621242" y="0"/>
                    <a:pt x="1638300" y="17058"/>
                    <a:pt x="1638300" y="38100"/>
                  </a:cubicBezTo>
                  <a:lnTo>
                    <a:pt x="1638300" y="38100"/>
                  </a:lnTo>
                  <a:cubicBezTo>
                    <a:pt x="1638300" y="59142"/>
                    <a:pt x="1621242" y="76200"/>
                    <a:pt x="16002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6477000" y="358140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543675" y="36480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171450"/>
                  </a:moveTo>
                  <a:lnTo>
                    <a:pt x="0" y="57150"/>
                  </a:lnTo>
                  <a:lnTo>
                    <a:pt x="66675" y="57150"/>
                  </a:lnTo>
                  <a:lnTo>
                    <a:pt x="66675" y="0"/>
                  </a:lnTo>
                  <a:lnTo>
                    <a:pt x="171450" y="0"/>
                  </a:lnTo>
                  <a:lnTo>
                    <a:pt x="171450" y="17145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753225" y="3667125"/>
              <a:ext cx="66675" cy="152400"/>
            </a:xfrm>
            <a:custGeom>
              <a:avLst/>
              <a:gdLst/>
              <a:ahLst/>
              <a:cxnLst/>
              <a:rect l="l" t="t" r="r" b="b"/>
              <a:pathLst>
                <a:path w="66675" h="152400">
                  <a:moveTo>
                    <a:pt x="0" y="152400"/>
                  </a:moveTo>
                  <a:lnTo>
                    <a:pt x="0" y="0"/>
                  </a:lnTo>
                  <a:lnTo>
                    <a:pt x="6667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819900" y="363855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63106" y="39014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归因度量与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63106" y="4187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自动优化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6539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统一看板追踪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65392" y="4788218"/>
              <a:ext cx="1473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ROI、转化与留存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65392" y="5054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驱动持续优化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8153400" y="3352800"/>
              <a:ext cx="952500" cy="2019300"/>
            </a:xfrm>
            <a:custGeom>
              <a:avLst/>
              <a:gdLst/>
              <a:ahLst/>
              <a:cxnLst/>
              <a:rect l="l" t="t" r="r" b="b"/>
              <a:pathLst>
                <a:path w="952500" h="20193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905000"/>
                  </a:lnTo>
                  <a:cubicBezTo>
                    <a:pt x="952500" y="1968126"/>
                    <a:pt x="901326" y="2019300"/>
                    <a:pt x="8382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8153400" y="3352800"/>
              <a:ext cx="952500" cy="76200"/>
            </a:xfrm>
            <a:custGeom>
              <a:avLst/>
              <a:gdLst/>
              <a:ahLst/>
              <a:cxnLst/>
              <a:rect l="l" t="t" r="r" b="b"/>
              <a:pathLst>
                <a:path w="952500" h="7620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38100"/>
                  </a:lnTo>
                  <a:cubicBezTo>
                    <a:pt x="952500" y="59142"/>
                    <a:pt x="935442" y="76200"/>
                    <a:pt x="9144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8286750" y="358140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8362950" y="3676650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0" y="114300"/>
                  </a:moveTo>
                  <a:lnTo>
                    <a:pt x="57150" y="57150"/>
                  </a:lnTo>
                  <a:lnTo>
                    <a:pt x="95250" y="9525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150893" y="3936682"/>
              <a:ext cx="576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90 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109966" y="4328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落地路径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90738" y="4556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与关键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90738" y="47853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决策点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10172700" y="2095500"/>
              <a:ext cx="1447800" cy="3714750"/>
            </a:xfrm>
            <a:custGeom>
              <a:avLst/>
              <a:gdLst/>
              <a:ahLst/>
              <a:cxnLst/>
              <a:rect l="l" t="t" r="r" b="b"/>
              <a:pathLst>
                <a:path w="1447800" h="371475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3543300"/>
                  </a:lnTo>
                  <a:cubicBezTo>
                    <a:pt x="1447800" y="3637989"/>
                    <a:pt x="1371039" y="3714750"/>
                    <a:pt x="1276350" y="3714750"/>
                  </a:cubicBezTo>
                  <a:lnTo>
                    <a:pt x="171450" y="3714750"/>
                  </a:lnTo>
                  <a:cubicBezTo>
                    <a:pt x="76761" y="3714750"/>
                    <a:pt x="0" y="3637989"/>
                    <a:pt x="0" y="3543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394442" y="2330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本页要点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10420350" y="2867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605135" y="28408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统一数据底座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10420350" y="33432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605135" y="32123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分析从报表升级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605135" y="34028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到预测建议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10420350" y="3962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605135" y="39362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执行自动编排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10420350" y="4438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605135" y="43076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效果归因闭环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605135" y="4498181"/>
              <a:ext cx="1003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支撑 ROI 增长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10382250" y="5029200"/>
              <a:ext cx="1028700" cy="457200"/>
            </a:xfrm>
            <a:custGeom>
              <a:avLst/>
              <a:gdLst/>
              <a:ahLst/>
              <a:cxnLst/>
              <a:rect l="l" t="t" r="r" b="b"/>
              <a:pathLst>
                <a:path w="1028700" h="457200">
                  <a:moveTo>
                    <a:pt x="228600" y="0"/>
                  </a:moveTo>
                  <a:lnTo>
                    <a:pt x="800100" y="0"/>
                  </a:lnTo>
                  <a:cubicBezTo>
                    <a:pt x="926352" y="0"/>
                    <a:pt x="1028700" y="102348"/>
                    <a:pt x="1028700" y="228600"/>
                  </a:cubicBezTo>
                  <a:lnTo>
                    <a:pt x="1028700" y="228600"/>
                  </a:lnTo>
                  <a:cubicBezTo>
                    <a:pt x="1028700" y="354852"/>
                    <a:pt x="926352" y="457200"/>
                    <a:pt x="8001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463784" y="5175885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NEXT · 90D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71500" y="3105150"/>
            <a:ext cx="7877175" cy="3063811"/>
            <a:chOff x="571500" y="3105150"/>
            <a:chExt cx="7877175" cy="3063811"/>
          </a:xfrm>
        </p:grpSpPr>
        <p:sp>
          <p:nvSpPr>
            <p:cNvPr id="101" name="Freeform 101"/>
            <p:cNvSpPr/>
            <p:nvPr/>
          </p:nvSpPr>
          <p:spPr>
            <a:xfrm>
              <a:off x="1733550" y="31051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102" name="Freeform 102"/>
            <p:cNvSpPr/>
            <p:nvPr/>
          </p:nvSpPr>
          <p:spPr>
            <a:xfrm>
              <a:off x="3543300" y="31051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103" name="Freeform 103"/>
            <p:cNvSpPr/>
            <p:nvPr/>
          </p:nvSpPr>
          <p:spPr>
            <a:xfrm>
              <a:off x="5353050" y="31051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104" name="Freeform 104"/>
            <p:cNvSpPr/>
            <p:nvPr/>
          </p:nvSpPr>
          <p:spPr>
            <a:xfrm>
              <a:off x="7162800" y="31051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105" name="Freeform 105"/>
            <p:cNvSpPr/>
            <p:nvPr/>
          </p:nvSpPr>
          <p:spPr>
            <a:xfrm>
              <a:off x="8439150" y="31051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106" name="Freeform 106"/>
            <p:cNvSpPr/>
            <p:nvPr/>
          </p:nvSpPr>
          <p:spPr>
            <a:xfrm>
              <a:off x="571500" y="5924550"/>
              <a:ext cx="4457700" cy="209550"/>
            </a:xfrm>
            <a:custGeom>
              <a:avLst/>
              <a:gdLst/>
              <a:ahLst/>
              <a:cxnLst/>
              <a:rect l="l" t="t" r="r" b="b"/>
              <a:pathLst>
                <a:path w="4457700" h="209550">
                  <a:moveTo>
                    <a:pt x="104775" y="0"/>
                  </a:moveTo>
                  <a:lnTo>
                    <a:pt x="4352925" y="0"/>
                  </a:lnTo>
                  <a:cubicBezTo>
                    <a:pt x="4410791" y="0"/>
                    <a:pt x="4457700" y="46909"/>
                    <a:pt x="4457700" y="104775"/>
                  </a:cubicBezTo>
                  <a:lnTo>
                    <a:pt x="4457700" y="104775"/>
                  </a:lnTo>
                  <a:cubicBezTo>
                    <a:pt x="4457700" y="162641"/>
                    <a:pt x="4410791" y="209550"/>
                    <a:pt x="4352925" y="209550"/>
                  </a:cubicBezTo>
                  <a:lnTo>
                    <a:pt x="104775" y="209550"/>
                  </a:lnTo>
                  <a:cubicBezTo>
                    <a:pt x="46909" y="209550"/>
                    <a:pt x="0" y="162641"/>
                    <a:pt x="0" y="104775"/>
                  </a:cubicBezTo>
                  <a:lnTo>
                    <a:pt x="0" y="104775"/>
                  </a:lnTo>
                  <a:cubicBezTo>
                    <a:pt x="0" y="46909"/>
                    <a:pt x="46909" y="0"/>
                    <a:pt x="104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99516" y="5963602"/>
              <a:ext cx="3629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议程从数据 → 洞察 → 执行 → 度量 → 落地，形成闭环决策链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14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9239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877300" y="10668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877300" y="12763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877300" y="14859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877300" y="16954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877300" y="19050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877300" y="21145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877300" y="23241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877300" y="25336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877300" y="27432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877300" y="10668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486900" y="10668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96500" y="10668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706100" y="10668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1315700" y="10668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57784" y="343852"/>
            <a:ext cx="11067479" cy="6291739"/>
            <a:chOff x="557784" y="343852"/>
            <a:chExt cx="11067479" cy="6291739"/>
          </a:xfrm>
        </p:grpSpPr>
        <p:sp>
          <p:nvSpPr>
            <p:cNvPr id="22" name="TextBox 22"/>
            <p:cNvSpPr txBox="1"/>
            <p:nvPr/>
          </p:nvSpPr>
          <p:spPr>
            <a:xfrm>
              <a:off x="566166" y="3438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7784" y="4895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数据割裂，增长失速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738" y="647366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93570" y="64736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257300"/>
            <a:ext cx="11080242" cy="4457700"/>
            <a:chOff x="571500" y="1257300"/>
            <a:chExt cx="11080242" cy="4457700"/>
          </a:xfrm>
        </p:grpSpPr>
        <p:sp>
          <p:nvSpPr>
            <p:cNvPr id="27" name="Freeform 27"/>
            <p:cNvSpPr/>
            <p:nvPr/>
          </p:nvSpPr>
          <p:spPr>
            <a:xfrm>
              <a:off x="571500" y="1257300"/>
              <a:ext cx="7696200" cy="4419600"/>
            </a:xfrm>
            <a:custGeom>
              <a:avLst/>
              <a:gdLst/>
              <a:ahLst/>
              <a:cxnLst/>
              <a:rect l="l" t="t" r="r" b="b"/>
              <a:pathLst>
                <a:path w="7696200" h="4419600">
                  <a:moveTo>
                    <a:pt x="133350" y="0"/>
                  </a:moveTo>
                  <a:lnTo>
                    <a:pt x="7562850" y="0"/>
                  </a:lnTo>
                  <a:cubicBezTo>
                    <a:pt x="7636497" y="0"/>
                    <a:pt x="7696200" y="59703"/>
                    <a:pt x="7696200" y="133350"/>
                  </a:cubicBezTo>
                  <a:lnTo>
                    <a:pt x="7696200" y="4286250"/>
                  </a:lnTo>
                  <a:cubicBezTo>
                    <a:pt x="7696200" y="4359897"/>
                    <a:pt x="7636497" y="4419600"/>
                    <a:pt x="7562850" y="4419600"/>
                  </a:cubicBezTo>
                  <a:lnTo>
                    <a:pt x="133350" y="4419600"/>
                  </a:lnTo>
                  <a:cubicBezTo>
                    <a:pt x="59703" y="4419600"/>
                    <a:pt x="0" y="4359897"/>
                    <a:pt x="0" y="42862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1257300"/>
              <a:ext cx="7696200" cy="4419600"/>
            </a:xfrm>
            <a:custGeom>
              <a:avLst/>
              <a:gdLst/>
              <a:ahLst/>
              <a:cxnLst/>
              <a:rect l="l" t="t" r="r" b="b"/>
              <a:pathLst>
                <a:path w="7696200" h="4419600">
                  <a:moveTo>
                    <a:pt x="133350" y="0"/>
                  </a:moveTo>
                  <a:lnTo>
                    <a:pt x="7562850" y="0"/>
                  </a:lnTo>
                  <a:cubicBezTo>
                    <a:pt x="7636497" y="0"/>
                    <a:pt x="7696200" y="59703"/>
                    <a:pt x="7696200" y="133350"/>
                  </a:cubicBezTo>
                  <a:lnTo>
                    <a:pt x="7696200" y="4286250"/>
                  </a:lnTo>
                  <a:cubicBezTo>
                    <a:pt x="7696200" y="4359897"/>
                    <a:pt x="7636497" y="4419600"/>
                    <a:pt x="7562850" y="4419600"/>
                  </a:cubicBezTo>
                  <a:lnTo>
                    <a:pt x="133350" y="4419600"/>
                  </a:lnTo>
                  <a:cubicBezTo>
                    <a:pt x="59703" y="4419600"/>
                    <a:pt x="0" y="4359897"/>
                    <a:pt x="0" y="42862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>
                <a:alpha val="62000"/>
              </a:scheme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14400" y="1638300"/>
              <a:ext cx="1104900" cy="323850"/>
            </a:xfrm>
            <a:custGeom>
              <a:avLst/>
              <a:gdLst/>
              <a:ahLst/>
              <a:cxnLst/>
              <a:rect l="l" t="t" r="r" b="b"/>
              <a:pathLst>
                <a:path w="1104900" h="323850">
                  <a:moveTo>
                    <a:pt x="161925" y="0"/>
                  </a:moveTo>
                  <a:lnTo>
                    <a:pt x="942975" y="0"/>
                  </a:lnTo>
                  <a:cubicBezTo>
                    <a:pt x="1032404" y="0"/>
                    <a:pt x="1104900" y="72496"/>
                    <a:pt x="1104900" y="161925"/>
                  </a:cubicBezTo>
                  <a:lnTo>
                    <a:pt x="1104900" y="161925"/>
                  </a:lnTo>
                  <a:cubicBezTo>
                    <a:pt x="1104900" y="251354"/>
                    <a:pt x="1032404" y="323850"/>
                    <a:pt x="9429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64679" y="17440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核心损耗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5350" y="1590675"/>
              <a:ext cx="2939263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20%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000500" y="1962150"/>
              <a:ext cx="9525" cy="2990850"/>
            </a:xfrm>
            <a:custGeom>
              <a:avLst/>
              <a:gdLst/>
              <a:ahLst/>
              <a:cxnLst/>
              <a:rect l="l" t="t" r="r" b="b"/>
              <a:pathLst>
                <a:path w="9525" h="2990850">
                  <a:moveTo>
                    <a:pt x="0" y="0"/>
                  </a:moveTo>
                  <a:lnTo>
                    <a:pt x="0" y="29908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89882" y="2306955"/>
              <a:ext cx="50675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传统营销堆栈因数据孤岛与人工流程，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89882" y="2726055"/>
              <a:ext cx="41325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每年侵蚀超过20%的潜在增量。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2930" y="33623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问题不是投放不足，而是客户数据、分析判断、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92930" y="36671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执行动作与复盘指标彼此脱节，导致增长链路持续漏损。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1066800" y="4267200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19175" y="42195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409825" y="42195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200150" y="4095750"/>
              <a:ext cx="990600" cy="419100"/>
            </a:xfrm>
            <a:custGeom>
              <a:avLst/>
              <a:gdLst/>
              <a:ahLst/>
              <a:cxnLst/>
              <a:rect l="l" t="t" r="r" b="b"/>
              <a:pathLst>
                <a:path w="990600" h="419100">
                  <a:moveTo>
                    <a:pt x="0" y="342900"/>
                  </a:moveTo>
                  <a:lnTo>
                    <a:pt x="190500" y="76200"/>
                  </a:lnTo>
                  <a:lnTo>
                    <a:pt x="381000" y="419100"/>
                  </a:lnTo>
                  <a:lnTo>
                    <a:pt x="590550" y="0"/>
                  </a:lnTo>
                  <a:lnTo>
                    <a:pt x="781050" y="361950"/>
                  </a:lnTo>
                  <a:lnTo>
                    <a:pt x="990600" y="15240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8304" y="47282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潜在收入被系统摩擦持续吞噬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610600" y="1562100"/>
              <a:ext cx="3009900" cy="1181100"/>
            </a:xfrm>
            <a:custGeom>
              <a:avLst/>
              <a:gdLst/>
              <a:ahLst/>
              <a:cxnLst/>
              <a:rect l="l" t="t" r="r" b="b"/>
              <a:pathLst>
                <a:path w="3009900" h="118110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066800"/>
                  </a:lnTo>
                  <a:cubicBezTo>
                    <a:pt x="3009900" y="1129926"/>
                    <a:pt x="2958726" y="1181100"/>
                    <a:pt x="2895600" y="1181100"/>
                  </a:cubicBezTo>
                  <a:lnTo>
                    <a:pt x="114300" y="1181100"/>
                  </a:lnTo>
                  <a:cubicBezTo>
                    <a:pt x="51174" y="1181100"/>
                    <a:pt x="0" y="1129926"/>
                    <a:pt x="0" y="1066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610600" y="3048000"/>
              <a:ext cx="3009900" cy="1181100"/>
            </a:xfrm>
            <a:custGeom>
              <a:avLst/>
              <a:gdLst/>
              <a:ahLst/>
              <a:cxnLst/>
              <a:rect l="l" t="t" r="r" b="b"/>
              <a:pathLst>
                <a:path w="3009900" h="118110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066800"/>
                  </a:lnTo>
                  <a:cubicBezTo>
                    <a:pt x="3009900" y="1129926"/>
                    <a:pt x="2958726" y="1181100"/>
                    <a:pt x="2895600" y="1181100"/>
                  </a:cubicBezTo>
                  <a:lnTo>
                    <a:pt x="114300" y="1181100"/>
                  </a:lnTo>
                  <a:cubicBezTo>
                    <a:pt x="51174" y="1181100"/>
                    <a:pt x="0" y="1129926"/>
                    <a:pt x="0" y="1066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610600" y="4533900"/>
              <a:ext cx="3009900" cy="1181100"/>
            </a:xfrm>
            <a:custGeom>
              <a:avLst/>
              <a:gdLst/>
              <a:ahLst/>
              <a:cxnLst/>
              <a:rect l="l" t="t" r="r" b="b"/>
              <a:pathLst>
                <a:path w="3009900" h="118110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066800"/>
                  </a:lnTo>
                  <a:cubicBezTo>
                    <a:pt x="3009900" y="1129926"/>
                    <a:pt x="2958726" y="1181100"/>
                    <a:pt x="2895600" y="1181100"/>
                  </a:cubicBezTo>
                  <a:lnTo>
                    <a:pt x="114300" y="1181100"/>
                  </a:lnTo>
                  <a:cubicBezTo>
                    <a:pt x="51174" y="1181100"/>
                    <a:pt x="0" y="1129926"/>
                    <a:pt x="0" y="1066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877300" y="198120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953500" y="21526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04875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67266" y="19250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平均决策延迟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57360" y="2076450"/>
              <a:ext cx="7249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2270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从报表到动作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877300" y="3467100"/>
              <a:ext cx="342900" cy="342900"/>
            </a:xfrm>
            <a:prstGeom prst="ellipse">
              <a:avLst/>
            </a:prstGeom>
            <a:solidFill>
              <a:srgbClr val="FDECEC"/>
            </a:solidFill>
            <a:ln w="19050">
              <a:solidFill>
                <a:srgbClr val="C53030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972550" y="35623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1524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C53030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972550" y="35623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C5303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67266" y="34109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人工执行错误率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57360" y="35623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85654" y="3756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跨渠道配置偏差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877300" y="4953000"/>
              <a:ext cx="342900" cy="342900"/>
            </a:xfrm>
            <a:prstGeom prst="ellipse">
              <a:avLst/>
            </a:prstGeom>
            <a:solidFill>
              <a:srgbClr val="EBF9F0"/>
            </a:solidFill>
            <a:ln w="19050">
              <a:solidFill>
                <a:srgbClr val="2F855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953500" y="504825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95250"/>
                  </a:moveTo>
                  <a:lnTo>
                    <a:pt x="76200" y="171450"/>
                  </a:lnTo>
                  <a:lnTo>
                    <a:pt x="209550" y="0"/>
                  </a:lnTo>
                </a:path>
              </a:pathLst>
            </a:custGeom>
            <a:noFill/>
            <a:ln w="23812" cap="rnd">
              <a:solidFill>
                <a:srgbClr val="2F855A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67266" y="4896802"/>
              <a:ext cx="10848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AI活动创建提速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57360" y="5048250"/>
              <a:ext cx="9713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85654" y="5242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自动化后的基准空间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267700" y="2152650"/>
            <a:ext cx="3017901" cy="3987737"/>
            <a:chOff x="8267700" y="2152650"/>
            <a:chExt cx="3017901" cy="3987737"/>
          </a:xfrm>
        </p:grpSpPr>
        <p:sp>
          <p:nvSpPr>
            <p:cNvPr id="63" name="Line 63"/>
            <p:cNvSpPr/>
            <p:nvPr/>
          </p:nvSpPr>
          <p:spPr>
            <a:xfrm>
              <a:off x="8267700" y="21526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267700" y="36385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8267700" y="51244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71966" y="593502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单页结论：先打通数据，再谈智能增长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1047750"/>
              <a:ext cx="11049000" cy="5143500"/>
            </a:xfrm>
            <a:custGeom>
              <a:avLst/>
              <a:gdLst/>
              <a:ahLst/>
              <a:cxnLst/>
              <a:rect l="l" t="t" r="r" b="b"/>
              <a:pathLst>
                <a:path w="11049000" h="514350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4991100"/>
                  </a:lnTo>
                  <a:cubicBezTo>
                    <a:pt x="11049000" y="5075268"/>
                    <a:pt x="10980768" y="5143500"/>
                    <a:pt x="10896600" y="5143500"/>
                  </a:cubicBezTo>
                  <a:lnTo>
                    <a:pt x="152400" y="5143500"/>
                  </a:lnTo>
                  <a:cubicBezTo>
                    <a:pt x="68232" y="5143500"/>
                    <a:pt x="0" y="5075268"/>
                    <a:pt x="0" y="4991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1047750"/>
              <a:ext cx="11049000" cy="5143500"/>
            </a:xfrm>
            <a:custGeom>
              <a:avLst/>
              <a:gdLst/>
              <a:ahLst/>
              <a:cxnLst/>
              <a:rect l="l" t="t" r="r" b="b"/>
              <a:pathLst>
                <a:path w="11049000" h="514350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4991100"/>
                  </a:lnTo>
                  <a:cubicBezTo>
                    <a:pt x="11049000" y="5075268"/>
                    <a:pt x="10980768" y="5143500"/>
                    <a:pt x="10896600" y="5143500"/>
                  </a:cubicBezTo>
                  <a:lnTo>
                    <a:pt x="152400" y="5143500"/>
                  </a:lnTo>
                  <a:cubicBezTo>
                    <a:pt x="68232" y="5143500"/>
                    <a:pt x="0" y="5075268"/>
                    <a:pt x="0" y="4991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8953500" y="190500"/>
              <a:ext cx="2476500" cy="24765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048875" y="4238625"/>
              <a:ext cx="2095500" cy="20955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420052"/>
            <a:ext cx="11062716" cy="6177439"/>
            <a:chOff x="557784" y="420052"/>
            <a:chExt cx="11062716" cy="6177439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420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4100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下一步：90天落地路径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990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738" y="643556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8320" y="64355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67918" y="1345882"/>
            <a:ext cx="10581132" cy="4273868"/>
            <a:chOff x="867918" y="1345882"/>
            <a:chExt cx="10581132" cy="4273868"/>
          </a:xfrm>
        </p:grpSpPr>
        <p:sp>
          <p:nvSpPr>
            <p:cNvPr id="14" name="TextBox 14"/>
            <p:cNvSpPr txBox="1"/>
            <p:nvPr/>
          </p:nvSpPr>
          <p:spPr>
            <a:xfrm>
              <a:off x="867918" y="134588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分三阶段快速验证价值，逐步扩展至全链路自动化营销。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04950" y="3333750"/>
              <a:ext cx="9182100" cy="9525"/>
            </a:xfrm>
            <a:custGeom>
              <a:avLst/>
              <a:gdLst/>
              <a:ahLst/>
              <a:cxnLst/>
              <a:rect l="l" t="t" r="r" b="b"/>
              <a:pathLst>
                <a:path w="9182100" h="9525">
                  <a:moveTo>
                    <a:pt x="0" y="0"/>
                  </a:moveTo>
                  <a:lnTo>
                    <a:pt x="9182100" y="0"/>
                  </a:lnTo>
                </a:path>
              </a:pathLst>
            </a:custGeom>
            <a:noFill/>
            <a:ln w="57150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</a:ln>
          </p:spPr>
        </p:sp>
        <p:sp>
          <p:nvSpPr>
            <p:cNvPr id="16" name="Line 16"/>
            <p:cNvSpPr/>
            <p:nvPr/>
          </p:nvSpPr>
          <p:spPr>
            <a:xfrm>
              <a:off x="1504950" y="3333750"/>
              <a:ext cx="9182100" cy="9525"/>
            </a:xfrm>
            <a:custGeom>
              <a:avLst/>
              <a:gdLst/>
              <a:ahLst/>
              <a:cxnLst/>
              <a:rect l="l" t="t" r="r" b="b"/>
              <a:pathLst>
                <a:path w="9182100" h="9525">
                  <a:moveTo>
                    <a:pt x="0" y="0"/>
                  </a:moveTo>
                  <a:lnTo>
                    <a:pt x="9182100" y="0"/>
                  </a:lnTo>
                </a:path>
              </a:pathLst>
            </a:custGeom>
            <a:noFill/>
            <a:ln w="19050" cap="rnd">
              <a:solidFill>
                <a:srgbClr val="FFFFFF">
                  <a:alpha val="70000"/>
                </a:srgbClr>
              </a:solidFill>
              <a:custDash>
                <a:ds d="400000" sp="700000"/>
              </a:custDash>
            </a:ln>
          </p:spPr>
        </p:sp>
        <p:sp>
          <p:nvSpPr>
            <p:cNvPr id="17" name="Ellipse 17"/>
            <p:cNvSpPr/>
            <p:nvPr/>
          </p:nvSpPr>
          <p:spPr>
            <a:xfrm>
              <a:off x="1847850" y="30861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848350" y="30861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848850" y="30861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714500" y="2952750"/>
              <a:ext cx="762000" cy="762000"/>
            </a:xfrm>
            <a:prstGeom prst="ellipse">
              <a:avLst/>
            </a:prstGeom>
            <a:noFill/>
            <a:ln w="19050">
              <a:solidFill>
                <a:schemeClr val="accent1">
                  <a:alpha val="14000"/>
                </a:scheme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15000" y="2952750"/>
              <a:ext cx="762000" cy="762000"/>
            </a:xfrm>
            <a:prstGeom prst="ellipse">
              <a:avLst/>
            </a:prstGeom>
            <a:noFill/>
            <a:ln w="19050">
              <a:solidFill>
                <a:schemeClr val="accent2">
                  <a:alpha val="18000"/>
                </a:scheme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715500" y="2952750"/>
              <a:ext cx="762000" cy="762000"/>
            </a:xfrm>
            <a:prstGeom prst="ellipse">
              <a:avLst/>
            </a:prstGeom>
            <a:noFill/>
            <a:ln w="19050">
              <a:solidFill>
                <a:schemeClr val="accent3">
                  <a:alpha val="22000"/>
                </a:schemeClr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90600" y="19431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33350" y="0"/>
                  </a:moveTo>
                  <a:lnTo>
                    <a:pt x="2076450" y="0"/>
                  </a:lnTo>
                  <a:cubicBezTo>
                    <a:pt x="2150097" y="0"/>
                    <a:pt x="2209800" y="59703"/>
                    <a:pt x="2209800" y="133350"/>
                  </a:cubicBezTo>
                  <a:lnTo>
                    <a:pt x="2209800" y="990600"/>
                  </a:lnTo>
                  <a:cubicBezTo>
                    <a:pt x="2209800" y="1064247"/>
                    <a:pt x="2150097" y="1123950"/>
                    <a:pt x="2076450" y="1123950"/>
                  </a:cubicBezTo>
                  <a:lnTo>
                    <a:pt x="133350" y="1123950"/>
                  </a:lnTo>
                  <a:cubicBezTo>
                    <a:pt x="59703" y="1123950"/>
                    <a:pt x="0" y="1064247"/>
                    <a:pt x="0" y="990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90600" y="19431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33350" y="0"/>
                  </a:moveTo>
                  <a:lnTo>
                    <a:pt x="2076450" y="0"/>
                  </a:lnTo>
                  <a:cubicBezTo>
                    <a:pt x="2150097" y="0"/>
                    <a:pt x="2209800" y="59703"/>
                    <a:pt x="2209800" y="133350"/>
                  </a:cubicBezTo>
                  <a:lnTo>
                    <a:pt x="2209800" y="990600"/>
                  </a:lnTo>
                  <a:cubicBezTo>
                    <a:pt x="2209800" y="1064247"/>
                    <a:pt x="2150097" y="1123950"/>
                    <a:pt x="2076450" y="1123950"/>
                  </a:cubicBezTo>
                  <a:lnTo>
                    <a:pt x="133350" y="1123950"/>
                  </a:lnTo>
                  <a:cubicBezTo>
                    <a:pt x="59703" y="1123950"/>
                    <a:pt x="0" y="1064247"/>
                    <a:pt x="0" y="990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94816" y="2134552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– 30 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1006" y="2377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数据基础整合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4054" y="27089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接入核心渠道与统一客户数据，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4054" y="2937510"/>
              <a:ext cx="1795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准备 AI 模型训练环境。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095500" y="30670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991100" y="19431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33350" y="0"/>
                  </a:moveTo>
                  <a:lnTo>
                    <a:pt x="2076450" y="0"/>
                  </a:lnTo>
                  <a:cubicBezTo>
                    <a:pt x="2150097" y="0"/>
                    <a:pt x="2209800" y="59703"/>
                    <a:pt x="2209800" y="133350"/>
                  </a:cubicBezTo>
                  <a:lnTo>
                    <a:pt x="2209800" y="990600"/>
                  </a:lnTo>
                  <a:cubicBezTo>
                    <a:pt x="2209800" y="1064247"/>
                    <a:pt x="2150097" y="1123950"/>
                    <a:pt x="2076450" y="1123950"/>
                  </a:cubicBezTo>
                  <a:lnTo>
                    <a:pt x="133350" y="1123950"/>
                  </a:lnTo>
                  <a:cubicBezTo>
                    <a:pt x="59703" y="1123950"/>
                    <a:pt x="0" y="1064247"/>
                    <a:pt x="0" y="990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991100" y="19431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33350" y="0"/>
                  </a:moveTo>
                  <a:lnTo>
                    <a:pt x="2076450" y="0"/>
                  </a:lnTo>
                  <a:cubicBezTo>
                    <a:pt x="2150097" y="0"/>
                    <a:pt x="2209800" y="59703"/>
                    <a:pt x="2209800" y="133350"/>
                  </a:cubicBezTo>
                  <a:lnTo>
                    <a:pt x="2209800" y="990600"/>
                  </a:lnTo>
                  <a:cubicBezTo>
                    <a:pt x="2209800" y="1064247"/>
                    <a:pt x="2150097" y="1123950"/>
                    <a:pt x="2076450" y="1123950"/>
                  </a:cubicBezTo>
                  <a:lnTo>
                    <a:pt x="133350" y="1123950"/>
                  </a:lnTo>
                  <a:cubicBezTo>
                    <a:pt x="59703" y="1123950"/>
                    <a:pt x="0" y="1064247"/>
                    <a:pt x="0" y="990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95316" y="2134552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 – 60 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91506" y="2377440"/>
              <a:ext cx="1402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决策试点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94554" y="2708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启动受众定向与内容生成，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94554" y="29375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跑通首轮活动并建立基线。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096000" y="30670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991600" y="19431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33350" y="0"/>
                  </a:moveTo>
                  <a:lnTo>
                    <a:pt x="2076450" y="0"/>
                  </a:lnTo>
                  <a:cubicBezTo>
                    <a:pt x="2150097" y="0"/>
                    <a:pt x="2209800" y="59703"/>
                    <a:pt x="2209800" y="133350"/>
                  </a:cubicBezTo>
                  <a:lnTo>
                    <a:pt x="2209800" y="990600"/>
                  </a:lnTo>
                  <a:cubicBezTo>
                    <a:pt x="2209800" y="1064247"/>
                    <a:pt x="2150097" y="1123950"/>
                    <a:pt x="2076450" y="1123950"/>
                  </a:cubicBezTo>
                  <a:lnTo>
                    <a:pt x="133350" y="1123950"/>
                  </a:lnTo>
                  <a:cubicBezTo>
                    <a:pt x="59703" y="1123950"/>
                    <a:pt x="0" y="1064247"/>
                    <a:pt x="0" y="990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991600" y="19431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33350" y="0"/>
                  </a:moveTo>
                  <a:lnTo>
                    <a:pt x="2076450" y="0"/>
                  </a:lnTo>
                  <a:cubicBezTo>
                    <a:pt x="2150097" y="0"/>
                    <a:pt x="2209800" y="59703"/>
                    <a:pt x="2209800" y="133350"/>
                  </a:cubicBezTo>
                  <a:lnTo>
                    <a:pt x="2209800" y="990600"/>
                  </a:lnTo>
                  <a:cubicBezTo>
                    <a:pt x="2209800" y="1064247"/>
                    <a:pt x="2150097" y="1123950"/>
                    <a:pt x="2076450" y="1123950"/>
                  </a:cubicBezTo>
                  <a:lnTo>
                    <a:pt x="133350" y="1123950"/>
                  </a:lnTo>
                  <a:cubicBezTo>
                    <a:pt x="59703" y="1123950"/>
                    <a:pt x="0" y="1064247"/>
                    <a:pt x="0" y="990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95816" y="2134552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60 – 90 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92006" y="2377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全链路自动化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95054" y="27089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扩展跨渠道旅程编排，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5054" y="29375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接入归因、优化与实时度量。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0096500" y="30670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6300" y="3924300"/>
              <a:ext cx="10572750" cy="1695450"/>
            </a:xfrm>
            <a:custGeom>
              <a:avLst/>
              <a:gdLst/>
              <a:ahLst/>
              <a:cxnLst/>
              <a:rect l="l" t="t" r="r" b="b"/>
              <a:pathLst>
                <a:path w="10572750" h="1695450">
                  <a:moveTo>
                    <a:pt x="133350" y="0"/>
                  </a:moveTo>
                  <a:lnTo>
                    <a:pt x="10439400" y="0"/>
                  </a:lnTo>
                  <a:cubicBezTo>
                    <a:pt x="10513047" y="0"/>
                    <a:pt x="10572750" y="59703"/>
                    <a:pt x="10572750" y="133350"/>
                  </a:cubicBezTo>
                  <a:lnTo>
                    <a:pt x="10572750" y="1562100"/>
                  </a:lnTo>
                  <a:cubicBezTo>
                    <a:pt x="10572750" y="1635747"/>
                    <a:pt x="10513047" y="1695450"/>
                    <a:pt x="10439400" y="1695450"/>
                  </a:cubicBezTo>
                  <a:lnTo>
                    <a:pt x="133350" y="1695450"/>
                  </a:lnTo>
                  <a:cubicBezTo>
                    <a:pt x="59703" y="1695450"/>
                    <a:pt x="0" y="1635747"/>
                    <a:pt x="0" y="1562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76300" y="3924300"/>
              <a:ext cx="10572750" cy="1695450"/>
            </a:xfrm>
            <a:custGeom>
              <a:avLst/>
              <a:gdLst/>
              <a:ahLst/>
              <a:cxnLst/>
              <a:rect l="l" t="t" r="r" b="b"/>
              <a:pathLst>
                <a:path w="10572750" h="1695450">
                  <a:moveTo>
                    <a:pt x="133350" y="0"/>
                  </a:moveTo>
                  <a:lnTo>
                    <a:pt x="10439400" y="0"/>
                  </a:lnTo>
                  <a:cubicBezTo>
                    <a:pt x="10513047" y="0"/>
                    <a:pt x="10572750" y="59703"/>
                    <a:pt x="10572750" y="133350"/>
                  </a:cubicBezTo>
                  <a:lnTo>
                    <a:pt x="10572750" y="1562100"/>
                  </a:lnTo>
                  <a:cubicBezTo>
                    <a:pt x="10572750" y="1635747"/>
                    <a:pt x="10513047" y="1695450"/>
                    <a:pt x="10439400" y="1695450"/>
                  </a:cubicBezTo>
                  <a:lnTo>
                    <a:pt x="133350" y="1695450"/>
                  </a:lnTo>
                  <a:cubicBezTo>
                    <a:pt x="59703" y="1695450"/>
                    <a:pt x="0" y="1635747"/>
                    <a:pt x="0" y="1562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104900" y="4171950"/>
              <a:ext cx="3067050" cy="1200150"/>
            </a:xfrm>
            <a:custGeom>
              <a:avLst/>
              <a:gdLst/>
              <a:ahLst/>
              <a:cxnLst/>
              <a:rect l="l" t="t" r="r" b="b"/>
              <a:pathLst>
                <a:path w="3067050" h="1200150">
                  <a:moveTo>
                    <a:pt x="114300" y="0"/>
                  </a:moveTo>
                  <a:lnTo>
                    <a:pt x="2952750" y="0"/>
                  </a:lnTo>
                  <a:cubicBezTo>
                    <a:pt x="3015876" y="0"/>
                    <a:pt x="3067050" y="51174"/>
                    <a:pt x="3067050" y="114300"/>
                  </a:cubicBezTo>
                  <a:lnTo>
                    <a:pt x="3067050" y="1085850"/>
                  </a:lnTo>
                  <a:cubicBezTo>
                    <a:pt x="3067050" y="1148976"/>
                    <a:pt x="3015876" y="1200150"/>
                    <a:pt x="295275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562475" y="4171950"/>
              <a:ext cx="3067050" cy="1200150"/>
            </a:xfrm>
            <a:custGeom>
              <a:avLst/>
              <a:gdLst/>
              <a:ahLst/>
              <a:cxnLst/>
              <a:rect l="l" t="t" r="r" b="b"/>
              <a:pathLst>
                <a:path w="3067050" h="1200150">
                  <a:moveTo>
                    <a:pt x="114300" y="0"/>
                  </a:moveTo>
                  <a:lnTo>
                    <a:pt x="2952750" y="0"/>
                  </a:lnTo>
                  <a:cubicBezTo>
                    <a:pt x="3015876" y="0"/>
                    <a:pt x="3067050" y="51174"/>
                    <a:pt x="3067050" y="114300"/>
                  </a:cubicBezTo>
                  <a:lnTo>
                    <a:pt x="3067050" y="1085850"/>
                  </a:lnTo>
                  <a:cubicBezTo>
                    <a:pt x="3067050" y="1148976"/>
                    <a:pt x="3015876" y="1200150"/>
                    <a:pt x="295275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020050" y="4171950"/>
              <a:ext cx="3200400" cy="1200150"/>
            </a:xfrm>
            <a:custGeom>
              <a:avLst/>
              <a:gdLst/>
              <a:ahLst/>
              <a:cxnLst/>
              <a:rect l="l" t="t" r="r" b="b"/>
              <a:pathLst>
                <a:path w="3200400" h="1200150">
                  <a:moveTo>
                    <a:pt x="114300" y="0"/>
                  </a:moveTo>
                  <a:lnTo>
                    <a:pt x="3086100" y="0"/>
                  </a:lnTo>
                  <a:cubicBezTo>
                    <a:pt x="3149226" y="0"/>
                    <a:pt x="3200400" y="51174"/>
                    <a:pt x="3200400" y="114300"/>
                  </a:cubicBezTo>
                  <a:lnTo>
                    <a:pt x="3200400" y="1085850"/>
                  </a:lnTo>
                  <a:cubicBezTo>
                    <a:pt x="3200400" y="1148976"/>
                    <a:pt x="3149226" y="1200150"/>
                    <a:pt x="308610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27785" y="4345781"/>
              <a:ext cx="791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 1 交付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25880" y="4581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统一数据底座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27404" y="4890135"/>
              <a:ext cx="1710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渠道接入、CDP 建设、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27404" y="51187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模型训练环境上线。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785360" y="4345781"/>
              <a:ext cx="791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 2 交付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83455" y="4581525"/>
              <a:ext cx="16842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 AI 决策价值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84979" y="48901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自动定向、内容生成、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84979" y="51187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首轮活动效果闭环。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42935" y="4345781"/>
              <a:ext cx="791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 3 交付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41030" y="45815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形成持续优化引擎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2554" y="48901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跨渠道自动编排、归因规则、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2554" y="51187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实时仪表盘与优化动作。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033195" y="1648778"/>
            <a:ext cx="9287839" cy="1860423"/>
            <a:chOff x="2033195" y="1648778"/>
            <a:chExt cx="9287839" cy="1860423"/>
          </a:xfrm>
        </p:grpSpPr>
        <p:sp>
          <p:nvSpPr>
            <p:cNvPr id="62" name="TextBox 62"/>
            <p:cNvSpPr txBox="1"/>
            <p:nvPr/>
          </p:nvSpPr>
          <p:spPr>
            <a:xfrm>
              <a:off x="2033195" y="3245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33695" y="3245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34195" y="3245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44962" y="16487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价值递进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0458450" y="18097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1201400" y="17716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2026-07-10T23:24:32Z</dcterms:created>
  <dcterms:modified xsi:type="dcterms:W3CDTF">2026-07-10T23:24:32Z</dcterms:modified>
  <cp:category/>
  <cp:contentStatus/>
</cp:coreProperties>
</file>