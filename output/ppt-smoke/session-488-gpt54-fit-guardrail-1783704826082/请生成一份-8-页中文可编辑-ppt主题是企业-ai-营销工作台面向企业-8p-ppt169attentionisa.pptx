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企业AI营销工作台</a:t>
            </a:r>
          </a:p>
          <a:p>
            <a:endParaRPr lang="en-US" dirty="0"/>
          </a:p>
          <a:p>
            <a:r>
              <a:rPr lang="zh-CN" dirty="0"/>
              <a:t>以统一数据底座、AI决策引擎、自动化执行链路和闭环度量体系，把营销从分散动作升级为可经营的持续增长系统。</a:t>
            </a:r>
          </a:p>
          <a:p>
            <a:endParaRPr lang="en-US" dirty="0"/>
          </a:p>
          <a:p>
            <a:r>
              <a:rPr lang="zh-CN" dirty="0"/>
              <a:t>• 适用场景：客户获取、线索培育、活动投放、私域运营</a:t>
            </a:r>
          </a:p>
          <a:p>
            <a:r>
              <a:rPr lang="zh-CN" dirty="0"/>
              <a:t>• 产品形态：面向客户的SaaS工作台</a:t>
            </a:r>
          </a:p>
          <a:p>
            <a:r>
              <a:rPr lang="zh-CN" dirty="0"/>
              <a:t>• 决策重点：价值、风险、上线路径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决策框架</a:t>
            </a:r>
          </a:p>
          <a:p>
            <a:endParaRPr lang="en-US" dirty="0"/>
          </a:p>
          <a:p>
            <a:r>
              <a:rPr lang="zh-CN" dirty="0"/>
              <a:t>本方案优先回答是否值得投、先落什么、怎样控风险。</a:t>
            </a:r>
          </a:p>
          <a:p>
            <a:endParaRPr lang="en-US" dirty="0"/>
          </a:p>
          <a:p>
            <a:r>
              <a:rPr lang="zh-CN" dirty="0"/>
              <a:t>• 先看增长失真点</a:t>
            </a:r>
          </a:p>
          <a:p>
            <a:r>
              <a:rPr lang="zh-CN" dirty="0"/>
              <a:t>• 再看平台四大能力</a:t>
            </a:r>
          </a:p>
          <a:p>
            <a:r>
              <a:rPr lang="zh-CN" dirty="0"/>
              <a:t>• 随后验证业务价值</a:t>
            </a:r>
          </a:p>
          <a:p>
            <a:r>
              <a:rPr lang="zh-CN" dirty="0"/>
              <a:t>• 业务现状与判断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营销增长的真实瓶颈</a:t>
            </a:r>
          </a:p>
          <a:p>
            <a:endParaRPr lang="en-US" dirty="0"/>
          </a:p>
          <a:p>
            <a:r>
              <a:rPr lang="zh-CN" dirty="0"/>
              <a:t>多数企业并不缺投放工具，真正缺的是把客户数据、策略判断、执行动作和结果反馈串成闭环的统一系统。</a:t>
            </a:r>
          </a:p>
          <a:p>
            <a:endParaRPr lang="en-US" dirty="0"/>
          </a:p>
          <a:p>
            <a:r>
              <a:rPr lang="zh-CN" dirty="0"/>
              <a:t>• 数据分散：渠道、CRM、私域、内容平台各自为政</a:t>
            </a:r>
          </a:p>
          <a:p>
            <a:r>
              <a:rPr lang="zh-CN" dirty="0"/>
              <a:t>• 决策滞后：分析依赖人工，洞察难进入日常动作</a:t>
            </a:r>
          </a:p>
          <a:p>
            <a:r>
              <a:rPr lang="zh-CN" dirty="0"/>
              <a:t>• 结果失真：预算、线索与成交之间缺少可追踪映射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从工具拼接到统一工作台</a:t>
            </a:r>
          </a:p>
          <a:p>
            <a:endParaRPr lang="en-US" dirty="0"/>
          </a:p>
          <a:p>
            <a:r>
              <a:rPr lang="zh-CN" dirty="0"/>
              <a:t>差异不在于多一个AI功能，而在于是否形成从洞察到执行再到复盘的经营闭环。</a:t>
            </a:r>
          </a:p>
          <a:p>
            <a:endParaRPr lang="en-US" dirty="0"/>
          </a:p>
          <a:p>
            <a:r>
              <a:rPr lang="zh-CN" dirty="0"/>
              <a:t>• 旧模式偏执行管理</a:t>
            </a:r>
          </a:p>
          <a:p>
            <a:r>
              <a:rPr lang="zh-CN" dirty="0"/>
              <a:t>• 新模式偏经营管理</a:t>
            </a:r>
          </a:p>
          <a:p>
            <a:r>
              <a:rPr lang="zh-CN" dirty="0"/>
              <a:t>• 价值来自全链路联动</a:t>
            </a:r>
          </a:p>
          <a:p>
            <a:r>
              <a:rPr lang="zh-CN" dirty="0"/>
              <a:t>• 关键变量对比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四大模块，形成闭环</a:t>
            </a:r>
          </a:p>
          <a:p>
            <a:endParaRPr lang="en-US" dirty="0"/>
          </a:p>
          <a:p>
            <a:r>
              <a:rPr lang="zh-CN" dirty="0"/>
              <a:t>平台价值来自四个模块连续工作，每一环都直接服务于增长效率与管理可见性。</a:t>
            </a:r>
          </a:p>
          <a:p>
            <a:endParaRPr lang="en-US" dirty="0"/>
          </a:p>
          <a:p>
            <a:r>
              <a:rPr lang="zh-CN" dirty="0"/>
              <a:t>• 不是四个孤立功能</a:t>
            </a:r>
          </a:p>
          <a:p>
            <a:r>
              <a:rPr lang="zh-CN" dirty="0"/>
              <a:t>• 而是一条持续优化链路</a:t>
            </a:r>
          </a:p>
          <a:p>
            <a:r>
              <a:rPr lang="zh-CN" dirty="0"/>
              <a:t>• 可从单场景切入再逐步扩展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管理层可直接关注的收益</a:t>
            </a:r>
          </a:p>
          <a:p>
            <a:endParaRPr lang="en-US" dirty="0"/>
          </a:p>
          <a:p>
            <a:r>
              <a:rPr lang="zh-CN" dirty="0"/>
              <a:t>该工作台优先改善预算效率、线索质量、协同速度和复盘周期四类核心经营指标。</a:t>
            </a:r>
          </a:p>
          <a:p>
            <a:endParaRPr lang="en-US" dirty="0"/>
          </a:p>
          <a:p>
            <a:r>
              <a:rPr lang="zh-CN" dirty="0"/>
              <a:t>• 收益应以经营口径衡量</a:t>
            </a:r>
          </a:p>
          <a:p>
            <a:r>
              <a:rPr lang="zh-CN" dirty="0"/>
              <a:t>• 先追求可见，再追求最优</a:t>
            </a:r>
          </a:p>
          <a:p>
            <a:r>
              <a:rPr lang="zh-CN" dirty="0"/>
              <a:t>• 关键数字</a:t>
            </a:r>
          </a:p>
          <a:p>
            <a:r>
              <a:rPr lang="zh-CN" dirty="0"/>
              <a:t>• 压力指标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价值释放路径</a:t>
            </a:r>
          </a:p>
          <a:p>
            <a:endParaRPr lang="en-US" dirty="0"/>
          </a:p>
          <a:p>
            <a:r>
              <a:rPr lang="zh-CN" dirty="0"/>
              <a:t>价值不是一次性爆发，而是沿着数据、洞察、执行、度量四段逐步放大。</a:t>
            </a:r>
          </a:p>
          <a:p>
            <a:endParaRPr lang="en-US" dirty="0"/>
          </a:p>
          <a:p>
            <a:r>
              <a:rPr lang="zh-CN" dirty="0"/>
              <a:t>• 前段解决可见性</a:t>
            </a:r>
          </a:p>
          <a:p>
            <a:r>
              <a:rPr lang="zh-CN" dirty="0"/>
              <a:t>• 中段解决执行力</a:t>
            </a:r>
          </a:p>
          <a:p>
            <a:r>
              <a:rPr lang="zh-CN" dirty="0"/>
              <a:t>• 后段解决持续优化</a:t>
            </a:r>
          </a:p>
          <a:p>
            <a:r>
              <a:rPr lang="zh-CN" dirty="0"/>
              <a:t>• 主轴关系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建议的推进路径</a:t>
            </a:r>
          </a:p>
          <a:p>
            <a:endParaRPr lang="en-US" dirty="0"/>
          </a:p>
          <a:p>
            <a:r>
              <a:rPr lang="zh-CN" dirty="0"/>
              <a:t>建议先用90天完成高价值场景验证，再按业务单元逐步扩展到全域营销运营。</a:t>
            </a:r>
          </a:p>
          <a:p>
            <a:endParaRPr lang="en-US" dirty="0"/>
          </a:p>
          <a:p>
            <a:r>
              <a:rPr lang="zh-CN" dirty="0"/>
              <a:t>• 先小范围验证价值</a:t>
            </a:r>
          </a:p>
          <a:p>
            <a:r>
              <a:rPr lang="zh-CN" dirty="0"/>
              <a:t>• 再按组织节奏扩展</a:t>
            </a:r>
          </a:p>
          <a:p>
            <a:r>
              <a:rPr lang="zh-CN" dirty="0"/>
              <a:t>• 治理与安全同步上线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5964d0aa44935984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rcRect l="20312" t="0" r="20312" b="0"/>
            <a:stretch>
              <a:fillRect/>
            </a:stretch>
          </p:blipFill>
          <p:spPr>
            <a:xfrm>
              <a:off x="4953000" y="0"/>
              <a:ext cx="7239000" cy="6858000"/>
            </a:xfrm>
            <a:prstGeom prst="rect">
              <a:avLst/>
            </a:prstGeom>
          </p:spPr>
        </p:pic>
        <p:sp>
          <p:nvSpPr>
            <p:cNvPr id="5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>
                    <a:alpha val="98000"/>
                  </a:schemeClr>
                </a:gs>
                <a:gs pos="55000">
                  <a:schemeClr val="lt1">
                    <a:alpha val="92000"/>
                  </a:schemeClr>
                </a:gs>
                <a:gs pos="100000">
                  <a:schemeClr val="lt1">
                    <a:alpha val="3500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0" y="857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60007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239000" y="10477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19050">
              <a:solidFill>
                <a:schemeClr val="accent2">
                  <a:alpha val="18000"/>
                </a:schemeClr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7239000" y="133350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9525">
              <a:solidFill>
                <a:schemeClr val="accent1">
                  <a:alpha val="12000"/>
                </a:schemeClr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7239000" y="16192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7239000" y="190500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7239000" y="21907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7239000" y="247650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7810500" y="9525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8763000" y="9525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9715500" y="9525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0668000" y="9525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9525">
              <a:solidFill>
                <a:schemeClr val="accent1">
                  <a:alpha val="8000"/>
                </a:schemeClr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566166" y="458152"/>
            <a:ext cx="10963847" cy="6053614"/>
            <a:chOff x="566166" y="458152"/>
            <a:chExt cx="10963847" cy="6053614"/>
          </a:xfrm>
        </p:grpSpPr>
        <p:sp>
          <p:nvSpPr>
            <p:cNvPr id="19" name="TextBox 19"/>
            <p:cNvSpPr txBox="1"/>
            <p:nvPr/>
          </p:nvSpPr>
          <p:spPr>
            <a:xfrm>
              <a:off x="566166" y="458152"/>
              <a:ext cx="8033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12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GRIDBRIEF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571500" y="990600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66738" y="6349841"/>
              <a:ext cx="1917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product-launch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98320" y="63498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52450" y="1000125"/>
            <a:ext cx="9677400" cy="4276725"/>
            <a:chOff x="552450" y="1000125"/>
            <a:chExt cx="9677400" cy="4276725"/>
          </a:xfrm>
        </p:grpSpPr>
        <p:sp>
          <p:nvSpPr>
            <p:cNvPr id="24" name="TextBox 24"/>
            <p:cNvSpPr txBox="1"/>
            <p:nvPr/>
          </p:nvSpPr>
          <p:spPr>
            <a:xfrm>
              <a:off x="552450" y="1593532"/>
              <a:ext cx="6658047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企业AI营销工作台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0456" y="2548890"/>
              <a:ext cx="56125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以统一数据底座、AI决策引擎、自动化执行链路和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0456" y="28727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闭环度量体系，把营销从分散动作升级为可经营的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0456" y="31965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持续增长系统。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571500" y="3810000"/>
              <a:ext cx="4095750" cy="1257300"/>
            </a:xfrm>
            <a:custGeom>
              <a:avLst/>
              <a:gdLst/>
              <a:ahLst/>
              <a:cxnLst/>
              <a:rect l="l" t="t" r="r" b="b"/>
              <a:pathLst>
                <a:path w="4095750" h="1257300">
                  <a:moveTo>
                    <a:pt x="114300" y="0"/>
                  </a:moveTo>
                  <a:lnTo>
                    <a:pt x="3981450" y="0"/>
                  </a:lnTo>
                  <a:cubicBezTo>
                    <a:pt x="4044576" y="0"/>
                    <a:pt x="4095750" y="51174"/>
                    <a:pt x="4095750" y="114300"/>
                  </a:cubicBezTo>
                  <a:lnTo>
                    <a:pt x="4095750" y="1143000"/>
                  </a:lnTo>
                  <a:cubicBezTo>
                    <a:pt x="4095750" y="1206126"/>
                    <a:pt x="4044576" y="1257300"/>
                    <a:pt x="3981450" y="1257300"/>
                  </a:cubicBezTo>
                  <a:lnTo>
                    <a:pt x="114300" y="1257300"/>
                  </a:lnTo>
                  <a:cubicBezTo>
                    <a:pt x="51174" y="1257300"/>
                    <a:pt x="0" y="1206126"/>
                    <a:pt x="0" y="1143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00100" y="4210050"/>
              <a:ext cx="3638550" cy="9525"/>
            </a:xfrm>
            <a:custGeom>
              <a:avLst/>
              <a:gdLst/>
              <a:ahLst/>
              <a:cxnLst/>
              <a:rect l="l" t="t" r="r" b="b"/>
              <a:pathLst>
                <a:path w="3638550" h="9525">
                  <a:moveTo>
                    <a:pt x="0" y="0"/>
                  </a:moveTo>
                  <a:lnTo>
                    <a:pt x="36385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3242" y="3911918"/>
              <a:ext cx="1425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管理层决策视角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3242" y="435006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适用场景：客户获取、线索培育、活动投放、私域运营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3242" y="4635818"/>
              <a:ext cx="2854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产品形态：面向客户的SaaS工作台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3242" y="49215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决策重点：价值、风险、上线路径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7239000" y="1466850"/>
              <a:ext cx="1200150" cy="666750"/>
            </a:xfrm>
            <a:custGeom>
              <a:avLst/>
              <a:gdLst/>
              <a:ahLst/>
              <a:cxnLst/>
              <a:rect l="l" t="t" r="r" b="b"/>
              <a:pathLst>
                <a:path w="1200150" h="666750">
                  <a:moveTo>
                    <a:pt x="95250" y="0"/>
                  </a:moveTo>
                  <a:lnTo>
                    <a:pt x="1104900" y="0"/>
                  </a:lnTo>
                  <a:cubicBezTo>
                    <a:pt x="1157505" y="0"/>
                    <a:pt x="1200150" y="42645"/>
                    <a:pt x="1200150" y="95250"/>
                  </a:cubicBezTo>
                  <a:lnTo>
                    <a:pt x="1200150" y="571500"/>
                  </a:lnTo>
                  <a:cubicBezTo>
                    <a:pt x="1200150" y="624105"/>
                    <a:pt x="1157505" y="666750"/>
                    <a:pt x="1104900" y="666750"/>
                  </a:cubicBezTo>
                  <a:lnTo>
                    <a:pt x="95250" y="666750"/>
                  </a:lnTo>
                  <a:cubicBezTo>
                    <a:pt x="42645" y="666750"/>
                    <a:pt x="0" y="624105"/>
                    <a:pt x="0" y="571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>
                <a:alpha val="92000"/>
              </a:schemeClr>
            </a:solidFill>
            <a:ln w="14288">
              <a:solidFill>
                <a:schemeClr val="accent1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029700" y="1466850"/>
              <a:ext cx="1200150" cy="666750"/>
            </a:xfrm>
            <a:custGeom>
              <a:avLst/>
              <a:gdLst/>
              <a:ahLst/>
              <a:cxnLst/>
              <a:rect l="l" t="t" r="r" b="b"/>
              <a:pathLst>
                <a:path w="1200150" h="666750">
                  <a:moveTo>
                    <a:pt x="95250" y="0"/>
                  </a:moveTo>
                  <a:lnTo>
                    <a:pt x="1104900" y="0"/>
                  </a:lnTo>
                  <a:cubicBezTo>
                    <a:pt x="1157505" y="0"/>
                    <a:pt x="1200150" y="42645"/>
                    <a:pt x="1200150" y="95250"/>
                  </a:cubicBezTo>
                  <a:lnTo>
                    <a:pt x="1200150" y="571500"/>
                  </a:lnTo>
                  <a:cubicBezTo>
                    <a:pt x="1200150" y="624105"/>
                    <a:pt x="1157505" y="666750"/>
                    <a:pt x="1104900" y="666750"/>
                  </a:cubicBezTo>
                  <a:lnTo>
                    <a:pt x="95250" y="666750"/>
                  </a:lnTo>
                  <a:cubicBezTo>
                    <a:pt x="42645" y="666750"/>
                    <a:pt x="0" y="624105"/>
                    <a:pt x="0" y="571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>
                <a:alpha val="92000"/>
              </a:schemeClr>
            </a:solidFill>
            <a:ln w="14288">
              <a:solidFill>
                <a:schemeClr val="accent1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239000" y="2724150"/>
              <a:ext cx="1200150" cy="666750"/>
            </a:xfrm>
            <a:custGeom>
              <a:avLst/>
              <a:gdLst/>
              <a:ahLst/>
              <a:cxnLst/>
              <a:rect l="l" t="t" r="r" b="b"/>
              <a:pathLst>
                <a:path w="1200150" h="666750">
                  <a:moveTo>
                    <a:pt x="95250" y="0"/>
                  </a:moveTo>
                  <a:lnTo>
                    <a:pt x="1104900" y="0"/>
                  </a:lnTo>
                  <a:cubicBezTo>
                    <a:pt x="1157505" y="0"/>
                    <a:pt x="1200150" y="42645"/>
                    <a:pt x="1200150" y="95250"/>
                  </a:cubicBezTo>
                  <a:lnTo>
                    <a:pt x="1200150" y="571500"/>
                  </a:lnTo>
                  <a:cubicBezTo>
                    <a:pt x="1200150" y="624105"/>
                    <a:pt x="1157505" y="666750"/>
                    <a:pt x="1104900" y="666750"/>
                  </a:cubicBezTo>
                  <a:lnTo>
                    <a:pt x="95250" y="666750"/>
                  </a:lnTo>
                  <a:cubicBezTo>
                    <a:pt x="42645" y="666750"/>
                    <a:pt x="0" y="624105"/>
                    <a:pt x="0" y="571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>
                <a:alpha val="92000"/>
              </a:schemeClr>
            </a:solidFill>
            <a:ln w="14288">
              <a:solidFill>
                <a:schemeClr val="accent1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029700" y="2724150"/>
              <a:ext cx="1200150" cy="666750"/>
            </a:xfrm>
            <a:custGeom>
              <a:avLst/>
              <a:gdLst/>
              <a:ahLst/>
              <a:cxnLst/>
              <a:rect l="l" t="t" r="r" b="b"/>
              <a:pathLst>
                <a:path w="1200150" h="666750">
                  <a:moveTo>
                    <a:pt x="95250" y="0"/>
                  </a:moveTo>
                  <a:lnTo>
                    <a:pt x="1104900" y="0"/>
                  </a:lnTo>
                  <a:cubicBezTo>
                    <a:pt x="1157505" y="0"/>
                    <a:pt x="1200150" y="42645"/>
                    <a:pt x="1200150" y="95250"/>
                  </a:cubicBezTo>
                  <a:lnTo>
                    <a:pt x="1200150" y="571500"/>
                  </a:lnTo>
                  <a:cubicBezTo>
                    <a:pt x="1200150" y="624105"/>
                    <a:pt x="1157505" y="666750"/>
                    <a:pt x="1104900" y="666750"/>
                  </a:cubicBezTo>
                  <a:lnTo>
                    <a:pt x="95250" y="666750"/>
                  </a:lnTo>
                  <a:cubicBezTo>
                    <a:pt x="42645" y="666750"/>
                    <a:pt x="0" y="624105"/>
                    <a:pt x="0" y="571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>
                <a:alpha val="92000"/>
              </a:schemeClr>
            </a:solidFill>
            <a:ln w="19050">
              <a:solidFill>
                <a:schemeClr val="accent1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134350" y="2095500"/>
              <a:ext cx="1200150" cy="666750"/>
            </a:xfrm>
            <a:custGeom>
              <a:avLst/>
              <a:gdLst/>
              <a:ahLst/>
              <a:cxnLst/>
              <a:rect l="l" t="t" r="r" b="b"/>
              <a:pathLst>
                <a:path w="1200150" h="666750">
                  <a:moveTo>
                    <a:pt x="95250" y="0"/>
                  </a:moveTo>
                  <a:lnTo>
                    <a:pt x="1104900" y="0"/>
                  </a:lnTo>
                  <a:cubicBezTo>
                    <a:pt x="1157505" y="0"/>
                    <a:pt x="1200150" y="42645"/>
                    <a:pt x="1200150" y="95250"/>
                  </a:cubicBezTo>
                  <a:lnTo>
                    <a:pt x="1200150" y="571500"/>
                  </a:lnTo>
                  <a:cubicBezTo>
                    <a:pt x="1200150" y="624105"/>
                    <a:pt x="1157505" y="666750"/>
                    <a:pt x="1104900" y="666750"/>
                  </a:cubicBezTo>
                  <a:lnTo>
                    <a:pt x="95250" y="666750"/>
                  </a:lnTo>
                  <a:cubicBezTo>
                    <a:pt x="42645" y="666750"/>
                    <a:pt x="0" y="624105"/>
                    <a:pt x="0" y="571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>
                <a:alpha val="96000"/>
              </a:schemeClr>
            </a:solidFill>
            <a:ln w="23812">
              <a:solidFill>
                <a:schemeClr val="accent2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134350" y="3352800"/>
              <a:ext cx="1200150" cy="666750"/>
            </a:xfrm>
            <a:custGeom>
              <a:avLst/>
              <a:gdLst/>
              <a:ahLst/>
              <a:cxnLst/>
              <a:rect l="l" t="t" r="r" b="b"/>
              <a:pathLst>
                <a:path w="1200150" h="666750">
                  <a:moveTo>
                    <a:pt x="95250" y="0"/>
                  </a:moveTo>
                  <a:lnTo>
                    <a:pt x="1104900" y="0"/>
                  </a:lnTo>
                  <a:cubicBezTo>
                    <a:pt x="1157505" y="0"/>
                    <a:pt x="1200150" y="42645"/>
                    <a:pt x="1200150" y="95250"/>
                  </a:cubicBezTo>
                  <a:lnTo>
                    <a:pt x="1200150" y="571500"/>
                  </a:lnTo>
                  <a:cubicBezTo>
                    <a:pt x="1200150" y="624105"/>
                    <a:pt x="1157505" y="666750"/>
                    <a:pt x="1104900" y="666750"/>
                  </a:cubicBezTo>
                  <a:lnTo>
                    <a:pt x="95250" y="666750"/>
                  </a:lnTo>
                  <a:cubicBezTo>
                    <a:pt x="42645" y="666750"/>
                    <a:pt x="0" y="624105"/>
                    <a:pt x="0" y="571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>
                <a:alpha val="92000"/>
              </a:schemeClr>
            </a:solidFill>
            <a:ln w="14288">
              <a:solidFill>
                <a:schemeClr val="accent1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8134350" y="242887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30480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9029700" y="242887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30480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8734425" y="272415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381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9039225" y="272415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381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8734425" y="209550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381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9039225" y="209550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381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8734425" y="335280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381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9039225" y="335280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381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7839075" y="2133600"/>
              <a:ext cx="9525" cy="590550"/>
            </a:xfrm>
            <a:custGeom>
              <a:avLst/>
              <a:gdLst/>
              <a:ahLst/>
              <a:cxnLst/>
              <a:rect l="l" t="t" r="r" b="b"/>
              <a:pathLst>
                <a:path w="9525" h="590550">
                  <a:moveTo>
                    <a:pt x="0" y="0"/>
                  </a:moveTo>
                  <a:lnTo>
                    <a:pt x="0" y="590550"/>
                  </a:lnTo>
                </a:path>
              </a:pathLst>
            </a:custGeom>
            <a:noFill/>
            <a:ln w="11430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9629775" y="2133600"/>
              <a:ext cx="9525" cy="590550"/>
            </a:xfrm>
            <a:custGeom>
              <a:avLst/>
              <a:gdLst/>
              <a:ahLst/>
              <a:cxnLst/>
              <a:rect l="l" t="t" r="r" b="b"/>
              <a:pathLst>
                <a:path w="9525" h="590550">
                  <a:moveTo>
                    <a:pt x="0" y="0"/>
                  </a:moveTo>
                  <a:lnTo>
                    <a:pt x="0" y="590550"/>
                  </a:lnTo>
                </a:path>
              </a:pathLst>
            </a:custGeom>
            <a:noFill/>
            <a:ln w="11430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72153" y="16149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91996" y="18459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统一底座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51944" y="1614964"/>
              <a:ext cx="5556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AI分析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82696" y="18459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决策引擎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50507" y="22355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营销工作台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089582" y="2484120"/>
              <a:ext cx="12896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ORCHESTRATION CORE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82042" y="2872264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591996" y="31032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编排链路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262853" y="28722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382696" y="31032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闭环经营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190662" y="3509010"/>
              <a:ext cx="1087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统一运营视图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63294" y="3731895"/>
              <a:ext cx="1342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价值、风险、路径可视化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610475" y="1304925"/>
              <a:ext cx="2247900" cy="2247900"/>
            </a:xfrm>
            <a:prstGeom prst="ellipse">
              <a:avLst/>
            </a:prstGeom>
            <a:noFill/>
            <a:ln w="14288">
              <a:solidFill>
                <a:schemeClr val="accent2">
                  <a:alpha val="18000"/>
                </a:schemeClr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7305675" y="1000125"/>
              <a:ext cx="2857500" cy="2857500"/>
            </a:xfrm>
            <a:prstGeom prst="ellipse">
              <a:avLst/>
            </a:prstGeom>
            <a:noFill/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7867650" y="4724400"/>
              <a:ext cx="1733550" cy="552450"/>
            </a:xfrm>
            <a:custGeom>
              <a:avLst/>
              <a:gdLst/>
              <a:ahLst/>
              <a:cxnLst/>
              <a:rect l="l" t="t" r="r" b="b"/>
              <a:pathLst>
                <a:path w="1733550" h="552450">
                  <a:moveTo>
                    <a:pt x="276225" y="0"/>
                  </a:moveTo>
                  <a:lnTo>
                    <a:pt x="1457325" y="0"/>
                  </a:lnTo>
                  <a:cubicBezTo>
                    <a:pt x="1609880" y="0"/>
                    <a:pt x="1733550" y="123670"/>
                    <a:pt x="1733550" y="276225"/>
                  </a:cubicBezTo>
                  <a:lnTo>
                    <a:pt x="1733550" y="276225"/>
                  </a:lnTo>
                  <a:cubicBezTo>
                    <a:pt x="1733550" y="428780"/>
                    <a:pt x="1609880" y="552450"/>
                    <a:pt x="1457325" y="552450"/>
                  </a:cubicBezTo>
                  <a:lnTo>
                    <a:pt x="276225" y="552450"/>
                  </a:lnTo>
                  <a:cubicBezTo>
                    <a:pt x="123670" y="552450"/>
                    <a:pt x="0" y="428780"/>
                    <a:pt x="0" y="276225"/>
                  </a:cubicBezTo>
                  <a:lnTo>
                    <a:pt x="0" y="276225"/>
                  </a:lnTo>
                  <a:cubicBezTo>
                    <a:pt x="0" y="123670"/>
                    <a:pt x="123670" y="0"/>
                    <a:pt x="2762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198644" y="4822031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营销从分散动作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921828" y="5013960"/>
              <a:ext cx="1625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升级为持续增长系统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4667250" y="1752600"/>
            <a:ext cx="6340793" cy="3469957"/>
            <a:chOff x="4667250" y="1752600"/>
            <a:chExt cx="6340793" cy="3469957"/>
          </a:xfrm>
        </p:grpSpPr>
        <p:sp>
          <p:nvSpPr>
            <p:cNvPr id="68" name="Ellipse 68"/>
            <p:cNvSpPr/>
            <p:nvPr/>
          </p:nvSpPr>
          <p:spPr>
            <a:xfrm>
              <a:off x="6934200" y="17526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9" name="Line 69"/>
            <p:cNvSpPr/>
            <p:nvPr/>
          </p:nvSpPr>
          <p:spPr>
            <a:xfrm>
              <a:off x="4667250" y="44386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14288">
              <a:solidFill>
                <a:schemeClr val="accent2">
                  <a:alpha val="60000"/>
                </a:schemeClr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6381750" y="1790700"/>
              <a:ext cx="590550" cy="2647950"/>
            </a:xfrm>
            <a:custGeom>
              <a:avLst/>
              <a:gdLst/>
              <a:ahLst/>
              <a:cxnLst/>
              <a:rect l="l" t="t" r="r" b="b"/>
              <a:pathLst>
                <a:path w="590550" h="2647950">
                  <a:moveTo>
                    <a:pt x="0" y="2647950"/>
                  </a:moveTo>
                  <a:cubicBezTo>
                    <a:pt x="381000" y="2647950"/>
                    <a:pt x="400050" y="1352550"/>
                    <a:pt x="590550" y="0"/>
                  </a:cubicBezTo>
                </a:path>
              </a:pathLst>
            </a:custGeom>
            <a:noFill/>
            <a:ln w="14288">
              <a:solidFill>
                <a:schemeClr val="accent2">
                  <a:alpha val="60000"/>
                </a:schemeClr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910138" y="4246245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统一数据与渠道接口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10477500" y="30099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9658350" y="3048000"/>
              <a:ext cx="857250" cy="1952625"/>
            </a:xfrm>
            <a:custGeom>
              <a:avLst/>
              <a:gdLst/>
              <a:ahLst/>
              <a:cxnLst/>
              <a:rect l="l" t="t" r="r" b="b"/>
              <a:pathLst>
                <a:path w="857250" h="1952625">
                  <a:moveTo>
                    <a:pt x="0" y="1952625"/>
                  </a:moveTo>
                  <a:cubicBezTo>
                    <a:pt x="581025" y="1952625"/>
                    <a:pt x="819150" y="1143000"/>
                    <a:pt x="857250" y="0"/>
                  </a:cubicBezTo>
                </a:path>
              </a:pathLst>
            </a:custGeom>
            <a:noFill/>
            <a:ln w="14288">
              <a:solidFill>
                <a:schemeClr val="accent2">
                  <a:alpha val="60000"/>
                </a:schemeClr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786938" y="504634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结果回流形成经营闭环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3000"/>
                  </a:schemeClr>
                </a:gs>
                <a:gs pos="100000">
                  <a:schemeClr val="accent2">
                    <a:alpha val="3000"/>
                  </a:schemeClr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1257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6191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9658350" y="76200"/>
              <a:ext cx="1828800" cy="18288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496550" y="457200"/>
              <a:ext cx="838200" cy="838200"/>
            </a:xfrm>
            <a:prstGeom prst="ellipse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9772650" y="1123950"/>
              <a:ext cx="419100" cy="419100"/>
            </a:xfrm>
            <a:prstGeom prst="ellipse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57784" y="602456"/>
            <a:ext cx="11087520" cy="6042660"/>
            <a:chOff x="557784" y="602456"/>
            <a:chExt cx="11087520" cy="6042660"/>
          </a:xfrm>
        </p:grpSpPr>
        <p:sp>
          <p:nvSpPr>
            <p:cNvPr id="10" name="TextBox 10"/>
            <p:cNvSpPr txBox="1"/>
            <p:nvPr/>
          </p:nvSpPr>
          <p:spPr>
            <a:xfrm>
              <a:off x="565785" y="6024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模块目录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7784" y="832485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决策框架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64831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44188" y="64831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71500" y="1638300"/>
            <a:ext cx="11252911" cy="4133850"/>
            <a:chOff x="571500" y="1638300"/>
            <a:chExt cx="11252911" cy="4133850"/>
          </a:xfrm>
        </p:grpSpPr>
        <p:sp>
          <p:nvSpPr>
            <p:cNvPr id="15" name="Freeform 15"/>
            <p:cNvSpPr/>
            <p:nvPr/>
          </p:nvSpPr>
          <p:spPr>
            <a:xfrm>
              <a:off x="571500" y="1638300"/>
              <a:ext cx="3143250" cy="3981450"/>
            </a:xfrm>
            <a:custGeom>
              <a:avLst/>
              <a:gdLst/>
              <a:ahLst/>
              <a:cxnLst/>
              <a:rect l="l" t="t" r="r" b="b"/>
              <a:pathLst>
                <a:path w="3143250" h="3981450">
                  <a:moveTo>
                    <a:pt x="114300" y="0"/>
                  </a:moveTo>
                  <a:lnTo>
                    <a:pt x="3028950" y="0"/>
                  </a:lnTo>
                  <a:cubicBezTo>
                    <a:pt x="3092076" y="0"/>
                    <a:pt x="3143250" y="51174"/>
                    <a:pt x="3143250" y="114300"/>
                  </a:cubicBezTo>
                  <a:lnTo>
                    <a:pt x="3143250" y="3867150"/>
                  </a:lnTo>
                  <a:cubicBezTo>
                    <a:pt x="3143250" y="3930276"/>
                    <a:pt x="3092076" y="3981450"/>
                    <a:pt x="3028950" y="3981450"/>
                  </a:cubicBezTo>
                  <a:lnTo>
                    <a:pt x="114300" y="3981450"/>
                  </a:lnTo>
                  <a:cubicBezTo>
                    <a:pt x="51174" y="3981450"/>
                    <a:pt x="0" y="3930276"/>
                    <a:pt x="0" y="38671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0580" y="19335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本方案优先回答是否值得投、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0580" y="2219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先落什么、怎样控风险。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38200" y="2533650"/>
              <a:ext cx="2609850" cy="9525"/>
            </a:xfrm>
            <a:custGeom>
              <a:avLst/>
              <a:gdLst/>
              <a:ahLst/>
              <a:cxnLst/>
              <a:rect l="l" t="t" r="r" b="b"/>
              <a:pathLst>
                <a:path w="2609850" h="9525">
                  <a:moveTo>
                    <a:pt x="0" y="0"/>
                  </a:moveTo>
                  <a:lnTo>
                    <a:pt x="26098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914400" y="28575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17092" y="28070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先看增长失真点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914400" y="32766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17092" y="32261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再看平台四大能力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914400" y="36957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17092" y="36452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随后验证业务价值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914400" y="41148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17092" y="4064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业务现状与判断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838200" y="4686300"/>
              <a:ext cx="2609850" cy="666750"/>
            </a:xfrm>
            <a:custGeom>
              <a:avLst/>
              <a:gdLst/>
              <a:ahLst/>
              <a:cxnLst/>
              <a:rect l="l" t="t" r="r" b="b"/>
              <a:pathLst>
                <a:path w="2609850" h="666750">
                  <a:moveTo>
                    <a:pt x="95250" y="0"/>
                  </a:moveTo>
                  <a:lnTo>
                    <a:pt x="2514600" y="0"/>
                  </a:lnTo>
                  <a:cubicBezTo>
                    <a:pt x="2567205" y="0"/>
                    <a:pt x="2609850" y="42645"/>
                    <a:pt x="2609850" y="95250"/>
                  </a:cubicBezTo>
                  <a:lnTo>
                    <a:pt x="2609850" y="571500"/>
                  </a:lnTo>
                  <a:cubicBezTo>
                    <a:pt x="2609850" y="624105"/>
                    <a:pt x="2567205" y="666750"/>
                    <a:pt x="2514600" y="666750"/>
                  </a:cubicBezTo>
                  <a:lnTo>
                    <a:pt x="95250" y="666750"/>
                  </a:lnTo>
                  <a:cubicBezTo>
                    <a:pt x="42645" y="666750"/>
                    <a:pt x="0" y="624105"/>
                    <a:pt x="0" y="571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22604" y="4823460"/>
              <a:ext cx="10962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Launch Lens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2604" y="50711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从问题识别到价值验证，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2604" y="52997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形成管理层可读的推进顺序。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4305300" y="22288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cubicBezTo>
                    <a:pt x="742950" y="0"/>
                    <a:pt x="914400" y="0"/>
                    <a:pt x="1524000" y="0"/>
                  </a:cubicBezTo>
                </a:path>
              </a:pathLst>
            </a:custGeom>
            <a:noFill/>
            <a:ln w="19050" cap="rnd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2" name="Freeform 32"/>
            <p:cNvSpPr/>
            <p:nvPr/>
          </p:nvSpPr>
          <p:spPr>
            <a:xfrm>
              <a:off x="4305300" y="2914650"/>
              <a:ext cx="1847850" cy="9525"/>
            </a:xfrm>
            <a:custGeom>
              <a:avLst/>
              <a:gdLst/>
              <a:ahLst/>
              <a:cxnLst/>
              <a:rect l="l" t="t" r="r" b="b"/>
              <a:pathLst>
                <a:path w="1847850" h="9525">
                  <a:moveTo>
                    <a:pt x="0" y="0"/>
                  </a:moveTo>
                  <a:cubicBezTo>
                    <a:pt x="838200" y="0"/>
                    <a:pt x="1085850" y="0"/>
                    <a:pt x="1847850" y="0"/>
                  </a:cubicBezTo>
                </a:path>
              </a:pathLst>
            </a:custGeom>
            <a:noFill/>
            <a:ln w="19050" cap="rnd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3" name="Freeform 33"/>
            <p:cNvSpPr/>
            <p:nvPr/>
          </p:nvSpPr>
          <p:spPr>
            <a:xfrm>
              <a:off x="4305300" y="36004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cubicBezTo>
                    <a:pt x="742950" y="0"/>
                    <a:pt x="914400" y="0"/>
                    <a:pt x="1524000" y="0"/>
                  </a:cubicBezTo>
                </a:path>
              </a:pathLst>
            </a:custGeom>
            <a:noFill/>
            <a:ln w="19050" cap="rnd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4" name="Freeform 34"/>
            <p:cNvSpPr/>
            <p:nvPr/>
          </p:nvSpPr>
          <p:spPr>
            <a:xfrm>
              <a:off x="4305300" y="4286250"/>
              <a:ext cx="1847850" cy="9525"/>
            </a:xfrm>
            <a:custGeom>
              <a:avLst/>
              <a:gdLst/>
              <a:ahLst/>
              <a:cxnLst/>
              <a:rect l="l" t="t" r="r" b="b"/>
              <a:pathLst>
                <a:path w="1847850" h="9525">
                  <a:moveTo>
                    <a:pt x="0" y="0"/>
                  </a:moveTo>
                  <a:cubicBezTo>
                    <a:pt x="838200" y="0"/>
                    <a:pt x="1085850" y="0"/>
                    <a:pt x="1847850" y="0"/>
                  </a:cubicBezTo>
                </a:path>
              </a:pathLst>
            </a:custGeom>
            <a:noFill/>
            <a:ln w="19050" cap="rnd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5" name="Freeform 35"/>
            <p:cNvSpPr/>
            <p:nvPr/>
          </p:nvSpPr>
          <p:spPr>
            <a:xfrm>
              <a:off x="4305300" y="49720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cubicBezTo>
                    <a:pt x="742950" y="0"/>
                    <a:pt x="914400" y="0"/>
                    <a:pt x="1524000" y="0"/>
                  </a:cubicBezTo>
                </a:path>
              </a:pathLst>
            </a:custGeom>
            <a:noFill/>
            <a:ln w="19050" cap="rnd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6191250" y="1790700"/>
              <a:ext cx="4762500" cy="609600"/>
            </a:xfrm>
            <a:custGeom>
              <a:avLst/>
              <a:gdLst/>
              <a:ahLst/>
              <a:cxnLst/>
              <a:rect l="l" t="t" r="r" b="b"/>
              <a:pathLst>
                <a:path w="4762500" h="609600">
                  <a:moveTo>
                    <a:pt x="114300" y="0"/>
                  </a:moveTo>
                  <a:lnTo>
                    <a:pt x="4648200" y="0"/>
                  </a:lnTo>
                  <a:cubicBezTo>
                    <a:pt x="4711326" y="0"/>
                    <a:pt x="4762500" y="51174"/>
                    <a:pt x="4762500" y="114300"/>
                  </a:cubicBezTo>
                  <a:lnTo>
                    <a:pt x="4762500" y="495300"/>
                  </a:lnTo>
                  <a:cubicBezTo>
                    <a:pt x="4762500" y="558426"/>
                    <a:pt x="4711326" y="609600"/>
                    <a:pt x="4648200" y="609600"/>
                  </a:cubicBezTo>
                  <a:lnTo>
                    <a:pt x="114300" y="609600"/>
                  </a:lnTo>
                  <a:cubicBezTo>
                    <a:pt x="51174" y="609600"/>
                    <a:pt x="0" y="558426"/>
                    <a:pt x="0" y="495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191250" y="1790700"/>
              <a:ext cx="895350" cy="609600"/>
            </a:xfrm>
            <a:custGeom>
              <a:avLst/>
              <a:gdLst/>
              <a:ahLst/>
              <a:cxnLst/>
              <a:rect l="l" t="t" r="r" b="b"/>
              <a:pathLst>
                <a:path w="895350" h="609600">
                  <a:moveTo>
                    <a:pt x="114300" y="0"/>
                  </a:moveTo>
                  <a:lnTo>
                    <a:pt x="781050" y="0"/>
                  </a:lnTo>
                  <a:cubicBezTo>
                    <a:pt x="844176" y="0"/>
                    <a:pt x="895350" y="51174"/>
                    <a:pt x="895350" y="114300"/>
                  </a:cubicBezTo>
                  <a:lnTo>
                    <a:pt x="895350" y="495300"/>
                  </a:lnTo>
                  <a:cubicBezTo>
                    <a:pt x="895350" y="558426"/>
                    <a:pt x="844176" y="609600"/>
                    <a:pt x="781050" y="609600"/>
                  </a:cubicBezTo>
                  <a:lnTo>
                    <a:pt x="114300" y="609600"/>
                  </a:lnTo>
                  <a:cubicBezTo>
                    <a:pt x="51174" y="609600"/>
                    <a:pt x="0" y="558426"/>
                    <a:pt x="0" y="495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89844" y="19773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63206" y="18440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先看增长失真点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6254" y="213741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识别线索、投放、转化与归因中的判断偏差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6515100" y="2476500"/>
              <a:ext cx="4762500" cy="609600"/>
            </a:xfrm>
            <a:custGeom>
              <a:avLst/>
              <a:gdLst/>
              <a:ahLst/>
              <a:cxnLst/>
              <a:rect l="l" t="t" r="r" b="b"/>
              <a:pathLst>
                <a:path w="4762500" h="609600">
                  <a:moveTo>
                    <a:pt x="114300" y="0"/>
                  </a:moveTo>
                  <a:lnTo>
                    <a:pt x="4648200" y="0"/>
                  </a:lnTo>
                  <a:cubicBezTo>
                    <a:pt x="4711326" y="0"/>
                    <a:pt x="4762500" y="51174"/>
                    <a:pt x="4762500" y="114300"/>
                  </a:cubicBezTo>
                  <a:lnTo>
                    <a:pt x="4762500" y="495300"/>
                  </a:lnTo>
                  <a:cubicBezTo>
                    <a:pt x="4762500" y="558426"/>
                    <a:pt x="4711326" y="609600"/>
                    <a:pt x="4648200" y="609600"/>
                  </a:cubicBezTo>
                  <a:lnTo>
                    <a:pt x="114300" y="609600"/>
                  </a:lnTo>
                  <a:cubicBezTo>
                    <a:pt x="51174" y="609600"/>
                    <a:pt x="0" y="558426"/>
                    <a:pt x="0" y="495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6515100" y="2476500"/>
              <a:ext cx="895350" cy="609600"/>
            </a:xfrm>
            <a:custGeom>
              <a:avLst/>
              <a:gdLst/>
              <a:ahLst/>
              <a:cxnLst/>
              <a:rect l="l" t="t" r="r" b="b"/>
              <a:pathLst>
                <a:path w="895350" h="609600">
                  <a:moveTo>
                    <a:pt x="114300" y="0"/>
                  </a:moveTo>
                  <a:lnTo>
                    <a:pt x="781050" y="0"/>
                  </a:lnTo>
                  <a:cubicBezTo>
                    <a:pt x="844176" y="0"/>
                    <a:pt x="895350" y="51174"/>
                    <a:pt x="895350" y="114300"/>
                  </a:cubicBezTo>
                  <a:lnTo>
                    <a:pt x="895350" y="495300"/>
                  </a:lnTo>
                  <a:cubicBezTo>
                    <a:pt x="895350" y="558426"/>
                    <a:pt x="844176" y="609600"/>
                    <a:pt x="781050" y="609600"/>
                  </a:cubicBezTo>
                  <a:lnTo>
                    <a:pt x="114300" y="609600"/>
                  </a:lnTo>
                  <a:cubicBezTo>
                    <a:pt x="51174" y="609600"/>
                    <a:pt x="0" y="558426"/>
                    <a:pt x="0" y="495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13694" y="26631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87056" y="25298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再看平台四大能力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90104" y="2823210"/>
              <a:ext cx="41343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数据整合、AI 分析、自动执行、效果度量如何连成闭环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6191250" y="3162300"/>
              <a:ext cx="4762500" cy="609600"/>
            </a:xfrm>
            <a:custGeom>
              <a:avLst/>
              <a:gdLst/>
              <a:ahLst/>
              <a:cxnLst/>
              <a:rect l="l" t="t" r="r" b="b"/>
              <a:pathLst>
                <a:path w="4762500" h="609600">
                  <a:moveTo>
                    <a:pt x="114300" y="0"/>
                  </a:moveTo>
                  <a:lnTo>
                    <a:pt x="4648200" y="0"/>
                  </a:lnTo>
                  <a:cubicBezTo>
                    <a:pt x="4711326" y="0"/>
                    <a:pt x="4762500" y="51174"/>
                    <a:pt x="4762500" y="114300"/>
                  </a:cubicBezTo>
                  <a:lnTo>
                    <a:pt x="4762500" y="495300"/>
                  </a:lnTo>
                  <a:cubicBezTo>
                    <a:pt x="4762500" y="558426"/>
                    <a:pt x="4711326" y="609600"/>
                    <a:pt x="4648200" y="609600"/>
                  </a:cubicBezTo>
                  <a:lnTo>
                    <a:pt x="114300" y="609600"/>
                  </a:lnTo>
                  <a:cubicBezTo>
                    <a:pt x="51174" y="609600"/>
                    <a:pt x="0" y="558426"/>
                    <a:pt x="0" y="495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6191250" y="3162300"/>
              <a:ext cx="895350" cy="609600"/>
            </a:xfrm>
            <a:custGeom>
              <a:avLst/>
              <a:gdLst/>
              <a:ahLst/>
              <a:cxnLst/>
              <a:rect l="l" t="t" r="r" b="b"/>
              <a:pathLst>
                <a:path w="895350" h="609600">
                  <a:moveTo>
                    <a:pt x="114300" y="0"/>
                  </a:moveTo>
                  <a:lnTo>
                    <a:pt x="781050" y="0"/>
                  </a:lnTo>
                  <a:cubicBezTo>
                    <a:pt x="844176" y="0"/>
                    <a:pt x="895350" y="51174"/>
                    <a:pt x="895350" y="114300"/>
                  </a:cubicBezTo>
                  <a:lnTo>
                    <a:pt x="895350" y="495300"/>
                  </a:lnTo>
                  <a:cubicBezTo>
                    <a:pt x="895350" y="558426"/>
                    <a:pt x="844176" y="609600"/>
                    <a:pt x="781050" y="609600"/>
                  </a:cubicBezTo>
                  <a:lnTo>
                    <a:pt x="114300" y="609600"/>
                  </a:lnTo>
                  <a:cubicBezTo>
                    <a:pt x="51174" y="609600"/>
                    <a:pt x="0" y="558426"/>
                    <a:pt x="0" y="495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89844" y="33489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63206" y="32156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随后验证业务价值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66254" y="350901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用效率、转化、留存和组织协同衡量投入回报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6515100" y="3848100"/>
              <a:ext cx="4762500" cy="609600"/>
            </a:xfrm>
            <a:custGeom>
              <a:avLst/>
              <a:gdLst/>
              <a:ahLst/>
              <a:cxnLst/>
              <a:rect l="l" t="t" r="r" b="b"/>
              <a:pathLst>
                <a:path w="4762500" h="609600">
                  <a:moveTo>
                    <a:pt x="114300" y="0"/>
                  </a:moveTo>
                  <a:lnTo>
                    <a:pt x="4648200" y="0"/>
                  </a:lnTo>
                  <a:cubicBezTo>
                    <a:pt x="4711326" y="0"/>
                    <a:pt x="4762500" y="51174"/>
                    <a:pt x="4762500" y="114300"/>
                  </a:cubicBezTo>
                  <a:lnTo>
                    <a:pt x="4762500" y="495300"/>
                  </a:lnTo>
                  <a:cubicBezTo>
                    <a:pt x="4762500" y="558426"/>
                    <a:pt x="4711326" y="609600"/>
                    <a:pt x="4648200" y="609600"/>
                  </a:cubicBezTo>
                  <a:lnTo>
                    <a:pt x="114300" y="609600"/>
                  </a:lnTo>
                  <a:cubicBezTo>
                    <a:pt x="51174" y="609600"/>
                    <a:pt x="0" y="558426"/>
                    <a:pt x="0" y="495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6515100" y="3848100"/>
              <a:ext cx="895350" cy="609600"/>
            </a:xfrm>
            <a:custGeom>
              <a:avLst/>
              <a:gdLst/>
              <a:ahLst/>
              <a:cxnLst/>
              <a:rect l="l" t="t" r="r" b="b"/>
              <a:pathLst>
                <a:path w="895350" h="609600">
                  <a:moveTo>
                    <a:pt x="114300" y="0"/>
                  </a:moveTo>
                  <a:lnTo>
                    <a:pt x="781050" y="0"/>
                  </a:lnTo>
                  <a:cubicBezTo>
                    <a:pt x="844176" y="0"/>
                    <a:pt x="895350" y="51174"/>
                    <a:pt x="895350" y="114300"/>
                  </a:cubicBezTo>
                  <a:lnTo>
                    <a:pt x="895350" y="495300"/>
                  </a:lnTo>
                  <a:cubicBezTo>
                    <a:pt x="895350" y="558426"/>
                    <a:pt x="844176" y="609600"/>
                    <a:pt x="781050" y="609600"/>
                  </a:cubicBezTo>
                  <a:lnTo>
                    <a:pt x="114300" y="609600"/>
                  </a:lnTo>
                  <a:cubicBezTo>
                    <a:pt x="51174" y="609600"/>
                    <a:pt x="0" y="558426"/>
                    <a:pt x="0" y="495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1">
                <a:alpha val="88000"/>
              </a:scheme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13694" y="40347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687056" y="39014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业务现状与判断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90104" y="419481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把阶段目标、流程成熟度与资源约束放到同一坐标系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6191250" y="4533900"/>
              <a:ext cx="4762500" cy="609600"/>
            </a:xfrm>
            <a:custGeom>
              <a:avLst/>
              <a:gdLst/>
              <a:ahLst/>
              <a:cxnLst/>
              <a:rect l="l" t="t" r="r" b="b"/>
              <a:pathLst>
                <a:path w="4762500" h="609600">
                  <a:moveTo>
                    <a:pt x="114300" y="0"/>
                  </a:moveTo>
                  <a:lnTo>
                    <a:pt x="4648200" y="0"/>
                  </a:lnTo>
                  <a:cubicBezTo>
                    <a:pt x="4711326" y="0"/>
                    <a:pt x="4762500" y="51174"/>
                    <a:pt x="4762500" y="114300"/>
                  </a:cubicBezTo>
                  <a:lnTo>
                    <a:pt x="4762500" y="495300"/>
                  </a:lnTo>
                  <a:cubicBezTo>
                    <a:pt x="4762500" y="558426"/>
                    <a:pt x="4711326" y="609600"/>
                    <a:pt x="4648200" y="609600"/>
                  </a:cubicBezTo>
                  <a:lnTo>
                    <a:pt x="114300" y="609600"/>
                  </a:lnTo>
                  <a:cubicBezTo>
                    <a:pt x="51174" y="609600"/>
                    <a:pt x="0" y="558426"/>
                    <a:pt x="0" y="495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6191250" y="4533900"/>
              <a:ext cx="895350" cy="609600"/>
            </a:xfrm>
            <a:custGeom>
              <a:avLst/>
              <a:gdLst/>
              <a:ahLst/>
              <a:cxnLst/>
              <a:rect l="l" t="t" r="r" b="b"/>
              <a:pathLst>
                <a:path w="895350" h="609600">
                  <a:moveTo>
                    <a:pt x="114300" y="0"/>
                  </a:moveTo>
                  <a:lnTo>
                    <a:pt x="781050" y="0"/>
                  </a:lnTo>
                  <a:cubicBezTo>
                    <a:pt x="844176" y="0"/>
                    <a:pt x="895350" y="51174"/>
                    <a:pt x="895350" y="114300"/>
                  </a:cubicBezTo>
                  <a:lnTo>
                    <a:pt x="895350" y="495300"/>
                  </a:lnTo>
                  <a:cubicBezTo>
                    <a:pt x="895350" y="558426"/>
                    <a:pt x="844176" y="609600"/>
                    <a:pt x="781050" y="609600"/>
                  </a:cubicBezTo>
                  <a:lnTo>
                    <a:pt x="114300" y="609600"/>
                  </a:lnTo>
                  <a:cubicBezTo>
                    <a:pt x="51174" y="609600"/>
                    <a:pt x="0" y="558426"/>
                    <a:pt x="0" y="495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2">
                <a:alpha val="16000"/>
              </a:schemeClr>
            </a:solidFill>
            <a:ln w="9525">
              <a:solidFill>
                <a:schemeClr val="accent2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89844" y="47205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63206" y="45872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关键模块与价值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66254" y="488061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进入工作台闭环设计，并落到管理层可跟踪的收益项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6096000" y="1790700"/>
              <a:ext cx="9525" cy="3352800"/>
            </a:xfrm>
            <a:custGeom>
              <a:avLst/>
              <a:gdLst/>
              <a:ahLst/>
              <a:cxnLst/>
              <a:rect l="l" t="t" r="r" b="b"/>
              <a:pathLst>
                <a:path w="9525" h="3352800">
                  <a:moveTo>
                    <a:pt x="0" y="0"/>
                  </a:moveTo>
                  <a:lnTo>
                    <a:pt x="0" y="33528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9867900" y="5353050"/>
              <a:ext cx="1409700" cy="419100"/>
            </a:xfrm>
            <a:custGeom>
              <a:avLst/>
              <a:gdLst/>
              <a:ahLst/>
              <a:cxnLst/>
              <a:rect l="l" t="t" r="r" b="b"/>
              <a:pathLst>
                <a:path w="1409700" h="419100">
                  <a:moveTo>
                    <a:pt x="209550" y="0"/>
                  </a:moveTo>
                  <a:lnTo>
                    <a:pt x="1200150" y="0"/>
                  </a:lnTo>
                  <a:cubicBezTo>
                    <a:pt x="1315881" y="0"/>
                    <a:pt x="1409700" y="93819"/>
                    <a:pt x="1409700" y="209550"/>
                  </a:cubicBezTo>
                  <a:lnTo>
                    <a:pt x="1409700" y="209550"/>
                  </a:lnTo>
                  <a:cubicBezTo>
                    <a:pt x="1409700" y="325281"/>
                    <a:pt x="1315881" y="419100"/>
                    <a:pt x="1200150" y="419100"/>
                  </a:cubicBezTo>
                  <a:lnTo>
                    <a:pt x="209550" y="419100"/>
                  </a:lnTo>
                  <a:cubicBezTo>
                    <a:pt x="93819" y="419100"/>
                    <a:pt x="0" y="325281"/>
                    <a:pt x="0" y="2095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070512" y="5490210"/>
              <a:ext cx="10044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 个判断节点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9882188" y="817245"/>
            <a:ext cx="1221105" cy="347662"/>
            <a:chOff x="9882188" y="817245"/>
            <a:chExt cx="1221105" cy="347662"/>
          </a:xfrm>
        </p:grpSpPr>
        <p:sp>
          <p:nvSpPr>
            <p:cNvPr id="65" name="TextBox 65"/>
            <p:cNvSpPr txBox="1"/>
            <p:nvPr/>
          </p:nvSpPr>
          <p:spPr>
            <a:xfrm>
              <a:off x="9882188" y="817245"/>
              <a:ext cx="6758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module_rail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882188" y="9886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按管理层决策顺序阅读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914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8667750" y="571500"/>
              <a:ext cx="9525" cy="5715000"/>
            </a:xfrm>
            <a:custGeom>
              <a:avLst/>
              <a:gdLst/>
              <a:ahLst/>
              <a:cxnLst/>
              <a:rect l="l" t="t" r="r" b="b"/>
              <a:pathLst>
                <a:path w="9525" h="5715000">
                  <a:moveTo>
                    <a:pt x="0" y="0"/>
                  </a:moveTo>
                  <a:lnTo>
                    <a:pt x="0" y="5715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334500" y="571500"/>
              <a:ext cx="9525" cy="5715000"/>
            </a:xfrm>
            <a:custGeom>
              <a:avLst/>
              <a:gdLst/>
              <a:ahLst/>
              <a:cxnLst/>
              <a:rect l="l" t="t" r="r" b="b"/>
              <a:pathLst>
                <a:path w="9525" h="5715000">
                  <a:moveTo>
                    <a:pt x="0" y="0"/>
                  </a:moveTo>
                  <a:lnTo>
                    <a:pt x="0" y="5715000"/>
                  </a:lnTo>
                </a:path>
              </a:pathLst>
            </a:custGeom>
            <a:noFill/>
            <a:ln w="9525">
              <a:solidFill>
                <a:schemeClr val="accent4">
                  <a:alpha val="50000"/>
                </a:scheme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0001250" y="571500"/>
              <a:ext cx="9525" cy="5715000"/>
            </a:xfrm>
            <a:custGeom>
              <a:avLst/>
              <a:gdLst/>
              <a:ahLst/>
              <a:cxnLst/>
              <a:rect l="l" t="t" r="r" b="b"/>
              <a:pathLst>
                <a:path w="9525" h="5715000">
                  <a:moveTo>
                    <a:pt x="0" y="0"/>
                  </a:moveTo>
                  <a:lnTo>
                    <a:pt x="0" y="5715000"/>
                  </a:lnTo>
                </a:path>
              </a:pathLst>
            </a:custGeom>
            <a:noFill/>
            <a:ln w="9525">
              <a:solidFill>
                <a:schemeClr val="accent4">
                  <a:alpha val="35000"/>
                </a:scheme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886825" y="781050"/>
              <a:ext cx="2514600" cy="2514600"/>
            </a:xfrm>
            <a:prstGeom prst="ellipse">
              <a:avLst/>
            </a:prstGeom>
            <a:solidFill>
              <a:schemeClr val="accent2">
                <a:alpha val="6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229850" y="4038600"/>
              <a:ext cx="1828800" cy="1828800"/>
            </a:xfrm>
            <a:prstGeom prst="ellipse">
              <a:avLst/>
            </a:prstGeom>
            <a:solidFill>
              <a:schemeClr val="accent3">
                <a:alpha val="7000"/>
              </a:scheme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66166" y="401002"/>
            <a:ext cx="11059096" cy="6225064"/>
            <a:chOff x="566166" y="401002"/>
            <a:chExt cx="11059096" cy="6225064"/>
          </a:xfrm>
        </p:grpSpPr>
        <p:sp>
          <p:nvSpPr>
            <p:cNvPr id="11" name="TextBox 11"/>
            <p:cNvSpPr txBox="1"/>
            <p:nvPr/>
          </p:nvSpPr>
          <p:spPr>
            <a:xfrm>
              <a:off x="566166" y="4010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关键判断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843631" y="42529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03 / 08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738" y="64641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788329" y="6464141"/>
              <a:ext cx="8369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product-launch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57784" y="1137285"/>
            <a:ext cx="11062716" cy="5168265"/>
            <a:chOff x="557784" y="1137285"/>
            <a:chExt cx="11062716" cy="5168265"/>
          </a:xfrm>
        </p:grpSpPr>
        <p:sp>
          <p:nvSpPr>
            <p:cNvPr id="16" name="TextBox 16"/>
            <p:cNvSpPr txBox="1"/>
            <p:nvPr/>
          </p:nvSpPr>
          <p:spPr>
            <a:xfrm>
              <a:off x="557784" y="1137285"/>
              <a:ext cx="36566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营销增长的真实瓶颈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571500" y="1809750"/>
              <a:ext cx="7334250" cy="3638550"/>
            </a:xfrm>
            <a:custGeom>
              <a:avLst/>
              <a:gdLst/>
              <a:ahLst/>
              <a:cxnLst/>
              <a:rect l="l" t="t" r="r" b="b"/>
              <a:pathLst>
                <a:path w="7334250" h="3638550">
                  <a:moveTo>
                    <a:pt x="114300" y="0"/>
                  </a:moveTo>
                  <a:lnTo>
                    <a:pt x="7219950" y="0"/>
                  </a:lnTo>
                  <a:cubicBezTo>
                    <a:pt x="7283076" y="0"/>
                    <a:pt x="7334250" y="51174"/>
                    <a:pt x="7334250" y="114300"/>
                  </a:cubicBezTo>
                  <a:lnTo>
                    <a:pt x="7334250" y="3524250"/>
                  </a:lnTo>
                  <a:cubicBezTo>
                    <a:pt x="7334250" y="3587376"/>
                    <a:pt x="7283076" y="3638550"/>
                    <a:pt x="7219950" y="3638550"/>
                  </a:cubicBezTo>
                  <a:lnTo>
                    <a:pt x="114300" y="3638550"/>
                  </a:lnTo>
                  <a:cubicBezTo>
                    <a:pt x="51174" y="3638550"/>
                    <a:pt x="0" y="3587376"/>
                    <a:pt x="0" y="3524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1"/>
            </a:gradFill>
            <a:ln w="14288">
              <a:solidFill>
                <a:schemeClr val="accent4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14400" y="2171700"/>
              <a:ext cx="9525" cy="2914650"/>
            </a:xfrm>
            <a:custGeom>
              <a:avLst/>
              <a:gdLst/>
              <a:ahLst/>
              <a:cxnLst/>
              <a:rect l="l" t="t" r="r" b="b"/>
              <a:pathLst>
                <a:path w="9525" h="2914650">
                  <a:moveTo>
                    <a:pt x="0" y="0"/>
                  </a:moveTo>
                  <a:lnTo>
                    <a:pt x="0" y="291465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83386" y="2272665"/>
              <a:ext cx="446928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真正缺的不是工具，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83386" y="2825115"/>
              <a:ext cx="397642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而是统一闭环系统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91768" y="3650932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多数企业并不缺投放工具，真正缺的是把客户数据、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91768" y="3974782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策略判断、执行动作和结果反馈串成闭环的统一系统。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1200150" y="4324350"/>
              <a:ext cx="2400300" cy="704850"/>
            </a:xfrm>
            <a:custGeom>
              <a:avLst/>
              <a:gdLst/>
              <a:ahLst/>
              <a:cxnLst/>
              <a:rect l="l" t="t" r="r" b="b"/>
              <a:pathLst>
                <a:path w="2400300" h="704850">
                  <a:moveTo>
                    <a:pt x="95250" y="0"/>
                  </a:moveTo>
                  <a:lnTo>
                    <a:pt x="2305050" y="0"/>
                  </a:lnTo>
                  <a:cubicBezTo>
                    <a:pt x="2357655" y="0"/>
                    <a:pt x="2400300" y="42645"/>
                    <a:pt x="2400300" y="95250"/>
                  </a:cubicBezTo>
                  <a:lnTo>
                    <a:pt x="2400300" y="609600"/>
                  </a:lnTo>
                  <a:cubicBezTo>
                    <a:pt x="2400300" y="662205"/>
                    <a:pt x="2357655" y="704850"/>
                    <a:pt x="2305050" y="704850"/>
                  </a:cubicBezTo>
                  <a:lnTo>
                    <a:pt x="95250" y="704850"/>
                  </a:lnTo>
                  <a:cubicBezTo>
                    <a:pt x="42645" y="704850"/>
                    <a:pt x="0" y="662205"/>
                    <a:pt x="0" y="6096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423416" y="44967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割裂链路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18844" y="4675822"/>
              <a:ext cx="33544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数据 → 判断 → 执行 → 反馈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8382000" y="1333500"/>
              <a:ext cx="3238500" cy="4381500"/>
            </a:xfrm>
            <a:custGeom>
              <a:avLst/>
              <a:gdLst/>
              <a:ahLst/>
              <a:cxnLst/>
              <a:rect l="l" t="t" r="r" b="b"/>
              <a:pathLst>
                <a:path w="3238500" h="4381500">
                  <a:moveTo>
                    <a:pt x="114300" y="0"/>
                  </a:moveTo>
                  <a:lnTo>
                    <a:pt x="3124200" y="0"/>
                  </a:lnTo>
                  <a:cubicBezTo>
                    <a:pt x="3187326" y="0"/>
                    <a:pt x="3238500" y="51174"/>
                    <a:pt x="3238500" y="114300"/>
                  </a:cubicBezTo>
                  <a:lnTo>
                    <a:pt x="3238500" y="4267200"/>
                  </a:lnTo>
                  <a:cubicBezTo>
                    <a:pt x="3238500" y="4330326"/>
                    <a:pt x="3187326" y="4381500"/>
                    <a:pt x="3124200" y="4381500"/>
                  </a:cubicBezTo>
                  <a:lnTo>
                    <a:pt x="114300" y="4381500"/>
                  </a:lnTo>
                  <a:cubicBezTo>
                    <a:pt x="51174" y="4381500"/>
                    <a:pt x="0" y="4330326"/>
                    <a:pt x="0" y="4267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57844" y="1523048"/>
              <a:ext cx="17672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三个典型断点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8667750" y="2038350"/>
              <a:ext cx="2667000" cy="876300"/>
            </a:xfrm>
            <a:custGeom>
              <a:avLst/>
              <a:gdLst/>
              <a:ahLst/>
              <a:cxnLst/>
              <a:rect l="l" t="t" r="r" b="b"/>
              <a:pathLst>
                <a:path w="2667000" h="876300">
                  <a:moveTo>
                    <a:pt x="95250" y="0"/>
                  </a:moveTo>
                  <a:lnTo>
                    <a:pt x="2571750" y="0"/>
                  </a:lnTo>
                  <a:cubicBezTo>
                    <a:pt x="2624355" y="0"/>
                    <a:pt x="2667000" y="42645"/>
                    <a:pt x="2667000" y="95250"/>
                  </a:cubicBezTo>
                  <a:lnTo>
                    <a:pt x="2667000" y="781050"/>
                  </a:lnTo>
                  <a:cubicBezTo>
                    <a:pt x="2667000" y="833655"/>
                    <a:pt x="2624355" y="876300"/>
                    <a:pt x="2571750" y="876300"/>
                  </a:cubicBezTo>
                  <a:lnTo>
                    <a:pt x="95250" y="876300"/>
                  </a:lnTo>
                  <a:cubicBezTo>
                    <a:pt x="42645" y="876300"/>
                    <a:pt x="0" y="833655"/>
                    <a:pt x="0" y="7810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8839200" y="22479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118092" y="22355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数据分散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28354" y="2518410"/>
              <a:ext cx="2205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渠道、CRM、私域、内容平台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28354" y="27470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各自为政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8667750" y="3124200"/>
              <a:ext cx="2667000" cy="876300"/>
            </a:xfrm>
            <a:custGeom>
              <a:avLst/>
              <a:gdLst/>
              <a:ahLst/>
              <a:cxnLst/>
              <a:rect l="l" t="t" r="r" b="b"/>
              <a:pathLst>
                <a:path w="2667000" h="876300">
                  <a:moveTo>
                    <a:pt x="95250" y="0"/>
                  </a:moveTo>
                  <a:lnTo>
                    <a:pt x="2571750" y="0"/>
                  </a:lnTo>
                  <a:cubicBezTo>
                    <a:pt x="2624355" y="0"/>
                    <a:pt x="2667000" y="42645"/>
                    <a:pt x="2667000" y="95250"/>
                  </a:cubicBezTo>
                  <a:lnTo>
                    <a:pt x="2667000" y="781050"/>
                  </a:lnTo>
                  <a:cubicBezTo>
                    <a:pt x="2667000" y="833655"/>
                    <a:pt x="2624355" y="876300"/>
                    <a:pt x="2571750" y="876300"/>
                  </a:cubicBezTo>
                  <a:lnTo>
                    <a:pt x="95250" y="876300"/>
                  </a:lnTo>
                  <a:cubicBezTo>
                    <a:pt x="42645" y="876300"/>
                    <a:pt x="0" y="833655"/>
                    <a:pt x="0" y="7810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8839200" y="33337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118092" y="33213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决策滞后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28354" y="36042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分析依赖人工，洞察难进入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28354" y="38328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日常动作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8667750" y="4210050"/>
              <a:ext cx="2667000" cy="876300"/>
            </a:xfrm>
            <a:custGeom>
              <a:avLst/>
              <a:gdLst/>
              <a:ahLst/>
              <a:cxnLst/>
              <a:rect l="l" t="t" r="r" b="b"/>
              <a:pathLst>
                <a:path w="2667000" h="876300">
                  <a:moveTo>
                    <a:pt x="95250" y="0"/>
                  </a:moveTo>
                  <a:lnTo>
                    <a:pt x="2571750" y="0"/>
                  </a:lnTo>
                  <a:cubicBezTo>
                    <a:pt x="2624355" y="0"/>
                    <a:pt x="2667000" y="42645"/>
                    <a:pt x="2667000" y="95250"/>
                  </a:cubicBezTo>
                  <a:lnTo>
                    <a:pt x="2667000" y="781050"/>
                  </a:lnTo>
                  <a:cubicBezTo>
                    <a:pt x="2667000" y="833655"/>
                    <a:pt x="2624355" y="876300"/>
                    <a:pt x="2571750" y="876300"/>
                  </a:cubicBezTo>
                  <a:lnTo>
                    <a:pt x="95250" y="876300"/>
                  </a:lnTo>
                  <a:cubicBezTo>
                    <a:pt x="42645" y="876300"/>
                    <a:pt x="0" y="833655"/>
                    <a:pt x="0" y="7810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8839200" y="44196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118092" y="44072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结果失真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28354" y="46901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预算、线索与成交之间缺少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28354" y="49187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可追踪映射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7905750" y="23812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cubicBezTo>
                    <a:pt x="381000" y="0"/>
                    <a:pt x="419100" y="0"/>
                    <a:pt x="76200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905750" y="34671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cubicBezTo>
                    <a:pt x="381000" y="0"/>
                    <a:pt x="419100" y="0"/>
                    <a:pt x="76200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905750" y="45529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cubicBezTo>
                    <a:pt x="381000" y="0"/>
                    <a:pt x="419100" y="0"/>
                    <a:pt x="76200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7848600" y="23241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7848600" y="34099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7848600" y="44958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571500" y="5753100"/>
              <a:ext cx="11049000" cy="552450"/>
            </a:xfrm>
            <a:custGeom>
              <a:avLst/>
              <a:gdLst/>
              <a:ahLst/>
              <a:cxnLst/>
              <a:rect l="l" t="t" r="r" b="b"/>
              <a:pathLst>
                <a:path w="11049000" h="55245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476250"/>
                  </a:lnTo>
                  <a:cubicBezTo>
                    <a:pt x="11049000" y="518334"/>
                    <a:pt x="11014884" y="552450"/>
                    <a:pt x="10972800" y="552450"/>
                  </a:cubicBezTo>
                  <a:lnTo>
                    <a:pt x="76200" y="552450"/>
                  </a:lnTo>
                  <a:cubicBezTo>
                    <a:pt x="34116" y="552450"/>
                    <a:pt x="0" y="518334"/>
                    <a:pt x="0" y="4762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30580" y="5934075"/>
              <a:ext cx="65880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增长问题的核心，不在单点提效，而在把四个环节纳入同一操作系统。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889426" y="5427345"/>
            <a:ext cx="1099947" cy="176212"/>
            <a:chOff x="9889426" y="5427345"/>
            <a:chExt cx="1099947" cy="176212"/>
          </a:xfrm>
        </p:grpSpPr>
        <p:sp>
          <p:nvSpPr>
            <p:cNvPr id="52" name="TextBox 52"/>
            <p:cNvSpPr txBox="1"/>
            <p:nvPr/>
          </p:nvSpPr>
          <p:spPr>
            <a:xfrm>
              <a:off x="9889426" y="5427345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统一工作台的切入点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8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1066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6096000" y="1466850"/>
              <a:ext cx="9525" cy="4381500"/>
            </a:xfrm>
            <a:custGeom>
              <a:avLst/>
              <a:gdLst/>
              <a:ahLst/>
              <a:cxnLst/>
              <a:rect l="l" t="t" r="r" b="b"/>
              <a:pathLst>
                <a:path w="9525" h="4381500">
                  <a:moveTo>
                    <a:pt x="0" y="0"/>
                  </a:moveTo>
                  <a:lnTo>
                    <a:pt x="0" y="438150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9658350" y="19050"/>
              <a:ext cx="1600200" cy="16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925050" y="285750"/>
              <a:ext cx="1066800" cy="1066800"/>
            </a:xfrm>
            <a:prstGeom prst="ellipse">
              <a:avLst/>
            </a:prstGeom>
            <a:noFill/>
            <a:ln w="14288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0191750" y="552450"/>
              <a:ext cx="533400" cy="533400"/>
            </a:xfrm>
            <a:prstGeom prst="ellipse">
              <a:avLst/>
            </a:prstGeom>
            <a:noFill/>
            <a:ln w="14288">
              <a:solidFill>
                <a:schemeClr val="accent3">
                  <a:alpha val="55000"/>
                </a:schemeClr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57784" y="381952"/>
            <a:ext cx="11067479" cy="6206014"/>
            <a:chOff x="557784" y="381952"/>
            <a:chExt cx="11067479" cy="6206014"/>
          </a:xfrm>
        </p:grpSpPr>
        <p:sp>
          <p:nvSpPr>
            <p:cNvPr id="10" name="TextBox 10"/>
            <p:cNvSpPr txBox="1"/>
            <p:nvPr/>
          </p:nvSpPr>
          <p:spPr>
            <a:xfrm>
              <a:off x="566166" y="381952"/>
              <a:ext cx="606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系统比较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7784" y="584835"/>
              <a:ext cx="44631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从工具拼接到统一工作台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64260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93570" y="64260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1333500"/>
            <a:ext cx="11049000" cy="5067300"/>
            <a:chOff x="571500" y="1333500"/>
            <a:chExt cx="11049000" cy="5067300"/>
          </a:xfrm>
        </p:grpSpPr>
        <p:sp>
          <p:nvSpPr>
            <p:cNvPr id="15" name="Freeform 15"/>
            <p:cNvSpPr/>
            <p:nvPr/>
          </p:nvSpPr>
          <p:spPr>
            <a:xfrm>
              <a:off x="571500" y="1333500"/>
              <a:ext cx="11049000" cy="781050"/>
            </a:xfrm>
            <a:custGeom>
              <a:avLst/>
              <a:gdLst/>
              <a:ahLst/>
              <a:cxnLst/>
              <a:rect l="l" t="t" r="r" b="b"/>
              <a:pathLst>
                <a:path w="11049000" h="78105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66750"/>
                  </a:lnTo>
                  <a:cubicBezTo>
                    <a:pt x="11049000" y="729876"/>
                    <a:pt x="10997826" y="781050"/>
                    <a:pt x="10934700" y="781050"/>
                  </a:cubicBezTo>
                  <a:lnTo>
                    <a:pt x="114300" y="781050"/>
                  </a:lnTo>
                  <a:cubicBezTo>
                    <a:pt x="51174" y="781050"/>
                    <a:pt x="0" y="729876"/>
                    <a:pt x="0" y="666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9818" y="1488758"/>
              <a:ext cx="86048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差异不在于多一个AI功能，而在于是否形成从洞察到执行再到复盘的经营闭环。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2104" y="1813560"/>
              <a:ext cx="5020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先看协同方式的变化，再看它对管理层决策半径与经营颗粒度的影响。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71500" y="2362200"/>
              <a:ext cx="5219700" cy="3200400"/>
            </a:xfrm>
            <a:custGeom>
              <a:avLst/>
              <a:gdLst/>
              <a:ahLst/>
              <a:cxnLst/>
              <a:rect l="l" t="t" r="r" b="b"/>
              <a:pathLst>
                <a:path w="5219700" h="320040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3086100"/>
                  </a:lnTo>
                  <a:cubicBezTo>
                    <a:pt x="5219700" y="3149226"/>
                    <a:pt x="5168526" y="3200400"/>
                    <a:pt x="5105400" y="3200400"/>
                  </a:cubicBezTo>
                  <a:lnTo>
                    <a:pt x="114300" y="3200400"/>
                  </a:lnTo>
                  <a:cubicBezTo>
                    <a:pt x="51174" y="3200400"/>
                    <a:pt x="0" y="3149226"/>
                    <a:pt x="0" y="3086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6400800" y="2362200"/>
              <a:ext cx="5219700" cy="3200400"/>
            </a:xfrm>
            <a:custGeom>
              <a:avLst/>
              <a:gdLst/>
              <a:ahLst/>
              <a:cxnLst/>
              <a:rect l="l" t="t" r="r" b="b"/>
              <a:pathLst>
                <a:path w="5219700" h="320040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3086100"/>
                  </a:lnTo>
                  <a:cubicBezTo>
                    <a:pt x="5219700" y="3149226"/>
                    <a:pt x="5168526" y="3200400"/>
                    <a:pt x="5105400" y="3200400"/>
                  </a:cubicBezTo>
                  <a:lnTo>
                    <a:pt x="114300" y="3200400"/>
                  </a:lnTo>
                  <a:cubicBezTo>
                    <a:pt x="51174" y="3200400"/>
                    <a:pt x="0" y="3149226"/>
                    <a:pt x="0" y="3086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71500" y="2362200"/>
              <a:ext cx="5219700" cy="609600"/>
            </a:xfrm>
            <a:custGeom>
              <a:avLst/>
              <a:gdLst/>
              <a:ahLst/>
              <a:cxnLst/>
              <a:rect l="l" t="t" r="r" b="b"/>
              <a:pathLst>
                <a:path w="5219700" h="60960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495300"/>
                  </a:lnTo>
                  <a:cubicBezTo>
                    <a:pt x="5219700" y="558426"/>
                    <a:pt x="5168526" y="609600"/>
                    <a:pt x="5105400" y="609600"/>
                  </a:cubicBezTo>
                  <a:lnTo>
                    <a:pt x="114300" y="609600"/>
                  </a:lnTo>
                  <a:cubicBezTo>
                    <a:pt x="51174" y="609600"/>
                    <a:pt x="0" y="558426"/>
                    <a:pt x="0" y="495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6400800" y="2362200"/>
              <a:ext cx="5219700" cy="609600"/>
            </a:xfrm>
            <a:custGeom>
              <a:avLst/>
              <a:gdLst/>
              <a:ahLst/>
              <a:cxnLst/>
              <a:rect l="l" t="t" r="r" b="b"/>
              <a:pathLst>
                <a:path w="5219700" h="60960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495300"/>
                  </a:lnTo>
                  <a:cubicBezTo>
                    <a:pt x="5219700" y="558426"/>
                    <a:pt x="5168526" y="609600"/>
                    <a:pt x="5105400" y="609600"/>
                  </a:cubicBezTo>
                  <a:lnTo>
                    <a:pt x="114300" y="609600"/>
                  </a:lnTo>
                  <a:cubicBezTo>
                    <a:pt x="51174" y="609600"/>
                    <a:pt x="0" y="558426"/>
                    <a:pt x="0" y="495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5632" y="249745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现状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98092" y="25784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分散式营销工具链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94932" y="249745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方案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27392" y="2578418"/>
              <a:ext cx="15964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876300" y="3181350"/>
              <a:ext cx="4610100" cy="476250"/>
            </a:xfrm>
            <a:custGeom>
              <a:avLst/>
              <a:gdLst/>
              <a:ahLst/>
              <a:cxnLst/>
              <a:rect l="l" t="t" r="r" b="b"/>
              <a:pathLst>
                <a:path w="4610100" h="476250">
                  <a:moveTo>
                    <a:pt x="95250" y="0"/>
                  </a:moveTo>
                  <a:lnTo>
                    <a:pt x="4514850" y="0"/>
                  </a:lnTo>
                  <a:cubicBezTo>
                    <a:pt x="4567455" y="0"/>
                    <a:pt x="4610100" y="42645"/>
                    <a:pt x="4610100" y="95250"/>
                  </a:cubicBezTo>
                  <a:lnTo>
                    <a:pt x="4610100" y="381000"/>
                  </a:lnTo>
                  <a:cubicBezTo>
                    <a:pt x="4610100" y="433605"/>
                    <a:pt x="4567455" y="476250"/>
                    <a:pt x="4514850" y="476250"/>
                  </a:cubicBezTo>
                  <a:lnTo>
                    <a:pt x="95250" y="476250"/>
                  </a:lnTo>
                  <a:cubicBezTo>
                    <a:pt x="42645" y="476250"/>
                    <a:pt x="0" y="433605"/>
                    <a:pt x="0" y="3810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6705600" y="3181350"/>
              <a:ext cx="4610100" cy="476250"/>
            </a:xfrm>
            <a:custGeom>
              <a:avLst/>
              <a:gdLst/>
              <a:ahLst/>
              <a:cxnLst/>
              <a:rect l="l" t="t" r="r" b="b"/>
              <a:pathLst>
                <a:path w="4610100" h="476250">
                  <a:moveTo>
                    <a:pt x="95250" y="0"/>
                  </a:moveTo>
                  <a:lnTo>
                    <a:pt x="4514850" y="0"/>
                  </a:lnTo>
                  <a:cubicBezTo>
                    <a:pt x="4567455" y="0"/>
                    <a:pt x="4610100" y="42645"/>
                    <a:pt x="4610100" y="95250"/>
                  </a:cubicBezTo>
                  <a:lnTo>
                    <a:pt x="4610100" y="381000"/>
                  </a:lnTo>
                  <a:cubicBezTo>
                    <a:pt x="4610100" y="433605"/>
                    <a:pt x="4567455" y="476250"/>
                    <a:pt x="4514850" y="476250"/>
                  </a:cubicBezTo>
                  <a:lnTo>
                    <a:pt x="95250" y="476250"/>
                  </a:lnTo>
                  <a:cubicBezTo>
                    <a:pt x="42645" y="476250"/>
                    <a:pt x="0" y="433605"/>
                    <a:pt x="0" y="3810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78992" y="3330892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数据沉淀方式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08292" y="3330892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数据沉淀方式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78992" y="3740468"/>
              <a:ext cx="30572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数据各自沉淀在渠道、CRM、私域与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78992" y="398811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内容平台，跨系统关联依赖人工拉通。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08292" y="374046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统一接入客户、渠道、内容与交易信号，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08292" y="39881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形成可追踪的人群与行为资产。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876300" y="4248150"/>
              <a:ext cx="4610100" cy="476250"/>
            </a:xfrm>
            <a:custGeom>
              <a:avLst/>
              <a:gdLst/>
              <a:ahLst/>
              <a:cxnLst/>
              <a:rect l="l" t="t" r="r" b="b"/>
              <a:pathLst>
                <a:path w="4610100" h="476250">
                  <a:moveTo>
                    <a:pt x="95250" y="0"/>
                  </a:moveTo>
                  <a:lnTo>
                    <a:pt x="4514850" y="0"/>
                  </a:lnTo>
                  <a:cubicBezTo>
                    <a:pt x="4567455" y="0"/>
                    <a:pt x="4610100" y="42645"/>
                    <a:pt x="4610100" y="95250"/>
                  </a:cubicBezTo>
                  <a:lnTo>
                    <a:pt x="4610100" y="381000"/>
                  </a:lnTo>
                  <a:cubicBezTo>
                    <a:pt x="4610100" y="433605"/>
                    <a:pt x="4567455" y="476250"/>
                    <a:pt x="4514850" y="476250"/>
                  </a:cubicBezTo>
                  <a:lnTo>
                    <a:pt x="95250" y="476250"/>
                  </a:lnTo>
                  <a:cubicBezTo>
                    <a:pt x="42645" y="476250"/>
                    <a:pt x="0" y="433605"/>
                    <a:pt x="0" y="3810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705600" y="4248150"/>
              <a:ext cx="4610100" cy="476250"/>
            </a:xfrm>
            <a:custGeom>
              <a:avLst/>
              <a:gdLst/>
              <a:ahLst/>
              <a:cxnLst/>
              <a:rect l="l" t="t" r="r" b="b"/>
              <a:pathLst>
                <a:path w="4610100" h="476250">
                  <a:moveTo>
                    <a:pt x="95250" y="0"/>
                  </a:moveTo>
                  <a:lnTo>
                    <a:pt x="4514850" y="0"/>
                  </a:lnTo>
                  <a:cubicBezTo>
                    <a:pt x="4567455" y="0"/>
                    <a:pt x="4610100" y="42645"/>
                    <a:pt x="4610100" y="95250"/>
                  </a:cubicBezTo>
                  <a:lnTo>
                    <a:pt x="4610100" y="381000"/>
                  </a:lnTo>
                  <a:cubicBezTo>
                    <a:pt x="4610100" y="433605"/>
                    <a:pt x="4567455" y="476250"/>
                    <a:pt x="4514850" y="476250"/>
                  </a:cubicBezTo>
                  <a:lnTo>
                    <a:pt x="95250" y="476250"/>
                  </a:lnTo>
                  <a:cubicBezTo>
                    <a:pt x="42645" y="476250"/>
                    <a:pt x="0" y="433605"/>
                    <a:pt x="0" y="3810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78992" y="4397692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分析与执行关系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08292" y="4397692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分析与执行关系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78992" y="480726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分析依赖人工拼表，活动执行与复盘脱节，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78992" y="50549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管理层看到的是结果汇总而非过程杠杆。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08292" y="4807268"/>
              <a:ext cx="3249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AI输出人群、内容和预算建议，并直接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08292" y="50549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驱动触达、分发、培育与归因分析。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571500" y="5810250"/>
              <a:ext cx="11049000" cy="590550"/>
            </a:xfrm>
            <a:custGeom>
              <a:avLst/>
              <a:gdLst/>
              <a:ahLst/>
              <a:cxnLst/>
              <a:rect l="l" t="t" r="r" b="b"/>
              <a:pathLst>
                <a:path w="11049000" h="59055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476250"/>
                  </a:lnTo>
                  <a:cubicBezTo>
                    <a:pt x="11049000" y="539376"/>
                    <a:pt x="10997826" y="590550"/>
                    <a:pt x="1093470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9818" y="5984558"/>
              <a:ext cx="97190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决策意义：</a:t>
              </a:r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经营能力升级</a:t>
              </a:r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，把营销从部门操作台升级为可预测、可干预、可量化的增长系统。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876300" y="2305050"/>
            <a:ext cx="10439400" cy="4095750"/>
            <a:chOff x="876300" y="2305050"/>
            <a:chExt cx="10439400" cy="4095750"/>
          </a:xfrm>
        </p:grpSpPr>
        <p:sp>
          <p:nvSpPr>
            <p:cNvPr id="45" name="Freeform 45"/>
            <p:cNvSpPr/>
            <p:nvPr/>
          </p:nvSpPr>
          <p:spPr>
            <a:xfrm>
              <a:off x="876300" y="2305050"/>
              <a:ext cx="1181100" cy="285750"/>
            </a:xfrm>
            <a:custGeom>
              <a:avLst/>
              <a:gdLst/>
              <a:ahLst/>
              <a:cxnLst/>
              <a:rect l="l" t="t" r="r" b="b"/>
              <a:pathLst>
                <a:path w="1181100" h="285750">
                  <a:moveTo>
                    <a:pt x="142875" y="0"/>
                  </a:moveTo>
                  <a:lnTo>
                    <a:pt x="1038225" y="0"/>
                  </a:lnTo>
                  <a:cubicBezTo>
                    <a:pt x="1117133" y="0"/>
                    <a:pt x="1181100" y="63967"/>
                    <a:pt x="1181100" y="142875"/>
                  </a:cubicBezTo>
                  <a:lnTo>
                    <a:pt x="1181100" y="142875"/>
                  </a:lnTo>
                  <a:cubicBezTo>
                    <a:pt x="1181100" y="221783"/>
                    <a:pt x="1117133" y="285750"/>
                    <a:pt x="1038225" y="285750"/>
                  </a:cubicBezTo>
                  <a:lnTo>
                    <a:pt x="142875" y="285750"/>
                  </a:lnTo>
                  <a:cubicBezTo>
                    <a:pt x="63967" y="285750"/>
                    <a:pt x="0" y="221783"/>
                    <a:pt x="0" y="142875"/>
                  </a:cubicBezTo>
                  <a:lnTo>
                    <a:pt x="0" y="142875"/>
                  </a:lnTo>
                  <a:cubicBezTo>
                    <a:pt x="0" y="63967"/>
                    <a:pt x="63967" y="0"/>
                    <a:pt x="142875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96112" y="23822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旧模式偏执行管理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9772650" y="2305050"/>
              <a:ext cx="1543050" cy="285750"/>
            </a:xfrm>
            <a:custGeom>
              <a:avLst/>
              <a:gdLst/>
              <a:ahLst/>
              <a:cxnLst/>
              <a:rect l="l" t="t" r="r" b="b"/>
              <a:pathLst>
                <a:path w="1543050" h="285750">
                  <a:moveTo>
                    <a:pt x="142875" y="0"/>
                  </a:moveTo>
                  <a:lnTo>
                    <a:pt x="1400175" y="0"/>
                  </a:lnTo>
                  <a:cubicBezTo>
                    <a:pt x="1479083" y="0"/>
                    <a:pt x="1543050" y="63967"/>
                    <a:pt x="1543050" y="142875"/>
                  </a:cubicBezTo>
                  <a:lnTo>
                    <a:pt x="1543050" y="142875"/>
                  </a:lnTo>
                  <a:cubicBezTo>
                    <a:pt x="1543050" y="221783"/>
                    <a:pt x="1479083" y="285750"/>
                    <a:pt x="1400175" y="285750"/>
                  </a:cubicBezTo>
                  <a:lnTo>
                    <a:pt x="142875" y="285750"/>
                  </a:lnTo>
                  <a:cubicBezTo>
                    <a:pt x="63967" y="285750"/>
                    <a:pt x="0" y="221783"/>
                    <a:pt x="0" y="142875"/>
                  </a:cubicBezTo>
                  <a:lnTo>
                    <a:pt x="0" y="142875"/>
                  </a:lnTo>
                  <a:cubicBezTo>
                    <a:pt x="0" y="63967"/>
                    <a:pt x="63967" y="0"/>
                    <a:pt x="142875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3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945167" y="2382202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新模式偏经营管理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6096000" y="2514600"/>
              <a:ext cx="9525" cy="2914650"/>
            </a:xfrm>
            <a:custGeom>
              <a:avLst/>
              <a:gdLst/>
              <a:ahLst/>
              <a:cxnLst/>
              <a:rect l="l" t="t" r="r" b="b"/>
              <a:pathLst>
                <a:path w="9525" h="2914650">
                  <a:moveTo>
                    <a:pt x="0" y="0"/>
                  </a:moveTo>
                  <a:lnTo>
                    <a:pt x="0" y="29146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6038850" y="34671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6038850" y="45339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6038850" y="56007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786514" y="33699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62688" y="33699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786514" y="44367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62688" y="4436745"/>
              <a:ext cx="10144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AI分析与执行联动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786514" y="55035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62688" y="550354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效果度量进入经营闭环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8515350" y="5810250"/>
              <a:ext cx="2800350" cy="590550"/>
            </a:xfrm>
            <a:custGeom>
              <a:avLst/>
              <a:gdLst/>
              <a:ahLst/>
              <a:cxnLst/>
              <a:rect l="l" t="t" r="r" b="b"/>
              <a:pathLst>
                <a:path w="2800350" h="590550">
                  <a:moveTo>
                    <a:pt x="114300" y="0"/>
                  </a:moveTo>
                  <a:lnTo>
                    <a:pt x="2686050" y="0"/>
                  </a:lnTo>
                  <a:cubicBezTo>
                    <a:pt x="2749176" y="0"/>
                    <a:pt x="2800350" y="51174"/>
                    <a:pt x="2800350" y="114300"/>
                  </a:cubicBezTo>
                  <a:lnTo>
                    <a:pt x="2800350" y="476250"/>
                  </a:lnTo>
                  <a:cubicBezTo>
                    <a:pt x="2800350" y="539376"/>
                    <a:pt x="2749176" y="590550"/>
                    <a:pt x="26860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719185" y="5945981"/>
              <a:ext cx="1374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价值来自全链路联动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719185" y="6136481"/>
              <a:ext cx="22831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关键变量从结果汇总转为过程干预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-1047750"/>
            <a:ext cx="12573000" cy="8667750"/>
            <a:chOff x="0" y="-1047750"/>
            <a:chExt cx="12573000" cy="86677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7715250" y="-1047750"/>
              <a:ext cx="4191000" cy="4191000"/>
            </a:xfrm>
            <a:prstGeom prst="ellipse">
              <a:avLst/>
            </a:prstGeom>
            <a:solidFill>
              <a:schemeClr val="accent2">
                <a:alpha val="7000"/>
              </a:scheme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144000" y="4191000"/>
              <a:ext cx="3429000" cy="3429000"/>
            </a:xfrm>
            <a:prstGeom prst="ellipse">
              <a:avLst/>
            </a:prstGeom>
            <a:solidFill>
              <a:schemeClr val="accent3">
                <a:alpha val="5000"/>
              </a:schemeClr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66547" y="313849"/>
            <a:ext cx="11039665" cy="6188392"/>
            <a:chOff x="566547" y="313849"/>
            <a:chExt cx="11039665" cy="6188392"/>
          </a:xfrm>
        </p:grpSpPr>
        <p:sp>
          <p:nvSpPr>
            <p:cNvPr id="8" name="TextBox 8"/>
            <p:cNvSpPr txBox="1"/>
            <p:nvPr/>
          </p:nvSpPr>
          <p:spPr>
            <a:xfrm>
              <a:off x="566547" y="313849"/>
              <a:ext cx="8196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9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PROOFGRID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224631" y="6340316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08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738" y="6340316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57784" y="584835"/>
            <a:ext cx="11281791" cy="5666899"/>
            <a:chOff x="557784" y="584835"/>
            <a:chExt cx="11281791" cy="5666899"/>
          </a:xfrm>
        </p:grpSpPr>
        <p:sp>
          <p:nvSpPr>
            <p:cNvPr id="12" name="TextBox 12"/>
            <p:cNvSpPr txBox="1"/>
            <p:nvPr/>
          </p:nvSpPr>
          <p:spPr>
            <a:xfrm>
              <a:off x="557784" y="584835"/>
              <a:ext cx="36566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四大模块，形成闭环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71500" y="1000125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3880" y="1209675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平台价值来自四个模块连续工作，每一环都直接服务于增长效率与管理可见性。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71500" y="1657350"/>
              <a:ext cx="11049000" cy="533400"/>
            </a:xfrm>
            <a:custGeom>
              <a:avLst/>
              <a:gdLst/>
              <a:ahLst/>
              <a:cxnLst/>
              <a:rect l="l" t="t" r="r" b="b"/>
              <a:pathLst>
                <a:path w="11049000" h="533400">
                  <a:moveTo>
                    <a:pt x="95250" y="0"/>
                  </a:moveTo>
                  <a:lnTo>
                    <a:pt x="10953750" y="0"/>
                  </a:lnTo>
                  <a:cubicBezTo>
                    <a:pt x="11006355" y="0"/>
                    <a:pt x="11049000" y="42645"/>
                    <a:pt x="11049000" y="95250"/>
                  </a:cubicBezTo>
                  <a:lnTo>
                    <a:pt x="11049000" y="438150"/>
                  </a:lnTo>
                  <a:cubicBezTo>
                    <a:pt x="11049000" y="490755"/>
                    <a:pt x="11006355" y="533400"/>
                    <a:pt x="1095375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838200" y="18859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1842" y="18354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不是四个孤立功能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4076700" y="18859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260342" y="1835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而是一条持续优化链路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91450" y="18859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75092" y="18354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可从单场景切入再逐步扩展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571500" y="2495550"/>
              <a:ext cx="2381250" cy="2952750"/>
            </a:xfrm>
            <a:custGeom>
              <a:avLst/>
              <a:gdLst/>
              <a:ahLst/>
              <a:cxnLst/>
              <a:rect l="l" t="t" r="r" b="b"/>
              <a:pathLst>
                <a:path w="2381250" h="2952750">
                  <a:moveTo>
                    <a:pt x="114300" y="0"/>
                  </a:moveTo>
                  <a:lnTo>
                    <a:pt x="2266950" y="0"/>
                  </a:lnTo>
                  <a:cubicBezTo>
                    <a:pt x="2330076" y="0"/>
                    <a:pt x="2381250" y="51174"/>
                    <a:pt x="2381250" y="114300"/>
                  </a:cubicBezTo>
                  <a:lnTo>
                    <a:pt x="2381250" y="2838450"/>
                  </a:lnTo>
                  <a:cubicBezTo>
                    <a:pt x="2381250" y="2901576"/>
                    <a:pt x="2330076" y="2952750"/>
                    <a:pt x="2266950" y="2952750"/>
                  </a:cubicBezTo>
                  <a:lnTo>
                    <a:pt x="114300" y="2952750"/>
                  </a:lnTo>
                  <a:cubicBezTo>
                    <a:pt x="51174" y="2952750"/>
                    <a:pt x="0" y="2901576"/>
                    <a:pt x="0" y="2838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571500" y="249555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114300" y="0"/>
                  </a:moveTo>
                  <a:lnTo>
                    <a:pt x="2266950" y="0"/>
                  </a:lnTo>
                  <a:cubicBezTo>
                    <a:pt x="2330076" y="0"/>
                    <a:pt x="2381250" y="17058"/>
                    <a:pt x="2381250" y="38100"/>
                  </a:cubicBezTo>
                  <a:lnTo>
                    <a:pt x="2381250" y="38100"/>
                  </a:lnTo>
                  <a:cubicBezTo>
                    <a:pt x="2381250" y="59142"/>
                    <a:pt x="2330076" y="76200"/>
                    <a:pt x="2266950" y="76200"/>
                  </a:cubicBezTo>
                  <a:lnTo>
                    <a:pt x="114300" y="76200"/>
                  </a:lnTo>
                  <a:cubicBezTo>
                    <a:pt x="51174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62000" y="2762250"/>
              <a:ext cx="342900" cy="3429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819150" y="2809875"/>
              <a:ext cx="228600" cy="257175"/>
            </a:xfrm>
            <a:custGeom>
              <a:avLst/>
              <a:gdLst/>
              <a:ahLst/>
              <a:cxnLst/>
              <a:rect l="l" t="t" r="r" b="b"/>
              <a:pathLst>
                <a:path w="228600" h="257175">
                  <a:moveTo>
                    <a:pt x="0" y="114300"/>
                  </a:moveTo>
                  <a:lnTo>
                    <a:pt x="114300" y="0"/>
                  </a:lnTo>
                  <a:lnTo>
                    <a:pt x="228600" y="114300"/>
                  </a:lnTo>
                  <a:lnTo>
                    <a:pt x="228600" y="257175"/>
                  </a:lnTo>
                  <a:lnTo>
                    <a:pt x="0" y="25717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33450" y="2809875"/>
              <a:ext cx="9525" cy="257175"/>
            </a:xfrm>
            <a:custGeom>
              <a:avLst/>
              <a:gdLst/>
              <a:ahLst/>
              <a:cxnLst/>
              <a:rect l="l" t="t" r="r" b="b"/>
              <a:pathLst>
                <a:path w="9525" h="257175">
                  <a:moveTo>
                    <a:pt x="0" y="0"/>
                  </a:moveTo>
                  <a:lnTo>
                    <a:pt x="0" y="257175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90244" y="278034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数据整合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1342" y="32451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统一打通广告平台、官网表单、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342" y="3511868"/>
              <a:ext cx="2673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CRM、企微、私域与内容渠道，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1342" y="37785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建立客户主数据与活动事件流。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838200" y="4438650"/>
              <a:ext cx="1047750" cy="266700"/>
            </a:xfrm>
            <a:custGeom>
              <a:avLst/>
              <a:gdLst/>
              <a:ahLst/>
              <a:cxnLst/>
              <a:rect l="l" t="t" r="r" b="b"/>
              <a:pathLst>
                <a:path w="1047750" h="266700">
                  <a:moveTo>
                    <a:pt x="133350" y="0"/>
                  </a:moveTo>
                  <a:lnTo>
                    <a:pt x="914400" y="0"/>
                  </a:lnTo>
                  <a:cubicBezTo>
                    <a:pt x="988047" y="0"/>
                    <a:pt x="1047750" y="59703"/>
                    <a:pt x="1047750" y="133350"/>
                  </a:cubicBezTo>
                  <a:lnTo>
                    <a:pt x="1047750" y="133350"/>
                  </a:lnTo>
                  <a:cubicBezTo>
                    <a:pt x="1047750" y="206997"/>
                    <a:pt x="988047" y="266700"/>
                    <a:pt x="91440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76287" y="4514374"/>
              <a:ext cx="571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CONNECT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3267075" y="2495550"/>
              <a:ext cx="2381250" cy="2952750"/>
            </a:xfrm>
            <a:custGeom>
              <a:avLst/>
              <a:gdLst/>
              <a:ahLst/>
              <a:cxnLst/>
              <a:rect l="l" t="t" r="r" b="b"/>
              <a:pathLst>
                <a:path w="2381250" h="2952750">
                  <a:moveTo>
                    <a:pt x="114300" y="0"/>
                  </a:moveTo>
                  <a:lnTo>
                    <a:pt x="2266950" y="0"/>
                  </a:lnTo>
                  <a:cubicBezTo>
                    <a:pt x="2330076" y="0"/>
                    <a:pt x="2381250" y="51174"/>
                    <a:pt x="2381250" y="114300"/>
                  </a:cubicBezTo>
                  <a:lnTo>
                    <a:pt x="2381250" y="2838450"/>
                  </a:lnTo>
                  <a:cubicBezTo>
                    <a:pt x="2381250" y="2901576"/>
                    <a:pt x="2330076" y="2952750"/>
                    <a:pt x="2266950" y="2952750"/>
                  </a:cubicBezTo>
                  <a:lnTo>
                    <a:pt x="114300" y="2952750"/>
                  </a:lnTo>
                  <a:cubicBezTo>
                    <a:pt x="51174" y="2952750"/>
                    <a:pt x="0" y="2901576"/>
                    <a:pt x="0" y="2838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3267075" y="249555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114300" y="0"/>
                  </a:moveTo>
                  <a:lnTo>
                    <a:pt x="2266950" y="0"/>
                  </a:lnTo>
                  <a:cubicBezTo>
                    <a:pt x="2330076" y="0"/>
                    <a:pt x="2381250" y="17058"/>
                    <a:pt x="2381250" y="38100"/>
                  </a:cubicBezTo>
                  <a:lnTo>
                    <a:pt x="2381250" y="38100"/>
                  </a:lnTo>
                  <a:cubicBezTo>
                    <a:pt x="2381250" y="59142"/>
                    <a:pt x="2330076" y="76200"/>
                    <a:pt x="2266950" y="76200"/>
                  </a:cubicBezTo>
                  <a:lnTo>
                    <a:pt x="114300" y="76200"/>
                  </a:lnTo>
                  <a:cubicBezTo>
                    <a:pt x="51174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3457575" y="2762250"/>
              <a:ext cx="342900" cy="3429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3538538" y="2862262"/>
              <a:ext cx="47625" cy="4762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3671888" y="2862262"/>
              <a:ext cx="47625" cy="4762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3605212" y="2938462"/>
              <a:ext cx="47625" cy="4762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3562350" y="2886075"/>
              <a:ext cx="66675" cy="76200"/>
            </a:xfrm>
            <a:custGeom>
              <a:avLst/>
              <a:gdLst/>
              <a:ahLst/>
              <a:cxnLst/>
              <a:rect l="l" t="t" r="r" b="b"/>
              <a:pathLst>
                <a:path w="66675" h="76200">
                  <a:moveTo>
                    <a:pt x="0" y="0"/>
                  </a:moveTo>
                  <a:lnTo>
                    <a:pt x="66675" y="762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3629025" y="2886075"/>
              <a:ext cx="66675" cy="76200"/>
            </a:xfrm>
            <a:custGeom>
              <a:avLst/>
              <a:gdLst/>
              <a:ahLst/>
              <a:cxnLst/>
              <a:rect l="l" t="t" r="r" b="b"/>
              <a:pathLst>
                <a:path w="66675" h="76200">
                  <a:moveTo>
                    <a:pt x="66675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3562350" y="2886075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885819" y="2780348"/>
              <a:ext cx="10276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AI分析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26917" y="32451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基于客户行为、内容表现和转化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526917" y="35118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路径，输出人群分层、流失预警、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526917" y="37785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内容建议和预算调整建议。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3533775" y="4438650"/>
              <a:ext cx="990600" cy="266700"/>
            </a:xfrm>
            <a:custGeom>
              <a:avLst/>
              <a:gdLst/>
              <a:ahLst/>
              <a:cxnLst/>
              <a:rect l="l" t="t" r="r" b="b"/>
              <a:pathLst>
                <a:path w="990600" h="266700">
                  <a:moveTo>
                    <a:pt x="133350" y="0"/>
                  </a:moveTo>
                  <a:lnTo>
                    <a:pt x="857250" y="0"/>
                  </a:lnTo>
                  <a:cubicBezTo>
                    <a:pt x="930897" y="0"/>
                    <a:pt x="990600" y="59703"/>
                    <a:pt x="990600" y="133350"/>
                  </a:cubicBezTo>
                  <a:lnTo>
                    <a:pt x="990600" y="133350"/>
                  </a:lnTo>
                  <a:cubicBezTo>
                    <a:pt x="990600" y="206997"/>
                    <a:pt x="930897" y="266700"/>
                    <a:pt x="8572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791826" y="4514374"/>
              <a:ext cx="4744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INSIGHT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5962650" y="2495550"/>
              <a:ext cx="2381250" cy="2952750"/>
            </a:xfrm>
            <a:custGeom>
              <a:avLst/>
              <a:gdLst/>
              <a:ahLst/>
              <a:cxnLst/>
              <a:rect l="l" t="t" r="r" b="b"/>
              <a:pathLst>
                <a:path w="2381250" h="2952750">
                  <a:moveTo>
                    <a:pt x="114300" y="0"/>
                  </a:moveTo>
                  <a:lnTo>
                    <a:pt x="2266950" y="0"/>
                  </a:lnTo>
                  <a:cubicBezTo>
                    <a:pt x="2330076" y="0"/>
                    <a:pt x="2381250" y="51174"/>
                    <a:pt x="2381250" y="114300"/>
                  </a:cubicBezTo>
                  <a:lnTo>
                    <a:pt x="2381250" y="2838450"/>
                  </a:lnTo>
                  <a:cubicBezTo>
                    <a:pt x="2381250" y="2901576"/>
                    <a:pt x="2330076" y="2952750"/>
                    <a:pt x="2266950" y="2952750"/>
                  </a:cubicBezTo>
                  <a:lnTo>
                    <a:pt x="114300" y="2952750"/>
                  </a:lnTo>
                  <a:cubicBezTo>
                    <a:pt x="51174" y="2952750"/>
                    <a:pt x="0" y="2901576"/>
                    <a:pt x="0" y="2838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5962650" y="249555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114300" y="0"/>
                  </a:moveTo>
                  <a:lnTo>
                    <a:pt x="2266950" y="0"/>
                  </a:lnTo>
                  <a:cubicBezTo>
                    <a:pt x="2330076" y="0"/>
                    <a:pt x="2381250" y="17058"/>
                    <a:pt x="2381250" y="38100"/>
                  </a:cubicBezTo>
                  <a:lnTo>
                    <a:pt x="2381250" y="38100"/>
                  </a:lnTo>
                  <a:cubicBezTo>
                    <a:pt x="2381250" y="59142"/>
                    <a:pt x="2330076" y="76200"/>
                    <a:pt x="2266950" y="76200"/>
                  </a:cubicBezTo>
                  <a:lnTo>
                    <a:pt x="114300" y="76200"/>
                  </a:lnTo>
                  <a:cubicBezTo>
                    <a:pt x="51174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6153150" y="2762250"/>
              <a:ext cx="342900" cy="3429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6229350" y="2847975"/>
              <a:ext cx="190500" cy="171450"/>
            </a:xfrm>
            <a:custGeom>
              <a:avLst/>
              <a:gdLst/>
              <a:ahLst/>
              <a:cxnLst/>
              <a:rect l="l" t="t" r="r" b="b"/>
              <a:pathLst>
                <a:path w="190500" h="171450">
                  <a:moveTo>
                    <a:pt x="0" y="171450"/>
                  </a:moveTo>
                  <a:lnTo>
                    <a:pt x="0" y="0"/>
                  </a:lnTo>
                  <a:lnTo>
                    <a:pt x="95250" y="47625"/>
                  </a:lnTo>
                  <a:lnTo>
                    <a:pt x="190500" y="0"/>
                  </a:lnTo>
                  <a:lnTo>
                    <a:pt x="190500" y="1714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6324600" y="2752725"/>
              <a:ext cx="9525" cy="85725"/>
            </a:xfrm>
            <a:custGeom>
              <a:avLst/>
              <a:gdLst/>
              <a:ahLst/>
              <a:cxnLst/>
              <a:rect l="l" t="t" r="r" b="b"/>
              <a:pathLst>
                <a:path w="9525" h="85725">
                  <a:moveTo>
                    <a:pt x="0" y="857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6276975" y="2743200"/>
              <a:ext cx="95250" cy="47625"/>
            </a:xfrm>
            <a:custGeom>
              <a:avLst/>
              <a:gdLst/>
              <a:ahLst/>
              <a:cxnLst/>
              <a:rect l="l" t="t" r="r" b="b"/>
              <a:pathLst>
                <a:path w="95250" h="47625">
                  <a:moveTo>
                    <a:pt x="0" y="47625"/>
                  </a:moveTo>
                  <a:lnTo>
                    <a:pt x="47625" y="0"/>
                  </a:lnTo>
                  <a:lnTo>
                    <a:pt x="95250" y="47625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81394" y="2780348"/>
              <a:ext cx="14759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自动化执行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22492" y="32451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将策略直接落到线索分配、触达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22492" y="35118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编排、内容生成、投放调优和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22492" y="37785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培育流程，减少人工跳转与等待。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6229350" y="4438650"/>
              <a:ext cx="971550" cy="266700"/>
            </a:xfrm>
            <a:custGeom>
              <a:avLst/>
              <a:gdLst/>
              <a:ahLst/>
              <a:cxnLst/>
              <a:rect l="l" t="t" r="r" b="b"/>
              <a:pathLst>
                <a:path w="971550" h="266700">
                  <a:moveTo>
                    <a:pt x="133350" y="0"/>
                  </a:moveTo>
                  <a:lnTo>
                    <a:pt x="838200" y="0"/>
                  </a:lnTo>
                  <a:cubicBezTo>
                    <a:pt x="911847" y="0"/>
                    <a:pt x="971550" y="59703"/>
                    <a:pt x="971550" y="133350"/>
                  </a:cubicBezTo>
                  <a:lnTo>
                    <a:pt x="971550" y="133350"/>
                  </a:lnTo>
                  <a:cubicBezTo>
                    <a:pt x="971550" y="206997"/>
                    <a:pt x="911847" y="266700"/>
                    <a:pt x="83820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22403" y="4514374"/>
              <a:ext cx="5854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ACTIVATE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8658225" y="2495550"/>
              <a:ext cx="2962275" cy="2952750"/>
            </a:xfrm>
            <a:custGeom>
              <a:avLst/>
              <a:gdLst/>
              <a:ahLst/>
              <a:cxnLst/>
              <a:rect l="l" t="t" r="r" b="b"/>
              <a:pathLst>
                <a:path w="2962275" h="2952750">
                  <a:moveTo>
                    <a:pt x="114300" y="0"/>
                  </a:moveTo>
                  <a:lnTo>
                    <a:pt x="2847975" y="0"/>
                  </a:lnTo>
                  <a:cubicBezTo>
                    <a:pt x="2911101" y="0"/>
                    <a:pt x="2962275" y="51174"/>
                    <a:pt x="2962275" y="114300"/>
                  </a:cubicBezTo>
                  <a:lnTo>
                    <a:pt x="2962275" y="2838450"/>
                  </a:lnTo>
                  <a:cubicBezTo>
                    <a:pt x="2962275" y="2901576"/>
                    <a:pt x="2911101" y="2952750"/>
                    <a:pt x="2847975" y="2952750"/>
                  </a:cubicBezTo>
                  <a:lnTo>
                    <a:pt x="114300" y="2952750"/>
                  </a:lnTo>
                  <a:cubicBezTo>
                    <a:pt x="51174" y="2952750"/>
                    <a:pt x="0" y="2901576"/>
                    <a:pt x="0" y="2838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8658225" y="2495550"/>
              <a:ext cx="2962275" cy="76200"/>
            </a:xfrm>
            <a:custGeom>
              <a:avLst/>
              <a:gdLst/>
              <a:ahLst/>
              <a:cxnLst/>
              <a:rect l="l" t="t" r="r" b="b"/>
              <a:pathLst>
                <a:path w="2962275" h="76200">
                  <a:moveTo>
                    <a:pt x="114300" y="0"/>
                  </a:moveTo>
                  <a:lnTo>
                    <a:pt x="2847975" y="0"/>
                  </a:lnTo>
                  <a:cubicBezTo>
                    <a:pt x="2911101" y="0"/>
                    <a:pt x="2962275" y="17058"/>
                    <a:pt x="2962275" y="38100"/>
                  </a:cubicBezTo>
                  <a:lnTo>
                    <a:pt x="2962275" y="38100"/>
                  </a:lnTo>
                  <a:cubicBezTo>
                    <a:pt x="2962275" y="59142"/>
                    <a:pt x="2911101" y="76200"/>
                    <a:pt x="2847975" y="76200"/>
                  </a:cubicBezTo>
                  <a:lnTo>
                    <a:pt x="114300" y="76200"/>
                  </a:lnTo>
                  <a:cubicBezTo>
                    <a:pt x="51174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8848725" y="2762250"/>
              <a:ext cx="342900" cy="3429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8934450" y="2943225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762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9020175" y="2847975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1714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9105900" y="2895600"/>
              <a:ext cx="9525" cy="123825"/>
            </a:xfrm>
            <a:custGeom>
              <a:avLst/>
              <a:gdLst/>
              <a:ahLst/>
              <a:cxnLst/>
              <a:rect l="l" t="t" r="r" b="b"/>
              <a:pathLst>
                <a:path w="9525" h="123825">
                  <a:moveTo>
                    <a:pt x="0" y="1238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276969" y="278034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效果度量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918067" y="32451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围绕线索质量、转化率、获客成本、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918067" y="35118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渠道回收和活动贡献建立统一看板，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918067" y="37785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支持实时复盘与策略回收。</a:t>
              </a:r>
            </a:p>
          </p:txBody>
        </p:sp>
        <p:sp>
          <p:nvSpPr>
            <p:cNvPr id="70" name="Freeform 70"/>
            <p:cNvSpPr/>
            <p:nvPr/>
          </p:nvSpPr>
          <p:spPr>
            <a:xfrm>
              <a:off x="8924925" y="4438650"/>
              <a:ext cx="952500" cy="266700"/>
            </a:xfrm>
            <a:custGeom>
              <a:avLst/>
              <a:gdLst/>
              <a:ahLst/>
              <a:cxnLst/>
              <a:rect l="l" t="t" r="r" b="b"/>
              <a:pathLst>
                <a:path w="952500" h="266700">
                  <a:moveTo>
                    <a:pt x="133350" y="0"/>
                  </a:moveTo>
                  <a:lnTo>
                    <a:pt x="819150" y="0"/>
                  </a:lnTo>
                  <a:cubicBezTo>
                    <a:pt x="892797" y="0"/>
                    <a:pt x="952500" y="59703"/>
                    <a:pt x="952500" y="133350"/>
                  </a:cubicBezTo>
                  <a:lnTo>
                    <a:pt x="952500" y="133350"/>
                  </a:lnTo>
                  <a:cubicBezTo>
                    <a:pt x="952500" y="206997"/>
                    <a:pt x="892797" y="266700"/>
                    <a:pt x="8191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115387" y="4514374"/>
              <a:ext cx="571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MEASURE</a:t>
              </a:r>
            </a:p>
          </p:txBody>
        </p:sp>
        <p:sp>
          <p:nvSpPr>
            <p:cNvPr id="72" name="Line 72"/>
            <p:cNvSpPr/>
            <p:nvPr/>
          </p:nvSpPr>
          <p:spPr>
            <a:xfrm>
              <a:off x="2952750" y="3981450"/>
              <a:ext cx="314325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3" name="Line 73"/>
            <p:cNvSpPr/>
            <p:nvPr/>
          </p:nvSpPr>
          <p:spPr>
            <a:xfrm>
              <a:off x="5648325" y="3981450"/>
              <a:ext cx="314325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4" name="Line 74"/>
            <p:cNvSpPr/>
            <p:nvPr/>
          </p:nvSpPr>
          <p:spPr>
            <a:xfrm>
              <a:off x="8343900" y="3981450"/>
              <a:ext cx="314325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5" name="Freeform 75"/>
            <p:cNvSpPr/>
            <p:nvPr/>
          </p:nvSpPr>
          <p:spPr>
            <a:xfrm>
              <a:off x="571500" y="5715000"/>
              <a:ext cx="11049000" cy="533400"/>
            </a:xfrm>
            <a:custGeom>
              <a:avLst/>
              <a:gdLst/>
              <a:ahLst/>
              <a:cxnLst/>
              <a:rect l="l" t="t" r="r" b="b"/>
              <a:pathLst>
                <a:path w="11049000" h="5334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419100"/>
                  </a:lnTo>
                  <a:cubicBezTo>
                    <a:pt x="11049000" y="482226"/>
                    <a:pt x="10997826" y="533400"/>
                    <a:pt x="10934700" y="533400"/>
                  </a:cubicBezTo>
                  <a:lnTo>
                    <a:pt x="114300" y="533400"/>
                  </a:lnTo>
                  <a:cubicBezTo>
                    <a:pt x="51174" y="533400"/>
                    <a:pt x="0" y="482226"/>
                    <a:pt x="0" y="419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3506053" y="5739765"/>
              <a:ext cx="51798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从“接入数据”到“回收策略”的持续优化闭环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4575810" y="6031706"/>
              <a:ext cx="3040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>
                      <a:alphaMod val="82000"/>
                    </a:srgbClr>
                  </a:solidFill>
                  <a:latin typeface="+mn-lt"/>
                  <a:ea typeface="+mn-ea"/>
                  <a:cs typeface="+mn-cs"/>
                </a:rPr>
                <a:t>支持先做单点落地，再扩展为统一经营工作台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762125" y="5448300"/>
            <a:ext cx="8382000" cy="152400"/>
            <a:chOff x="1762125" y="5448300"/>
            <a:chExt cx="8382000" cy="152400"/>
          </a:xfrm>
        </p:grpSpPr>
        <p:sp>
          <p:nvSpPr>
            <p:cNvPr id="79" name="Line 79"/>
            <p:cNvSpPr/>
            <p:nvPr/>
          </p:nvSpPr>
          <p:spPr>
            <a:xfrm>
              <a:off x="1762125" y="54483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0" name="Line 80"/>
            <p:cNvSpPr/>
            <p:nvPr/>
          </p:nvSpPr>
          <p:spPr>
            <a:xfrm>
              <a:off x="4457700" y="54483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1" name="Line 81"/>
            <p:cNvSpPr/>
            <p:nvPr/>
          </p:nvSpPr>
          <p:spPr>
            <a:xfrm>
              <a:off x="7153275" y="54483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2" name="Line 82"/>
            <p:cNvSpPr/>
            <p:nvPr/>
          </p:nvSpPr>
          <p:spPr>
            <a:xfrm>
              <a:off x="10134600" y="54483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723900"/>
              <a:ext cx="12192000" cy="381000"/>
            </a:xfrm>
            <a:custGeom>
              <a:avLst/>
              <a:gdLst/>
              <a:ahLst/>
              <a:cxnLst/>
              <a:rect l="l" t="t" r="r" b="b"/>
              <a:pathLst>
                <a:path w="12192000" h="381000">
                  <a:moveTo>
                    <a:pt x="0" y="38100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6324600"/>
              <a:ext cx="12192000" cy="247650"/>
            </a:xfrm>
            <a:custGeom>
              <a:avLst/>
              <a:gdLst/>
              <a:ahLst/>
              <a:cxnLst/>
              <a:rect l="l" t="t" r="r" b="b"/>
              <a:pathLst>
                <a:path w="12192000" h="247650">
                  <a:moveTo>
                    <a:pt x="0" y="0"/>
                  </a:moveTo>
                  <a:lnTo>
                    <a:pt x="12192000" y="2476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8382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66738" y="360045"/>
            <a:ext cx="11058524" cy="6189821"/>
            <a:chOff x="566738" y="360045"/>
            <a:chExt cx="11058524" cy="6189821"/>
          </a:xfrm>
        </p:grpSpPr>
        <p:sp>
          <p:nvSpPr>
            <p:cNvPr id="8" name="TextBox 8"/>
            <p:cNvSpPr txBox="1"/>
            <p:nvPr/>
          </p:nvSpPr>
          <p:spPr>
            <a:xfrm>
              <a:off x="566738" y="360045"/>
              <a:ext cx="9376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12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SIGNALCOUNT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243681" y="638794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08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738" y="63879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57784" y="413385"/>
            <a:ext cx="11062716" cy="6003226"/>
            <a:chOff x="557784" y="413385"/>
            <a:chExt cx="11062716" cy="6003226"/>
          </a:xfrm>
        </p:grpSpPr>
        <p:sp>
          <p:nvSpPr>
            <p:cNvPr id="12" name="TextBox 12"/>
            <p:cNvSpPr txBox="1"/>
            <p:nvPr/>
          </p:nvSpPr>
          <p:spPr>
            <a:xfrm>
              <a:off x="557784" y="413385"/>
              <a:ext cx="44631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管理层可直接关注的收益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880" y="1095375"/>
              <a:ext cx="7284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该工作台优先改善预算效率、线索质量、协同速度和复盘周期四类核心经营指标。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71500" y="1619250"/>
              <a:ext cx="11049000" cy="438150"/>
            </a:xfrm>
            <a:custGeom>
              <a:avLst/>
              <a:gdLst/>
              <a:ahLst/>
              <a:cxnLst/>
              <a:rect l="l" t="t" r="r" b="b"/>
              <a:pathLst>
                <a:path w="11049000" h="438150">
                  <a:moveTo>
                    <a:pt x="95250" y="0"/>
                  </a:moveTo>
                  <a:lnTo>
                    <a:pt x="10953750" y="0"/>
                  </a:lnTo>
                  <a:cubicBezTo>
                    <a:pt x="11006355" y="0"/>
                    <a:pt x="11049000" y="42645"/>
                    <a:pt x="11049000" y="95250"/>
                  </a:cubicBezTo>
                  <a:lnTo>
                    <a:pt x="11049000" y="342900"/>
                  </a:lnTo>
                  <a:cubicBezTo>
                    <a:pt x="11049000" y="395505"/>
                    <a:pt x="11006355" y="438150"/>
                    <a:pt x="10953750" y="438150"/>
                  </a:cubicBezTo>
                  <a:lnTo>
                    <a:pt x="95250" y="438150"/>
                  </a:lnTo>
                  <a:cubicBezTo>
                    <a:pt x="42645" y="438150"/>
                    <a:pt x="0" y="395505"/>
                    <a:pt x="0" y="3429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800100" y="18002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65454" y="1765935"/>
              <a:ext cx="1708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收益应以经营口径衡量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3448050" y="18002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613404" y="1765935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先追求可见，再追求最优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362700" y="18002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28054" y="17659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关键数字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8248650" y="18002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14004" y="17659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压力指标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571500" y="2324100"/>
              <a:ext cx="5334000" cy="1809750"/>
            </a:xfrm>
            <a:custGeom>
              <a:avLst/>
              <a:gdLst/>
              <a:ahLst/>
              <a:cxnLst/>
              <a:rect l="l" t="t" r="r" b="b"/>
              <a:pathLst>
                <a:path w="5334000" h="180975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1695450"/>
                  </a:lnTo>
                  <a:cubicBezTo>
                    <a:pt x="5334000" y="1758576"/>
                    <a:pt x="5282826" y="1809750"/>
                    <a:pt x="5219700" y="1809750"/>
                  </a:cubicBezTo>
                  <a:lnTo>
                    <a:pt x="114300" y="1809750"/>
                  </a:lnTo>
                  <a:cubicBezTo>
                    <a:pt x="51174" y="1809750"/>
                    <a:pt x="0" y="1758576"/>
                    <a:pt x="0" y="1695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71500" y="2324100"/>
              <a:ext cx="76200" cy="1809750"/>
            </a:xfrm>
            <a:custGeom>
              <a:avLst/>
              <a:gdLst/>
              <a:ahLst/>
              <a:cxnLst/>
              <a:rect l="l" t="t" r="r" b="b"/>
              <a:pathLst>
                <a:path w="76200" h="1809750">
                  <a:moveTo>
                    <a:pt x="38100" y="0"/>
                  </a:moveTo>
                  <a:lnTo>
                    <a:pt x="38100" y="0"/>
                  </a:lnTo>
                  <a:cubicBezTo>
                    <a:pt x="59142" y="0"/>
                    <a:pt x="76200" y="17058"/>
                    <a:pt x="76200" y="38100"/>
                  </a:cubicBezTo>
                  <a:lnTo>
                    <a:pt x="76200" y="1771650"/>
                  </a:lnTo>
                  <a:cubicBezTo>
                    <a:pt x="76200" y="1792692"/>
                    <a:pt x="59142" y="1809750"/>
                    <a:pt x="38100" y="1809750"/>
                  </a:cubicBezTo>
                  <a:lnTo>
                    <a:pt x="38100" y="1809750"/>
                  </a:lnTo>
                  <a:cubicBezTo>
                    <a:pt x="17058" y="1809750"/>
                    <a:pt x="0" y="1792692"/>
                    <a:pt x="0" y="1771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1347" y="2580799"/>
              <a:ext cx="1542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1060" y="2857500"/>
              <a:ext cx="11058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30%+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76094" y="297084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线索响应提速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442" y="345471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自动分发与触达编排缩短销售跟进等待时间。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876300" y="381000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70966" y="39062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协同速度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4743450" y="2628900"/>
              <a:ext cx="514350" cy="533400"/>
            </a:xfrm>
            <a:custGeom>
              <a:avLst/>
              <a:gdLst/>
              <a:ahLst/>
              <a:cxnLst/>
              <a:rect l="l" t="t" r="r" b="b"/>
              <a:pathLst>
                <a:path w="514350" h="533400">
                  <a:moveTo>
                    <a:pt x="0" y="152400"/>
                  </a:moveTo>
                  <a:lnTo>
                    <a:pt x="266700" y="152400"/>
                  </a:lnTo>
                  <a:lnTo>
                    <a:pt x="266700" y="0"/>
                  </a:lnTo>
                  <a:lnTo>
                    <a:pt x="514350" y="266700"/>
                  </a:lnTo>
                  <a:lnTo>
                    <a:pt x="266700" y="533400"/>
                  </a:lnTo>
                  <a:lnTo>
                    <a:pt x="2667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chemeClr val="accent2">
                <a:alpha val="14000"/>
              </a:schemeClr>
            </a:solidFill>
            <a:ln w="14288">
              <a:solidFill>
                <a:schemeClr val="accent2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4857750" y="28956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5086350" y="283845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57150" y="571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5086350" y="289560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57150"/>
                  </a:moveTo>
                  <a:lnTo>
                    <a:pt x="571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286500" y="2324100"/>
              <a:ext cx="5334000" cy="1809750"/>
            </a:xfrm>
            <a:custGeom>
              <a:avLst/>
              <a:gdLst/>
              <a:ahLst/>
              <a:cxnLst/>
              <a:rect l="l" t="t" r="r" b="b"/>
              <a:pathLst>
                <a:path w="5334000" h="180975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1695450"/>
                  </a:lnTo>
                  <a:cubicBezTo>
                    <a:pt x="5334000" y="1758576"/>
                    <a:pt x="5282826" y="1809750"/>
                    <a:pt x="5219700" y="1809750"/>
                  </a:cubicBezTo>
                  <a:lnTo>
                    <a:pt x="114300" y="1809750"/>
                  </a:lnTo>
                  <a:cubicBezTo>
                    <a:pt x="51174" y="1809750"/>
                    <a:pt x="0" y="1758576"/>
                    <a:pt x="0" y="1695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286500" y="2324100"/>
              <a:ext cx="76200" cy="1809750"/>
            </a:xfrm>
            <a:custGeom>
              <a:avLst/>
              <a:gdLst/>
              <a:ahLst/>
              <a:cxnLst/>
              <a:rect l="l" t="t" r="r" b="b"/>
              <a:pathLst>
                <a:path w="76200" h="1809750">
                  <a:moveTo>
                    <a:pt x="38100" y="0"/>
                  </a:moveTo>
                  <a:lnTo>
                    <a:pt x="38100" y="0"/>
                  </a:lnTo>
                  <a:cubicBezTo>
                    <a:pt x="59142" y="0"/>
                    <a:pt x="76200" y="17058"/>
                    <a:pt x="76200" y="38100"/>
                  </a:cubicBezTo>
                  <a:lnTo>
                    <a:pt x="76200" y="1771650"/>
                  </a:lnTo>
                  <a:cubicBezTo>
                    <a:pt x="76200" y="1792692"/>
                    <a:pt x="59142" y="1809750"/>
                    <a:pt x="38100" y="1809750"/>
                  </a:cubicBezTo>
                  <a:lnTo>
                    <a:pt x="38100" y="1809750"/>
                  </a:lnTo>
                  <a:cubicBezTo>
                    <a:pt x="17058" y="1809750"/>
                    <a:pt x="0" y="1792692"/>
                    <a:pt x="0" y="1771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86347" y="2580799"/>
              <a:ext cx="1542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76060" y="2857500"/>
              <a:ext cx="11058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20%+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91094" y="297084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投放浪费压降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84442" y="34547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基于归因反馈与预算建议，减少低效渠道与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84442" y="3683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低质人群消耗。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591300" y="403860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85966" y="41348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预算效率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10382250" y="2628900"/>
              <a:ext cx="742950" cy="533400"/>
            </a:xfrm>
            <a:custGeom>
              <a:avLst/>
              <a:gdLst/>
              <a:ahLst/>
              <a:cxnLst/>
              <a:rect l="l" t="t" r="r" b="b"/>
              <a:pathLst>
                <a:path w="742950" h="533400">
                  <a:moveTo>
                    <a:pt x="95250" y="0"/>
                  </a:moveTo>
                  <a:lnTo>
                    <a:pt x="647700" y="0"/>
                  </a:lnTo>
                  <a:cubicBezTo>
                    <a:pt x="700305" y="0"/>
                    <a:pt x="742950" y="42645"/>
                    <a:pt x="742950" y="95250"/>
                  </a:cubicBezTo>
                  <a:lnTo>
                    <a:pt x="742950" y="438150"/>
                  </a:lnTo>
                  <a:cubicBezTo>
                    <a:pt x="742950" y="490755"/>
                    <a:pt x="700305" y="533400"/>
                    <a:pt x="64770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 w="14288">
              <a:solidFill>
                <a:schemeClr val="accent2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0534650" y="2667000"/>
              <a:ext cx="438150" cy="342900"/>
            </a:xfrm>
            <a:custGeom>
              <a:avLst/>
              <a:gdLst/>
              <a:ahLst/>
              <a:cxnLst/>
              <a:rect l="l" t="t" r="r" b="b"/>
              <a:pathLst>
                <a:path w="438150" h="342900">
                  <a:moveTo>
                    <a:pt x="0" y="342900"/>
                  </a:moveTo>
                  <a:lnTo>
                    <a:pt x="0" y="133350"/>
                  </a:lnTo>
                  <a:lnTo>
                    <a:pt x="152400" y="228600"/>
                  </a:lnTo>
                  <a:lnTo>
                    <a:pt x="304800" y="57150"/>
                  </a:lnTo>
                  <a:lnTo>
                    <a:pt x="438150" y="171450"/>
                  </a:ln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10915650" y="266700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10972800" y="266700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571500" y="4400550"/>
              <a:ext cx="5334000" cy="1809750"/>
            </a:xfrm>
            <a:custGeom>
              <a:avLst/>
              <a:gdLst/>
              <a:ahLst/>
              <a:cxnLst/>
              <a:rect l="l" t="t" r="r" b="b"/>
              <a:pathLst>
                <a:path w="5334000" h="180975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1695450"/>
                  </a:lnTo>
                  <a:cubicBezTo>
                    <a:pt x="5334000" y="1758576"/>
                    <a:pt x="5282826" y="1809750"/>
                    <a:pt x="5219700" y="1809750"/>
                  </a:cubicBezTo>
                  <a:lnTo>
                    <a:pt x="114300" y="1809750"/>
                  </a:lnTo>
                  <a:cubicBezTo>
                    <a:pt x="51174" y="1809750"/>
                    <a:pt x="0" y="1758576"/>
                    <a:pt x="0" y="1695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571500" y="4400550"/>
              <a:ext cx="76200" cy="1809750"/>
            </a:xfrm>
            <a:custGeom>
              <a:avLst/>
              <a:gdLst/>
              <a:ahLst/>
              <a:cxnLst/>
              <a:rect l="l" t="t" r="r" b="b"/>
              <a:pathLst>
                <a:path w="76200" h="1809750">
                  <a:moveTo>
                    <a:pt x="38100" y="0"/>
                  </a:moveTo>
                  <a:lnTo>
                    <a:pt x="38100" y="0"/>
                  </a:lnTo>
                  <a:cubicBezTo>
                    <a:pt x="59142" y="0"/>
                    <a:pt x="76200" y="17058"/>
                    <a:pt x="76200" y="38100"/>
                  </a:cubicBezTo>
                  <a:lnTo>
                    <a:pt x="76200" y="1771650"/>
                  </a:lnTo>
                  <a:cubicBezTo>
                    <a:pt x="76200" y="1792692"/>
                    <a:pt x="59142" y="1809750"/>
                    <a:pt x="38100" y="1809750"/>
                  </a:cubicBezTo>
                  <a:lnTo>
                    <a:pt x="38100" y="1809750"/>
                  </a:lnTo>
                  <a:cubicBezTo>
                    <a:pt x="17058" y="1809750"/>
                    <a:pt x="0" y="1792692"/>
                    <a:pt x="0" y="1771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71347" y="4657249"/>
              <a:ext cx="1542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61060" y="4933950"/>
              <a:ext cx="11058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15%+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276094" y="50472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转化效率提升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69442" y="553116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通过人群分层、内容推荐与培育自动化提升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9442" y="57597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有效转化。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876300" y="611505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70966" y="62112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线索质量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4943475" y="4781550"/>
              <a:ext cx="457200" cy="457200"/>
            </a:xfrm>
            <a:prstGeom prst="ellipse">
              <a:avLst/>
            </a:prstGeom>
            <a:solidFill>
              <a:schemeClr val="accent2">
                <a:alpha val="10000"/>
              </a:schemeClr>
            </a:solidFill>
            <a:ln w="14288">
              <a:solidFill>
                <a:schemeClr val="accent2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5038725" y="4905375"/>
              <a:ext cx="285750" cy="209550"/>
            </a:xfrm>
            <a:custGeom>
              <a:avLst/>
              <a:gdLst/>
              <a:ahLst/>
              <a:cxnLst/>
              <a:rect l="l" t="t" r="r" b="b"/>
              <a:pathLst>
                <a:path w="285750" h="209550">
                  <a:moveTo>
                    <a:pt x="0" y="114300"/>
                  </a:moveTo>
                  <a:lnTo>
                    <a:pt x="95250" y="209550"/>
                  </a:lnTo>
                  <a:lnTo>
                    <a:pt x="285750" y="0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  <a:round/>
            </a:ln>
          </p:spPr>
        </p:sp>
        <p:sp>
          <p:nvSpPr>
            <p:cNvPr id="59" name="Freeform 59"/>
            <p:cNvSpPr/>
            <p:nvPr/>
          </p:nvSpPr>
          <p:spPr>
            <a:xfrm>
              <a:off x="6286500" y="4400550"/>
              <a:ext cx="5334000" cy="1809750"/>
            </a:xfrm>
            <a:custGeom>
              <a:avLst/>
              <a:gdLst/>
              <a:ahLst/>
              <a:cxnLst/>
              <a:rect l="l" t="t" r="r" b="b"/>
              <a:pathLst>
                <a:path w="5334000" h="180975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1695450"/>
                  </a:lnTo>
                  <a:cubicBezTo>
                    <a:pt x="5334000" y="1758576"/>
                    <a:pt x="5282826" y="1809750"/>
                    <a:pt x="5219700" y="1809750"/>
                  </a:cubicBezTo>
                  <a:lnTo>
                    <a:pt x="114300" y="1809750"/>
                  </a:lnTo>
                  <a:cubicBezTo>
                    <a:pt x="51174" y="1809750"/>
                    <a:pt x="0" y="1758576"/>
                    <a:pt x="0" y="1695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6286500" y="4400550"/>
              <a:ext cx="76200" cy="1809750"/>
            </a:xfrm>
            <a:custGeom>
              <a:avLst/>
              <a:gdLst/>
              <a:ahLst/>
              <a:cxnLst/>
              <a:rect l="l" t="t" r="r" b="b"/>
              <a:pathLst>
                <a:path w="76200" h="1809750">
                  <a:moveTo>
                    <a:pt x="38100" y="0"/>
                  </a:moveTo>
                  <a:lnTo>
                    <a:pt x="38100" y="0"/>
                  </a:lnTo>
                  <a:cubicBezTo>
                    <a:pt x="59142" y="0"/>
                    <a:pt x="76200" y="17058"/>
                    <a:pt x="76200" y="38100"/>
                  </a:cubicBezTo>
                  <a:lnTo>
                    <a:pt x="76200" y="1771650"/>
                  </a:lnTo>
                  <a:cubicBezTo>
                    <a:pt x="76200" y="1792692"/>
                    <a:pt x="59142" y="1809750"/>
                    <a:pt x="38100" y="1809750"/>
                  </a:cubicBezTo>
                  <a:lnTo>
                    <a:pt x="38100" y="1809750"/>
                  </a:lnTo>
                  <a:cubicBezTo>
                    <a:pt x="17058" y="1809750"/>
                    <a:pt x="0" y="1792692"/>
                    <a:pt x="0" y="1771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86347" y="4657249"/>
              <a:ext cx="1542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76060" y="4933950"/>
              <a:ext cx="8593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50%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800594" y="50472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复盘周期缩短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584442" y="553116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统一看板与自动归因减少人工汇总和跨团队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584442" y="57597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对账。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6591300" y="611505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585966" y="62112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复盘周期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10553700" y="4781550"/>
              <a:ext cx="457200" cy="457200"/>
            </a:xfrm>
            <a:prstGeom prst="ellipse">
              <a:avLst/>
            </a:prstGeom>
            <a:solidFill>
              <a:schemeClr val="accent2">
                <a:alpha val="10000"/>
              </a:schemeClr>
            </a:solidFill>
            <a:ln w="14288">
              <a:solidFill>
                <a:schemeClr val="accent2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10782300" y="4876800"/>
              <a:ext cx="95250" cy="190500"/>
            </a:xfrm>
            <a:custGeom>
              <a:avLst/>
              <a:gdLst/>
              <a:ahLst/>
              <a:cxnLst/>
              <a:rect l="l" t="t" r="r" b="b"/>
              <a:pathLst>
                <a:path w="95250" h="190500">
                  <a:moveTo>
                    <a:pt x="0" y="0"/>
                  </a:moveTo>
                  <a:lnTo>
                    <a:pt x="0" y="133350"/>
                  </a:lnTo>
                  <a:lnTo>
                    <a:pt x="95250" y="190500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9867900" y="1257300"/>
            <a:ext cx="1752600" cy="904875"/>
            <a:chOff x="9867900" y="1257300"/>
            <a:chExt cx="1752600" cy="904875"/>
          </a:xfrm>
        </p:grpSpPr>
        <p:sp>
          <p:nvSpPr>
            <p:cNvPr id="71" name="Freeform 71"/>
            <p:cNvSpPr/>
            <p:nvPr/>
          </p:nvSpPr>
          <p:spPr>
            <a:xfrm>
              <a:off x="9867900" y="1257300"/>
              <a:ext cx="1752600" cy="781050"/>
            </a:xfrm>
            <a:custGeom>
              <a:avLst/>
              <a:gdLst/>
              <a:ahLst/>
              <a:cxnLst/>
              <a:rect l="l" t="t" r="r" b="b"/>
              <a:pathLst>
                <a:path w="1752600" h="781050">
                  <a:moveTo>
                    <a:pt x="114300" y="0"/>
                  </a:moveTo>
                  <a:lnTo>
                    <a:pt x="1638300" y="0"/>
                  </a:lnTo>
                  <a:cubicBezTo>
                    <a:pt x="1701426" y="0"/>
                    <a:pt x="1752600" y="51174"/>
                    <a:pt x="1752600" y="114300"/>
                  </a:cubicBezTo>
                  <a:lnTo>
                    <a:pt x="1752600" y="666750"/>
                  </a:lnTo>
                  <a:cubicBezTo>
                    <a:pt x="1752600" y="729876"/>
                    <a:pt x="1701426" y="781050"/>
                    <a:pt x="1638300" y="781050"/>
                  </a:cubicBezTo>
                  <a:lnTo>
                    <a:pt x="114300" y="781050"/>
                  </a:lnTo>
                  <a:cubicBezTo>
                    <a:pt x="51174" y="781050"/>
                    <a:pt x="0" y="729876"/>
                    <a:pt x="0" y="666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089642" y="1368742"/>
              <a:ext cx="8202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管理提示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091166" y="1639252"/>
              <a:ext cx="1176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优先盯 3–4 个经营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091166" y="18297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信号，避免指标噪音。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9867900" y="215265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571500" y="1047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8191500" y="476250"/>
              <a:ext cx="9525" cy="5905500"/>
            </a:xfrm>
            <a:custGeom>
              <a:avLst/>
              <a:gdLst/>
              <a:ahLst/>
              <a:cxnLst/>
              <a:rect l="l" t="t" r="r" b="b"/>
              <a:pathLst>
                <a:path w="9525" h="5905500">
                  <a:moveTo>
                    <a:pt x="0" y="0"/>
                  </a:moveTo>
                  <a:lnTo>
                    <a:pt x="0" y="5905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57784" y="245745"/>
            <a:ext cx="11067479" cy="6399371"/>
            <a:chOff x="557784" y="245745"/>
            <a:chExt cx="11067479" cy="6399371"/>
          </a:xfrm>
        </p:grpSpPr>
        <p:sp>
          <p:nvSpPr>
            <p:cNvPr id="8" name="TextBox 8"/>
            <p:cNvSpPr txBox="1"/>
            <p:nvPr/>
          </p:nvSpPr>
          <p:spPr>
            <a:xfrm>
              <a:off x="566738" y="245745"/>
              <a:ext cx="7541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SPREADMAP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584835"/>
              <a:ext cx="24469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价值释放路径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93570" y="64831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6738" y="64831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62356" y="1234440"/>
            <a:ext cx="11058144" cy="4585335"/>
            <a:chOff x="562356" y="1234440"/>
            <a:chExt cx="11058144" cy="4585335"/>
          </a:xfrm>
        </p:grpSpPr>
        <p:sp>
          <p:nvSpPr>
            <p:cNvPr id="13" name="TextBox 13"/>
            <p:cNvSpPr txBox="1"/>
            <p:nvPr/>
          </p:nvSpPr>
          <p:spPr>
            <a:xfrm>
              <a:off x="562356" y="1234440"/>
              <a:ext cx="68879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价值不是一次性爆发，而是沿着数据、洞察、执行、度量四段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2356" y="15582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逐步放大。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71500" y="1952625"/>
              <a:ext cx="2190750" cy="323850"/>
            </a:xfrm>
            <a:custGeom>
              <a:avLst/>
              <a:gdLst/>
              <a:ahLst/>
              <a:cxnLst/>
              <a:rect l="l" t="t" r="r" b="b"/>
              <a:pathLst>
                <a:path w="2190750" h="323850">
                  <a:moveTo>
                    <a:pt x="161925" y="0"/>
                  </a:moveTo>
                  <a:lnTo>
                    <a:pt x="2028825" y="0"/>
                  </a:lnTo>
                  <a:cubicBezTo>
                    <a:pt x="2118254" y="0"/>
                    <a:pt x="2190750" y="72496"/>
                    <a:pt x="2190750" y="161925"/>
                  </a:cubicBezTo>
                  <a:lnTo>
                    <a:pt x="2190750" y="161925"/>
                  </a:lnTo>
                  <a:cubicBezTo>
                    <a:pt x="2190750" y="251354"/>
                    <a:pt x="2118254" y="323850"/>
                    <a:pt x="202882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21537" y="20326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主轴关系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000125" y="2905125"/>
              <a:ext cx="6448425" cy="1552575"/>
            </a:xfrm>
            <a:custGeom>
              <a:avLst/>
              <a:gdLst/>
              <a:ahLst/>
              <a:cxnLst/>
              <a:rect l="l" t="t" r="r" b="b"/>
              <a:pathLst>
                <a:path w="6448425" h="1552575">
                  <a:moveTo>
                    <a:pt x="0" y="809625"/>
                  </a:moveTo>
                  <a:cubicBezTo>
                    <a:pt x="666750" y="190500"/>
                    <a:pt x="1428750" y="0"/>
                    <a:pt x="2219325" y="0"/>
                  </a:cubicBezTo>
                  <a:cubicBezTo>
                    <a:pt x="2981325" y="0"/>
                    <a:pt x="3686175" y="219075"/>
                    <a:pt x="4333875" y="762000"/>
                  </a:cubicBezTo>
                  <a:cubicBezTo>
                    <a:pt x="4981575" y="1304925"/>
                    <a:pt x="5686425" y="1552575"/>
                    <a:pt x="6448425" y="1552575"/>
                  </a:cubicBezTo>
                </a:path>
              </a:pathLst>
            </a:custGeom>
            <a:noFill/>
            <a:ln w="114300" cap="rnd"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0" scaled="1"/>
              </a:gradFill>
              <a:tailEnd type="triangle" w="lg" len="lg"/>
            </a:ln>
          </p:spPr>
        </p:sp>
        <p:sp>
          <p:nvSpPr>
            <p:cNvPr id="18" name="Freeform 18"/>
            <p:cNvSpPr/>
            <p:nvPr/>
          </p:nvSpPr>
          <p:spPr>
            <a:xfrm>
              <a:off x="1000125" y="2905125"/>
              <a:ext cx="6448425" cy="1552575"/>
            </a:xfrm>
            <a:custGeom>
              <a:avLst/>
              <a:gdLst/>
              <a:ahLst/>
              <a:cxnLst/>
              <a:rect l="l" t="t" r="r" b="b"/>
              <a:pathLst>
                <a:path w="6448425" h="1552575">
                  <a:moveTo>
                    <a:pt x="0" y="809625"/>
                  </a:moveTo>
                  <a:cubicBezTo>
                    <a:pt x="666750" y="190500"/>
                    <a:pt x="1428750" y="0"/>
                    <a:pt x="2219325" y="0"/>
                  </a:cubicBezTo>
                  <a:cubicBezTo>
                    <a:pt x="2981325" y="0"/>
                    <a:pt x="3686175" y="219075"/>
                    <a:pt x="4333875" y="762000"/>
                  </a:cubicBezTo>
                  <a:cubicBezTo>
                    <a:pt x="4981575" y="1304925"/>
                    <a:pt x="5686425" y="1552575"/>
                    <a:pt x="6448425" y="1552575"/>
                  </a:cubicBezTo>
                </a:path>
              </a:pathLst>
            </a:custGeom>
            <a:noFill/>
            <a:ln w="247650" cap="rnd">
              <a:solidFill>
                <a:schemeClr val="accent3">
                  <a:alpha val="8000"/>
                </a:schemeClr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914400" y="3390900"/>
              <a:ext cx="647700" cy="6477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162050" y="36385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09604" y="40643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1.0×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2924175" y="2543175"/>
              <a:ext cx="723900" cy="7239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190875" y="280987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057479" y="33023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1.4×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4933950" y="3267075"/>
              <a:ext cx="800100" cy="8001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5219700" y="3552825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105354" y="412146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1.9×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991350" y="4019550"/>
              <a:ext cx="876300" cy="8763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2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7305675" y="433387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00854" y="4950142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2.3×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685800" y="4829175"/>
              <a:ext cx="1428750" cy="361950"/>
            </a:xfrm>
            <a:custGeom>
              <a:avLst/>
              <a:gdLst/>
              <a:ahLst/>
              <a:cxnLst/>
              <a:rect l="l" t="t" r="r" b="b"/>
              <a:pathLst>
                <a:path w="1428750" h="361950">
                  <a:moveTo>
                    <a:pt x="95250" y="0"/>
                  </a:moveTo>
                  <a:lnTo>
                    <a:pt x="1333500" y="0"/>
                  </a:lnTo>
                  <a:cubicBezTo>
                    <a:pt x="1386105" y="0"/>
                    <a:pt x="1428750" y="42645"/>
                    <a:pt x="1428750" y="95250"/>
                  </a:cubicBezTo>
                  <a:lnTo>
                    <a:pt x="1428750" y="266700"/>
                  </a:lnTo>
                  <a:cubicBezTo>
                    <a:pt x="1428750" y="319305"/>
                    <a:pt x="1386105" y="361950"/>
                    <a:pt x="1333500" y="361950"/>
                  </a:cubicBezTo>
                  <a:lnTo>
                    <a:pt x="95250" y="361950"/>
                  </a:lnTo>
                  <a:cubicBezTo>
                    <a:pt x="42645" y="361950"/>
                    <a:pt x="0" y="319305"/>
                    <a:pt x="0" y="2667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11669" y="49120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2571750" y="1905000"/>
              <a:ext cx="1428750" cy="361950"/>
            </a:xfrm>
            <a:custGeom>
              <a:avLst/>
              <a:gdLst/>
              <a:ahLst/>
              <a:cxnLst/>
              <a:rect l="l" t="t" r="r" b="b"/>
              <a:pathLst>
                <a:path w="1428750" h="361950">
                  <a:moveTo>
                    <a:pt x="95250" y="0"/>
                  </a:moveTo>
                  <a:lnTo>
                    <a:pt x="1333500" y="0"/>
                  </a:lnTo>
                  <a:cubicBezTo>
                    <a:pt x="1386105" y="0"/>
                    <a:pt x="1428750" y="42645"/>
                    <a:pt x="1428750" y="95250"/>
                  </a:cubicBezTo>
                  <a:lnTo>
                    <a:pt x="1428750" y="266700"/>
                  </a:lnTo>
                  <a:cubicBezTo>
                    <a:pt x="1428750" y="319305"/>
                    <a:pt x="1386105" y="361950"/>
                    <a:pt x="1333500" y="361950"/>
                  </a:cubicBezTo>
                  <a:lnTo>
                    <a:pt x="95250" y="361950"/>
                  </a:lnTo>
                  <a:cubicBezTo>
                    <a:pt x="42645" y="361950"/>
                    <a:pt x="0" y="319305"/>
                    <a:pt x="0" y="2667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961707" y="1987868"/>
              <a:ext cx="648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分析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4619625" y="4829175"/>
              <a:ext cx="1428750" cy="361950"/>
            </a:xfrm>
            <a:custGeom>
              <a:avLst/>
              <a:gdLst/>
              <a:ahLst/>
              <a:cxnLst/>
              <a:rect l="l" t="t" r="r" b="b"/>
              <a:pathLst>
                <a:path w="1428750" h="361950">
                  <a:moveTo>
                    <a:pt x="95250" y="0"/>
                  </a:moveTo>
                  <a:lnTo>
                    <a:pt x="1333500" y="0"/>
                  </a:lnTo>
                  <a:cubicBezTo>
                    <a:pt x="1386105" y="0"/>
                    <a:pt x="1428750" y="42645"/>
                    <a:pt x="1428750" y="95250"/>
                  </a:cubicBezTo>
                  <a:lnTo>
                    <a:pt x="1428750" y="266700"/>
                  </a:lnTo>
                  <a:cubicBezTo>
                    <a:pt x="1428750" y="319305"/>
                    <a:pt x="1386105" y="361950"/>
                    <a:pt x="1333500" y="361950"/>
                  </a:cubicBezTo>
                  <a:lnTo>
                    <a:pt x="95250" y="361950"/>
                  </a:lnTo>
                  <a:cubicBezTo>
                    <a:pt x="42645" y="361950"/>
                    <a:pt x="0" y="319305"/>
                    <a:pt x="0" y="2667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850082" y="491204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6715125" y="5457825"/>
              <a:ext cx="1428750" cy="361950"/>
            </a:xfrm>
            <a:custGeom>
              <a:avLst/>
              <a:gdLst/>
              <a:ahLst/>
              <a:cxnLst/>
              <a:rect l="l" t="t" r="r" b="b"/>
              <a:pathLst>
                <a:path w="1428750" h="361950">
                  <a:moveTo>
                    <a:pt x="95250" y="0"/>
                  </a:moveTo>
                  <a:lnTo>
                    <a:pt x="1333500" y="0"/>
                  </a:lnTo>
                  <a:cubicBezTo>
                    <a:pt x="1386105" y="0"/>
                    <a:pt x="1428750" y="42645"/>
                    <a:pt x="1428750" y="95250"/>
                  </a:cubicBezTo>
                  <a:lnTo>
                    <a:pt x="1428750" y="266700"/>
                  </a:lnTo>
                  <a:cubicBezTo>
                    <a:pt x="1428750" y="319305"/>
                    <a:pt x="1386105" y="361950"/>
                    <a:pt x="1333500" y="361950"/>
                  </a:cubicBezTo>
                  <a:lnTo>
                    <a:pt x="95250" y="361950"/>
                  </a:lnTo>
                  <a:cubicBezTo>
                    <a:pt x="42645" y="361950"/>
                    <a:pt x="0" y="319305"/>
                    <a:pt x="0" y="2667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40994" y="55406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7429500" y="3571875"/>
              <a:ext cx="2190750" cy="885825"/>
            </a:xfrm>
            <a:custGeom>
              <a:avLst/>
              <a:gdLst/>
              <a:ahLst/>
              <a:cxnLst/>
              <a:rect l="l" t="t" r="r" b="b"/>
              <a:pathLst>
                <a:path w="2190750" h="885825">
                  <a:moveTo>
                    <a:pt x="0" y="885825"/>
                  </a:moveTo>
                  <a:cubicBezTo>
                    <a:pt x="1143000" y="885825"/>
                    <a:pt x="1762125" y="523875"/>
                    <a:pt x="2190750" y="0"/>
                  </a:cubicBezTo>
                </a:path>
              </a:pathLst>
            </a:custGeom>
            <a:noFill/>
            <a:ln w="23812">
              <a:solidFill>
                <a:schemeClr val="accent2"/>
              </a:solidFill>
              <a:custDash>
                <a:ds d="280000" sp="280000"/>
              </a:custDash>
            </a:ln>
          </p:spPr>
        </p:sp>
        <p:sp>
          <p:nvSpPr>
            <p:cNvPr id="40" name="Freeform 40"/>
            <p:cNvSpPr/>
            <p:nvPr/>
          </p:nvSpPr>
          <p:spPr>
            <a:xfrm>
              <a:off x="9620250" y="2981325"/>
              <a:ext cx="1543050" cy="590550"/>
            </a:xfrm>
            <a:custGeom>
              <a:avLst/>
              <a:gdLst/>
              <a:ahLst/>
              <a:cxnLst/>
              <a:rect l="l" t="t" r="r" b="b"/>
              <a:pathLst>
                <a:path w="1543050" h="590550">
                  <a:moveTo>
                    <a:pt x="0" y="590550"/>
                  </a:moveTo>
                  <a:cubicBezTo>
                    <a:pt x="333375" y="180975"/>
                    <a:pt x="933450" y="0"/>
                    <a:pt x="1543050" y="0"/>
                  </a:cubicBezTo>
                </a:path>
              </a:pathLst>
            </a:custGeom>
            <a:noFill/>
            <a:ln w="23812">
              <a:solidFill>
                <a:schemeClr val="accent2"/>
              </a:solidFill>
              <a:custDash>
                <a:ds d="280000" sp="280000"/>
              </a:custDash>
              <a:tailEnd type="triangle" w="lg" len="lg"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690354" y="42329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持续优化飞轮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8572500" y="1333500"/>
              <a:ext cx="3048000" cy="1219200"/>
            </a:xfrm>
            <a:custGeom>
              <a:avLst/>
              <a:gdLst/>
              <a:ahLst/>
              <a:cxnLst/>
              <a:rect l="l" t="t" r="r" b="b"/>
              <a:pathLst>
                <a:path w="3048000" h="1219200">
                  <a:moveTo>
                    <a:pt x="114300" y="0"/>
                  </a:moveTo>
                  <a:lnTo>
                    <a:pt x="2933700" y="0"/>
                  </a:lnTo>
                  <a:cubicBezTo>
                    <a:pt x="2996826" y="0"/>
                    <a:pt x="3048000" y="51174"/>
                    <a:pt x="3048000" y="114300"/>
                  </a:cubicBezTo>
                  <a:lnTo>
                    <a:pt x="3048000" y="1104900"/>
                  </a:lnTo>
                  <a:cubicBezTo>
                    <a:pt x="3048000" y="1168026"/>
                    <a:pt x="2996826" y="1219200"/>
                    <a:pt x="2933700" y="1219200"/>
                  </a:cubicBezTo>
                  <a:lnTo>
                    <a:pt x="114300" y="1219200"/>
                  </a:lnTo>
                  <a:cubicBezTo>
                    <a:pt x="51174" y="1219200"/>
                    <a:pt x="0" y="1168026"/>
                    <a:pt x="0" y="11049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792718" y="144113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前段解决可见性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94242" y="17878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统一客户与渠道视图，解决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794242" y="20545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口径不一致与数据断层。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8572500" y="2724150"/>
              <a:ext cx="3048000" cy="1219200"/>
            </a:xfrm>
            <a:custGeom>
              <a:avLst/>
              <a:gdLst/>
              <a:ahLst/>
              <a:cxnLst/>
              <a:rect l="l" t="t" r="r" b="b"/>
              <a:pathLst>
                <a:path w="3048000" h="1219200">
                  <a:moveTo>
                    <a:pt x="114300" y="0"/>
                  </a:moveTo>
                  <a:lnTo>
                    <a:pt x="2933700" y="0"/>
                  </a:lnTo>
                  <a:cubicBezTo>
                    <a:pt x="2996826" y="0"/>
                    <a:pt x="3048000" y="51174"/>
                    <a:pt x="3048000" y="114300"/>
                  </a:cubicBezTo>
                  <a:lnTo>
                    <a:pt x="3048000" y="1104900"/>
                  </a:lnTo>
                  <a:cubicBezTo>
                    <a:pt x="3048000" y="1168026"/>
                    <a:pt x="2996826" y="1219200"/>
                    <a:pt x="2933700" y="1219200"/>
                  </a:cubicBezTo>
                  <a:lnTo>
                    <a:pt x="114300" y="1219200"/>
                  </a:lnTo>
                  <a:cubicBezTo>
                    <a:pt x="51174" y="1219200"/>
                    <a:pt x="0" y="1168026"/>
                    <a:pt x="0" y="11049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792718" y="28317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中段解决执行力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94242" y="317849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提升人群、内容和预算判断，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94242" y="344519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并把策略直接转成动作。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8572500" y="4114800"/>
              <a:ext cx="3048000" cy="1504950"/>
            </a:xfrm>
            <a:custGeom>
              <a:avLst/>
              <a:gdLst/>
              <a:ahLst/>
              <a:cxnLst/>
              <a:rect l="l" t="t" r="r" b="b"/>
              <a:pathLst>
                <a:path w="3048000" h="1504950">
                  <a:moveTo>
                    <a:pt x="114300" y="0"/>
                  </a:moveTo>
                  <a:lnTo>
                    <a:pt x="2933700" y="0"/>
                  </a:lnTo>
                  <a:cubicBezTo>
                    <a:pt x="2996826" y="0"/>
                    <a:pt x="3048000" y="51174"/>
                    <a:pt x="3048000" y="114300"/>
                  </a:cubicBezTo>
                  <a:lnTo>
                    <a:pt x="3048000" y="1390650"/>
                  </a:lnTo>
                  <a:cubicBezTo>
                    <a:pt x="3048000" y="1453776"/>
                    <a:pt x="2996826" y="1504950"/>
                    <a:pt x="2933700" y="1504950"/>
                  </a:cubicBezTo>
                  <a:lnTo>
                    <a:pt x="114300" y="1504950"/>
                  </a:lnTo>
                  <a:cubicBezTo>
                    <a:pt x="51174" y="1504950"/>
                    <a:pt x="0" y="1453776"/>
                    <a:pt x="0" y="1390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792718" y="422243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后段解决持续优化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94242" y="45691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用归因与复盘反哺策略，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94242" y="48358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缩短从发现问题到执行调整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794242" y="51025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再到优化预算的闭环周期。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65785" y="2266950"/>
            <a:ext cx="6873240" cy="3857339"/>
            <a:chOff x="565785" y="2266950"/>
            <a:chExt cx="6873240" cy="3857339"/>
          </a:xfrm>
        </p:grpSpPr>
        <p:sp>
          <p:nvSpPr>
            <p:cNvPr id="56" name="Line 56"/>
            <p:cNvSpPr/>
            <p:nvPr/>
          </p:nvSpPr>
          <p:spPr>
            <a:xfrm>
              <a:off x="1238250" y="2905125"/>
              <a:ext cx="9525" cy="485775"/>
            </a:xfrm>
            <a:custGeom>
              <a:avLst/>
              <a:gdLst/>
              <a:ahLst/>
              <a:cxnLst/>
              <a:rect l="l" t="t" r="r" b="b"/>
              <a:pathLst>
                <a:path w="9525" h="485775">
                  <a:moveTo>
                    <a:pt x="0" y="48577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3286125" y="2266950"/>
              <a:ext cx="9525" cy="276225"/>
            </a:xfrm>
            <a:custGeom>
              <a:avLst/>
              <a:gdLst/>
              <a:ahLst/>
              <a:cxnLst/>
              <a:rect l="l" t="t" r="r" b="b"/>
              <a:pathLst>
                <a:path w="9525" h="276225">
                  <a:moveTo>
                    <a:pt x="0" y="2762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5334000" y="4067175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7429500" y="4895850"/>
              <a:ext cx="9525" cy="561975"/>
            </a:xfrm>
            <a:custGeom>
              <a:avLst/>
              <a:gdLst/>
              <a:ahLst/>
              <a:cxnLst/>
              <a:rect l="l" t="t" r="r" b="b"/>
              <a:pathLst>
                <a:path w="9525" h="561975">
                  <a:moveTo>
                    <a:pt x="0" y="0"/>
                  </a:moveTo>
                  <a:lnTo>
                    <a:pt x="0" y="561975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65785" y="57078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66547" y="5933599"/>
              <a:ext cx="2264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1.0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689735" y="5707856"/>
              <a:ext cx="467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AI分析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690497" y="5933599"/>
              <a:ext cx="2264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1.4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718435" y="5707856"/>
              <a:ext cx="768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719197" y="5933599"/>
              <a:ext cx="2264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1.9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090035" y="57078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090797" y="5933599"/>
              <a:ext cx="2264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2.3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-857250"/>
            <a:ext cx="12954000" cy="8477250"/>
            <a:chOff x="0" y="-857250"/>
            <a:chExt cx="1295400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191500" y="-857250"/>
              <a:ext cx="4000500" cy="4000500"/>
            </a:xfrm>
            <a:prstGeom prst="ellipse">
              <a:avLst/>
            </a:prstGeom>
            <a:solidFill>
              <a:schemeClr val="accent2">
                <a:alpha val="5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525000" y="4191000"/>
              <a:ext cx="3429000" cy="3429000"/>
            </a:xfrm>
            <a:prstGeom prst="ellipse">
              <a:avLst/>
            </a:prstGeom>
            <a:solidFill>
              <a:schemeClr val="accent3">
                <a:alpha val="4000"/>
              </a:scheme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1333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71500" y="1343025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57784" y="556260"/>
            <a:ext cx="11067479" cy="6107906"/>
            <a:chOff x="557784" y="556260"/>
            <a:chExt cx="11067479" cy="6107906"/>
          </a:xfrm>
        </p:grpSpPr>
        <p:sp>
          <p:nvSpPr>
            <p:cNvPr id="9" name="TextBox 9"/>
            <p:cNvSpPr txBox="1"/>
            <p:nvPr/>
          </p:nvSpPr>
          <p:spPr>
            <a:xfrm>
              <a:off x="565404" y="5562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推进序列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7784" y="832485"/>
              <a:ext cx="285018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建议的推进路径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3880" y="1514475"/>
              <a:ext cx="69010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建议先用90天完成高价值场景验证，再按业务单元逐步扩展到全域营销运营。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65022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93570" y="6502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71500" y="2095500"/>
            <a:ext cx="11049000" cy="4372356"/>
            <a:chOff x="571500" y="2095500"/>
            <a:chExt cx="11049000" cy="4372356"/>
          </a:xfrm>
        </p:grpSpPr>
        <p:sp>
          <p:nvSpPr>
            <p:cNvPr id="15" name="Freeform 15"/>
            <p:cNvSpPr/>
            <p:nvPr/>
          </p:nvSpPr>
          <p:spPr>
            <a:xfrm>
              <a:off x="571500" y="2095500"/>
              <a:ext cx="11049000" cy="590550"/>
            </a:xfrm>
            <a:custGeom>
              <a:avLst/>
              <a:gdLst/>
              <a:ahLst/>
              <a:cxnLst/>
              <a:rect l="l" t="t" r="r" b="b"/>
              <a:pathLst>
                <a:path w="11049000" h="59055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476250"/>
                  </a:lnTo>
                  <a:cubicBezTo>
                    <a:pt x="11049000" y="539376"/>
                    <a:pt x="10997826" y="590550"/>
                    <a:pt x="1093470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38225" y="233362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79017" y="23117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先小范围验证价值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4419600" y="233362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660392" y="23117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再按组织节奏扩展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248650" y="2333625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89442" y="231171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治理与安全同步上线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1524000" y="3543300"/>
              <a:ext cx="7334250" cy="9525"/>
            </a:xfrm>
            <a:custGeom>
              <a:avLst/>
              <a:gdLst/>
              <a:ahLst/>
              <a:cxnLst/>
              <a:rect l="l" t="t" r="r" b="b"/>
              <a:pathLst>
                <a:path w="7334250" h="9525">
                  <a:moveTo>
                    <a:pt x="0" y="0"/>
                  </a:moveTo>
                  <a:cubicBezTo>
                    <a:pt x="904875" y="0"/>
                    <a:pt x="904875" y="0"/>
                    <a:pt x="1809750" y="0"/>
                  </a:cubicBezTo>
                  <a:lnTo>
                    <a:pt x="7334250" y="0"/>
                  </a:lnTo>
                </a:path>
              </a:pathLst>
            </a:custGeom>
            <a:noFill/>
            <a:ln w="76200">
              <a:gradFill>
                <a:gsLst>
                  <a:gs pos="0">
                    <a:schemeClr val="accent1"/>
                  </a:gs>
                  <a:gs pos="55000">
                    <a:schemeClr val="accent2"/>
                  </a:gs>
                  <a:gs pos="100000">
                    <a:schemeClr val="accent3"/>
                  </a:gs>
                </a:gsLst>
                <a:lin ang="0" scaled="1"/>
              </a:gradFill>
              <a:tailEnd type="triangle" w="lg" len="lg"/>
            </a:ln>
          </p:spPr>
        </p:sp>
        <p:sp>
          <p:nvSpPr>
            <p:cNvPr id="23" name="Ellipse 23"/>
            <p:cNvSpPr/>
            <p:nvPr/>
          </p:nvSpPr>
          <p:spPr>
            <a:xfrm>
              <a:off x="1619250" y="3352800"/>
              <a:ext cx="381000" cy="3810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740522" y="34480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000625" y="3352800"/>
              <a:ext cx="381000" cy="3810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121897" y="34480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8382000" y="3352800"/>
              <a:ext cx="381000" cy="3810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03272" y="34480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857250" y="3905250"/>
              <a:ext cx="2857500" cy="1809750"/>
            </a:xfrm>
            <a:custGeom>
              <a:avLst/>
              <a:gdLst/>
              <a:ahLst/>
              <a:cxnLst/>
              <a:rect l="l" t="t" r="r" b="b"/>
              <a:pathLst>
                <a:path w="2857500" h="1809750">
                  <a:moveTo>
                    <a:pt x="114300" y="0"/>
                  </a:moveTo>
                  <a:lnTo>
                    <a:pt x="2743200" y="0"/>
                  </a:lnTo>
                  <a:cubicBezTo>
                    <a:pt x="2806326" y="0"/>
                    <a:pt x="2857500" y="51174"/>
                    <a:pt x="2857500" y="114300"/>
                  </a:cubicBezTo>
                  <a:lnTo>
                    <a:pt x="2857500" y="1695450"/>
                  </a:lnTo>
                  <a:cubicBezTo>
                    <a:pt x="2857500" y="1758576"/>
                    <a:pt x="2806326" y="1809750"/>
                    <a:pt x="2743200" y="1809750"/>
                  </a:cubicBezTo>
                  <a:lnTo>
                    <a:pt x="114300" y="1809750"/>
                  </a:lnTo>
                  <a:cubicBezTo>
                    <a:pt x="51174" y="1809750"/>
                    <a:pt x="0" y="1758576"/>
                    <a:pt x="0" y="1695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57250" y="3905250"/>
              <a:ext cx="28575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77468" y="4089082"/>
              <a:ext cx="8447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第1阶段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80135" y="4402931"/>
              <a:ext cx="4805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2–4 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78992" y="46929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完成数据源梳理、指标口径确认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78992" y="49596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和首批接入，锁定一个核心场景。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78992" y="52263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优先从官网获客、活动线索或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78992" y="5493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私域培育中选择试点。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4667250" y="3905250"/>
              <a:ext cx="2857500" cy="1809750"/>
            </a:xfrm>
            <a:custGeom>
              <a:avLst/>
              <a:gdLst/>
              <a:ahLst/>
              <a:cxnLst/>
              <a:rect l="l" t="t" r="r" b="b"/>
              <a:pathLst>
                <a:path w="2857500" h="1809750">
                  <a:moveTo>
                    <a:pt x="114300" y="0"/>
                  </a:moveTo>
                  <a:lnTo>
                    <a:pt x="2743200" y="0"/>
                  </a:lnTo>
                  <a:cubicBezTo>
                    <a:pt x="2806326" y="0"/>
                    <a:pt x="2857500" y="51174"/>
                    <a:pt x="2857500" y="114300"/>
                  </a:cubicBezTo>
                  <a:lnTo>
                    <a:pt x="2857500" y="1695450"/>
                  </a:lnTo>
                  <a:cubicBezTo>
                    <a:pt x="2857500" y="1758576"/>
                    <a:pt x="2806326" y="1809750"/>
                    <a:pt x="2743200" y="1809750"/>
                  </a:cubicBezTo>
                  <a:lnTo>
                    <a:pt x="114300" y="1809750"/>
                  </a:lnTo>
                  <a:cubicBezTo>
                    <a:pt x="51174" y="1809750"/>
                    <a:pt x="0" y="1758576"/>
                    <a:pt x="0" y="1695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4667250" y="3905250"/>
              <a:ext cx="28575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887468" y="4089082"/>
              <a:ext cx="8447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第2阶段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90135" y="4402931"/>
              <a:ext cx="4805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4–8 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88992" y="4692968"/>
              <a:ext cx="27884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上线 AI 分析与自动化执行能力，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88992" y="49596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验证线索响应速度、转化效率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888992" y="52263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以及人工投入下降幅度，形成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888992" y="54930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可量化试点结论。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8477250" y="3905250"/>
              <a:ext cx="2857500" cy="1809750"/>
            </a:xfrm>
            <a:custGeom>
              <a:avLst/>
              <a:gdLst/>
              <a:ahLst/>
              <a:cxnLst/>
              <a:rect l="l" t="t" r="r" b="b"/>
              <a:pathLst>
                <a:path w="2857500" h="1809750">
                  <a:moveTo>
                    <a:pt x="114300" y="0"/>
                  </a:moveTo>
                  <a:lnTo>
                    <a:pt x="2743200" y="0"/>
                  </a:lnTo>
                  <a:cubicBezTo>
                    <a:pt x="2806326" y="0"/>
                    <a:pt x="2857500" y="51174"/>
                    <a:pt x="2857500" y="114300"/>
                  </a:cubicBezTo>
                  <a:lnTo>
                    <a:pt x="2857500" y="1695450"/>
                  </a:lnTo>
                  <a:cubicBezTo>
                    <a:pt x="2857500" y="1758576"/>
                    <a:pt x="2806326" y="1809750"/>
                    <a:pt x="2743200" y="1809750"/>
                  </a:cubicBezTo>
                  <a:lnTo>
                    <a:pt x="114300" y="1809750"/>
                  </a:lnTo>
                  <a:cubicBezTo>
                    <a:pt x="51174" y="1809750"/>
                    <a:pt x="0" y="1758576"/>
                    <a:pt x="0" y="1695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477250" y="3905250"/>
              <a:ext cx="2857500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697468" y="4089082"/>
              <a:ext cx="8447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第3阶段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00135" y="4402931"/>
              <a:ext cx="5680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8–12 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98992" y="46929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建立经营看板、归因规则和权限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98992" y="49596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治理，形成面向管理层的周度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698992" y="52263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复盘机制，并为后续扩展做好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698992" y="54930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组织级治理基础。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571500" y="5962650"/>
              <a:ext cx="11049000" cy="495300"/>
            </a:xfrm>
            <a:custGeom>
              <a:avLst/>
              <a:gdLst/>
              <a:ahLst/>
              <a:cxnLst/>
              <a:rect l="l" t="t" r="r" b="b"/>
              <a:pathLst>
                <a:path w="11049000" h="495300">
                  <a:moveTo>
                    <a:pt x="95250" y="0"/>
                  </a:moveTo>
                  <a:lnTo>
                    <a:pt x="10953750" y="0"/>
                  </a:lnTo>
                  <a:cubicBezTo>
                    <a:pt x="11006355" y="0"/>
                    <a:pt x="11049000" y="42645"/>
                    <a:pt x="11049000" y="95250"/>
                  </a:cubicBezTo>
                  <a:lnTo>
                    <a:pt x="11049000" y="400050"/>
                  </a:lnTo>
                  <a:cubicBezTo>
                    <a:pt x="11049000" y="452655"/>
                    <a:pt x="11006355" y="495300"/>
                    <a:pt x="10953750" y="495300"/>
                  </a:cubicBezTo>
                  <a:lnTo>
                    <a:pt x="95250" y="495300"/>
                  </a:lnTo>
                  <a:cubicBezTo>
                    <a:pt x="42645" y="495300"/>
                    <a:pt x="0" y="452655"/>
                    <a:pt x="0" y="4000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94004" y="60426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管理建议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4004" y="6233160"/>
              <a:ext cx="6958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优先批准试点预算与跨部门数据协同机制，把项目目标锁定为增长效率提升，而非单点功能上线。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809750" y="3733800"/>
            <a:ext cx="6772275" cy="171450"/>
            <a:chOff x="1809750" y="3733800"/>
            <a:chExt cx="6772275" cy="171450"/>
          </a:xfrm>
        </p:grpSpPr>
        <p:sp>
          <p:nvSpPr>
            <p:cNvPr id="57" name="Line 57"/>
            <p:cNvSpPr/>
            <p:nvPr/>
          </p:nvSpPr>
          <p:spPr>
            <a:xfrm>
              <a:off x="1809750" y="37338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4288">
              <a:solidFill>
                <a:srgbClr val="A0AEC0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5191125" y="37338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4288">
              <a:solidFill>
                <a:srgbClr val="A0AEC0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8572500" y="37338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4288">
              <a:solidFill>
                <a:srgbClr val="A0AEC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2026-07-10T18:27:15Z</dcterms:created>
  <dcterms:modified xsi:type="dcterms:W3CDTF">2026-07-10T18:27:15Z</dcterms:modified>
  <cp:category/>
  <cp:contentStatus/>
</cp:coreProperties>
</file>