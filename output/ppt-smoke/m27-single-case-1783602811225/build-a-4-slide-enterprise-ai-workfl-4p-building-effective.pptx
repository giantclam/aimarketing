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高效Agent构建：企业AI工作流引擎</a:t>
            </a:r>
          </a:p>
          <a:p>
            <a:endParaRPr lang="en-US" dirty="0"/>
          </a:p>
          <a:p>
            <a:r>
              <a:rPr lang="zh-CN" dirty="0"/>
              <a:t>将业务任务拆解为可编排、可观测的智能能力层，实现从感知到行动的闭环。</a:t>
            </a:r>
          </a:p>
          <a:p>
            <a:endParaRPr lang="en-US" dirty="0"/>
          </a:p>
          <a:p>
            <a:r>
              <a:rPr lang="zh-CN" dirty="0"/>
              <a:t>• 能力分层·编排清晰·执行可控</a:t>
            </a:r>
          </a:p>
          <a:p>
            <a:r>
              <a:rPr lang="zh-CN" dirty="0"/>
              <a:t>• 从单点模型到多Agent协作系统</a:t>
            </a:r>
          </a:p>
          <a:p>
            <a:r>
              <a:rPr lang="zh-CN" dirty="0"/>
              <a:t>• 为业务团队设计的可运营智能架构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能力分解与编排路径</a:t>
            </a:r>
          </a:p>
          <a:p>
            <a:endParaRPr lang="en-US" dirty="0"/>
          </a:p>
          <a:p>
            <a:r>
              <a:rPr lang="zh-CN" dirty="0"/>
              <a:t>围绕Agent系统的四层模型，逐步演进企业级AI工作流。</a:t>
            </a:r>
          </a:p>
          <a:p>
            <a:endParaRPr lang="en-US" dirty="0"/>
          </a:p>
          <a:p>
            <a:r>
              <a:rPr lang="zh-CN" dirty="0"/>
              <a:t>• 从流程自动化到Agent化工作流</a:t>
            </a:r>
          </a:p>
          <a:p>
            <a:r>
              <a:rPr lang="zh-CN" dirty="0"/>
              <a:t>• 感知层、推理层、执行层解耦</a:t>
            </a:r>
          </a:p>
          <a:p>
            <a:r>
              <a:rPr lang="zh-CN" dirty="0"/>
              <a:t>• 决策链路、工具调用与多步规划</a:t>
            </a:r>
          </a:p>
          <a:p>
            <a:r>
              <a:rPr lang="zh-CN" dirty="0"/>
              <a:t>• 可观测性、干预点与持续优化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Agent化不是升级，是工作流重构</a:t>
            </a:r>
          </a:p>
          <a:p>
            <a:endParaRPr lang="en-US" dirty="0"/>
          </a:p>
          <a:p>
            <a:r>
              <a:rPr lang="zh-CN" dirty="0"/>
              <a:t>让AI从单次问答进化为复合推理与行动链路，直接交付可衡量的业务结果。</a:t>
            </a:r>
          </a:p>
          <a:p>
            <a:endParaRPr lang="en-US" dirty="0"/>
          </a:p>
          <a:p>
            <a:r>
              <a:rPr lang="zh-CN" dirty="0"/>
              <a:t>• 模型能力+编排逻辑=可复用的业务Agent</a:t>
            </a:r>
          </a:p>
          <a:p>
            <a:r>
              <a:rPr lang="zh-CN" dirty="0"/>
              <a:t>• 分层解耦使各团队独立优化感知、决策与执行组件</a:t>
            </a:r>
          </a:p>
          <a:p>
            <a:r>
              <a:rPr lang="zh-CN" dirty="0"/>
              <a:t>• 执行闭环确保每次推理可追踪、可干预、可回测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启动Agent驱动运营</a:t>
            </a:r>
          </a:p>
          <a:p>
            <a:endParaRPr lang="en-US" dirty="0"/>
          </a:p>
          <a:p>
            <a:r>
              <a:rPr lang="zh-CN" dirty="0"/>
              <a:t>用四步行动路径将Agent工作流嵌入企业日常运营。</a:t>
            </a:r>
          </a:p>
          <a:p>
            <a:endParaRPr lang="en-US" dirty="0"/>
          </a:p>
          <a:p>
            <a:r>
              <a:rPr lang="zh-CN" dirty="0"/>
              <a:t>• 扫描现有工作流，识别适合Agent化的端到端场景</a:t>
            </a:r>
          </a:p>
          <a:p>
            <a:r>
              <a:rPr lang="zh-CN" dirty="0"/>
              <a:t>• 接入模型层与工具层，建立标准化的感知-执行接口</a:t>
            </a:r>
          </a:p>
          <a:p>
            <a:r>
              <a:rPr lang="zh-CN" dirty="0"/>
              <a:t>• 选取一个业务主线，构建完整的Agent决策与行动回路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CED8C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2450" y="616268"/>
            <a:ext cx="7579614" cy="5952743"/>
            <a:chOff x="552450" y="616268"/>
            <a:chExt cx="7579614" cy="5952743"/>
          </a:xfrm>
        </p:grpSpPr>
        <p:grpSp>
          <p:nvGrpSpPr>
            <p:cNvPr id="9" name="Group 9"/>
            <p:cNvGrpSpPr/>
            <p:nvPr/>
          </p:nvGrpSpPr>
          <p:grpSpPr>
            <a:xfrm>
              <a:off x="564642" y="616268"/>
              <a:ext cx="1252324" cy="374332"/>
              <a:chOff x="564642" y="616268"/>
              <a:chExt cx="1252324" cy="37433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64642" y="616268"/>
                <a:ext cx="12523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spc="300" dirty="0">
                    <a:solidFill>
                      <a:srgbClr val="101418"/>
                    </a:solidFill>
                    <a:latin typeface="Segoe UI"/>
                    <a:ea typeface="Segoe UI"/>
                    <a:cs typeface="Segoe UI"/>
                  </a:rPr>
                  <a:t>GRIDBRIEF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571500" y="952500"/>
                <a:ext cx="571500" cy="38100"/>
              </a:xfrm>
              <a:prstGeom prst="rect">
                <a:avLst/>
              </a:prstGeom>
              <a:solidFill>
                <a:srgbClr val="B7F36B"/>
              </a:solidFill>
              <a:ln>
                <a:noFill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552450" y="1642110"/>
              <a:ext cx="4962235" cy="1533525"/>
              <a:chOff x="552450" y="1642110"/>
              <a:chExt cx="4962235" cy="153352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52450" y="1642110"/>
                <a:ext cx="4691162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高效Agent构建：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2450" y="2356485"/>
                <a:ext cx="496223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企业AI工作流引擎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63118" y="3250882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将业务任务拆解为可编排、可观测的智能能力层，实现从感知到行动的闭环。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65404" y="6061710"/>
              <a:ext cx="4285671" cy="507301"/>
              <a:chOff x="565404" y="6061710"/>
              <a:chExt cx="4285671" cy="50730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65404" y="606171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能力分层 · 编排清晰 · 执行可控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6166" y="6363652"/>
                <a:ext cx="42849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从单点模型到多Agent协作系统 · 为业务团队设计的可运营智能架构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8572500" y="952500"/>
            <a:ext cx="3048000" cy="4746307"/>
            <a:chOff x="8572500" y="952500"/>
            <a:chExt cx="3048000" cy="4746307"/>
          </a:xfrm>
        </p:grpSpPr>
        <p:grpSp>
          <p:nvGrpSpPr>
            <p:cNvPr id="33" name="Group 33"/>
            <p:cNvGrpSpPr/>
            <p:nvPr/>
          </p:nvGrpSpPr>
          <p:grpSpPr>
            <a:xfrm>
              <a:off x="8572500" y="1428750"/>
              <a:ext cx="2667000" cy="4270057"/>
              <a:chOff x="8572500" y="1428750"/>
              <a:chExt cx="2667000" cy="427005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572500" y="1428750"/>
                <a:ext cx="2667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3810000">
                    <a:moveTo>
                      <a:pt x="114300" y="0"/>
                    </a:moveTo>
                    <a:lnTo>
                      <a:pt x="2552700" y="0"/>
                    </a:lnTo>
                    <a:cubicBezTo>
                      <a:pt x="2615826" y="0"/>
                      <a:pt x="2667000" y="51174"/>
                      <a:pt x="2667000" y="114300"/>
                    </a:cubicBezTo>
                    <a:lnTo>
                      <a:pt x="2667000" y="3695700"/>
                    </a:lnTo>
                    <a:cubicBezTo>
                      <a:pt x="2667000" y="3758826"/>
                      <a:pt x="2615826" y="3810000"/>
                      <a:pt x="2552700" y="3810000"/>
                    </a:cubicBezTo>
                    <a:lnTo>
                      <a:pt x="114300" y="3810000"/>
                    </a:lnTo>
                    <a:cubicBezTo>
                      <a:pt x="51174" y="3810000"/>
                      <a:pt x="0" y="3758826"/>
                      <a:pt x="0" y="3695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19050">
                <a:solidFill>
                  <a:srgbClr val="CED8C2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9029700" y="1981200"/>
                <a:ext cx="609600" cy="907732"/>
                <a:chOff x="9029700" y="1981200"/>
                <a:chExt cx="609600" cy="907732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9029700" y="1981200"/>
                  <a:ext cx="609600" cy="609600"/>
                </a:xfrm>
                <a:prstGeom prst="ellipse">
                  <a:avLst/>
                </a:prstGeom>
                <a:noFill/>
                <a:ln w="28575">
                  <a:solidFill>
                    <a:srgbClr val="B7F36B"/>
                  </a:solidFill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9182100" y="2133600"/>
                  <a:ext cx="304800" cy="3048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138914" y="2712720"/>
                  <a:ext cx="3911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感知层</a:t>
                  </a:r>
                </a:p>
              </p:txBody>
            </p:sp>
          </p:grpSp>
          <p:sp>
            <p:nvSpPr>
              <p:cNvPr id="23" name="Line 23"/>
              <p:cNvSpPr/>
              <p:nvPr/>
            </p:nvSpPr>
            <p:spPr>
              <a:xfrm>
                <a:off x="9334500" y="23812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  <a:prstDash val="lgDash"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9029700" y="3028950"/>
                <a:ext cx="609600" cy="907732"/>
                <a:chOff x="9029700" y="3028950"/>
                <a:chExt cx="609600" cy="90773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9029700" y="3028950"/>
                  <a:ext cx="6096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609600">
                      <a:moveTo>
                        <a:pt x="76200" y="0"/>
                      </a:moveTo>
                      <a:lnTo>
                        <a:pt x="533400" y="0"/>
                      </a:lnTo>
                      <a:cubicBezTo>
                        <a:pt x="575484" y="0"/>
                        <a:pt x="609600" y="34116"/>
                        <a:pt x="609600" y="76200"/>
                      </a:cubicBezTo>
                      <a:lnTo>
                        <a:pt x="609600" y="533400"/>
                      </a:lnTo>
                      <a:cubicBezTo>
                        <a:pt x="609600" y="575484"/>
                        <a:pt x="575484" y="609600"/>
                        <a:pt x="533400" y="609600"/>
                      </a:cubicBezTo>
                      <a:lnTo>
                        <a:pt x="76200" y="609600"/>
                      </a:lnTo>
                      <a:cubicBezTo>
                        <a:pt x="34116" y="609600"/>
                        <a:pt x="0" y="575484"/>
                        <a:pt x="0" y="5334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101418"/>
                  </a:solidFill>
                </a:ln>
              </p:spPr>
            </p:sp>
            <p:sp>
              <p:nvSpPr>
                <p:cNvPr id="25" name="Ellipse 25"/>
                <p:cNvSpPr/>
                <p:nvPr/>
              </p:nvSpPr>
              <p:spPr>
                <a:xfrm>
                  <a:off x="9144000" y="3143250"/>
                  <a:ext cx="381000" cy="381000"/>
                </a:xfrm>
                <a:prstGeom prst="ellipse">
                  <a:avLst/>
                </a:pr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138914" y="3760470"/>
                  <a:ext cx="3911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编排层</a:t>
                  </a:r>
                </a:p>
              </p:txBody>
            </p:sp>
          </p:grpSp>
          <p:sp>
            <p:nvSpPr>
              <p:cNvPr id="28" name="Line 28"/>
              <p:cNvSpPr/>
              <p:nvPr/>
            </p:nvSpPr>
            <p:spPr>
              <a:xfrm>
                <a:off x="9334500" y="40005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  <a:prstDash val="lgDash"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953500" y="4572000"/>
                <a:ext cx="762000" cy="1126807"/>
                <a:chOff x="8953500" y="4572000"/>
                <a:chExt cx="762000" cy="1126807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953500" y="4572000"/>
                  <a:ext cx="762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762000">
                      <a:moveTo>
                        <a:pt x="381000" y="0"/>
                      </a:moveTo>
                      <a:lnTo>
                        <a:pt x="381000" y="0"/>
                      </a:lnTo>
                      <a:cubicBezTo>
                        <a:pt x="591420" y="0"/>
                        <a:pt x="762000" y="170580"/>
                        <a:pt x="762000" y="381000"/>
                      </a:cubicBezTo>
                      <a:lnTo>
                        <a:pt x="762000" y="381000"/>
                      </a:lnTo>
                      <a:cubicBezTo>
                        <a:pt x="762000" y="591420"/>
                        <a:pt x="591420" y="762000"/>
                        <a:pt x="381000" y="762000"/>
                      </a:cubicBezTo>
                      <a:lnTo>
                        <a:pt x="381000" y="762000"/>
                      </a:lnTo>
                      <a:cubicBezTo>
                        <a:pt x="170580" y="762000"/>
                        <a:pt x="0" y="591420"/>
                        <a:pt x="0" y="381000"/>
                      </a:cubicBezTo>
                      <a:lnTo>
                        <a:pt x="0" y="381000"/>
                      </a:lnTo>
                      <a:cubicBezTo>
                        <a:pt x="0" y="170580"/>
                        <a:pt x="170580" y="0"/>
                        <a:pt x="381000" y="0"/>
                      </a:cubicBezTo>
                      <a:close/>
                    </a:path>
                  </a:pathLst>
                </a:cu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9105900" y="4724400"/>
                  <a:ext cx="457200" cy="457200"/>
                </a:xfrm>
                <a:prstGeom prst="ellipse">
                  <a:avLst/>
                </a:prstGeom>
                <a:noFill/>
                <a:ln w="28575">
                  <a:solidFill>
                    <a:srgbClr val="B7F36B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138914" y="5522595"/>
                  <a:ext cx="3911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行动层</a:t>
                  </a:r>
                </a:p>
              </p:txBody>
            </p:sp>
          </p:grpSp>
        </p:grpSp>
        <p:grpSp>
          <p:nvGrpSpPr>
            <p:cNvPr id="36" name="Group 36"/>
            <p:cNvGrpSpPr/>
            <p:nvPr/>
          </p:nvGrpSpPr>
          <p:grpSpPr>
            <a:xfrm>
              <a:off x="10477500" y="952500"/>
              <a:ext cx="1143000" cy="200025"/>
              <a:chOff x="10477500" y="952500"/>
              <a:chExt cx="1143000" cy="2000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477500" y="952500"/>
                <a:ext cx="1143000" cy="57150"/>
              </a:xfrm>
              <a:prstGeom prst="rect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0953750" y="1095375"/>
                <a:ext cx="666750" cy="57150"/>
              </a:xfrm>
              <a:prstGeom prst="rect">
                <a:avLst/>
              </a:prstGeom>
              <a:solidFill>
                <a:srgbClr val="CED8C2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524000"/>
            <a:ext cx="76200" cy="4191000"/>
          </a:xfrm>
          <a:custGeom>
            <a:avLst/>
            <a:gdLst/>
            <a:ahLst/>
            <a:cxnLst/>
            <a:rect l="l" t="t" r="r" b="b"/>
            <a:pathLst>
              <a:path w="76200" h="4191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4152900"/>
                </a:lnTo>
                <a:cubicBezTo>
                  <a:pt x="76200" y="4173942"/>
                  <a:pt x="59142" y="4191000"/>
                  <a:pt x="38100" y="4191000"/>
                </a:cubicBezTo>
                <a:lnTo>
                  <a:pt x="38100" y="4191000"/>
                </a:lnTo>
                <a:cubicBezTo>
                  <a:pt x="17058" y="4191000"/>
                  <a:pt x="0" y="4173942"/>
                  <a:pt x="0" y="415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ED8C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1524000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914400"/>
                </a:lnTo>
                <a:cubicBezTo>
                  <a:pt x="76200" y="935442"/>
                  <a:pt x="59142" y="952500"/>
                  <a:pt x="381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B7F36B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2950" y="5657850"/>
            <a:ext cx="114300" cy="1143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7666" y="8391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模块目录</a:t>
            </a:r>
          </a:p>
        </p:txBody>
      </p:sp>
      <p:sp>
        <p:nvSpPr>
          <p:cNvPr id="6" name="Freeform 6"/>
          <p:cNvSpPr/>
          <p:nvPr/>
        </p:nvSpPr>
        <p:spPr>
          <a:xfrm>
            <a:off x="1143000" y="1028700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14288" y="0"/>
                </a:moveTo>
                <a:lnTo>
                  <a:pt x="214312" y="0"/>
                </a:lnTo>
                <a:cubicBezTo>
                  <a:pt x="222203" y="0"/>
                  <a:pt x="228600" y="6397"/>
                  <a:pt x="228600" y="14288"/>
                </a:cubicBezTo>
                <a:lnTo>
                  <a:pt x="228600" y="14288"/>
                </a:lnTo>
                <a:cubicBezTo>
                  <a:pt x="228600" y="22178"/>
                  <a:pt x="222203" y="28575"/>
                  <a:pt x="2143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7F3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29284" y="1232535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能力分解与编排路径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904" y="1727835"/>
            <a:ext cx="40825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01418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围绕Agent系统的四层模型，逐步演进企业级AI工作流。</a:t>
            </a:r>
          </a:p>
        </p:txBody>
      </p:sp>
      <p:sp>
        <p:nvSpPr>
          <p:cNvPr id="9" name="Ellipse 9"/>
          <p:cNvSpPr/>
          <p:nvPr/>
        </p:nvSpPr>
        <p:spPr>
          <a:xfrm>
            <a:off x="666750" y="1771650"/>
            <a:ext cx="266700" cy="2667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136" y="1839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0141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3000" y="1714500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61950"/>
                </a:lnTo>
                <a:cubicBezTo>
                  <a:pt x="3048000" y="393513"/>
                  <a:pt x="3022413" y="419100"/>
                  <a:pt x="2990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90447" y="1704499"/>
            <a:ext cx="19263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从流程自动化到Agent化工作流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0638" y="1903095"/>
            <a:ext cx="17126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1418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传统流程节点 → 智能Agent节点</a:t>
            </a:r>
          </a:p>
        </p:txBody>
      </p:sp>
      <p:sp>
        <p:nvSpPr>
          <p:cNvPr id="14" name="Ellipse 14"/>
          <p:cNvSpPr/>
          <p:nvPr/>
        </p:nvSpPr>
        <p:spPr>
          <a:xfrm>
            <a:off x="666750" y="2628900"/>
            <a:ext cx="266700" cy="2667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3136" y="26965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9FBF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43000" y="2571750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61950"/>
                </a:lnTo>
                <a:cubicBezTo>
                  <a:pt x="3048000" y="393513"/>
                  <a:pt x="3022413" y="419100"/>
                  <a:pt x="2990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90447" y="2561749"/>
            <a:ext cx="18015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感知层、推理层、执行层解耦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0638" y="276034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1418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三层分离，职责清晰</a:t>
            </a:r>
          </a:p>
        </p:txBody>
      </p:sp>
      <p:sp>
        <p:nvSpPr>
          <p:cNvPr id="19" name="Ellipse 19"/>
          <p:cNvSpPr/>
          <p:nvPr/>
        </p:nvSpPr>
        <p:spPr>
          <a:xfrm>
            <a:off x="666750" y="3486150"/>
            <a:ext cx="266700" cy="2667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3136" y="35537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9FBF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43000" y="3429000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61950"/>
                </a:lnTo>
                <a:cubicBezTo>
                  <a:pt x="3048000" y="393513"/>
                  <a:pt x="3022413" y="419100"/>
                  <a:pt x="2990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90447" y="3418999"/>
            <a:ext cx="19393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决策链路、工具调用与多步规划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0638" y="3617595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1418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复杂任务的分解与编排</a:t>
            </a:r>
          </a:p>
        </p:txBody>
      </p:sp>
      <p:sp>
        <p:nvSpPr>
          <p:cNvPr id="24" name="Ellipse 24"/>
          <p:cNvSpPr/>
          <p:nvPr/>
        </p:nvSpPr>
        <p:spPr>
          <a:xfrm>
            <a:off x="666750" y="4343400"/>
            <a:ext cx="266700" cy="2667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13136" y="44110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9FBF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3000" y="4286250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61950"/>
                </a:lnTo>
                <a:cubicBezTo>
                  <a:pt x="3048000" y="393513"/>
                  <a:pt x="3022413" y="419100"/>
                  <a:pt x="2990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90447" y="4276249"/>
            <a:ext cx="18015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可观测性、干预点与持续优化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0638" y="4474845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1418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运营层面的全链路可控</a:t>
            </a:r>
          </a:p>
        </p:txBody>
      </p:sp>
      <p:sp>
        <p:nvSpPr>
          <p:cNvPr id="29" name="Ellipse 29"/>
          <p:cNvSpPr/>
          <p:nvPr/>
        </p:nvSpPr>
        <p:spPr>
          <a:xfrm>
            <a:off x="666750" y="5200650"/>
            <a:ext cx="266700" cy="2667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3136" y="5268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0141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43000" y="51435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38150"/>
                </a:lnTo>
                <a:cubicBezTo>
                  <a:pt x="3048000" y="469713"/>
                  <a:pt x="3022413" y="495300"/>
                  <a:pt x="2990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0141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90066" y="5239702"/>
            <a:ext cx="14741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FBF6"/>
                </a:solidFill>
                <a:latin typeface="Segoe UI"/>
                <a:ea typeface="Microsoft YaHei"/>
                <a:cs typeface="Segoe UI"/>
              </a:rPr>
              <a:t>立即启动Agent化转型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0638" y="5446395"/>
            <a:ext cx="71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7F36B"/>
                </a:solidFill>
                <a:latin typeface="Segoe UI"/>
                <a:ea typeface="Microsoft YaHei"/>
                <a:cs typeface="Segoe UI"/>
              </a:rPr>
              <a:t>→ 从现在开始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34000" y="1524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6096000" h="3810000">
                <a:moveTo>
                  <a:pt x="114300" y="0"/>
                </a:moveTo>
                <a:lnTo>
                  <a:pt x="5981700" y="0"/>
                </a:lnTo>
                <a:cubicBezTo>
                  <a:pt x="6044826" y="0"/>
                  <a:pt x="6096000" y="51174"/>
                  <a:pt x="6096000" y="114300"/>
                </a:cubicBezTo>
                <a:lnTo>
                  <a:pt x="6096000" y="3695700"/>
                </a:lnTo>
                <a:cubicBezTo>
                  <a:pt x="6096000" y="3758826"/>
                  <a:pt x="6044826" y="3810000"/>
                  <a:pt x="5981700" y="3810000"/>
                </a:cubicBezTo>
                <a:lnTo>
                  <a:pt x="114300" y="3810000"/>
                </a:lnTo>
                <a:cubicBezTo>
                  <a:pt x="51174" y="3810000"/>
                  <a:pt x="0" y="3758826"/>
                  <a:pt x="0" y="3695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9FBF6"/>
          </a:solidFill>
          <a:ln w="9525">
            <a:solidFill>
              <a:srgbClr val="CED8C2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14416" y="1744028"/>
            <a:ext cx="13690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Agent 系统架构路径</a:t>
            </a:r>
          </a:p>
        </p:txBody>
      </p:sp>
      <p:sp>
        <p:nvSpPr>
          <p:cNvPr id="36" name="Freeform 36"/>
          <p:cNvSpPr/>
          <p:nvPr/>
        </p:nvSpPr>
        <p:spPr>
          <a:xfrm>
            <a:off x="5619750" y="2095500"/>
            <a:ext cx="5524500" cy="571500"/>
          </a:xfrm>
          <a:custGeom>
            <a:avLst/>
            <a:gdLst/>
            <a:ahLst/>
            <a:cxnLst/>
            <a:rect l="l" t="t" r="r" b="b"/>
            <a:pathLst>
              <a:path w="5524500" h="5715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514350"/>
                </a:lnTo>
                <a:cubicBezTo>
                  <a:pt x="5524500" y="545913"/>
                  <a:pt x="5498913" y="571500"/>
                  <a:pt x="5467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19050">
            <a:solidFill>
              <a:srgbClr val="B7F36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805488" y="2236470"/>
            <a:ext cx="3911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感知层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05488" y="2435066"/>
            <a:ext cx="170876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数据采集 · 意图识别 · 上下文理解</a:t>
            </a:r>
          </a:p>
        </p:txBody>
      </p:sp>
      <p:sp>
        <p:nvSpPr>
          <p:cNvPr id="39" name="Ellipse 39"/>
          <p:cNvSpPr/>
          <p:nvPr/>
        </p:nvSpPr>
        <p:spPr>
          <a:xfrm>
            <a:off x="10306050" y="2209800"/>
            <a:ext cx="342900" cy="342900"/>
          </a:xfrm>
          <a:prstGeom prst="ellipse">
            <a:avLst/>
          </a:prstGeom>
          <a:solidFill>
            <a:srgbClr val="EEF2EC"/>
          </a:solidFill>
          <a:ln w="19050">
            <a:solidFill>
              <a:srgbClr val="B7F36B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414430" y="2339816"/>
            <a:ext cx="1261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感</a:t>
            </a:r>
          </a:p>
        </p:txBody>
      </p:sp>
      <p:sp>
        <p:nvSpPr>
          <p:cNvPr id="41" name="Line 41"/>
          <p:cNvSpPr/>
          <p:nvPr/>
        </p:nvSpPr>
        <p:spPr>
          <a:xfrm>
            <a:off x="8382000" y="2667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CED8C2"/>
            </a:solidFill>
            <a:prstDash val="dash"/>
          </a:ln>
        </p:spPr>
      </p:sp>
      <p:sp>
        <p:nvSpPr>
          <p:cNvPr id="42" name="Freeform 42"/>
          <p:cNvSpPr/>
          <p:nvPr/>
        </p:nvSpPr>
        <p:spPr>
          <a:xfrm>
            <a:off x="5619750" y="2952750"/>
            <a:ext cx="5524500" cy="571500"/>
          </a:xfrm>
          <a:custGeom>
            <a:avLst/>
            <a:gdLst/>
            <a:ahLst/>
            <a:cxnLst/>
            <a:rect l="l" t="t" r="r" b="b"/>
            <a:pathLst>
              <a:path w="5524500" h="5715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514350"/>
                </a:lnTo>
                <a:cubicBezTo>
                  <a:pt x="5524500" y="545913"/>
                  <a:pt x="5498913" y="571500"/>
                  <a:pt x="5467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19050">
            <a:solidFill>
              <a:srgbClr val="10141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805488" y="3093720"/>
            <a:ext cx="3911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推理层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05488" y="3292316"/>
            <a:ext cx="15977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任务拆解 · 决策规划 · 工具选择</a:t>
            </a:r>
          </a:p>
        </p:txBody>
      </p:sp>
      <p:sp>
        <p:nvSpPr>
          <p:cNvPr id="45" name="Ellipse 45"/>
          <p:cNvSpPr/>
          <p:nvPr/>
        </p:nvSpPr>
        <p:spPr>
          <a:xfrm>
            <a:off x="10306050" y="3067050"/>
            <a:ext cx="342900" cy="342900"/>
          </a:xfrm>
          <a:prstGeom prst="ellipse">
            <a:avLst/>
          </a:prstGeom>
          <a:solidFill>
            <a:srgbClr val="EEF2EC"/>
          </a:solidFill>
          <a:ln w="19050">
            <a:solidFill>
              <a:srgbClr val="10141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414430" y="3197066"/>
            <a:ext cx="1261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推</a:t>
            </a:r>
          </a:p>
        </p:txBody>
      </p:sp>
      <p:sp>
        <p:nvSpPr>
          <p:cNvPr id="47" name="Line 47"/>
          <p:cNvSpPr/>
          <p:nvPr/>
        </p:nvSpPr>
        <p:spPr>
          <a:xfrm>
            <a:off x="8382000" y="3524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CED8C2"/>
            </a:solidFill>
            <a:prstDash val="dash"/>
          </a:ln>
        </p:spPr>
      </p:sp>
      <p:sp>
        <p:nvSpPr>
          <p:cNvPr id="48" name="Freeform 48"/>
          <p:cNvSpPr/>
          <p:nvPr/>
        </p:nvSpPr>
        <p:spPr>
          <a:xfrm>
            <a:off x="5619750" y="3810000"/>
            <a:ext cx="5524500" cy="571500"/>
          </a:xfrm>
          <a:custGeom>
            <a:avLst/>
            <a:gdLst/>
            <a:ahLst/>
            <a:cxnLst/>
            <a:rect l="l" t="t" r="r" b="b"/>
            <a:pathLst>
              <a:path w="5524500" h="5715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514350"/>
                </a:lnTo>
                <a:cubicBezTo>
                  <a:pt x="5524500" y="545913"/>
                  <a:pt x="5498913" y="571500"/>
                  <a:pt x="5467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19050">
            <a:solidFill>
              <a:srgbClr val="10141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805488" y="3950970"/>
            <a:ext cx="3911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执行层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05488" y="4149566"/>
            <a:ext cx="15977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工具调用 · 任务执行 · 结果反馈</a:t>
            </a:r>
          </a:p>
        </p:txBody>
      </p:sp>
      <p:sp>
        <p:nvSpPr>
          <p:cNvPr id="51" name="Ellipse 51"/>
          <p:cNvSpPr/>
          <p:nvPr/>
        </p:nvSpPr>
        <p:spPr>
          <a:xfrm>
            <a:off x="10306050" y="3924300"/>
            <a:ext cx="342900" cy="342900"/>
          </a:xfrm>
          <a:prstGeom prst="ellipse">
            <a:avLst/>
          </a:prstGeom>
          <a:solidFill>
            <a:srgbClr val="EEF2EC"/>
          </a:solidFill>
          <a:ln w="19050">
            <a:solidFill>
              <a:srgbClr val="10141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0414430" y="4054316"/>
            <a:ext cx="1261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执</a:t>
            </a:r>
          </a:p>
        </p:txBody>
      </p:sp>
      <p:sp>
        <p:nvSpPr>
          <p:cNvPr id="53" name="Freeform 53"/>
          <p:cNvSpPr/>
          <p:nvPr/>
        </p:nvSpPr>
        <p:spPr>
          <a:xfrm>
            <a:off x="5619750" y="4667250"/>
            <a:ext cx="5524500" cy="476250"/>
          </a:xfrm>
          <a:custGeom>
            <a:avLst/>
            <a:gdLst/>
            <a:ahLst/>
            <a:cxnLst/>
            <a:rect l="l" t="t" r="r" b="b"/>
            <a:pathLst>
              <a:path w="5524500" h="47625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419100"/>
                </a:lnTo>
                <a:cubicBezTo>
                  <a:pt x="5524500" y="450663"/>
                  <a:pt x="5498913" y="476250"/>
                  <a:pt x="54673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B7F36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805488" y="4855845"/>
            <a:ext cx="6456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可观测性层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234238" y="4863941"/>
            <a:ext cx="10423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日志 · 指标 · 干预点</a:t>
            </a:r>
          </a:p>
        </p:txBody>
      </p:sp>
      <p:sp>
        <p:nvSpPr>
          <p:cNvPr id="56" name="Freeform 56"/>
          <p:cNvSpPr/>
          <p:nvPr/>
        </p:nvSpPr>
        <p:spPr>
          <a:xfrm>
            <a:off x="5334000" y="561975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76200" y="0"/>
                </a:moveTo>
                <a:lnTo>
                  <a:pt x="6019800" y="0"/>
                </a:lnTo>
                <a:cubicBezTo>
                  <a:pt x="6061884" y="0"/>
                  <a:pt x="6096000" y="34116"/>
                  <a:pt x="6096000" y="76200"/>
                </a:cubicBezTo>
                <a:lnTo>
                  <a:pt x="6096000" y="685800"/>
                </a:lnTo>
                <a:cubicBezTo>
                  <a:pt x="6096000" y="727884"/>
                  <a:pt x="6061884" y="762000"/>
                  <a:pt x="601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5581650" y="5962650"/>
            <a:ext cx="76200" cy="762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5748338" y="5949791"/>
            <a:ext cx="5648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流程自动化</a:t>
            </a:r>
          </a:p>
        </p:txBody>
      </p:sp>
      <p:sp>
        <p:nvSpPr>
          <p:cNvPr id="59" name="Line 59"/>
          <p:cNvSpPr/>
          <p:nvPr/>
        </p:nvSpPr>
        <p:spPr>
          <a:xfrm>
            <a:off x="6477000" y="60007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CED8C2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6819900" y="5962650"/>
            <a:ext cx="76200" cy="762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986588" y="5949791"/>
            <a:ext cx="7676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Agent化工作流</a:t>
            </a:r>
          </a:p>
        </p:txBody>
      </p:sp>
      <p:sp>
        <p:nvSpPr>
          <p:cNvPr id="62" name="Line 62"/>
          <p:cNvSpPr/>
          <p:nvPr/>
        </p:nvSpPr>
        <p:spPr>
          <a:xfrm>
            <a:off x="7905750" y="60007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CED8C2"/>
            </a:solidFill>
          </a:ln>
        </p:spPr>
      </p:sp>
      <p:sp>
        <p:nvSpPr>
          <p:cNvPr id="63" name="Ellipse 63"/>
          <p:cNvSpPr/>
          <p:nvPr/>
        </p:nvSpPr>
        <p:spPr>
          <a:xfrm>
            <a:off x="8248650" y="5962650"/>
            <a:ext cx="76200" cy="762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415338" y="5949791"/>
            <a:ext cx="453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智能编排</a:t>
            </a:r>
          </a:p>
        </p:txBody>
      </p:sp>
      <p:sp>
        <p:nvSpPr>
          <p:cNvPr id="65" name="Line 65"/>
          <p:cNvSpPr/>
          <p:nvPr/>
        </p:nvSpPr>
        <p:spPr>
          <a:xfrm>
            <a:off x="9048750" y="60007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CED8C2"/>
            </a:solidFill>
          </a:ln>
        </p:spPr>
      </p:sp>
      <p:sp>
        <p:nvSpPr>
          <p:cNvPr id="66" name="Ellipse 66"/>
          <p:cNvSpPr/>
          <p:nvPr/>
        </p:nvSpPr>
        <p:spPr>
          <a:xfrm>
            <a:off x="9391650" y="5962650"/>
            <a:ext cx="76200" cy="76200"/>
          </a:xfrm>
          <a:prstGeom prst="ellipse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558338" y="5949791"/>
            <a:ext cx="453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持续优化</a:t>
            </a:r>
          </a:p>
        </p:txBody>
      </p:sp>
      <p:sp>
        <p:nvSpPr>
          <p:cNvPr id="68" name="Rectangle 68"/>
          <p:cNvSpPr/>
          <p:nvPr/>
        </p:nvSpPr>
        <p:spPr>
          <a:xfrm>
            <a:off x="11430000" y="0"/>
            <a:ext cx="762000" cy="762000"/>
          </a:xfrm>
          <a:prstGeom prst="rect">
            <a:avLst/>
          </a:prstGeom>
          <a:solidFill>
            <a:srgbClr val="B7F36B">
              <a:alpha val="15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11525250" y="95250"/>
            <a:ext cx="571500" cy="571500"/>
          </a:xfrm>
          <a:prstGeom prst="rect">
            <a:avLst/>
          </a:prstGeom>
          <a:noFill/>
          <a:ln w="19050">
            <a:solidFill>
              <a:srgbClr val="B7F36B">
                <a:alpha val="30000"/>
              </a:srgbClr>
            </a:solidFill>
          </a:ln>
        </p:spPr>
      </p:sp>
      <p:sp>
        <p:nvSpPr>
          <p:cNvPr id="70" name="Ellipse 70"/>
          <p:cNvSpPr/>
          <p:nvPr/>
        </p:nvSpPr>
        <p:spPr>
          <a:xfrm>
            <a:off x="10858500" y="6286500"/>
            <a:ext cx="762000" cy="762000"/>
          </a:xfrm>
          <a:prstGeom prst="ellipse">
            <a:avLst/>
          </a:prstGeom>
          <a:solidFill>
            <a:srgbClr val="B7F36B">
              <a:alpha val="1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11430000" cy="6096000"/>
          </a:xfrm>
          <a:custGeom>
            <a:avLst/>
            <a:gdLst/>
            <a:ahLst/>
            <a:cxnLst/>
            <a:rect l="l" t="t" r="r" b="b"/>
            <a:pathLst>
              <a:path w="11430000" h="6096000">
                <a:moveTo>
                  <a:pt x="228600" y="0"/>
                </a:moveTo>
                <a:lnTo>
                  <a:pt x="11201400" y="0"/>
                </a:lnTo>
                <a:cubicBezTo>
                  <a:pt x="11327652" y="0"/>
                  <a:pt x="11430000" y="102348"/>
                  <a:pt x="11430000" y="228600"/>
                </a:cubicBezTo>
                <a:lnTo>
                  <a:pt x="11430000" y="5867400"/>
                </a:lnTo>
                <a:cubicBezTo>
                  <a:pt x="11430000" y="5993652"/>
                  <a:pt x="11327652" y="6096000"/>
                  <a:pt x="11201400" y="6096000"/>
                </a:cubicBezTo>
                <a:lnTo>
                  <a:pt x="228600" y="6096000"/>
                </a:lnTo>
                <a:cubicBezTo>
                  <a:pt x="102348" y="6096000"/>
                  <a:pt x="0" y="5993652"/>
                  <a:pt x="0" y="58674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9FBF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381000" y="381000"/>
            <a:ext cx="11430000" cy="6096000"/>
          </a:xfrm>
          <a:custGeom>
            <a:avLst/>
            <a:gdLst/>
            <a:ahLst/>
            <a:cxnLst/>
            <a:rect l="l" t="t" r="r" b="b"/>
            <a:pathLst>
              <a:path w="11430000" h="6096000">
                <a:moveTo>
                  <a:pt x="228600" y="0"/>
                </a:moveTo>
                <a:lnTo>
                  <a:pt x="11201400" y="0"/>
                </a:lnTo>
                <a:cubicBezTo>
                  <a:pt x="11327652" y="0"/>
                  <a:pt x="11430000" y="102348"/>
                  <a:pt x="11430000" y="228600"/>
                </a:cubicBezTo>
                <a:lnTo>
                  <a:pt x="11430000" y="5867400"/>
                </a:lnTo>
                <a:cubicBezTo>
                  <a:pt x="11430000" y="5993652"/>
                  <a:pt x="11327652" y="6096000"/>
                  <a:pt x="11201400" y="6096000"/>
                </a:cubicBezTo>
                <a:lnTo>
                  <a:pt x="228600" y="6096000"/>
                </a:lnTo>
                <a:cubicBezTo>
                  <a:pt x="102348" y="6096000"/>
                  <a:pt x="0" y="5993652"/>
                  <a:pt x="0" y="58674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noFill/>
          <a:ln w="19050">
            <a:solidFill>
              <a:srgbClr val="CED8C2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762000" y="762000"/>
            <a:ext cx="190500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381000"/>
                </a:lnTo>
                <a:cubicBezTo>
                  <a:pt x="1905000" y="423084"/>
                  <a:pt x="1870884" y="457200"/>
                  <a:pt x="18288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7F36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44880" y="9048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关键判断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5334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ED8C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2950" y="1483995"/>
            <a:ext cx="4358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Agent化不是升级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950" y="2150745"/>
            <a:ext cx="3345713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是工作流重构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856" y="3139440"/>
            <a:ext cx="51005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让AI从单次问答进化为复合推理与行动链路，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856" y="352044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直接交付可衡量的业务结果。</a:t>
            </a:r>
          </a:p>
        </p:txBody>
      </p:sp>
      <p:sp>
        <p:nvSpPr>
          <p:cNvPr id="11" name="Freeform 11"/>
          <p:cNvSpPr/>
          <p:nvPr/>
        </p:nvSpPr>
        <p:spPr>
          <a:xfrm>
            <a:off x="6096000" y="1524000"/>
            <a:ext cx="4953000" cy="3048000"/>
          </a:xfrm>
          <a:custGeom>
            <a:avLst/>
            <a:gdLst/>
            <a:ahLst/>
            <a:cxnLst/>
            <a:rect l="l" t="t" r="r" b="b"/>
            <a:pathLst>
              <a:path w="4953000" h="3048000">
                <a:moveTo>
                  <a:pt x="152400" y="0"/>
                </a:moveTo>
                <a:lnTo>
                  <a:pt x="4800600" y="0"/>
                </a:lnTo>
                <a:cubicBezTo>
                  <a:pt x="4884768" y="0"/>
                  <a:pt x="4953000" y="68232"/>
                  <a:pt x="4953000" y="152400"/>
                </a:cubicBezTo>
                <a:lnTo>
                  <a:pt x="4953000" y="2895600"/>
                </a:lnTo>
                <a:cubicBezTo>
                  <a:pt x="4953000" y="2979768"/>
                  <a:pt x="4884768" y="3048000"/>
                  <a:pt x="480060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01418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7620000" y="2095500"/>
            <a:ext cx="1905000" cy="1905000"/>
          </a:xfrm>
          <a:prstGeom prst="ellipse">
            <a:avLst/>
          </a:prstGeom>
          <a:noFill/>
          <a:ln w="57150">
            <a:solidFill>
              <a:srgbClr val="B7F36B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7905750" y="2381250"/>
            <a:ext cx="1333500" cy="1333500"/>
          </a:xfrm>
          <a:prstGeom prst="ellipse">
            <a:avLst/>
          </a:prstGeom>
          <a:noFill/>
          <a:ln w="38100">
            <a:solidFill>
              <a:srgbClr val="B7F36B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8191500" y="2667000"/>
            <a:ext cx="762000" cy="7620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581900" y="2057400"/>
            <a:ext cx="457200" cy="4572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105900" y="2057400"/>
            <a:ext cx="457200" cy="4572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581900" y="3581400"/>
            <a:ext cx="457200" cy="4572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9105900" y="3581400"/>
            <a:ext cx="457200" cy="4572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7810500" y="25146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0" name="Line 20"/>
          <p:cNvSpPr/>
          <p:nvPr/>
        </p:nvSpPr>
        <p:spPr>
          <a:xfrm>
            <a:off x="9334500" y="25146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1" name="Line 21"/>
          <p:cNvSpPr/>
          <p:nvPr/>
        </p:nvSpPr>
        <p:spPr>
          <a:xfrm>
            <a:off x="7810500" y="32766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2" name="Line 22"/>
          <p:cNvSpPr/>
          <p:nvPr/>
        </p:nvSpPr>
        <p:spPr>
          <a:xfrm>
            <a:off x="9334500" y="32766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13413" y="28975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链</a:t>
            </a:r>
          </a:p>
        </p:txBody>
      </p:sp>
      <p:sp>
        <p:nvSpPr>
          <p:cNvPr id="24" name="Line 24"/>
          <p:cNvSpPr/>
          <p:nvPr/>
        </p:nvSpPr>
        <p:spPr>
          <a:xfrm>
            <a:off x="5715000" y="26670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5" name="Line 25"/>
          <p:cNvSpPr/>
          <p:nvPr/>
        </p:nvSpPr>
        <p:spPr>
          <a:xfrm>
            <a:off x="5715000" y="3238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6" name="Line 26"/>
          <p:cNvSpPr/>
          <p:nvPr/>
        </p:nvSpPr>
        <p:spPr>
          <a:xfrm>
            <a:off x="5715000" y="38100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8575">
            <a:solidFill>
              <a:srgbClr val="B7F36B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85800" y="-76200"/>
            <a:ext cx="152400" cy="1524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5642" y="5835968"/>
            <a:ext cx="32654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模型能力+编排逻辑=可复用业务Agent</a:t>
            </a:r>
          </a:p>
        </p:txBody>
      </p:sp>
      <p:sp>
        <p:nvSpPr>
          <p:cNvPr id="29" name="Ellipse 29"/>
          <p:cNvSpPr/>
          <p:nvPr/>
        </p:nvSpPr>
        <p:spPr>
          <a:xfrm>
            <a:off x="685800" y="-76200"/>
            <a:ext cx="152400" cy="152400"/>
          </a:xfrm>
          <a:prstGeom prst="ellipse">
            <a:avLst/>
          </a:prstGeom>
          <a:solidFill>
            <a:srgbClr val="CED8C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45642" y="6216968"/>
            <a:ext cx="15675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分层解耦·独立优化</a:t>
            </a:r>
          </a:p>
        </p:txBody>
      </p:sp>
      <p:sp>
        <p:nvSpPr>
          <p:cNvPr id="31" name="Ellipse 31"/>
          <p:cNvSpPr/>
          <p:nvPr/>
        </p:nvSpPr>
        <p:spPr>
          <a:xfrm>
            <a:off x="5257800" y="-76200"/>
            <a:ext cx="152400" cy="152400"/>
          </a:xfrm>
          <a:prstGeom prst="ellipse">
            <a:avLst/>
          </a:prstGeom>
          <a:solidFill>
            <a:srgbClr val="CED8C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17642" y="5835968"/>
            <a:ext cx="247625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1418"/>
                </a:solidFill>
                <a:latin typeface="Segoe UI"/>
                <a:ea typeface="Microsoft YaHei"/>
                <a:cs typeface="Segoe UI"/>
              </a:rPr>
              <a:t>执行闭环·可追踪可干预可回测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0" y="5524500"/>
            <a:ext cx="1333500" cy="76200"/>
          </a:xfrm>
          <a:custGeom>
            <a:avLst/>
            <a:gdLst/>
            <a:ahLst/>
            <a:cxnLst/>
            <a:rect l="l" t="t" r="r" b="b"/>
            <a:pathLst>
              <a:path w="1333500" h="762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38100"/>
                </a:lnTo>
                <a:cubicBezTo>
                  <a:pt x="1333500" y="59142"/>
                  <a:pt x="1316442" y="76200"/>
                  <a:pt x="12954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ED8C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281666" y="59826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01418">
                    <a:alphaMod val="50000"/>
                  </a:srgbClr>
                </a:solidFill>
                <a:latin typeface="Segoe UI"/>
                <a:ea typeface="Segoe UI"/>
                <a:cs typeface="Segoe UI"/>
              </a:rPr>
              <a:t>3 / 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CED8C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808" y="542449"/>
            <a:ext cx="3735019" cy="1162526"/>
            <a:chOff x="749808" y="542449"/>
            <a:chExt cx="3735019" cy="1162526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542449"/>
              <a:ext cx="65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推进序列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9808" y="864870"/>
              <a:ext cx="30263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启动Agent驱动运营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375410"/>
              <a:ext cx="3728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用四步行动路径将Agent工作流嵌入企业日常运营。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6954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38100">
              <a:solidFill>
                <a:srgbClr val="B7F36B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771650" y="3533775"/>
            <a:ext cx="8305800" cy="2371725"/>
            <a:chOff x="1771650" y="3533775"/>
            <a:chExt cx="8305800" cy="2371725"/>
          </a:xfrm>
        </p:grpSpPr>
        <p:sp>
          <p:nvSpPr>
            <p:cNvPr id="10" name="Line 10"/>
            <p:cNvSpPr/>
            <p:nvPr/>
          </p:nvSpPr>
          <p:spPr>
            <a:xfrm>
              <a:off x="1809750" y="3619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CED8C2"/>
              </a:solidFill>
              <a:custDash>
                <a:ds d="300000" sp="2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4381500" y="3619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CED8C2"/>
              </a:solidFill>
              <a:custDash>
                <a:ds d="300000" sp="2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953250" y="3619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CED8C2"/>
              </a:solidFill>
              <a:custDash>
                <a:ds d="300000" sp="2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9525000" y="3619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CED8C2"/>
              </a:solidFill>
              <a:custDash>
                <a:ds d="300000" sp="2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1905000" y="3667125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28575">
              <a:solidFill>
                <a:srgbClr val="B7F36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771650" y="3533775"/>
              <a:ext cx="266700" cy="2667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28800" y="3590925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343400" y="3533775"/>
              <a:ext cx="266700" cy="2667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400550" y="3590925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915150" y="3533775"/>
              <a:ext cx="266700" cy="2667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972300" y="3590925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486900" y="3533775"/>
              <a:ext cx="266700" cy="2667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544050" y="3590925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9953625" y="3619500"/>
              <a:ext cx="123825" cy="95250"/>
            </a:xfrm>
            <a:custGeom>
              <a:avLst/>
              <a:gdLst/>
              <a:ahLst/>
              <a:cxnLst/>
              <a:rect l="l" t="t" r="r" b="b"/>
              <a:pathLst>
                <a:path w="123825" h="95250">
                  <a:moveTo>
                    <a:pt x="0" y="0"/>
                  </a:moveTo>
                  <a:lnTo>
                    <a:pt x="1238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04875" y="4000500"/>
            <a:ext cx="9715500" cy="2000250"/>
            <a:chOff x="904875" y="4000500"/>
            <a:chExt cx="9715500" cy="2000250"/>
          </a:xfrm>
        </p:grpSpPr>
        <p:sp>
          <p:nvSpPr>
            <p:cNvPr id="25" name="Freeform 25"/>
            <p:cNvSpPr/>
            <p:nvPr/>
          </p:nvSpPr>
          <p:spPr>
            <a:xfrm>
              <a:off x="904875" y="4000500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1924050"/>
                  </a:lnTo>
                  <a:cubicBezTo>
                    <a:pt x="2000250" y="1966134"/>
                    <a:pt x="1966134" y="2000250"/>
                    <a:pt x="1924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04875" y="4000500"/>
              <a:ext cx="2000250" cy="342900"/>
            </a:xfrm>
            <a:custGeom>
              <a:avLst/>
              <a:gdLst/>
              <a:ahLst/>
              <a:cxnLst/>
              <a:rect l="l" t="t" r="r" b="b"/>
              <a:pathLst>
                <a:path w="2000250" h="34290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266700"/>
                  </a:lnTo>
                  <a:cubicBezTo>
                    <a:pt x="2000250" y="308784"/>
                    <a:pt x="1966134" y="342900"/>
                    <a:pt x="1924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4875" y="4229100"/>
              <a:ext cx="2000250" cy="1143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24248" y="4133374"/>
              <a:ext cx="161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2225" y="443150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评估高价值流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5606" y="47605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扫描现有工作流，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64170" y="4932045"/>
              <a:ext cx="1081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识别适合Agent化的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97342" y="51034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端到端场景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238250" y="5295900"/>
              <a:ext cx="1333500" cy="38100"/>
            </a:xfrm>
            <a:custGeom>
              <a:avLst/>
              <a:gdLst/>
              <a:ahLst/>
              <a:cxnLst/>
              <a:rect l="l" t="t" r="r" b="b"/>
              <a:pathLst>
                <a:path w="1333500" h="38100">
                  <a:moveTo>
                    <a:pt x="19050" y="0"/>
                  </a:moveTo>
                  <a:lnTo>
                    <a:pt x="1314450" y="0"/>
                  </a:lnTo>
                  <a:cubicBezTo>
                    <a:pt x="1324971" y="0"/>
                    <a:pt x="1333500" y="8529"/>
                    <a:pt x="1333500" y="19050"/>
                  </a:cubicBezTo>
                  <a:lnTo>
                    <a:pt x="1333500" y="19050"/>
                  </a:lnTo>
                  <a:cubicBezTo>
                    <a:pt x="1333500" y="29571"/>
                    <a:pt x="1324971" y="38100"/>
                    <a:pt x="1314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ED8C2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238250" y="5295900"/>
              <a:ext cx="857250" cy="38100"/>
            </a:xfrm>
            <a:custGeom>
              <a:avLst/>
              <a:gdLst/>
              <a:ahLst/>
              <a:cxnLst/>
              <a:rect l="l" t="t" r="r" b="b"/>
              <a:pathLst>
                <a:path w="857250" h="38100">
                  <a:moveTo>
                    <a:pt x="19050" y="0"/>
                  </a:moveTo>
                  <a:lnTo>
                    <a:pt x="838200" y="0"/>
                  </a:lnTo>
                  <a:cubicBezTo>
                    <a:pt x="848721" y="0"/>
                    <a:pt x="857250" y="8529"/>
                    <a:pt x="857250" y="19050"/>
                  </a:cubicBezTo>
                  <a:lnTo>
                    <a:pt x="857250" y="19050"/>
                  </a:lnTo>
                  <a:cubicBezTo>
                    <a:pt x="857250" y="29571"/>
                    <a:pt x="848721" y="38100"/>
                    <a:pt x="838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476625" y="4000500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1924050"/>
                  </a:lnTo>
                  <a:cubicBezTo>
                    <a:pt x="2000250" y="1966134"/>
                    <a:pt x="1966134" y="2000250"/>
                    <a:pt x="1924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476625" y="4000500"/>
              <a:ext cx="2000250" cy="342900"/>
            </a:xfrm>
            <a:custGeom>
              <a:avLst/>
              <a:gdLst/>
              <a:ahLst/>
              <a:cxnLst/>
              <a:rect l="l" t="t" r="r" b="b"/>
              <a:pathLst>
                <a:path w="2000250" h="34290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266700"/>
                  </a:lnTo>
                  <a:cubicBezTo>
                    <a:pt x="2000250" y="308784"/>
                    <a:pt x="1966134" y="342900"/>
                    <a:pt x="1924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76625" y="4229100"/>
              <a:ext cx="2000250" cy="1143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95998" y="4133374"/>
              <a:ext cx="161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93975" y="443150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搭建能力基座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6198" y="47605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接入模型层与工具层，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08513" y="49320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建立标准化的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75195" y="5103495"/>
              <a:ext cx="80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感知-执行接口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810000" y="5295900"/>
              <a:ext cx="1333500" cy="38100"/>
            </a:xfrm>
            <a:custGeom>
              <a:avLst/>
              <a:gdLst/>
              <a:ahLst/>
              <a:cxnLst/>
              <a:rect l="l" t="t" r="r" b="b"/>
              <a:pathLst>
                <a:path w="1333500" h="38100">
                  <a:moveTo>
                    <a:pt x="19050" y="0"/>
                  </a:moveTo>
                  <a:lnTo>
                    <a:pt x="1314450" y="0"/>
                  </a:lnTo>
                  <a:cubicBezTo>
                    <a:pt x="1324971" y="0"/>
                    <a:pt x="1333500" y="8529"/>
                    <a:pt x="1333500" y="19050"/>
                  </a:cubicBezTo>
                  <a:lnTo>
                    <a:pt x="1333500" y="19050"/>
                  </a:lnTo>
                  <a:cubicBezTo>
                    <a:pt x="1333500" y="29571"/>
                    <a:pt x="1324971" y="38100"/>
                    <a:pt x="1314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ED8C2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3810000" y="5295900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19050" y="0"/>
                  </a:moveTo>
                  <a:lnTo>
                    <a:pt x="552450" y="0"/>
                  </a:lnTo>
                  <a:cubicBezTo>
                    <a:pt x="562971" y="0"/>
                    <a:pt x="571500" y="8529"/>
                    <a:pt x="571500" y="19050"/>
                  </a:cubicBezTo>
                  <a:lnTo>
                    <a:pt x="571500" y="19050"/>
                  </a:lnTo>
                  <a:cubicBezTo>
                    <a:pt x="571500" y="29571"/>
                    <a:pt x="562971" y="38100"/>
                    <a:pt x="552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048375" y="4000500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1924050"/>
                  </a:lnTo>
                  <a:cubicBezTo>
                    <a:pt x="2000250" y="1966134"/>
                    <a:pt x="1966134" y="2000250"/>
                    <a:pt x="1924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048375" y="4000500"/>
              <a:ext cx="2000250" cy="342900"/>
            </a:xfrm>
            <a:custGeom>
              <a:avLst/>
              <a:gdLst/>
              <a:ahLst/>
              <a:cxnLst/>
              <a:rect l="l" t="t" r="r" b="b"/>
              <a:pathLst>
                <a:path w="2000250" h="34290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266700"/>
                  </a:lnTo>
                  <a:cubicBezTo>
                    <a:pt x="2000250" y="308784"/>
                    <a:pt x="1966134" y="342900"/>
                    <a:pt x="1924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8375" y="4229100"/>
              <a:ext cx="2000250" cy="1143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67748" y="4133374"/>
              <a:ext cx="161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5725" y="443150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试点编排链路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98526" y="47605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选取一个业务主线，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8935" y="4932045"/>
              <a:ext cx="9591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构建完整的Agent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19684" y="51034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决策与行动回路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381750" y="5295900"/>
              <a:ext cx="1333500" cy="38100"/>
            </a:xfrm>
            <a:custGeom>
              <a:avLst/>
              <a:gdLst/>
              <a:ahLst/>
              <a:cxnLst/>
              <a:rect l="l" t="t" r="r" b="b"/>
              <a:pathLst>
                <a:path w="1333500" h="38100">
                  <a:moveTo>
                    <a:pt x="19050" y="0"/>
                  </a:moveTo>
                  <a:lnTo>
                    <a:pt x="1314450" y="0"/>
                  </a:lnTo>
                  <a:cubicBezTo>
                    <a:pt x="1324971" y="0"/>
                    <a:pt x="1333500" y="8529"/>
                    <a:pt x="1333500" y="19050"/>
                  </a:cubicBezTo>
                  <a:lnTo>
                    <a:pt x="1333500" y="19050"/>
                  </a:lnTo>
                  <a:cubicBezTo>
                    <a:pt x="1333500" y="29571"/>
                    <a:pt x="1324971" y="38100"/>
                    <a:pt x="1314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ED8C2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381750" y="529590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19050" y="0"/>
                  </a:moveTo>
                  <a:lnTo>
                    <a:pt x="361950" y="0"/>
                  </a:lnTo>
                  <a:cubicBezTo>
                    <a:pt x="372471" y="0"/>
                    <a:pt x="381000" y="8529"/>
                    <a:pt x="381000" y="19050"/>
                  </a:cubicBezTo>
                  <a:lnTo>
                    <a:pt x="381000" y="19050"/>
                  </a:lnTo>
                  <a:cubicBezTo>
                    <a:pt x="381000" y="29571"/>
                    <a:pt x="372471" y="38100"/>
                    <a:pt x="361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20125" y="4000500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1924050"/>
                  </a:lnTo>
                  <a:cubicBezTo>
                    <a:pt x="2000250" y="1966134"/>
                    <a:pt x="1966134" y="2000250"/>
                    <a:pt x="1924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620125" y="4000500"/>
              <a:ext cx="2000250" cy="342900"/>
            </a:xfrm>
            <a:custGeom>
              <a:avLst/>
              <a:gdLst/>
              <a:ahLst/>
              <a:cxnLst/>
              <a:rect l="l" t="t" r="r" b="b"/>
              <a:pathLst>
                <a:path w="2000250" h="342900">
                  <a:moveTo>
                    <a:pt x="76200" y="0"/>
                  </a:moveTo>
                  <a:lnTo>
                    <a:pt x="1924050" y="0"/>
                  </a:lnTo>
                  <a:cubicBezTo>
                    <a:pt x="1966134" y="0"/>
                    <a:pt x="2000250" y="34116"/>
                    <a:pt x="2000250" y="76200"/>
                  </a:cubicBezTo>
                  <a:lnTo>
                    <a:pt x="2000250" y="266700"/>
                  </a:lnTo>
                  <a:cubicBezTo>
                    <a:pt x="2000250" y="308784"/>
                    <a:pt x="1966134" y="342900"/>
                    <a:pt x="1924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620125" y="4229100"/>
              <a:ext cx="2000250" cy="1143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39498" y="4133374"/>
              <a:ext cx="161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04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16985" y="4431506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扩展与治理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18156" y="4760595"/>
              <a:ext cx="1204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建立Agent运营中心，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30856" y="49320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纳入监控、反馈与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014" y="51034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01418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持续回归体系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953500" y="5295900"/>
              <a:ext cx="1333500" cy="38100"/>
            </a:xfrm>
            <a:custGeom>
              <a:avLst/>
              <a:gdLst/>
              <a:ahLst/>
              <a:cxnLst/>
              <a:rect l="l" t="t" r="r" b="b"/>
              <a:pathLst>
                <a:path w="1333500" h="38100">
                  <a:moveTo>
                    <a:pt x="19050" y="0"/>
                  </a:moveTo>
                  <a:lnTo>
                    <a:pt x="1314450" y="0"/>
                  </a:lnTo>
                  <a:cubicBezTo>
                    <a:pt x="1324971" y="0"/>
                    <a:pt x="1333500" y="8529"/>
                    <a:pt x="1333500" y="19050"/>
                  </a:cubicBezTo>
                  <a:lnTo>
                    <a:pt x="1333500" y="19050"/>
                  </a:lnTo>
                  <a:cubicBezTo>
                    <a:pt x="1333500" y="29571"/>
                    <a:pt x="1324971" y="38100"/>
                    <a:pt x="1314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ED8C2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953500" y="5295900"/>
              <a:ext cx="190500" cy="38100"/>
            </a:xfrm>
            <a:custGeom>
              <a:avLst/>
              <a:gdLst/>
              <a:ahLst/>
              <a:cxnLst/>
              <a:rect l="l" t="t" r="r" b="b"/>
              <a:pathLst>
                <a:path w="190500" h="38100">
                  <a:moveTo>
                    <a:pt x="19050" y="0"/>
                  </a:moveTo>
                  <a:lnTo>
                    <a:pt x="171450" y="0"/>
                  </a:lnTo>
                  <a:cubicBezTo>
                    <a:pt x="181971" y="0"/>
                    <a:pt x="190500" y="8529"/>
                    <a:pt x="190500" y="19050"/>
                  </a:cubicBezTo>
                  <a:lnTo>
                    <a:pt x="190500" y="19050"/>
                  </a:lnTo>
                  <a:cubicBezTo>
                    <a:pt x="190500" y="29571"/>
                    <a:pt x="181971" y="38100"/>
                    <a:pt x="171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0477500" y="550545"/>
            <a:ext cx="1143000" cy="176212"/>
            <a:chOff x="10477500" y="550545"/>
            <a:chExt cx="1143000" cy="176212"/>
          </a:xfrm>
        </p:grpSpPr>
        <p:sp>
          <p:nvSpPr>
            <p:cNvPr id="66" name="TextBox 66"/>
            <p:cNvSpPr txBox="1"/>
            <p:nvPr/>
          </p:nvSpPr>
          <p:spPr>
            <a:xfrm>
              <a:off x="11152632" y="5505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101418">
                      <a:alphaMod val="50000"/>
                    </a:srgbClr>
                  </a:solidFill>
                  <a:latin typeface="Segoe UI"/>
                  <a:ea typeface="Segoe UI"/>
                  <a:cs typeface="Segoe UI"/>
                </a:rPr>
                <a:t>4 / 4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10477500" y="571500"/>
              <a:ext cx="1143000" cy="57150"/>
            </a:xfrm>
            <a:custGeom>
              <a:avLst/>
              <a:gdLst/>
              <a:ahLst/>
              <a:cxnLst/>
              <a:rect l="l" t="t" r="r" b="b"/>
              <a:pathLst>
                <a:path w="1143000" h="57150">
                  <a:moveTo>
                    <a:pt x="28575" y="0"/>
                  </a:moveTo>
                  <a:lnTo>
                    <a:pt x="1114425" y="0"/>
                  </a:lnTo>
                  <a:cubicBezTo>
                    <a:pt x="1130207" y="0"/>
                    <a:pt x="1143000" y="12793"/>
                    <a:pt x="1143000" y="28575"/>
                  </a:cubicBezTo>
                  <a:lnTo>
                    <a:pt x="1143000" y="28575"/>
                  </a:lnTo>
                  <a:cubicBezTo>
                    <a:pt x="1143000" y="44357"/>
                    <a:pt x="1130207" y="57150"/>
                    <a:pt x="1114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ED8C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477500" y="571500"/>
              <a:ext cx="1143000" cy="57150"/>
            </a:xfrm>
            <a:custGeom>
              <a:avLst/>
              <a:gdLst/>
              <a:ahLst/>
              <a:cxnLst/>
              <a:rect l="l" t="t" r="r" b="b"/>
              <a:pathLst>
                <a:path w="1143000" h="57150">
                  <a:moveTo>
                    <a:pt x="28575" y="0"/>
                  </a:moveTo>
                  <a:lnTo>
                    <a:pt x="1114425" y="0"/>
                  </a:lnTo>
                  <a:cubicBezTo>
                    <a:pt x="1130207" y="0"/>
                    <a:pt x="1143000" y="12793"/>
                    <a:pt x="1143000" y="28575"/>
                  </a:cubicBezTo>
                  <a:lnTo>
                    <a:pt x="1143000" y="28575"/>
                  </a:lnTo>
                  <a:cubicBezTo>
                    <a:pt x="1143000" y="44357"/>
                    <a:pt x="1130207" y="57150"/>
                    <a:pt x="1114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2026-07-09T13:20:02Z</dcterms:created>
  <dcterms:modified xsi:type="dcterms:W3CDTF">2026-07-09T13:20:02Z</dcterms:modified>
  <cp:category/>
  <cp:contentStatus/>
</cp:coreProperties>
</file>