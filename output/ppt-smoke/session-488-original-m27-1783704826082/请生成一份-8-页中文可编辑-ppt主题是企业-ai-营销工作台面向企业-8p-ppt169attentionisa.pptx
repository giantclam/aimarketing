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请生成一份8页中文可编辑PPT，主题是企业AI营销工作台，面向企业管理层，使用ppt169_attention_is_all_you_need/AttentionIsAllYouNeed模板，必须走ppt-master全流程，不得使用auto-4或frontend-slides。这是面向客户的SaaS方案。请覆盖数据整合、AI分析、自动化执行、效果度量四个模块，不需要竞品对标。的核心现状、关键风险与影响范围概览。</a:t>
            </a:r>
          </a:p>
          <a:p>
            <a:endParaRPr lang="en-US" dirty="0"/>
          </a:p>
          <a:p>
            <a:r>
              <a:rPr lang="zh-CN" dirty="0"/>
              <a:t>• 企业AI营销工作台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决策议程</a:t>
            </a:r>
          </a:p>
          <a:p>
            <a:endParaRPr lang="en-US" dirty="0"/>
          </a:p>
          <a:p>
            <a:r>
              <a:rPr lang="zh-CN" dirty="0"/>
              <a:t>本页概览核心议题：现状、风险、全球影响与后续观察重点。</a:t>
            </a:r>
          </a:p>
          <a:p>
            <a:endParaRPr lang="en-US" dirty="0"/>
          </a:p>
          <a:p>
            <a:r>
              <a:rPr lang="zh-CN" dirty="0"/>
              <a:t>• 数据孤岛、响应滞后、ROI不透明</a:t>
            </a:r>
          </a:p>
          <a:p>
            <a:r>
              <a:rPr lang="zh-CN" dirty="0"/>
              <a:t>• AI驱动洞察、自动化执行、实时度量</a:t>
            </a:r>
          </a:p>
          <a:p>
            <a:r>
              <a:rPr lang="zh-CN" dirty="0"/>
              <a:t>• 数据整合→AI分析→自动化→效果闭环</a:t>
            </a:r>
          </a:p>
          <a:p>
            <a:r>
              <a:rPr lang="zh-CN" dirty="0"/>
              <a:t>• 转化率、响应时效、运营成本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AI工作台的核心主张</a:t>
            </a:r>
          </a:p>
          <a:p>
            <a:endParaRPr lang="en-US" dirty="0"/>
          </a:p>
          <a:p>
            <a:r>
              <a:rPr lang="zh-CN" dirty="0"/>
              <a:t>打通全链路数据资产，AI替代人工经验，营销决策从「滞后复盘」转向「实时驱动」。</a:t>
            </a:r>
          </a:p>
          <a:p>
            <a:endParaRPr lang="en-US" dirty="0"/>
          </a:p>
          <a:p>
            <a:r>
              <a:rPr lang="zh-CN" dirty="0"/>
              <a:t>• 营销团队70%精力消耗在数据清洗与报表，AI可自动完成</a:t>
            </a:r>
          </a:p>
          <a:p>
            <a:r>
              <a:rPr lang="zh-CN" dirty="0"/>
              <a:t>• 传统A/B测试周期2-4周，AI模型迭代可压缩至小时级</a:t>
            </a:r>
          </a:p>
          <a:p>
            <a:r>
              <a:rPr lang="zh-CN" dirty="0"/>
              <a:t>• 客户行为信号衰减快，AI实时响应可将转化率提升25-40%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四大模块能力对标</a:t>
            </a:r>
          </a:p>
          <a:p>
            <a:endParaRPr lang="en-US" dirty="0"/>
          </a:p>
          <a:p>
            <a:r>
              <a:rPr lang="zh-CN" dirty="0"/>
              <a:t>对比关键变量、参与方立场或不同路径下的影响差异。</a:t>
            </a:r>
          </a:p>
          <a:p>
            <a:endParaRPr lang="en-US" dirty="0"/>
          </a:p>
          <a:p>
            <a:r>
              <a:rPr lang="zh-CN" dirty="0"/>
              <a:t>• CRM/ERP/电商平台/媒体广告API统一接入；跨源标签融合；数据质量监控</a:t>
            </a:r>
          </a:p>
          <a:p>
            <a:r>
              <a:rPr lang="zh-CN" dirty="0"/>
              <a:t>• 客户分群自动化；流失预警模型；归因分析；内容创意推荐</a:t>
            </a:r>
          </a:p>
          <a:p>
            <a:r>
              <a:rPr lang="zh-CN" dirty="0"/>
              <a:t>• 多触点工作流编排；事件驱动推送；A/B自动化实验；RPA流程机器人</a:t>
            </a:r>
          </a:p>
          <a:p>
            <a:r>
              <a:rPr lang="zh-CN" dirty="0"/>
              <a:t>• 实时归因看板；渠道贡献度；预算优化建议；ROI预测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客户验证与效果实证</a:t>
            </a:r>
          </a:p>
          <a:p>
            <a:endParaRPr lang="en-US" dirty="0"/>
          </a:p>
          <a:p>
            <a:r>
              <a:rPr lang="zh-CN" dirty="0"/>
              <a:t>补充最值得引用的证据、事实锚点与支持判断。</a:t>
            </a:r>
          </a:p>
          <a:p>
            <a:endParaRPr lang="en-US" dirty="0"/>
          </a:p>
          <a:p>
            <a:r>
              <a:rPr lang="zh-CN" dirty="0"/>
              <a:t>• 接入8个数据源，构建统一客户视图；AI分群后精准推送，复购率提升31%，客单价提升18%</a:t>
            </a:r>
          </a:p>
          <a:p>
            <a:r>
              <a:rPr lang="zh-CN" dirty="0"/>
              <a:t>• 营销响应时效从48小时压缩至15分钟；自动化覆盖率80%；单客获取成本下降27%</a:t>
            </a:r>
          </a:p>
          <a:p>
            <a:r>
              <a:rPr lang="zh-CN" dirty="0"/>
              <a:t>• AI选品准确率85%；库存周转优化22%；GMV环比增长15%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量化收益与关键指标</a:t>
            </a:r>
          </a:p>
          <a:p>
            <a:endParaRPr lang="en-US" dirty="0"/>
          </a:p>
          <a:p>
            <a:r>
              <a:rPr lang="zh-CN" dirty="0"/>
              <a:t>提炼会直接影响决策的关键数字与压力指标。</a:t>
            </a:r>
          </a:p>
          <a:p>
            <a:endParaRPr lang="en-US" dirty="0"/>
          </a:p>
          <a:p>
            <a:r>
              <a:rPr lang="zh-CN" dirty="0"/>
              <a:t>• 平均转化率提升</a:t>
            </a:r>
          </a:p>
          <a:p>
            <a:r>
              <a:rPr lang="zh-CN" dirty="0"/>
              <a:t>• 上线周期</a:t>
            </a:r>
          </a:p>
          <a:p>
            <a:r>
              <a:rPr lang="zh-CN" dirty="0"/>
              <a:t>• 运营人力成本</a:t>
            </a:r>
          </a:p>
          <a:p>
            <a:r>
              <a:rPr lang="zh-CN" dirty="0"/>
              <a:t>• ROI提升倍数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AI营销工作台运转逻辑</a:t>
            </a:r>
          </a:p>
          <a:p>
            <a:endParaRPr lang="en-US" dirty="0"/>
          </a:p>
          <a:p>
            <a:r>
              <a:rPr lang="zh-CN" dirty="0"/>
              <a:t>把影响链条压缩成一眼能看懂的扩散结构或图示。</a:t>
            </a:r>
          </a:p>
          <a:p>
            <a:endParaRPr lang="en-US" dirty="0"/>
          </a:p>
          <a:p>
            <a:r>
              <a:rPr lang="zh-CN" dirty="0"/>
              <a:t>• API/ETL多源接入，实时同步</a:t>
            </a:r>
          </a:p>
          <a:p>
            <a:r>
              <a:rPr lang="zh-CN" dirty="0"/>
              <a:t>• AI自动打标签，构建客户画像</a:t>
            </a:r>
          </a:p>
          <a:p>
            <a:r>
              <a:rPr lang="zh-CN" dirty="0"/>
              <a:t>• 实时预测，触发营销动作</a:t>
            </a:r>
          </a:p>
          <a:p>
            <a:r>
              <a:rPr lang="zh-CN" dirty="0"/>
              <a:t>• 多渠道触达，自动化工作流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下一步行动建议</a:t>
            </a:r>
          </a:p>
          <a:p>
            <a:endParaRPr lang="en-US" dirty="0"/>
          </a:p>
          <a:p>
            <a:r>
              <a:rPr lang="zh-CN" dirty="0"/>
              <a:t>以收束页形式给出接下来最值得执行或持续观察的动作。</a:t>
            </a:r>
          </a:p>
          <a:p>
            <a:endParaRPr lang="en-US" dirty="0"/>
          </a:p>
          <a:p>
            <a:r>
              <a:rPr lang="zh-CN" dirty="0"/>
              <a:t>• 确认数据源清单与API权限，启动POC范围划定</a:t>
            </a:r>
          </a:p>
          <a:p>
            <a:r>
              <a:rPr lang="zh-CN" dirty="0"/>
              <a:t>• 完成数据接入与第一版客户分群模型，输出AB测试方案</a:t>
            </a:r>
          </a:p>
          <a:p>
            <a:r>
              <a:rPr lang="zh-CN" dirty="0"/>
              <a:t>• 上线自动化营销工作流，切入核心业务场景，验证ROI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0" y="0"/>
            <a:ext cx="12192000" cy="6286500"/>
            <a:chOff x="0" y="0"/>
            <a:chExt cx="12192000" cy="6286500"/>
          </a:xfrm>
        </p:grpSpPr>
        <p:sp>
          <p:nvSpPr>
            <p:cNvPr id="5" name="Line 5"/>
            <p:cNvSpPr/>
            <p:nvPr/>
          </p:nvSpPr>
          <p:spPr>
            <a:xfrm>
              <a:off x="571500" y="1143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1905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266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3429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71500" y="4191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71500" y="4953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71500" y="5715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905000" y="952500"/>
              <a:ext cx="9525" cy="5238750"/>
            </a:xfrm>
            <a:custGeom>
              <a:avLst/>
              <a:gdLst/>
              <a:ahLst/>
              <a:cxnLst/>
              <a:rect l="l" t="t" r="r" b="b"/>
              <a:pathLst>
                <a:path w="9525" h="5238750">
                  <a:moveTo>
                    <a:pt x="0" y="0"/>
                  </a:moveTo>
                  <a:lnTo>
                    <a:pt x="0" y="5238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238500" y="952500"/>
              <a:ext cx="9525" cy="5238750"/>
            </a:xfrm>
            <a:custGeom>
              <a:avLst/>
              <a:gdLst/>
              <a:ahLst/>
              <a:cxnLst/>
              <a:rect l="l" t="t" r="r" b="b"/>
              <a:pathLst>
                <a:path w="9525" h="5238750">
                  <a:moveTo>
                    <a:pt x="0" y="0"/>
                  </a:moveTo>
                  <a:lnTo>
                    <a:pt x="0" y="5238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572000" y="952500"/>
              <a:ext cx="9525" cy="5238750"/>
            </a:xfrm>
            <a:custGeom>
              <a:avLst/>
              <a:gdLst/>
              <a:ahLst/>
              <a:cxnLst/>
              <a:rect l="l" t="t" r="r" b="b"/>
              <a:pathLst>
                <a:path w="9525" h="5238750">
                  <a:moveTo>
                    <a:pt x="0" y="0"/>
                  </a:moveTo>
                  <a:lnTo>
                    <a:pt x="0" y="5238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905500" y="952500"/>
              <a:ext cx="9525" cy="5238750"/>
            </a:xfrm>
            <a:custGeom>
              <a:avLst/>
              <a:gdLst/>
              <a:ahLst/>
              <a:cxnLst/>
              <a:rect l="l" t="t" r="r" b="b"/>
              <a:pathLst>
                <a:path w="9525" h="5238750">
                  <a:moveTo>
                    <a:pt x="0" y="0"/>
                  </a:moveTo>
                  <a:lnTo>
                    <a:pt x="0" y="5238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239000" y="952500"/>
              <a:ext cx="9525" cy="5238750"/>
            </a:xfrm>
            <a:custGeom>
              <a:avLst/>
              <a:gdLst/>
              <a:ahLst/>
              <a:cxnLst/>
              <a:rect l="l" t="t" r="r" b="b"/>
              <a:pathLst>
                <a:path w="9525" h="5238750">
                  <a:moveTo>
                    <a:pt x="0" y="0"/>
                  </a:moveTo>
                  <a:lnTo>
                    <a:pt x="0" y="5238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72500" y="952500"/>
              <a:ext cx="9525" cy="5238750"/>
            </a:xfrm>
            <a:custGeom>
              <a:avLst/>
              <a:gdLst/>
              <a:ahLst/>
              <a:cxnLst/>
              <a:rect l="l" t="t" r="r" b="b"/>
              <a:pathLst>
                <a:path w="9525" h="5238750">
                  <a:moveTo>
                    <a:pt x="0" y="0"/>
                  </a:moveTo>
                  <a:lnTo>
                    <a:pt x="0" y="5238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906000" y="952500"/>
              <a:ext cx="9525" cy="5238750"/>
            </a:xfrm>
            <a:custGeom>
              <a:avLst/>
              <a:gdLst/>
              <a:ahLst/>
              <a:cxnLst/>
              <a:rect l="l" t="t" r="r" b="b"/>
              <a:pathLst>
                <a:path w="9525" h="5238750">
                  <a:moveTo>
                    <a:pt x="0" y="0"/>
                  </a:moveTo>
                  <a:lnTo>
                    <a:pt x="0" y="52387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1714500"/>
              <a:ext cx="38100" cy="2667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715500" y="762000"/>
              <a:ext cx="1524000" cy="1524000"/>
            </a:xfrm>
            <a:prstGeom prst="ellipse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477500" y="1428750"/>
              <a:ext cx="952500" cy="9525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1144250" y="2000250"/>
              <a:ext cx="571500" cy="571500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57250" y="4953000"/>
              <a:ext cx="1143000" cy="1143000"/>
            </a:xfrm>
            <a:prstGeom prst="ellipse">
              <a:avLst/>
            </a:prstGeom>
            <a:solidFill>
              <a:schemeClr val="accent1">
                <a:alpha val="4000"/>
              </a:schemeClr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71500" y="5524500"/>
              <a:ext cx="762000" cy="762000"/>
            </a:xfrm>
            <a:prstGeom prst="ellipse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572500" y="4572000"/>
              <a:ext cx="114300" cy="114300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763000" y="4762500"/>
              <a:ext cx="76200" cy="7620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953500" y="4667250"/>
              <a:ext cx="95250" cy="95250"/>
            </a:xfrm>
            <a:prstGeom prst="rect">
              <a:avLst/>
            </a:prstGeom>
            <a:solidFill>
              <a:schemeClr val="accent2">
                <a:alpha val="25000"/>
              </a:schemeClr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8572500" y="4629150"/>
              <a:ext cx="476250" cy="85725"/>
            </a:xfrm>
            <a:custGeom>
              <a:avLst/>
              <a:gdLst/>
              <a:ahLst/>
              <a:cxnLst/>
              <a:rect l="l" t="t" r="r" b="b"/>
              <a:pathLst>
                <a:path w="476250" h="85725">
                  <a:moveTo>
                    <a:pt x="0" y="0"/>
                  </a:moveTo>
                  <a:lnTo>
                    <a:pt x="476250" y="85725"/>
                  </a:lnTo>
                </a:path>
              </a:pathLst>
            </a:custGeom>
            <a:noFill/>
            <a:ln w="9525">
              <a:solidFill>
                <a:schemeClr val="accent2">
                  <a:alpha val="30000"/>
                </a:scheme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8763000" y="4714875"/>
              <a:ext cx="285750" cy="85725"/>
            </a:xfrm>
            <a:custGeom>
              <a:avLst/>
              <a:gdLst/>
              <a:ahLst/>
              <a:cxnLst/>
              <a:rect l="l" t="t" r="r" b="b"/>
              <a:pathLst>
                <a:path w="285750" h="85725">
                  <a:moveTo>
                    <a:pt x="0" y="85725"/>
                  </a:moveTo>
                  <a:lnTo>
                    <a:pt x="285750" y="0"/>
                  </a:lnTo>
                </a:path>
              </a:pathLst>
            </a:custGeom>
            <a:noFill/>
            <a:ln w="9525">
              <a:solidFill>
                <a:schemeClr val="accent2">
                  <a:alpha val="30000"/>
                </a:schemeClr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001250" y="4953000"/>
              <a:ext cx="133350" cy="13335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287000" y="5143500"/>
              <a:ext cx="95250" cy="95250"/>
            </a:xfrm>
            <a:prstGeom prst="rect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10067925" y="5019675"/>
              <a:ext cx="266700" cy="171450"/>
            </a:xfrm>
            <a:custGeom>
              <a:avLst/>
              <a:gdLst/>
              <a:ahLst/>
              <a:cxnLst/>
              <a:rect l="l" t="t" r="r" b="b"/>
              <a:pathLst>
                <a:path w="266700" h="171450">
                  <a:moveTo>
                    <a:pt x="0" y="0"/>
                  </a:moveTo>
                  <a:lnTo>
                    <a:pt x="266700" y="171450"/>
                  </a:lnTo>
                </a:path>
              </a:pathLst>
            </a:custGeom>
            <a:noFill/>
            <a:ln w="9525">
              <a:solidFill>
                <a:schemeClr val="accent1">
                  <a:alpha val="20000"/>
                </a:schemeClr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933450" y="1601152"/>
            <a:ext cx="6017407" cy="3634359"/>
            <a:chOff x="933450" y="1601152"/>
            <a:chExt cx="6017407" cy="3634359"/>
          </a:xfrm>
        </p:grpSpPr>
        <p:sp>
          <p:nvSpPr>
            <p:cNvPr id="35" name="TextBox 35"/>
            <p:cNvSpPr txBox="1"/>
            <p:nvPr/>
          </p:nvSpPr>
          <p:spPr>
            <a:xfrm>
              <a:off x="947166" y="1601152"/>
              <a:ext cx="964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3450" y="2404110"/>
              <a:ext cx="601740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企业AI营销工作台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4118" y="344138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面向企业管理层的一站式智能营销解决方案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52500" y="3905250"/>
              <a:ext cx="76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6404" y="4347210"/>
              <a:ext cx="3178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数据整合</a:t>
              </a:r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-US" sz="120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|</a:t>
              </a:r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AI分析</a:t>
              </a:r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-US" sz="120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|</a:t>
              </a:r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自动化执行</a:t>
              </a:r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-US" sz="1200" dirty="0">
                  <a:solidFill>
                    <a:srgbClr val="E2E8F0"/>
                  </a:solidFill>
                  <a:latin typeface="+mn-lt"/>
                  <a:ea typeface="+mn-ea"/>
                  <a:cs typeface="+mn-cs"/>
                </a:rPr>
                <a:t>|</a:t>
              </a:r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7166" y="5030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01 / 08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66738" y="6286500"/>
            <a:ext cx="11058524" cy="406241"/>
            <a:chOff x="566738" y="6286500"/>
            <a:chExt cx="11058524" cy="406241"/>
          </a:xfrm>
        </p:grpSpPr>
        <p:sp>
          <p:nvSpPr>
            <p:cNvPr id="42" name="Line 42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6738" y="6530816"/>
              <a:ext cx="17697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 · 解决方案概览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71402" y="6530816"/>
              <a:ext cx="2538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3619500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3619500" cy="6858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rgbClr val="2C5282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619500" y="0"/>
              <a:ext cx="8572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4000500" y="13335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000500" y="571500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572000" y="1714500"/>
              <a:ext cx="28575" cy="4000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571500" y="1524000"/>
            <a:ext cx="10668000" cy="4381500"/>
            <a:chOff x="571500" y="1524000"/>
            <a:chExt cx="10668000" cy="4381500"/>
          </a:xfrm>
        </p:grpSpPr>
        <p:sp>
          <p:nvSpPr>
            <p:cNvPr id="11" name="Rectangle 11"/>
            <p:cNvSpPr/>
            <p:nvPr/>
          </p:nvSpPr>
          <p:spPr>
            <a:xfrm>
              <a:off x="571500" y="4000500"/>
              <a:ext cx="5715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4486275" y="1628775"/>
              <a:ext cx="3410788" cy="3749612"/>
              <a:chOff x="4486275" y="1628775"/>
              <a:chExt cx="3410788" cy="3749612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4486275" y="1628775"/>
                <a:ext cx="3224098" cy="511112"/>
                <a:chOff x="4486275" y="1628775"/>
                <a:chExt cx="3224098" cy="511112"/>
              </a:xfrm>
            </p:grpSpPr>
            <p:sp>
              <p:nvSpPr>
                <p:cNvPr id="12" name="Ellipse 12"/>
                <p:cNvSpPr/>
                <p:nvPr/>
              </p:nvSpPr>
              <p:spPr>
                <a:xfrm>
                  <a:off x="4486275" y="1628775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4597123" y="1778318"/>
                  <a:ext cx="23550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FFFFFF"/>
                      </a:solidFill>
                      <a:latin typeface="Georgia"/>
                      <a:ea typeface="Georgia"/>
                      <a:cs typeface="Georgia"/>
                    </a:rPr>
                    <a:t>01</a:t>
                  </a:r>
                </a:p>
              </p:txBody>
            </p:sp>
            <p:sp>
              <p:nvSpPr>
                <p:cNvPr id="14" name="Line 14"/>
                <p:cNvSpPr/>
                <p:nvPr/>
              </p:nvSpPr>
              <p:spPr>
                <a:xfrm>
                  <a:off x="4943475" y="1857375"/>
                  <a:ext cx="390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525" h="9525">
                      <a:moveTo>
                        <a:pt x="0" y="0"/>
                      </a:moveTo>
                      <a:lnTo>
                        <a:pt x="390525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5516880" y="1647825"/>
                  <a:ext cx="86334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现状分析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5519166" y="1934528"/>
                  <a:ext cx="219120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数据孤岛、响应滞后、ROI不透明</a:t>
                  </a:r>
                </a:p>
              </p:txBody>
            </p:sp>
          </p:grpSp>
          <p:grpSp>
            <p:nvGrpSpPr>
              <p:cNvPr id="23" name="Group 23"/>
              <p:cNvGrpSpPr/>
              <p:nvPr/>
            </p:nvGrpSpPr>
            <p:grpSpPr>
              <a:xfrm>
                <a:off x="4486275" y="2438400"/>
                <a:ext cx="3410788" cy="511111"/>
                <a:chOff x="4486275" y="2438400"/>
                <a:chExt cx="3410788" cy="511111"/>
              </a:xfrm>
            </p:grpSpPr>
            <p:sp>
              <p:nvSpPr>
                <p:cNvPr id="18" name="Ellipse 18"/>
                <p:cNvSpPr/>
                <p:nvPr/>
              </p:nvSpPr>
              <p:spPr>
                <a:xfrm>
                  <a:off x="4486275" y="2438400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4597123" y="2587942"/>
                  <a:ext cx="23550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FFFFFF"/>
                      </a:solidFill>
                      <a:latin typeface="Georgia"/>
                      <a:ea typeface="Georgia"/>
                      <a:cs typeface="Georgia"/>
                    </a:rPr>
                    <a:t>02</a:t>
                  </a:r>
                </a:p>
              </p:txBody>
            </p:sp>
            <p:sp>
              <p:nvSpPr>
                <p:cNvPr id="20" name="Line 20"/>
                <p:cNvSpPr/>
                <p:nvPr/>
              </p:nvSpPr>
              <p:spPr>
                <a:xfrm>
                  <a:off x="4943475" y="2667000"/>
                  <a:ext cx="390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525" h="9525">
                      <a:moveTo>
                        <a:pt x="0" y="0"/>
                      </a:moveTo>
                      <a:lnTo>
                        <a:pt x="390525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5516880" y="2457450"/>
                  <a:ext cx="177386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AI工作台核心主张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5519166" y="2744152"/>
                  <a:ext cx="237789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AI驱动洞察、自动化执行、实时度量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4486275" y="3248025"/>
                <a:ext cx="3358515" cy="511112"/>
                <a:chOff x="4486275" y="3248025"/>
                <a:chExt cx="3358515" cy="511112"/>
              </a:xfrm>
            </p:grpSpPr>
            <p:sp>
              <p:nvSpPr>
                <p:cNvPr id="24" name="Ellipse 24"/>
                <p:cNvSpPr/>
                <p:nvPr/>
              </p:nvSpPr>
              <p:spPr>
                <a:xfrm>
                  <a:off x="4486275" y="3248025"/>
                  <a:ext cx="457200" cy="457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597123" y="3397568"/>
                  <a:ext cx="23550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FFFFFF"/>
                      </a:solidFill>
                      <a:latin typeface="Georgia"/>
                      <a:ea typeface="Georgia"/>
                      <a:cs typeface="Georgia"/>
                    </a:rPr>
                    <a:t>03</a:t>
                  </a:r>
                </a:p>
              </p:txBody>
            </p:sp>
            <p:sp>
              <p:nvSpPr>
                <p:cNvPr id="26" name="Line 26"/>
                <p:cNvSpPr/>
                <p:nvPr/>
              </p:nvSpPr>
              <p:spPr>
                <a:xfrm>
                  <a:off x="4943475" y="3476625"/>
                  <a:ext cx="390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525" h="9525">
                      <a:moveTo>
                        <a:pt x="0" y="0"/>
                      </a:moveTo>
                      <a:lnTo>
                        <a:pt x="390525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5516880" y="3267075"/>
                  <a:ext cx="128739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四大模块能力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519166" y="3553778"/>
                  <a:ext cx="232562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数据整合→AI分析→自动化→效果闭环</a:t>
                  </a: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4486275" y="4057650"/>
                <a:ext cx="2881122" cy="511111"/>
                <a:chOff x="4486275" y="4057650"/>
                <a:chExt cx="2881122" cy="511111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4486275" y="4057650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4597123" y="4207192"/>
                  <a:ext cx="23550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FFFFFF"/>
                      </a:solidFill>
                      <a:latin typeface="Georgia"/>
                      <a:ea typeface="Georgia"/>
                      <a:cs typeface="Georgia"/>
                    </a:rPr>
                    <a:t>04</a:t>
                  </a:r>
                </a:p>
              </p:txBody>
            </p:sp>
            <p:sp>
              <p:nvSpPr>
                <p:cNvPr id="32" name="Line 32"/>
                <p:cNvSpPr/>
                <p:nvPr/>
              </p:nvSpPr>
              <p:spPr>
                <a:xfrm>
                  <a:off x="4943475" y="4286250"/>
                  <a:ext cx="390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525" h="9525">
                      <a:moveTo>
                        <a:pt x="0" y="0"/>
                      </a:moveTo>
                      <a:lnTo>
                        <a:pt x="390525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5516880" y="4076700"/>
                  <a:ext cx="149942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量化收益与指标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5519166" y="4363402"/>
                  <a:ext cx="184823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转化率、响应时效、运营成本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4486275" y="4867275"/>
                <a:ext cx="3163824" cy="511112"/>
                <a:chOff x="4486275" y="4867275"/>
                <a:chExt cx="3163824" cy="511112"/>
              </a:xfrm>
            </p:grpSpPr>
            <p:sp>
              <p:nvSpPr>
                <p:cNvPr id="36" name="Ellipse 36"/>
                <p:cNvSpPr/>
                <p:nvPr/>
              </p:nvSpPr>
              <p:spPr>
                <a:xfrm>
                  <a:off x="4486275" y="4867275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4597123" y="5016818"/>
                  <a:ext cx="23550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FFFFFF"/>
                      </a:solidFill>
                      <a:latin typeface="Georgia"/>
                      <a:ea typeface="Georgia"/>
                      <a:cs typeface="Georgia"/>
                    </a:rPr>
                    <a:t>05</a:t>
                  </a:r>
                </a:p>
              </p:txBody>
            </p:sp>
            <p:sp>
              <p:nvSpPr>
                <p:cNvPr id="38" name="Line 38"/>
                <p:cNvSpPr/>
                <p:nvPr/>
              </p:nvSpPr>
              <p:spPr>
                <a:xfrm>
                  <a:off x="4943475" y="5095875"/>
                  <a:ext cx="390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525" h="9525">
                      <a:moveTo>
                        <a:pt x="0" y="0"/>
                      </a:moveTo>
                      <a:lnTo>
                        <a:pt x="390525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5516880" y="4886325"/>
                  <a:ext cx="1499426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下一步行动建议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5519166" y="5173028"/>
                  <a:ext cx="213093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分阶段部署、风险控制、成功标准</a:t>
                  </a:r>
                </a:p>
              </p:txBody>
            </p:sp>
          </p:grpSp>
        </p:grpSp>
        <p:grpSp>
          <p:nvGrpSpPr>
            <p:cNvPr id="46" name="Group 46"/>
            <p:cNvGrpSpPr/>
            <p:nvPr/>
          </p:nvGrpSpPr>
          <p:grpSpPr>
            <a:xfrm>
              <a:off x="6667500" y="2619375"/>
              <a:ext cx="190500" cy="1714500"/>
              <a:chOff x="6667500" y="2619375"/>
              <a:chExt cx="190500" cy="17145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667500" y="26193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47625"/>
                    </a:moveTo>
                    <a:lnTo>
                      <a:pt x="190500" y="47625"/>
                    </a:lnTo>
                    <a:lnTo>
                      <a:pt x="142875" y="0"/>
                    </a:lnTo>
                    <a:moveTo>
                      <a:pt x="190500" y="47625"/>
                    </a:moveTo>
                    <a:lnTo>
                      <a:pt x="142875" y="9525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67500" y="342900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47625"/>
                    </a:moveTo>
                    <a:lnTo>
                      <a:pt x="190500" y="47625"/>
                    </a:lnTo>
                    <a:lnTo>
                      <a:pt x="142875" y="0"/>
                    </a:lnTo>
                    <a:moveTo>
                      <a:pt x="190500" y="47625"/>
                    </a:moveTo>
                    <a:lnTo>
                      <a:pt x="142875" y="9525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67500" y="42386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47625"/>
                    </a:moveTo>
                    <a:lnTo>
                      <a:pt x="190500" y="47625"/>
                    </a:lnTo>
                    <a:lnTo>
                      <a:pt x="142875" y="0"/>
                    </a:lnTo>
                    <a:moveTo>
                      <a:pt x="190500" y="47625"/>
                    </a:moveTo>
                    <a:lnTo>
                      <a:pt x="142875" y="9525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grpSp>
          <p:nvGrpSpPr>
            <p:cNvPr id="63" name="Group 63"/>
            <p:cNvGrpSpPr/>
            <p:nvPr/>
          </p:nvGrpSpPr>
          <p:grpSpPr>
            <a:xfrm>
              <a:off x="8572500" y="1524000"/>
              <a:ext cx="2667000" cy="4381500"/>
              <a:chOff x="8572500" y="1524000"/>
              <a:chExt cx="2667000" cy="43815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572500" y="1524000"/>
                <a:ext cx="2667000" cy="4381500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4381500">
                    <a:moveTo>
                      <a:pt x="76200" y="0"/>
                    </a:moveTo>
                    <a:lnTo>
                      <a:pt x="2590800" y="0"/>
                    </a:lnTo>
                    <a:cubicBezTo>
                      <a:pt x="2632884" y="0"/>
                      <a:pt x="2667000" y="34116"/>
                      <a:pt x="2667000" y="76200"/>
                    </a:cubicBezTo>
                    <a:lnTo>
                      <a:pt x="2667000" y="4305300"/>
                    </a:lnTo>
                    <a:cubicBezTo>
                      <a:pt x="2667000" y="4347384"/>
                      <a:pt x="2632884" y="4381500"/>
                      <a:pt x="2590800" y="4381500"/>
                    </a:cubicBezTo>
                    <a:lnTo>
                      <a:pt x="76200" y="4381500"/>
                    </a:lnTo>
                    <a:cubicBezTo>
                      <a:pt x="34116" y="4381500"/>
                      <a:pt x="0" y="4347384"/>
                      <a:pt x="0" y="4305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8763000" y="19050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chemeClr val="accent2">
                    <a:alpha val="30000"/>
                  </a:schemeClr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8763000" y="26670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chemeClr val="accent2">
                    <a:alpha val="30000"/>
                  </a:schemeClr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8763000" y="34290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chemeClr val="accent2">
                    <a:alpha val="30000"/>
                  </a:schemeClr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8763000" y="41910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chemeClr val="accent2">
                    <a:alpha val="30000"/>
                  </a:schemeClr>
                </a:solidFill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8763000" y="49530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chemeClr val="accent2">
                    <a:alpha val="30000"/>
                  </a:schemeClr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9925050" y="178117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9925050" y="25908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9906000" y="3381375"/>
                <a:ext cx="190500" cy="19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9925050" y="4210050"/>
                <a:ext cx="152400" cy="152400"/>
              </a:xfrm>
              <a:prstGeom prst="ellipse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9925050" y="5019675"/>
                <a:ext cx="152400" cy="152400"/>
              </a:xfrm>
              <a:prstGeom prst="ellipse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282238" y="1807845"/>
                <a:ext cx="22075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P01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0282238" y="2617470"/>
                <a:ext cx="22075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P02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0282238" y="3427095"/>
                <a:ext cx="2639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当前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0282238" y="4236720"/>
                <a:ext cx="22075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P04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0282238" y="5046345"/>
                <a:ext cx="22075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P05</a:t>
                </a: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566166" y="5601652"/>
            <a:ext cx="11249596" cy="1138714"/>
            <a:chOff x="566166" y="5601652"/>
            <a:chExt cx="11249596" cy="1138714"/>
          </a:xfrm>
        </p:grpSpPr>
        <p:sp>
          <p:nvSpPr>
            <p:cNvPr id="65" name="TextBox 65"/>
            <p:cNvSpPr txBox="1"/>
            <p:nvPr/>
          </p:nvSpPr>
          <p:spPr>
            <a:xfrm>
              <a:off x="11434181" y="65784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66166" y="5601652"/>
              <a:ext cx="854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Georgia"/>
                  <a:ea typeface="SimSun"/>
                  <a:cs typeface="Georgia"/>
                </a:rPr>
                <a:t>模块 01 — 02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71500" y="6286500"/>
              <a:ext cx="381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66738" y="6387941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8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3810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0" y="398145"/>
            <a:ext cx="12192000" cy="373380"/>
            <a:chOff x="0" y="398145"/>
            <a:chExt cx="12192000" cy="373380"/>
          </a:xfrm>
        </p:grpSpPr>
        <p:sp>
          <p:nvSpPr>
            <p:cNvPr id="6" name="Line 6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738" y="3981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2488" y="3981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/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7738" y="3981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56260" y="952500"/>
            <a:ext cx="10873740" cy="5048250"/>
            <a:chOff x="556260" y="952500"/>
            <a:chExt cx="10873740" cy="5048250"/>
          </a:xfrm>
        </p:grpSpPr>
        <p:sp>
          <p:nvSpPr>
            <p:cNvPr id="11" name="Rectangle 11"/>
            <p:cNvSpPr/>
            <p:nvPr/>
          </p:nvSpPr>
          <p:spPr>
            <a:xfrm>
              <a:off x="571500" y="952500"/>
              <a:ext cx="76200" cy="228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6666" y="10106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6260" y="1295400"/>
              <a:ext cx="484548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AI工作台的核心主张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571500" y="2000250"/>
              <a:ext cx="4572000" cy="4000500"/>
              <a:chOff x="571500" y="2000250"/>
              <a:chExt cx="4572000" cy="40005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71500" y="2000250"/>
                <a:ext cx="4572000" cy="40005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4000500">
                    <a:moveTo>
                      <a:pt x="114300" y="0"/>
                    </a:moveTo>
                    <a:lnTo>
                      <a:pt x="4457700" y="0"/>
                    </a:lnTo>
                    <a:cubicBezTo>
                      <a:pt x="4520826" y="0"/>
                      <a:pt x="4572000" y="51174"/>
                      <a:pt x="4572000" y="114300"/>
                    </a:cubicBezTo>
                    <a:lnTo>
                      <a:pt x="4572000" y="3886200"/>
                    </a:lnTo>
                    <a:cubicBezTo>
                      <a:pt x="4572000" y="3949326"/>
                      <a:pt x="4520826" y="4000500"/>
                      <a:pt x="4457700" y="4000500"/>
                    </a:cubicBezTo>
                    <a:lnTo>
                      <a:pt x="114300" y="4000500"/>
                    </a:lnTo>
                    <a:cubicBezTo>
                      <a:pt x="51174" y="4000500"/>
                      <a:pt x="0" y="3949326"/>
                      <a:pt x="0" y="3886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71500" y="2000250"/>
                <a:ext cx="4572000" cy="40005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4000500">
                    <a:moveTo>
                      <a:pt x="114300" y="0"/>
                    </a:moveTo>
                    <a:lnTo>
                      <a:pt x="4457700" y="0"/>
                    </a:lnTo>
                    <a:cubicBezTo>
                      <a:pt x="4520826" y="0"/>
                      <a:pt x="4572000" y="51174"/>
                      <a:pt x="4572000" y="114300"/>
                    </a:cubicBezTo>
                    <a:lnTo>
                      <a:pt x="4572000" y="3886200"/>
                    </a:lnTo>
                    <a:cubicBezTo>
                      <a:pt x="4572000" y="3949326"/>
                      <a:pt x="4520826" y="4000500"/>
                      <a:pt x="4457700" y="4000500"/>
                    </a:cubicBezTo>
                    <a:lnTo>
                      <a:pt x="114300" y="4000500"/>
                    </a:lnTo>
                    <a:cubicBezTo>
                      <a:pt x="51174" y="4000500"/>
                      <a:pt x="0" y="3949326"/>
                      <a:pt x="0" y="3886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843766" y="2556510"/>
                <a:ext cx="2027469" cy="1390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7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70%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487168" y="36642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人力成本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214562" y="3902392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数据清洗与报表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1143000" y="43815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130808" y="4408170"/>
                <a:ext cx="1278941" cy="589217"/>
                <a:chOff x="1130808" y="4408170"/>
                <a:chExt cx="1278941" cy="589217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1130808" y="4408170"/>
                  <a:ext cx="1278941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4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25-40%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137666" y="479202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转化率提升空间</a:t>
                  </a: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3035808" y="4408170"/>
                <a:ext cx="1099718" cy="589217"/>
                <a:chOff x="3035808" y="4408170"/>
                <a:chExt cx="1099718" cy="589217"/>
              </a:xfrm>
            </p:grpSpPr>
            <p:sp>
              <p:nvSpPr>
                <p:cNvPr id="23" name="TextBox 23"/>
                <p:cNvSpPr txBox="1"/>
                <p:nvPr/>
              </p:nvSpPr>
              <p:spPr>
                <a:xfrm>
                  <a:off x="3035808" y="4408170"/>
                  <a:ext cx="1099718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小时级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3042666" y="479202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模型迭代周期</a:t>
                  </a:r>
                </a:p>
              </p:txBody>
            </p:sp>
          </p:grpSp>
        </p:grpSp>
        <p:grpSp>
          <p:nvGrpSpPr>
            <p:cNvPr id="43" name="Group 43"/>
            <p:cNvGrpSpPr/>
            <p:nvPr/>
          </p:nvGrpSpPr>
          <p:grpSpPr>
            <a:xfrm>
              <a:off x="5516880" y="2124075"/>
              <a:ext cx="5913120" cy="3876675"/>
              <a:chOff x="5516880" y="2124075"/>
              <a:chExt cx="5913120" cy="3876675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5516880" y="2124075"/>
                <a:ext cx="382371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打通全链路数据资产，AI替代人工经验，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516880" y="2409825"/>
                <a:ext cx="40538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营销决策从「滞后复盘」转向「实时驱动」。</a:t>
                </a:r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5600700" y="3261360"/>
                <a:ext cx="3260750" cy="444246"/>
                <a:chOff x="5600700" y="3261360"/>
                <a:chExt cx="3260750" cy="444246"/>
              </a:xfrm>
            </p:grpSpPr>
            <p:sp>
              <p:nvSpPr>
                <p:cNvPr id="29" name="Ellipse 29"/>
                <p:cNvSpPr/>
                <p:nvPr/>
              </p:nvSpPr>
              <p:spPr>
                <a:xfrm>
                  <a:off x="5600700" y="331470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5804154" y="3261360"/>
                  <a:ext cx="305729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营销团队70%精力消耗在数据清洗与报表，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5804154" y="3470910"/>
                  <a:ext cx="101071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AI可自动完成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5600700" y="4023360"/>
                <a:ext cx="2238299" cy="444246"/>
                <a:chOff x="5600700" y="4023360"/>
                <a:chExt cx="2238299" cy="444246"/>
              </a:xfrm>
            </p:grpSpPr>
            <p:sp>
              <p:nvSpPr>
                <p:cNvPr id="33" name="Ellipse 33"/>
                <p:cNvSpPr/>
                <p:nvPr/>
              </p:nvSpPr>
              <p:spPr>
                <a:xfrm>
                  <a:off x="5600700" y="407670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5804154" y="4023360"/>
                  <a:ext cx="194096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传统A/B测试周期2-4周，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5804154" y="4232910"/>
                  <a:ext cx="203484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AI模型迭代可压缩至小时级</a:t>
                  </a:r>
                </a:p>
              </p:txBody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5600700" y="4785360"/>
                <a:ext cx="2835707" cy="444246"/>
                <a:chOff x="5600700" y="4785360"/>
                <a:chExt cx="2835707" cy="444246"/>
              </a:xfrm>
            </p:grpSpPr>
            <p:sp>
              <p:nvSpPr>
                <p:cNvPr id="37" name="Ellipse 37"/>
                <p:cNvSpPr/>
                <p:nvPr/>
              </p:nvSpPr>
              <p:spPr>
                <a:xfrm>
                  <a:off x="5600700" y="483870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5804154" y="4785360"/>
                  <a:ext cx="162763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客户行为信号衰减快，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5804154" y="4994910"/>
                  <a:ext cx="263225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AI实时响应可将转化率提升25-40%</a:t>
                  </a:r>
                </a:p>
              </p:txBody>
            </p:sp>
          </p:grpSp>
          <p:sp>
            <p:nvSpPr>
              <p:cNvPr id="41" name="Freeform 41"/>
              <p:cNvSpPr/>
              <p:nvPr/>
            </p:nvSpPr>
            <p:spPr>
              <a:xfrm>
                <a:off x="5524500" y="5524500"/>
                <a:ext cx="5905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476250">
                    <a:moveTo>
                      <a:pt x="76200" y="0"/>
                    </a:moveTo>
                    <a:lnTo>
                      <a:pt x="5829300" y="0"/>
                    </a:lnTo>
                    <a:cubicBezTo>
                      <a:pt x="5871384" y="0"/>
                      <a:pt x="5905500" y="34116"/>
                      <a:pt x="5905500" y="76200"/>
                    </a:cubicBezTo>
                    <a:lnTo>
                      <a:pt x="5905500" y="400050"/>
                    </a:lnTo>
                    <a:cubicBezTo>
                      <a:pt x="5905500" y="442134"/>
                      <a:pt x="5871384" y="476250"/>
                      <a:pt x="5829300" y="476250"/>
                    </a:cubicBezTo>
                    <a:lnTo>
                      <a:pt x="76200" y="476250"/>
                    </a:lnTo>
                    <a:cubicBezTo>
                      <a:pt x="34116" y="476250"/>
                      <a:pt x="0" y="442134"/>
                      <a:pt x="0" y="400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708904" y="5699760"/>
                <a:ext cx="38027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核心结论：实时数据 + AI洞察 = 营销决策自动化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10694556" y="6673691"/>
            <a:ext cx="930707" cy="161925"/>
            <a:chOff x="10694556" y="6673691"/>
            <a:chExt cx="930707" cy="161925"/>
          </a:xfrm>
        </p:grpSpPr>
        <p:sp>
          <p:nvSpPr>
            <p:cNvPr id="45" name="TextBox 45"/>
            <p:cNvSpPr txBox="1"/>
            <p:nvPr/>
          </p:nvSpPr>
          <p:spPr>
            <a:xfrm>
              <a:off x="10694556" y="6673691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62000" y="0"/>
              <a:ext cx="11430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66166" y="362902"/>
            <a:ext cx="11059096" cy="6186964"/>
            <a:chOff x="566166" y="362902"/>
            <a:chExt cx="11059096" cy="6186964"/>
          </a:xfrm>
        </p:grpSpPr>
        <p:sp>
          <p:nvSpPr>
            <p:cNvPr id="5" name="Line 5"/>
            <p:cNvSpPr/>
            <p:nvPr/>
          </p:nvSpPr>
          <p:spPr>
            <a:xfrm>
              <a:off x="571500" y="571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166" y="362902"/>
              <a:ext cx="6379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系统比较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5849" y="63879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/ 8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571500" y="756285"/>
            <a:ext cx="11049000" cy="5339715"/>
            <a:chOff x="571500" y="756285"/>
            <a:chExt cx="11049000" cy="5339715"/>
          </a:xfrm>
        </p:grpSpPr>
        <p:sp>
          <p:nvSpPr>
            <p:cNvPr id="10" name="TextBox 10"/>
            <p:cNvSpPr txBox="1"/>
            <p:nvPr/>
          </p:nvSpPr>
          <p:spPr>
            <a:xfrm>
              <a:off x="4469282" y="756285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四大模块能力对标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32148" y="120396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对比关键变量、参与方立场或不同路径下的影响差异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71500" y="1571625"/>
              <a:ext cx="2619375" cy="4524375"/>
              <a:chOff x="571500" y="1571625"/>
              <a:chExt cx="2619375" cy="45243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71500" y="1571625"/>
                <a:ext cx="2619375" cy="4524375"/>
              </a:xfrm>
              <a:custGeom>
                <a:avLst/>
                <a:gdLst/>
                <a:ahLst/>
                <a:cxnLst/>
                <a:rect l="l" t="t" r="r" b="b"/>
                <a:pathLst>
                  <a:path w="2619375" h="4524375">
                    <a:moveTo>
                      <a:pt x="114300" y="0"/>
                    </a:moveTo>
                    <a:lnTo>
                      <a:pt x="2505075" y="0"/>
                    </a:lnTo>
                    <a:cubicBezTo>
                      <a:pt x="2568201" y="0"/>
                      <a:pt x="2619375" y="51174"/>
                      <a:pt x="2619375" y="114300"/>
                    </a:cubicBezTo>
                    <a:lnTo>
                      <a:pt x="2619375" y="4410075"/>
                    </a:lnTo>
                    <a:cubicBezTo>
                      <a:pt x="2619375" y="4473201"/>
                      <a:pt x="2568201" y="4524375"/>
                      <a:pt x="2505075" y="4524375"/>
                    </a:cubicBezTo>
                    <a:lnTo>
                      <a:pt x="114300" y="4524375"/>
                    </a:lnTo>
                    <a:cubicBezTo>
                      <a:pt x="51174" y="4524375"/>
                      <a:pt x="0" y="4473201"/>
                      <a:pt x="0" y="4410075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71500" y="1571625"/>
                <a:ext cx="261937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619375" h="762000">
                    <a:moveTo>
                      <a:pt x="114300" y="0"/>
                    </a:moveTo>
                    <a:lnTo>
                      <a:pt x="2505075" y="0"/>
                    </a:lnTo>
                    <a:cubicBezTo>
                      <a:pt x="2568201" y="0"/>
                      <a:pt x="2619375" y="51174"/>
                      <a:pt x="2619375" y="114300"/>
                    </a:cubicBezTo>
                    <a:lnTo>
                      <a:pt x="2619375" y="647700"/>
                    </a:lnTo>
                    <a:cubicBezTo>
                      <a:pt x="2619375" y="710826"/>
                      <a:pt x="2568201" y="762000"/>
                      <a:pt x="2505075" y="762000"/>
                    </a:cubicBezTo>
                    <a:lnTo>
                      <a:pt x="114300" y="762000"/>
                    </a:lnTo>
                    <a:cubicBezTo>
                      <a:pt x="51174" y="762000"/>
                      <a:pt x="0" y="710826"/>
                      <a:pt x="0" y="64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71500" y="2095500"/>
                <a:ext cx="2619375" cy="23812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528900" y="1760220"/>
                <a:ext cx="69505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MODULE 01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420749" y="1885950"/>
                <a:ext cx="9113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数据整合</a:t>
                </a:r>
              </a:p>
            </p:txBody>
          </p:sp>
          <p:grpSp>
            <p:nvGrpSpPr>
              <p:cNvPr id="22" name="Group 22"/>
              <p:cNvGrpSpPr/>
              <p:nvPr/>
            </p:nvGrpSpPr>
            <p:grpSpPr>
              <a:xfrm>
                <a:off x="1695450" y="2428875"/>
                <a:ext cx="238125" cy="190500"/>
                <a:chOff x="1695450" y="2428875"/>
                <a:chExt cx="238125" cy="190500"/>
              </a:xfrm>
            </p:grpSpPr>
            <p:sp>
              <p:nvSpPr>
                <p:cNvPr id="17" name="Ellipse 17"/>
                <p:cNvSpPr/>
                <p:nvPr/>
              </p:nvSpPr>
              <p:spPr>
                <a:xfrm>
                  <a:off x="1695450" y="2428875"/>
                  <a:ext cx="228600" cy="95250"/>
                </a:xfrm>
                <a:prstGeom prst="ellipse">
                  <a:avLst/>
                </a:pr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695450" y="2476500"/>
                  <a:ext cx="22860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42875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21539"/>
                        <a:pt x="51149" y="142875"/>
                        <a:pt x="114300" y="142875"/>
                      </a:cubicBezTo>
                      <a:cubicBezTo>
                        <a:pt x="177451" y="142875"/>
                        <a:pt x="228600" y="121539"/>
                        <a:pt x="228600" y="95250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9" name="Ellipse 19"/>
                <p:cNvSpPr/>
                <p:nvPr/>
              </p:nvSpPr>
              <p:spPr>
                <a:xfrm>
                  <a:off x="1695450" y="2524125"/>
                  <a:ext cx="228600" cy="95250"/>
                </a:xfrm>
                <a:prstGeom prst="ellipse">
                  <a:avLst/>
                </a:pr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0" name="Line 20"/>
                <p:cNvSpPr/>
                <p:nvPr/>
              </p:nvSpPr>
              <p:spPr>
                <a:xfrm>
                  <a:off x="1695450" y="2524125"/>
                  <a:ext cx="95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0">
                      <a:moveTo>
                        <a:pt x="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1" name="Line 21"/>
                <p:cNvSpPr/>
                <p:nvPr/>
              </p:nvSpPr>
              <p:spPr>
                <a:xfrm>
                  <a:off x="1924050" y="2524125"/>
                  <a:ext cx="95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0">
                      <a:moveTo>
                        <a:pt x="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458020" y="2799874"/>
                <a:ext cx="83680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全域数据中枢</a:t>
                </a:r>
              </a:p>
            </p:txBody>
          </p:sp>
          <p:grpSp>
            <p:nvGrpSpPr>
              <p:cNvPr id="31" name="Group 31"/>
              <p:cNvGrpSpPr/>
              <p:nvPr/>
            </p:nvGrpSpPr>
            <p:grpSpPr>
              <a:xfrm>
                <a:off x="756666" y="3172778"/>
                <a:ext cx="2100834" cy="1361122"/>
                <a:chOff x="756666" y="3172778"/>
                <a:chExt cx="2100834" cy="1361122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756666" y="3172778"/>
                  <a:ext cx="129509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CRM/ERP/电商平台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56666" y="3410902"/>
                  <a:ext cx="154152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  <a:r>
                    <a:rPr lang="en-US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媒体广告API统一接入</a:t>
                  </a:r>
                </a:p>
              </p:txBody>
            </p:sp>
            <p:sp>
              <p:nvSpPr>
                <p:cNvPr id="26" name="Line 26"/>
                <p:cNvSpPr/>
                <p:nvPr/>
              </p:nvSpPr>
              <p:spPr>
                <a:xfrm>
                  <a:off x="762000" y="366712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756666" y="3839528"/>
                  <a:ext cx="97892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  <a:r>
                    <a:rPr lang="en-US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跨源标签融合</a:t>
                  </a:r>
                </a:p>
              </p:txBody>
            </p:sp>
            <p:sp>
              <p:nvSpPr>
                <p:cNvPr id="28" name="Line 28"/>
                <p:cNvSpPr/>
                <p:nvPr/>
              </p:nvSpPr>
              <p:spPr>
                <a:xfrm>
                  <a:off x="762000" y="4095750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56666" y="4268152"/>
                  <a:ext cx="97892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  <a:r>
                    <a:rPr lang="en-US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数据质量监控</a:t>
                  </a:r>
                </a:p>
              </p:txBody>
            </p:sp>
            <p:sp>
              <p:nvSpPr>
                <p:cNvPr id="30" name="Line 30"/>
                <p:cNvSpPr/>
                <p:nvPr/>
              </p:nvSpPr>
              <p:spPr>
                <a:xfrm>
                  <a:off x="762000" y="452437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</p:grpSp>
        </p:grpSp>
        <p:grpSp>
          <p:nvGrpSpPr>
            <p:cNvPr id="57" name="Group 57"/>
            <p:cNvGrpSpPr/>
            <p:nvPr/>
          </p:nvGrpSpPr>
          <p:grpSpPr>
            <a:xfrm>
              <a:off x="3381375" y="1571625"/>
              <a:ext cx="2619375" cy="4524375"/>
              <a:chOff x="3381375" y="1571625"/>
              <a:chExt cx="2619375" cy="452437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3381375" y="1571625"/>
                <a:ext cx="2619375" cy="4524375"/>
              </a:xfrm>
              <a:custGeom>
                <a:avLst/>
                <a:gdLst/>
                <a:ahLst/>
                <a:cxnLst/>
                <a:rect l="l" t="t" r="r" b="b"/>
                <a:pathLst>
                  <a:path w="2619375" h="4524375">
                    <a:moveTo>
                      <a:pt x="114300" y="0"/>
                    </a:moveTo>
                    <a:lnTo>
                      <a:pt x="2505075" y="0"/>
                    </a:lnTo>
                    <a:cubicBezTo>
                      <a:pt x="2568201" y="0"/>
                      <a:pt x="2619375" y="51174"/>
                      <a:pt x="2619375" y="114300"/>
                    </a:cubicBezTo>
                    <a:lnTo>
                      <a:pt x="2619375" y="4410075"/>
                    </a:lnTo>
                    <a:cubicBezTo>
                      <a:pt x="2619375" y="4473201"/>
                      <a:pt x="2568201" y="4524375"/>
                      <a:pt x="2505075" y="4524375"/>
                    </a:cubicBezTo>
                    <a:lnTo>
                      <a:pt x="114300" y="4524375"/>
                    </a:lnTo>
                    <a:cubicBezTo>
                      <a:pt x="51174" y="4524375"/>
                      <a:pt x="0" y="4473201"/>
                      <a:pt x="0" y="4410075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381375" y="1571625"/>
                <a:ext cx="261937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619375" h="762000">
                    <a:moveTo>
                      <a:pt x="114300" y="0"/>
                    </a:moveTo>
                    <a:lnTo>
                      <a:pt x="2505075" y="0"/>
                    </a:lnTo>
                    <a:cubicBezTo>
                      <a:pt x="2568201" y="0"/>
                      <a:pt x="2619375" y="51174"/>
                      <a:pt x="2619375" y="114300"/>
                    </a:cubicBezTo>
                    <a:lnTo>
                      <a:pt x="2619375" y="647700"/>
                    </a:lnTo>
                    <a:cubicBezTo>
                      <a:pt x="2619375" y="710826"/>
                      <a:pt x="2568201" y="762000"/>
                      <a:pt x="2505075" y="762000"/>
                    </a:cubicBezTo>
                    <a:lnTo>
                      <a:pt x="114300" y="762000"/>
                    </a:lnTo>
                    <a:cubicBezTo>
                      <a:pt x="51174" y="762000"/>
                      <a:pt x="0" y="710826"/>
                      <a:pt x="0" y="64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3381375" y="2095500"/>
                <a:ext cx="2619375" cy="23812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338775" y="1760220"/>
                <a:ext cx="69505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MODULE 02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291032" y="1885950"/>
                <a:ext cx="7905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AI分析</a:t>
                </a:r>
              </a:p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4492625" y="2428875"/>
                <a:ext cx="254000" cy="190500"/>
                <a:chOff x="4492625" y="2428875"/>
                <a:chExt cx="254000" cy="190500"/>
              </a:xfrm>
            </p:grpSpPr>
            <p:sp>
              <p:nvSpPr>
                <p:cNvPr id="38" name="Ellipse 38"/>
                <p:cNvSpPr/>
                <p:nvPr/>
              </p:nvSpPr>
              <p:spPr>
                <a:xfrm>
                  <a:off x="4524375" y="2428875"/>
                  <a:ext cx="190500" cy="190500"/>
                </a:xfrm>
                <a:prstGeom prst="ellipse">
                  <a:avLst/>
                </a:pr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9" name="Ellipse 39"/>
                <p:cNvSpPr/>
                <p:nvPr/>
              </p:nvSpPr>
              <p:spPr>
                <a:xfrm>
                  <a:off x="4552950" y="2486025"/>
                  <a:ext cx="38100" cy="38100"/>
                </a:xfrm>
                <a:prstGeom prst="ellipse">
                  <a:avLst/>
                </a:pr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40" name="Ellipse 40"/>
                <p:cNvSpPr/>
                <p:nvPr/>
              </p:nvSpPr>
              <p:spPr>
                <a:xfrm>
                  <a:off x="4648200" y="2486025"/>
                  <a:ext cx="38100" cy="38100"/>
                </a:xfrm>
                <a:prstGeom prst="ellipse">
                  <a:avLst/>
                </a:pr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4572000" y="2552700"/>
                  <a:ext cx="952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9050">
                      <a:moveTo>
                        <a:pt x="0" y="0"/>
                      </a:moveTo>
                      <a:cubicBezTo>
                        <a:pt x="19050" y="19050"/>
                        <a:pt x="76200" y="19050"/>
                        <a:pt x="95250" y="0"/>
                      </a:cubicBez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4492625" y="2476500"/>
                  <a:ext cx="317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0">
                      <a:moveTo>
                        <a:pt x="31750" y="0"/>
                      </a:moveTo>
                      <a:cubicBezTo>
                        <a:pt x="0" y="31750"/>
                        <a:pt x="0" y="63500"/>
                        <a:pt x="31750" y="95250"/>
                      </a:cubicBez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714875" y="2476500"/>
                  <a:ext cx="317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0">
                      <a:moveTo>
                        <a:pt x="0" y="0"/>
                      </a:moveTo>
                      <a:cubicBezTo>
                        <a:pt x="31750" y="31750"/>
                        <a:pt x="31750" y="63500"/>
                        <a:pt x="0" y="95250"/>
                      </a:cubicBez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44" name="Line 44"/>
                <p:cNvSpPr/>
                <p:nvPr/>
              </p:nvSpPr>
              <p:spPr>
                <a:xfrm>
                  <a:off x="4495800" y="252412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2857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  <p:sp>
              <p:nvSpPr>
                <p:cNvPr id="45" name="Line 45"/>
                <p:cNvSpPr/>
                <p:nvPr/>
              </p:nvSpPr>
              <p:spPr>
                <a:xfrm>
                  <a:off x="4714875" y="252412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4267895" y="2799874"/>
                <a:ext cx="83680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智能洞察引擎</a:t>
                </a:r>
              </a:p>
            </p:txBody>
          </p:sp>
          <p:grpSp>
            <p:nvGrpSpPr>
              <p:cNvPr id="56" name="Group 56"/>
              <p:cNvGrpSpPr/>
              <p:nvPr/>
            </p:nvGrpSpPr>
            <p:grpSpPr>
              <a:xfrm>
                <a:off x="3566541" y="3172778"/>
                <a:ext cx="2100834" cy="1361122"/>
                <a:chOff x="3566541" y="3172778"/>
                <a:chExt cx="2100834" cy="1361122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3566541" y="31727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客户分群自动化</a:t>
                  </a:r>
                </a:p>
              </p:txBody>
            </p:sp>
            <p:sp>
              <p:nvSpPr>
                <p:cNvPr id="49" name="Line 49"/>
                <p:cNvSpPr/>
                <p:nvPr/>
              </p:nvSpPr>
              <p:spPr>
                <a:xfrm>
                  <a:off x="3571875" y="338137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3566541" y="3553778"/>
                  <a:ext cx="97892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  <a:r>
                    <a:rPr lang="en-US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流失预警模型</a:t>
                  </a:r>
                </a:p>
              </p:txBody>
            </p:sp>
            <p:sp>
              <p:nvSpPr>
                <p:cNvPr id="51" name="Line 51"/>
                <p:cNvSpPr/>
                <p:nvPr/>
              </p:nvSpPr>
              <p:spPr>
                <a:xfrm>
                  <a:off x="3571875" y="376237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3566541" y="3934778"/>
                  <a:ext cx="69622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  <a:r>
                    <a:rPr lang="en-US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归因分析</a:t>
                  </a:r>
                </a:p>
              </p:txBody>
            </p:sp>
            <p:sp>
              <p:nvSpPr>
                <p:cNvPr id="53" name="Line 53"/>
                <p:cNvSpPr/>
                <p:nvPr/>
              </p:nvSpPr>
              <p:spPr>
                <a:xfrm>
                  <a:off x="3571875" y="414337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3566541" y="4315778"/>
                  <a:ext cx="97892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  <a:r>
                    <a:rPr lang="en-US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内容创意推荐</a:t>
                  </a:r>
                </a:p>
              </p:txBody>
            </p:sp>
            <p:sp>
              <p:nvSpPr>
                <p:cNvPr id="55" name="Line 55"/>
                <p:cNvSpPr/>
                <p:nvPr/>
              </p:nvSpPr>
              <p:spPr>
                <a:xfrm>
                  <a:off x="3571875" y="452437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</p:grpSp>
        </p:grpSp>
        <p:grpSp>
          <p:nvGrpSpPr>
            <p:cNvPr id="76" name="Group 76"/>
            <p:cNvGrpSpPr/>
            <p:nvPr/>
          </p:nvGrpSpPr>
          <p:grpSpPr>
            <a:xfrm>
              <a:off x="6191250" y="1571625"/>
              <a:ext cx="2619375" cy="4524375"/>
              <a:chOff x="6191250" y="1571625"/>
              <a:chExt cx="2619375" cy="452437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191250" y="1571625"/>
                <a:ext cx="2619375" cy="4524375"/>
              </a:xfrm>
              <a:custGeom>
                <a:avLst/>
                <a:gdLst/>
                <a:ahLst/>
                <a:cxnLst/>
                <a:rect l="l" t="t" r="r" b="b"/>
                <a:pathLst>
                  <a:path w="2619375" h="4524375">
                    <a:moveTo>
                      <a:pt x="114300" y="0"/>
                    </a:moveTo>
                    <a:lnTo>
                      <a:pt x="2505075" y="0"/>
                    </a:lnTo>
                    <a:cubicBezTo>
                      <a:pt x="2568201" y="0"/>
                      <a:pt x="2619375" y="51174"/>
                      <a:pt x="2619375" y="114300"/>
                    </a:cubicBezTo>
                    <a:lnTo>
                      <a:pt x="2619375" y="4410075"/>
                    </a:lnTo>
                    <a:cubicBezTo>
                      <a:pt x="2619375" y="4473201"/>
                      <a:pt x="2568201" y="4524375"/>
                      <a:pt x="2505075" y="4524375"/>
                    </a:cubicBezTo>
                    <a:lnTo>
                      <a:pt x="114300" y="4524375"/>
                    </a:lnTo>
                    <a:cubicBezTo>
                      <a:pt x="51174" y="4524375"/>
                      <a:pt x="0" y="4473201"/>
                      <a:pt x="0" y="4410075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191250" y="1571625"/>
                <a:ext cx="261937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619375" h="762000">
                    <a:moveTo>
                      <a:pt x="114300" y="0"/>
                    </a:moveTo>
                    <a:lnTo>
                      <a:pt x="2505075" y="0"/>
                    </a:lnTo>
                    <a:cubicBezTo>
                      <a:pt x="2568201" y="0"/>
                      <a:pt x="2619375" y="51174"/>
                      <a:pt x="2619375" y="114300"/>
                    </a:cubicBezTo>
                    <a:lnTo>
                      <a:pt x="2619375" y="647700"/>
                    </a:lnTo>
                    <a:cubicBezTo>
                      <a:pt x="2619375" y="710826"/>
                      <a:pt x="2568201" y="762000"/>
                      <a:pt x="2505075" y="762000"/>
                    </a:cubicBezTo>
                    <a:lnTo>
                      <a:pt x="114300" y="762000"/>
                    </a:lnTo>
                    <a:cubicBezTo>
                      <a:pt x="51174" y="762000"/>
                      <a:pt x="0" y="710826"/>
                      <a:pt x="0" y="64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6191250" y="2095500"/>
                <a:ext cx="2619375" cy="23812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148650" y="1760220"/>
                <a:ext cx="69505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MODULE 03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928485" y="1885950"/>
                <a:ext cx="11353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自动化执行</a:t>
                </a:r>
              </a:p>
            </p:txBody>
          </p:sp>
          <p:grpSp>
            <p:nvGrpSpPr>
              <p:cNvPr id="65" name="Group 65"/>
              <p:cNvGrpSpPr/>
              <p:nvPr/>
            </p:nvGrpSpPr>
            <p:grpSpPr>
              <a:xfrm>
                <a:off x="7286625" y="2428875"/>
                <a:ext cx="285750" cy="200025"/>
                <a:chOff x="7286625" y="2428875"/>
                <a:chExt cx="285750" cy="200025"/>
              </a:xfrm>
            </p:grpSpPr>
            <p:sp>
              <p:nvSpPr>
                <p:cNvPr id="63" name="Ellipse 63"/>
                <p:cNvSpPr/>
                <p:nvPr/>
              </p:nvSpPr>
              <p:spPr>
                <a:xfrm>
                  <a:off x="7353300" y="2447925"/>
                  <a:ext cx="152400" cy="152400"/>
                </a:xfrm>
                <a:prstGeom prst="ellipse">
                  <a:avLst/>
                </a:pr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7286625" y="2428875"/>
                  <a:ext cx="2857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200025">
                      <a:moveTo>
                        <a:pt x="142875" y="0"/>
                      </a:moveTo>
                      <a:lnTo>
                        <a:pt x="142875" y="28575"/>
                      </a:lnTo>
                      <a:moveTo>
                        <a:pt x="142875" y="161925"/>
                      </a:moveTo>
                      <a:lnTo>
                        <a:pt x="142875" y="190500"/>
                      </a:lnTo>
                      <a:moveTo>
                        <a:pt x="247650" y="47625"/>
                      </a:moveTo>
                      <a:lnTo>
                        <a:pt x="228600" y="28575"/>
                      </a:lnTo>
                      <a:moveTo>
                        <a:pt x="57150" y="180975"/>
                      </a:moveTo>
                      <a:lnTo>
                        <a:pt x="38100" y="200025"/>
                      </a:lnTo>
                      <a:moveTo>
                        <a:pt x="0" y="47625"/>
                      </a:moveTo>
                      <a:lnTo>
                        <a:pt x="28575" y="57150"/>
                      </a:lnTo>
                      <a:moveTo>
                        <a:pt x="257175" y="142875"/>
                      </a:moveTo>
                      <a:lnTo>
                        <a:pt x="285750" y="133350"/>
                      </a:lnTo>
                      <a:moveTo>
                        <a:pt x="28575" y="28575"/>
                      </a:moveTo>
                      <a:lnTo>
                        <a:pt x="47625" y="47625"/>
                      </a:lnTo>
                      <a:moveTo>
                        <a:pt x="238125" y="161925"/>
                      </a:moveTo>
                      <a:lnTo>
                        <a:pt x="257175" y="142875"/>
                      </a:lnTo>
                    </a:path>
                  </a:pathLst>
                </a:custGeom>
                <a:solidFill>
                  <a:srgbClr val="000000"/>
                </a:solidFill>
                <a:ln w="19050" cap="rnd">
                  <a:solidFill>
                    <a:schemeClr val="accent2"/>
                  </a:solidFill>
                </a:ln>
              </p:spPr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7146679" y="2799874"/>
                <a:ext cx="69899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全渠道触发</a:t>
                </a:r>
              </a:p>
            </p:txBody>
          </p:sp>
          <p:grpSp>
            <p:nvGrpSpPr>
              <p:cNvPr id="75" name="Group 75"/>
              <p:cNvGrpSpPr/>
              <p:nvPr/>
            </p:nvGrpSpPr>
            <p:grpSpPr>
              <a:xfrm>
                <a:off x="6376416" y="3172778"/>
                <a:ext cx="2100834" cy="1361122"/>
                <a:chOff x="6376416" y="3172778"/>
                <a:chExt cx="2100834" cy="1361122"/>
              </a:xfrm>
            </p:grpSpPr>
            <p:sp>
              <p:nvSpPr>
                <p:cNvPr id="67" name="TextBox 67"/>
                <p:cNvSpPr txBox="1"/>
                <p:nvPr/>
              </p:nvSpPr>
              <p:spPr>
                <a:xfrm>
                  <a:off x="6376416" y="3172778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多触点工作流编排</a:t>
                  </a:r>
                </a:p>
              </p:txBody>
            </p:sp>
            <p:sp>
              <p:nvSpPr>
                <p:cNvPr id="68" name="Line 68"/>
                <p:cNvSpPr/>
                <p:nvPr/>
              </p:nvSpPr>
              <p:spPr>
                <a:xfrm>
                  <a:off x="6381750" y="338137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6376416" y="3553778"/>
                  <a:ext cx="97892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  <a:r>
                    <a:rPr lang="en-US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事件驱动推送</a:t>
                  </a:r>
                </a:p>
              </p:txBody>
            </p:sp>
            <p:sp>
              <p:nvSpPr>
                <p:cNvPr id="70" name="Line 70"/>
                <p:cNvSpPr/>
                <p:nvPr/>
              </p:nvSpPr>
              <p:spPr>
                <a:xfrm>
                  <a:off x="6381750" y="376237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6376416" y="3934778"/>
                  <a:ext cx="113080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  <a:r>
                    <a:rPr lang="en-US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A/B自动化实验</a:t>
                  </a:r>
                </a:p>
              </p:txBody>
            </p:sp>
            <p:sp>
              <p:nvSpPr>
                <p:cNvPr id="72" name="Line 72"/>
                <p:cNvSpPr/>
                <p:nvPr/>
              </p:nvSpPr>
              <p:spPr>
                <a:xfrm>
                  <a:off x="6381750" y="414337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6376416" y="4315778"/>
                  <a:ext cx="113080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  <a:r>
                    <a:rPr lang="en-US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RPA流程机器人</a:t>
                  </a:r>
                </a:p>
              </p:txBody>
            </p:sp>
            <p:sp>
              <p:nvSpPr>
                <p:cNvPr id="74" name="Line 74"/>
                <p:cNvSpPr/>
                <p:nvPr/>
              </p:nvSpPr>
              <p:spPr>
                <a:xfrm>
                  <a:off x="6381750" y="452437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</p:grpSp>
        </p:grpSp>
        <p:grpSp>
          <p:nvGrpSpPr>
            <p:cNvPr id="98" name="Group 98"/>
            <p:cNvGrpSpPr/>
            <p:nvPr/>
          </p:nvGrpSpPr>
          <p:grpSpPr>
            <a:xfrm>
              <a:off x="9001125" y="1571625"/>
              <a:ext cx="2619375" cy="4524375"/>
              <a:chOff x="9001125" y="1571625"/>
              <a:chExt cx="2619375" cy="4524375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9001125" y="1571625"/>
                <a:ext cx="2619375" cy="4524375"/>
              </a:xfrm>
              <a:custGeom>
                <a:avLst/>
                <a:gdLst/>
                <a:ahLst/>
                <a:cxnLst/>
                <a:rect l="l" t="t" r="r" b="b"/>
                <a:pathLst>
                  <a:path w="2619375" h="4524375">
                    <a:moveTo>
                      <a:pt x="114300" y="0"/>
                    </a:moveTo>
                    <a:lnTo>
                      <a:pt x="2505075" y="0"/>
                    </a:lnTo>
                    <a:cubicBezTo>
                      <a:pt x="2568201" y="0"/>
                      <a:pt x="2619375" y="51174"/>
                      <a:pt x="2619375" y="114300"/>
                    </a:cubicBezTo>
                    <a:lnTo>
                      <a:pt x="2619375" y="4410075"/>
                    </a:lnTo>
                    <a:cubicBezTo>
                      <a:pt x="2619375" y="4473201"/>
                      <a:pt x="2568201" y="4524375"/>
                      <a:pt x="2505075" y="4524375"/>
                    </a:cubicBezTo>
                    <a:lnTo>
                      <a:pt x="114300" y="4524375"/>
                    </a:lnTo>
                    <a:cubicBezTo>
                      <a:pt x="51174" y="4524375"/>
                      <a:pt x="0" y="4473201"/>
                      <a:pt x="0" y="4410075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001125" y="1571625"/>
                <a:ext cx="261937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619375" h="762000">
                    <a:moveTo>
                      <a:pt x="114300" y="0"/>
                    </a:moveTo>
                    <a:lnTo>
                      <a:pt x="2505075" y="0"/>
                    </a:lnTo>
                    <a:cubicBezTo>
                      <a:pt x="2568201" y="0"/>
                      <a:pt x="2619375" y="51174"/>
                      <a:pt x="2619375" y="114300"/>
                    </a:cubicBezTo>
                    <a:lnTo>
                      <a:pt x="2619375" y="647700"/>
                    </a:lnTo>
                    <a:cubicBezTo>
                      <a:pt x="2619375" y="710826"/>
                      <a:pt x="2568201" y="762000"/>
                      <a:pt x="2505075" y="762000"/>
                    </a:cubicBezTo>
                    <a:lnTo>
                      <a:pt x="114300" y="762000"/>
                    </a:lnTo>
                    <a:cubicBezTo>
                      <a:pt x="51174" y="762000"/>
                      <a:pt x="0" y="710826"/>
                      <a:pt x="0" y="64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9001125" y="2095500"/>
                <a:ext cx="2619375" cy="23812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9958525" y="1760220"/>
                <a:ext cx="69505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MODULE 04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850374" y="1885950"/>
                <a:ext cx="9113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效果度量</a:t>
                </a:r>
              </a:p>
            </p:txBody>
          </p:sp>
          <p:grpSp>
            <p:nvGrpSpPr>
              <p:cNvPr id="87" name="Group 87"/>
              <p:cNvGrpSpPr/>
              <p:nvPr/>
            </p:nvGrpSpPr>
            <p:grpSpPr>
              <a:xfrm>
                <a:off x="10096500" y="2428875"/>
                <a:ext cx="276225" cy="219075"/>
                <a:chOff x="10096500" y="2428875"/>
                <a:chExt cx="276225" cy="219075"/>
              </a:xfrm>
            </p:grpSpPr>
            <p:sp>
              <p:nvSpPr>
                <p:cNvPr id="82" name="Rectangle 82"/>
                <p:cNvSpPr/>
                <p:nvPr/>
              </p:nvSpPr>
              <p:spPr>
                <a:xfrm>
                  <a:off x="10096500" y="2543175"/>
                  <a:ext cx="47625" cy="952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83" name="Rectangle 83"/>
                <p:cNvSpPr/>
                <p:nvPr/>
              </p:nvSpPr>
              <p:spPr>
                <a:xfrm>
                  <a:off x="10172700" y="2486025"/>
                  <a:ext cx="47625" cy="1524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84" name="Rectangle 84"/>
                <p:cNvSpPr/>
                <p:nvPr/>
              </p:nvSpPr>
              <p:spPr>
                <a:xfrm>
                  <a:off x="10248900" y="2428875"/>
                  <a:ext cx="47625" cy="2095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85" name="Rectangle 85"/>
                <p:cNvSpPr/>
                <p:nvPr/>
              </p:nvSpPr>
              <p:spPr>
                <a:xfrm>
                  <a:off x="10325100" y="2514600"/>
                  <a:ext cx="47625" cy="123825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6" name="Line 86"/>
                <p:cNvSpPr/>
                <p:nvPr/>
              </p:nvSpPr>
              <p:spPr>
                <a:xfrm>
                  <a:off x="10096500" y="2638425"/>
                  <a:ext cx="2762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225" h="9525">
                      <a:moveTo>
                        <a:pt x="0" y="0"/>
                      </a:moveTo>
                      <a:lnTo>
                        <a:pt x="276225" y="0"/>
                      </a:lnTo>
                    </a:path>
                  </a:pathLst>
                </a:custGeom>
                <a:noFill/>
                <a:ln w="14288">
                  <a:solidFill>
                    <a:schemeClr val="accent1"/>
                  </a:solidFill>
                </a:ln>
              </p:spPr>
            </p:sp>
          </p:grpSp>
          <p:sp>
            <p:nvSpPr>
              <p:cNvPr id="88" name="TextBox 88"/>
              <p:cNvSpPr txBox="1"/>
              <p:nvPr/>
            </p:nvSpPr>
            <p:spPr>
              <a:xfrm>
                <a:off x="9820557" y="2799874"/>
                <a:ext cx="97098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ROI闭环仪表盘</a:t>
                </a:r>
              </a:p>
            </p:txBody>
          </p:sp>
          <p:grpSp>
            <p:nvGrpSpPr>
              <p:cNvPr id="97" name="Group 97"/>
              <p:cNvGrpSpPr/>
              <p:nvPr/>
            </p:nvGrpSpPr>
            <p:grpSpPr>
              <a:xfrm>
                <a:off x="9186291" y="3172778"/>
                <a:ext cx="2100834" cy="1361122"/>
                <a:chOff x="9186291" y="3172778"/>
                <a:chExt cx="2100834" cy="1361122"/>
              </a:xfrm>
            </p:grpSpPr>
            <p:sp>
              <p:nvSpPr>
                <p:cNvPr id="89" name="TextBox 89"/>
                <p:cNvSpPr txBox="1"/>
                <p:nvPr/>
              </p:nvSpPr>
              <p:spPr>
                <a:xfrm>
                  <a:off x="9186291" y="317277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实时归因看板</a:t>
                  </a:r>
                </a:p>
              </p:txBody>
            </p:sp>
            <p:sp>
              <p:nvSpPr>
                <p:cNvPr id="90" name="Line 90"/>
                <p:cNvSpPr/>
                <p:nvPr/>
              </p:nvSpPr>
              <p:spPr>
                <a:xfrm>
                  <a:off x="9191625" y="338137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9186291" y="3553778"/>
                  <a:ext cx="83757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  <a:r>
                    <a:rPr lang="en-US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渠道贡献度</a:t>
                  </a:r>
                </a:p>
              </p:txBody>
            </p:sp>
            <p:sp>
              <p:nvSpPr>
                <p:cNvPr id="92" name="Line 92"/>
                <p:cNvSpPr/>
                <p:nvPr/>
              </p:nvSpPr>
              <p:spPr>
                <a:xfrm>
                  <a:off x="9191625" y="376237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9186291" y="3934778"/>
                  <a:ext cx="97892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  <a:r>
                    <a:rPr lang="en-US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预算优化建议</a:t>
                  </a:r>
                </a:p>
              </p:txBody>
            </p:sp>
            <p:sp>
              <p:nvSpPr>
                <p:cNvPr id="94" name="Line 94"/>
                <p:cNvSpPr/>
                <p:nvPr/>
              </p:nvSpPr>
              <p:spPr>
                <a:xfrm>
                  <a:off x="9191625" y="414337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  <p:sp>
              <p:nvSpPr>
                <p:cNvPr id="95" name="TextBox 95"/>
                <p:cNvSpPr txBox="1"/>
                <p:nvPr/>
              </p:nvSpPr>
              <p:spPr>
                <a:xfrm>
                  <a:off x="9186291" y="4315778"/>
                  <a:ext cx="67528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→</a:t>
                  </a:r>
                  <a:r>
                    <a:rPr lang="en-US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 </a:t>
                  </a:r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ROI预测</a:t>
                  </a:r>
                </a:p>
              </p:txBody>
            </p:sp>
            <p:sp>
              <p:nvSpPr>
                <p:cNvPr id="96" name="Line 96"/>
                <p:cNvSpPr/>
                <p:nvPr/>
              </p:nvSpPr>
              <p:spPr>
                <a:xfrm>
                  <a:off x="9191625" y="4524375"/>
                  <a:ext cx="2095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0" h="9525">
                      <a:moveTo>
                        <a:pt x="0" y="0"/>
                      </a:moveTo>
                      <a:lnTo>
                        <a:pt x="2095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</p:grpSp>
        </p:grpSp>
        <p:grpSp>
          <p:nvGrpSpPr>
            <p:cNvPr id="102" name="Group 102"/>
            <p:cNvGrpSpPr/>
            <p:nvPr/>
          </p:nvGrpSpPr>
          <p:grpSpPr>
            <a:xfrm>
              <a:off x="3190875" y="3810000"/>
              <a:ext cx="5810250" cy="9525"/>
              <a:chOff x="3190875" y="3810000"/>
              <a:chExt cx="5810250" cy="9525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3190875" y="38100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  <a:prstDash val="dash"/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6000750" y="38100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  <a:prstDash val="dash"/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810625" y="38100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  <a:prstDash val="dash"/>
              </a:ln>
            </p:spPr>
          </p:sp>
        </p:grpSp>
      </p:grpSp>
      <p:grpSp>
        <p:nvGrpSpPr>
          <p:cNvPr id="105" name="Group 105"/>
          <p:cNvGrpSpPr/>
          <p:nvPr/>
        </p:nvGrpSpPr>
        <p:grpSpPr>
          <a:xfrm>
            <a:off x="4958829" y="5864066"/>
            <a:ext cx="2274341" cy="161925"/>
            <a:chOff x="4958829" y="5864066"/>
            <a:chExt cx="2274341" cy="161925"/>
          </a:xfrm>
        </p:grpSpPr>
        <p:sp>
          <p:nvSpPr>
            <p:cNvPr id="104" name="TextBox 104"/>
            <p:cNvSpPr txBox="1"/>
            <p:nvPr/>
          </p:nvSpPr>
          <p:spPr>
            <a:xfrm>
              <a:off x="4958829" y="5864066"/>
              <a:ext cx="22743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数据整合 → AI分析 → 自动化执行 → 效果度量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66738" y="310991"/>
            <a:ext cx="11058524" cy="6166009"/>
            <a:chOff x="566738" y="310991"/>
            <a:chExt cx="11058524" cy="6166009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738" y="310991"/>
              <a:ext cx="6080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PROOFGRID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43681" y="3109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71500" y="6467475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94" name="Group 94"/>
          <p:cNvGrpSpPr/>
          <p:nvPr/>
        </p:nvGrpSpPr>
        <p:grpSpPr>
          <a:xfrm>
            <a:off x="557784" y="613410"/>
            <a:ext cx="11062716" cy="5149215"/>
            <a:chOff x="557784" y="613410"/>
            <a:chExt cx="11062716" cy="5149215"/>
          </a:xfrm>
        </p:grpSpPr>
        <p:sp>
          <p:nvSpPr>
            <p:cNvPr id="10" name="TextBox 10"/>
            <p:cNvSpPr txBox="1"/>
            <p:nvPr/>
          </p:nvSpPr>
          <p:spPr>
            <a:xfrm>
              <a:off x="557784" y="613410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客户验证与效果实证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880" y="102870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补充最值得引用的证据、事实锚点与支持判断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571500" y="1571625"/>
              <a:ext cx="3429000" cy="4191000"/>
              <a:chOff x="571500" y="1571625"/>
              <a:chExt cx="3429000" cy="4191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71500" y="1571625"/>
                <a:ext cx="34290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41910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51174"/>
                      <a:pt x="3429000" y="114300"/>
                    </a:cubicBezTo>
                    <a:lnTo>
                      <a:pt x="3429000" y="4076700"/>
                    </a:lnTo>
                    <a:cubicBezTo>
                      <a:pt x="3429000" y="4139826"/>
                      <a:pt x="3377826" y="4191000"/>
                      <a:pt x="3314700" y="4191000"/>
                    </a:cubicBezTo>
                    <a:lnTo>
                      <a:pt x="114300" y="4191000"/>
                    </a:lnTo>
                    <a:cubicBezTo>
                      <a:pt x="51174" y="4191000"/>
                      <a:pt x="0" y="4139826"/>
                      <a:pt x="0" y="4076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71500" y="1571625"/>
                <a:ext cx="3429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762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17058"/>
                      <a:pt x="3429000" y="38100"/>
                    </a:cubicBezTo>
                    <a:lnTo>
                      <a:pt x="3429000" y="38100"/>
                    </a:lnTo>
                    <a:cubicBezTo>
                      <a:pt x="3429000" y="59142"/>
                      <a:pt x="3377826" y="76200"/>
                      <a:pt x="3314700" y="76200"/>
                    </a:cubicBezTo>
                    <a:lnTo>
                      <a:pt x="114300" y="76200"/>
                    </a:lnTo>
                    <a:cubicBezTo>
                      <a:pt x="51174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51174" y="0"/>
                      <a:pt x="1143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alpha val="10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71500" y="1571625"/>
                <a:ext cx="3429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762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17058"/>
                      <a:pt x="3429000" y="38100"/>
                    </a:cubicBezTo>
                    <a:lnTo>
                      <a:pt x="3429000" y="38100"/>
                    </a:lnTo>
                    <a:cubicBezTo>
                      <a:pt x="3429000" y="59142"/>
                      <a:pt x="3377826" y="76200"/>
                      <a:pt x="3314700" y="76200"/>
                    </a:cubicBezTo>
                    <a:lnTo>
                      <a:pt x="114300" y="76200"/>
                    </a:lnTo>
                    <a:cubicBezTo>
                      <a:pt x="51174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762000" y="1857375"/>
                <a:ext cx="381000" cy="381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76300" y="19716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lnTo>
                      <a:pt x="76200" y="0"/>
                    </a:lnTo>
                    <a:lnTo>
                      <a:pt x="152400" y="76200"/>
                    </a:lnTo>
                    <a:moveTo>
                      <a:pt x="76200" y="0"/>
                    </a:moveTo>
                    <a:lnTo>
                      <a:pt x="76200" y="15240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round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32916" y="1915478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零售品牌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33488" y="2103120"/>
                <a:ext cx="6153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全渠道激活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762000" y="247650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746760" y="2628900"/>
                <a:ext cx="859384" cy="625411"/>
                <a:chOff x="746760" y="2628900"/>
                <a:chExt cx="859384" cy="625411"/>
              </a:xfrm>
            </p:grpSpPr>
            <p:sp>
              <p:nvSpPr>
                <p:cNvPr id="20" name="TextBox 20"/>
                <p:cNvSpPr txBox="1"/>
                <p:nvPr/>
              </p:nvSpPr>
              <p:spPr>
                <a:xfrm>
                  <a:off x="746760" y="2628900"/>
                  <a:ext cx="85938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31%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756666" y="3048952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复购率提升</a:t>
                  </a: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2175510" y="2628900"/>
                <a:ext cx="859384" cy="625411"/>
                <a:chOff x="2175510" y="2628900"/>
                <a:chExt cx="859384" cy="625411"/>
              </a:xfrm>
            </p:grpSpPr>
            <p:sp>
              <p:nvSpPr>
                <p:cNvPr id="23" name="TextBox 23"/>
                <p:cNvSpPr txBox="1"/>
                <p:nvPr/>
              </p:nvSpPr>
              <p:spPr>
                <a:xfrm>
                  <a:off x="2175510" y="2628900"/>
                  <a:ext cx="85938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18%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185416" y="3048952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客单价提升</a:t>
                  </a:r>
                </a:p>
              </p:txBody>
            </p:sp>
          </p:grpSp>
          <p:sp>
            <p:nvSpPr>
              <p:cNvPr id="26" name="Line 26"/>
              <p:cNvSpPr/>
              <p:nvPr/>
            </p:nvSpPr>
            <p:spPr>
              <a:xfrm>
                <a:off x="762000" y="3381375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781050" y="3572828"/>
                <a:ext cx="1102633" cy="205359"/>
                <a:chOff x="781050" y="3572828"/>
                <a:chExt cx="1102633" cy="205359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781050" y="3609975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947166" y="3572828"/>
                  <a:ext cx="93651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接入8个数据源</a:t>
                  </a:r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781050" y="3906202"/>
                <a:ext cx="1307592" cy="205359"/>
                <a:chOff x="781050" y="3906202"/>
                <a:chExt cx="1307592" cy="205359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781050" y="394335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947166" y="3906202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构建统一客户视图</a:t>
                  </a: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781050" y="4239578"/>
                <a:ext cx="1349197" cy="205359"/>
                <a:chOff x="781050" y="4239578"/>
                <a:chExt cx="1349197" cy="205359"/>
              </a:xfrm>
            </p:grpSpPr>
            <p:sp>
              <p:nvSpPr>
                <p:cNvPr id="33" name="Ellipse 33"/>
                <p:cNvSpPr/>
                <p:nvPr/>
              </p:nvSpPr>
              <p:spPr>
                <a:xfrm>
                  <a:off x="781050" y="4276725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947166" y="4239578"/>
                  <a:ext cx="118308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AI分群后精准推送</a:t>
                  </a:r>
                </a:p>
              </p:txBody>
            </p:sp>
          </p:grpSp>
          <p:sp>
            <p:nvSpPr>
              <p:cNvPr id="36" name="Freeform 36"/>
              <p:cNvSpPr/>
              <p:nvPr/>
            </p:nvSpPr>
            <p:spPr>
              <a:xfrm>
                <a:off x="762000" y="4714875"/>
                <a:ext cx="3048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762000">
                    <a:moveTo>
                      <a:pt x="76200" y="0"/>
                    </a:moveTo>
                    <a:lnTo>
                      <a:pt x="2971800" y="0"/>
                    </a:lnTo>
                    <a:cubicBezTo>
                      <a:pt x="3013884" y="0"/>
                      <a:pt x="3048000" y="34116"/>
                      <a:pt x="3048000" y="76200"/>
                    </a:cubicBezTo>
                    <a:lnTo>
                      <a:pt x="3048000" y="685800"/>
                    </a:lnTo>
                    <a:cubicBezTo>
                      <a:pt x="3048000" y="727884"/>
                      <a:pt x="3013884" y="762000"/>
                      <a:pt x="2971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947738" y="490347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核心动作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46404" y="5109210"/>
                <a:ext cx="25481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CRM + 电商 + 媒体广告统一接入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4381500" y="1571625"/>
              <a:ext cx="3429000" cy="4191000"/>
              <a:chOff x="4381500" y="1571625"/>
              <a:chExt cx="3429000" cy="41910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4381500" y="1571625"/>
                <a:ext cx="34290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41910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51174"/>
                      <a:pt x="3429000" y="114300"/>
                    </a:cubicBezTo>
                    <a:lnTo>
                      <a:pt x="3429000" y="4076700"/>
                    </a:lnTo>
                    <a:cubicBezTo>
                      <a:pt x="3429000" y="4139826"/>
                      <a:pt x="3377826" y="4191000"/>
                      <a:pt x="3314700" y="4191000"/>
                    </a:cubicBezTo>
                    <a:lnTo>
                      <a:pt x="114300" y="4191000"/>
                    </a:lnTo>
                    <a:cubicBezTo>
                      <a:pt x="51174" y="4191000"/>
                      <a:pt x="0" y="4139826"/>
                      <a:pt x="0" y="4076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381500" y="1571625"/>
                <a:ext cx="3429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762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17058"/>
                      <a:pt x="3429000" y="38100"/>
                    </a:cubicBezTo>
                    <a:lnTo>
                      <a:pt x="3429000" y="38100"/>
                    </a:lnTo>
                    <a:cubicBezTo>
                      <a:pt x="3429000" y="59142"/>
                      <a:pt x="3377826" y="76200"/>
                      <a:pt x="3314700" y="76200"/>
                    </a:cubicBezTo>
                    <a:lnTo>
                      <a:pt x="114300" y="76200"/>
                    </a:lnTo>
                    <a:cubicBezTo>
                      <a:pt x="51174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4572000" y="1857375"/>
                <a:ext cx="381000" cy="381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686300" y="1905000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0" y="95250"/>
                    </a:moveTo>
                    <a:lnTo>
                      <a:pt x="76200" y="171450"/>
                    </a:lnTo>
                    <a:lnTo>
                      <a:pt x="152400" y="95250"/>
                    </a:lnTo>
                    <a:moveTo>
                      <a:pt x="76200" y="0"/>
                    </a:moveTo>
                    <a:lnTo>
                      <a:pt x="76200" y="17145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round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042916" y="1915478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金融客户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043488" y="2103120"/>
                <a:ext cx="6153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自动化运营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4572000" y="247650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4556760" y="2628900"/>
                <a:ext cx="1525962" cy="625411"/>
                <a:chOff x="4556760" y="2628900"/>
                <a:chExt cx="1525962" cy="625411"/>
              </a:xfrm>
            </p:grpSpPr>
            <p:sp>
              <p:nvSpPr>
                <p:cNvPr id="47" name="TextBox 47"/>
                <p:cNvSpPr txBox="1"/>
                <p:nvPr/>
              </p:nvSpPr>
              <p:spPr>
                <a:xfrm>
                  <a:off x="4556760" y="2628900"/>
                  <a:ext cx="1240231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15min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4566666" y="3048952"/>
                  <a:ext cx="151605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响应时效（从48h压缩）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5985510" y="2628900"/>
                <a:ext cx="868680" cy="625411"/>
                <a:chOff x="5985510" y="2628900"/>
                <a:chExt cx="868680" cy="625411"/>
              </a:xfrm>
            </p:grpSpPr>
            <p:sp>
              <p:nvSpPr>
                <p:cNvPr id="50" name="TextBox 50"/>
                <p:cNvSpPr txBox="1"/>
                <p:nvPr/>
              </p:nvSpPr>
              <p:spPr>
                <a:xfrm>
                  <a:off x="5985510" y="2628900"/>
                  <a:ext cx="85938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80%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5995416" y="3048952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自动化覆盖率</a:t>
                  </a:r>
                </a:p>
              </p:txBody>
            </p:sp>
          </p:grpSp>
          <p:sp>
            <p:nvSpPr>
              <p:cNvPr id="53" name="Line 53"/>
              <p:cNvSpPr/>
              <p:nvPr/>
            </p:nvSpPr>
            <p:spPr>
              <a:xfrm>
                <a:off x="4572000" y="3381375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4591050" y="3572828"/>
                <a:ext cx="1717510" cy="205359"/>
                <a:chOff x="4591050" y="3572828"/>
                <a:chExt cx="1717510" cy="205359"/>
              </a:xfrm>
            </p:grpSpPr>
            <p:sp>
              <p:nvSpPr>
                <p:cNvPr id="54" name="Ellipse 54"/>
                <p:cNvSpPr/>
                <p:nvPr/>
              </p:nvSpPr>
              <p:spPr>
                <a:xfrm>
                  <a:off x="4591050" y="3609975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4757166" y="3572828"/>
                  <a:ext cx="155139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营销响应时效48h→15min</a:t>
                  </a:r>
                </a:p>
              </p:txBody>
            </p:sp>
          </p:grpSp>
          <p:grpSp>
            <p:nvGrpSpPr>
              <p:cNvPr id="59" name="Group 59"/>
              <p:cNvGrpSpPr/>
              <p:nvPr/>
            </p:nvGrpSpPr>
            <p:grpSpPr>
              <a:xfrm>
                <a:off x="4591050" y="3906202"/>
                <a:ext cx="1286389" cy="205359"/>
                <a:chOff x="4591050" y="3906202"/>
                <a:chExt cx="1286389" cy="205359"/>
              </a:xfrm>
            </p:grpSpPr>
            <p:sp>
              <p:nvSpPr>
                <p:cNvPr id="57" name="Ellipse 57"/>
                <p:cNvSpPr/>
                <p:nvPr/>
              </p:nvSpPr>
              <p:spPr>
                <a:xfrm>
                  <a:off x="4591050" y="394335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4757166" y="3906202"/>
                  <a:ext cx="112027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自动化覆盖率80%</a:t>
                  </a:r>
                </a:p>
              </p:txBody>
            </p:sp>
          </p:grpSp>
          <p:grpSp>
            <p:nvGrpSpPr>
              <p:cNvPr id="62" name="Group 62"/>
              <p:cNvGrpSpPr/>
              <p:nvPr/>
            </p:nvGrpSpPr>
            <p:grpSpPr>
              <a:xfrm>
                <a:off x="4591050" y="4239578"/>
                <a:ext cx="1569091" cy="205359"/>
                <a:chOff x="4591050" y="4239578"/>
                <a:chExt cx="1569091" cy="205359"/>
              </a:xfrm>
            </p:grpSpPr>
            <p:sp>
              <p:nvSpPr>
                <p:cNvPr id="60" name="Ellipse 60"/>
                <p:cNvSpPr/>
                <p:nvPr/>
              </p:nvSpPr>
              <p:spPr>
                <a:xfrm>
                  <a:off x="4591050" y="4276725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4757166" y="4239578"/>
                  <a:ext cx="140297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单客获取成本下降27%</a:t>
                  </a:r>
                </a:p>
              </p:txBody>
            </p:sp>
          </p:grpSp>
          <p:sp>
            <p:nvSpPr>
              <p:cNvPr id="63" name="Freeform 63"/>
              <p:cNvSpPr/>
              <p:nvPr/>
            </p:nvSpPr>
            <p:spPr>
              <a:xfrm>
                <a:off x="4572000" y="4714875"/>
                <a:ext cx="3048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762000">
                    <a:moveTo>
                      <a:pt x="76200" y="0"/>
                    </a:moveTo>
                    <a:lnTo>
                      <a:pt x="2971800" y="0"/>
                    </a:lnTo>
                    <a:cubicBezTo>
                      <a:pt x="3013884" y="0"/>
                      <a:pt x="3048000" y="34116"/>
                      <a:pt x="3048000" y="76200"/>
                    </a:cubicBezTo>
                    <a:lnTo>
                      <a:pt x="3048000" y="685800"/>
                    </a:lnTo>
                    <a:cubicBezTo>
                      <a:pt x="3048000" y="727884"/>
                      <a:pt x="3013884" y="762000"/>
                      <a:pt x="2971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4757738" y="490347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核心动作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4756404" y="5109210"/>
                <a:ext cx="22427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跨源标签融合 + 数据质量监控</a:t>
                </a: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8191500" y="1571625"/>
              <a:ext cx="3429000" cy="4191000"/>
              <a:chOff x="8191500" y="1571625"/>
              <a:chExt cx="3429000" cy="41910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191500" y="1571625"/>
                <a:ext cx="34290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41910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51174"/>
                      <a:pt x="3429000" y="114300"/>
                    </a:cubicBezTo>
                    <a:lnTo>
                      <a:pt x="3429000" y="4076700"/>
                    </a:lnTo>
                    <a:cubicBezTo>
                      <a:pt x="3429000" y="4139826"/>
                      <a:pt x="3377826" y="4191000"/>
                      <a:pt x="3314700" y="4191000"/>
                    </a:cubicBezTo>
                    <a:lnTo>
                      <a:pt x="114300" y="4191000"/>
                    </a:lnTo>
                    <a:cubicBezTo>
                      <a:pt x="51174" y="4191000"/>
                      <a:pt x="0" y="4139826"/>
                      <a:pt x="0" y="4076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91500" y="1571625"/>
                <a:ext cx="3429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762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17058"/>
                      <a:pt x="3429000" y="38100"/>
                    </a:cubicBezTo>
                    <a:lnTo>
                      <a:pt x="3429000" y="38100"/>
                    </a:lnTo>
                    <a:cubicBezTo>
                      <a:pt x="3429000" y="59142"/>
                      <a:pt x="3377826" y="76200"/>
                      <a:pt x="3314700" y="76200"/>
                    </a:cubicBezTo>
                    <a:lnTo>
                      <a:pt x="114300" y="76200"/>
                    </a:lnTo>
                    <a:cubicBezTo>
                      <a:pt x="51174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8382000" y="1857375"/>
                <a:ext cx="381000" cy="381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477250" y="19716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lnTo>
                      <a:pt x="76200" y="0"/>
                    </a:lnTo>
                    <a:lnTo>
                      <a:pt x="152400" y="76200"/>
                    </a:lnTo>
                    <a:lnTo>
                      <a:pt x="76200" y="152400"/>
                    </a:lnTo>
                    <a:close/>
                    <a:moveTo>
                      <a:pt x="38100" y="76200"/>
                    </a:moveTo>
                    <a:lnTo>
                      <a:pt x="114300" y="7620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round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8852916" y="1915478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电商平台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853488" y="2103120"/>
                <a:ext cx="37437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AI选品</a:t>
                </a:r>
              </a:p>
            </p:txBody>
          </p:sp>
          <p:sp>
            <p:nvSpPr>
              <p:cNvPr id="73" name="Line 73"/>
              <p:cNvSpPr/>
              <p:nvPr/>
            </p:nvSpPr>
            <p:spPr>
              <a:xfrm>
                <a:off x="8382000" y="247650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grpSp>
            <p:nvGrpSpPr>
              <p:cNvPr id="76" name="Group 76"/>
              <p:cNvGrpSpPr/>
              <p:nvPr/>
            </p:nvGrpSpPr>
            <p:grpSpPr>
              <a:xfrm>
                <a:off x="8366760" y="2628900"/>
                <a:ext cx="894283" cy="625411"/>
                <a:chOff x="8366760" y="2628900"/>
                <a:chExt cx="894283" cy="625411"/>
              </a:xfrm>
            </p:grpSpPr>
            <p:sp>
              <p:nvSpPr>
                <p:cNvPr id="74" name="TextBox 74"/>
                <p:cNvSpPr txBox="1"/>
                <p:nvPr/>
              </p:nvSpPr>
              <p:spPr>
                <a:xfrm>
                  <a:off x="8366760" y="2628900"/>
                  <a:ext cx="85938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85%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8376666" y="3048952"/>
                  <a:ext cx="88437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AI选品准确率</a:t>
                  </a:r>
                </a:p>
              </p:txBody>
            </p:sp>
          </p:grpSp>
          <p:grpSp>
            <p:nvGrpSpPr>
              <p:cNvPr id="79" name="Group 79"/>
              <p:cNvGrpSpPr/>
              <p:nvPr/>
            </p:nvGrpSpPr>
            <p:grpSpPr>
              <a:xfrm>
                <a:off x="9795510" y="2628900"/>
                <a:ext cx="1105814" cy="625411"/>
                <a:chOff x="9795510" y="2628900"/>
                <a:chExt cx="1105814" cy="625411"/>
              </a:xfrm>
            </p:grpSpPr>
            <p:sp>
              <p:nvSpPr>
                <p:cNvPr id="77" name="TextBox 77"/>
                <p:cNvSpPr txBox="1"/>
                <p:nvPr/>
              </p:nvSpPr>
              <p:spPr>
                <a:xfrm>
                  <a:off x="9795510" y="2628900"/>
                  <a:ext cx="110581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+15%</a:t>
                  </a: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9805416" y="3048952"/>
                  <a:ext cx="88437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GMV环比增长</a:t>
                  </a:r>
                </a:p>
              </p:txBody>
            </p:sp>
          </p:grpSp>
          <p:sp>
            <p:nvSpPr>
              <p:cNvPr id="80" name="Line 80"/>
              <p:cNvSpPr/>
              <p:nvPr/>
            </p:nvSpPr>
            <p:spPr>
              <a:xfrm>
                <a:off x="8382000" y="3381375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grpSp>
            <p:nvGrpSpPr>
              <p:cNvPr id="83" name="Group 83"/>
              <p:cNvGrpSpPr/>
              <p:nvPr/>
            </p:nvGrpSpPr>
            <p:grpSpPr>
              <a:xfrm>
                <a:off x="8401050" y="3572828"/>
                <a:ext cx="1326794" cy="205359"/>
                <a:chOff x="8401050" y="3572828"/>
                <a:chExt cx="1326794" cy="205359"/>
              </a:xfrm>
            </p:grpSpPr>
            <p:sp>
              <p:nvSpPr>
                <p:cNvPr id="81" name="Ellipse 81"/>
                <p:cNvSpPr/>
                <p:nvPr/>
              </p:nvSpPr>
              <p:spPr>
                <a:xfrm>
                  <a:off x="8401050" y="3609975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8567166" y="3572828"/>
                  <a:ext cx="11606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AI选品准确率85%</a:t>
                  </a:r>
                </a:p>
              </p:txBody>
            </p:sp>
          </p:grpSp>
          <p:grpSp>
            <p:nvGrpSpPr>
              <p:cNvPr id="86" name="Group 86"/>
              <p:cNvGrpSpPr/>
              <p:nvPr/>
            </p:nvGrpSpPr>
            <p:grpSpPr>
              <a:xfrm>
                <a:off x="8401050" y="3906202"/>
                <a:ext cx="1286389" cy="205359"/>
                <a:chOff x="8401050" y="3906202"/>
                <a:chExt cx="1286389" cy="205359"/>
              </a:xfrm>
            </p:grpSpPr>
            <p:sp>
              <p:nvSpPr>
                <p:cNvPr id="84" name="Ellipse 84"/>
                <p:cNvSpPr/>
                <p:nvPr/>
              </p:nvSpPr>
              <p:spPr>
                <a:xfrm>
                  <a:off x="8401050" y="3943350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8567166" y="3906202"/>
                  <a:ext cx="112027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库存周转优化22%</a:t>
                  </a:r>
                </a:p>
              </p:txBody>
            </p:sp>
          </p:grpSp>
          <p:grpSp>
            <p:nvGrpSpPr>
              <p:cNvPr id="89" name="Group 89"/>
              <p:cNvGrpSpPr/>
              <p:nvPr/>
            </p:nvGrpSpPr>
            <p:grpSpPr>
              <a:xfrm>
                <a:off x="8401050" y="4239578"/>
                <a:ext cx="1326794" cy="205359"/>
                <a:chOff x="8401050" y="4239578"/>
                <a:chExt cx="1326794" cy="205359"/>
              </a:xfrm>
            </p:grpSpPr>
            <p:sp>
              <p:nvSpPr>
                <p:cNvPr id="87" name="Ellipse 87"/>
                <p:cNvSpPr/>
                <p:nvPr/>
              </p:nvSpPr>
              <p:spPr>
                <a:xfrm>
                  <a:off x="8401050" y="4276725"/>
                  <a:ext cx="76200" cy="76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8567166" y="4239578"/>
                  <a:ext cx="11606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GMV环比增长15%</a:t>
                  </a:r>
                </a:p>
              </p:txBody>
            </p:sp>
          </p:grpSp>
          <p:sp>
            <p:nvSpPr>
              <p:cNvPr id="90" name="Freeform 90"/>
              <p:cNvSpPr/>
              <p:nvPr/>
            </p:nvSpPr>
            <p:spPr>
              <a:xfrm>
                <a:off x="8382000" y="4714875"/>
                <a:ext cx="3048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762000">
                    <a:moveTo>
                      <a:pt x="76200" y="0"/>
                    </a:moveTo>
                    <a:lnTo>
                      <a:pt x="2971800" y="0"/>
                    </a:lnTo>
                    <a:cubicBezTo>
                      <a:pt x="3013884" y="0"/>
                      <a:pt x="3048000" y="34116"/>
                      <a:pt x="3048000" y="76200"/>
                    </a:cubicBezTo>
                    <a:lnTo>
                      <a:pt x="3048000" y="685800"/>
                    </a:lnTo>
                    <a:cubicBezTo>
                      <a:pt x="3048000" y="727884"/>
                      <a:pt x="3013884" y="762000"/>
                      <a:pt x="2971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8567738" y="490347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核心动作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8566404" y="5109210"/>
                <a:ext cx="2437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流失预警 + 归因分析 + 内容推荐</a:t>
                </a:r>
              </a:p>
            </p:txBody>
          </p:sp>
        </p:grpSp>
      </p:grpSp>
      <p:grpSp>
        <p:nvGrpSpPr>
          <p:cNvPr id="97" name="Group 97"/>
          <p:cNvGrpSpPr/>
          <p:nvPr/>
        </p:nvGrpSpPr>
        <p:grpSpPr>
          <a:xfrm>
            <a:off x="566738" y="6197441"/>
            <a:ext cx="11058525" cy="161925"/>
            <a:chOff x="566738" y="6197441"/>
            <a:chExt cx="11058525" cy="161925"/>
          </a:xfrm>
        </p:grpSpPr>
        <p:sp>
          <p:nvSpPr>
            <p:cNvPr id="95" name="TextBox 95"/>
            <p:cNvSpPr txBox="1"/>
            <p:nvPr/>
          </p:nvSpPr>
          <p:spPr>
            <a:xfrm>
              <a:off x="566738" y="6197441"/>
              <a:ext cx="16054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效果实证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171938" y="6197441"/>
              <a:ext cx="14533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数据来源：客户实际使用统计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66738" y="215741"/>
            <a:ext cx="11058524" cy="6429375"/>
            <a:chOff x="566738" y="215741"/>
            <a:chExt cx="11058524" cy="6429375"/>
          </a:xfrm>
        </p:grpSpPr>
        <p:sp>
          <p:nvSpPr>
            <p:cNvPr id="5" name="Line 5"/>
            <p:cNvSpPr/>
            <p:nvPr/>
          </p:nvSpPr>
          <p:spPr>
            <a:xfrm>
              <a:off x="571500" y="476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738" y="215741"/>
              <a:ext cx="7136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5849" y="648319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/ 8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7784" y="613410"/>
            <a:ext cx="11062716" cy="5463540"/>
            <a:chOff x="557784" y="613410"/>
            <a:chExt cx="11062716" cy="5463540"/>
          </a:xfrm>
        </p:grpSpPr>
        <p:sp>
          <p:nvSpPr>
            <p:cNvPr id="10" name="TextBox 10"/>
            <p:cNvSpPr txBox="1"/>
            <p:nvPr/>
          </p:nvSpPr>
          <p:spPr>
            <a:xfrm>
              <a:off x="557784" y="613410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量化收益与关键指标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880" y="10763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提炼会直接影响决策的关键数字与压力指标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571500" y="1619250"/>
              <a:ext cx="11049000" cy="4457700"/>
              <a:chOff x="571500" y="1619250"/>
              <a:chExt cx="11049000" cy="4457700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571500" y="1619250"/>
                <a:ext cx="5295900" cy="2095500"/>
                <a:chOff x="571500" y="1619250"/>
                <a:chExt cx="5295900" cy="20955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571500" y="1619250"/>
                  <a:ext cx="5295900" cy="209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5900" h="2095500">
                      <a:moveTo>
                        <a:pt x="114300" y="0"/>
                      </a:moveTo>
                      <a:lnTo>
                        <a:pt x="5181600" y="0"/>
                      </a:lnTo>
                      <a:cubicBezTo>
                        <a:pt x="5244726" y="0"/>
                        <a:pt x="5295900" y="51174"/>
                        <a:pt x="5295900" y="114300"/>
                      </a:cubicBezTo>
                      <a:lnTo>
                        <a:pt x="5295900" y="1981200"/>
                      </a:lnTo>
                      <a:cubicBezTo>
                        <a:pt x="5295900" y="2044326"/>
                        <a:pt x="5244726" y="2095500"/>
                        <a:pt x="5181600" y="2095500"/>
                      </a:cubicBezTo>
                      <a:lnTo>
                        <a:pt x="114300" y="2095500"/>
                      </a:lnTo>
                      <a:cubicBezTo>
                        <a:pt x="51174" y="2095500"/>
                        <a:pt x="0" y="2044326"/>
                        <a:pt x="0" y="1981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800100" y="184785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14" name="Ellipse 14"/>
                <p:cNvSpPr/>
                <p:nvPr/>
              </p:nvSpPr>
              <p:spPr>
                <a:xfrm>
                  <a:off x="876300" y="1924050"/>
                  <a:ext cx="304800" cy="304800"/>
                </a:xfrm>
                <a:prstGeom prst="ellipse">
                  <a:avLst/>
                </a:pr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5" name="Polyline 15"/>
                <p:cNvSpPr/>
                <p:nvPr/>
              </p:nvSpPr>
              <p:spPr>
                <a:xfrm>
                  <a:off x="933450" y="19812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95250"/>
                      </a:moveTo>
                      <a:lnTo>
                        <a:pt x="95250" y="0"/>
                      </a:lnTo>
                      <a:lnTo>
                        <a:pt x="190500" y="95250"/>
                      </a:lnTo>
                      <a:lnTo>
                        <a:pt x="95250" y="19050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404366" y="2039302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平均转化率提升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784860" y="2533650"/>
                  <a:ext cx="110581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rgbClr val="2F855A"/>
                      </a:solidFill>
                      <a:latin typeface="+mj-lt"/>
                      <a:ea typeface="+mj-ea"/>
                      <a:cs typeface="+mj-cs"/>
                    </a:rPr>
                    <a:t>+35%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794766" y="3077528"/>
                  <a:ext cx="227228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跨行业均值，实际因客户成熟度浮动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6324600" y="1619250"/>
                <a:ext cx="5295900" cy="2095500"/>
                <a:chOff x="6324600" y="1619250"/>
                <a:chExt cx="5295900" cy="20955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6324600" y="1619250"/>
                  <a:ext cx="5295900" cy="209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5900" h="2095500">
                      <a:moveTo>
                        <a:pt x="114300" y="0"/>
                      </a:moveTo>
                      <a:lnTo>
                        <a:pt x="5181600" y="0"/>
                      </a:lnTo>
                      <a:cubicBezTo>
                        <a:pt x="5244726" y="0"/>
                        <a:pt x="5295900" y="51174"/>
                        <a:pt x="5295900" y="114300"/>
                      </a:cubicBezTo>
                      <a:lnTo>
                        <a:pt x="5295900" y="1981200"/>
                      </a:lnTo>
                      <a:cubicBezTo>
                        <a:pt x="5295900" y="2044326"/>
                        <a:pt x="5244726" y="2095500"/>
                        <a:pt x="5181600" y="2095500"/>
                      </a:cubicBezTo>
                      <a:lnTo>
                        <a:pt x="114300" y="2095500"/>
                      </a:lnTo>
                      <a:cubicBezTo>
                        <a:pt x="51174" y="2095500"/>
                        <a:pt x="0" y="2044326"/>
                        <a:pt x="0" y="1981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6553200" y="184785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2" name="Ellipse 22"/>
                <p:cNvSpPr/>
                <p:nvPr/>
              </p:nvSpPr>
              <p:spPr>
                <a:xfrm>
                  <a:off x="6629400" y="1924050"/>
                  <a:ext cx="304800" cy="304800"/>
                </a:xfrm>
                <a:prstGeom prst="ellipse">
                  <a:avLst/>
                </a:pr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3" name="Ellipse 23"/>
                <p:cNvSpPr/>
                <p:nvPr/>
              </p:nvSpPr>
              <p:spPr>
                <a:xfrm>
                  <a:off x="6724650" y="201930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4" name="Line 24"/>
                <p:cNvSpPr/>
                <p:nvPr/>
              </p:nvSpPr>
              <p:spPr>
                <a:xfrm>
                  <a:off x="6781800" y="1962150"/>
                  <a:ext cx="952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76200">
                      <a:moveTo>
                        <a:pt x="0" y="0"/>
                      </a:move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5" name="Line 25"/>
                <p:cNvSpPr/>
                <p:nvPr/>
              </p:nvSpPr>
              <p:spPr>
                <a:xfrm>
                  <a:off x="6781800" y="211455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157466" y="20393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上线周期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6537960" y="2533650"/>
                  <a:ext cx="671200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72</a:t>
                  </a:r>
                  <a:r>
                    <a:rPr lang="en-US" sz="18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h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6547866" y="3077528"/>
                  <a:ext cx="157966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标准版；私有化部署+2周</a:t>
                  </a:r>
                </a:p>
              </p:txBody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571500" y="3981450"/>
                <a:ext cx="5295900" cy="2095500"/>
                <a:chOff x="571500" y="3981450"/>
                <a:chExt cx="5295900" cy="20955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571500" y="3981450"/>
                  <a:ext cx="5295900" cy="209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5900" h="2095500">
                      <a:moveTo>
                        <a:pt x="114300" y="0"/>
                      </a:moveTo>
                      <a:lnTo>
                        <a:pt x="5181600" y="0"/>
                      </a:lnTo>
                      <a:cubicBezTo>
                        <a:pt x="5244726" y="0"/>
                        <a:pt x="5295900" y="51174"/>
                        <a:pt x="5295900" y="114300"/>
                      </a:cubicBezTo>
                      <a:lnTo>
                        <a:pt x="5295900" y="1981200"/>
                      </a:lnTo>
                      <a:cubicBezTo>
                        <a:pt x="5295900" y="2044326"/>
                        <a:pt x="5244726" y="2095500"/>
                        <a:pt x="5181600" y="2095500"/>
                      </a:cubicBezTo>
                      <a:lnTo>
                        <a:pt x="114300" y="2095500"/>
                      </a:lnTo>
                      <a:cubicBezTo>
                        <a:pt x="51174" y="2095500"/>
                        <a:pt x="0" y="2044326"/>
                        <a:pt x="0" y="1981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00100" y="421005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2" name="Ellipse 32"/>
                <p:cNvSpPr/>
                <p:nvPr/>
              </p:nvSpPr>
              <p:spPr>
                <a:xfrm>
                  <a:off x="876300" y="4286250"/>
                  <a:ext cx="304800" cy="304800"/>
                </a:xfrm>
                <a:prstGeom prst="ellipse">
                  <a:avLst/>
                </a:pr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3" name="Ellipse 33"/>
                <p:cNvSpPr/>
                <p:nvPr/>
              </p:nvSpPr>
              <p:spPr>
                <a:xfrm>
                  <a:off x="923925" y="4333875"/>
                  <a:ext cx="95250" cy="952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Ellipse 34"/>
                <p:cNvSpPr/>
                <p:nvPr/>
              </p:nvSpPr>
              <p:spPr>
                <a:xfrm>
                  <a:off x="1038225" y="4333875"/>
                  <a:ext cx="95250" cy="952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5" name="Ellipse 35"/>
                <p:cNvSpPr/>
                <p:nvPr/>
              </p:nvSpPr>
              <p:spPr>
                <a:xfrm>
                  <a:off x="981075" y="4448175"/>
                  <a:ext cx="95250" cy="952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404366" y="4401502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运营人力成本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784860" y="4895850"/>
                  <a:ext cx="110581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rgbClr val="2F855A"/>
                      </a:solidFill>
                      <a:latin typeface="+mj-lt"/>
                      <a:ea typeface="+mj-ea"/>
                      <a:cs typeface="+mj-cs"/>
                    </a:rPr>
                    <a:t>-28%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794766" y="5439728"/>
                  <a:ext cx="14241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报表与执行自动化替代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6324600" y="3981450"/>
                <a:ext cx="5295900" cy="2095500"/>
                <a:chOff x="6324600" y="3981450"/>
                <a:chExt cx="5295900" cy="209550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6324600" y="3981450"/>
                  <a:ext cx="5295900" cy="209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5900" h="2095500">
                      <a:moveTo>
                        <a:pt x="114300" y="0"/>
                      </a:moveTo>
                      <a:lnTo>
                        <a:pt x="5181600" y="0"/>
                      </a:lnTo>
                      <a:cubicBezTo>
                        <a:pt x="5244726" y="0"/>
                        <a:pt x="5295900" y="51174"/>
                        <a:pt x="5295900" y="114300"/>
                      </a:cubicBezTo>
                      <a:lnTo>
                        <a:pt x="5295900" y="1981200"/>
                      </a:lnTo>
                      <a:cubicBezTo>
                        <a:pt x="5295900" y="2044326"/>
                        <a:pt x="5244726" y="2095500"/>
                        <a:pt x="5181600" y="2095500"/>
                      </a:cubicBezTo>
                      <a:lnTo>
                        <a:pt x="114300" y="2095500"/>
                      </a:lnTo>
                      <a:cubicBezTo>
                        <a:pt x="51174" y="2095500"/>
                        <a:pt x="0" y="2044326"/>
                        <a:pt x="0" y="1981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6553200" y="421005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2" name="Ellipse 42"/>
                <p:cNvSpPr/>
                <p:nvPr/>
              </p:nvSpPr>
              <p:spPr>
                <a:xfrm>
                  <a:off x="6629400" y="4286250"/>
                  <a:ext cx="304800" cy="304800"/>
                </a:xfrm>
                <a:prstGeom prst="ellipse">
                  <a:avLst/>
                </a:pr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3" name="Polyline 43"/>
                <p:cNvSpPr/>
                <p:nvPr/>
              </p:nvSpPr>
              <p:spPr>
                <a:xfrm>
                  <a:off x="6667500" y="4343400"/>
                  <a:ext cx="2286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71450">
                      <a:moveTo>
                        <a:pt x="0" y="171450"/>
                      </a:moveTo>
                      <a:lnTo>
                        <a:pt x="76200" y="57150"/>
                      </a:lnTo>
                      <a:lnTo>
                        <a:pt x="152400" y="133350"/>
                      </a:lnTo>
                      <a:lnTo>
                        <a:pt x="2286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7157466" y="4401502"/>
                  <a:ext cx="84703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ROI提升倍数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6537960" y="4895850"/>
                  <a:ext cx="917631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4.2</a:t>
                  </a:r>
                  <a:r>
                    <a:rPr lang="en-US" sz="18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x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6547866" y="5439728"/>
                  <a:ext cx="165740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6个月运营周期vs基线对比</a:t>
                  </a:r>
                </a:p>
              </p:txBody>
            </p:sp>
          </p:grpSp>
        </p:grpSp>
      </p:grpSp>
      <p:grpSp>
        <p:nvGrpSpPr>
          <p:cNvPr id="51" name="Group 51"/>
          <p:cNvGrpSpPr/>
          <p:nvPr/>
        </p:nvGrpSpPr>
        <p:grpSpPr>
          <a:xfrm>
            <a:off x="10353142" y="791528"/>
            <a:ext cx="1272692" cy="205359"/>
            <a:chOff x="10353142" y="791528"/>
            <a:chExt cx="1272692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10353142" y="791528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57784" y="248602"/>
            <a:ext cx="11062716" cy="6491764"/>
            <a:chOff x="557784" y="248602"/>
            <a:chExt cx="11062716" cy="6491764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166" y="248602"/>
              <a:ext cx="988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SPREADMAP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784" y="565785"/>
              <a:ext cx="48505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AI营销工作台运转逻辑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3880" y="9810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把影响链条压缩成一眼能看懂的扩散结构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84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 / 8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9" name="Group 139"/>
          <p:cNvGrpSpPr/>
          <p:nvPr/>
        </p:nvGrpSpPr>
        <p:grpSpPr>
          <a:xfrm>
            <a:off x="762000" y="1714500"/>
            <a:ext cx="11430000" cy="4191000"/>
            <a:chOff x="762000" y="1714500"/>
            <a:chExt cx="11430000" cy="4191000"/>
          </a:xfrm>
        </p:grpSpPr>
        <p:grpSp>
          <p:nvGrpSpPr>
            <p:cNvPr id="112" name="Group 112"/>
            <p:cNvGrpSpPr/>
            <p:nvPr/>
          </p:nvGrpSpPr>
          <p:grpSpPr>
            <a:xfrm>
              <a:off x="762000" y="1714500"/>
              <a:ext cx="11430000" cy="3048000"/>
              <a:chOff x="762000" y="1714500"/>
              <a:chExt cx="11430000" cy="3048000"/>
            </a:xfrm>
          </p:grpSpPr>
          <p:grpSp>
            <p:nvGrpSpPr>
              <p:cNvPr id="35" name="Group 35"/>
              <p:cNvGrpSpPr/>
              <p:nvPr/>
            </p:nvGrpSpPr>
            <p:grpSpPr>
              <a:xfrm>
                <a:off x="762000" y="1714500"/>
                <a:ext cx="2286000" cy="3048000"/>
                <a:chOff x="762000" y="1714500"/>
                <a:chExt cx="2286000" cy="30480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762000" y="1714500"/>
                  <a:ext cx="2286000" cy="304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3048000">
                      <a:moveTo>
                        <a:pt x="114300" y="0"/>
                      </a:moveTo>
                      <a:lnTo>
                        <a:pt x="2171700" y="0"/>
                      </a:lnTo>
                      <a:cubicBezTo>
                        <a:pt x="2234826" y="0"/>
                        <a:pt x="2286000" y="51174"/>
                        <a:pt x="2286000" y="114300"/>
                      </a:cubicBezTo>
                      <a:lnTo>
                        <a:pt x="2286000" y="2933700"/>
                      </a:lnTo>
                      <a:cubicBezTo>
                        <a:pt x="2286000" y="2996826"/>
                        <a:pt x="2234826" y="3048000"/>
                        <a:pt x="2171700" y="3048000"/>
                      </a:cubicBezTo>
                      <a:lnTo>
                        <a:pt x="114300" y="3048000"/>
                      </a:lnTo>
                      <a:cubicBezTo>
                        <a:pt x="51174" y="3048000"/>
                        <a:pt x="0" y="2996826"/>
                        <a:pt x="0" y="2933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rgbClr val="2C5282"/>
                    </a:gs>
                  </a:gsLst>
                  <a:lin ang="5400000" scaled="1"/>
                </a:gra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781050" y="1733550"/>
                  <a:ext cx="2247900" cy="300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900" h="3009900">
                      <a:moveTo>
                        <a:pt x="104775" y="0"/>
                      </a:moveTo>
                      <a:lnTo>
                        <a:pt x="2143125" y="0"/>
                      </a:lnTo>
                      <a:cubicBezTo>
                        <a:pt x="2200991" y="0"/>
                        <a:pt x="2247900" y="46909"/>
                        <a:pt x="2247900" y="104775"/>
                      </a:cubicBezTo>
                      <a:lnTo>
                        <a:pt x="2247900" y="2905125"/>
                      </a:lnTo>
                      <a:cubicBezTo>
                        <a:pt x="2247900" y="2962991"/>
                        <a:pt x="2200991" y="3009900"/>
                        <a:pt x="2143125" y="3009900"/>
                      </a:cubicBezTo>
                      <a:lnTo>
                        <a:pt x="104775" y="3009900"/>
                      </a:lnTo>
                      <a:cubicBezTo>
                        <a:pt x="46909" y="3009900"/>
                        <a:pt x="0" y="2962991"/>
                        <a:pt x="0" y="2905125"/>
                      </a:cubicBezTo>
                      <a:lnTo>
                        <a:pt x="0" y="104775"/>
                      </a:lnTo>
                      <a:cubicBezTo>
                        <a:pt x="0" y="46909"/>
                        <a:pt x="46909" y="0"/>
                        <a:pt x="104775" y="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rgbClr val="FFFFFF">
                      <a:alpha val="20000"/>
                    </a:srgbClr>
                  </a:solidFill>
                </a:ln>
              </p:spPr>
            </p:sp>
            <p:sp>
              <p:nvSpPr>
                <p:cNvPr id="14" name="Ellipse 14"/>
                <p:cNvSpPr/>
                <p:nvPr/>
              </p:nvSpPr>
              <p:spPr>
                <a:xfrm>
                  <a:off x="2362200" y="1885950"/>
                  <a:ext cx="609600" cy="609600"/>
                </a:xfrm>
                <a:prstGeom prst="ellipse">
                  <a:avLst/>
                </a:prstGeom>
                <a:solidFill>
                  <a:schemeClr val="lt1">
                    <a:alpha val="15000"/>
                  </a:schemeClr>
                </a:solidFill>
                <a:ln>
                  <a:noFill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2483830" y="2040255"/>
                  <a:ext cx="366339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100" b="1" dirty="0">
                      <a:solidFill>
                        <a:srgbClr val="FFFFFF"/>
                      </a:solidFill>
                      <a:latin typeface="+mj-lt"/>
                      <a:ea typeface="+mj-ea"/>
                      <a:cs typeface="+mj-cs"/>
                    </a:rPr>
                    <a:t>88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947166" y="2077402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01</a:t>
                  </a:r>
                </a:p>
              </p:txBody>
            </p:sp>
            <p:grpSp>
              <p:nvGrpSpPr>
                <p:cNvPr id="26" name="Group 26"/>
                <p:cNvGrpSpPr/>
                <p:nvPr/>
              </p:nvGrpSpPr>
              <p:grpSpPr>
                <a:xfrm>
                  <a:off x="952500" y="2476500"/>
                  <a:ext cx="1905000" cy="762000"/>
                  <a:chOff x="952500" y="2476500"/>
                  <a:chExt cx="1905000" cy="762000"/>
                </a:xfrm>
              </p:grpSpPr>
              <p:sp>
                <p:nvSpPr>
                  <p:cNvPr id="17" name="Freeform 17"/>
                  <p:cNvSpPr/>
                  <p:nvPr/>
                </p:nvSpPr>
                <p:spPr>
                  <a:xfrm>
                    <a:off x="952500" y="2476500"/>
                    <a:ext cx="1905000" cy="76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5000" h="762000">
                        <a:moveTo>
                          <a:pt x="76200" y="0"/>
                        </a:moveTo>
                        <a:lnTo>
                          <a:pt x="1828800" y="0"/>
                        </a:lnTo>
                        <a:cubicBezTo>
                          <a:pt x="1870884" y="0"/>
                          <a:pt x="1905000" y="34116"/>
                          <a:pt x="1905000" y="76200"/>
                        </a:cubicBezTo>
                        <a:lnTo>
                          <a:pt x="1905000" y="685800"/>
                        </a:lnTo>
                        <a:cubicBezTo>
                          <a:pt x="1905000" y="727884"/>
                          <a:pt x="1870884" y="762000"/>
                          <a:pt x="1828800" y="762000"/>
                        </a:cubicBezTo>
                        <a:lnTo>
                          <a:pt x="76200" y="762000"/>
                        </a:lnTo>
                        <a:cubicBezTo>
                          <a:pt x="34116" y="762000"/>
                          <a:pt x="0" y="727884"/>
                          <a:pt x="0" y="6858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1">
                      <a:alpha val="10000"/>
                    </a:schemeClr>
                  </a:solidFill>
                  <a:ln>
                    <a:noFill/>
                  </a:ln>
                </p:spPr>
              </p:sp>
              <p:grpSp>
                <p:nvGrpSpPr>
                  <p:cNvPr id="25" name="Group 25"/>
                  <p:cNvGrpSpPr/>
                  <p:nvPr/>
                </p:nvGrpSpPr>
                <p:grpSpPr>
                  <a:xfrm>
                    <a:off x="1238250" y="2762250"/>
                    <a:ext cx="1381125" cy="381000"/>
                    <a:chOff x="1238250" y="2762250"/>
                    <a:chExt cx="1381125" cy="381000"/>
                  </a:xfrm>
                </p:grpSpPr>
                <p:sp>
                  <p:nvSpPr>
                    <p:cNvPr id="18" name="Freeform 18"/>
                    <p:cNvSpPr/>
                    <p:nvPr/>
                  </p:nvSpPr>
                  <p:spPr>
                    <a:xfrm>
                      <a:off x="1238250" y="2762250"/>
                      <a:ext cx="381000" cy="381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1000" h="381000">
                          <a:moveTo>
                            <a:pt x="0" y="95250"/>
                          </a:moveTo>
                          <a:lnTo>
                            <a:pt x="190500" y="95250"/>
                          </a:lnTo>
                          <a:lnTo>
                            <a:pt x="190500" y="0"/>
                          </a:lnTo>
                          <a:lnTo>
                            <a:pt x="381000" y="190500"/>
                          </a:lnTo>
                          <a:lnTo>
                            <a:pt x="190500" y="381000"/>
                          </a:lnTo>
                          <a:lnTo>
                            <a:pt x="190500" y="285750"/>
                          </a:lnTo>
                          <a:lnTo>
                            <a:pt x="0" y="285750"/>
                          </a:lnTo>
                          <a:close/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19" name="Freeform 19"/>
                    <p:cNvSpPr/>
                    <p:nvPr/>
                  </p:nvSpPr>
                  <p:spPr>
                    <a:xfrm>
                      <a:off x="1714500" y="2762250"/>
                      <a:ext cx="9525" cy="381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5" h="381000">
                          <a:moveTo>
                            <a:pt x="0" y="0"/>
                          </a:moveTo>
                          <a:lnTo>
                            <a:pt x="0" y="381000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20" name="Freeform 20"/>
                    <p:cNvSpPr/>
                    <p:nvPr/>
                  </p:nvSpPr>
                  <p:spPr>
                    <a:xfrm>
                      <a:off x="1857375" y="2809875"/>
                      <a:ext cx="9525" cy="2857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5" h="285750">
                          <a:moveTo>
                            <a:pt x="0" y="0"/>
                          </a:moveTo>
                          <a:lnTo>
                            <a:pt x="0" y="285750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21" name="Freeform 21"/>
                    <p:cNvSpPr/>
                    <p:nvPr/>
                  </p:nvSpPr>
                  <p:spPr>
                    <a:xfrm>
                      <a:off x="2000250" y="2762250"/>
                      <a:ext cx="9525" cy="381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5" h="381000">
                          <a:moveTo>
                            <a:pt x="0" y="0"/>
                          </a:moveTo>
                          <a:lnTo>
                            <a:pt x="0" y="381000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22" name="Freeform 22"/>
                    <p:cNvSpPr/>
                    <p:nvPr/>
                  </p:nvSpPr>
                  <p:spPr>
                    <a:xfrm>
                      <a:off x="2143125" y="2809875"/>
                      <a:ext cx="9525" cy="2857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5" h="285750">
                          <a:moveTo>
                            <a:pt x="0" y="0"/>
                          </a:moveTo>
                          <a:lnTo>
                            <a:pt x="0" y="285750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23" name="Ellipse 23"/>
                    <p:cNvSpPr/>
                    <p:nvPr/>
                  </p:nvSpPr>
                  <p:spPr>
                    <a:xfrm>
                      <a:off x="2333625" y="2809875"/>
                      <a:ext cx="285750" cy="285750"/>
                    </a:xfrm>
                    <a:prstGeom prst="ellipse">
                      <a:avLst/>
                    </a:pr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24" name="Freeform 24"/>
                    <p:cNvSpPr/>
                    <p:nvPr/>
                  </p:nvSpPr>
                  <p:spPr>
                    <a:xfrm>
                      <a:off x="2381250" y="2857500"/>
                      <a:ext cx="190500" cy="1905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0500" h="190500">
                          <a:moveTo>
                            <a:pt x="95250" y="0"/>
                          </a:moveTo>
                          <a:lnTo>
                            <a:pt x="95250" y="190500"/>
                          </a:lnTo>
                          <a:moveTo>
                            <a:pt x="0" y="95250"/>
                          </a:moveTo>
                          <a:lnTo>
                            <a:pt x="190500" y="95250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</p:grpSp>
            </p:grpSp>
            <p:sp>
              <p:nvSpPr>
                <p:cNvPr id="27" name="TextBox 27"/>
                <p:cNvSpPr txBox="1"/>
                <p:nvPr/>
              </p:nvSpPr>
              <p:spPr>
                <a:xfrm>
                  <a:off x="945642" y="3378518"/>
                  <a:ext cx="1546068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API/ETL多源接入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946404" y="3632835"/>
                  <a:ext cx="65836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FFFFFF">
                          <a:alphaMod val="90000"/>
                        </a:srgbClr>
                      </a:solidFill>
                      <a:latin typeface="+mn-lt"/>
                      <a:ea typeface="+mn-ea"/>
                      <a:cs typeface="+mn-cs"/>
                    </a:rPr>
                    <a:t>实时同步</a:t>
                  </a:r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952500" y="4095750"/>
                  <a:ext cx="19050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57150">
                      <a:moveTo>
                        <a:pt x="28575" y="0"/>
                      </a:moveTo>
                      <a:lnTo>
                        <a:pt x="1876425" y="0"/>
                      </a:lnTo>
                      <a:cubicBezTo>
                        <a:pt x="1892207" y="0"/>
                        <a:pt x="1905000" y="12793"/>
                        <a:pt x="1905000" y="28575"/>
                      </a:cubicBezTo>
                      <a:lnTo>
                        <a:pt x="1905000" y="28575"/>
                      </a:lnTo>
                      <a:cubicBezTo>
                        <a:pt x="1905000" y="44357"/>
                        <a:pt x="1892207" y="57150"/>
                        <a:pt x="18764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l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952500" y="4095750"/>
                  <a:ext cx="16764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400" h="57150">
                      <a:moveTo>
                        <a:pt x="28575" y="0"/>
                      </a:moveTo>
                      <a:lnTo>
                        <a:pt x="1647825" y="0"/>
                      </a:lnTo>
                      <a:cubicBezTo>
                        <a:pt x="1663607" y="0"/>
                        <a:pt x="1676400" y="12793"/>
                        <a:pt x="1676400" y="28575"/>
                      </a:cubicBezTo>
                      <a:lnTo>
                        <a:pt x="1676400" y="28575"/>
                      </a:lnTo>
                      <a:cubicBezTo>
                        <a:pt x="1676400" y="44357"/>
                        <a:pt x="1663607" y="57150"/>
                        <a:pt x="16478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1" name="Ellipse 31"/>
                <p:cNvSpPr/>
                <p:nvPr/>
              </p:nvSpPr>
              <p:spPr>
                <a:xfrm>
                  <a:off x="914400" y="4438650"/>
                  <a:ext cx="76200" cy="762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2" name="Ellipse 32"/>
                <p:cNvSpPr/>
                <p:nvPr/>
              </p:nvSpPr>
              <p:spPr>
                <a:xfrm>
                  <a:off x="1066800" y="4438650"/>
                  <a:ext cx="76200" cy="762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3" name="Ellipse 33"/>
                <p:cNvSpPr/>
                <p:nvPr/>
              </p:nvSpPr>
              <p:spPr>
                <a:xfrm>
                  <a:off x="1219200" y="4438650"/>
                  <a:ext cx="76200" cy="762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4" name="Ellipse 34"/>
                <p:cNvSpPr/>
                <p:nvPr/>
              </p:nvSpPr>
              <p:spPr>
                <a:xfrm>
                  <a:off x="1371600" y="4438650"/>
                  <a:ext cx="76200" cy="76200"/>
                </a:xfrm>
                <a:prstGeom prst="ellipse">
                  <a:avLst/>
                </a:prstGeom>
                <a:solidFill>
                  <a:schemeClr val="accent3">
                    <a:alpha val="30000"/>
                  </a:schemeClr>
                </a:solidFill>
                <a:ln>
                  <a:noFill/>
                </a:ln>
              </p:spPr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3238500" y="3073241"/>
                <a:ext cx="762000" cy="174784"/>
                <a:chOff x="3238500" y="3073241"/>
                <a:chExt cx="762000" cy="174784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3238500" y="3238500"/>
                  <a:ext cx="762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9525">
                      <a:moveTo>
                        <a:pt x="0" y="0"/>
                      </a:moveTo>
                      <a:lnTo>
                        <a:pt x="762000" y="0"/>
                      </a:lnTo>
                    </a:path>
                  </a:pathLst>
                </a:custGeom>
                <a:solidFill>
                  <a:srgbClr val="000000"/>
                </a:solidFill>
                <a:ln w="28575">
                  <a:solidFill>
                    <a:schemeClr val="accent2"/>
                  </a:solidFill>
                  <a:tailEnd type="triangle" w="lg" len="lg"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3392614" y="3073241"/>
                  <a:ext cx="453771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数据汇聚</a:t>
                  </a:r>
                </a:p>
              </p:txBody>
            </p:sp>
          </p:grpSp>
          <p:grpSp>
            <p:nvGrpSpPr>
              <p:cNvPr id="61" name="Group 61"/>
              <p:cNvGrpSpPr/>
              <p:nvPr/>
            </p:nvGrpSpPr>
            <p:grpSpPr>
              <a:xfrm>
                <a:off x="4000500" y="1714500"/>
                <a:ext cx="2286000" cy="3048000"/>
                <a:chOff x="4000500" y="1714500"/>
                <a:chExt cx="2286000" cy="3048000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4000500" y="1714500"/>
                  <a:ext cx="2286000" cy="304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3048000">
                      <a:moveTo>
                        <a:pt x="114300" y="0"/>
                      </a:moveTo>
                      <a:lnTo>
                        <a:pt x="2171700" y="0"/>
                      </a:lnTo>
                      <a:cubicBezTo>
                        <a:pt x="2234826" y="0"/>
                        <a:pt x="2286000" y="51174"/>
                        <a:pt x="2286000" y="114300"/>
                      </a:cubicBezTo>
                      <a:lnTo>
                        <a:pt x="2286000" y="2933700"/>
                      </a:lnTo>
                      <a:cubicBezTo>
                        <a:pt x="2286000" y="2996826"/>
                        <a:pt x="2234826" y="3048000"/>
                        <a:pt x="2171700" y="3048000"/>
                      </a:cubicBezTo>
                      <a:lnTo>
                        <a:pt x="114300" y="3048000"/>
                      </a:lnTo>
                      <a:cubicBezTo>
                        <a:pt x="51174" y="3048000"/>
                        <a:pt x="0" y="2996826"/>
                        <a:pt x="0" y="2933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B6CB0"/>
                    </a:gs>
                    <a:gs pos="100000">
                      <a:srgbClr val="2C5282"/>
                    </a:gs>
                  </a:gsLst>
                  <a:lin ang="5400000" scaled="1"/>
                </a:gra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4019550" y="1733550"/>
                  <a:ext cx="2247900" cy="300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900" h="3009900">
                      <a:moveTo>
                        <a:pt x="104775" y="0"/>
                      </a:moveTo>
                      <a:lnTo>
                        <a:pt x="2143125" y="0"/>
                      </a:lnTo>
                      <a:cubicBezTo>
                        <a:pt x="2200991" y="0"/>
                        <a:pt x="2247900" y="46909"/>
                        <a:pt x="2247900" y="104775"/>
                      </a:cubicBezTo>
                      <a:lnTo>
                        <a:pt x="2247900" y="2905125"/>
                      </a:lnTo>
                      <a:cubicBezTo>
                        <a:pt x="2247900" y="2962991"/>
                        <a:pt x="2200991" y="3009900"/>
                        <a:pt x="2143125" y="3009900"/>
                      </a:cubicBezTo>
                      <a:lnTo>
                        <a:pt x="104775" y="3009900"/>
                      </a:lnTo>
                      <a:cubicBezTo>
                        <a:pt x="46909" y="3009900"/>
                        <a:pt x="0" y="2962991"/>
                        <a:pt x="0" y="2905125"/>
                      </a:cubicBezTo>
                      <a:lnTo>
                        <a:pt x="0" y="104775"/>
                      </a:lnTo>
                      <a:cubicBezTo>
                        <a:pt x="0" y="46909"/>
                        <a:pt x="46909" y="0"/>
                        <a:pt x="104775" y="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rgbClr val="FFFFFF">
                      <a:alpha val="20000"/>
                    </a:srgbClr>
                  </a:solidFill>
                </a:ln>
              </p:spPr>
            </p:sp>
            <p:sp>
              <p:nvSpPr>
                <p:cNvPr id="41" name="Ellipse 41"/>
                <p:cNvSpPr/>
                <p:nvPr/>
              </p:nvSpPr>
              <p:spPr>
                <a:xfrm>
                  <a:off x="5600700" y="1885950"/>
                  <a:ext cx="609600" cy="609600"/>
                </a:xfrm>
                <a:prstGeom prst="ellipse">
                  <a:avLst/>
                </a:prstGeom>
                <a:solidFill>
                  <a:schemeClr val="lt1">
                    <a:alpha val="15000"/>
                  </a:schemeClr>
                </a:solidFill>
                <a:ln>
                  <a:noFill/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5722330" y="2040255"/>
                  <a:ext cx="366339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100" b="1" dirty="0">
                      <a:solidFill>
                        <a:srgbClr val="FFFFFF"/>
                      </a:solidFill>
                      <a:latin typeface="+mj-lt"/>
                      <a:ea typeface="+mj-ea"/>
                      <a:cs typeface="+mj-cs"/>
                    </a:rPr>
                    <a:t>74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4185666" y="2077402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02</a:t>
                  </a:r>
                </a:p>
              </p:txBody>
            </p:sp>
            <p:grpSp>
              <p:nvGrpSpPr>
                <p:cNvPr id="52" name="Group 52"/>
                <p:cNvGrpSpPr/>
                <p:nvPr/>
              </p:nvGrpSpPr>
              <p:grpSpPr>
                <a:xfrm>
                  <a:off x="4191000" y="2476500"/>
                  <a:ext cx="1905000" cy="762000"/>
                  <a:chOff x="4191000" y="2476500"/>
                  <a:chExt cx="1905000" cy="762000"/>
                </a:xfrm>
              </p:grpSpPr>
              <p:sp>
                <p:nvSpPr>
                  <p:cNvPr id="44" name="Freeform 44"/>
                  <p:cNvSpPr/>
                  <p:nvPr/>
                </p:nvSpPr>
                <p:spPr>
                  <a:xfrm>
                    <a:off x="4191000" y="2476500"/>
                    <a:ext cx="1905000" cy="76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5000" h="762000">
                        <a:moveTo>
                          <a:pt x="76200" y="0"/>
                        </a:moveTo>
                        <a:lnTo>
                          <a:pt x="1828800" y="0"/>
                        </a:lnTo>
                        <a:cubicBezTo>
                          <a:pt x="1870884" y="0"/>
                          <a:pt x="1905000" y="34116"/>
                          <a:pt x="1905000" y="76200"/>
                        </a:cubicBezTo>
                        <a:lnTo>
                          <a:pt x="1905000" y="685800"/>
                        </a:lnTo>
                        <a:cubicBezTo>
                          <a:pt x="1905000" y="727884"/>
                          <a:pt x="1870884" y="762000"/>
                          <a:pt x="1828800" y="762000"/>
                        </a:cubicBezTo>
                        <a:lnTo>
                          <a:pt x="76200" y="762000"/>
                        </a:lnTo>
                        <a:cubicBezTo>
                          <a:pt x="34116" y="762000"/>
                          <a:pt x="0" y="727884"/>
                          <a:pt x="0" y="6858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1">
                      <a:alpha val="10000"/>
                    </a:schemeClr>
                  </a:solidFill>
                  <a:ln>
                    <a:noFill/>
                  </a:ln>
                </p:spPr>
              </p:sp>
              <p:grpSp>
                <p:nvGrpSpPr>
                  <p:cNvPr id="51" name="Group 51"/>
                  <p:cNvGrpSpPr/>
                  <p:nvPr/>
                </p:nvGrpSpPr>
                <p:grpSpPr>
                  <a:xfrm>
                    <a:off x="4572000" y="2647950"/>
                    <a:ext cx="1238250" cy="428625"/>
                    <a:chOff x="4572000" y="2647950"/>
                    <a:chExt cx="1238250" cy="428625"/>
                  </a:xfrm>
                </p:grpSpPr>
                <p:sp>
                  <p:nvSpPr>
                    <p:cNvPr id="45" name="Ellipse 45"/>
                    <p:cNvSpPr/>
                    <p:nvPr/>
                  </p:nvSpPr>
                  <p:spPr>
                    <a:xfrm>
                      <a:off x="4572000" y="2667000"/>
                      <a:ext cx="381000" cy="381000"/>
                    </a:xfrm>
                    <a:prstGeom prst="ellipse">
                      <a:avLst/>
                    </a:pr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46" name="Freeform 46"/>
                    <p:cNvSpPr/>
                    <p:nvPr/>
                  </p:nvSpPr>
                  <p:spPr>
                    <a:xfrm>
                      <a:off x="4762500" y="2762250"/>
                      <a:ext cx="95250" cy="1905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50" h="190500">
                          <a:moveTo>
                            <a:pt x="0" y="0"/>
                          </a:moveTo>
                          <a:lnTo>
                            <a:pt x="0" y="95250"/>
                          </a:lnTo>
                          <a:lnTo>
                            <a:pt x="95250" y="190500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47" name="Ellipse 47"/>
                    <p:cNvSpPr/>
                    <p:nvPr/>
                  </p:nvSpPr>
                  <p:spPr>
                    <a:xfrm>
                      <a:off x="5410200" y="2647950"/>
                      <a:ext cx="228600" cy="228600"/>
                    </a:xfrm>
                    <a:prstGeom prst="ellipse">
                      <a:avLst/>
                    </a:pr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48" name="Ellipse 48"/>
                    <p:cNvSpPr/>
                    <p:nvPr/>
                  </p:nvSpPr>
                  <p:spPr>
                    <a:xfrm>
                      <a:off x="5619750" y="2857500"/>
                      <a:ext cx="190500" cy="190500"/>
                    </a:xfrm>
                    <a:prstGeom prst="ellipse">
                      <a:avLst/>
                    </a:pr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49" name="Ellipse 49"/>
                    <p:cNvSpPr/>
                    <p:nvPr/>
                  </p:nvSpPr>
                  <p:spPr>
                    <a:xfrm>
                      <a:off x="5353050" y="2924175"/>
                      <a:ext cx="152400" cy="152400"/>
                    </a:xfrm>
                    <a:prstGeom prst="ellipse">
                      <a:avLst/>
                    </a:pr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50" name="Freeform 50"/>
                    <p:cNvSpPr/>
                    <p:nvPr/>
                  </p:nvSpPr>
                  <p:spPr>
                    <a:xfrm>
                      <a:off x="5619750" y="2809875"/>
                      <a:ext cx="47625" cy="47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7625" h="47625">
                          <a:moveTo>
                            <a:pt x="47625" y="0"/>
                          </a:moveTo>
                          <a:lnTo>
                            <a:pt x="0" y="47625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</p:grpSp>
            </p:grpSp>
            <p:sp>
              <p:nvSpPr>
                <p:cNvPr id="53" name="TextBox 53"/>
                <p:cNvSpPr txBox="1"/>
                <p:nvPr/>
              </p:nvSpPr>
              <p:spPr>
                <a:xfrm>
                  <a:off x="4184142" y="3378518"/>
                  <a:ext cx="1193223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AI自动打标签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4184904" y="3632835"/>
                  <a:ext cx="98145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FFFFFF">
                          <a:alphaMod val="90000"/>
                        </a:srgbClr>
                      </a:solidFill>
                      <a:latin typeface="+mn-lt"/>
                      <a:ea typeface="+mn-ea"/>
                      <a:cs typeface="+mn-cs"/>
                    </a:rPr>
                    <a:t>构建客户画像</a:t>
                  </a:r>
                </a:p>
              </p:txBody>
            </p:sp>
            <p:sp>
              <p:nvSpPr>
                <p:cNvPr id="55" name="Freeform 55"/>
                <p:cNvSpPr/>
                <p:nvPr/>
              </p:nvSpPr>
              <p:spPr>
                <a:xfrm>
                  <a:off x="4191000" y="4095750"/>
                  <a:ext cx="19050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57150">
                      <a:moveTo>
                        <a:pt x="28575" y="0"/>
                      </a:moveTo>
                      <a:lnTo>
                        <a:pt x="1876425" y="0"/>
                      </a:lnTo>
                      <a:cubicBezTo>
                        <a:pt x="1892207" y="0"/>
                        <a:pt x="1905000" y="12793"/>
                        <a:pt x="1905000" y="28575"/>
                      </a:cubicBezTo>
                      <a:lnTo>
                        <a:pt x="1905000" y="28575"/>
                      </a:lnTo>
                      <a:cubicBezTo>
                        <a:pt x="1905000" y="44357"/>
                        <a:pt x="1892207" y="57150"/>
                        <a:pt x="18764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l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4191000" y="4095750"/>
                  <a:ext cx="14097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9700" h="57150">
                      <a:moveTo>
                        <a:pt x="28575" y="0"/>
                      </a:moveTo>
                      <a:lnTo>
                        <a:pt x="1381125" y="0"/>
                      </a:lnTo>
                      <a:cubicBezTo>
                        <a:pt x="1396907" y="0"/>
                        <a:pt x="1409700" y="12793"/>
                        <a:pt x="1409700" y="28575"/>
                      </a:cubicBezTo>
                      <a:lnTo>
                        <a:pt x="1409700" y="28575"/>
                      </a:lnTo>
                      <a:cubicBezTo>
                        <a:pt x="1409700" y="44357"/>
                        <a:pt x="1396907" y="57150"/>
                        <a:pt x="13811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57" name="Ellipse 57"/>
                <p:cNvSpPr/>
                <p:nvPr/>
              </p:nvSpPr>
              <p:spPr>
                <a:xfrm>
                  <a:off x="4152900" y="4438650"/>
                  <a:ext cx="76200" cy="762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58" name="Ellipse 58"/>
                <p:cNvSpPr/>
                <p:nvPr/>
              </p:nvSpPr>
              <p:spPr>
                <a:xfrm>
                  <a:off x="4305300" y="4438650"/>
                  <a:ext cx="76200" cy="762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59" name="Ellipse 59"/>
                <p:cNvSpPr/>
                <p:nvPr/>
              </p:nvSpPr>
              <p:spPr>
                <a:xfrm>
                  <a:off x="4457700" y="4438650"/>
                  <a:ext cx="76200" cy="76200"/>
                </a:xfrm>
                <a:prstGeom prst="ellipse">
                  <a:avLst/>
                </a:prstGeom>
                <a:solidFill>
                  <a:schemeClr val="accent3"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60" name="Ellipse 60"/>
                <p:cNvSpPr/>
                <p:nvPr/>
              </p:nvSpPr>
              <p:spPr>
                <a:xfrm>
                  <a:off x="4610100" y="4438650"/>
                  <a:ext cx="76200" cy="76200"/>
                </a:xfrm>
                <a:prstGeom prst="ellipse">
                  <a:avLst/>
                </a:prstGeom>
                <a:solidFill>
                  <a:schemeClr val="accent3">
                    <a:alpha val="30000"/>
                  </a:schemeClr>
                </a:solidFill>
                <a:ln>
                  <a:noFill/>
                </a:ln>
              </p:spPr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6477000" y="3073241"/>
                <a:ext cx="762000" cy="174784"/>
                <a:chOff x="6477000" y="3073241"/>
                <a:chExt cx="762000" cy="174784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6477000" y="3238500"/>
                  <a:ext cx="762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9525">
                      <a:moveTo>
                        <a:pt x="0" y="0"/>
                      </a:moveTo>
                      <a:lnTo>
                        <a:pt x="762000" y="0"/>
                      </a:lnTo>
                    </a:path>
                  </a:pathLst>
                </a:custGeom>
                <a:solidFill>
                  <a:srgbClr val="000000"/>
                </a:solidFill>
                <a:ln w="28575">
                  <a:solidFill>
                    <a:schemeClr val="accent2"/>
                  </a:solidFill>
                  <a:tailEnd type="triangle" w="lg" len="lg"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6631114" y="3073241"/>
                  <a:ext cx="453771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智能分析</a:t>
                  </a:r>
                </a:p>
              </p:txBody>
            </p:sp>
          </p:grpSp>
          <p:grpSp>
            <p:nvGrpSpPr>
              <p:cNvPr id="85" name="Group 85"/>
              <p:cNvGrpSpPr/>
              <p:nvPr/>
            </p:nvGrpSpPr>
            <p:grpSpPr>
              <a:xfrm>
                <a:off x="7239000" y="1714500"/>
                <a:ext cx="2286000" cy="3048000"/>
                <a:chOff x="7239000" y="1714500"/>
                <a:chExt cx="2286000" cy="3048000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7239000" y="1714500"/>
                  <a:ext cx="2286000" cy="304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0" h="3048000">
                      <a:moveTo>
                        <a:pt x="114300" y="0"/>
                      </a:moveTo>
                      <a:lnTo>
                        <a:pt x="2171700" y="0"/>
                      </a:lnTo>
                      <a:cubicBezTo>
                        <a:pt x="2234826" y="0"/>
                        <a:pt x="2286000" y="51174"/>
                        <a:pt x="2286000" y="114300"/>
                      </a:cubicBezTo>
                      <a:lnTo>
                        <a:pt x="2286000" y="2933700"/>
                      </a:lnTo>
                      <a:cubicBezTo>
                        <a:pt x="2286000" y="2996826"/>
                        <a:pt x="2234826" y="3048000"/>
                        <a:pt x="2171700" y="3048000"/>
                      </a:cubicBezTo>
                      <a:lnTo>
                        <a:pt x="114300" y="3048000"/>
                      </a:lnTo>
                      <a:cubicBezTo>
                        <a:pt x="51174" y="3048000"/>
                        <a:pt x="0" y="2996826"/>
                        <a:pt x="0" y="2933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rgbClr val="2B6CB0"/>
                    </a:gs>
                  </a:gsLst>
                  <a:lin ang="5400000" scaled="1"/>
                </a:gradFill>
                <a:ln>
                  <a:noFill/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7258050" y="1733550"/>
                  <a:ext cx="2247900" cy="300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900" h="3009900">
                      <a:moveTo>
                        <a:pt x="104775" y="0"/>
                      </a:moveTo>
                      <a:lnTo>
                        <a:pt x="2143125" y="0"/>
                      </a:lnTo>
                      <a:cubicBezTo>
                        <a:pt x="2200991" y="0"/>
                        <a:pt x="2247900" y="46909"/>
                        <a:pt x="2247900" y="104775"/>
                      </a:cubicBezTo>
                      <a:lnTo>
                        <a:pt x="2247900" y="2905125"/>
                      </a:lnTo>
                      <a:cubicBezTo>
                        <a:pt x="2247900" y="2962991"/>
                        <a:pt x="2200991" y="3009900"/>
                        <a:pt x="2143125" y="3009900"/>
                      </a:cubicBezTo>
                      <a:lnTo>
                        <a:pt x="104775" y="3009900"/>
                      </a:lnTo>
                      <a:cubicBezTo>
                        <a:pt x="46909" y="3009900"/>
                        <a:pt x="0" y="2962991"/>
                        <a:pt x="0" y="2905125"/>
                      </a:cubicBezTo>
                      <a:lnTo>
                        <a:pt x="0" y="104775"/>
                      </a:lnTo>
                      <a:cubicBezTo>
                        <a:pt x="0" y="46909"/>
                        <a:pt x="46909" y="0"/>
                        <a:pt x="104775" y="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rgbClr val="FFFFFF">
                      <a:alpha val="20000"/>
                    </a:srgbClr>
                  </a:solidFill>
                </a:ln>
              </p:spPr>
            </p:sp>
            <p:sp>
              <p:nvSpPr>
                <p:cNvPr id="67" name="Ellipse 67"/>
                <p:cNvSpPr/>
                <p:nvPr/>
              </p:nvSpPr>
              <p:spPr>
                <a:xfrm>
                  <a:off x="8839200" y="1885950"/>
                  <a:ext cx="609600" cy="609600"/>
                </a:xfrm>
                <a:prstGeom prst="ellipse">
                  <a:avLst/>
                </a:prstGeom>
                <a:solidFill>
                  <a:schemeClr val="lt1">
                    <a:alpha val="15000"/>
                  </a:schemeClr>
                </a:solidFill>
                <a:ln>
                  <a:noFill/>
                </a:ln>
              </p:spPr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8960830" y="2040255"/>
                  <a:ext cx="366339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100" b="1" dirty="0">
                      <a:solidFill>
                        <a:srgbClr val="FFFFFF"/>
                      </a:solidFill>
                      <a:latin typeface="+mj-lt"/>
                      <a:ea typeface="+mj-ea"/>
                      <a:cs typeface="+mj-cs"/>
                    </a:rPr>
                    <a:t>60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7424166" y="2077402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03</a:t>
                  </a:r>
                </a:p>
              </p:txBody>
            </p:sp>
            <p:grpSp>
              <p:nvGrpSpPr>
                <p:cNvPr id="76" name="Group 76"/>
                <p:cNvGrpSpPr/>
                <p:nvPr/>
              </p:nvGrpSpPr>
              <p:grpSpPr>
                <a:xfrm>
                  <a:off x="7429500" y="2476500"/>
                  <a:ext cx="1905000" cy="762000"/>
                  <a:chOff x="7429500" y="2476500"/>
                  <a:chExt cx="1905000" cy="762000"/>
                </a:xfrm>
              </p:grpSpPr>
              <p:sp>
                <p:nvSpPr>
                  <p:cNvPr id="70" name="Freeform 70"/>
                  <p:cNvSpPr/>
                  <p:nvPr/>
                </p:nvSpPr>
                <p:spPr>
                  <a:xfrm>
                    <a:off x="7429500" y="2476500"/>
                    <a:ext cx="1905000" cy="76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5000" h="762000">
                        <a:moveTo>
                          <a:pt x="76200" y="0"/>
                        </a:moveTo>
                        <a:lnTo>
                          <a:pt x="1828800" y="0"/>
                        </a:lnTo>
                        <a:cubicBezTo>
                          <a:pt x="1870884" y="0"/>
                          <a:pt x="1905000" y="34116"/>
                          <a:pt x="1905000" y="76200"/>
                        </a:cubicBezTo>
                        <a:lnTo>
                          <a:pt x="1905000" y="685800"/>
                        </a:lnTo>
                        <a:cubicBezTo>
                          <a:pt x="1905000" y="727884"/>
                          <a:pt x="1870884" y="762000"/>
                          <a:pt x="1828800" y="762000"/>
                        </a:cubicBezTo>
                        <a:lnTo>
                          <a:pt x="76200" y="762000"/>
                        </a:lnTo>
                        <a:cubicBezTo>
                          <a:pt x="34116" y="762000"/>
                          <a:pt x="0" y="727884"/>
                          <a:pt x="0" y="6858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1">
                      <a:alpha val="10000"/>
                    </a:schemeClr>
                  </a:solidFill>
                  <a:ln>
                    <a:noFill/>
                  </a:ln>
                </p:spPr>
              </p:sp>
              <p:grpSp>
                <p:nvGrpSpPr>
                  <p:cNvPr id="75" name="Group 75"/>
                  <p:cNvGrpSpPr/>
                  <p:nvPr/>
                </p:nvGrpSpPr>
                <p:grpSpPr>
                  <a:xfrm>
                    <a:off x="7715250" y="2667000"/>
                    <a:ext cx="1333500" cy="523875"/>
                    <a:chOff x="7715250" y="2667000"/>
                    <a:chExt cx="1333500" cy="523875"/>
                  </a:xfrm>
                </p:grpSpPr>
                <p:sp>
                  <p:nvSpPr>
                    <p:cNvPr id="71" name="Freeform 71"/>
                    <p:cNvSpPr/>
                    <p:nvPr/>
                  </p:nvSpPr>
                  <p:spPr>
                    <a:xfrm>
                      <a:off x="7810500" y="2714625"/>
                      <a:ext cx="1143000" cy="3333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43000" h="333375">
                          <a:moveTo>
                            <a:pt x="0" y="333375"/>
                          </a:moveTo>
                          <a:lnTo>
                            <a:pt x="190500" y="142875"/>
                          </a:lnTo>
                          <a:lnTo>
                            <a:pt x="381000" y="238125"/>
                          </a:lnTo>
                          <a:lnTo>
                            <a:pt x="571500" y="47625"/>
                          </a:lnTo>
                          <a:lnTo>
                            <a:pt x="762000" y="190500"/>
                          </a:lnTo>
                          <a:lnTo>
                            <a:pt x="952500" y="95250"/>
                          </a:lnTo>
                          <a:lnTo>
                            <a:pt x="1143000" y="0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72" name="Ellipse 72"/>
                    <p:cNvSpPr/>
                    <p:nvPr/>
                  </p:nvSpPr>
                  <p:spPr>
                    <a:xfrm>
                      <a:off x="8905875" y="2667000"/>
                      <a:ext cx="95250" cy="95250"/>
                    </a:xfrm>
                    <a:prstGeom prst="ellipse">
                      <a:avLst/>
                    </a:prstGeom>
                    <a:solidFill>
                      <a:schemeClr val="lt1"/>
                    </a:solidFill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73" name="Freeform 73"/>
                    <p:cNvSpPr/>
                    <p:nvPr/>
                  </p:nvSpPr>
                  <p:spPr>
                    <a:xfrm>
                      <a:off x="7715250" y="3143250"/>
                      <a:ext cx="1333500" cy="9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3500" h="9525">
                          <a:moveTo>
                            <a:pt x="0" y="0"/>
                          </a:moveTo>
                          <a:lnTo>
                            <a:pt x="1333500" y="0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74" name="Freeform 74"/>
                    <p:cNvSpPr/>
                    <p:nvPr/>
                  </p:nvSpPr>
                  <p:spPr>
                    <a:xfrm>
                      <a:off x="7715250" y="3000375"/>
                      <a:ext cx="9525" cy="1905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5" h="190500">
                          <a:moveTo>
                            <a:pt x="0" y="0"/>
                          </a:moveTo>
                          <a:lnTo>
                            <a:pt x="0" y="190500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</p:grpSp>
            </p:grpSp>
            <p:sp>
              <p:nvSpPr>
                <p:cNvPr id="77" name="TextBox 77"/>
                <p:cNvSpPr txBox="1"/>
                <p:nvPr/>
              </p:nvSpPr>
              <p:spPr>
                <a:xfrm>
                  <a:off x="7422642" y="337851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实时预测</a:t>
                  </a: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7423404" y="3632835"/>
                  <a:ext cx="98145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FFFFFF">
                          <a:alphaMod val="90000"/>
                        </a:srgbClr>
                      </a:solidFill>
                      <a:latin typeface="+mn-lt"/>
                      <a:ea typeface="+mn-ea"/>
                      <a:cs typeface="+mn-cs"/>
                    </a:rPr>
                    <a:t>触发营销动作</a:t>
                  </a:r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7429500" y="4095750"/>
                  <a:ext cx="19050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57150">
                      <a:moveTo>
                        <a:pt x="28575" y="0"/>
                      </a:moveTo>
                      <a:lnTo>
                        <a:pt x="1876425" y="0"/>
                      </a:lnTo>
                      <a:cubicBezTo>
                        <a:pt x="1892207" y="0"/>
                        <a:pt x="1905000" y="12793"/>
                        <a:pt x="1905000" y="28575"/>
                      </a:cubicBezTo>
                      <a:lnTo>
                        <a:pt x="1905000" y="28575"/>
                      </a:lnTo>
                      <a:cubicBezTo>
                        <a:pt x="1905000" y="44357"/>
                        <a:pt x="1892207" y="57150"/>
                        <a:pt x="18764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l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80" name="Freeform 80"/>
                <p:cNvSpPr/>
                <p:nvPr/>
              </p:nvSpPr>
              <p:spPr>
                <a:xfrm>
                  <a:off x="7429500" y="4095750"/>
                  <a:ext cx="11430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0" h="57150">
                      <a:moveTo>
                        <a:pt x="28575" y="0"/>
                      </a:moveTo>
                      <a:lnTo>
                        <a:pt x="1114425" y="0"/>
                      </a:lnTo>
                      <a:cubicBezTo>
                        <a:pt x="1130207" y="0"/>
                        <a:pt x="1143000" y="12793"/>
                        <a:pt x="1143000" y="28575"/>
                      </a:cubicBezTo>
                      <a:lnTo>
                        <a:pt x="1143000" y="28575"/>
                      </a:lnTo>
                      <a:cubicBezTo>
                        <a:pt x="1143000" y="44357"/>
                        <a:pt x="1130207" y="57150"/>
                        <a:pt x="11144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81" name="Ellipse 81"/>
                <p:cNvSpPr/>
                <p:nvPr/>
              </p:nvSpPr>
              <p:spPr>
                <a:xfrm>
                  <a:off x="7391400" y="4438650"/>
                  <a:ext cx="76200" cy="762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82" name="Ellipse 82"/>
                <p:cNvSpPr/>
                <p:nvPr/>
              </p:nvSpPr>
              <p:spPr>
                <a:xfrm>
                  <a:off x="7543800" y="4438650"/>
                  <a:ext cx="76200" cy="76200"/>
                </a:xfrm>
                <a:prstGeom prst="ellipse">
                  <a:avLst/>
                </a:prstGeom>
                <a:solidFill>
                  <a:schemeClr val="accent3"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83" name="Ellipse 83"/>
                <p:cNvSpPr/>
                <p:nvPr/>
              </p:nvSpPr>
              <p:spPr>
                <a:xfrm>
                  <a:off x="7696200" y="4438650"/>
                  <a:ext cx="76200" cy="76200"/>
                </a:xfrm>
                <a:prstGeom prst="ellipse">
                  <a:avLst/>
                </a:prstGeom>
                <a:solidFill>
                  <a:schemeClr val="accent3"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84" name="Ellipse 84"/>
                <p:cNvSpPr/>
                <p:nvPr/>
              </p:nvSpPr>
              <p:spPr>
                <a:xfrm>
                  <a:off x="7848600" y="4438650"/>
                  <a:ext cx="76200" cy="76200"/>
                </a:xfrm>
                <a:prstGeom prst="ellipse">
                  <a:avLst/>
                </a:prstGeom>
                <a:solidFill>
                  <a:schemeClr val="accent3">
                    <a:alpha val="30000"/>
                  </a:schemeClr>
                </a:solidFill>
                <a:ln>
                  <a:noFill/>
                </a:ln>
              </p:spPr>
            </p:sp>
          </p:grpSp>
          <p:grpSp>
            <p:nvGrpSpPr>
              <p:cNvPr id="88" name="Group 88"/>
              <p:cNvGrpSpPr/>
              <p:nvPr/>
            </p:nvGrpSpPr>
            <p:grpSpPr>
              <a:xfrm>
                <a:off x="9715500" y="3073241"/>
                <a:ext cx="762000" cy="174784"/>
                <a:chOff x="9715500" y="3073241"/>
                <a:chExt cx="762000" cy="174784"/>
              </a:xfrm>
            </p:grpSpPr>
            <p:sp>
              <p:nvSpPr>
                <p:cNvPr id="86" name="Freeform 86"/>
                <p:cNvSpPr/>
                <p:nvPr/>
              </p:nvSpPr>
              <p:spPr>
                <a:xfrm>
                  <a:off x="9715500" y="3238500"/>
                  <a:ext cx="762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9525">
                      <a:moveTo>
                        <a:pt x="0" y="0"/>
                      </a:moveTo>
                      <a:lnTo>
                        <a:pt x="762000" y="0"/>
                      </a:lnTo>
                    </a:path>
                  </a:pathLst>
                </a:custGeom>
                <a:solidFill>
                  <a:srgbClr val="000000"/>
                </a:solidFill>
                <a:ln w="28575">
                  <a:solidFill>
                    <a:schemeClr val="accent2"/>
                  </a:solidFill>
                  <a:tailEnd type="triangle" w="lg" len="lg"/>
                </a:ln>
              </p:spPr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9869614" y="3073241"/>
                  <a:ext cx="453771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82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自动执行</a:t>
                  </a:r>
                </a:p>
              </p:txBody>
            </p:sp>
          </p:grpSp>
          <p:grpSp>
            <p:nvGrpSpPr>
              <p:cNvPr id="111" name="Group 111"/>
              <p:cNvGrpSpPr/>
              <p:nvPr/>
            </p:nvGrpSpPr>
            <p:grpSpPr>
              <a:xfrm>
                <a:off x="10477500" y="1714500"/>
                <a:ext cx="1714500" cy="3048000"/>
                <a:chOff x="10477500" y="1714500"/>
                <a:chExt cx="1714500" cy="3048000"/>
              </a:xfrm>
            </p:grpSpPr>
            <p:sp>
              <p:nvSpPr>
                <p:cNvPr id="89" name="Freeform 89"/>
                <p:cNvSpPr/>
                <p:nvPr/>
              </p:nvSpPr>
              <p:spPr>
                <a:xfrm>
                  <a:off x="10477500" y="1714500"/>
                  <a:ext cx="1714500" cy="304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3048000">
                      <a:moveTo>
                        <a:pt x="114300" y="0"/>
                      </a:moveTo>
                      <a:lnTo>
                        <a:pt x="1600200" y="0"/>
                      </a:lnTo>
                      <a:cubicBezTo>
                        <a:pt x="1663326" y="0"/>
                        <a:pt x="1714500" y="51174"/>
                        <a:pt x="1714500" y="114300"/>
                      </a:cubicBezTo>
                      <a:lnTo>
                        <a:pt x="1714500" y="2933700"/>
                      </a:lnTo>
                      <a:cubicBezTo>
                        <a:pt x="1714500" y="2996826"/>
                        <a:pt x="1663326" y="3048000"/>
                        <a:pt x="1600200" y="3048000"/>
                      </a:cubicBezTo>
                      <a:lnTo>
                        <a:pt x="114300" y="3048000"/>
                      </a:lnTo>
                      <a:cubicBezTo>
                        <a:pt x="51174" y="3048000"/>
                        <a:pt x="0" y="2996826"/>
                        <a:pt x="0" y="2933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299E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</p:spPr>
            </p:sp>
            <p:sp>
              <p:nvSpPr>
                <p:cNvPr id="90" name="Freeform 90"/>
                <p:cNvSpPr/>
                <p:nvPr/>
              </p:nvSpPr>
              <p:spPr>
                <a:xfrm>
                  <a:off x="10496550" y="1733550"/>
                  <a:ext cx="1676400" cy="300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400" h="3009900">
                      <a:moveTo>
                        <a:pt x="104775" y="0"/>
                      </a:moveTo>
                      <a:lnTo>
                        <a:pt x="1571625" y="0"/>
                      </a:lnTo>
                      <a:cubicBezTo>
                        <a:pt x="1629491" y="0"/>
                        <a:pt x="1676400" y="46909"/>
                        <a:pt x="1676400" y="104775"/>
                      </a:cubicBezTo>
                      <a:lnTo>
                        <a:pt x="1676400" y="2905125"/>
                      </a:lnTo>
                      <a:cubicBezTo>
                        <a:pt x="1676400" y="2962991"/>
                        <a:pt x="1629491" y="3009900"/>
                        <a:pt x="1571625" y="3009900"/>
                      </a:cubicBezTo>
                      <a:lnTo>
                        <a:pt x="104775" y="3009900"/>
                      </a:lnTo>
                      <a:cubicBezTo>
                        <a:pt x="46909" y="3009900"/>
                        <a:pt x="0" y="2962991"/>
                        <a:pt x="0" y="2905125"/>
                      </a:cubicBezTo>
                      <a:lnTo>
                        <a:pt x="0" y="104775"/>
                      </a:lnTo>
                      <a:cubicBezTo>
                        <a:pt x="0" y="46909"/>
                        <a:pt x="46909" y="0"/>
                        <a:pt x="104775" y="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rgbClr val="FFFFFF">
                      <a:alpha val="20000"/>
                    </a:srgbClr>
                  </a:solidFill>
                </a:ln>
              </p:spPr>
            </p:sp>
            <p:sp>
              <p:nvSpPr>
                <p:cNvPr id="91" name="Ellipse 91"/>
                <p:cNvSpPr/>
                <p:nvPr/>
              </p:nvSpPr>
              <p:spPr>
                <a:xfrm>
                  <a:off x="11658600" y="1924050"/>
                  <a:ext cx="533400" cy="533400"/>
                </a:xfrm>
                <a:prstGeom prst="ellipse">
                  <a:avLst/>
                </a:prstGeom>
                <a:solidFill>
                  <a:schemeClr val="lt1">
                    <a:alpha val="15000"/>
                  </a:schemeClr>
                </a:solidFill>
                <a:ln>
                  <a:noFill/>
                </a:ln>
              </p:spPr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11768298" y="2072640"/>
                  <a:ext cx="314005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b="1" dirty="0">
                      <a:solidFill>
                        <a:srgbClr val="FFFFFF"/>
                      </a:solidFill>
                      <a:latin typeface="+mj-lt"/>
                      <a:ea typeface="+mj-ea"/>
                      <a:cs typeface="+mj-cs"/>
                    </a:rPr>
                    <a:t>46</a:t>
                  </a:r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10624566" y="2077402"/>
                  <a:ext cx="17392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04</a:t>
                  </a:r>
                </a:p>
              </p:txBody>
            </p:sp>
            <p:grpSp>
              <p:nvGrpSpPr>
                <p:cNvPr id="102" name="Group 102"/>
                <p:cNvGrpSpPr/>
                <p:nvPr/>
              </p:nvGrpSpPr>
              <p:grpSpPr>
                <a:xfrm>
                  <a:off x="10629900" y="2476500"/>
                  <a:ext cx="1409700" cy="762000"/>
                  <a:chOff x="10629900" y="2476500"/>
                  <a:chExt cx="1409700" cy="762000"/>
                </a:xfrm>
              </p:grpSpPr>
              <p:sp>
                <p:nvSpPr>
                  <p:cNvPr id="94" name="Freeform 94"/>
                  <p:cNvSpPr/>
                  <p:nvPr/>
                </p:nvSpPr>
                <p:spPr>
                  <a:xfrm>
                    <a:off x="10629900" y="2476500"/>
                    <a:ext cx="1409700" cy="762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9700" h="762000">
                        <a:moveTo>
                          <a:pt x="76200" y="0"/>
                        </a:moveTo>
                        <a:lnTo>
                          <a:pt x="1333500" y="0"/>
                        </a:lnTo>
                        <a:cubicBezTo>
                          <a:pt x="1375584" y="0"/>
                          <a:pt x="1409700" y="34116"/>
                          <a:pt x="1409700" y="76200"/>
                        </a:cubicBezTo>
                        <a:lnTo>
                          <a:pt x="1409700" y="685800"/>
                        </a:lnTo>
                        <a:cubicBezTo>
                          <a:pt x="1409700" y="727884"/>
                          <a:pt x="1375584" y="762000"/>
                          <a:pt x="1333500" y="762000"/>
                        </a:cubicBezTo>
                        <a:lnTo>
                          <a:pt x="76200" y="762000"/>
                        </a:lnTo>
                        <a:cubicBezTo>
                          <a:pt x="34116" y="762000"/>
                          <a:pt x="0" y="727884"/>
                          <a:pt x="0" y="68580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1">
                      <a:alpha val="10000"/>
                    </a:schemeClr>
                  </a:solidFill>
                  <a:ln>
                    <a:noFill/>
                  </a:ln>
                </p:spPr>
              </p:sp>
              <p:grpSp>
                <p:nvGrpSpPr>
                  <p:cNvPr id="101" name="Group 101"/>
                  <p:cNvGrpSpPr/>
                  <p:nvPr/>
                </p:nvGrpSpPr>
                <p:grpSpPr>
                  <a:xfrm>
                    <a:off x="10820400" y="2590800"/>
                    <a:ext cx="1047750" cy="457200"/>
                    <a:chOff x="10820400" y="2590800"/>
                    <a:chExt cx="1047750" cy="457200"/>
                  </a:xfrm>
                </p:grpSpPr>
                <p:sp>
                  <p:nvSpPr>
                    <p:cNvPr id="95" name="Freeform 95"/>
                    <p:cNvSpPr/>
                    <p:nvPr/>
                  </p:nvSpPr>
                  <p:spPr>
                    <a:xfrm>
                      <a:off x="10820400" y="2714625"/>
                      <a:ext cx="285750" cy="3333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750" h="333375">
                          <a:moveTo>
                            <a:pt x="28575" y="0"/>
                          </a:moveTo>
                          <a:lnTo>
                            <a:pt x="257175" y="0"/>
                          </a:lnTo>
                          <a:cubicBezTo>
                            <a:pt x="272957" y="0"/>
                            <a:pt x="285750" y="12793"/>
                            <a:pt x="285750" y="28575"/>
                          </a:cubicBezTo>
                          <a:lnTo>
                            <a:pt x="285750" y="304800"/>
                          </a:lnTo>
                          <a:cubicBezTo>
                            <a:pt x="285750" y="320582"/>
                            <a:pt x="272957" y="333375"/>
                            <a:pt x="257175" y="333375"/>
                          </a:cubicBezTo>
                          <a:lnTo>
                            <a:pt x="28575" y="333375"/>
                          </a:lnTo>
                          <a:cubicBezTo>
                            <a:pt x="12793" y="333375"/>
                            <a:pt x="0" y="320582"/>
                            <a:pt x="0" y="304800"/>
                          </a:cubicBezTo>
                          <a:lnTo>
                            <a:pt x="0" y="28575"/>
                          </a:lnTo>
                          <a:cubicBezTo>
                            <a:pt x="0" y="12793"/>
                            <a:pt x="12793" y="0"/>
                            <a:pt x="28575" y="0"/>
                          </a:cubicBezTo>
                          <a:close/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96" name="Freeform 96"/>
                    <p:cNvSpPr/>
                    <p:nvPr/>
                  </p:nvSpPr>
                  <p:spPr>
                    <a:xfrm>
                      <a:off x="11201400" y="2667000"/>
                      <a:ext cx="285750" cy="381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750" h="381000">
                          <a:moveTo>
                            <a:pt x="28575" y="0"/>
                          </a:moveTo>
                          <a:lnTo>
                            <a:pt x="257175" y="0"/>
                          </a:lnTo>
                          <a:cubicBezTo>
                            <a:pt x="272957" y="0"/>
                            <a:pt x="285750" y="12793"/>
                            <a:pt x="285750" y="28575"/>
                          </a:cubicBezTo>
                          <a:lnTo>
                            <a:pt x="285750" y="352425"/>
                          </a:lnTo>
                          <a:cubicBezTo>
                            <a:pt x="285750" y="368207"/>
                            <a:pt x="272957" y="381000"/>
                            <a:pt x="257175" y="381000"/>
                          </a:cubicBezTo>
                          <a:lnTo>
                            <a:pt x="28575" y="381000"/>
                          </a:lnTo>
                          <a:cubicBezTo>
                            <a:pt x="12793" y="381000"/>
                            <a:pt x="0" y="368207"/>
                            <a:pt x="0" y="352425"/>
                          </a:cubicBezTo>
                          <a:lnTo>
                            <a:pt x="0" y="28575"/>
                          </a:lnTo>
                          <a:cubicBezTo>
                            <a:pt x="0" y="12793"/>
                            <a:pt x="12793" y="0"/>
                            <a:pt x="28575" y="0"/>
                          </a:cubicBezTo>
                          <a:close/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97" name="Freeform 97"/>
                    <p:cNvSpPr/>
                    <p:nvPr/>
                  </p:nvSpPr>
                  <p:spPr>
                    <a:xfrm>
                      <a:off x="11582400" y="2743200"/>
                      <a:ext cx="285750" cy="304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750" h="304800">
                          <a:moveTo>
                            <a:pt x="28575" y="0"/>
                          </a:moveTo>
                          <a:lnTo>
                            <a:pt x="257175" y="0"/>
                          </a:lnTo>
                          <a:cubicBezTo>
                            <a:pt x="272957" y="0"/>
                            <a:pt x="285750" y="12793"/>
                            <a:pt x="285750" y="28575"/>
                          </a:cubicBezTo>
                          <a:lnTo>
                            <a:pt x="285750" y="276225"/>
                          </a:lnTo>
                          <a:cubicBezTo>
                            <a:pt x="285750" y="292007"/>
                            <a:pt x="272957" y="304800"/>
                            <a:pt x="257175" y="304800"/>
                          </a:cubicBezTo>
                          <a:lnTo>
                            <a:pt x="28575" y="304800"/>
                          </a:lnTo>
                          <a:cubicBezTo>
                            <a:pt x="12793" y="304800"/>
                            <a:pt x="0" y="292007"/>
                            <a:pt x="0" y="276225"/>
                          </a:cubicBezTo>
                          <a:lnTo>
                            <a:pt x="0" y="28575"/>
                          </a:lnTo>
                          <a:cubicBezTo>
                            <a:pt x="0" y="12793"/>
                            <a:pt x="12793" y="0"/>
                            <a:pt x="28575" y="0"/>
                          </a:cubicBezTo>
                          <a:close/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98" name="Freeform 98"/>
                    <p:cNvSpPr/>
                    <p:nvPr/>
                  </p:nvSpPr>
                  <p:spPr>
                    <a:xfrm>
                      <a:off x="10963275" y="2619375"/>
                      <a:ext cx="9525" cy="95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5" h="95250">
                          <a:moveTo>
                            <a:pt x="0" y="0"/>
                          </a:moveTo>
                          <a:lnTo>
                            <a:pt x="0" y="95250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99" name="Freeform 99"/>
                    <p:cNvSpPr/>
                    <p:nvPr/>
                  </p:nvSpPr>
                  <p:spPr>
                    <a:xfrm>
                      <a:off x="11344275" y="2590800"/>
                      <a:ext cx="9525" cy="76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5" h="76200">
                          <a:moveTo>
                            <a:pt x="0" y="0"/>
                          </a:moveTo>
                          <a:lnTo>
                            <a:pt x="0" y="76200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  <p:sp>
                  <p:nvSpPr>
                    <p:cNvPr id="100" name="Freeform 100"/>
                    <p:cNvSpPr/>
                    <p:nvPr/>
                  </p:nvSpPr>
                  <p:spPr>
                    <a:xfrm>
                      <a:off x="11725275" y="2647950"/>
                      <a:ext cx="9525" cy="95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5" h="95250">
                          <a:moveTo>
                            <a:pt x="0" y="0"/>
                          </a:moveTo>
                          <a:lnTo>
                            <a:pt x="0" y="95250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FFFFFF"/>
                      </a:solidFill>
                      <a:round/>
                    </a:ln>
                  </p:spPr>
                </p:sp>
              </p:grpSp>
            </p:grpSp>
            <p:sp>
              <p:nvSpPr>
                <p:cNvPr id="103" name="TextBox 103"/>
                <p:cNvSpPr txBox="1"/>
                <p:nvPr/>
              </p:nvSpPr>
              <p:spPr>
                <a:xfrm>
                  <a:off x="10623804" y="3394710"/>
                  <a:ext cx="86029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多渠道触达</a:t>
                  </a:r>
                </a:p>
              </p:txBody>
            </p:sp>
            <p:sp>
              <p:nvSpPr>
                <p:cNvPr id="104" name="TextBox 104"/>
                <p:cNvSpPr txBox="1"/>
                <p:nvPr/>
              </p:nvSpPr>
              <p:spPr>
                <a:xfrm>
                  <a:off x="10624566" y="3620452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FFFFFF">
                          <a:alphaMod val="90000"/>
                        </a:srgbClr>
                      </a:solidFill>
                      <a:latin typeface="+mn-lt"/>
                      <a:ea typeface="+mn-ea"/>
                      <a:cs typeface="+mn-cs"/>
                    </a:rPr>
                    <a:t>自动化工作流</a:t>
                  </a:r>
                </a:p>
              </p:txBody>
            </p:sp>
            <p:sp>
              <p:nvSpPr>
                <p:cNvPr id="105" name="Freeform 105"/>
                <p:cNvSpPr/>
                <p:nvPr/>
              </p:nvSpPr>
              <p:spPr>
                <a:xfrm>
                  <a:off x="10629900" y="4095750"/>
                  <a:ext cx="13716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0" h="57150">
                      <a:moveTo>
                        <a:pt x="28575" y="0"/>
                      </a:moveTo>
                      <a:lnTo>
                        <a:pt x="1343025" y="0"/>
                      </a:lnTo>
                      <a:cubicBezTo>
                        <a:pt x="1358807" y="0"/>
                        <a:pt x="1371600" y="12793"/>
                        <a:pt x="1371600" y="28575"/>
                      </a:cubicBezTo>
                      <a:lnTo>
                        <a:pt x="1371600" y="28575"/>
                      </a:lnTo>
                      <a:cubicBezTo>
                        <a:pt x="1371600" y="44357"/>
                        <a:pt x="1358807" y="57150"/>
                        <a:pt x="13430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l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06" name="Freeform 106"/>
                <p:cNvSpPr/>
                <p:nvPr/>
              </p:nvSpPr>
              <p:spPr>
                <a:xfrm>
                  <a:off x="10629900" y="4095750"/>
                  <a:ext cx="6286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0" h="57150">
                      <a:moveTo>
                        <a:pt x="28575" y="0"/>
                      </a:moveTo>
                      <a:lnTo>
                        <a:pt x="600075" y="0"/>
                      </a:lnTo>
                      <a:cubicBezTo>
                        <a:pt x="615857" y="0"/>
                        <a:pt x="628650" y="12793"/>
                        <a:pt x="628650" y="28575"/>
                      </a:cubicBezTo>
                      <a:lnTo>
                        <a:pt x="628650" y="28575"/>
                      </a:lnTo>
                      <a:cubicBezTo>
                        <a:pt x="628650" y="44357"/>
                        <a:pt x="615857" y="57150"/>
                        <a:pt x="60007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107" name="Ellipse 107"/>
                <p:cNvSpPr/>
                <p:nvPr/>
              </p:nvSpPr>
              <p:spPr>
                <a:xfrm>
                  <a:off x="10591800" y="4391025"/>
                  <a:ext cx="76200" cy="76200"/>
                </a:xfrm>
                <a:prstGeom prst="ellipse">
                  <a:avLst/>
                </a:prstGeom>
                <a:solidFill>
                  <a:schemeClr val="accent3"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108" name="Ellipse 108"/>
                <p:cNvSpPr/>
                <p:nvPr/>
              </p:nvSpPr>
              <p:spPr>
                <a:xfrm>
                  <a:off x="10725150" y="4391025"/>
                  <a:ext cx="76200" cy="76200"/>
                </a:xfrm>
                <a:prstGeom prst="ellipse">
                  <a:avLst/>
                </a:prstGeom>
                <a:solidFill>
                  <a:schemeClr val="accent3"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109" name="Ellipse 109"/>
                <p:cNvSpPr/>
                <p:nvPr/>
              </p:nvSpPr>
              <p:spPr>
                <a:xfrm>
                  <a:off x="10858500" y="4391025"/>
                  <a:ext cx="76200" cy="76200"/>
                </a:xfrm>
                <a:prstGeom prst="ellipse">
                  <a:avLst/>
                </a:prstGeom>
                <a:solidFill>
                  <a:schemeClr val="accent3"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110" name="Ellipse 110"/>
                <p:cNvSpPr/>
                <p:nvPr/>
              </p:nvSpPr>
              <p:spPr>
                <a:xfrm>
                  <a:off x="10991850" y="4391025"/>
                  <a:ext cx="76200" cy="76200"/>
                </a:xfrm>
                <a:prstGeom prst="ellipse">
                  <a:avLst/>
                </a:prstGeom>
                <a:solidFill>
                  <a:schemeClr val="accent3">
                    <a:alpha val="3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138" name="Group 138"/>
            <p:cNvGrpSpPr/>
            <p:nvPr/>
          </p:nvGrpSpPr>
          <p:grpSpPr>
            <a:xfrm>
              <a:off x="762000" y="5143500"/>
              <a:ext cx="10668000" cy="762000"/>
              <a:chOff x="762000" y="5143500"/>
              <a:chExt cx="10668000" cy="7620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762000" y="5143500"/>
                <a:ext cx="10668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762000">
                    <a:moveTo>
                      <a:pt x="76200" y="0"/>
                    </a:moveTo>
                    <a:lnTo>
                      <a:pt x="10591800" y="0"/>
                    </a:lnTo>
                    <a:cubicBezTo>
                      <a:pt x="10633884" y="0"/>
                      <a:pt x="10668000" y="34116"/>
                      <a:pt x="10668000" y="76200"/>
                    </a:cubicBezTo>
                    <a:lnTo>
                      <a:pt x="10668000" y="685800"/>
                    </a:lnTo>
                    <a:cubicBezTo>
                      <a:pt x="10668000" y="727884"/>
                      <a:pt x="10633884" y="762000"/>
                      <a:pt x="10591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762000" y="5143500"/>
                <a:ext cx="10668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762000">
                    <a:moveTo>
                      <a:pt x="76200" y="0"/>
                    </a:moveTo>
                    <a:lnTo>
                      <a:pt x="10591800" y="0"/>
                    </a:lnTo>
                    <a:cubicBezTo>
                      <a:pt x="10633884" y="0"/>
                      <a:pt x="10668000" y="34116"/>
                      <a:pt x="10668000" y="76200"/>
                    </a:cubicBezTo>
                    <a:lnTo>
                      <a:pt x="10668000" y="685800"/>
                    </a:lnTo>
                    <a:cubicBezTo>
                      <a:pt x="10668000" y="727884"/>
                      <a:pt x="10633884" y="762000"/>
                      <a:pt x="10591800" y="762000"/>
                    </a:cubicBezTo>
                    <a:lnTo>
                      <a:pt x="76200" y="762000"/>
                    </a:lnTo>
                    <a:cubicBezTo>
                      <a:pt x="34116" y="762000"/>
                      <a:pt x="0" y="727884"/>
                      <a:pt x="0" y="685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grpSp>
            <p:nvGrpSpPr>
              <p:cNvPr id="119" name="Group 119"/>
              <p:cNvGrpSpPr/>
              <p:nvPr/>
            </p:nvGrpSpPr>
            <p:grpSpPr>
              <a:xfrm>
                <a:off x="1333500" y="5334000"/>
                <a:ext cx="1255585" cy="412432"/>
                <a:chOff x="1333500" y="5334000"/>
                <a:chExt cx="1255585" cy="412432"/>
              </a:xfrm>
            </p:grpSpPr>
            <p:sp>
              <p:nvSpPr>
                <p:cNvPr id="115" name="Ellipse 115"/>
                <p:cNvSpPr/>
                <p:nvPr/>
              </p:nvSpPr>
              <p:spPr>
                <a:xfrm>
                  <a:off x="1333500" y="5334000"/>
                  <a:ext cx="381000" cy="381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16" name="TextBox 116"/>
                <p:cNvSpPr txBox="1"/>
                <p:nvPr/>
              </p:nvSpPr>
              <p:spPr>
                <a:xfrm>
                  <a:off x="1477851" y="5458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17" name="TextBox 117"/>
                <p:cNvSpPr txBox="1"/>
                <p:nvPr/>
              </p:nvSpPr>
              <p:spPr>
                <a:xfrm>
                  <a:off x="1852041" y="5363528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数据接入</a:t>
                  </a:r>
                </a:p>
              </p:txBody>
            </p:sp>
            <p:sp>
              <p:nvSpPr>
                <p:cNvPr id="118" name="TextBox 118"/>
                <p:cNvSpPr txBox="1"/>
                <p:nvPr/>
              </p:nvSpPr>
              <p:spPr>
                <a:xfrm>
                  <a:off x="1852612" y="5570220"/>
                  <a:ext cx="73647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多源实时同步</a:t>
                  </a:r>
                </a:p>
              </p:txBody>
            </p:sp>
          </p:grpSp>
          <p:grpSp>
            <p:nvGrpSpPr>
              <p:cNvPr id="124" name="Group 124"/>
              <p:cNvGrpSpPr/>
              <p:nvPr/>
            </p:nvGrpSpPr>
            <p:grpSpPr>
              <a:xfrm>
                <a:off x="3429000" y="5334000"/>
                <a:ext cx="1149515" cy="412432"/>
                <a:chOff x="3429000" y="5334000"/>
                <a:chExt cx="1149515" cy="412432"/>
              </a:xfrm>
            </p:grpSpPr>
            <p:sp>
              <p:nvSpPr>
                <p:cNvPr id="120" name="Ellipse 120"/>
                <p:cNvSpPr/>
                <p:nvPr/>
              </p:nvSpPr>
              <p:spPr>
                <a:xfrm>
                  <a:off x="3429000" y="5334000"/>
                  <a:ext cx="381000" cy="381000"/>
                </a:xfrm>
                <a:prstGeom prst="ellipse">
                  <a:avLst/>
                </a:prstGeom>
                <a:solidFill>
                  <a:srgbClr val="2B6CB0"/>
                </a:solidFill>
                <a:ln>
                  <a:noFill/>
                </a:ln>
              </p:spPr>
            </p:sp>
            <p:sp>
              <p:nvSpPr>
                <p:cNvPr id="121" name="TextBox 121"/>
                <p:cNvSpPr txBox="1"/>
                <p:nvPr/>
              </p:nvSpPr>
              <p:spPr>
                <a:xfrm>
                  <a:off x="3573351" y="5458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2</a:t>
                  </a:r>
                </a:p>
              </p:txBody>
            </p:sp>
            <p:sp>
              <p:nvSpPr>
                <p:cNvPr id="122" name="TextBox 122"/>
                <p:cNvSpPr txBox="1"/>
                <p:nvPr/>
              </p:nvSpPr>
              <p:spPr>
                <a:xfrm>
                  <a:off x="3947541" y="5363528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智能分群</a:t>
                  </a:r>
                </a:p>
              </p:txBody>
            </p:sp>
            <p:sp>
              <p:nvSpPr>
                <p:cNvPr id="123" name="TextBox 123"/>
                <p:cNvSpPr txBox="1"/>
                <p:nvPr/>
              </p:nvSpPr>
              <p:spPr>
                <a:xfrm>
                  <a:off x="3948112" y="5570220"/>
                  <a:ext cx="63040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AI自动画像</a:t>
                  </a:r>
                </a:p>
              </p:txBody>
            </p:sp>
          </p:grpSp>
          <p:grpSp>
            <p:nvGrpSpPr>
              <p:cNvPr id="129" name="Group 129"/>
              <p:cNvGrpSpPr/>
              <p:nvPr/>
            </p:nvGrpSpPr>
            <p:grpSpPr>
              <a:xfrm>
                <a:off x="5524500" y="5334000"/>
                <a:ext cx="1122883" cy="412432"/>
                <a:chOff x="5524500" y="5334000"/>
                <a:chExt cx="1122883" cy="412432"/>
              </a:xfrm>
            </p:grpSpPr>
            <p:sp>
              <p:nvSpPr>
                <p:cNvPr id="125" name="Ellipse 125"/>
                <p:cNvSpPr/>
                <p:nvPr/>
              </p:nvSpPr>
              <p:spPr>
                <a:xfrm>
                  <a:off x="5524500" y="5334000"/>
                  <a:ext cx="381000" cy="3810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26" name="TextBox 126"/>
                <p:cNvSpPr txBox="1"/>
                <p:nvPr/>
              </p:nvSpPr>
              <p:spPr>
                <a:xfrm>
                  <a:off x="5668851" y="5458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127" name="TextBox 127"/>
                <p:cNvSpPr txBox="1"/>
                <p:nvPr/>
              </p:nvSpPr>
              <p:spPr>
                <a:xfrm>
                  <a:off x="6043041" y="5363528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预测决策</a:t>
                  </a:r>
                </a:p>
              </p:txBody>
            </p:sp>
            <p:sp>
              <p:nvSpPr>
                <p:cNvPr id="128" name="TextBox 128"/>
                <p:cNvSpPr txBox="1"/>
                <p:nvPr/>
              </p:nvSpPr>
              <p:spPr>
                <a:xfrm>
                  <a:off x="6043612" y="5570220"/>
                  <a:ext cx="49415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实时触发</a:t>
                  </a:r>
                </a:p>
              </p:txBody>
            </p:sp>
          </p:grpSp>
          <p:grpSp>
            <p:nvGrpSpPr>
              <p:cNvPr id="134" name="Group 134"/>
              <p:cNvGrpSpPr/>
              <p:nvPr/>
            </p:nvGrpSpPr>
            <p:grpSpPr>
              <a:xfrm>
                <a:off x="7620000" y="5334000"/>
                <a:ext cx="1271302" cy="412432"/>
                <a:chOff x="7620000" y="5334000"/>
                <a:chExt cx="1271302" cy="412432"/>
              </a:xfrm>
            </p:grpSpPr>
            <p:sp>
              <p:nvSpPr>
                <p:cNvPr id="130" name="Ellipse 130"/>
                <p:cNvSpPr/>
                <p:nvPr/>
              </p:nvSpPr>
              <p:spPr>
                <a:xfrm>
                  <a:off x="7620000" y="5334000"/>
                  <a:ext cx="381000" cy="381000"/>
                </a:xfrm>
                <a:prstGeom prst="ellipse">
                  <a:avLst/>
                </a:prstGeom>
                <a:solidFill>
                  <a:srgbClr val="4299E1"/>
                </a:solidFill>
                <a:ln>
                  <a:noFill/>
                </a:ln>
              </p:spPr>
            </p:sp>
            <p:sp>
              <p:nvSpPr>
                <p:cNvPr id="131" name="TextBox 131"/>
                <p:cNvSpPr txBox="1"/>
                <p:nvPr/>
              </p:nvSpPr>
              <p:spPr>
                <a:xfrm>
                  <a:off x="7764351" y="54587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132" name="TextBox 132"/>
                <p:cNvSpPr txBox="1"/>
                <p:nvPr/>
              </p:nvSpPr>
              <p:spPr>
                <a:xfrm>
                  <a:off x="8138541" y="5363528"/>
                  <a:ext cx="75276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全渠道执行</a:t>
                  </a:r>
                </a:p>
              </p:txBody>
            </p:sp>
            <p:sp>
              <p:nvSpPr>
                <p:cNvPr id="133" name="TextBox 133"/>
                <p:cNvSpPr txBox="1"/>
                <p:nvPr/>
              </p:nvSpPr>
              <p:spPr>
                <a:xfrm>
                  <a:off x="8139112" y="5570220"/>
                  <a:ext cx="73647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自动化工作流</a:t>
                  </a:r>
                </a:p>
              </p:txBody>
            </p:sp>
          </p:grpSp>
          <p:grpSp>
            <p:nvGrpSpPr>
              <p:cNvPr id="137" name="Group 137"/>
              <p:cNvGrpSpPr/>
              <p:nvPr/>
            </p:nvGrpSpPr>
            <p:grpSpPr>
              <a:xfrm>
                <a:off x="10001250" y="5353050"/>
                <a:ext cx="762000" cy="342900"/>
                <a:chOff x="10001250" y="5353050"/>
                <a:chExt cx="762000" cy="342900"/>
              </a:xfrm>
            </p:grpSpPr>
            <p:sp>
              <p:nvSpPr>
                <p:cNvPr id="135" name="Freeform 135"/>
                <p:cNvSpPr/>
                <p:nvPr/>
              </p:nvSpPr>
              <p:spPr>
                <a:xfrm>
                  <a:off x="10001250" y="5353050"/>
                  <a:ext cx="7620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342900">
                      <a:moveTo>
                        <a:pt x="171450" y="0"/>
                      </a:moveTo>
                      <a:lnTo>
                        <a:pt x="590550" y="0"/>
                      </a:lnTo>
                      <a:cubicBezTo>
                        <a:pt x="685239" y="0"/>
                        <a:pt x="762000" y="76761"/>
                        <a:pt x="762000" y="171450"/>
                      </a:cubicBezTo>
                      <a:lnTo>
                        <a:pt x="762000" y="171450"/>
                      </a:lnTo>
                      <a:cubicBezTo>
                        <a:pt x="762000" y="266139"/>
                        <a:pt x="685239" y="342900"/>
                        <a:pt x="590550" y="342900"/>
                      </a:cubicBezTo>
                      <a:lnTo>
                        <a:pt x="171450" y="342900"/>
                      </a:lnTo>
                      <a:cubicBezTo>
                        <a:pt x="76761" y="342900"/>
                        <a:pt x="0" y="266139"/>
                        <a:pt x="0" y="171450"/>
                      </a:cubicBezTo>
                      <a:lnTo>
                        <a:pt x="0" y="171450"/>
                      </a:lnTo>
                      <a:cubicBezTo>
                        <a:pt x="0" y="76761"/>
                        <a:pt x="76761" y="0"/>
                        <a:pt x="171450" y="0"/>
                      </a:cubicBezTo>
                      <a:close/>
                    </a:path>
                  </a:pathLst>
                </a:cu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136" name="TextBox 136"/>
                <p:cNvSpPr txBox="1"/>
                <p:nvPr/>
              </p:nvSpPr>
              <p:spPr>
                <a:xfrm>
                  <a:off x="10228497" y="5458778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完成</a:t>
                  </a:r>
                </a:p>
              </p:txBody>
            </p:sp>
          </p:grpSp>
        </p:grpSp>
      </p:grpSp>
      <p:grpSp>
        <p:nvGrpSpPr>
          <p:cNvPr id="141" name="Group 141"/>
          <p:cNvGrpSpPr/>
          <p:nvPr/>
        </p:nvGrpSpPr>
        <p:grpSpPr>
          <a:xfrm>
            <a:off x="5503621" y="5236845"/>
            <a:ext cx="1184758" cy="176212"/>
            <a:chOff x="5503621" y="5236845"/>
            <a:chExt cx="1184758" cy="176212"/>
          </a:xfrm>
        </p:grpSpPr>
        <p:sp>
          <p:nvSpPr>
            <p:cNvPr id="140" name="TextBox 140"/>
            <p:cNvSpPr txBox="1"/>
            <p:nvPr/>
          </p:nvSpPr>
          <p:spPr>
            <a:xfrm>
              <a:off x="5503621" y="5236845"/>
              <a:ext cx="11847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← 营销闭环流转方向 →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4" name="Line 4"/>
              <p:cNvSpPr/>
              <p:nvPr/>
            </p:nvSpPr>
            <p:spPr>
              <a:xfrm>
                <a:off x="0" y="13716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0" y="27432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0" y="41148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0" y="54864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4384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48768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73152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97536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</p:grpSp>
      </p:grpSp>
      <p:grpSp>
        <p:nvGrpSpPr>
          <p:cNvPr id="18" name="Group 18"/>
          <p:cNvGrpSpPr/>
          <p:nvPr/>
        </p:nvGrpSpPr>
        <p:grpSpPr>
          <a:xfrm>
            <a:off x="557784" y="476250"/>
            <a:ext cx="11062716" cy="1308925"/>
            <a:chOff x="557784" y="476250"/>
            <a:chExt cx="11062716" cy="1308925"/>
          </a:xfrm>
        </p:grpSpPr>
        <p:sp>
          <p:nvSpPr>
            <p:cNvPr id="14" name="Rectangle 14"/>
            <p:cNvSpPr/>
            <p:nvPr/>
          </p:nvSpPr>
          <p:spPr>
            <a:xfrm>
              <a:off x="571500" y="476250"/>
              <a:ext cx="11049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6166" y="743902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7784" y="1042035"/>
              <a:ext cx="28501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下一步行动建议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642" y="152114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以收束页形式给出接下来最值得执行或持续观察的动作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62000" y="3410902"/>
            <a:ext cx="10287000" cy="2208848"/>
            <a:chOff x="762000" y="3410902"/>
            <a:chExt cx="10287000" cy="2208848"/>
          </a:xfrm>
        </p:grpSpPr>
        <p:sp>
          <p:nvSpPr>
            <p:cNvPr id="19" name="Freeform 19"/>
            <p:cNvSpPr/>
            <p:nvPr/>
          </p:nvSpPr>
          <p:spPr>
            <a:xfrm>
              <a:off x="1143000" y="3810000"/>
              <a:ext cx="9906000" cy="57150"/>
            </a:xfrm>
            <a:custGeom>
              <a:avLst/>
              <a:gdLst/>
              <a:ahLst/>
              <a:cxnLst/>
              <a:rect l="l" t="t" r="r" b="b"/>
              <a:pathLst>
                <a:path w="9906000" h="57150">
                  <a:moveTo>
                    <a:pt x="28575" y="0"/>
                  </a:moveTo>
                  <a:lnTo>
                    <a:pt x="9877425" y="0"/>
                  </a:lnTo>
                  <a:cubicBezTo>
                    <a:pt x="9893207" y="0"/>
                    <a:pt x="9906000" y="12793"/>
                    <a:pt x="9906000" y="28575"/>
                  </a:cubicBezTo>
                  <a:lnTo>
                    <a:pt x="9906000" y="28575"/>
                  </a:lnTo>
                  <a:cubicBezTo>
                    <a:pt x="9906000" y="44357"/>
                    <a:pt x="9893207" y="57150"/>
                    <a:pt x="9877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62000" y="3410902"/>
              <a:ext cx="1905000" cy="2208848"/>
              <a:chOff x="762000" y="3410902"/>
              <a:chExt cx="1905000" cy="2208848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1562100" y="3686175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rgbClr val="FFFFFF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1638300" y="3762375"/>
                <a:ext cx="152400" cy="15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560747" y="3410902"/>
                <a:ext cx="30750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立即</a:t>
                </a:r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762000" y="4286250"/>
                <a:ext cx="1905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13335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1257300"/>
                    </a:lnTo>
                    <a:cubicBezTo>
                      <a:pt x="1905000" y="1299384"/>
                      <a:pt x="1870884" y="1333500"/>
                      <a:pt x="1828800" y="1333500"/>
                    </a:cubicBezTo>
                    <a:lnTo>
                      <a:pt x="76200" y="1333500"/>
                    </a:lnTo>
                    <a:cubicBezTo>
                      <a:pt x="34116" y="1333500"/>
                      <a:pt x="0" y="1299384"/>
                      <a:pt x="0" y="1257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62000" y="4286250"/>
                <a:ext cx="1905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3810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304800"/>
                    </a:lnTo>
                    <a:cubicBezTo>
                      <a:pt x="1905000" y="346884"/>
                      <a:pt x="1870884" y="381000"/>
                      <a:pt x="1828800" y="381000"/>
                    </a:cubicBezTo>
                    <a:lnTo>
                      <a:pt x="76200" y="381000"/>
                    </a:lnTo>
                    <a:cubicBezTo>
                      <a:pt x="34116" y="381000"/>
                      <a:pt x="0" y="346884"/>
                      <a:pt x="0" y="304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762000" y="4476750"/>
                <a:ext cx="1905000" cy="190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338120" y="4439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确认数据源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250156" y="475249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确认数据源清单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404442" y="4942999"/>
                <a:ext cx="6201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与API权限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65212" y="5181124"/>
                <a:ext cx="109857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启动POC范围划定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238500" y="3410902"/>
              <a:ext cx="1905000" cy="2208848"/>
              <a:chOff x="3238500" y="3410902"/>
              <a:chExt cx="1905000" cy="2208848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4038600" y="3686175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rgbClr val="FFFFFF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4114800" y="3762375"/>
                <a:ext cx="152400" cy="15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029827" y="3410902"/>
                <a:ext cx="32234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30天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3238500" y="4286250"/>
                <a:ext cx="1905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13335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1257300"/>
                    </a:lnTo>
                    <a:cubicBezTo>
                      <a:pt x="1905000" y="1299384"/>
                      <a:pt x="1870884" y="1333500"/>
                      <a:pt x="1828800" y="1333500"/>
                    </a:cubicBezTo>
                    <a:lnTo>
                      <a:pt x="76200" y="1333500"/>
                    </a:lnTo>
                    <a:cubicBezTo>
                      <a:pt x="34116" y="1333500"/>
                      <a:pt x="0" y="1299384"/>
                      <a:pt x="0" y="1257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238500" y="4286250"/>
                <a:ext cx="1905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3810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304800"/>
                    </a:lnTo>
                    <a:cubicBezTo>
                      <a:pt x="1905000" y="346884"/>
                      <a:pt x="1870884" y="381000"/>
                      <a:pt x="1828800" y="381000"/>
                    </a:cubicBezTo>
                    <a:lnTo>
                      <a:pt x="76200" y="381000"/>
                    </a:lnTo>
                    <a:cubicBezTo>
                      <a:pt x="34116" y="381000"/>
                      <a:pt x="0" y="346884"/>
                      <a:pt x="0" y="304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238500" y="4476750"/>
                <a:ext cx="1905000" cy="190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888829" y="44396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数据接入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726656" y="475249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完成数据接入与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595402" y="49429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第一版客户分群模型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693719" y="5181124"/>
                <a:ext cx="99456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输出AB测试方案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5715000" y="3410902"/>
              <a:ext cx="1905000" cy="2208848"/>
              <a:chOff x="5715000" y="3410902"/>
              <a:chExt cx="1905000" cy="2208848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515100" y="3686175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rgbClr val="FFFFFF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6591300" y="3762375"/>
                <a:ext cx="152400" cy="15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506327" y="3410902"/>
                <a:ext cx="32234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60天</a:t>
                </a:r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5715000" y="4286250"/>
                <a:ext cx="1905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13335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1257300"/>
                    </a:lnTo>
                    <a:cubicBezTo>
                      <a:pt x="1905000" y="1299384"/>
                      <a:pt x="1870884" y="1333500"/>
                      <a:pt x="1828800" y="1333500"/>
                    </a:cubicBezTo>
                    <a:lnTo>
                      <a:pt x="76200" y="1333500"/>
                    </a:lnTo>
                    <a:cubicBezTo>
                      <a:pt x="34116" y="1333500"/>
                      <a:pt x="0" y="1299384"/>
                      <a:pt x="0" y="1257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715000" y="4286250"/>
                <a:ext cx="1905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3810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304800"/>
                    </a:lnTo>
                    <a:cubicBezTo>
                      <a:pt x="1905000" y="346884"/>
                      <a:pt x="1870884" y="381000"/>
                      <a:pt x="1828800" y="381000"/>
                    </a:cubicBezTo>
                    <a:lnTo>
                      <a:pt x="76200" y="381000"/>
                    </a:lnTo>
                    <a:cubicBezTo>
                      <a:pt x="34116" y="381000"/>
                      <a:pt x="0" y="346884"/>
                      <a:pt x="0" y="304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5715000" y="4476750"/>
                <a:ext cx="1905000" cy="190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291120" y="4439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自动化上线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203156" y="475249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上线自动化营销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203156" y="494299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工作流切入核心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400038" y="513349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业务场景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412916" y="5371624"/>
                <a:ext cx="50916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验证ROI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8191500" y="3410902"/>
              <a:ext cx="1905000" cy="2208848"/>
              <a:chOff x="8191500" y="3410902"/>
              <a:chExt cx="1905000" cy="2208848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991600" y="3686175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rgbClr val="FFFFFF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9067800" y="3762375"/>
                <a:ext cx="152400" cy="152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982827" y="3410902"/>
                <a:ext cx="32234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90天</a:t>
                </a:r>
              </a:p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8191500" y="4286250"/>
                <a:ext cx="1905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13335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1257300"/>
                    </a:lnTo>
                    <a:cubicBezTo>
                      <a:pt x="1905000" y="1299384"/>
                      <a:pt x="1870884" y="1333500"/>
                      <a:pt x="1828800" y="1333500"/>
                    </a:cubicBezTo>
                    <a:lnTo>
                      <a:pt x="76200" y="1333500"/>
                    </a:lnTo>
                    <a:cubicBezTo>
                      <a:pt x="34116" y="1333500"/>
                      <a:pt x="0" y="1299384"/>
                      <a:pt x="0" y="1257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91500" y="4286250"/>
                <a:ext cx="1905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3810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304800"/>
                    </a:lnTo>
                    <a:cubicBezTo>
                      <a:pt x="1905000" y="346884"/>
                      <a:pt x="1870884" y="381000"/>
                      <a:pt x="1828800" y="381000"/>
                    </a:cubicBezTo>
                    <a:lnTo>
                      <a:pt x="76200" y="381000"/>
                    </a:lnTo>
                    <a:cubicBezTo>
                      <a:pt x="34116" y="381000"/>
                      <a:pt x="0" y="346884"/>
                      <a:pt x="0" y="304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8191500" y="4476750"/>
                <a:ext cx="1905000" cy="19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767620" y="443960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规模化推广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810911" y="4752499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全渠道推广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745284" y="494299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建立度量体系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614029" y="518112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纳入年度预算规划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3048000" y="3790950"/>
              <a:ext cx="5048250" cy="95250"/>
              <a:chOff x="3048000" y="3790950"/>
              <a:chExt cx="5048250" cy="95250"/>
            </a:xfrm>
          </p:grpSpPr>
          <p:sp>
            <p:nvSpPr>
              <p:cNvPr id="65" name="Polygon 65"/>
              <p:cNvSpPr/>
              <p:nvPr/>
            </p:nvSpPr>
            <p:spPr>
              <a:xfrm>
                <a:off x="3048000" y="37909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lnTo>
                      <a:pt x="95250" y="0"/>
                    </a:lnTo>
                    <a:lnTo>
                      <a:pt x="95250" y="952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6" name="Polygon 66"/>
              <p:cNvSpPr/>
              <p:nvPr/>
            </p:nvSpPr>
            <p:spPr>
              <a:xfrm>
                <a:off x="5524500" y="37909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lnTo>
                      <a:pt x="95250" y="0"/>
                    </a:lnTo>
                    <a:lnTo>
                      <a:pt x="95250" y="952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7" name="Polygon 67"/>
              <p:cNvSpPr/>
              <p:nvPr/>
            </p:nvSpPr>
            <p:spPr>
              <a:xfrm>
                <a:off x="8001000" y="37909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lnTo>
                      <a:pt x="95250" y="0"/>
                    </a:lnTo>
                    <a:lnTo>
                      <a:pt x="95250" y="952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77" name="Group 77"/>
          <p:cNvGrpSpPr/>
          <p:nvPr/>
        </p:nvGrpSpPr>
        <p:grpSpPr>
          <a:xfrm>
            <a:off x="571500" y="6096000"/>
            <a:ext cx="11049000" cy="381000"/>
            <a:chOff x="571500" y="6096000"/>
            <a:chExt cx="11049000" cy="381000"/>
          </a:xfrm>
        </p:grpSpPr>
        <p:sp>
          <p:nvSpPr>
            <p:cNvPr id="70" name="Freeform 70"/>
            <p:cNvSpPr/>
            <p:nvPr/>
          </p:nvSpPr>
          <p:spPr>
            <a:xfrm>
              <a:off x="571500" y="6096000"/>
              <a:ext cx="11049000" cy="381000"/>
            </a:xfrm>
            <a:custGeom>
              <a:avLst/>
              <a:gdLst/>
              <a:ahLst/>
              <a:cxnLst/>
              <a:rect l="l" t="t" r="r" b="b"/>
              <a:pathLst>
                <a:path w="11049000" h="381000">
                  <a:moveTo>
                    <a:pt x="38100" y="0"/>
                  </a:moveTo>
                  <a:lnTo>
                    <a:pt x="11010900" y="0"/>
                  </a:lnTo>
                  <a:cubicBezTo>
                    <a:pt x="11031942" y="0"/>
                    <a:pt x="11049000" y="17058"/>
                    <a:pt x="11049000" y="38100"/>
                  </a:cubicBezTo>
                  <a:lnTo>
                    <a:pt x="11049000" y="342900"/>
                  </a:lnTo>
                  <a:cubicBezTo>
                    <a:pt x="11049000" y="363942"/>
                    <a:pt x="11031942" y="381000"/>
                    <a:pt x="11010900" y="381000"/>
                  </a:cubicBezTo>
                  <a:lnTo>
                    <a:pt x="38100" y="381000"/>
                  </a:lnTo>
                  <a:cubicBezTo>
                    <a:pt x="17058" y="381000"/>
                    <a:pt x="0" y="363942"/>
                    <a:pt x="0" y="342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57238" y="62560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行动闭环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709738" y="6256020"/>
              <a:ext cx="14661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确认 → 接入 → 上线 → 推广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805238" y="6256020"/>
              <a:ext cx="458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090988" y="6256020"/>
              <a:ext cx="8394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✓ 量化收益可见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519738" y="6256020"/>
              <a:ext cx="4587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|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805488" y="6256020"/>
              <a:ext cx="8394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✓ 效果度量闭环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984849" y="6387941"/>
            <a:ext cx="259413" cy="161925"/>
            <a:chOff x="10984849" y="6387941"/>
            <a:chExt cx="259413" cy="161925"/>
          </a:xfrm>
        </p:grpSpPr>
        <p:sp>
          <p:nvSpPr>
            <p:cNvPr id="78" name="TextBox 78"/>
            <p:cNvSpPr txBox="1"/>
            <p:nvPr/>
          </p:nvSpPr>
          <p:spPr>
            <a:xfrm>
              <a:off x="10984849" y="63879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2026-07-10T17:46:52Z</dcterms:created>
  <dcterms:modified xsi:type="dcterms:W3CDTF">2026-07-10T17:46:52Z</dcterms:modified>
  <cp:category/>
  <cp:contentStatus/>
</cp:coreProperties>
</file>