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0124431c0a740d5" /><Relationship Type="http://schemas.openxmlformats.org/officeDocument/2006/relationships/extended-properties" Target="/docProps/app.xml" Id="R441230333aea4c9d" /><Relationship Type="http://schemas.openxmlformats.org/officeDocument/2006/relationships/officeDocument" Target="/ppt/presentation.xml" Id="R33b526ef6e73498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411d96ce53d4ec2"/>
  </p:sldMasterIdLst>
  <p:notesMasterIdLst>
    <p:notesMasterId xmlns:r="http://schemas.openxmlformats.org/officeDocument/2006/relationships" r:id="Rc2517de55615459b"/>
  </p:notesMasterIdLst>
  <p:sldIdLst>
    <p:sldId xmlns:r="http://schemas.openxmlformats.org/officeDocument/2006/relationships" id="256" r:id="Re95fa99e948c44ba"/>
    <p:sldId xmlns:r="http://schemas.openxmlformats.org/officeDocument/2006/relationships" id="257" r:id="Ra29334f63f004281"/>
    <p:sldId xmlns:r="http://schemas.openxmlformats.org/officeDocument/2006/relationships" id="258" r:id="R112e8714d3bc4ec0"/>
    <p:sldId xmlns:r="http://schemas.openxmlformats.org/officeDocument/2006/relationships" id="259" r:id="R627a3f52b3f849c3"/>
    <p:sldId xmlns:r="http://schemas.openxmlformats.org/officeDocument/2006/relationships" id="260" r:id="R12bd1bcb280e4e22"/>
    <p:sldId xmlns:r="http://schemas.openxmlformats.org/officeDocument/2006/relationships" id="261" r:id="Rdf1da7156d2a4982"/>
    <p:sldId xmlns:r="http://schemas.openxmlformats.org/officeDocument/2006/relationships" id="262" r:id="Rfc16bc707ce74c6e"/>
    <p:sldId xmlns:r="http://schemas.openxmlformats.org/officeDocument/2006/relationships" id="263" r:id="R33982d5be3ed405d"/>
    <p:sldId xmlns:r="http://schemas.openxmlformats.org/officeDocument/2006/relationships" id="264" r:id="Rc8eab47dd6734c07"/>
    <p:sldId xmlns:r="http://schemas.openxmlformats.org/officeDocument/2006/relationships" id="265" r:id="R00fde337c6254d2a"/>
    <p:sldId xmlns:r="http://schemas.openxmlformats.org/officeDocument/2006/relationships" id="266" r:id="R76513dd593614fa2"/>
    <p:sldId xmlns:r="http://schemas.openxmlformats.org/officeDocument/2006/relationships" id="267" r:id="R38ce38a6deb7423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078f907c02c4615" /><Relationship Type="http://schemas.openxmlformats.org/officeDocument/2006/relationships/slideMaster" Target="/ppt/slideMasters/slideMaster1.xml" Id="R0411d96ce53d4ec2" /><Relationship Type="http://schemas.openxmlformats.org/officeDocument/2006/relationships/notesMaster" Target="/ppt/notesMasters/notesMaster1.xml" Id="Rc2517de55615459b" /><Relationship Type="http://schemas.openxmlformats.org/officeDocument/2006/relationships/presProps" Target="/ppt/presProps.xml" Id="R40efc4c2524b4050" /><Relationship Type="http://schemas.openxmlformats.org/officeDocument/2006/relationships/tableStyles" Target="/ppt/tableStyles.xml" Id="Rf905fa9f36e8444d" /><Relationship Type="http://schemas.openxmlformats.org/officeDocument/2006/relationships/slide" Target="/ppt/slides/slide1.xml" Id="Re95fa99e948c44ba" /><Relationship Type="http://schemas.openxmlformats.org/officeDocument/2006/relationships/slide" Target="/ppt/slides/slide2.xml" Id="Ra29334f63f004281" /><Relationship Type="http://schemas.openxmlformats.org/officeDocument/2006/relationships/slide" Target="/ppt/slides/slide3.xml" Id="R112e8714d3bc4ec0" /><Relationship Type="http://schemas.openxmlformats.org/officeDocument/2006/relationships/slide" Target="/ppt/slides/slide4.xml" Id="R627a3f52b3f849c3" /><Relationship Type="http://schemas.openxmlformats.org/officeDocument/2006/relationships/slide" Target="/ppt/slides/slide5.xml" Id="R12bd1bcb280e4e22" /><Relationship Type="http://schemas.openxmlformats.org/officeDocument/2006/relationships/slide" Target="/ppt/slides/slide6.xml" Id="Rdf1da7156d2a4982" /><Relationship Type="http://schemas.openxmlformats.org/officeDocument/2006/relationships/slide" Target="/ppt/slides/slide7.xml" Id="Rfc16bc707ce74c6e" /><Relationship Type="http://schemas.openxmlformats.org/officeDocument/2006/relationships/slide" Target="/ppt/slides/slide8.xml" Id="R33982d5be3ed405d" /><Relationship Type="http://schemas.openxmlformats.org/officeDocument/2006/relationships/slide" Target="/ppt/slides/slide9.xml" Id="Rc8eab47dd6734c07" /><Relationship Type="http://schemas.openxmlformats.org/officeDocument/2006/relationships/slide" Target="/ppt/slides/slide10.xml" Id="R00fde337c6254d2a" /><Relationship Type="http://schemas.openxmlformats.org/officeDocument/2006/relationships/slide" Target="/ppt/slides/slide11.xml" Id="R76513dd593614fa2" /><Relationship Type="http://schemas.openxmlformats.org/officeDocument/2006/relationships/slide" Target="/ppt/slides/slide12.xml" Id="R38ce38a6deb7423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d6656156c3942f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2a065dd043f4523" /><Relationship Type="http://schemas.openxmlformats.org/officeDocument/2006/relationships/notesMaster" Target="/ppt/notesMasters/notesMaster1.xml" Id="Recc64f400dca40c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8c38257bfa54027" /><Relationship Type="http://schemas.openxmlformats.org/officeDocument/2006/relationships/notesMaster" Target="/ppt/notesMasters/notesMaster1.xml" Id="Rfc0d5903e8f949d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db0a1814e52413b" /><Relationship Type="http://schemas.openxmlformats.org/officeDocument/2006/relationships/notesMaster" Target="/ppt/notesMasters/notesMaster1.xml" Id="R914bdda183ff4df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7654ba9903e4695" /><Relationship Type="http://schemas.openxmlformats.org/officeDocument/2006/relationships/notesMaster" Target="/ppt/notesMasters/notesMaster1.xml" Id="Re8189267788d465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8ed5d4720804442" /><Relationship Type="http://schemas.openxmlformats.org/officeDocument/2006/relationships/notesMaster" Target="/ppt/notesMasters/notesMaster1.xml" Id="Ra4ff72604d22448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dc8fe2e4f74417a" /><Relationship Type="http://schemas.openxmlformats.org/officeDocument/2006/relationships/notesMaster" Target="/ppt/notesMasters/notesMaster1.xml" Id="Ra499219117eb49d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8f67768512d4dbf" /><Relationship Type="http://schemas.openxmlformats.org/officeDocument/2006/relationships/notesMaster" Target="/ppt/notesMasters/notesMaster1.xml" Id="Rba091904e521445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a0d0e250d6f4137" /><Relationship Type="http://schemas.openxmlformats.org/officeDocument/2006/relationships/notesMaster" Target="/ppt/notesMasters/notesMaster1.xml" Id="Re3ed3b19a877431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c25a58ff54b40f1" /><Relationship Type="http://schemas.openxmlformats.org/officeDocument/2006/relationships/notesMaster" Target="/ppt/notesMasters/notesMaster1.xml" Id="R3d417ccd10f04dc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67d9b0ca5084499" /><Relationship Type="http://schemas.openxmlformats.org/officeDocument/2006/relationships/notesMaster" Target="/ppt/notesMasters/notesMaster1.xml" Id="R0d6d29cd8b474d3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9ea1ead629d4472" /><Relationship Type="http://schemas.openxmlformats.org/officeDocument/2006/relationships/notesMaster" Target="/ppt/notesMasters/notesMaster1.xml" Id="R0ca56b61fe1343a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a02bd1865694143" /><Relationship Type="http://schemas.openxmlformats.org/officeDocument/2006/relationships/notesMaster" Target="/ppt/notesMasters/notesMaster1.xml" Id="Rddcbe70dab8642e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2fc9cfb554423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35f8f8590654342" /><Relationship Type="http://schemas.openxmlformats.org/officeDocument/2006/relationships/slideLayout" Target="/ppt/slideLayouts/slideLayout1.xml" Id="Rc3c31787a26248a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3c31787a26248a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6a28db69604803" /><Relationship Type="http://schemas.openxmlformats.org/officeDocument/2006/relationships/notesSlide" Target="/ppt/notesSlides/notesSlide1.xml" Id="Rf68182e047c7447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47900d30d745cb" /><Relationship Type="http://schemas.openxmlformats.org/officeDocument/2006/relationships/notesSlide" Target="/ppt/notesSlides/notesSlide2.xml" Id="R17ebde072a4a4c2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956bbbd026415f" /><Relationship Type="http://schemas.openxmlformats.org/officeDocument/2006/relationships/notesSlide" Target="/ppt/notesSlides/notesSlide3.xml" Id="R2a22af887eb8410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feba68e8ae4a40" /><Relationship Type="http://schemas.openxmlformats.org/officeDocument/2006/relationships/notesSlide" Target="/ppt/notesSlides/notesSlide4.xml" Id="Rf4d657ca4aad433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09d49b76294e27" /><Relationship Type="http://schemas.openxmlformats.org/officeDocument/2006/relationships/notesSlide" Target="/ppt/notesSlides/notesSlide5.xml" Id="Re807722eefe94aa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b8bab8fc284715" /><Relationship Type="http://schemas.openxmlformats.org/officeDocument/2006/relationships/notesSlide" Target="/ppt/notesSlides/notesSlide6.xml" Id="R48c341b309c74a2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b89935e25947e4" /><Relationship Type="http://schemas.openxmlformats.org/officeDocument/2006/relationships/notesSlide" Target="/ppt/notesSlides/notesSlide7.xml" Id="R271d6d1d19cd4e4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61901ff0d84217" /><Relationship Type="http://schemas.openxmlformats.org/officeDocument/2006/relationships/notesSlide" Target="/ppt/notesSlides/notesSlide8.xml" Id="R48f7cae762004f1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ce6c1d9c9c48a5" /><Relationship Type="http://schemas.openxmlformats.org/officeDocument/2006/relationships/notesSlide" Target="/ppt/notesSlides/notesSlide9.xml" Id="R0501f796e19c420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7c5fec1c454915" /><Relationship Type="http://schemas.openxmlformats.org/officeDocument/2006/relationships/notesSlide" Target="/ppt/notesSlides/notesSlide10.xml" Id="R35616dc8a9b941c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525b53cc9a47f9" /><Relationship Type="http://schemas.openxmlformats.org/officeDocument/2006/relationships/notesSlide" Target="/ppt/notesSlides/notesSlide11.xml" Id="Rbe28908b31a34b3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f520d570064bdd" /><Relationship Type="http://schemas.openxmlformats.org/officeDocument/2006/relationships/notesSlide" Target="/ppt/notesSlides/notesSlide12.xml" Id="Ra79c3a5b869b48c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4199C41-22A2-401A-8F7D-6CC7FBE2A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48EF48-D36B-4BB6-859D-A869B72E9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381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0A881A-2833-48A0-AEAB-0ABE99E4A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76275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FB1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FB1FF"/>
                </a:solidFill>
                <a:latin typeface="Aptos"/>
                <a:ea typeface="Aptos"/>
                <a:cs typeface="Aptos"/>
              </a:rPr>
              <a:t>内部培训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F8CB77-3869-4405-BBE4-2D407A9EF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8382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7FBFF"/>
                </a:solidFill>
                <a:latin typeface="Aptos"/>
                <a:ea typeface="Aptos"/>
                <a:cs typeface="Aptos"/>
              </a:rPr>
              <a:t>屿算智能产品认知培训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D63549-5673-4E0A-A7C8-415EDAEF6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7429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7CBC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7CBC8"/>
                </a:solidFill>
                <a:latin typeface="Aptos"/>
                <a:ea typeface="Aptos"/>
                <a:cs typeface="Aptos"/>
              </a:rPr>
              <a:t>从“AI 概念”到“业务系统”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C0CDCB-BFFD-47B6-B769-FAE8BC9EC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524000"/>
            <a:ext cx="3028950" cy="40957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2F587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67FA4E-4139-4327-B768-2E00CF575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828800"/>
            <a:ext cx="2495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FB1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FB1FF"/>
                </a:solidFill>
                <a:latin typeface="Aptos"/>
                <a:ea typeface="Aptos"/>
                <a:cs typeface="Aptos"/>
              </a:rPr>
              <a:t>关键要点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381C46-142B-4337-9CC7-6D5D63D15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247900"/>
            <a:ext cx="23622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2C906E-5EEC-46C5-9FF6-B48CB6378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10300"/>
            <a:ext cx="457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7CBC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7CBC8"/>
                </a:solidFill>
                <a:latin typeface="Aptos"/>
                <a:ea typeface="Aptos"/>
                <a:cs typeface="Aptos"/>
              </a:rPr>
              <a:t>屿算智能产品认知培训：从“AI 概念”到“业务系统”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95AF95-03B3-4AE7-AC01-6829EEE3D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621030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D7CBC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7CBC8"/>
                </a:solidFill>
                <a:latin typeface="Aptos"/>
                <a:ea typeface="Aptos"/>
                <a:cs typeface="Aptos"/>
              </a:rPr>
              <a:t>培训课件 · 1/12</a:t>
            </a:r>
          </a:p>
        </p:txBody>
      </p:sp>
    </p:spTree>
    <p:extLst>
      <p:ext uri="{BB962C8B-B14F-4D97-AF65-F5344CB8AC3E}">
        <p14:creationId xmlns:p14="http://schemas.microsoft.com/office/powerpoint/2010/main" val="76314806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3B24868-9141-4BA3-B478-3D2D21AC5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55BF78-2B14-4624-B52C-2C9E13DFC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381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683C93-A409-48B5-9A86-B82E12B3A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76275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FB1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FB1FF"/>
                </a:solidFill>
                <a:latin typeface="Aptos"/>
                <a:ea typeface="Aptos"/>
                <a:cs typeface="Aptos"/>
              </a:rPr>
              <a:t>培训背景与目标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2E5042-23F5-4F1F-BF8A-FACB7A25D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8382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7FBFF"/>
                </a:solidFill>
                <a:latin typeface="Aptos"/>
                <a:ea typeface="Aptos"/>
                <a:cs typeface="Aptos"/>
              </a:rPr>
              <a:t>为什么需要这次培训？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D1CB75-7DBF-40DF-A3C9-757FEF3E2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7429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7CBC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7CBC8"/>
                </a:solidFill>
                <a:latin typeface="Aptos"/>
                <a:ea typeface="Aptos"/>
                <a:cs typeface="Aptos"/>
              </a:rPr>
              <a:t>管理层对外沟通时，常因对产品理解不一致而口径不一，尤其在面对“和ChatGPT有什么区别”一类问题时差异明显。本次培训旨在帮助大家建立统一的产品逻辑与价值表达体系，让公司对外发声像一个整体。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CA412B-05DE-4531-9D88-25AB97087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524000"/>
            <a:ext cx="3028950" cy="40957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2F587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DDDA9E-1CA4-4899-B397-839F53573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828800"/>
            <a:ext cx="2495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FB1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FB1FF"/>
                </a:solidFill>
                <a:latin typeface="Aptos"/>
                <a:ea typeface="Aptos"/>
                <a:cs typeface="Aptos"/>
              </a:rPr>
              <a:t>关键要点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02EDD5-91CB-47C2-BA30-8212819ED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247900"/>
            <a:ext cx="23622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7FBFF"/>
                </a:solidFill>
                <a:latin typeface="Aptos"/>
                <a:ea typeface="Aptos"/>
                <a:cs typeface="Aptos"/>
              </a:rPr>
              <a:t>• 常见偏差：被问及与通用AI工具的区别时，回答五花八门</a:t>
            </a:r>
          </a:p>
          <a:p xmlns:a="http://schemas.openxmlformats.org/drawingml/2006/main">
            <a:pPr algn="l">
              <a:defRPr sz="1350" b="0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7FBFF"/>
                </a:solidFill>
                <a:latin typeface="Aptos"/>
                <a:ea typeface="Aptos"/>
                <a:cs typeface="Aptos"/>
              </a:rPr>
              <a:t>• 目标一：理解产品核心逻辑——从业务诊断到资产沉淀的闭环</a:t>
            </a:r>
          </a:p>
          <a:p xmlns:a="http://schemas.openxmlformats.org/drawingml/2006/main">
            <a:pPr algn="l">
              <a:defRPr sz="1350" b="0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7FBFF"/>
                </a:solidFill>
                <a:latin typeface="Aptos"/>
                <a:ea typeface="Aptos"/>
                <a:cs typeface="Aptos"/>
              </a:rPr>
              <a:t>• 目标二：统一价值表达——用一致的“业务系统”语言对外介绍</a:t>
            </a:r>
          </a:p>
          <a:p xmlns:a="http://schemas.openxmlformats.org/drawingml/2006/main">
            <a:pPr algn="l">
              <a:defRPr sz="1350" b="0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7FBFF"/>
                </a:solidFill>
                <a:latin typeface="Aptos"/>
                <a:ea typeface="Aptos"/>
                <a:cs typeface="Aptos"/>
              </a:rPr>
              <a:t>• 目标三：对齐对外口径——避免陷入工具对比，强调流程与结果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4B456E-7119-4460-96A2-68287B7AA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10300"/>
            <a:ext cx="457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7CBC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7CBC8"/>
                </a:solidFill>
                <a:latin typeface="Aptos"/>
                <a:ea typeface="Aptos"/>
                <a:cs typeface="Aptos"/>
              </a:rPr>
              <a:t>屿算智能产品认知培训：从“AI 概念”到“业务系统”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08504C-2A7C-4F84-A1AF-8EAD9D5B2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621030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D7CBC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7CBC8"/>
                </a:solidFill>
                <a:latin typeface="Aptos"/>
                <a:ea typeface="Aptos"/>
                <a:cs typeface="Aptos"/>
              </a:rPr>
              <a:t>培训课件 · 2/12</a:t>
            </a:r>
          </a:p>
        </p:txBody>
      </p:sp>
    </p:spTree>
    <p:extLst>
      <p:ext uri="{BB962C8B-B14F-4D97-AF65-F5344CB8AC3E}">
        <p14:creationId xmlns:p14="http://schemas.microsoft.com/office/powerpoint/2010/main" val="108487797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9B65C08-3D7B-4509-8A4A-DC4DC5E38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1C58C2-5CFD-4085-9578-97B9F548D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381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D667DB-2A1E-4408-BB76-471F48A68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76275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FB1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FB1FF"/>
                </a:solidFill>
                <a:latin typeface="Aptos"/>
                <a:ea typeface="Aptos"/>
                <a:cs typeface="Aptos"/>
              </a:rPr>
              <a:t>需求锚点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D641A8-E0B0-4C98-891D-55477D544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8382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7FBFF"/>
                </a:solidFill>
                <a:latin typeface="Aptos"/>
                <a:ea typeface="Aptos"/>
                <a:cs typeface="Aptos"/>
              </a:rPr>
              <a:t>客户从哪里来？企业到底焦虑什么？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8D03E5-CCC1-4A4E-95C8-374771768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7429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7CBC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7CBC8"/>
                </a:solidFill>
                <a:latin typeface="Aptos"/>
                <a:ea typeface="Aptos"/>
                <a:cs typeface="Aptos"/>
              </a:rPr>
              <a:t>对企业老板而言，“客户从哪里来”是第一追问，由此衍生出内容、执行、数据和AI应用五大焦虑。他们缺的不是更多工具，而是一套能把问题变成流程、把流程导向增长的经营系统。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71465F-61B7-4F46-B5A5-DD5433AEE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524000"/>
            <a:ext cx="3028950" cy="40957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2F587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DFAE15-C7DD-43B4-8D00-C42DB106D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828800"/>
            <a:ext cx="2495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FB1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FB1FF"/>
                </a:solidFill>
                <a:latin typeface="Aptos"/>
                <a:ea typeface="Aptos"/>
                <a:cs typeface="Aptos"/>
              </a:rPr>
              <a:t>关键要点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C74F05-8256-4510-AEEF-96A6AC177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247900"/>
            <a:ext cx="23622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7FBFF"/>
                </a:solidFill>
                <a:latin typeface="Aptos"/>
                <a:ea typeface="Aptos"/>
                <a:cs typeface="Aptos"/>
              </a:rPr>
              <a:t>• 客户来源焦虑：流量贵、线索易断，获客路径不稳定</a:t>
            </a:r>
          </a:p>
          <a:p xmlns:a="http://schemas.openxmlformats.org/drawingml/2006/main">
            <a:pPr algn="l">
              <a:defRPr sz="1350" b="0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7FBFF"/>
                </a:solidFill>
                <a:latin typeface="Aptos"/>
                <a:ea typeface="Aptos"/>
                <a:cs typeface="Aptos"/>
              </a:rPr>
              <a:t>• 内容持续性焦虑：选题枯竭、产出不稳，一个人撑不起账号</a:t>
            </a:r>
          </a:p>
          <a:p xmlns:a="http://schemas.openxmlformats.org/drawingml/2006/main">
            <a:pPr algn="l">
              <a:defRPr sz="1350" b="0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7FBFF"/>
                </a:solidFill>
                <a:latin typeface="Aptos"/>
                <a:ea typeface="Aptos"/>
                <a:cs typeface="Aptos"/>
              </a:rPr>
              <a:t>• 团队执行焦虑：想法很好，但落不到计划、任务和每日行动</a:t>
            </a:r>
          </a:p>
          <a:p xmlns:a="http://schemas.openxmlformats.org/drawingml/2006/main">
            <a:pPr algn="l">
              <a:defRPr sz="1350" b="0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7FBFF"/>
                </a:solidFill>
                <a:latin typeface="Aptos"/>
                <a:ea typeface="Aptos"/>
                <a:cs typeface="Aptos"/>
              </a:rPr>
              <a:t>• 数据沉淀焦虑：有用信息散落在聊天记录和个人账号，无法复用</a:t>
            </a:r>
          </a:p>
          <a:p xmlns:a="http://schemas.openxmlformats.org/drawingml/2006/main">
            <a:pPr algn="l">
              <a:defRPr sz="1350" b="0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7FBFF"/>
                </a:solidFill>
                <a:latin typeface="Aptos"/>
                <a:ea typeface="Aptos"/>
                <a:cs typeface="Aptos"/>
              </a:rPr>
              <a:t>• AI怎么用焦虑：听了很多概念，但不知道怎么用进自己的业务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73AD0B-D25E-40F0-A1EB-9F47556A8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10300"/>
            <a:ext cx="457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7CBC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7CBC8"/>
                </a:solidFill>
                <a:latin typeface="Aptos"/>
                <a:ea typeface="Aptos"/>
                <a:cs typeface="Aptos"/>
              </a:rPr>
              <a:t>屿算智能产品认知培训：从“AI 概念”到“业务系统”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08B5FB-61FB-4753-956D-EBB94C12F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621030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D7CBC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7CBC8"/>
                </a:solidFill>
                <a:latin typeface="Aptos"/>
                <a:ea typeface="Aptos"/>
                <a:cs typeface="Aptos"/>
              </a:rPr>
              <a:t>培训课件 · 3/12</a:t>
            </a:r>
          </a:p>
        </p:txBody>
      </p:sp>
    </p:spTree>
    <p:extLst>
      <p:ext uri="{BB962C8B-B14F-4D97-AF65-F5344CB8AC3E}">
        <p14:creationId xmlns:p14="http://schemas.microsoft.com/office/powerpoint/2010/main" val="158188272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682A133-0593-4762-B2F4-1FD07F61C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5461F9-6982-4DB6-8EBC-DB978E0F9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381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8B9164-F3BB-43AD-8E49-1007170BD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76275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FB1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FB1FF"/>
                </a:solidFill>
                <a:latin typeface="Aptos"/>
                <a:ea typeface="Aptos"/>
                <a:cs typeface="Aptos"/>
              </a:rPr>
              <a:t>现状诊断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9CCB00-D018-4B83-B31C-9BA9D4E16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8382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7FBFF"/>
                </a:solidFill>
                <a:latin typeface="Aptos"/>
                <a:ea typeface="Aptos"/>
                <a:cs typeface="Aptos"/>
              </a:rPr>
              <a:t>企业AI落地的真实卡点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E49032-DF2D-4529-82F4-F82050E14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7429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7CBC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7CBC8"/>
                </a:solidFill>
                <a:latin typeface="Aptos"/>
                <a:ea typeface="Aptos"/>
                <a:cs typeface="Aptos"/>
              </a:rPr>
              <a:t>企业听懂了AI，却很难把AI用进真实业务流程。根本问题不是缺乏认知，而是缺少一条从问题到执行、从执行到结果的业务路径。这三个卡点让大多数AI尝试停在浅层。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03A8C9-05B6-4A27-B400-8B2B9F82A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524000"/>
            <a:ext cx="3028950" cy="40957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2F587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24617A-8066-4D09-8731-B083B17CA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828800"/>
            <a:ext cx="2495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FB1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FB1FF"/>
                </a:solidFill>
                <a:latin typeface="Aptos"/>
                <a:ea typeface="Aptos"/>
                <a:cs typeface="Aptos"/>
              </a:rPr>
              <a:t>关键要点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76BC47-5B21-4D02-95BE-27FD77F65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247900"/>
            <a:ext cx="23622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7FBFF"/>
                </a:solidFill>
                <a:latin typeface="Aptos"/>
                <a:ea typeface="Aptos"/>
                <a:cs typeface="Aptos"/>
              </a:rPr>
              <a:t>• 不会问：打开大模型不知如何描述业务需求、拆解问题，提示词写不精准</a:t>
            </a:r>
          </a:p>
          <a:p xmlns:a="http://schemas.openxmlformats.org/drawingml/2006/main">
            <a:pPr algn="l">
              <a:defRPr sz="1350" b="0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7FBFF"/>
                </a:solidFill>
                <a:latin typeface="Aptos"/>
                <a:ea typeface="Aptos"/>
                <a:cs typeface="Aptos"/>
              </a:rPr>
              <a:t>• 不会用：AI产出的文案、图片接不进真实工作流，生成即结束</a:t>
            </a:r>
          </a:p>
          <a:p xmlns:a="http://schemas.openxmlformats.org/drawingml/2006/main">
            <a:pPr algn="l">
              <a:defRPr sz="1350" b="0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7FBFF"/>
                </a:solidFill>
                <a:latin typeface="Aptos"/>
                <a:ea typeface="Aptos"/>
                <a:cs typeface="Aptos"/>
              </a:rPr>
              <a:t>• 不能沉淀：员工零散使用，方案、内容和经验留在个人账号，企业资产归零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0539FF-7CFD-4890-9750-0EF0F3A48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10300"/>
            <a:ext cx="457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7CBC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7CBC8"/>
                </a:solidFill>
                <a:latin typeface="Aptos"/>
                <a:ea typeface="Aptos"/>
                <a:cs typeface="Aptos"/>
              </a:rPr>
              <a:t>屿算智能产品认知培训：从“AI 概念”到“业务系统”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C9BDE4-7DF8-4441-82E4-F85818B55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621030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D7CBC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7CBC8"/>
                </a:solidFill>
                <a:latin typeface="Aptos"/>
                <a:ea typeface="Aptos"/>
                <a:cs typeface="Aptos"/>
              </a:rPr>
              <a:t>培训课件 · 4/12</a:t>
            </a:r>
          </a:p>
        </p:txBody>
      </p:sp>
    </p:spTree>
    <p:extLst>
      <p:ext uri="{BB962C8B-B14F-4D97-AF65-F5344CB8AC3E}">
        <p14:creationId xmlns:p14="http://schemas.microsoft.com/office/powerpoint/2010/main" val="71275760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E8ADB83-4F9E-4DEE-B253-4FF88981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954E98-0A49-47CE-82F4-112B7929F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381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2401AC-423C-4DDE-BD75-1F285D30F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76275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FB1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FB1FF"/>
                </a:solidFill>
                <a:latin typeface="Aptos"/>
                <a:ea typeface="Aptos"/>
                <a:cs typeface="Aptos"/>
              </a:rPr>
              <a:t>产品定义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21CF36-1710-4CAA-8E80-11366B644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8382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7FBFF"/>
                </a:solidFill>
                <a:latin typeface="Aptos"/>
                <a:ea typeface="Aptos"/>
                <a:cs typeface="Aptos"/>
              </a:rPr>
              <a:t>屿算智脑是什么？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8DB1B5-8039-4388-83D7-22D38E5E4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7429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7CBC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7CBC8"/>
                </a:solidFill>
                <a:latin typeface="Aptos"/>
                <a:ea typeface="Aptos"/>
                <a:cs typeface="Aptos"/>
              </a:rPr>
              <a:t>屿算智脑不是再给企业一个AI工具，而是把大模型、数字员工、业务流程和应用工具组合成企业专属的AI业务能力。它让AI真正进入岗位、流程和结果，成为企业可依赖的经营基础设施。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A3EA09-5D53-4D8A-B418-AD648A350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524000"/>
            <a:ext cx="3028950" cy="40957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2F587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F987D6-11B7-45F4-B807-7DA103E13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828800"/>
            <a:ext cx="2495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FB1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FB1FF"/>
                </a:solidFill>
                <a:latin typeface="Aptos"/>
                <a:ea typeface="Aptos"/>
                <a:cs typeface="Aptos"/>
              </a:rPr>
              <a:t>关键要点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094186-26D4-47A6-B85F-0B1234CD4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247900"/>
            <a:ext cx="23622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7FBFF"/>
                </a:solidFill>
                <a:latin typeface="Aptos"/>
                <a:ea typeface="Aptos"/>
                <a:cs typeface="Aptos"/>
              </a:rPr>
              <a:t>• 进入岗位：配置17个AI智能体员工，覆盖策划、销售、客服、法务等真实职能</a:t>
            </a:r>
          </a:p>
          <a:p xmlns:a="http://schemas.openxmlformats.org/drawingml/2006/main">
            <a:pPr algn="l">
              <a:defRPr sz="1350" b="0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7FBFF"/>
                </a:solidFill>
                <a:latin typeface="Aptos"/>
                <a:ea typeface="Aptos"/>
                <a:cs typeface="Aptos"/>
              </a:rPr>
              <a:t>• 进入流程：从业务梳理、立项规划到内容生产和资产沉淀，形成可控闭环</a:t>
            </a:r>
          </a:p>
          <a:p xmlns:a="http://schemas.openxmlformats.org/drawingml/2006/main">
            <a:pPr algn="l">
              <a:defRPr sz="1350" b="0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7FBFF"/>
                </a:solidFill>
                <a:latin typeface="Aptos"/>
                <a:ea typeface="Aptos"/>
                <a:cs typeface="Aptos"/>
              </a:rPr>
              <a:t>• 进入结果：降低试错成本，提高执行效率，推动获客、转化与可持续增长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03B18A-7AC5-4762-A5C7-BEA678948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10300"/>
            <a:ext cx="457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7CBC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7CBC8"/>
                </a:solidFill>
                <a:latin typeface="Aptos"/>
                <a:ea typeface="Aptos"/>
                <a:cs typeface="Aptos"/>
              </a:rPr>
              <a:t>屿算智能产品认知培训：从“AI 概念”到“业务系统”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AA64DF-5253-4AA1-97BB-86106F327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621030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D7CBC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7CBC8"/>
                </a:solidFill>
                <a:latin typeface="Aptos"/>
                <a:ea typeface="Aptos"/>
                <a:cs typeface="Aptos"/>
              </a:rPr>
              <a:t>培训课件 · 5/12</a:t>
            </a:r>
          </a:p>
        </p:txBody>
      </p:sp>
    </p:spTree>
    <p:extLst>
      <p:ext uri="{BB962C8B-B14F-4D97-AF65-F5344CB8AC3E}">
        <p14:creationId xmlns:p14="http://schemas.microsoft.com/office/powerpoint/2010/main" val="73838302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6AA791E-473E-43CB-9916-C27876BA4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DBCE57-983C-4204-A30B-3DFAC701C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381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BCF231-D28F-4411-8217-7A754C1C9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76275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FB1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FB1FF"/>
                </a:solidFill>
                <a:latin typeface="Aptos"/>
                <a:ea typeface="Aptos"/>
                <a:cs typeface="Aptos"/>
              </a:rPr>
              <a:t>形态升级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2845EF-F4CB-4323-9A21-5EF347DCE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8382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7FBFF"/>
                </a:solidFill>
                <a:latin typeface="Aptos"/>
                <a:ea typeface="Aptos"/>
                <a:cs typeface="Aptos"/>
              </a:rPr>
              <a:t>从单点AI工具到业务工作台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783D69-CCC5-4694-84C6-04A8CBEAF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7429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7CBC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7CBC8"/>
                </a:solidFill>
                <a:latin typeface="Aptos"/>
                <a:ea typeface="Aptos"/>
                <a:cs typeface="Aptos"/>
              </a:rPr>
              <a:t>真正的企业AI不是让员工多开几个工具，而是让业务问题、岗位角色、执行流程和结果资产在同一个系统里协同运转。屿算智脑按业务路径组织能力，把AI嵌入日常经营动作。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488B0B-A612-4EA0-9553-8EB981346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524000"/>
            <a:ext cx="3028950" cy="40957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2F587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7F82E0-9E70-4A43-BEEE-0E604103E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828800"/>
            <a:ext cx="2495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FB1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FB1FF"/>
                </a:solidFill>
                <a:latin typeface="Aptos"/>
                <a:ea typeface="Aptos"/>
                <a:cs typeface="Aptos"/>
              </a:rPr>
              <a:t>关键要点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37C5E4-B0DF-45B7-B118-204D27FC0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247900"/>
            <a:ext cx="23622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7FBFF"/>
                </a:solidFill>
                <a:latin typeface="Aptos"/>
                <a:ea typeface="Aptos"/>
                <a:cs typeface="Aptos"/>
              </a:rPr>
              <a:t>• 传统单点工具：能力分散在不同入口，依赖员工自己提问、选工具、拼流程</a:t>
            </a:r>
          </a:p>
          <a:p xmlns:a="http://schemas.openxmlformats.org/drawingml/2006/main">
            <a:pPr algn="l">
              <a:defRPr sz="1350" b="0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7FBFF"/>
                </a:solidFill>
                <a:latin typeface="Aptos"/>
                <a:ea typeface="Aptos"/>
                <a:cs typeface="Aptos"/>
              </a:rPr>
              <a:t>• 屿算智脑工作台：按业务路径组织能力，角色和场景主动引导，降低使用门槛</a:t>
            </a:r>
          </a:p>
          <a:p xmlns:a="http://schemas.openxmlformats.org/drawingml/2006/main">
            <a:pPr algn="l">
              <a:defRPr sz="1350" b="0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7FBFF"/>
                </a:solidFill>
                <a:latin typeface="Aptos"/>
                <a:ea typeface="Aptos"/>
                <a:cs typeface="Aptos"/>
              </a:rPr>
              <a:t>• 传统单点工具：生成的内容不进入项目与客户跟进，结果留在个人账号</a:t>
            </a:r>
          </a:p>
          <a:p xmlns:a="http://schemas.openxmlformats.org/drawingml/2006/main">
            <a:pPr algn="l">
              <a:defRPr sz="1350" b="0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7FBFF"/>
                </a:solidFill>
                <a:latin typeface="Aptos"/>
                <a:ea typeface="Aptos"/>
                <a:cs typeface="Aptos"/>
              </a:rPr>
              <a:t>• 屿算智脑工作台：方案、内容、知识、流程统一入库，企业资产越用越完整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BD2075-6DE6-4A01-9659-4DB672F97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10300"/>
            <a:ext cx="457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7CBC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7CBC8"/>
                </a:solidFill>
                <a:latin typeface="Aptos"/>
                <a:ea typeface="Aptos"/>
                <a:cs typeface="Aptos"/>
              </a:rPr>
              <a:t>屿算智能产品认知培训：从“AI 概念”到“业务系统”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2B8E10-D126-469F-9F42-6187C9873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621030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D7CBC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7CBC8"/>
                </a:solidFill>
                <a:latin typeface="Aptos"/>
                <a:ea typeface="Aptos"/>
                <a:cs typeface="Aptos"/>
              </a:rPr>
              <a:t>培训课件 · 6/12</a:t>
            </a:r>
          </a:p>
        </p:txBody>
      </p:sp>
    </p:spTree>
    <p:extLst>
      <p:ext uri="{BB962C8B-B14F-4D97-AF65-F5344CB8AC3E}">
        <p14:creationId xmlns:p14="http://schemas.microsoft.com/office/powerpoint/2010/main" val="131308199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FA07077-0F3A-43C6-88FE-52EC3D26E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CB3CA7-BB54-4F7C-9066-2D303FADF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381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B5C7CB-791F-465C-B08E-CF71B696B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76275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FB1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FB1FF"/>
                </a:solidFill>
                <a:latin typeface="Aptos"/>
                <a:ea typeface="Aptos"/>
                <a:cs typeface="Aptos"/>
              </a:rPr>
              <a:t>系统逻辑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CEBB9F-628D-4849-833C-40B9E670C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8382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7FBFF"/>
                </a:solidFill>
                <a:latin typeface="Aptos"/>
                <a:ea typeface="Aptos"/>
                <a:cs typeface="Aptos"/>
              </a:rPr>
              <a:t>七层业务闭环：让AI进入企业运转流程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09902B-F19B-4940-ABC5-73F61D3AC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7429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7CBC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7CBC8"/>
                </a:solidFill>
                <a:latin typeface="Aptos"/>
                <a:ea typeface="Aptos"/>
                <a:cs typeface="Aptos"/>
              </a:rPr>
              <a:t>从AI能力接入到业务诊断、执行管理、内容分发，再到风控与资产沉淀，七层闭环确保AI不是一次性功能调用，而是企业每天都跑的业务系统。每一层都在回答“下一步该怎么做”。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31CDB2-8D79-411D-B6DD-DC4C248A9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524000"/>
            <a:ext cx="3028950" cy="40957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2F587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7A2D78-AEC7-4738-938A-E7EF03ACF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828800"/>
            <a:ext cx="2495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FB1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FB1FF"/>
                </a:solidFill>
                <a:latin typeface="Aptos"/>
                <a:ea typeface="Aptos"/>
                <a:cs typeface="Aptos"/>
              </a:rPr>
              <a:t>关键要点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15FCB8-35D3-4244-BE69-B63248E44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247900"/>
            <a:ext cx="23622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7FBFF"/>
                </a:solidFill>
                <a:latin typeface="Aptos"/>
                <a:ea typeface="Aptos"/>
                <a:cs typeface="Aptos"/>
              </a:rPr>
              <a:t>• 底座层：40+模型工具接入，配置17个AI智能体员工，统一能力供给</a:t>
            </a:r>
          </a:p>
          <a:p xmlns:a="http://schemas.openxmlformats.org/drawingml/2006/main">
            <a:pPr algn="l">
              <a:defRPr sz="1350" b="0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7FBFF"/>
                </a:solidFill>
                <a:latin typeface="Aptos"/>
                <a:ea typeface="Aptos"/>
                <a:cs typeface="Aptos"/>
              </a:rPr>
              <a:t>• 诊断层：主动提问，梳理业务目标、资源现状与关键断点，输出业务地图</a:t>
            </a:r>
          </a:p>
          <a:p xmlns:a="http://schemas.openxmlformats.org/drawingml/2006/main">
            <a:pPr algn="l">
              <a:defRPr sz="1350" b="0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7FBFF"/>
                </a:solidFill>
                <a:latin typeface="Aptos"/>
                <a:ea typeface="Aptos"/>
                <a:cs typeface="Aptos"/>
              </a:rPr>
              <a:t>• 管理层：长期目标拆解至季度/月度看板与每日任务，执行进度可视</a:t>
            </a:r>
          </a:p>
          <a:p xmlns:a="http://schemas.openxmlformats.org/drawingml/2006/main">
            <a:pPr algn="l">
              <a:defRPr sz="1350" b="0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7FBFF"/>
                </a:solidFill>
                <a:latin typeface="Aptos"/>
                <a:ea typeface="Aptos"/>
                <a:cs typeface="Aptos"/>
              </a:rPr>
              <a:t>• 生产层：围绕营销场景快速产出文案、图片、视频、数字人等各类内容</a:t>
            </a:r>
          </a:p>
          <a:p xmlns:a="http://schemas.openxmlformats.org/drawingml/2006/main">
            <a:pPr algn="l">
              <a:defRPr sz="1350" b="0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7FBFF"/>
                </a:solidFill>
                <a:latin typeface="Aptos"/>
                <a:ea typeface="Aptos"/>
                <a:cs typeface="Aptos"/>
              </a:rPr>
              <a:t>• 分发层：多平台同步发布，评论抓取、互动回复与潜在客户承接归集</a:t>
            </a:r>
          </a:p>
          <a:p xmlns:a="http://schemas.openxmlformats.org/drawingml/2006/main">
            <a:pPr algn="l">
              <a:defRPr sz="1350" b="0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7FBFF"/>
                </a:solidFill>
                <a:latin typeface="Aptos"/>
                <a:ea typeface="Aptos"/>
                <a:cs typeface="Aptos"/>
              </a:rPr>
              <a:t>• 资产层：AI法务风控守住边界，知识库与工作流沉淀为企业可复用资产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E74DEB-1821-455B-8F5B-5FC325444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10300"/>
            <a:ext cx="457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7CBC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7CBC8"/>
                </a:solidFill>
                <a:latin typeface="Aptos"/>
                <a:ea typeface="Aptos"/>
                <a:cs typeface="Aptos"/>
              </a:rPr>
              <a:t>屿算智能产品认知培训：从“AI 概念”到“业务系统”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51CFAC-8688-4389-A4C9-EFF378DE6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621030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D7CBC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7CBC8"/>
                </a:solidFill>
                <a:latin typeface="Aptos"/>
                <a:ea typeface="Aptos"/>
                <a:cs typeface="Aptos"/>
              </a:rPr>
              <a:t>培训课件 · 7/12</a:t>
            </a:r>
          </a:p>
        </p:txBody>
      </p:sp>
    </p:spTree>
    <p:extLst>
      <p:ext uri="{BB962C8B-B14F-4D97-AF65-F5344CB8AC3E}">
        <p14:creationId xmlns:p14="http://schemas.microsoft.com/office/powerpoint/2010/main" val="89283908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76A2CAE-05A8-4E4A-AD38-EF78B307B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C5B59D-F880-4966-8E1F-86D96E735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381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0A0821-EF06-4B63-BB03-4E846A94C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76275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FB1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FB1FF"/>
                </a:solidFill>
                <a:latin typeface="Aptos"/>
                <a:ea typeface="Aptos"/>
                <a:cs typeface="Aptos"/>
              </a:rPr>
              <a:t>实施路径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E36D63-5A58-4F90-99B2-B39DA0BE8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8382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7FBFF"/>
                </a:solidFill>
                <a:latin typeface="Aptos"/>
                <a:ea typeface="Aptos"/>
                <a:cs typeface="Aptos"/>
              </a:rPr>
              <a:t>四个阶段：从业务梳理到资产沉淀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79639F-584B-4A54-9643-B95E41734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7429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7CBC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7CBC8"/>
                </a:solidFill>
                <a:latin typeface="Aptos"/>
                <a:ea typeface="Aptos"/>
                <a:cs typeface="Aptos"/>
              </a:rPr>
              <a:t>屿算智脑帮助企业分四步把AI融入经营：先梳理清楚业务，再把想法变成可执行的项目，进而打通内容生产与分发，最终在风控中沉淀企业资产。四阶段环环相扣，缺一不可。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805BC3-E260-4AA7-8A15-53FD362C6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524000"/>
            <a:ext cx="3028950" cy="40957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2F587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B001B3-4B87-40AA-82CC-357A371B7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828800"/>
            <a:ext cx="2495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FB1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FB1FF"/>
                </a:solidFill>
                <a:latin typeface="Aptos"/>
                <a:ea typeface="Aptos"/>
                <a:cs typeface="Aptos"/>
              </a:rPr>
              <a:t>关键要点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C9C549-69C5-413C-8D4E-A12A7DD49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247900"/>
            <a:ext cx="23622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7FBFF"/>
                </a:solidFill>
                <a:latin typeface="Aptos"/>
                <a:ea typeface="Aptos"/>
                <a:cs typeface="Aptos"/>
              </a:rPr>
              <a:t>• 阶段一 业务梳理：系统主动把问题问清楚，输出业务地图与立项建议</a:t>
            </a:r>
          </a:p>
          <a:p xmlns:a="http://schemas.openxmlformats.org/drawingml/2006/main">
            <a:pPr algn="l">
              <a:defRPr sz="1350" b="0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7FBFF"/>
                </a:solidFill>
                <a:latin typeface="Aptos"/>
                <a:ea typeface="Aptos"/>
                <a:cs typeface="Aptos"/>
              </a:rPr>
              <a:t>• 阶段二 立项与执行管理：想法变成方案、计划和每日任务，看板推进</a:t>
            </a:r>
          </a:p>
          <a:p xmlns:a="http://schemas.openxmlformats.org/drawingml/2006/main">
            <a:pPr algn="l">
              <a:defRPr sz="1350" b="0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7FBFF"/>
                </a:solidFill>
                <a:latin typeface="Aptos"/>
                <a:ea typeface="Aptos"/>
                <a:cs typeface="Aptos"/>
              </a:rPr>
              <a:t>• 阶段三 生产与分发：策划→生产→合规审查→多平台发布→客户跟进形成闭环</a:t>
            </a:r>
          </a:p>
          <a:p xmlns:a="http://schemas.openxmlformats.org/drawingml/2006/main">
            <a:pPr algn="l">
              <a:defRPr sz="1350" b="0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7FBFF"/>
                </a:solidFill>
                <a:latin typeface="Aptos"/>
                <a:ea typeface="Aptos"/>
                <a:cs typeface="Aptos"/>
              </a:rPr>
              <a:t>• 阶段四 风控与资产沉淀：AI守住风险边界，知识、内容、流程入库，越用越完整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A0D2B6-D77B-4BC7-A2A9-7FC074201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10300"/>
            <a:ext cx="457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7CBC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7CBC8"/>
                </a:solidFill>
                <a:latin typeface="Aptos"/>
                <a:ea typeface="Aptos"/>
                <a:cs typeface="Aptos"/>
              </a:rPr>
              <a:t>屿算智能产品认知培训：从“AI 概念”到“业务系统”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097D41-EE81-4AE3-B384-B118ADFB4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621030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D7CBC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7CBC8"/>
                </a:solidFill>
                <a:latin typeface="Aptos"/>
                <a:ea typeface="Aptos"/>
                <a:cs typeface="Aptos"/>
              </a:rPr>
              <a:t>培训课件 · 8/12</a:t>
            </a:r>
          </a:p>
        </p:txBody>
      </p:sp>
    </p:spTree>
    <p:extLst>
      <p:ext uri="{BB962C8B-B14F-4D97-AF65-F5344CB8AC3E}">
        <p14:creationId xmlns:p14="http://schemas.microsoft.com/office/powerpoint/2010/main" val="146589346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8188B4B-7A4B-4A10-85FF-927E6E4E1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520099-C1F5-4780-8650-3419FA167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381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96505E-9502-46F2-8A9A-317A1DE6C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76275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FB1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FB1FF"/>
                </a:solidFill>
                <a:latin typeface="Aptos"/>
                <a:ea typeface="Aptos"/>
                <a:cs typeface="Aptos"/>
              </a:rPr>
              <a:t>岗位化AI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427FE5-F0C5-4469-B282-375E5C711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8382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7FBFF"/>
                </a:solidFill>
                <a:latin typeface="Aptos"/>
                <a:ea typeface="Aptos"/>
                <a:cs typeface="Aptos"/>
              </a:rPr>
              <a:t>17个AI智能体员工，覆盖关键岗位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F34BD7-908F-47DB-95CC-DE3742238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7429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7CBC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7CBC8"/>
                </a:solidFill>
                <a:latin typeface="Aptos"/>
                <a:ea typeface="Aptos"/>
                <a:cs typeface="Aptos"/>
              </a:rPr>
              <a:t>屿算智脑将真实业务岗位训练为AI员工，覆盖内容策略、成交裂变、组织扩张和专业支持四大类别。它们不是通用聊天助手，而是按业务链路进入具体步骤协同工作的岗位化AI。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406A47-CFF0-45C5-B3AD-101E05C78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524000"/>
            <a:ext cx="3028950" cy="40957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2F587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9E929A-9EF7-4056-B553-8B1B3033D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828800"/>
            <a:ext cx="2495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FB1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FB1FF"/>
                </a:solidFill>
                <a:latin typeface="Aptos"/>
                <a:ea typeface="Aptos"/>
                <a:cs typeface="Aptos"/>
              </a:rPr>
              <a:t>关键要点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02AEDA-E285-43C4-B87C-6E911763F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247900"/>
            <a:ext cx="23622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7FBFF"/>
                </a:solidFill>
                <a:latin typeface="Aptos"/>
                <a:ea typeface="Aptos"/>
                <a:cs typeface="Aptos"/>
              </a:rPr>
              <a:t>• 内容策略类：编导老师、选题专家、提示词工程师等，围绕内容策略与生产</a:t>
            </a:r>
          </a:p>
          <a:p xmlns:a="http://schemas.openxmlformats.org/drawingml/2006/main">
            <a:pPr algn="l">
              <a:defRPr sz="1350" b="0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7FBFF"/>
                </a:solidFill>
                <a:latin typeface="Aptos"/>
                <a:ea typeface="Aptos"/>
                <a:cs typeface="Aptos"/>
              </a:rPr>
              <a:t>• 成交与私域裂变类：平台获客导师、精准线索专家、私域运营，推动获客转化</a:t>
            </a:r>
          </a:p>
          <a:p xmlns:a="http://schemas.openxmlformats.org/drawingml/2006/main">
            <a:pPr algn="l">
              <a:defRPr sz="1350" b="0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7FBFF"/>
                </a:solidFill>
                <a:latin typeface="Aptos"/>
                <a:ea typeface="Aptos"/>
                <a:cs typeface="Aptos"/>
              </a:rPr>
              <a:t>• 组织裂变类：合伙人导师、招商策划师、分公司总监，支持渠道和团队扩展</a:t>
            </a:r>
          </a:p>
          <a:p xmlns:a="http://schemas.openxmlformats.org/drawingml/2006/main">
            <a:pPr algn="l">
              <a:defRPr sz="1350" b="0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7FBFF"/>
                </a:solidFill>
                <a:latin typeface="Aptos"/>
                <a:ea typeface="Aptos"/>
                <a:cs typeface="Aptos"/>
              </a:rPr>
              <a:t>• 专业支持类：合同专家、法务老师、财务与企业知识库，把控合规与专业输出</a:t>
            </a:r>
          </a:p>
          <a:p xmlns:a="http://schemas.openxmlformats.org/drawingml/2006/main">
            <a:pPr algn="l">
              <a:defRPr sz="1350" b="0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7FBFF"/>
                </a:solidFill>
                <a:latin typeface="Aptos"/>
                <a:ea typeface="Aptos"/>
                <a:cs typeface="Aptos"/>
              </a:rPr>
              <a:t>• 从诊断、立项、生产、分发到风控沉淀，每一步都有对应AI员工进入流程协同工作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07F4CE-7124-4B2A-9245-93DD79712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10300"/>
            <a:ext cx="457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7CBC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7CBC8"/>
                </a:solidFill>
                <a:latin typeface="Aptos"/>
                <a:ea typeface="Aptos"/>
                <a:cs typeface="Aptos"/>
              </a:rPr>
              <a:t>屿算智能产品认知培训：从“AI 概念”到“业务系统”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0B1FF7-697C-4379-9D55-F818663E0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621030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D7CBC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7CBC8"/>
                </a:solidFill>
                <a:latin typeface="Aptos"/>
                <a:ea typeface="Aptos"/>
                <a:cs typeface="Aptos"/>
              </a:rPr>
              <a:t>培训课件 · 9/12</a:t>
            </a:r>
          </a:p>
        </p:txBody>
      </p:sp>
    </p:spTree>
    <p:extLst>
      <p:ext uri="{BB962C8B-B14F-4D97-AF65-F5344CB8AC3E}">
        <p14:creationId xmlns:p14="http://schemas.microsoft.com/office/powerpoint/2010/main" val="192351440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B2D751E-28A3-416A-AE7C-80564E603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47B603-DDB4-4ABA-994F-773F45D62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381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6A7970-F92D-494C-A901-1A26F4C41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76275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FB1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FB1FF"/>
                </a:solidFill>
                <a:latin typeface="Aptos"/>
                <a:ea typeface="Aptos"/>
                <a:cs typeface="Aptos"/>
              </a:rPr>
              <a:t>价值回归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4DE627-01D0-4D32-AB35-75B4FD7C3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8382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7FBFF"/>
                </a:solidFill>
                <a:latin typeface="Aptos"/>
                <a:ea typeface="Aptos"/>
                <a:cs typeface="Aptos"/>
              </a:rPr>
              <a:t>客户最终买到什么？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6B01CD-BC01-4E56-8BFD-AE57F12B6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7429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7CBC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7CBC8"/>
                </a:solidFill>
                <a:latin typeface="Aptos"/>
                <a:ea typeface="Aptos"/>
                <a:cs typeface="Aptos"/>
              </a:rPr>
              <a:t>客户买到的不是“AI概念”，而是可执行、可管理、可复用的业务能力。这四类结果直接回应企业最关心的经营痛点，让AI投入从一次尝试变成持续复利。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4182B7-BB20-423E-846D-E04514CFA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524000"/>
            <a:ext cx="3028950" cy="40957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2F587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4EBC51-22B7-4706-AA2F-C8E254DE5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828800"/>
            <a:ext cx="2495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FB1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FB1FF"/>
                </a:solidFill>
                <a:latin typeface="Aptos"/>
                <a:ea typeface="Aptos"/>
                <a:cs typeface="Aptos"/>
              </a:rPr>
              <a:t>关键要点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899F34-36D5-4365-9676-2B9433856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247900"/>
            <a:ext cx="23622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7FBFF"/>
                </a:solidFill>
                <a:latin typeface="Aptos"/>
                <a:ea typeface="Aptos"/>
                <a:cs typeface="Aptos"/>
              </a:rPr>
              <a:t>• 降成本：咨询、制作和试错投入显著降低，行业研究和内容生产由系统驱动</a:t>
            </a:r>
          </a:p>
          <a:p xmlns:a="http://schemas.openxmlformats.org/drawingml/2006/main">
            <a:pPr algn="l">
              <a:defRPr sz="1350" b="0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7FBFF"/>
                </a:solidFill>
                <a:latin typeface="Aptos"/>
                <a:ea typeface="Aptos"/>
                <a:cs typeface="Aptos"/>
              </a:rPr>
              <a:t>• 提效率：从等待和反复沟通变成连续推进，团队上手更快，素材可复用</a:t>
            </a:r>
          </a:p>
          <a:p xmlns:a="http://schemas.openxmlformats.org/drawingml/2006/main">
            <a:pPr algn="l">
              <a:defRPr sz="1350" b="0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7FBFF"/>
                </a:solidFill>
                <a:latin typeface="Aptos"/>
                <a:ea typeface="Aptos"/>
                <a:cs typeface="Aptos"/>
              </a:rPr>
              <a:t>• 强执行：想法落到计划、任务和看板，AI员工按流程参与，产出明确</a:t>
            </a:r>
          </a:p>
          <a:p xmlns:a="http://schemas.openxmlformats.org/drawingml/2006/main">
            <a:pPr algn="l">
              <a:defRPr sz="1350" b="0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7FBFF"/>
                </a:solidFill>
                <a:latin typeface="Aptos"/>
                <a:ea typeface="Aptos"/>
                <a:cs typeface="Aptos"/>
              </a:rPr>
              <a:t>• 促增长：内容生产、分发、评论回收、客户跟进形成闭环，线索与资产持续积累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80DDB5-55F1-4C62-95FC-B4D059CB9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10300"/>
            <a:ext cx="457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7CBC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7CBC8"/>
                </a:solidFill>
                <a:latin typeface="Aptos"/>
                <a:ea typeface="Aptos"/>
                <a:cs typeface="Aptos"/>
              </a:rPr>
              <a:t>屿算智能产品认知培训：从“AI 概念”到“业务系统”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8F54C1-8AA1-4FD0-A25B-D5DDC055C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621030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D7CBC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7CBC8"/>
                </a:solidFill>
                <a:latin typeface="Aptos"/>
                <a:ea typeface="Aptos"/>
                <a:cs typeface="Aptos"/>
              </a:rPr>
              <a:t>培训课件 · 10/12</a:t>
            </a:r>
          </a:p>
        </p:txBody>
      </p:sp>
    </p:spTree>
    <p:extLst>
      <p:ext uri="{BB962C8B-B14F-4D97-AF65-F5344CB8AC3E}">
        <p14:creationId xmlns:p14="http://schemas.microsoft.com/office/powerpoint/2010/main" val="110422445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BC12A03-3EF3-44F6-A9F1-97D67793C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71C1E2-F4A8-4301-86E0-EAD124C37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381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A793B9-355F-4291-9C1F-027B21C7F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76275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FB1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FB1FF"/>
                </a:solidFill>
                <a:latin typeface="Aptos"/>
                <a:ea typeface="Aptos"/>
                <a:cs typeface="Aptos"/>
              </a:rPr>
              <a:t>产品体系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D6BCAA-020F-4F40-BF8E-42FB17C33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8382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7FBFF"/>
                </a:solidFill>
                <a:latin typeface="Aptos"/>
                <a:ea typeface="Aptos"/>
                <a:cs typeface="Aptos"/>
              </a:rPr>
              <a:t>产品体系与套餐价格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5591EC-4519-4E71-B674-B54E58D55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7429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7CBC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7CBC8"/>
                </a:solidFill>
                <a:latin typeface="Aptos"/>
                <a:ea typeface="Aptos"/>
                <a:cs typeface="Aptos"/>
              </a:rPr>
              <a:t>屿算智脑提供三档标准SaaS套餐，外加定制化屿算超脑方案，覆盖从单点验证到规模化、定制化部署的不同需求。管理层对外推荐时，需根据企业阶段清晰对应，避免一概而论。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11BCDD-8662-46BB-89AD-138B224EF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524000"/>
            <a:ext cx="3028950" cy="40957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2F587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9F04A5-CF74-4473-A947-CADBDA0AB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828800"/>
            <a:ext cx="2495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FB1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FB1FF"/>
                </a:solidFill>
                <a:latin typeface="Aptos"/>
                <a:ea typeface="Aptos"/>
                <a:cs typeface="Aptos"/>
              </a:rPr>
              <a:t>关键要点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A62CCE-F894-400D-A407-E47888AD7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247900"/>
            <a:ext cx="23622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7FBFF"/>
                </a:solidFill>
                <a:latin typeface="Aptos"/>
                <a:ea typeface="Aptos"/>
                <a:cs typeface="Aptos"/>
              </a:rPr>
              <a:t>• 入门版 ¥19,800 — 适合老板先跑通一个业务场景，迈出AI应用第一步</a:t>
            </a:r>
          </a:p>
          <a:p xmlns:a="http://schemas.openxmlformats.org/drawingml/2006/main">
            <a:pPr algn="l">
              <a:defRPr sz="1350" b="0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7FBFF"/>
                </a:solidFill>
                <a:latin typeface="Aptos"/>
                <a:ea typeface="Aptos"/>
                <a:cs typeface="Aptos"/>
              </a:rPr>
              <a:t>• 标准版 ¥39,800 — 适合销售、运营、内容团队协同使用，形成持续运营能力</a:t>
            </a:r>
          </a:p>
          <a:p xmlns:a="http://schemas.openxmlformats.org/drawingml/2006/main">
            <a:pPr algn="l">
              <a:defRPr sz="1350" b="0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7FBFF"/>
                </a:solidFill>
                <a:latin typeface="Aptos"/>
                <a:ea typeface="Aptos"/>
                <a:cs typeface="Aptos"/>
              </a:rPr>
              <a:t>• 增长版 ¥59,800 — 适合多账号、多流程、多业务线规模化推进</a:t>
            </a:r>
          </a:p>
          <a:p xmlns:a="http://schemas.openxmlformats.org/drawingml/2006/main">
            <a:pPr algn="l">
              <a:defRPr sz="1350" b="0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7FBFF"/>
                </a:solidFill>
                <a:latin typeface="Aptos"/>
                <a:ea typeface="Aptos"/>
                <a:cs typeface="Aptos"/>
              </a:rPr>
              <a:t>• 屿算超脑定制方案 — 面向传统企业科技化升级，独立部署，一企一案评估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FF557C-A80B-43A1-9228-75B4F0F7F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10300"/>
            <a:ext cx="457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7CBC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7CBC8"/>
                </a:solidFill>
                <a:latin typeface="Aptos"/>
                <a:ea typeface="Aptos"/>
                <a:cs typeface="Aptos"/>
              </a:rPr>
              <a:t>屿算智能产品认知培训：从“AI 概念”到“业务系统”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636802-E0FB-4C3A-B712-B624D81D6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621030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D7CBC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7CBC8"/>
                </a:solidFill>
                <a:latin typeface="Aptos"/>
                <a:ea typeface="Aptos"/>
                <a:cs typeface="Aptos"/>
              </a:rPr>
              <a:t>培训课件 · 11/12</a:t>
            </a:r>
          </a:p>
        </p:txBody>
      </p:sp>
    </p:spTree>
    <p:extLst>
      <p:ext uri="{BB962C8B-B14F-4D97-AF65-F5344CB8AC3E}">
        <p14:creationId xmlns:p14="http://schemas.microsoft.com/office/powerpoint/2010/main" val="30632549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6A34917-80E5-4202-ADD3-190F677CC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AA0D02-7AB4-4BE3-B28E-1BCDAED68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381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24CB7A-119B-4072-A586-CECA86770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76275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FB1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FB1FF"/>
                </a:solidFill>
                <a:latin typeface="Aptos"/>
                <a:ea typeface="Aptos"/>
                <a:cs typeface="Aptos"/>
              </a:rPr>
              <a:t>一致表达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EC7EB1-A7AB-47B7-AE75-7A9030726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8382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7FBFF"/>
                </a:solidFill>
                <a:latin typeface="Aptos"/>
                <a:ea typeface="Aptos"/>
                <a:cs typeface="Aptos"/>
              </a:rPr>
              <a:t>总结与统一对外口径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045D02-D25D-44D9-82FD-C44CA1763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7429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7CBC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7CBC8"/>
                </a:solidFill>
                <a:latin typeface="Aptos"/>
                <a:ea typeface="Aptos"/>
                <a:cs typeface="Aptos"/>
              </a:rPr>
              <a:t>让AI从概念进入企业的岗位、流程和结果。对外沟通时，请用以下三句话稳住定位，确保我们每次介绍都在强化屿算智脑作为业务系统的独特价值。实用AI，大于AI概念。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9F730E-4C9C-43CB-86A1-E4EB316E3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524000"/>
            <a:ext cx="3028950" cy="40957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2F587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22E865-7545-4842-B1CF-1E2F566DF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828800"/>
            <a:ext cx="2495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FB1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FB1FF"/>
                </a:solidFill>
                <a:latin typeface="Aptos"/>
                <a:ea typeface="Aptos"/>
                <a:cs typeface="Aptos"/>
              </a:rPr>
              <a:t>关键要点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84E675-1546-4697-AC07-5B966EDF3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247900"/>
            <a:ext cx="23622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7FBFF"/>
                </a:solidFill>
                <a:latin typeface="Aptos"/>
                <a:ea typeface="Aptos"/>
                <a:cs typeface="Aptos"/>
              </a:rPr>
              <a:t>• 不是工具，是业务系统——将AI嵌入业务路径，打通从诊断到资产沉淀的闭环</a:t>
            </a:r>
          </a:p>
          <a:p xmlns:a="http://schemas.openxmlformats.org/drawingml/2006/main">
            <a:pPr algn="l">
              <a:defRPr sz="1350" b="0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7FBFF"/>
                </a:solidFill>
                <a:latin typeface="Aptos"/>
                <a:ea typeface="Aptos"/>
                <a:cs typeface="Aptos"/>
              </a:rPr>
              <a:t>• 不是让员工学AI，是让AI进入岗位和流程——17个AI员工按真实职能协同工作</a:t>
            </a:r>
          </a:p>
          <a:p xmlns:a="http://schemas.openxmlformats.org/drawingml/2006/main">
            <a:pPr algn="l">
              <a:defRPr sz="1350" b="0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7FBFF"/>
                </a:solidFill>
                <a:latin typeface="Aptos"/>
                <a:ea typeface="Aptos"/>
                <a:cs typeface="Aptos"/>
              </a:rPr>
              <a:t>• 从诊断到执行到沉淀，形成闭环——每一次业务推进都反哺企业能力积累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BD1D78-4C99-4329-A037-0F15E200A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10300"/>
            <a:ext cx="457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7CBC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7CBC8"/>
                </a:solidFill>
                <a:latin typeface="Aptos"/>
                <a:ea typeface="Aptos"/>
                <a:cs typeface="Aptos"/>
              </a:rPr>
              <a:t>屿算智能产品认知培训：从“AI 概念”到“业务系统”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C924B3-F4B2-4398-9E5E-FFD1757AF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621030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D7CBC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7CBC8"/>
                </a:solidFill>
                <a:latin typeface="Aptos"/>
                <a:ea typeface="Aptos"/>
                <a:cs typeface="Aptos"/>
              </a:rPr>
              <a:t>培训课件 · 12/12</a:t>
            </a:r>
          </a:p>
        </p:txBody>
      </p:sp>
    </p:spTree>
    <p:extLst>
      <p:ext uri="{BB962C8B-B14F-4D97-AF65-F5344CB8AC3E}">
        <p14:creationId xmlns:p14="http://schemas.microsoft.com/office/powerpoint/2010/main" val="418188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2026-07-09T08:00:49.4470000Z</dcterms:created>
  <dcterms:modified xsi:type="dcterms:W3CDTF">2026-07-09T08:00:49.4470000Z</dcterms:modified>
</coreProperties>
</file>