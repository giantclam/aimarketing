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企业级AI工作流：高效Agent编排引擎</a:t>
            </a:r>
          </a:p>
          <a:p>
            <a:endParaRPr lang="en-US" dirty="0"/>
          </a:p>
          <a:p>
            <a:r>
              <a:rPr lang="zh-CN" dirty="0"/>
              <a:t>Builda4-slideenterpriseAIworkflowintroductiondeck的核心现状、关键风险与影响范围概览。</a:t>
            </a:r>
          </a:p>
          <a:p>
            <a:endParaRPr lang="en-US" dirty="0"/>
          </a:p>
          <a:p>
            <a:r>
              <a:rPr lang="zh-CN" dirty="0"/>
              <a:t>• 能力分层·状态管理·执行透明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Agent能力与编排路线</a:t>
            </a:r>
          </a:p>
          <a:p>
            <a:endParaRPr lang="en-US" dirty="0"/>
          </a:p>
          <a:p>
            <a:r>
              <a:rPr lang="zh-CN" dirty="0"/>
              <a:t>本页概览核心议题：现状、风险、全球影响与后续观察重点。</a:t>
            </a:r>
          </a:p>
          <a:p>
            <a:endParaRPr lang="en-US" dirty="0"/>
          </a:p>
          <a:p>
            <a:r>
              <a:rPr lang="zh-CN" dirty="0"/>
              <a:t>• 重构Agent模型，打开感知、决策、执行三层架构</a:t>
            </a:r>
          </a:p>
          <a:p>
            <a:r>
              <a:rPr lang="zh-CN" dirty="0"/>
              <a:t>• 策略路由、状态同步与异常回退的工程化方案</a:t>
            </a:r>
          </a:p>
          <a:p>
            <a:r>
              <a:rPr lang="zh-CN" dirty="0"/>
              <a:t>• 吞吐量、决策质量与人工介入率，量化Agent表现</a:t>
            </a:r>
          </a:p>
          <a:p>
            <a:r>
              <a:rPr lang="zh-CN" dirty="0"/>
              <a:t>• 三步落地计划，保障低风险投产与持续治理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编排胜于模型：定义企业AI新生产力</a:t>
            </a:r>
          </a:p>
          <a:p>
            <a:endParaRPr lang="en-US" dirty="0"/>
          </a:p>
          <a:p>
            <a:r>
              <a:rPr lang="zh-CN" dirty="0"/>
              <a:t>提炼当前最值得关注的事实、变化趋势与结构性影响。</a:t>
            </a:r>
          </a:p>
          <a:p>
            <a:endParaRPr lang="en-US" dirty="0"/>
          </a:p>
          <a:p>
            <a:r>
              <a:rPr lang="zh-CN" dirty="0"/>
              <a:t>• 感知层：多模态意图捕获与上下文融合，延迟&lt;200ms</a:t>
            </a:r>
          </a:p>
          <a:p>
            <a:r>
              <a:rPr lang="zh-CN" dirty="0"/>
              <a:t>• 决策层：策略引擎动态分解任务，支持20+元操作路由</a:t>
            </a:r>
          </a:p>
          <a:p>
            <a:r>
              <a:rPr lang="zh-CN" dirty="0"/>
              <a:t>• 执行层：安全工具调用、状态持久化与人工接管闭环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下一步行动</a:t>
            </a:r>
          </a:p>
          <a:p>
            <a:endParaRPr lang="en-US" dirty="0"/>
          </a:p>
          <a:p>
            <a:r>
              <a:rPr lang="zh-CN" dirty="0"/>
              <a:t>以收束页形式给出接下来最值得执行或持续观察的动作。</a:t>
            </a:r>
          </a:p>
          <a:p>
            <a:endParaRPr lang="en-US" dirty="0"/>
          </a:p>
          <a:p>
            <a:r>
              <a:rPr lang="zh-CN" dirty="0"/>
              <a:t>• 梳理业务流程，标定高价值Agent介入点</a:t>
            </a:r>
          </a:p>
          <a:p>
            <a:r>
              <a:rPr lang="zh-CN" dirty="0"/>
              <a:t>• 选取2-3个非核心流程，验证编排链路与性能</a:t>
            </a:r>
          </a:p>
          <a:p>
            <a:r>
              <a:rPr lang="zh-CN" dirty="0"/>
              <a:t>• 上线中央调度器与观测面板，实现统一治理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E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609600" y="533400"/>
              <a:ext cx="10972800" cy="5791200"/>
            </a:xfrm>
            <a:prstGeom prst="rect">
              <a:avLst/>
            </a:prstGeom>
            <a:solidFill>
              <a:srgbClr val="F9FBF6"/>
            </a:solidFill>
            <a:ln w="9525">
              <a:solidFill>
                <a:srgbClr val="CED8C2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167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" y="281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3962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5105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133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181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705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229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753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277600" y="533400"/>
              <a:ext cx="9525" cy="5791200"/>
            </a:xfrm>
            <a:custGeom>
              <a:avLst/>
              <a:gdLst/>
              <a:ahLst/>
              <a:cxnLst/>
              <a:rect l="l" t="t" r="r" b="b"/>
              <a:pathLst>
                <a:path w="9525" h="5791200">
                  <a:moveTo>
                    <a:pt x="0" y="0"/>
                  </a:moveTo>
                  <a:lnTo>
                    <a:pt x="0" y="579120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81600" y="533400"/>
              <a:ext cx="6400800" cy="5791200"/>
            </a:xfrm>
            <a:prstGeom prst="rect">
              <a:avLst/>
            </a:prstGeom>
            <a:solidFill>
              <a:srgbClr val="B7F36B">
                <a:alpha val="8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533400"/>
              <a:ext cx="10972800" cy="5791200"/>
            </a:xfrm>
            <a:prstGeom prst="rect">
              <a:avLst/>
            </a:prstGeom>
            <a:noFill/>
            <a:ln w="19050">
              <a:solidFill>
                <a:srgbClr val="101418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825818"/>
            <a:ext cx="10972800" cy="555307"/>
            <a:chOff x="609600" y="825818"/>
            <a:chExt cx="10972800" cy="555307"/>
          </a:xfrm>
        </p:grpSpPr>
        <p:sp>
          <p:nvSpPr>
            <p:cNvPr id="18" name="TextBox 18"/>
            <p:cNvSpPr txBox="1"/>
            <p:nvPr/>
          </p:nvSpPr>
          <p:spPr>
            <a:xfrm>
              <a:off x="831342" y="825818"/>
              <a:ext cx="1081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GRIDBRIEF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11620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57150">
              <a:solidFill>
                <a:srgbClr val="B7F3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65464" y="85820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74378" y="1094899"/>
              <a:ext cx="1098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企业AI工作流导入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137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838200" y="1809750"/>
            <a:ext cx="10306050" cy="3924300"/>
            <a:chOff x="838200" y="1809750"/>
            <a:chExt cx="10306050" cy="3924300"/>
          </a:xfrm>
        </p:grpSpPr>
        <p:sp>
          <p:nvSpPr>
            <p:cNvPr id="24" name="Rectangle 24"/>
            <p:cNvSpPr/>
            <p:nvPr/>
          </p:nvSpPr>
          <p:spPr>
            <a:xfrm>
              <a:off x="838200" y="1809750"/>
              <a:ext cx="4305300" cy="3067050"/>
            </a:xfrm>
            <a:prstGeom prst="rect">
              <a:avLst/>
            </a:prstGeom>
            <a:solidFill>
              <a:srgbClr val="EEF2EC"/>
            </a:solidFill>
            <a:ln w="19050">
              <a:solidFill>
                <a:srgbClr val="1014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7750" y="1987868"/>
              <a:ext cx="448841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企业级AI工作流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7750" y="2673668"/>
              <a:ext cx="547918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高效Agent编排引擎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7468" y="3574732"/>
              <a:ext cx="6083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面向企业AI工作流导入，概览现状、关键风险与影响范围。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66800" y="42100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60323" y="4453414"/>
              <a:ext cx="259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能力分层 · 状态管理 · 执行透明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753100" y="40005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47625">
              <a:solidFill>
                <a:srgbClr val="10141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667375" y="3914775"/>
              <a:ext cx="171450" cy="1714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324725" y="3914775"/>
              <a:ext cx="171450" cy="1714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982075" y="3914775"/>
              <a:ext cx="171450" cy="1714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658475" y="3914775"/>
              <a:ext cx="171450" cy="1714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38800" y="2038350"/>
              <a:ext cx="3733800" cy="666750"/>
            </a:xfrm>
            <a:prstGeom prst="rect">
              <a:avLst/>
            </a:prstGeom>
            <a:solidFill>
              <a:srgbClr val="F9FBF6"/>
            </a:solidFill>
            <a:ln w="19050">
              <a:solidFill>
                <a:srgbClr val="1014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77306" y="22631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能力层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705600" y="2371725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76200">
              <a:solidFill>
                <a:srgbClr val="B7F36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72250" y="3048000"/>
              <a:ext cx="3733800" cy="666750"/>
            </a:xfrm>
            <a:prstGeom prst="rect">
              <a:avLst/>
            </a:prstGeom>
            <a:solidFill>
              <a:srgbClr val="F9FBF6"/>
            </a:solidFill>
            <a:ln w="19050">
              <a:solidFill>
                <a:srgbClr val="1014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0756" y="3272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编排层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39050" y="3381375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76200">
              <a:solidFill>
                <a:srgbClr val="B7F36B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10450" y="5067300"/>
              <a:ext cx="3733800" cy="666750"/>
            </a:xfrm>
            <a:prstGeom prst="rect">
              <a:avLst/>
            </a:prstGeom>
            <a:solidFill>
              <a:srgbClr val="F9FBF6"/>
            </a:solidFill>
            <a:ln w="19050">
              <a:solidFill>
                <a:srgbClr val="1014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48956" y="52920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运行层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477250" y="5400675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76200">
              <a:solidFill>
                <a:srgbClr val="B7F36B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753100" y="2705100"/>
              <a:ext cx="4991100" cy="2362200"/>
            </a:xfrm>
            <a:custGeom>
              <a:avLst/>
              <a:gdLst/>
              <a:ahLst/>
              <a:cxnLst/>
              <a:rect l="l" t="t" r="r" b="b"/>
              <a:pathLst>
                <a:path w="4991100" h="2362200">
                  <a:moveTo>
                    <a:pt x="0" y="1295400"/>
                  </a:moveTo>
                  <a:lnTo>
                    <a:pt x="952500" y="0"/>
                  </a:lnTo>
                  <a:lnTo>
                    <a:pt x="1657350" y="1295400"/>
                  </a:lnTo>
                  <a:lnTo>
                    <a:pt x="1885950" y="1009650"/>
                  </a:lnTo>
                  <a:lnTo>
                    <a:pt x="3314700" y="1295400"/>
                  </a:lnTo>
                  <a:lnTo>
                    <a:pt x="2724150" y="2362200"/>
                  </a:lnTo>
                  <a:lnTo>
                    <a:pt x="4991100" y="1295400"/>
                  </a:lnTo>
                </a:path>
              </a:pathLst>
            </a:custGeom>
            <a:noFill/>
            <a:ln w="28575">
              <a:solidFill>
                <a:srgbClr val="10141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638925" y="2638425"/>
              <a:ext cx="133350" cy="133350"/>
            </a:xfrm>
            <a:prstGeom prst="ellipse">
              <a:avLst/>
            </a:prstGeom>
            <a:solidFill>
              <a:srgbClr val="B7F36B"/>
            </a:solidFill>
            <a:ln w="19050">
              <a:solidFill>
                <a:srgbClr val="10141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572375" y="3648075"/>
              <a:ext cx="133350" cy="133350"/>
            </a:xfrm>
            <a:prstGeom prst="ellipse">
              <a:avLst/>
            </a:prstGeom>
            <a:solidFill>
              <a:srgbClr val="B7F36B"/>
            </a:solidFill>
            <a:ln w="19050">
              <a:solidFill>
                <a:srgbClr val="10141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410575" y="5000625"/>
              <a:ext cx="133350" cy="133350"/>
            </a:xfrm>
            <a:prstGeom prst="ellipse">
              <a:avLst/>
            </a:prstGeom>
            <a:solidFill>
              <a:srgbClr val="B7F36B"/>
            </a:solidFill>
            <a:ln w="19050">
              <a:solidFill>
                <a:srgbClr val="101418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838200" y="1916906"/>
            <a:ext cx="10694384" cy="4182428"/>
            <a:chOff x="838200" y="1916906"/>
            <a:chExt cx="10694384" cy="4182428"/>
          </a:xfrm>
        </p:grpSpPr>
        <p:sp>
          <p:nvSpPr>
            <p:cNvPr id="49" name="Rectangle 49"/>
            <p:cNvSpPr/>
            <p:nvPr/>
          </p:nvSpPr>
          <p:spPr>
            <a:xfrm>
              <a:off x="838200" y="5467350"/>
              <a:ext cx="1219200" cy="381000"/>
            </a:xfrm>
            <a:prstGeom prst="rect">
              <a:avLst/>
            </a:prstGeom>
            <a:solidFill>
              <a:srgbClr val="B7F36B"/>
            </a:solidFill>
            <a:ln w="19050">
              <a:solidFill>
                <a:srgbClr val="10141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02462" y="5594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现状概览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09800" y="5467350"/>
              <a:ext cx="1219200" cy="381000"/>
            </a:xfrm>
            <a:prstGeom prst="rect">
              <a:avLst/>
            </a:prstGeom>
            <a:solidFill>
              <a:srgbClr val="F9FBF6"/>
            </a:solidFill>
            <a:ln w="19050">
              <a:solidFill>
                <a:srgbClr val="1014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74062" y="5594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核心风险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6535" y="191690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分层能力接入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67035" y="3278981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任务链路编排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1235" y="5879306"/>
              <a:ext cx="11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运行状态可观测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391650" y="2114550"/>
              <a:ext cx="876300" cy="257175"/>
            </a:xfrm>
            <a:custGeom>
              <a:avLst/>
              <a:gdLst/>
              <a:ahLst/>
              <a:cxnLst/>
              <a:rect l="l" t="t" r="r" b="b"/>
              <a:pathLst>
                <a:path w="876300" h="257175">
                  <a:moveTo>
                    <a:pt x="876300" y="0"/>
                  </a:moveTo>
                  <a:lnTo>
                    <a:pt x="0" y="257175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0306050" y="3381375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15240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9239250" y="5734050"/>
              <a:ext cx="533400" cy="190500"/>
            </a:xfrm>
            <a:custGeom>
              <a:avLst/>
              <a:gdLst/>
              <a:ahLst/>
              <a:cxnLst/>
              <a:rect l="l" t="t" r="r" b="b"/>
              <a:pathLst>
                <a:path w="533400" h="190500">
                  <a:moveTo>
                    <a:pt x="533400" y="19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76200"/>
            <a:ext cx="12192000" cy="6934200"/>
            <a:chOff x="0" y="-76200"/>
            <a:chExt cx="12192000" cy="69342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EC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323850" y="266700"/>
              <a:ext cx="11544300" cy="6324600"/>
            </a:xfrm>
            <a:custGeom>
              <a:avLst/>
              <a:gdLst/>
              <a:ahLst/>
              <a:cxnLst/>
              <a:rect l="l" t="t" r="r" b="b"/>
              <a:pathLst>
                <a:path w="11544300" h="6324600">
                  <a:moveTo>
                    <a:pt x="228600" y="0"/>
                  </a:moveTo>
                  <a:lnTo>
                    <a:pt x="11315700" y="0"/>
                  </a:lnTo>
                  <a:cubicBezTo>
                    <a:pt x="11441952" y="0"/>
                    <a:pt x="11544300" y="102348"/>
                    <a:pt x="11544300" y="228600"/>
                  </a:cubicBezTo>
                  <a:lnTo>
                    <a:pt x="11544300" y="6096000"/>
                  </a:lnTo>
                  <a:cubicBezTo>
                    <a:pt x="11544300" y="6222252"/>
                    <a:pt x="11441952" y="6324600"/>
                    <a:pt x="11315700" y="6324600"/>
                  </a:cubicBezTo>
                  <a:lnTo>
                    <a:pt x="228600" y="6324600"/>
                  </a:lnTo>
                  <a:cubicBezTo>
                    <a:pt x="102348" y="6324600"/>
                    <a:pt x="0" y="6222252"/>
                    <a:pt x="0" y="60960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9FBF6"/>
            </a:solidFill>
            <a:ln w="19050">
              <a:solidFill>
                <a:srgbClr val="CED8C2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323850" y="266700"/>
              <a:ext cx="11544300" cy="1066800"/>
            </a:xfrm>
            <a:custGeom>
              <a:avLst/>
              <a:gdLst/>
              <a:ahLst/>
              <a:cxnLst/>
              <a:rect l="l" t="t" r="r" b="b"/>
              <a:pathLst>
                <a:path w="11544300" h="1066800">
                  <a:moveTo>
                    <a:pt x="228600" y="0"/>
                  </a:moveTo>
                  <a:lnTo>
                    <a:pt x="11315700" y="0"/>
                  </a:lnTo>
                  <a:cubicBezTo>
                    <a:pt x="11441952" y="0"/>
                    <a:pt x="11544300" y="102348"/>
                    <a:pt x="11544300" y="228600"/>
                  </a:cubicBezTo>
                  <a:lnTo>
                    <a:pt x="11544300" y="838200"/>
                  </a:lnTo>
                  <a:cubicBezTo>
                    <a:pt x="11544300" y="964452"/>
                    <a:pt x="11441952" y="1066800"/>
                    <a:pt x="11315700" y="1066800"/>
                  </a:cubicBezTo>
                  <a:lnTo>
                    <a:pt x="228600" y="1066800"/>
                  </a:lnTo>
                  <a:cubicBezTo>
                    <a:pt x="102348" y="1066800"/>
                    <a:pt x="0" y="964452"/>
                    <a:pt x="0" y="8382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3F7E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23850" y="1066800"/>
              <a:ext cx="11544300" cy="266700"/>
            </a:xfrm>
            <a:prstGeom prst="rect">
              <a:avLst/>
            </a:prstGeom>
            <a:solidFill>
              <a:srgbClr val="F3F7EE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944100" y="-76200"/>
              <a:ext cx="2209800" cy="2209800"/>
            </a:xfrm>
            <a:prstGeom prst="ellipse">
              <a:avLst/>
            </a:prstGeom>
            <a:solidFill>
              <a:srgbClr val="B7F36B">
                <a:alpha val="14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58400" y="400050"/>
              <a:ext cx="800100" cy="800100"/>
            </a:xfrm>
            <a:prstGeom prst="ellipse">
              <a:avLst/>
            </a:prstGeom>
            <a:solidFill>
              <a:srgbClr val="B7F36B">
                <a:alpha val="22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91896" y="564356"/>
            <a:ext cx="10795254" cy="1749933"/>
            <a:chOff x="691896" y="564356"/>
            <a:chExt cx="10795254" cy="1749933"/>
          </a:xfrm>
        </p:grpSpPr>
        <p:sp>
          <p:nvSpPr>
            <p:cNvPr id="9" name="TextBox 9"/>
            <p:cNvSpPr txBox="1"/>
            <p:nvPr/>
          </p:nvSpPr>
          <p:spPr>
            <a:xfrm>
              <a:off x="699135" y="564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75" dirty="0">
                  <a:solidFill>
                    <a:srgbClr val="101418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模块目录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1896" y="848678"/>
              <a:ext cx="3580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Agent能力与编排路线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8754" y="13563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本页概览核心议题：现状、风险、全球影响与后续观察重点。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401300" y="571500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61925" y="0"/>
                  </a:moveTo>
                  <a:lnTo>
                    <a:pt x="885825" y="0"/>
                  </a:lnTo>
                  <a:cubicBezTo>
                    <a:pt x="975254" y="0"/>
                    <a:pt x="1047750" y="72496"/>
                    <a:pt x="1047750" y="161925"/>
                  </a:cubicBezTo>
                  <a:lnTo>
                    <a:pt x="1047750" y="161925"/>
                  </a:lnTo>
                  <a:cubicBezTo>
                    <a:pt x="1047750" y="251354"/>
                    <a:pt x="975254" y="323850"/>
                    <a:pt x="885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71240" y="66770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9FBF6"/>
                  </a:solidFill>
                  <a:latin typeface="Arial"/>
                  <a:ea typeface="Arial"/>
                  <a:cs typeface="Arial"/>
                </a:rPr>
                <a:t>02 / 04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04850" y="1866900"/>
              <a:ext cx="10782300" cy="9525"/>
            </a:xfrm>
            <a:custGeom>
              <a:avLst/>
              <a:gdLst/>
              <a:ahLst/>
              <a:cxnLst/>
              <a:rect l="l" t="t" r="r" b="b"/>
              <a:pathLst>
                <a:path w="10782300" h="9525">
                  <a:moveTo>
                    <a:pt x="0" y="0"/>
                  </a:moveTo>
                  <a:lnTo>
                    <a:pt x="10782300" y="0"/>
                  </a:lnTo>
                </a:path>
              </a:pathLst>
            </a:custGeom>
            <a:noFill/>
            <a:ln w="14288">
              <a:solidFill>
                <a:srgbClr val="CED8C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9897" y="2123599"/>
              <a:ext cx="1741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05" dirty="0">
                  <a:solidFill>
                    <a:srgbClr val="101418">
                      <a:alphaMod val="57999"/>
                    </a:srgbClr>
                  </a:solidFill>
                  <a:latin typeface="Arial"/>
                  <a:ea typeface="Arial"/>
                  <a:cs typeface="Arial"/>
                </a:rPr>
                <a:t>ORCHESTRATION ROUTE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81947" y="2123599"/>
              <a:ext cx="9001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05" dirty="0">
                  <a:solidFill>
                    <a:srgbClr val="101418">
                      <a:alphaMod val="57999"/>
                    </a:srgbClr>
                  </a:solidFill>
                  <a:latin typeface="Arial"/>
                  <a:ea typeface="Arial"/>
                  <a:cs typeface="Arial"/>
                </a:rPr>
                <a:t>AGENDA MAP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14400" y="2552700"/>
            <a:ext cx="10267950" cy="3657600"/>
            <a:chOff x="914400" y="2552700"/>
            <a:chExt cx="10267950" cy="3657600"/>
          </a:xfrm>
        </p:grpSpPr>
        <p:sp>
          <p:nvSpPr>
            <p:cNvPr id="18" name="Line 18"/>
            <p:cNvSpPr/>
            <p:nvPr/>
          </p:nvSpPr>
          <p:spPr>
            <a:xfrm>
              <a:off x="1866900" y="2743200"/>
              <a:ext cx="9525" cy="2876550"/>
            </a:xfrm>
            <a:custGeom>
              <a:avLst/>
              <a:gdLst/>
              <a:ahLst/>
              <a:cxnLst/>
              <a:rect l="l" t="t" r="r" b="b"/>
              <a:pathLst>
                <a:path w="9525" h="2876550">
                  <a:moveTo>
                    <a:pt x="0" y="0"/>
                  </a:moveTo>
                  <a:lnTo>
                    <a:pt x="0" y="2876550"/>
                  </a:lnTo>
                </a:path>
              </a:pathLst>
            </a:custGeom>
            <a:noFill/>
            <a:ln w="28575">
              <a:solidFill>
                <a:srgbClr val="CED8C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866900" y="335280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noFill/>
            <a:ln w="14288">
              <a:solidFill>
                <a:srgbClr val="CED8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66900" y="409575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noFill/>
            <a:ln w="14288">
              <a:solidFill>
                <a:srgbClr val="CED8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866900" y="483870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noFill/>
            <a:ln w="14288">
              <a:solidFill>
                <a:srgbClr val="CED8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66900" y="558165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noFill/>
            <a:ln w="14288">
              <a:solidFill>
                <a:srgbClr val="CED8C2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14400" y="25527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190500" y="0"/>
                  </a:moveTo>
                  <a:lnTo>
                    <a:pt x="495300" y="0"/>
                  </a:lnTo>
                  <a:cubicBezTo>
                    <a:pt x="600510" y="0"/>
                    <a:pt x="685800" y="85290"/>
                    <a:pt x="685800" y="190500"/>
                  </a:cubicBezTo>
                  <a:lnTo>
                    <a:pt x="685800" y="495300"/>
                  </a:lnTo>
                  <a:cubicBezTo>
                    <a:pt x="685800" y="600510"/>
                    <a:pt x="600510" y="685800"/>
                    <a:pt x="495300" y="685800"/>
                  </a:cubicBezTo>
                  <a:lnTo>
                    <a:pt x="190500" y="685800"/>
                  </a:lnTo>
                  <a:cubicBezTo>
                    <a:pt x="85290" y="685800"/>
                    <a:pt x="0" y="600510"/>
                    <a:pt x="0" y="495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033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47494" y="2627948"/>
              <a:ext cx="19014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重构Agent模型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51304" y="2994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打开感知、决策、执行三层架构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790700" y="2819400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14400" y="329565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190500" y="0"/>
                  </a:moveTo>
                  <a:lnTo>
                    <a:pt x="495300" y="0"/>
                  </a:lnTo>
                  <a:cubicBezTo>
                    <a:pt x="600510" y="0"/>
                    <a:pt x="685800" y="85290"/>
                    <a:pt x="685800" y="190500"/>
                  </a:cubicBezTo>
                  <a:lnTo>
                    <a:pt x="685800" y="495300"/>
                  </a:lnTo>
                  <a:cubicBezTo>
                    <a:pt x="685800" y="600510"/>
                    <a:pt x="600510" y="685800"/>
                    <a:pt x="495300" y="685800"/>
                  </a:cubicBezTo>
                  <a:lnTo>
                    <a:pt x="190500" y="685800"/>
                  </a:lnTo>
                  <a:cubicBezTo>
                    <a:pt x="85290" y="685800"/>
                    <a:pt x="0" y="600510"/>
                    <a:pt x="0" y="495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9FBF6"/>
            </a:solidFill>
            <a:ln w="19050">
              <a:solidFill>
                <a:srgbClr val="CED8C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70336" y="34490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47494" y="33708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策略路由与状态同步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51304" y="3737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覆盖异常回退与工程化治理闭环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790700" y="3562350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14400" y="40386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190500" y="0"/>
                  </a:moveTo>
                  <a:lnTo>
                    <a:pt x="495300" y="0"/>
                  </a:lnTo>
                  <a:cubicBezTo>
                    <a:pt x="600510" y="0"/>
                    <a:pt x="685800" y="85290"/>
                    <a:pt x="685800" y="190500"/>
                  </a:cubicBezTo>
                  <a:lnTo>
                    <a:pt x="685800" y="495300"/>
                  </a:lnTo>
                  <a:cubicBezTo>
                    <a:pt x="685800" y="600510"/>
                    <a:pt x="600510" y="685800"/>
                    <a:pt x="495300" y="685800"/>
                  </a:cubicBezTo>
                  <a:lnTo>
                    <a:pt x="190500" y="685800"/>
                  </a:lnTo>
                  <a:cubicBezTo>
                    <a:pt x="85290" y="685800"/>
                    <a:pt x="0" y="600510"/>
                    <a:pt x="0" y="495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9FBF6"/>
            </a:solidFill>
            <a:ln w="19050">
              <a:solidFill>
                <a:srgbClr val="CED8C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0336" y="4191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47494" y="4113848"/>
              <a:ext cx="19014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量化Agent表现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51304" y="4480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吞吐量、决策质量与人工介入率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790700" y="4305300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4400" y="478155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190500" y="0"/>
                  </a:moveTo>
                  <a:lnTo>
                    <a:pt x="495300" y="0"/>
                  </a:lnTo>
                  <a:cubicBezTo>
                    <a:pt x="600510" y="0"/>
                    <a:pt x="685800" y="85290"/>
                    <a:pt x="685800" y="190500"/>
                  </a:cubicBezTo>
                  <a:lnTo>
                    <a:pt x="685800" y="495300"/>
                  </a:lnTo>
                  <a:cubicBezTo>
                    <a:pt x="685800" y="600510"/>
                    <a:pt x="600510" y="685800"/>
                    <a:pt x="495300" y="685800"/>
                  </a:cubicBezTo>
                  <a:lnTo>
                    <a:pt x="190500" y="685800"/>
                  </a:lnTo>
                  <a:cubicBezTo>
                    <a:pt x="85290" y="685800"/>
                    <a:pt x="0" y="600510"/>
                    <a:pt x="0" y="495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9FBF6"/>
            </a:solidFill>
            <a:ln w="19050">
              <a:solidFill>
                <a:srgbClr val="CED8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70336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47494" y="48567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三步落地计划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51304" y="52235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保障低风险投产与持续治理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1790700" y="5048250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14400" y="55245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190500" y="0"/>
                  </a:moveTo>
                  <a:lnTo>
                    <a:pt x="495300" y="0"/>
                  </a:lnTo>
                  <a:cubicBezTo>
                    <a:pt x="600510" y="0"/>
                    <a:pt x="685800" y="85290"/>
                    <a:pt x="685800" y="190500"/>
                  </a:cubicBezTo>
                  <a:lnTo>
                    <a:pt x="685800" y="495300"/>
                  </a:lnTo>
                  <a:cubicBezTo>
                    <a:pt x="685800" y="600510"/>
                    <a:pt x="600510" y="685800"/>
                    <a:pt x="495300" y="685800"/>
                  </a:cubicBezTo>
                  <a:lnTo>
                    <a:pt x="190500" y="685800"/>
                  </a:lnTo>
                  <a:cubicBezTo>
                    <a:pt x="85290" y="685800"/>
                    <a:pt x="0" y="600510"/>
                    <a:pt x="0" y="4953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9FBF6"/>
            </a:solidFill>
            <a:ln w="19050">
              <a:solidFill>
                <a:srgbClr val="CED8C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7033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47494" y="55997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海峡通行现状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51304" y="59664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作为外部环境观察项纳入研判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1790700" y="5791200"/>
              <a:ext cx="152400" cy="1524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267700" y="2571750"/>
              <a:ext cx="2914650" cy="3124200"/>
            </a:xfrm>
            <a:custGeom>
              <a:avLst/>
              <a:gdLst/>
              <a:ahLst/>
              <a:cxnLst/>
              <a:rect l="l" t="t" r="r" b="b"/>
              <a:pathLst>
                <a:path w="2914650" h="3124200">
                  <a:moveTo>
                    <a:pt x="171450" y="0"/>
                  </a:moveTo>
                  <a:lnTo>
                    <a:pt x="2743200" y="0"/>
                  </a:lnTo>
                  <a:cubicBezTo>
                    <a:pt x="2837889" y="0"/>
                    <a:pt x="2914650" y="76761"/>
                    <a:pt x="2914650" y="171450"/>
                  </a:cubicBezTo>
                  <a:lnTo>
                    <a:pt x="2914650" y="2952750"/>
                  </a:lnTo>
                  <a:cubicBezTo>
                    <a:pt x="2914650" y="3047439"/>
                    <a:pt x="2837889" y="3124200"/>
                    <a:pt x="2743200" y="3124200"/>
                  </a:cubicBezTo>
                  <a:lnTo>
                    <a:pt x="171450" y="3124200"/>
                  </a:lnTo>
                  <a:cubicBezTo>
                    <a:pt x="76761" y="3124200"/>
                    <a:pt x="0" y="3047439"/>
                    <a:pt x="0" y="29527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3F7EE"/>
            </a:solidFill>
            <a:ln w="14288">
              <a:solidFill>
                <a:srgbClr val="CED8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48116" y="2782252"/>
              <a:ext cx="1377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rgbClr val="101418">
                      <a:alphaMod val="62000"/>
                    </a:srgbClr>
                  </a:solidFill>
                  <a:latin typeface="Arial"/>
                  <a:ea typeface="Arial"/>
                  <a:cs typeface="Arial"/>
                </a:rPr>
                <a:t>EXECUTION FRAME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553450" y="3124200"/>
              <a:ext cx="2343150" cy="400050"/>
            </a:xfrm>
            <a:custGeom>
              <a:avLst/>
              <a:gdLst/>
              <a:ahLst/>
              <a:cxnLst/>
              <a:rect l="l" t="t" r="r" b="b"/>
              <a:pathLst>
                <a:path w="2343150" h="40005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285750"/>
                  </a:lnTo>
                  <a:cubicBezTo>
                    <a:pt x="2343150" y="348876"/>
                    <a:pt x="2291976" y="400050"/>
                    <a:pt x="2228850" y="400050"/>
                  </a:cubicBezTo>
                  <a:lnTo>
                    <a:pt x="114300" y="400050"/>
                  </a:lnTo>
                  <a:cubicBezTo>
                    <a:pt x="51174" y="400050"/>
                    <a:pt x="0" y="348876"/>
                    <a:pt x="0" y="285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77880" y="32342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9FBF6"/>
                  </a:solidFill>
                  <a:latin typeface="Arial"/>
                  <a:ea typeface="Microsoft YaHei"/>
                  <a:cs typeface="Arial"/>
                </a:rPr>
                <a:t>能力分层重构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9725025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01418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105900" y="3771900"/>
              <a:ext cx="619125" cy="342900"/>
            </a:xfrm>
            <a:custGeom>
              <a:avLst/>
              <a:gdLst/>
              <a:ahLst/>
              <a:cxnLst/>
              <a:rect l="l" t="t" r="r" b="b"/>
              <a:pathLst>
                <a:path w="619125" h="342900">
                  <a:moveTo>
                    <a:pt x="619125" y="0"/>
                  </a:moveTo>
                  <a:lnTo>
                    <a:pt x="0" y="342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01418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725025" y="37719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0141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725025" y="3771900"/>
              <a:ext cx="619125" cy="342900"/>
            </a:xfrm>
            <a:custGeom>
              <a:avLst/>
              <a:gdLst/>
              <a:ahLst/>
              <a:cxnLst/>
              <a:rect l="l" t="t" r="r" b="b"/>
              <a:pathLst>
                <a:path w="619125" h="342900">
                  <a:moveTo>
                    <a:pt x="0" y="0"/>
                  </a:moveTo>
                  <a:lnTo>
                    <a:pt x="619125" y="342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0141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724900" y="4114800"/>
              <a:ext cx="781050" cy="323850"/>
            </a:xfrm>
            <a:custGeom>
              <a:avLst/>
              <a:gdLst/>
              <a:ahLst/>
              <a:cxnLst/>
              <a:rect l="l" t="t" r="r" b="b"/>
              <a:pathLst>
                <a:path w="781050" h="323850">
                  <a:moveTo>
                    <a:pt x="95250" y="0"/>
                  </a:moveTo>
                  <a:lnTo>
                    <a:pt x="685800" y="0"/>
                  </a:lnTo>
                  <a:cubicBezTo>
                    <a:pt x="738405" y="0"/>
                    <a:pt x="781050" y="42645"/>
                    <a:pt x="781050" y="95250"/>
                  </a:cubicBezTo>
                  <a:lnTo>
                    <a:pt x="781050" y="228600"/>
                  </a:lnTo>
                  <a:cubicBezTo>
                    <a:pt x="781050" y="281205"/>
                    <a:pt x="738405" y="323850"/>
                    <a:pt x="685800" y="323850"/>
                  </a:cubicBezTo>
                  <a:lnTo>
                    <a:pt x="95250" y="323850"/>
                  </a:lnTo>
                  <a:cubicBezTo>
                    <a:pt x="42645" y="323850"/>
                    <a:pt x="0" y="281205"/>
                    <a:pt x="0" y="228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334500" y="4114800"/>
              <a:ext cx="781050" cy="323850"/>
            </a:xfrm>
            <a:custGeom>
              <a:avLst/>
              <a:gdLst/>
              <a:ahLst/>
              <a:cxnLst/>
              <a:rect l="l" t="t" r="r" b="b"/>
              <a:pathLst>
                <a:path w="781050" h="323850">
                  <a:moveTo>
                    <a:pt x="95250" y="0"/>
                  </a:moveTo>
                  <a:lnTo>
                    <a:pt x="685800" y="0"/>
                  </a:lnTo>
                  <a:cubicBezTo>
                    <a:pt x="738405" y="0"/>
                    <a:pt x="781050" y="42645"/>
                    <a:pt x="781050" y="95250"/>
                  </a:cubicBezTo>
                  <a:lnTo>
                    <a:pt x="781050" y="228600"/>
                  </a:lnTo>
                  <a:cubicBezTo>
                    <a:pt x="781050" y="281205"/>
                    <a:pt x="738405" y="323850"/>
                    <a:pt x="685800" y="323850"/>
                  </a:cubicBezTo>
                  <a:lnTo>
                    <a:pt x="95250" y="323850"/>
                  </a:lnTo>
                  <a:cubicBezTo>
                    <a:pt x="42645" y="323850"/>
                    <a:pt x="0" y="281205"/>
                    <a:pt x="0" y="228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944100" y="4114800"/>
              <a:ext cx="781050" cy="323850"/>
            </a:xfrm>
            <a:custGeom>
              <a:avLst/>
              <a:gdLst/>
              <a:ahLst/>
              <a:cxnLst/>
              <a:rect l="l" t="t" r="r" b="b"/>
              <a:pathLst>
                <a:path w="781050" h="323850">
                  <a:moveTo>
                    <a:pt x="95250" y="0"/>
                  </a:moveTo>
                  <a:lnTo>
                    <a:pt x="685800" y="0"/>
                  </a:lnTo>
                  <a:cubicBezTo>
                    <a:pt x="738405" y="0"/>
                    <a:pt x="781050" y="42645"/>
                    <a:pt x="781050" y="95250"/>
                  </a:cubicBezTo>
                  <a:lnTo>
                    <a:pt x="781050" y="228600"/>
                  </a:lnTo>
                  <a:cubicBezTo>
                    <a:pt x="781050" y="281205"/>
                    <a:pt x="738405" y="323850"/>
                    <a:pt x="685800" y="323850"/>
                  </a:cubicBezTo>
                  <a:lnTo>
                    <a:pt x="95250" y="323850"/>
                  </a:lnTo>
                  <a:cubicBezTo>
                    <a:pt x="42645" y="323850"/>
                    <a:pt x="0" y="281205"/>
                    <a:pt x="0" y="228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B7F36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87463" y="42110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感知层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97063" y="42110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决策层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06663" y="42110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执行层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9115425" y="4533900"/>
              <a:ext cx="609600" cy="514350"/>
            </a:xfrm>
            <a:custGeom>
              <a:avLst/>
              <a:gdLst/>
              <a:ahLst/>
              <a:cxnLst/>
              <a:rect l="l" t="t" r="r" b="b"/>
              <a:pathLst>
                <a:path w="609600" h="514350">
                  <a:moveTo>
                    <a:pt x="0" y="0"/>
                  </a:moveTo>
                  <a:lnTo>
                    <a:pt x="0" y="266700"/>
                  </a:lnTo>
                  <a:lnTo>
                    <a:pt x="609600" y="266700"/>
                  </a:lnTo>
                  <a:lnTo>
                    <a:pt x="609600" y="51435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725025" y="45339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725025" y="4533900"/>
              <a:ext cx="609600" cy="266700"/>
            </a:xfrm>
            <a:custGeom>
              <a:avLst/>
              <a:gdLst/>
              <a:ahLst/>
              <a:cxnLst/>
              <a:rect l="l" t="t" r="r" b="b"/>
              <a:pathLst>
                <a:path w="609600" h="266700">
                  <a:moveTo>
                    <a:pt x="609600" y="0"/>
                  </a:moveTo>
                  <a:lnTo>
                    <a:pt x="609600" y="266700"/>
                  </a:ln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801100" y="5048250"/>
              <a:ext cx="1847850" cy="381000"/>
            </a:xfrm>
            <a:custGeom>
              <a:avLst/>
              <a:gdLst/>
              <a:ahLst/>
              <a:cxnLst/>
              <a:rect l="l" t="t" r="r" b="b"/>
              <a:pathLst>
                <a:path w="1847850" h="381000">
                  <a:moveTo>
                    <a:pt x="114300" y="0"/>
                  </a:moveTo>
                  <a:lnTo>
                    <a:pt x="1733550" y="0"/>
                  </a:lnTo>
                  <a:cubicBezTo>
                    <a:pt x="1796676" y="0"/>
                    <a:pt x="1847850" y="51174"/>
                    <a:pt x="1847850" y="114300"/>
                  </a:cubicBezTo>
                  <a:lnTo>
                    <a:pt x="1847850" y="266700"/>
                  </a:lnTo>
                  <a:cubicBezTo>
                    <a:pt x="1847850" y="329826"/>
                    <a:pt x="1796676" y="381000"/>
                    <a:pt x="1733550" y="381000"/>
                  </a:cubicBezTo>
                  <a:lnTo>
                    <a:pt x="114300" y="381000"/>
                  </a:lnTo>
                  <a:cubicBezTo>
                    <a:pt x="51174" y="381000"/>
                    <a:pt x="0" y="329826"/>
                    <a:pt x="0" y="266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741338" y="5164931"/>
              <a:ext cx="1967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策略路由 / 状态同步 / 回退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04850" y="5868352"/>
            <a:ext cx="12360974" cy="454343"/>
            <a:chOff x="704850" y="5868352"/>
            <a:chExt cx="12360974" cy="454343"/>
          </a:xfrm>
        </p:grpSpPr>
        <p:sp>
          <p:nvSpPr>
            <p:cNvPr id="68" name="Freeform 68"/>
            <p:cNvSpPr/>
            <p:nvPr/>
          </p:nvSpPr>
          <p:spPr>
            <a:xfrm>
              <a:off x="704850" y="5962650"/>
              <a:ext cx="3657600" cy="342900"/>
            </a:xfrm>
            <a:custGeom>
              <a:avLst/>
              <a:gdLst/>
              <a:ahLst/>
              <a:cxnLst/>
              <a:rect l="l" t="t" r="r" b="b"/>
              <a:pathLst>
                <a:path w="3657600" h="342900">
                  <a:moveTo>
                    <a:pt x="171450" y="0"/>
                  </a:moveTo>
                  <a:lnTo>
                    <a:pt x="3486150" y="0"/>
                  </a:lnTo>
                  <a:cubicBezTo>
                    <a:pt x="3580839" y="0"/>
                    <a:pt x="3657600" y="76761"/>
                    <a:pt x="3657600" y="171450"/>
                  </a:cubicBezTo>
                  <a:lnTo>
                    <a:pt x="3657600" y="171450"/>
                  </a:lnTo>
                  <a:cubicBezTo>
                    <a:pt x="3657600" y="266139"/>
                    <a:pt x="3580839" y="342900"/>
                    <a:pt x="34861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806" y="606837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9FBF6"/>
                  </a:solidFill>
                  <a:latin typeface="Arial"/>
                  <a:ea typeface="Microsoft YaHei"/>
                  <a:cs typeface="Arial"/>
                </a:rPr>
                <a:t>从模型能力到治理闭环，按执行链路逐章展开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71550" y="6143625"/>
              <a:ext cx="76200" cy="76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23950" y="6143625"/>
              <a:ext cx="76200" cy="76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276350" y="6143625"/>
              <a:ext cx="76200" cy="76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24366" y="586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1418">
                      <a:alphaMod val="64000"/>
                    </a:srgbClr>
                  </a:solidFill>
                  <a:latin typeface="Arial"/>
                  <a:ea typeface="Microsoft YaHei"/>
                  <a:cs typeface="Arial"/>
                </a:rPr>
                <a:t>重点关注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22080" y="602932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能力结构、路由机制、量化指标、投产路径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EC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381000" y="323850"/>
              <a:ext cx="11430000" cy="6210300"/>
            </a:xfrm>
            <a:custGeom>
              <a:avLst/>
              <a:gdLst/>
              <a:ahLst/>
              <a:cxnLst/>
              <a:rect l="l" t="t" r="r" b="b"/>
              <a:pathLst>
                <a:path w="11430000" h="6210300">
                  <a:moveTo>
                    <a:pt x="209550" y="0"/>
                  </a:moveTo>
                  <a:lnTo>
                    <a:pt x="11220450" y="0"/>
                  </a:lnTo>
                  <a:cubicBezTo>
                    <a:pt x="11336181" y="0"/>
                    <a:pt x="11430000" y="93819"/>
                    <a:pt x="11430000" y="209550"/>
                  </a:cubicBezTo>
                  <a:lnTo>
                    <a:pt x="11430000" y="6000750"/>
                  </a:lnTo>
                  <a:cubicBezTo>
                    <a:pt x="11430000" y="6116481"/>
                    <a:pt x="11336181" y="6210300"/>
                    <a:pt x="11220450" y="6210300"/>
                  </a:cubicBezTo>
                  <a:lnTo>
                    <a:pt x="209550" y="6210300"/>
                  </a:lnTo>
                  <a:cubicBezTo>
                    <a:pt x="93819" y="6210300"/>
                    <a:pt x="0" y="6116481"/>
                    <a:pt x="0" y="60007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381000" y="323850"/>
              <a:ext cx="11430000" cy="933450"/>
            </a:xfrm>
            <a:custGeom>
              <a:avLst/>
              <a:gdLst/>
              <a:ahLst/>
              <a:cxnLst/>
              <a:rect l="l" t="t" r="r" b="b"/>
              <a:pathLst>
                <a:path w="11430000" h="933450">
                  <a:moveTo>
                    <a:pt x="209550" y="0"/>
                  </a:moveTo>
                  <a:lnTo>
                    <a:pt x="11220450" y="0"/>
                  </a:lnTo>
                  <a:cubicBezTo>
                    <a:pt x="11336181" y="0"/>
                    <a:pt x="11430000" y="93819"/>
                    <a:pt x="11430000" y="209550"/>
                  </a:cubicBezTo>
                  <a:lnTo>
                    <a:pt x="11430000" y="723900"/>
                  </a:lnTo>
                  <a:cubicBezTo>
                    <a:pt x="11430000" y="839631"/>
                    <a:pt x="11336181" y="933450"/>
                    <a:pt x="11220450" y="933450"/>
                  </a:cubicBezTo>
                  <a:lnTo>
                    <a:pt x="209550" y="933450"/>
                  </a:lnTo>
                  <a:cubicBezTo>
                    <a:pt x="93819" y="933450"/>
                    <a:pt x="0" y="839631"/>
                    <a:pt x="0" y="7239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4F8E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81000" y="1047750"/>
              <a:ext cx="11430000" cy="209550"/>
            </a:xfrm>
            <a:prstGeom prst="rect">
              <a:avLst/>
            </a:prstGeom>
            <a:solidFill>
              <a:srgbClr val="F4F8EF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229850" y="285750"/>
              <a:ext cx="1028700" cy="10287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77500" y="533400"/>
              <a:ext cx="533400" cy="533400"/>
            </a:xfrm>
            <a:prstGeom prst="ellipse">
              <a:avLst/>
            </a:prstGeom>
            <a:noFill/>
            <a:ln w="14288">
              <a:solidFill>
                <a:srgbClr val="10141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687050" y="742950"/>
              <a:ext cx="114300" cy="1143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25246" y="621506"/>
            <a:ext cx="10528554" cy="5147405"/>
            <a:chOff x="825246" y="621506"/>
            <a:chExt cx="10528554" cy="5147405"/>
          </a:xfrm>
        </p:grpSpPr>
        <p:sp>
          <p:nvSpPr>
            <p:cNvPr id="10" name="TextBox 10"/>
            <p:cNvSpPr txBox="1"/>
            <p:nvPr/>
          </p:nvSpPr>
          <p:spPr>
            <a:xfrm>
              <a:off x="832485" y="6215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关键判断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5246" y="791528"/>
              <a:ext cx="6062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编排胜于模型：定义企业AI新生产力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38200" y="14097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95966" y="5563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38200" y="5695950"/>
              <a:ext cx="9220200" cy="9525"/>
            </a:xfrm>
            <a:custGeom>
              <a:avLst/>
              <a:gdLst/>
              <a:ahLst/>
              <a:cxnLst/>
              <a:rect l="l" t="t" r="r" b="b"/>
              <a:pathLst>
                <a:path w="9220200" h="9525">
                  <a:moveTo>
                    <a:pt x="0" y="0"/>
                  </a:moveTo>
                  <a:lnTo>
                    <a:pt x="9220200" y="0"/>
                  </a:lnTo>
                </a:path>
              </a:pathLst>
            </a:custGeom>
            <a:noFill/>
            <a:ln w="19050">
              <a:solidFill>
                <a:srgbClr val="CED8C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38200" y="5695950"/>
              <a:ext cx="6915150" cy="9525"/>
            </a:xfrm>
            <a:custGeom>
              <a:avLst/>
              <a:gdLst/>
              <a:ahLst/>
              <a:cxnLst/>
              <a:rect l="l" t="t" r="r" b="b"/>
              <a:pathLst>
                <a:path w="6915150" h="9525">
                  <a:moveTo>
                    <a:pt x="0" y="0"/>
                  </a:moveTo>
                  <a:lnTo>
                    <a:pt x="6915150" y="0"/>
                  </a:lnTo>
                </a:path>
              </a:pathLst>
            </a:custGeom>
            <a:noFill/>
            <a:ln w="19050">
              <a:solidFill>
                <a:srgbClr val="101418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838200" y="1790700"/>
            <a:ext cx="10647426" cy="4229100"/>
            <a:chOff x="838200" y="1790700"/>
            <a:chExt cx="10647426" cy="4229100"/>
          </a:xfrm>
        </p:grpSpPr>
        <p:sp>
          <p:nvSpPr>
            <p:cNvPr id="17" name="Freeform 17"/>
            <p:cNvSpPr/>
            <p:nvPr/>
          </p:nvSpPr>
          <p:spPr>
            <a:xfrm>
              <a:off x="838200" y="1790700"/>
              <a:ext cx="7429500" cy="3028950"/>
            </a:xfrm>
            <a:custGeom>
              <a:avLst/>
              <a:gdLst/>
              <a:ahLst/>
              <a:cxnLst/>
              <a:rect l="l" t="t" r="r" b="b"/>
              <a:pathLst>
                <a:path w="7429500" h="3028950">
                  <a:moveTo>
                    <a:pt x="190500" y="0"/>
                  </a:moveTo>
                  <a:lnTo>
                    <a:pt x="7239000" y="0"/>
                  </a:lnTo>
                  <a:cubicBezTo>
                    <a:pt x="7344210" y="0"/>
                    <a:pt x="7429500" y="85290"/>
                    <a:pt x="7429500" y="190500"/>
                  </a:cubicBezTo>
                  <a:lnTo>
                    <a:pt x="7429500" y="2838450"/>
                  </a:lnTo>
                  <a:cubicBezTo>
                    <a:pt x="7429500" y="2943660"/>
                    <a:pt x="7344210" y="3028950"/>
                    <a:pt x="7239000" y="3028950"/>
                  </a:cubicBezTo>
                  <a:lnTo>
                    <a:pt x="190500" y="3028950"/>
                  </a:lnTo>
                  <a:cubicBezTo>
                    <a:pt x="85290" y="3028950"/>
                    <a:pt x="0" y="2943660"/>
                    <a:pt x="0" y="283845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8200" y="1790700"/>
              <a:ext cx="7429500" cy="95250"/>
            </a:xfrm>
            <a:prstGeom prst="rect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50442" y="2502218"/>
              <a:ext cx="1543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75" dirty="0">
                  <a:solidFill>
                    <a:srgbClr val="B7F36B"/>
                  </a:solidFill>
                  <a:latin typeface="Arial"/>
                  <a:ea typeface="Arial"/>
                  <a:cs typeface="Arial"/>
                </a:rPr>
                <a:t>CORE JUDGMENT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8250" y="2910840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9FBF6"/>
                  </a:solidFill>
                  <a:latin typeface="Arial"/>
                  <a:ea typeface="Microsoft YaHei"/>
                  <a:cs typeface="Arial"/>
                </a:rPr>
                <a:t>编排能力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8250" y="3634740"/>
              <a:ext cx="68229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9FBF6"/>
                  </a:solidFill>
                  <a:latin typeface="Arial"/>
                  <a:ea typeface="Microsoft YaHei"/>
                  <a:cs typeface="Arial"/>
                </a:rPr>
                <a:t>正在替代单点模型优势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8156" y="4358640"/>
              <a:ext cx="343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ED8C2"/>
                  </a:solidFill>
                  <a:latin typeface="Arial"/>
                  <a:ea typeface="Microsoft YaHei"/>
                  <a:cs typeface="Arial"/>
                </a:rPr>
                <a:t>企业价值不再取决于“最强模型”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667750" y="1790700"/>
              <a:ext cx="2686050" cy="3028950"/>
            </a:xfrm>
            <a:custGeom>
              <a:avLst/>
              <a:gdLst/>
              <a:ahLst/>
              <a:cxnLst/>
              <a:rect l="l" t="t" r="r" b="b"/>
              <a:pathLst>
                <a:path w="2686050" h="3028950">
                  <a:moveTo>
                    <a:pt x="190500" y="0"/>
                  </a:moveTo>
                  <a:lnTo>
                    <a:pt x="2495550" y="0"/>
                  </a:lnTo>
                  <a:cubicBezTo>
                    <a:pt x="2600760" y="0"/>
                    <a:pt x="2686050" y="85290"/>
                    <a:pt x="2686050" y="190500"/>
                  </a:cubicBezTo>
                  <a:lnTo>
                    <a:pt x="2686050" y="2838450"/>
                  </a:lnTo>
                  <a:cubicBezTo>
                    <a:pt x="2686050" y="2943660"/>
                    <a:pt x="2600760" y="3028950"/>
                    <a:pt x="2495550" y="3028950"/>
                  </a:cubicBezTo>
                  <a:lnTo>
                    <a:pt x="190500" y="3028950"/>
                  </a:lnTo>
                  <a:cubicBezTo>
                    <a:pt x="85290" y="3028950"/>
                    <a:pt x="0" y="2943660"/>
                    <a:pt x="0" y="283845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4F8EF"/>
            </a:solidFill>
            <a:ln w="14288">
              <a:solidFill>
                <a:srgbClr val="CED8C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283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结构性影响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15400" y="2202180"/>
              <a:ext cx="55120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67494" y="264699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层协同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6830" y="311467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感知 / 决策 / 执行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934450" y="35623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27592" y="3759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从输入理解到任务闭环，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7592" y="4026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价值密度主要由编排系统决定。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38200" y="5124450"/>
              <a:ext cx="10515600" cy="895350"/>
            </a:xfrm>
            <a:custGeom>
              <a:avLst/>
              <a:gdLst/>
              <a:ahLst/>
              <a:cxnLst/>
              <a:rect l="l" t="t" r="r" b="b"/>
              <a:pathLst>
                <a:path w="10515600" h="895350">
                  <a:moveTo>
                    <a:pt x="171450" y="0"/>
                  </a:moveTo>
                  <a:lnTo>
                    <a:pt x="10344150" y="0"/>
                  </a:lnTo>
                  <a:cubicBezTo>
                    <a:pt x="10438839" y="0"/>
                    <a:pt x="10515600" y="76761"/>
                    <a:pt x="10515600" y="171450"/>
                  </a:cubicBezTo>
                  <a:lnTo>
                    <a:pt x="10515600" y="723900"/>
                  </a:lnTo>
                  <a:cubicBezTo>
                    <a:pt x="10515600" y="818589"/>
                    <a:pt x="10438839" y="895350"/>
                    <a:pt x="10344150" y="895350"/>
                  </a:cubicBezTo>
                  <a:lnTo>
                    <a:pt x="171450" y="895350"/>
                  </a:lnTo>
                  <a:cubicBezTo>
                    <a:pt x="76761" y="895350"/>
                    <a:pt x="0" y="818589"/>
                    <a:pt x="0" y="723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343400" y="527685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7715250" y="527685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66800" y="5372100"/>
              <a:ext cx="190500" cy="1905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63980" y="535305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感知层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65885" y="5660231"/>
              <a:ext cx="2964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多模态意图捕获与上下文融合，延迟&lt;200ms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572000" y="5372100"/>
              <a:ext cx="190500" cy="1905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619625" y="5419725"/>
              <a:ext cx="95250" cy="9525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69180" y="535305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决策层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71085" y="5660231"/>
              <a:ext cx="2987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策略引擎动态分解任务，支持20+元操作路由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943850" y="5372100"/>
              <a:ext cx="190500" cy="190500"/>
            </a:xfrm>
            <a:prstGeom prst="ellipse">
              <a:avLst/>
            </a:prstGeom>
            <a:noFill/>
            <a:ln w="19050">
              <a:solidFill>
                <a:srgbClr val="10141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010525" y="5438775"/>
              <a:ext cx="57150" cy="571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41030" y="535305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执行层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2935" y="5660231"/>
              <a:ext cx="2888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安全工具调用、状态持久化与人工接管闭环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2866" y="6173152"/>
            <a:ext cx="3403092" cy="205359"/>
            <a:chOff x="832866" y="6173152"/>
            <a:chExt cx="3403092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832866" y="617315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95E"/>
                  </a:solidFill>
                  <a:latin typeface="Arial"/>
                  <a:ea typeface="Microsoft YaHei"/>
                  <a:cs typeface="Arial"/>
                </a:rPr>
                <a:t>提炼当前最值得关注的事实、变化趋势与结构性影响。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F2EC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33400" y="457200"/>
              <a:ext cx="11125200" cy="5943600"/>
            </a:xfrm>
            <a:custGeom>
              <a:avLst/>
              <a:gdLst/>
              <a:ahLst/>
              <a:cxnLst/>
              <a:rect l="l" t="t" r="r" b="b"/>
              <a:pathLst>
                <a:path w="11125200" h="5943600">
                  <a:moveTo>
                    <a:pt x="266700" y="0"/>
                  </a:moveTo>
                  <a:lnTo>
                    <a:pt x="10858500" y="0"/>
                  </a:lnTo>
                  <a:cubicBezTo>
                    <a:pt x="11005794" y="0"/>
                    <a:pt x="11125200" y="119406"/>
                    <a:pt x="11125200" y="266700"/>
                  </a:cubicBezTo>
                  <a:lnTo>
                    <a:pt x="11125200" y="5676900"/>
                  </a:lnTo>
                  <a:cubicBezTo>
                    <a:pt x="11125200" y="5824194"/>
                    <a:pt x="11005794" y="5943600"/>
                    <a:pt x="10858500" y="5943600"/>
                  </a:cubicBezTo>
                  <a:lnTo>
                    <a:pt x="266700" y="5943600"/>
                  </a:lnTo>
                  <a:cubicBezTo>
                    <a:pt x="119406" y="5943600"/>
                    <a:pt x="0" y="5824194"/>
                    <a:pt x="0" y="56769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9FBF6"/>
            </a:solidFill>
            <a:ln w="14288">
              <a:solidFill>
                <a:srgbClr val="CED8C2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906000" y="457200"/>
              <a:ext cx="1752600" cy="1600200"/>
            </a:xfrm>
            <a:custGeom>
              <a:avLst/>
              <a:gdLst/>
              <a:ahLst/>
              <a:cxnLst/>
              <a:rect l="l" t="t" r="r" b="b"/>
              <a:pathLst>
                <a:path w="1752600" h="1600200">
                  <a:moveTo>
                    <a:pt x="0" y="0"/>
                  </a:moveTo>
                  <a:lnTo>
                    <a:pt x="1752600" y="0"/>
                  </a:lnTo>
                  <a:cubicBezTo>
                    <a:pt x="1752600" y="0"/>
                    <a:pt x="1752600" y="0"/>
                    <a:pt x="1752600" y="0"/>
                  </a:cubicBezTo>
                  <a:lnTo>
                    <a:pt x="1752600" y="1600200"/>
                  </a:lnTo>
                  <a:cubicBezTo>
                    <a:pt x="1390650" y="1352550"/>
                    <a:pt x="933450" y="1171575"/>
                    <a:pt x="381000" y="1066800"/>
                  </a:cubicBezTo>
                  <a:cubicBezTo>
                    <a:pt x="152400" y="1019175"/>
                    <a:pt x="28575" y="819150"/>
                    <a:pt x="19050" y="571500"/>
                  </a:cubicBezTo>
                  <a:close/>
                </a:path>
              </a:pathLst>
            </a:custGeom>
            <a:solidFill>
              <a:srgbClr val="E6EEDF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33400" y="4895850"/>
              <a:ext cx="2209800" cy="1504950"/>
            </a:xfrm>
            <a:custGeom>
              <a:avLst/>
              <a:gdLst/>
              <a:ahLst/>
              <a:cxnLst/>
              <a:rect l="l" t="t" r="r" b="b"/>
              <a:pathLst>
                <a:path w="2209800" h="1504950">
                  <a:moveTo>
                    <a:pt x="0" y="0"/>
                  </a:moveTo>
                  <a:cubicBezTo>
                    <a:pt x="1028700" y="171450"/>
                    <a:pt x="1695450" y="647700"/>
                    <a:pt x="2209800" y="1504950"/>
                  </a:cubicBezTo>
                  <a:lnTo>
                    <a:pt x="0" y="1504950"/>
                  </a:lnTo>
                  <a:close/>
                </a:path>
              </a:pathLst>
            </a:custGeom>
            <a:solidFill>
              <a:srgbClr val="E6EED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70204" y="689610"/>
            <a:ext cx="10531221" cy="310515"/>
            <a:chOff x="870204" y="689610"/>
            <a:chExt cx="10531221" cy="310515"/>
          </a:xfrm>
        </p:grpSpPr>
        <p:sp>
          <p:nvSpPr>
            <p:cNvPr id="7" name="TextBox 7"/>
            <p:cNvSpPr txBox="1"/>
            <p:nvPr/>
          </p:nvSpPr>
          <p:spPr>
            <a:xfrm>
              <a:off x="870204" y="68961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4E5A49"/>
                  </a:solidFill>
                  <a:latin typeface="Arial"/>
                  <a:ea typeface="Microsoft YaHei"/>
                  <a:cs typeface="Arial"/>
                </a:rPr>
                <a:t>推进序列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9906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00004" y="68961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04 / 04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1287125" y="704850"/>
              <a:ext cx="114300" cy="114300"/>
            </a:xfrm>
            <a:prstGeom prst="ellipse">
              <a:avLst/>
            </a:prstGeom>
            <a:solidFill>
              <a:srgbClr val="B7F36B"/>
            </a:solidFill>
            <a:ln w="13335">
              <a:solidFill>
                <a:srgbClr val="101418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57250" y="1127760"/>
            <a:ext cx="10458450" cy="4739640"/>
            <a:chOff x="857250" y="1127760"/>
            <a:chExt cx="10458450" cy="4739640"/>
          </a:xfrm>
        </p:grpSpPr>
        <p:sp>
          <p:nvSpPr>
            <p:cNvPr id="12" name="TextBox 12"/>
            <p:cNvSpPr txBox="1"/>
            <p:nvPr/>
          </p:nvSpPr>
          <p:spPr>
            <a:xfrm>
              <a:off x="857250" y="1127760"/>
              <a:ext cx="30064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下一步行动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7349" y="1801654"/>
              <a:ext cx="53166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96556"/>
                  </a:solidFill>
                  <a:latin typeface="Arial"/>
                  <a:ea typeface="Microsoft YaHei"/>
                  <a:cs typeface="Arial"/>
                </a:rPr>
                <a:t>以收束页形式给出接下来最值得执行或持续观察的动作。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76300" y="2533650"/>
              <a:ext cx="10439400" cy="2152650"/>
            </a:xfrm>
            <a:custGeom>
              <a:avLst/>
              <a:gdLst/>
              <a:ahLst/>
              <a:cxnLst/>
              <a:rect l="l" t="t" r="r" b="b"/>
              <a:pathLst>
                <a:path w="10439400" h="2152650">
                  <a:moveTo>
                    <a:pt x="209550" y="0"/>
                  </a:moveTo>
                  <a:lnTo>
                    <a:pt x="10229850" y="0"/>
                  </a:lnTo>
                  <a:cubicBezTo>
                    <a:pt x="10345581" y="0"/>
                    <a:pt x="10439400" y="93819"/>
                    <a:pt x="10439400" y="209550"/>
                  </a:cubicBezTo>
                  <a:lnTo>
                    <a:pt x="10439400" y="1943100"/>
                  </a:lnTo>
                  <a:cubicBezTo>
                    <a:pt x="10439400" y="2058831"/>
                    <a:pt x="10345581" y="2152650"/>
                    <a:pt x="10229850" y="2152650"/>
                  </a:cubicBezTo>
                  <a:lnTo>
                    <a:pt x="209550" y="2152650"/>
                  </a:lnTo>
                  <a:cubicBezTo>
                    <a:pt x="93819" y="2152650"/>
                    <a:pt x="0" y="2058831"/>
                    <a:pt x="0" y="19431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EF2EC"/>
            </a:solidFill>
            <a:ln w="14288">
              <a:solidFill>
                <a:srgbClr val="CED8C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676400" y="3609975"/>
              <a:ext cx="8439150" cy="9525"/>
            </a:xfrm>
            <a:custGeom>
              <a:avLst/>
              <a:gdLst/>
              <a:ahLst/>
              <a:cxnLst/>
              <a:rect l="l" t="t" r="r" b="b"/>
              <a:pathLst>
                <a:path w="8439150" h="9525">
                  <a:moveTo>
                    <a:pt x="0" y="0"/>
                  </a:moveTo>
                  <a:lnTo>
                    <a:pt x="8439150" y="0"/>
                  </a:lnTo>
                </a:path>
              </a:pathLst>
            </a:custGeom>
            <a:noFill/>
            <a:ln w="28575">
              <a:solidFill>
                <a:srgbClr val="10141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676400" y="3609975"/>
              <a:ext cx="8439150" cy="9525"/>
            </a:xfrm>
            <a:custGeom>
              <a:avLst/>
              <a:gdLst/>
              <a:ahLst/>
              <a:cxnLst/>
              <a:rect l="l" t="t" r="r" b="b"/>
              <a:pathLst>
                <a:path w="8439150" h="9525">
                  <a:moveTo>
                    <a:pt x="0" y="0"/>
                  </a:moveTo>
                  <a:lnTo>
                    <a:pt x="8439150" y="0"/>
                  </a:lnTo>
                </a:path>
              </a:pathLst>
            </a:custGeom>
            <a:noFill/>
            <a:ln w="95250" cap="rnd">
              <a:solidFill>
                <a:srgbClr val="B7F36B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809750" y="3286125"/>
              <a:ext cx="647700" cy="6477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905000" y="3381375"/>
              <a:ext cx="457200" cy="457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61080" y="35080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257300" y="3981450"/>
              <a:ext cx="2000250" cy="476250"/>
            </a:xfrm>
            <a:custGeom>
              <a:avLst/>
              <a:gdLst/>
              <a:ahLst/>
              <a:cxnLst/>
              <a:rect l="l" t="t" r="r" b="b"/>
              <a:pathLst>
                <a:path w="2000250" h="476250">
                  <a:moveTo>
                    <a:pt x="152400" y="0"/>
                  </a:moveTo>
                  <a:lnTo>
                    <a:pt x="1847850" y="0"/>
                  </a:lnTo>
                  <a:cubicBezTo>
                    <a:pt x="1932018" y="0"/>
                    <a:pt x="2000250" y="68232"/>
                    <a:pt x="2000250" y="152400"/>
                  </a:cubicBezTo>
                  <a:lnTo>
                    <a:pt x="2000250" y="323850"/>
                  </a:lnTo>
                  <a:cubicBezTo>
                    <a:pt x="2000250" y="408018"/>
                    <a:pt x="1932018" y="476250"/>
                    <a:pt x="184785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9FBF6"/>
            </a:solidFill>
            <a:ln w="9525">
              <a:solidFill>
                <a:srgbClr val="CED8C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15592" y="2596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诊断评估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4270" y="29594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E5A49"/>
                  </a:solidFill>
                  <a:latin typeface="Arial"/>
                  <a:ea typeface="Microsoft YaHei"/>
                  <a:cs typeface="Arial"/>
                </a:rPr>
                <a:t>业务流程盘点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3447" y="41309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标定高价值介入点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772150" y="3286125"/>
              <a:ext cx="647700" cy="6477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67400" y="3381375"/>
              <a:ext cx="457200" cy="457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3480" y="35080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095875" y="3981450"/>
              <a:ext cx="2000250" cy="476250"/>
            </a:xfrm>
            <a:custGeom>
              <a:avLst/>
              <a:gdLst/>
              <a:ahLst/>
              <a:cxnLst/>
              <a:rect l="l" t="t" r="r" b="b"/>
              <a:pathLst>
                <a:path w="2000250" h="476250">
                  <a:moveTo>
                    <a:pt x="152400" y="0"/>
                  </a:moveTo>
                  <a:lnTo>
                    <a:pt x="1847850" y="0"/>
                  </a:lnTo>
                  <a:cubicBezTo>
                    <a:pt x="1932018" y="0"/>
                    <a:pt x="2000250" y="68232"/>
                    <a:pt x="2000250" y="152400"/>
                  </a:cubicBezTo>
                  <a:lnTo>
                    <a:pt x="2000250" y="323850"/>
                  </a:lnTo>
                  <a:cubicBezTo>
                    <a:pt x="2000250" y="408018"/>
                    <a:pt x="1932018" y="476250"/>
                    <a:pt x="184785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9FBF6"/>
            </a:solidFill>
            <a:ln w="9525">
              <a:solidFill>
                <a:srgbClr val="CED8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77992" y="2596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编排试点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59241" y="2959418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E5A49"/>
                  </a:solidFill>
                  <a:latin typeface="Arial"/>
                  <a:ea typeface="Microsoft YaHei"/>
                  <a:cs typeface="Arial"/>
                </a:rPr>
                <a:t>2-3个非核心流程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21259" y="41309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验证链路与性能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9734550" y="3286125"/>
              <a:ext cx="647700" cy="64770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829800" y="3381375"/>
              <a:ext cx="457200" cy="45720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985880" y="35080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67800" y="3981450"/>
              <a:ext cx="2000250" cy="476250"/>
            </a:xfrm>
            <a:custGeom>
              <a:avLst/>
              <a:gdLst/>
              <a:ahLst/>
              <a:cxnLst/>
              <a:rect l="l" t="t" r="r" b="b"/>
              <a:pathLst>
                <a:path w="2000250" h="476250">
                  <a:moveTo>
                    <a:pt x="152400" y="0"/>
                  </a:moveTo>
                  <a:lnTo>
                    <a:pt x="1847850" y="0"/>
                  </a:lnTo>
                  <a:cubicBezTo>
                    <a:pt x="1932018" y="0"/>
                    <a:pt x="2000250" y="68232"/>
                    <a:pt x="2000250" y="152400"/>
                  </a:cubicBezTo>
                  <a:lnTo>
                    <a:pt x="2000250" y="323850"/>
                  </a:lnTo>
                  <a:cubicBezTo>
                    <a:pt x="2000250" y="408018"/>
                    <a:pt x="1932018" y="476250"/>
                    <a:pt x="184785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9FBF6"/>
            </a:solidFill>
            <a:ln w="9525">
              <a:solidFill>
                <a:srgbClr val="CED8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40392" y="2596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平台部署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83659" y="29594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E5A49"/>
                  </a:solidFill>
                  <a:latin typeface="Arial"/>
                  <a:ea typeface="Microsoft YaHei"/>
                  <a:cs typeface="Arial"/>
                </a:rPr>
                <a:t>中央调度与观测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9070" y="41309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实现统一治理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3381375" y="3609975"/>
              <a:ext cx="1400175" cy="9525"/>
            </a:xfrm>
            <a:custGeom>
              <a:avLst/>
              <a:gdLst/>
              <a:ahLst/>
              <a:cxnLst/>
              <a:rect l="l" t="t" r="r" b="b"/>
              <a:pathLst>
                <a:path w="1400175" h="9525">
                  <a:moveTo>
                    <a:pt x="0" y="0"/>
                  </a:moveTo>
                  <a:lnTo>
                    <a:pt x="1400175" y="0"/>
                  </a:lnTo>
                </a:path>
              </a:pathLst>
            </a:custGeom>
            <a:noFill/>
            <a:ln w="23812" cap="rnd">
              <a:solidFill>
                <a:srgbClr val="10141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695825" y="3505200"/>
              <a:ext cx="142875" cy="209550"/>
            </a:xfrm>
            <a:custGeom>
              <a:avLst/>
              <a:gdLst/>
              <a:ahLst/>
              <a:cxnLst/>
              <a:rect l="l" t="t" r="r" b="b"/>
              <a:pathLst>
                <a:path w="142875" h="209550">
                  <a:moveTo>
                    <a:pt x="0" y="0"/>
                  </a:moveTo>
                  <a:lnTo>
                    <a:pt x="142875" y="104775"/>
                  </a:lnTo>
                  <a:lnTo>
                    <a:pt x="0" y="209550"/>
                  </a:lnTo>
                </a:path>
              </a:pathLst>
            </a:custGeom>
            <a:noFill/>
            <a:ln w="23812" cap="rnd">
              <a:solidFill>
                <a:srgbClr val="101418"/>
              </a:solidFill>
              <a:round/>
            </a:ln>
          </p:spPr>
        </p:sp>
        <p:sp>
          <p:nvSpPr>
            <p:cNvPr id="40" name="Freeform 40"/>
            <p:cNvSpPr/>
            <p:nvPr/>
          </p:nvSpPr>
          <p:spPr>
            <a:xfrm>
              <a:off x="7343775" y="3609975"/>
              <a:ext cx="1400175" cy="9525"/>
            </a:xfrm>
            <a:custGeom>
              <a:avLst/>
              <a:gdLst/>
              <a:ahLst/>
              <a:cxnLst/>
              <a:rect l="l" t="t" r="r" b="b"/>
              <a:pathLst>
                <a:path w="1400175" h="9525">
                  <a:moveTo>
                    <a:pt x="0" y="0"/>
                  </a:moveTo>
                  <a:lnTo>
                    <a:pt x="1400175" y="0"/>
                  </a:lnTo>
                </a:path>
              </a:pathLst>
            </a:custGeom>
            <a:noFill/>
            <a:ln w="23812" cap="rnd">
              <a:solidFill>
                <a:srgbClr val="10141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658225" y="3505200"/>
              <a:ext cx="142875" cy="209550"/>
            </a:xfrm>
            <a:custGeom>
              <a:avLst/>
              <a:gdLst/>
              <a:ahLst/>
              <a:cxnLst/>
              <a:rect l="l" t="t" r="r" b="b"/>
              <a:pathLst>
                <a:path w="142875" h="209550">
                  <a:moveTo>
                    <a:pt x="0" y="0"/>
                  </a:moveTo>
                  <a:lnTo>
                    <a:pt x="142875" y="104775"/>
                  </a:lnTo>
                  <a:lnTo>
                    <a:pt x="0" y="209550"/>
                  </a:lnTo>
                </a:path>
              </a:pathLst>
            </a:custGeom>
            <a:noFill/>
            <a:ln w="23812" cap="rnd">
              <a:solidFill>
                <a:srgbClr val="101418"/>
              </a:solidFill>
              <a:round/>
            </a:ln>
          </p:spPr>
        </p:sp>
        <p:sp>
          <p:nvSpPr>
            <p:cNvPr id="42" name="Freeform 42"/>
            <p:cNvSpPr/>
            <p:nvPr/>
          </p:nvSpPr>
          <p:spPr>
            <a:xfrm>
              <a:off x="876300" y="5086350"/>
              <a:ext cx="10439400" cy="781050"/>
            </a:xfrm>
            <a:custGeom>
              <a:avLst/>
              <a:gdLst/>
              <a:ahLst/>
              <a:cxnLst/>
              <a:rect l="l" t="t" r="r" b="b"/>
              <a:pathLst>
                <a:path w="10439400" h="781050">
                  <a:moveTo>
                    <a:pt x="209550" y="0"/>
                  </a:moveTo>
                  <a:lnTo>
                    <a:pt x="10229850" y="0"/>
                  </a:lnTo>
                  <a:cubicBezTo>
                    <a:pt x="10345581" y="0"/>
                    <a:pt x="10439400" y="93819"/>
                    <a:pt x="10439400" y="209550"/>
                  </a:cubicBezTo>
                  <a:lnTo>
                    <a:pt x="10439400" y="571500"/>
                  </a:lnTo>
                  <a:cubicBezTo>
                    <a:pt x="10439400" y="687231"/>
                    <a:pt x="10345581" y="781050"/>
                    <a:pt x="10229850" y="781050"/>
                  </a:cubicBezTo>
                  <a:lnTo>
                    <a:pt x="209550" y="781050"/>
                  </a:lnTo>
                  <a:cubicBezTo>
                    <a:pt x="93819" y="781050"/>
                    <a:pt x="0" y="687231"/>
                    <a:pt x="0" y="571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0141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33475" y="5353050"/>
              <a:ext cx="247650" cy="247650"/>
            </a:xfrm>
            <a:prstGeom prst="ellipse">
              <a:avLst/>
            </a:prstGeom>
            <a:solidFill>
              <a:srgbClr val="B7F36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35049" y="5240179"/>
              <a:ext cx="9065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9FBF6"/>
                  </a:solidFill>
                  <a:latin typeface="Arial"/>
                  <a:ea typeface="Microsoft YaHei"/>
                  <a:cs typeface="Arial"/>
                </a:rPr>
                <a:t>最终落点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36192" y="5550218"/>
              <a:ext cx="7135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8D6"/>
                  </a:solidFill>
                  <a:latin typeface="Arial"/>
                  <a:ea typeface="Microsoft YaHei"/>
                  <a:cs typeface="Arial"/>
                </a:rPr>
                <a:t>从流程诊断到编排试点，再到平台化治理，形成可观测、可扩展的企业Agent运行机制。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70966" y="1257300"/>
            <a:ext cx="10444734" cy="5178361"/>
            <a:chOff x="870966" y="1257300"/>
            <a:chExt cx="10444734" cy="5178361"/>
          </a:xfrm>
        </p:grpSpPr>
        <p:sp>
          <p:nvSpPr>
            <p:cNvPr id="47" name="Freeform 47"/>
            <p:cNvSpPr/>
            <p:nvPr/>
          </p:nvSpPr>
          <p:spPr>
            <a:xfrm>
              <a:off x="9296400" y="1257300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171450" y="0"/>
                  </a:moveTo>
                  <a:lnTo>
                    <a:pt x="1847850" y="0"/>
                  </a:lnTo>
                  <a:cubicBezTo>
                    <a:pt x="1942539" y="0"/>
                    <a:pt x="2019300" y="76761"/>
                    <a:pt x="2019300" y="171450"/>
                  </a:cubicBezTo>
                  <a:lnTo>
                    <a:pt x="2019300" y="381000"/>
                  </a:lnTo>
                  <a:cubicBezTo>
                    <a:pt x="2019300" y="475689"/>
                    <a:pt x="1942539" y="552450"/>
                    <a:pt x="1847850" y="552450"/>
                  </a:cubicBezTo>
                  <a:lnTo>
                    <a:pt x="171450" y="552450"/>
                  </a:lnTo>
                  <a:cubicBezTo>
                    <a:pt x="76761" y="552450"/>
                    <a:pt x="0" y="475689"/>
                    <a:pt x="0" y="3810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B7F36B"/>
            </a:solidFill>
            <a:ln w="14288">
              <a:solidFill>
                <a:srgbClr val="10141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15649" y="1364456"/>
              <a:ext cx="1380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01418"/>
                  </a:solidFill>
                  <a:latin typeface="Arial"/>
                  <a:ea typeface="Arial"/>
                  <a:cs typeface="Arial"/>
                </a:rPr>
                <a:t>ACTION SEQUENCE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84779" y="1572578"/>
              <a:ext cx="124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1418"/>
                  </a:solidFill>
                  <a:latin typeface="Arial"/>
                  <a:ea typeface="Microsoft YaHei"/>
                  <a:cs typeface="Arial"/>
                </a:rPr>
                <a:t>流程 → 编排 → 治理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76300" y="61341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CED8C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0966" y="6230302"/>
              <a:ext cx="24621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96556"/>
                  </a:solidFill>
                  <a:latin typeface="Arial"/>
                  <a:ea typeface="Microsoft YaHei"/>
                  <a:cs typeface="Arial"/>
                </a:rPr>
                <a:t>Effective Agents · 企业级AI工作流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62666" y="6230302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596556"/>
                  </a:solidFill>
                  <a:latin typeface="Arial"/>
                  <a:ea typeface="Arial"/>
                  <a:cs typeface="Arial"/>
                </a:rPr>
                <a:t>Close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2026-07-09T12:58:40Z</dcterms:created>
  <dcterms:modified xsi:type="dcterms:W3CDTF">2026-07-09T12:58:40Z</dcterms:modified>
  <cp:category/>
  <cp:contentStatus/>
</cp:coreProperties>
</file>