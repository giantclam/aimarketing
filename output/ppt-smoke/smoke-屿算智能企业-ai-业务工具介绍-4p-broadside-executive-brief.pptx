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屿算智脑</a:t>
            </a:r>
          </a:p>
          <a:p>
            <a:endParaRPr lang="en-US" dirty="0"/>
          </a:p>
          <a:p>
            <a:r>
              <a:rPr lang="zh-CN" dirty="0"/>
              <a:t>实用AI，大于AI概念。</a:t>
            </a:r>
          </a:p>
          <a:p>
            <a:endParaRPr lang="en-US" dirty="0"/>
          </a:p>
          <a:p>
            <a:r>
              <a:rPr lang="zh-CN" dirty="0"/>
              <a:t>• 不是再给企业一个AI工具</a:t>
            </a:r>
          </a:p>
          <a:p>
            <a:r>
              <a:rPr lang="zh-CN" dirty="0"/>
              <a:t>• 而是要把AI真正用进岗位、流程和结果</a:t>
            </a:r>
          </a:p>
          <a:p>
            <a:r>
              <a:rPr lang="zh-CN" dirty="0"/>
              <a:t>• 让一次投入变成持续复利的业务系统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342900" y="-133350"/>
            <a:ext cx="11582400" cy="6667500"/>
            <a:chOff x="342900" y="-133350"/>
            <a:chExt cx="11582400" cy="6667500"/>
          </a:xfrm>
        </p:grpSpPr>
        <p:sp>
          <p:nvSpPr>
            <p:cNvPr id="3" name="Freeform 3"/>
            <p:cNvSpPr/>
            <p:nvPr/>
          </p:nvSpPr>
          <p:spPr>
            <a:xfrm>
              <a:off x="342900" y="323850"/>
              <a:ext cx="11506200" cy="6210300"/>
            </a:xfrm>
            <a:custGeom>
              <a:avLst/>
              <a:gdLst/>
              <a:ahLst/>
              <a:cxnLst/>
              <a:rect l="l" t="t" r="r" b="b"/>
              <a:pathLst>
                <a:path w="11506200" h="6210300">
                  <a:moveTo>
                    <a:pt x="171450" y="0"/>
                  </a:moveTo>
                  <a:lnTo>
                    <a:pt x="11334750" y="0"/>
                  </a:lnTo>
                  <a:cubicBezTo>
                    <a:pt x="11429439" y="0"/>
                    <a:pt x="11506200" y="76761"/>
                    <a:pt x="11506200" y="171450"/>
                  </a:cubicBezTo>
                  <a:lnTo>
                    <a:pt x="11506200" y="6038850"/>
                  </a:lnTo>
                  <a:cubicBezTo>
                    <a:pt x="11506200" y="6133539"/>
                    <a:pt x="11429439" y="6210300"/>
                    <a:pt x="11334750" y="6210300"/>
                  </a:cubicBezTo>
                  <a:lnTo>
                    <a:pt x="171450" y="6210300"/>
                  </a:lnTo>
                  <a:cubicBezTo>
                    <a:pt x="76761" y="6210300"/>
                    <a:pt x="0" y="6133539"/>
                    <a:pt x="0" y="6038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111111"/>
            </a:solidFill>
            <a:ln w="19050">
              <a:solidFill>
                <a:srgbClr val="282826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819150" y="5753100"/>
              <a:ext cx="10553700" cy="9525"/>
            </a:xfrm>
            <a:custGeom>
              <a:avLst/>
              <a:gdLst/>
              <a:ahLst/>
              <a:cxnLst/>
              <a:rect l="l" t="t" r="r" b="b"/>
              <a:pathLst>
                <a:path w="10553700" h="9525">
                  <a:moveTo>
                    <a:pt x="0" y="0"/>
                  </a:moveTo>
                  <a:lnTo>
                    <a:pt x="105537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282826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819150" y="1123950"/>
              <a:ext cx="10553700" cy="9525"/>
            </a:xfrm>
            <a:custGeom>
              <a:avLst/>
              <a:gdLst/>
              <a:ahLst/>
              <a:cxnLst/>
              <a:rect l="l" t="t" r="r" b="b"/>
              <a:pathLst>
                <a:path w="10553700" h="9525">
                  <a:moveTo>
                    <a:pt x="0" y="0"/>
                  </a:moveTo>
                  <a:lnTo>
                    <a:pt x="10553700" y="0"/>
                  </a:lnTo>
                </a:path>
              </a:pathLst>
            </a:custGeom>
            <a:solidFill>
              <a:srgbClr val="000000">
                <a:alpha val="55000"/>
              </a:srgbClr>
            </a:solidFill>
            <a:ln w="9525">
              <a:solidFill>
                <a:srgbClr val="282826">
                  <a:alpha val="55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8686800" y="-133350"/>
              <a:ext cx="3238500" cy="3238500"/>
            </a:xfrm>
            <a:prstGeom prst="ellipse">
              <a:avLst/>
            </a:prstGeom>
            <a:noFill/>
            <a:ln w="19050">
              <a:solidFill>
                <a:srgbClr val="E85D26">
                  <a:alpha val="92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220200" y="400050"/>
              <a:ext cx="2171700" cy="2171700"/>
            </a:xfrm>
            <a:prstGeom prst="ellipse">
              <a:avLst/>
            </a:prstGeom>
            <a:noFill/>
            <a:ln w="14288">
              <a:solidFill>
                <a:srgbClr val="E85D26">
                  <a:alpha val="55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972550" y="2019300"/>
              <a:ext cx="2762250" cy="514350"/>
            </a:xfrm>
            <a:custGeom>
              <a:avLst/>
              <a:gdLst/>
              <a:ahLst/>
              <a:cxnLst/>
              <a:rect l="l" t="t" r="r" b="b"/>
              <a:pathLst>
                <a:path w="2762250" h="514350">
                  <a:moveTo>
                    <a:pt x="0" y="514350"/>
                  </a:moveTo>
                  <a:cubicBezTo>
                    <a:pt x="485775" y="152400"/>
                    <a:pt x="1019175" y="0"/>
                    <a:pt x="1600200" y="19050"/>
                  </a:cubicBezTo>
                  <a:cubicBezTo>
                    <a:pt x="2114550" y="38100"/>
                    <a:pt x="2514600" y="200025"/>
                    <a:pt x="2762250" y="428625"/>
                  </a:cubicBezTo>
                </a:path>
              </a:pathLst>
            </a:custGeom>
            <a:noFill/>
            <a:ln w="20955">
              <a:solidFill>
                <a:srgbClr val="E85D26">
                  <a:alpha val="90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9334500" y="8763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E85D2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9334500" y="120015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solidFill>
              <a:srgbClr val="000000">
                <a:alpha val="80000"/>
              </a:srgbClr>
            </a:solidFill>
            <a:ln w="14288">
              <a:solidFill>
                <a:srgbClr val="E85D26">
                  <a:alpha val="80000"/>
                </a:srgbClr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92480" y="763905"/>
            <a:ext cx="10597515" cy="5465445"/>
            <a:chOff x="792480" y="763905"/>
            <a:chExt cx="10597515" cy="5465445"/>
          </a:xfrm>
        </p:grpSpPr>
        <p:sp>
          <p:nvSpPr>
            <p:cNvPr id="12" name="TextBox 12"/>
            <p:cNvSpPr txBox="1"/>
            <p:nvPr/>
          </p:nvSpPr>
          <p:spPr>
            <a:xfrm>
              <a:off x="792480" y="763905"/>
              <a:ext cx="11734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0ECE5"/>
                  </a:solidFill>
                  <a:latin typeface="Noto Sans CJK SC"/>
                  <a:ea typeface="Microsoft YaHei"/>
                  <a:cs typeface="Noto Sans CJK SC"/>
                </a:rPr>
                <a:t>大字报头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34402" y="844868"/>
              <a:ext cx="24555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F0ECE5"/>
                  </a:solidFill>
                  <a:latin typeface="Noto Sans CJK SC"/>
                  <a:ea typeface="Microsoft YaHei"/>
                  <a:cs typeface="Noto Sans CJK SC"/>
                </a:rPr>
                <a:t>屿算智能企业 AI 业务工具介绍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3910" y="59855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0ECE5">
                      <a:alphaMod val="70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poster-cover · sales-deck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1543" y="5985510"/>
              <a:ext cx="5665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F0ECE5">
                      <a:alphaMod val="70000"/>
                    </a:srgbClr>
                  </a:solidFill>
                  <a:latin typeface="Noto Sans CJK SC"/>
                  <a:ea typeface="Noto Sans CJK SC"/>
                  <a:cs typeface="Noto Sans CJK SC"/>
                </a:rPr>
                <a:t>01 / 01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7705" y="1866900"/>
            <a:ext cx="5181410" cy="4381500"/>
            <a:chOff x="687705" y="1866900"/>
            <a:chExt cx="5181410" cy="4381500"/>
          </a:xfrm>
        </p:grpSpPr>
        <p:sp>
          <p:nvSpPr>
            <p:cNvPr id="17" name="Freeform 17"/>
            <p:cNvSpPr/>
            <p:nvPr/>
          </p:nvSpPr>
          <p:spPr>
            <a:xfrm>
              <a:off x="819150" y="1866900"/>
              <a:ext cx="1276350" cy="9525"/>
            </a:xfrm>
            <a:custGeom>
              <a:avLst/>
              <a:gdLst/>
              <a:ahLst/>
              <a:cxnLst/>
              <a:rect l="l" t="t" r="r" b="b"/>
              <a:pathLst>
                <a:path w="1276350" h="9525">
                  <a:moveTo>
                    <a:pt x="0" y="0"/>
                  </a:moveTo>
                  <a:lnTo>
                    <a:pt x="1276350" y="0"/>
                  </a:lnTo>
                </a:path>
              </a:pathLst>
            </a:custGeom>
            <a:solidFill>
              <a:srgbClr val="000000"/>
            </a:solidFill>
            <a:ln w="76200">
              <a:solidFill>
                <a:srgbClr val="E85D2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6765" y="2048828"/>
              <a:ext cx="142494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F0ECE5"/>
                  </a:solidFill>
                  <a:latin typeface="Noto Sans CJK SC"/>
                  <a:ea typeface="Microsoft YaHei"/>
                  <a:cs typeface="Noto Sans CJK SC"/>
                </a:rPr>
                <a:t>屿算智脑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7705" y="3273742"/>
              <a:ext cx="5181410" cy="1798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850" b="1" dirty="0">
                  <a:solidFill>
                    <a:srgbClr val="F0ECE5"/>
                  </a:solidFill>
                  <a:latin typeface="Noto Sans CJK SC"/>
                  <a:ea typeface="Microsoft YaHei"/>
                  <a:cs typeface="Noto Sans CJK SC"/>
                </a:rPr>
                <a:t>屿算智脑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5815" y="4601528"/>
              <a:ext cx="33631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rgbClr val="E85D26"/>
                  </a:solidFill>
                  <a:latin typeface="Noto Sans CJK SC"/>
                  <a:ea typeface="Microsoft YaHei"/>
                  <a:cs typeface="Noto Sans CJK SC"/>
                </a:rPr>
                <a:t>实用AI，大于AI概念。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6290" y="5196840"/>
              <a:ext cx="26500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0ECE5"/>
                  </a:solidFill>
                  <a:latin typeface="Noto Sans CJK SC"/>
                  <a:ea typeface="Microsoft YaHei"/>
                  <a:cs typeface="Noto Sans CJK SC"/>
                </a:rPr>
                <a:t>不是再给企业一个AI工具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6290" y="5539740"/>
              <a:ext cx="409022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0ECE5"/>
                  </a:solidFill>
                  <a:latin typeface="Noto Sans CJK SC"/>
                  <a:ea typeface="Microsoft YaHei"/>
                  <a:cs typeface="Noto Sans CJK SC"/>
                </a:rPr>
                <a:t>而是要把AI真正用进岗位、流程和结果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6290" y="5882640"/>
              <a:ext cx="3886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0ECE5"/>
                  </a:solidFill>
                  <a:latin typeface="Noto Sans CJK SC"/>
                  <a:ea typeface="Microsoft YaHei"/>
                  <a:cs typeface="Noto Sans CJK SC"/>
                </a:rPr>
                <a:t>让一次投入变成持续复利的业务系统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91500" y="3228975"/>
            <a:ext cx="2689860" cy="942975"/>
            <a:chOff x="8191500" y="3228975"/>
            <a:chExt cx="2689860" cy="942975"/>
          </a:xfrm>
        </p:grpSpPr>
        <p:sp>
          <p:nvSpPr>
            <p:cNvPr id="25" name="Freeform 25"/>
            <p:cNvSpPr/>
            <p:nvPr/>
          </p:nvSpPr>
          <p:spPr>
            <a:xfrm>
              <a:off x="8191500" y="3429000"/>
              <a:ext cx="1581150" cy="742950"/>
            </a:xfrm>
            <a:custGeom>
              <a:avLst/>
              <a:gdLst/>
              <a:ahLst/>
              <a:cxnLst/>
              <a:rect l="l" t="t" r="r" b="b"/>
              <a:pathLst>
                <a:path w="1581150" h="742950">
                  <a:moveTo>
                    <a:pt x="0" y="742950"/>
                  </a:moveTo>
                  <a:lnTo>
                    <a:pt x="1581150" y="0"/>
                  </a:lnTo>
                </a:path>
              </a:pathLst>
            </a:custGeom>
            <a:solidFill>
              <a:srgbClr val="000000"/>
            </a:solidFill>
            <a:ln w="23812">
              <a:solidFill>
                <a:srgbClr val="E85D26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620250" y="3429000"/>
              <a:ext cx="152400" cy="133350"/>
            </a:xfrm>
            <a:custGeom>
              <a:avLst/>
              <a:gdLst/>
              <a:ahLst/>
              <a:cxnLst/>
              <a:rect l="l" t="t" r="r" b="b"/>
              <a:pathLst>
                <a:path w="152400" h="133350">
                  <a:moveTo>
                    <a:pt x="152400" y="0"/>
                  </a:moveTo>
                  <a:lnTo>
                    <a:pt x="0" y="0"/>
                  </a:lnTo>
                  <a:moveTo>
                    <a:pt x="152400" y="0"/>
                  </a:moveTo>
                  <a:lnTo>
                    <a:pt x="76200" y="133350"/>
                  </a:lnTo>
                </a:path>
              </a:pathLst>
            </a:custGeom>
            <a:solidFill>
              <a:srgbClr val="000000"/>
            </a:solidFill>
            <a:ln w="23812">
              <a:solidFill>
                <a:srgbClr val="E85D2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86950" y="322897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0ECE5"/>
                  </a:solidFill>
                  <a:latin typeface="Noto Sans CJK SC"/>
                  <a:ea typeface="Microsoft YaHei"/>
                  <a:cs typeface="Noto Sans CJK SC"/>
                </a:rPr>
                <a:t>业务主轴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90760" y="35280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0ECE5">
                      <a:alphaMod val="72000"/>
                    </a:srgbClr>
                  </a:solidFill>
                  <a:latin typeface="Noto Sans CJK SC"/>
                  <a:ea typeface="Microsoft YaHei"/>
                  <a:cs typeface="Noto Sans CJK SC"/>
                </a:rPr>
                <a:t>从概念到落地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2026-06-25T07:03:27Z</dcterms:created>
  <dcterms:modified xsi:type="dcterms:W3CDTF">2026-06-25T07:03:27Z</dcterms:modified>
  <cp:category/>
  <cp:contentStatus/>
</cp:coreProperties>
</file>