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  <Relationship Id="rId11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屿算智脑：企业AI业务工作台</a:t>
            </a:r>
          </a:p>
          <a:p>
            <a:endParaRPr lang="en-US" dirty="0"/>
          </a:p>
          <a:p>
            <a:r>
              <a:rPr lang="zh-CN" dirty="0"/>
              <a:t>实用AI大于AI概念；知道AI能写文案、做图片和视频，但接不进真实工作流程。</a:t>
            </a:r>
          </a:p>
          <a:p>
            <a:endParaRPr lang="en-US" dirty="0"/>
          </a:p>
          <a:p>
            <a:r>
              <a:rPr lang="zh-CN" dirty="0"/>
              <a:t>• 实用AI大于AI概念</a:t>
            </a:r>
          </a:p>
          <a:p>
            <a:r>
              <a:rPr lang="zh-CN" dirty="0"/>
              <a:t>• 不是在工具上做加法，而是在业务链条上做重构</a:t>
            </a:r>
          </a:p>
          <a:p>
            <a:r>
              <a:rPr lang="zh-CN" dirty="0"/>
              <a:t>• 17个AI智能体员工·40+模型底座·完整业务闭环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屿算智能企业AI业务工具介绍的结构总览</a:t>
            </a:r>
          </a:p>
          <a:p>
            <a:endParaRPr lang="en-US" dirty="0"/>
          </a:p>
          <a:p>
            <a:r>
              <a:rPr lang="zh-CN" dirty="0"/>
              <a:t>实用AI大于AI概念。</a:t>
            </a:r>
          </a:p>
          <a:p>
            <a:endParaRPr lang="en-US" dirty="0"/>
          </a:p>
          <a:p>
            <a:r>
              <a:rPr lang="zh-CN" dirty="0"/>
              <a:t>• 100个问题背后的共同病灶：工具越多，答案越少</a:t>
            </a:r>
          </a:p>
          <a:p>
            <a:r>
              <a:rPr lang="zh-CN" dirty="0"/>
              <a:t>• 不会问、不会用、不能沉淀——三大真实卡点</a:t>
            </a:r>
          </a:p>
          <a:p>
            <a:r>
              <a:rPr lang="zh-CN" dirty="0"/>
              <a:t>• 不是AI工具，而是企业专属AI业务工作台</a:t>
            </a:r>
          </a:p>
          <a:p>
            <a:r>
              <a:rPr lang="zh-CN" dirty="0"/>
              <a:t>• 40+模型接入，17个智能体覆盖关键岗位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企业不缺AI认知，缺一条能跑通业务的路径</a:t>
            </a:r>
          </a:p>
          <a:p>
            <a:endParaRPr lang="en-US" dirty="0"/>
          </a:p>
          <a:p>
            <a:r>
              <a:rPr lang="zh-CN" dirty="0"/>
              <a:t>实用AI大于AI概念。</a:t>
            </a:r>
          </a:p>
          <a:p>
            <a:endParaRPr lang="en-US" dirty="0"/>
          </a:p>
          <a:p>
            <a:r>
              <a:rPr lang="zh-CN" dirty="0"/>
              <a:t>• 大多数企业已经听懂AI，但还没把AI用进业务——卡在“不会问”“不会用”“不能沉淀”三个断点</a:t>
            </a:r>
          </a:p>
          <a:p>
            <a:r>
              <a:rPr lang="zh-CN" dirty="0"/>
              <a:t>• 屿算智脑不教人写提示词，而是直接用角色、场景和流程把AI能力喂进每日任务</a:t>
            </a:r>
          </a:p>
          <a:p>
            <a:r>
              <a:rPr lang="zh-CN" dirty="0"/>
              <a:t>• 真正的转型，是把AI从聊天框挪进企业的目标看板、内容流水线和资产库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屿算智能企业AI业务工具介绍的结束页</a:t>
            </a:r>
          </a:p>
          <a:p>
            <a:endParaRPr lang="en-US" dirty="0"/>
          </a:p>
          <a:p>
            <a:r>
              <a:rPr lang="zh-CN" dirty="0"/>
              <a:t>先帮企业问清楚，再进入立项和执行。</a:t>
            </a:r>
          </a:p>
          <a:p>
            <a:endParaRPr lang="en-US" dirty="0"/>
          </a:p>
          <a:p>
            <a:r>
              <a:rPr lang="zh-CN" dirty="0"/>
              <a:t>• AI系统主动梳理业务目标、资源与断点，生成可落地的业务地图与立项建议</a:t>
            </a:r>
          </a:p>
          <a:p>
            <a:r>
              <a:rPr lang="zh-CN" dirty="0"/>
              <a:t>• 17个AI智能体进入岗位，七层闭环贯通从生产到分发的全链路</a:t>
            </a:r>
          </a:p>
          <a:p>
            <a:r>
              <a:rPr lang="zh-CN" dirty="0"/>
              <a:t>• 内容、方案、知识、工作流持续沉淀，每一次执行都让下一次增长更精准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ECECE8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10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rgbClr val="E6FF3D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668000" y="0"/>
              <a:ext cx="1524000" cy="762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9144000" y="6477000"/>
              <a:ext cx="3048000" cy="3810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3009900" y="1676400"/>
              <a:ext cx="76200" cy="76200"/>
            </a:xfrm>
            <a:prstGeom prst="ellipse">
              <a:avLst/>
            </a:prstGeom>
            <a:solidFill>
              <a:srgbClr val="CFCFC8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6057900" y="1676400"/>
              <a:ext cx="76200" cy="76200"/>
            </a:xfrm>
            <a:prstGeom prst="ellipse">
              <a:avLst/>
            </a:prstGeom>
            <a:solidFill>
              <a:srgbClr val="CFCFC8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9105900" y="1676400"/>
              <a:ext cx="76200" cy="76200"/>
            </a:xfrm>
            <a:prstGeom prst="ellipse">
              <a:avLst/>
            </a:prstGeom>
            <a:solidFill>
              <a:srgbClr val="CFCFC8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3009900" y="3390900"/>
              <a:ext cx="76200" cy="76200"/>
            </a:xfrm>
            <a:prstGeom prst="ellipse">
              <a:avLst/>
            </a:prstGeom>
            <a:solidFill>
              <a:srgbClr val="CFCFC8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6057900" y="3390900"/>
              <a:ext cx="76200" cy="76200"/>
            </a:xfrm>
            <a:prstGeom prst="ellipse">
              <a:avLst/>
            </a:prstGeom>
            <a:solidFill>
              <a:srgbClr val="CFCFC8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9105900" y="3390900"/>
              <a:ext cx="76200" cy="76200"/>
            </a:xfrm>
            <a:prstGeom prst="ellipse">
              <a:avLst/>
            </a:prstGeom>
            <a:solidFill>
              <a:srgbClr val="CFCFC8"/>
            </a:solidFill>
            <a:ln>
              <a:noFill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552450" y="762000"/>
            <a:ext cx="5799643" cy="5452301"/>
            <a:chOff x="552450" y="762000"/>
            <a:chExt cx="5799643" cy="5452301"/>
          </a:xfrm>
        </p:grpSpPr>
        <p:sp>
          <p:nvSpPr>
            <p:cNvPr id="20" name="Rectangle 20"/>
            <p:cNvSpPr/>
            <p:nvPr/>
          </p:nvSpPr>
          <p:spPr>
            <a:xfrm>
              <a:off x="571500" y="762000"/>
              <a:ext cx="1333500" cy="3048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80466" y="858202"/>
              <a:ext cx="8792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rgbClr val="E6FF3D"/>
                  </a:solidFill>
                  <a:latin typeface="Arial"/>
                  <a:ea typeface="Arial"/>
                  <a:cs typeface="Arial"/>
                </a:rPr>
                <a:t>GRIDBRIEF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2450" y="1642110"/>
              <a:ext cx="241279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屿算智脑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52450" y="2308860"/>
              <a:ext cx="496223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企业AI业务工作台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71500" y="2952750"/>
              <a:ext cx="4572000" cy="57150"/>
            </a:xfrm>
            <a:prstGeom prst="rect">
              <a:avLst/>
            </a:prstGeom>
            <a:solidFill>
              <a:srgbClr val="E6FF3D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3880" y="3648075"/>
              <a:ext cx="50398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实用AI大于AI概念；知道AI能写文案、做图片和视频，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3880" y="39528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但接不进真实工作流程。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571500" y="4709160"/>
              <a:ext cx="5780593" cy="615696"/>
              <a:chOff x="571500" y="4709160"/>
              <a:chExt cx="5780593" cy="615696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571500" y="4762500"/>
                <a:ext cx="76200" cy="76200"/>
              </a:xfrm>
              <a:prstGeom prst="rect">
                <a:avLst/>
              </a:prstGeom>
              <a:solidFill>
                <a:srgbClr val="E6FF3D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55904" y="4709160"/>
                <a:ext cx="139220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A0A0A"/>
                    </a:solidFill>
                    <a:latin typeface="Arial"/>
                    <a:ea typeface="Microsoft YaHei"/>
                    <a:cs typeface="Arial"/>
                  </a:rPr>
                  <a:t>实用AI大于AI概念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3619500" y="4762500"/>
                <a:ext cx="76200" cy="76200"/>
              </a:xfrm>
              <a:prstGeom prst="rect">
                <a:avLst/>
              </a:prstGeom>
              <a:solidFill>
                <a:srgbClr val="E6FF3D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3803904" y="4709160"/>
                <a:ext cx="153878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A0A0A"/>
                    </a:solidFill>
                    <a:latin typeface="Arial"/>
                    <a:ea typeface="Microsoft YaHei"/>
                    <a:cs typeface="Arial"/>
                  </a:rPr>
                  <a:t>不是在工具上做加法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571500" y="5143500"/>
                <a:ext cx="76200" cy="76200"/>
              </a:xfrm>
              <a:prstGeom prst="rect">
                <a:avLst/>
              </a:prstGeom>
              <a:solidFill>
                <a:srgbClr val="E6FF3D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55904" y="5090160"/>
                <a:ext cx="187802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A0A0A"/>
                    </a:solidFill>
                    <a:latin typeface="Arial"/>
                    <a:ea typeface="Microsoft YaHei"/>
                    <a:cs typeface="Arial"/>
                  </a:rPr>
                  <a:t>而是在业务链条上做重构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3619500" y="5143500"/>
                <a:ext cx="76200" cy="76200"/>
              </a:xfrm>
              <a:prstGeom prst="rect">
                <a:avLst/>
              </a:prstGeom>
              <a:solidFill>
                <a:srgbClr val="E6FF3D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3803904" y="5090160"/>
                <a:ext cx="254818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A0A0A"/>
                    </a:solidFill>
                    <a:latin typeface="Arial"/>
                    <a:ea typeface="Microsoft YaHei"/>
                    <a:cs typeface="Arial"/>
                  </a:rPr>
                  <a:t>17个AI智能体员工·40+模型底座</a:t>
                </a:r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564642" y="59502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完整业务闭环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382000" y="2667000"/>
            <a:ext cx="3107725" cy="4168711"/>
            <a:chOff x="8382000" y="2667000"/>
            <a:chExt cx="3107725" cy="4168711"/>
          </a:xfrm>
        </p:grpSpPr>
        <p:sp>
          <p:nvSpPr>
            <p:cNvPr id="38" name="Rectangle 38"/>
            <p:cNvSpPr/>
            <p:nvPr/>
          </p:nvSpPr>
          <p:spPr>
            <a:xfrm>
              <a:off x="8382000" y="2667000"/>
              <a:ext cx="2667000" cy="2667000"/>
            </a:xfrm>
            <a:prstGeom prst="rect">
              <a:avLst/>
            </a:prstGeom>
            <a:noFill/>
            <a:ln w="19050">
              <a:solidFill>
                <a:srgbClr val="CFCFC8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8763000" y="3048000"/>
              <a:ext cx="1905000" cy="1905000"/>
            </a:xfrm>
            <a:prstGeom prst="rect">
              <a:avLst/>
            </a:prstGeom>
            <a:solidFill>
              <a:srgbClr val="F5F4EF"/>
            </a:solidFill>
            <a:ln w="9525">
              <a:solidFill>
                <a:srgbClr val="CFCFC8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9144000" y="3429000"/>
              <a:ext cx="1143000" cy="1143000"/>
            </a:xfrm>
            <a:prstGeom prst="ellipse">
              <a:avLst/>
            </a:prstGeom>
            <a:noFill/>
            <a:ln w="28575">
              <a:solidFill>
                <a:srgbClr val="0A0A0A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9334500" y="3619500"/>
              <a:ext cx="762000" cy="762000"/>
            </a:xfrm>
            <a:prstGeom prst="ellipse">
              <a:avLst/>
            </a:prstGeom>
            <a:noFill/>
            <a:ln w="38100">
              <a:solidFill>
                <a:srgbClr val="E6FF3D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9525000" y="3810000"/>
              <a:ext cx="381000" cy="38100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3" name="Line 43"/>
            <p:cNvSpPr/>
            <p:nvPr/>
          </p:nvSpPr>
          <p:spPr>
            <a:xfrm>
              <a:off x="8953500" y="34290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0A0A0A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10287000" y="34290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0A0A0A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8953500" y="45720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0A0A0A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10287000" y="45720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0A0A0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234166" y="6630352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5F4EF"/>
                  </a:solidFill>
                  <a:latin typeface="Arial"/>
                  <a:ea typeface="Arial"/>
                  <a:cs typeface="Arial"/>
                </a:rPr>
                <a:t>1/4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9525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CFCFC8"/>
            </a:solidFill>
          </a:ln>
        </p:spPr>
      </p:sp>
      <p:sp>
        <p:nvSpPr>
          <p:cNvPr id="3" name="Line 3"/>
          <p:cNvSpPr/>
          <p:nvPr/>
        </p:nvSpPr>
        <p:spPr>
          <a:xfrm>
            <a:off x="3810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CFCFC8"/>
            </a:solidFill>
          </a:ln>
        </p:spPr>
      </p:sp>
      <p:sp>
        <p:nvSpPr>
          <p:cNvPr id="4" name="Line 4"/>
          <p:cNvSpPr/>
          <p:nvPr/>
        </p:nvSpPr>
        <p:spPr>
          <a:xfrm>
            <a:off x="112395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CFCFC8"/>
            </a:solidFill>
          </a:ln>
        </p:spPr>
      </p:sp>
      <p:sp>
        <p:nvSpPr>
          <p:cNvPr id="5" name="Line 5"/>
          <p:cNvSpPr/>
          <p:nvPr/>
        </p:nvSpPr>
        <p:spPr>
          <a:xfrm>
            <a:off x="0" y="6858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19050">
            <a:solidFill>
              <a:srgbClr val="0A0A0A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952500" y="0"/>
            <a:ext cx="10287000" cy="1714500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232916" y="505778"/>
            <a:ext cx="72550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spc="300" dirty="0">
                <a:solidFill>
                  <a:srgbClr val="E6FF3D"/>
                </a:solidFill>
                <a:latin typeface="Arial"/>
                <a:ea typeface="Microsoft YaHei"/>
                <a:cs typeface="Arial"/>
              </a:rPr>
              <a:t>模块目录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26058" y="836295"/>
            <a:ext cx="642262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屿算智能企业AI业务工具介绍的结构总览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31392" y="1330642"/>
            <a:ext cx="14923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CFCFC8"/>
                </a:solidFill>
                <a:latin typeface="Arial"/>
                <a:ea typeface="Microsoft YaHei"/>
                <a:cs typeface="Arial"/>
              </a:rPr>
              <a:t>实用AI大于AI概念</a:t>
            </a:r>
          </a:p>
        </p:txBody>
      </p:sp>
      <p:sp>
        <p:nvSpPr>
          <p:cNvPr id="10" name="Rectangle 10"/>
          <p:cNvSpPr/>
          <p:nvPr/>
        </p:nvSpPr>
        <p:spPr>
          <a:xfrm>
            <a:off x="952500" y="1666875"/>
            <a:ext cx="1905000" cy="47625"/>
          </a:xfrm>
          <a:prstGeom prst="rect">
            <a:avLst/>
          </a:prstGeom>
          <a:solidFill>
            <a:srgbClr val="E6FF3D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952500" y="1857375"/>
            <a:ext cx="38100" cy="809625"/>
          </a:xfrm>
          <a:prstGeom prst="rect">
            <a:avLst/>
          </a:prstGeom>
          <a:solidFill>
            <a:srgbClr val="E6FF3D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990600" y="1857375"/>
            <a:ext cx="2819400" cy="809625"/>
          </a:xfrm>
          <a:prstGeom prst="rect">
            <a:avLst/>
          </a:prstGeom>
          <a:solidFill>
            <a:srgbClr val="F5F4EF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3810000" y="1857375"/>
            <a:ext cx="7429500" cy="809625"/>
          </a:xfrm>
          <a:prstGeom prst="rect">
            <a:avLst/>
          </a:prstGeom>
          <a:solidFill>
            <a:srgbClr val="F5F4EF"/>
          </a:solidFill>
          <a:ln>
            <a:noFill/>
          </a:ln>
        </p:spPr>
      </p:sp>
      <p:sp>
        <p:nvSpPr>
          <p:cNvPr id="14" name="Line 14"/>
          <p:cNvSpPr/>
          <p:nvPr/>
        </p:nvSpPr>
        <p:spPr>
          <a:xfrm>
            <a:off x="3810000" y="1857375"/>
            <a:ext cx="9525" cy="809625"/>
          </a:xfrm>
          <a:custGeom>
            <a:avLst/>
            <a:gdLst/>
            <a:ahLst/>
            <a:cxnLst/>
            <a:rect l="l" t="t" r="r" b="b"/>
            <a:pathLst>
              <a:path w="9525" h="809625">
                <a:moveTo>
                  <a:pt x="0" y="0"/>
                </a:moveTo>
                <a:lnTo>
                  <a:pt x="0" y="809625"/>
                </a:lnTo>
              </a:path>
            </a:pathLst>
          </a:custGeom>
          <a:noFill/>
          <a:ln w="9525">
            <a:solidFill>
              <a:srgbClr val="CFCFC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1129284" y="1899285"/>
            <a:ext cx="44724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rgbClr val="0A0A0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38047" y="2323624"/>
            <a:ext cx="125026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问题背后的共同病灶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994785" y="2212181"/>
            <a:ext cx="329026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100个问题背后的共同病灶：工具越多，答案越少</a:t>
            </a:r>
          </a:p>
        </p:txBody>
      </p:sp>
      <p:sp>
        <p:nvSpPr>
          <p:cNvPr id="18" name="Rectangle 18"/>
          <p:cNvSpPr/>
          <p:nvPr/>
        </p:nvSpPr>
        <p:spPr>
          <a:xfrm>
            <a:off x="952500" y="2714625"/>
            <a:ext cx="38100" cy="809625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990600" y="2714625"/>
            <a:ext cx="2819400" cy="80962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3810000" y="2714625"/>
            <a:ext cx="7429500" cy="80962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1" name="Line 21"/>
          <p:cNvSpPr/>
          <p:nvPr/>
        </p:nvSpPr>
        <p:spPr>
          <a:xfrm>
            <a:off x="3810000" y="2714625"/>
            <a:ext cx="9525" cy="809625"/>
          </a:xfrm>
          <a:custGeom>
            <a:avLst/>
            <a:gdLst/>
            <a:ahLst/>
            <a:cxnLst/>
            <a:rect l="l" t="t" r="r" b="b"/>
            <a:pathLst>
              <a:path w="9525" h="809625">
                <a:moveTo>
                  <a:pt x="0" y="0"/>
                </a:moveTo>
                <a:lnTo>
                  <a:pt x="0" y="809625"/>
                </a:lnTo>
              </a:path>
            </a:pathLst>
          </a:custGeom>
          <a:noFill/>
          <a:ln w="9525">
            <a:solidFill>
              <a:srgbClr val="CFCFC8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129284" y="2756535"/>
            <a:ext cx="44724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rgbClr val="0A0A0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38047" y="3180874"/>
            <a:ext cx="166371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不会问、不会用、不能沉淀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994785" y="3069431"/>
            <a:ext cx="290407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不会问、不会用、不能沉淀——三大真实卡点</a:t>
            </a:r>
          </a:p>
        </p:txBody>
      </p:sp>
      <p:sp>
        <p:nvSpPr>
          <p:cNvPr id="25" name="Rectangle 25"/>
          <p:cNvSpPr/>
          <p:nvPr/>
        </p:nvSpPr>
        <p:spPr>
          <a:xfrm>
            <a:off x="952500" y="3571875"/>
            <a:ext cx="38100" cy="809625"/>
          </a:xfrm>
          <a:prstGeom prst="rect">
            <a:avLst/>
          </a:prstGeom>
          <a:solidFill>
            <a:srgbClr val="E6FF3D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990600" y="3571875"/>
            <a:ext cx="2819400" cy="809625"/>
          </a:xfrm>
          <a:prstGeom prst="rect">
            <a:avLst/>
          </a:prstGeom>
          <a:solidFill>
            <a:srgbClr val="F5F4EF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3810000" y="3571875"/>
            <a:ext cx="7429500" cy="809625"/>
          </a:xfrm>
          <a:prstGeom prst="rect">
            <a:avLst/>
          </a:prstGeom>
          <a:solidFill>
            <a:srgbClr val="F5F4EF"/>
          </a:solidFill>
          <a:ln>
            <a:noFill/>
          </a:ln>
        </p:spPr>
      </p:sp>
      <p:sp>
        <p:nvSpPr>
          <p:cNvPr id="28" name="Line 28"/>
          <p:cNvSpPr/>
          <p:nvPr/>
        </p:nvSpPr>
        <p:spPr>
          <a:xfrm>
            <a:off x="3810000" y="3571875"/>
            <a:ext cx="9525" cy="809625"/>
          </a:xfrm>
          <a:custGeom>
            <a:avLst/>
            <a:gdLst/>
            <a:ahLst/>
            <a:cxnLst/>
            <a:rect l="l" t="t" r="r" b="b"/>
            <a:pathLst>
              <a:path w="9525" h="809625">
                <a:moveTo>
                  <a:pt x="0" y="0"/>
                </a:moveTo>
                <a:lnTo>
                  <a:pt x="0" y="809625"/>
                </a:lnTo>
              </a:path>
            </a:pathLst>
          </a:custGeom>
          <a:noFill/>
          <a:ln w="9525">
            <a:solidFill>
              <a:srgbClr val="CFCFC8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129284" y="3613785"/>
            <a:ext cx="44724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rgbClr val="0A0A0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38047" y="4038124"/>
            <a:ext cx="7161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不是AI工具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994785" y="3926681"/>
            <a:ext cx="284378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不是AI工具，而是企业专属AI业务工作台</a:t>
            </a:r>
          </a:p>
        </p:txBody>
      </p:sp>
      <p:sp>
        <p:nvSpPr>
          <p:cNvPr id="32" name="Rectangle 32"/>
          <p:cNvSpPr/>
          <p:nvPr/>
        </p:nvSpPr>
        <p:spPr>
          <a:xfrm>
            <a:off x="952500" y="4429125"/>
            <a:ext cx="38100" cy="809625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990600" y="4429125"/>
            <a:ext cx="2819400" cy="80962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3810000" y="4429125"/>
            <a:ext cx="7429500" cy="80962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5" name="Line 35"/>
          <p:cNvSpPr/>
          <p:nvPr/>
        </p:nvSpPr>
        <p:spPr>
          <a:xfrm>
            <a:off x="3810000" y="4429125"/>
            <a:ext cx="9525" cy="809625"/>
          </a:xfrm>
          <a:custGeom>
            <a:avLst/>
            <a:gdLst/>
            <a:ahLst/>
            <a:cxnLst/>
            <a:rect l="l" t="t" r="r" b="b"/>
            <a:pathLst>
              <a:path w="9525" h="809625">
                <a:moveTo>
                  <a:pt x="0" y="0"/>
                </a:moveTo>
                <a:lnTo>
                  <a:pt x="0" y="809625"/>
                </a:lnTo>
              </a:path>
            </a:pathLst>
          </a:custGeom>
          <a:noFill/>
          <a:ln w="9525">
            <a:solidFill>
              <a:srgbClr val="CFCFC8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1129284" y="4471035"/>
            <a:ext cx="44724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rgbClr val="0A0A0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38047" y="4895374"/>
            <a:ext cx="78857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40+模型接入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994785" y="4783931"/>
            <a:ext cx="269962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40+模型接入，17个智能体覆盖关键岗位</a:t>
            </a:r>
          </a:p>
        </p:txBody>
      </p:sp>
      <p:sp>
        <p:nvSpPr>
          <p:cNvPr id="39" name="Rectangle 39"/>
          <p:cNvSpPr/>
          <p:nvPr/>
        </p:nvSpPr>
        <p:spPr>
          <a:xfrm>
            <a:off x="952500" y="5286375"/>
            <a:ext cx="38100" cy="809625"/>
          </a:xfrm>
          <a:prstGeom prst="rect">
            <a:avLst/>
          </a:prstGeom>
          <a:solidFill>
            <a:srgbClr val="E6FF3D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990600" y="5286375"/>
            <a:ext cx="2819400" cy="809625"/>
          </a:xfrm>
          <a:prstGeom prst="rect">
            <a:avLst/>
          </a:prstGeom>
          <a:solidFill>
            <a:srgbClr val="F5F4EF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3810000" y="5286375"/>
            <a:ext cx="7429500" cy="809625"/>
          </a:xfrm>
          <a:prstGeom prst="rect">
            <a:avLst/>
          </a:prstGeom>
          <a:solidFill>
            <a:srgbClr val="F5F4EF"/>
          </a:solidFill>
          <a:ln>
            <a:noFill/>
          </a:ln>
        </p:spPr>
      </p:sp>
      <p:sp>
        <p:nvSpPr>
          <p:cNvPr id="42" name="Line 42"/>
          <p:cNvSpPr/>
          <p:nvPr/>
        </p:nvSpPr>
        <p:spPr>
          <a:xfrm>
            <a:off x="3810000" y="5286375"/>
            <a:ext cx="9525" cy="809625"/>
          </a:xfrm>
          <a:custGeom>
            <a:avLst/>
            <a:gdLst/>
            <a:ahLst/>
            <a:cxnLst/>
            <a:rect l="l" t="t" r="r" b="b"/>
            <a:pathLst>
              <a:path w="9525" h="809625">
                <a:moveTo>
                  <a:pt x="0" y="0"/>
                </a:moveTo>
                <a:lnTo>
                  <a:pt x="0" y="809625"/>
                </a:lnTo>
              </a:path>
            </a:pathLst>
          </a:custGeom>
          <a:noFill/>
          <a:ln w="9525">
            <a:solidFill>
              <a:srgbClr val="CFCFC8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1129284" y="5328285"/>
            <a:ext cx="44724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rgbClr val="0A0A0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38047" y="5752624"/>
            <a:ext cx="83680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从诊断到资产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994785" y="5641181"/>
            <a:ext cx="198024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从诊断到资产，一条链路贯通</a:t>
            </a:r>
          </a:p>
        </p:txBody>
      </p:sp>
      <p:sp>
        <p:nvSpPr>
          <p:cNvPr id="46" name="Line 46"/>
          <p:cNvSpPr/>
          <p:nvPr/>
        </p:nvSpPr>
        <p:spPr>
          <a:xfrm>
            <a:off x="857250" y="1905000"/>
            <a:ext cx="9525" cy="4095750"/>
          </a:xfrm>
          <a:custGeom>
            <a:avLst/>
            <a:gdLst/>
            <a:ahLst/>
            <a:cxnLst/>
            <a:rect l="l" t="t" r="r" b="b"/>
            <a:pathLst>
              <a:path w="9525" h="4095750">
                <a:moveTo>
                  <a:pt x="0" y="0"/>
                </a:moveTo>
                <a:lnTo>
                  <a:pt x="0" y="4095750"/>
                </a:lnTo>
              </a:path>
            </a:pathLst>
          </a:custGeom>
          <a:noFill/>
          <a:ln w="9525">
            <a:solidFill>
              <a:srgbClr val="CFCFC8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10962132" y="6570345"/>
            <a:ext cx="28213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CFCFC8"/>
                </a:solidFill>
                <a:latin typeface="Arial"/>
                <a:ea typeface="Arial"/>
                <a:cs typeface="Arial"/>
              </a:rPr>
              <a:t>2 / 4</a:t>
            </a:r>
          </a:p>
        </p:txBody>
      </p:sp>
      <p:sp>
        <p:nvSpPr>
          <p:cNvPr id="48" name="Rectangle 48"/>
          <p:cNvSpPr/>
          <p:nvPr/>
        </p:nvSpPr>
        <p:spPr>
          <a:xfrm>
            <a:off x="11239500" y="1857375"/>
            <a:ext cx="38100" cy="4238625"/>
          </a:xfrm>
          <a:prstGeom prst="rect">
            <a:avLst/>
          </a:prstGeom>
          <a:solidFill>
            <a:srgbClr val="E6FF3D"/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11239500" y="6096000"/>
            <a:ext cx="952500" cy="762000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11377612" y="6340316"/>
            <a:ext cx="38294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E6FF3D"/>
                </a:solidFill>
                <a:latin typeface="Arial"/>
                <a:ea typeface="Arial"/>
                <a:cs typeface="Arial"/>
              </a:rPr>
              <a:t>AGenda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0" y="1143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CFCFC8"/>
            </a:solidFill>
          </a:ln>
        </p:spPr>
      </p:sp>
      <p:sp>
        <p:nvSpPr>
          <p:cNvPr id="3" name="Line 3"/>
          <p:cNvSpPr/>
          <p:nvPr/>
        </p:nvSpPr>
        <p:spPr>
          <a:xfrm>
            <a:off x="0" y="228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CFCFC8"/>
            </a:solidFill>
          </a:ln>
        </p:spPr>
      </p:sp>
      <p:sp>
        <p:nvSpPr>
          <p:cNvPr id="4" name="Line 4"/>
          <p:cNvSpPr/>
          <p:nvPr/>
        </p:nvSpPr>
        <p:spPr>
          <a:xfrm>
            <a:off x="0" y="3429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CFCFC8"/>
            </a:solidFill>
          </a:ln>
        </p:spPr>
      </p:sp>
      <p:sp>
        <p:nvSpPr>
          <p:cNvPr id="5" name="Line 5"/>
          <p:cNvSpPr/>
          <p:nvPr/>
        </p:nvSpPr>
        <p:spPr>
          <a:xfrm>
            <a:off x="0" y="457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CFCFC8"/>
            </a:solidFill>
          </a:ln>
        </p:spPr>
      </p:sp>
      <p:sp>
        <p:nvSpPr>
          <p:cNvPr id="6" name="Line 6"/>
          <p:cNvSpPr/>
          <p:nvPr/>
        </p:nvSpPr>
        <p:spPr>
          <a:xfrm>
            <a:off x="0" y="5715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CFCFC8"/>
            </a:solidFill>
          </a:ln>
        </p:spPr>
      </p:sp>
      <p:sp>
        <p:nvSpPr>
          <p:cNvPr id="7" name="Line 7"/>
          <p:cNvSpPr/>
          <p:nvPr/>
        </p:nvSpPr>
        <p:spPr>
          <a:xfrm>
            <a:off x="304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CFCFC8"/>
            </a:solidFill>
          </a:ln>
        </p:spPr>
      </p:sp>
      <p:sp>
        <p:nvSpPr>
          <p:cNvPr id="8" name="Line 8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CFCFC8"/>
            </a:solidFill>
          </a:ln>
        </p:spPr>
      </p:sp>
      <p:sp>
        <p:nvSpPr>
          <p:cNvPr id="9" name="Line 9"/>
          <p:cNvSpPr/>
          <p:nvPr/>
        </p:nvSpPr>
        <p:spPr>
          <a:xfrm>
            <a:off x="9144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CFCFC8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50342" y="34956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CECE8"/>
                </a:solidFill>
                <a:latin typeface="Arial"/>
                <a:ea typeface="Microsoft YaHei"/>
                <a:cs typeface="Arial"/>
              </a:rPr>
              <a:t>屿算智能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11426" y="381952"/>
            <a:ext cx="3287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ECECE8"/>
                </a:solidFill>
                <a:latin typeface="Arial"/>
                <a:ea typeface="Arial"/>
                <a:cs typeface="Arial"/>
              </a:rPr>
              <a:t>3 / 4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457200" y="1143000"/>
            <a:ext cx="11277600" cy="4572000"/>
            <a:chOff x="457200" y="1143000"/>
            <a:chExt cx="11277600" cy="4572000"/>
          </a:xfrm>
        </p:grpSpPr>
        <p:sp>
          <p:nvSpPr>
            <p:cNvPr id="13" name="Rectangle 13"/>
            <p:cNvSpPr/>
            <p:nvPr/>
          </p:nvSpPr>
          <p:spPr>
            <a:xfrm>
              <a:off x="457200" y="1143000"/>
              <a:ext cx="1333500" cy="342900"/>
            </a:xfrm>
            <a:prstGeom prst="rect">
              <a:avLst/>
            </a:prstGeom>
            <a:solidFill>
              <a:srgbClr val="E6FF3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2366" y="125825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关键判断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57200" y="1714500"/>
              <a:ext cx="6477000" cy="3619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4484" y="2185035"/>
              <a:ext cx="278969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CECE8"/>
                  </a:solidFill>
                  <a:latin typeface="Arial"/>
                  <a:ea typeface="Microsoft YaHei"/>
                  <a:cs typeface="Arial"/>
                </a:rPr>
                <a:t>企业不缺AI认知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4484" y="2756535"/>
              <a:ext cx="422555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6FF3D"/>
                  </a:solidFill>
                  <a:latin typeface="Arial"/>
                  <a:ea typeface="Microsoft YaHei"/>
                  <a:cs typeface="Arial"/>
                </a:rPr>
                <a:t>缺一条能跑通业务的路径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38200" y="3429000"/>
              <a:ext cx="1905000" cy="38100"/>
            </a:xfrm>
            <a:prstGeom prst="rect">
              <a:avLst/>
            </a:prstGeom>
            <a:solidFill>
              <a:srgbClr val="E6FF3D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29056" y="3710940"/>
              <a:ext cx="20883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CECE8"/>
                  </a:solidFill>
                  <a:latin typeface="Arial"/>
                  <a:ea typeface="Microsoft YaHei"/>
                  <a:cs typeface="Arial"/>
                </a:rPr>
                <a:t>实用AI大于AI概念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43450" y="3981450"/>
              <a:ext cx="1437475" cy="1733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0" b="1" dirty="0">
                  <a:solidFill>
                    <a:srgbClr val="E6FF3D">
                      <a:alphaMod val="15000"/>
                    </a:srgbClr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315200" y="1714500"/>
              <a:ext cx="4419600" cy="3619500"/>
            </a:xfrm>
            <a:prstGeom prst="rect">
              <a:avLst/>
            </a:prstGeom>
            <a:solidFill>
              <a:srgbClr val="F5F4EF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315200" y="1714500"/>
              <a:ext cx="38100" cy="3619500"/>
            </a:xfrm>
            <a:prstGeom prst="rect">
              <a:avLst/>
            </a:prstGeom>
            <a:solidFill>
              <a:srgbClr val="E6FF3D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696200" y="2095500"/>
              <a:ext cx="2619033" cy="383857"/>
              <a:chOff x="7696200" y="2095500"/>
              <a:chExt cx="2619033" cy="383857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7696200" y="2095500"/>
                <a:ext cx="304800" cy="304800"/>
              </a:xfrm>
              <a:prstGeom prst="rect">
                <a:avLst/>
              </a:prstGeom>
              <a:solidFill>
                <a:srgbClr val="0A0A0A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795858" y="2185035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E6FF3D"/>
                    </a:solidFill>
                    <a:latin typeface="Arial"/>
                    <a:ea typeface="Arial"/>
                    <a:cs typeface="Arial"/>
                  </a:rPr>
                  <a:t>1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48447" y="2104549"/>
                <a:ext cx="153967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rgbClr val="0A0A0A"/>
                    </a:solidFill>
                    <a:latin typeface="Arial"/>
                    <a:ea typeface="Microsoft YaHei"/>
                    <a:cs typeface="Arial"/>
                  </a:rPr>
                  <a:t>不会问·不会用·不能沉淀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148638" y="2303145"/>
                <a:ext cx="216659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A0A0A"/>
                    </a:solidFill>
                    <a:latin typeface="Arial"/>
                    <a:ea typeface="Microsoft YaHei"/>
                    <a:cs typeface="Arial"/>
                  </a:rPr>
                  <a:t>大多数企业已听懂AI，但卡在三个断点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7696200" y="2857500"/>
              <a:ext cx="2412607" cy="383857"/>
              <a:chOff x="7696200" y="2857500"/>
              <a:chExt cx="2412607" cy="383857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7696200" y="2857500"/>
                <a:ext cx="304800" cy="304800"/>
              </a:xfrm>
              <a:prstGeom prst="rect">
                <a:avLst/>
              </a:prstGeom>
              <a:solidFill>
                <a:srgbClr val="0A0A0A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795858" y="2947035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E6FF3D"/>
                    </a:solidFill>
                    <a:latin typeface="Arial"/>
                    <a:ea typeface="Arial"/>
                    <a:cs typeface="Arial"/>
                  </a:rPr>
                  <a:t>2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148447" y="2866549"/>
                <a:ext cx="166371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rgbClr val="0A0A0A"/>
                    </a:solidFill>
                    <a:latin typeface="Arial"/>
                    <a:ea typeface="Microsoft YaHei"/>
                    <a:cs typeface="Arial"/>
                  </a:rPr>
                  <a:t>不教提示词，直接喂进任务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148638" y="3065145"/>
                <a:ext cx="196016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A0A0A"/>
                    </a:solidFill>
                    <a:latin typeface="Arial"/>
                    <a:ea typeface="Microsoft YaHei"/>
                    <a:cs typeface="Arial"/>
                  </a:rPr>
                  <a:t>屿算智脑用角色·场景·流程贯通业务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7696200" y="3619500"/>
              <a:ext cx="2115960" cy="383857"/>
              <a:chOff x="7696200" y="3619500"/>
              <a:chExt cx="2115960" cy="383857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7696200" y="3619500"/>
                <a:ext cx="304800" cy="304800"/>
              </a:xfrm>
              <a:prstGeom prst="rect">
                <a:avLst/>
              </a:prstGeom>
              <a:solidFill>
                <a:srgbClr val="0A0A0A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795858" y="3709035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E6FF3D"/>
                    </a:solidFill>
                    <a:latin typeface="Arial"/>
                    <a:ea typeface="Arial"/>
                    <a:cs typeface="Arial"/>
                  </a:rPr>
                  <a:t>3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48447" y="3628549"/>
                <a:ext cx="166371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rgbClr val="0A0A0A"/>
                    </a:solidFill>
                    <a:latin typeface="Arial"/>
                    <a:ea typeface="Microsoft YaHei"/>
                    <a:cs typeface="Arial"/>
                  </a:rPr>
                  <a:t>从聊天框挪进企业核心资产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148638" y="3827145"/>
                <a:ext cx="159669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0A0A0A"/>
                    </a:solidFill>
                    <a:latin typeface="Arial"/>
                    <a:ea typeface="Microsoft YaHei"/>
                    <a:cs typeface="Arial"/>
                  </a:rPr>
                  <a:t>目标看板·内容流水线·资产库</a:t>
                </a:r>
              </a:p>
            </p:txBody>
          </p:sp>
        </p:grpSp>
        <p:sp>
          <p:nvSpPr>
            <p:cNvPr id="38" name="Line 38"/>
            <p:cNvSpPr/>
            <p:nvPr/>
          </p:nvSpPr>
          <p:spPr>
            <a:xfrm>
              <a:off x="7696200" y="2714625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7696200" y="3476625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9685835" y="6616541"/>
            <a:ext cx="2053727" cy="161925"/>
            <a:chOff x="9685835" y="6616541"/>
            <a:chExt cx="2053727" cy="161925"/>
          </a:xfrm>
        </p:grpSpPr>
        <p:sp>
          <p:nvSpPr>
            <p:cNvPr id="41" name="TextBox 41"/>
            <p:cNvSpPr txBox="1"/>
            <p:nvPr/>
          </p:nvSpPr>
          <p:spPr>
            <a:xfrm>
              <a:off x="9685835" y="6616541"/>
              <a:ext cx="205372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CFCFC8"/>
                  </a:solidFill>
                  <a:latin typeface="Arial"/>
                  <a:ea typeface="Arial"/>
                  <a:cs typeface="Arial"/>
                </a:rPr>
                <a:t>Neo-Grid Bold · Insight · Decision Grid</a:t>
              </a:r>
            </a:p>
          </p:txBody>
        </p:sp>
      </p:grpSp>
      <p:sp>
        <p:nvSpPr>
          <p:cNvPr id="43" name="Rectangle 43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0A0A0A"/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457200" y="6591300"/>
            <a:ext cx="571500" cy="38100"/>
          </a:xfrm>
          <a:prstGeom prst="rect">
            <a:avLst/>
          </a:prstGeom>
          <a:solidFill>
            <a:srgbClr val="E6FF3D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1138238" y="6578441"/>
            <a:ext cx="81335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ECECE8"/>
                </a:solidFill>
                <a:latin typeface="Arial"/>
                <a:ea typeface="Microsoft YaHei"/>
                <a:cs typeface="Arial"/>
              </a:rPr>
              <a:t>企业AI转型路径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38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181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CFCFC8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7"/>
            <p:cNvSpPr/>
            <p:nvPr/>
          </p:nvSpPr>
          <p:spPr>
            <a:xfrm>
              <a:off x="0" y="0"/>
              <a:ext cx="12192000" cy="7620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75666" y="381952"/>
              <a:ext cx="6952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225" dirty="0">
                  <a:solidFill>
                    <a:srgbClr val="ECECE8"/>
                  </a:solidFill>
                  <a:latin typeface="Arial"/>
                  <a:ea typeface="Microsoft YaHei"/>
                  <a:cs typeface="Arial"/>
                </a:rPr>
                <a:t>屿算智能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73935" y="398145"/>
              <a:ext cx="2821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CFCFC8"/>
                  </a:solidFill>
                  <a:latin typeface="Arial"/>
                  <a:ea typeface="Arial"/>
                  <a:cs typeface="Arial"/>
                </a:rPr>
                <a:t>4 / 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19777" y="398145"/>
              <a:ext cx="4959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E6FF3D"/>
                  </a:solidFill>
                  <a:latin typeface="Arial"/>
                  <a:ea typeface="Arial"/>
                  <a:cs typeface="Arial"/>
                </a:rPr>
                <a:t>CLOSING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57047" y="1418749"/>
            <a:ext cx="11697272" cy="4296251"/>
            <a:chOff x="757047" y="1418749"/>
            <a:chExt cx="11697272" cy="4296251"/>
          </a:xfrm>
        </p:grpSpPr>
        <p:sp>
          <p:nvSpPr>
            <p:cNvPr id="13" name="TextBox 13"/>
            <p:cNvSpPr txBox="1"/>
            <p:nvPr/>
          </p:nvSpPr>
          <p:spPr>
            <a:xfrm>
              <a:off x="757047" y="1418749"/>
              <a:ext cx="6823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300" dirty="0">
                  <a:solidFill>
                    <a:srgbClr val="E6FF3D"/>
                  </a:solidFill>
                  <a:latin typeface="Arial"/>
                  <a:ea typeface="Microsoft YaHei"/>
                  <a:cs typeface="Arial"/>
                </a:rPr>
                <a:t>推进序列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238" y="1815941"/>
              <a:ext cx="18975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0A0A0A">
                      <a:alphaMod val="60000"/>
                    </a:srgbClr>
                  </a:solidFill>
                  <a:latin typeface="Arial"/>
                  <a:ea typeface="Microsoft YaHei"/>
                  <a:cs typeface="Arial"/>
                </a:rPr>
                <a:t>先帮企业问清楚，再进入立项和执行。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762000" y="266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rgbClr val="0A0A0A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790700" y="2552700"/>
              <a:ext cx="228600" cy="228600"/>
            </a:xfrm>
            <a:prstGeom prst="ellipse">
              <a:avLst/>
            </a:prstGeom>
            <a:solidFill>
              <a:srgbClr val="E6FF3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841930" y="2681288"/>
              <a:ext cx="1261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b="1" dirty="0">
                  <a:solidFill>
                    <a:srgbClr val="0A0A0A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981700" y="2552700"/>
              <a:ext cx="228600" cy="228600"/>
            </a:xfrm>
            <a:prstGeom prst="ellipse">
              <a:avLst/>
            </a:prstGeom>
            <a:solidFill>
              <a:srgbClr val="E6FF3D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32930" y="2681288"/>
              <a:ext cx="1261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b="1" dirty="0">
                  <a:solidFill>
                    <a:srgbClr val="0A0A0A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10172700" y="2552700"/>
              <a:ext cx="228600" cy="228600"/>
            </a:xfrm>
            <a:prstGeom prst="ellipse">
              <a:avLst/>
            </a:prstGeom>
            <a:solidFill>
              <a:srgbClr val="0A0A0A"/>
            </a:solidFill>
            <a:ln w="28575">
              <a:solidFill>
                <a:srgbClr val="E6FF3D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223930" y="2681288"/>
              <a:ext cx="12614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b="1" dirty="0">
                  <a:solidFill>
                    <a:srgbClr val="E6FF3D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2019300" y="2667000"/>
              <a:ext cx="3962400" cy="9525"/>
            </a:xfrm>
            <a:custGeom>
              <a:avLst/>
              <a:gdLst/>
              <a:ahLst/>
              <a:cxnLst/>
              <a:rect l="l" t="t" r="r" b="b"/>
              <a:pathLst>
                <a:path w="3962400" h="9525">
                  <a:moveTo>
                    <a:pt x="0" y="0"/>
                  </a:moveTo>
                  <a:lnTo>
                    <a:pt x="3962400" y="0"/>
                  </a:lnTo>
                </a:path>
              </a:pathLst>
            </a:custGeom>
            <a:noFill/>
            <a:ln w="19050">
              <a:solidFill>
                <a:srgbClr val="CFCFC8"/>
              </a:solidFill>
              <a:prstDash val="lgDash"/>
            </a:ln>
          </p:spPr>
        </p:sp>
        <p:sp>
          <p:nvSpPr>
            <p:cNvPr id="23" name="Line 23"/>
            <p:cNvSpPr/>
            <p:nvPr/>
          </p:nvSpPr>
          <p:spPr>
            <a:xfrm>
              <a:off x="6210300" y="2667000"/>
              <a:ext cx="3962400" cy="9525"/>
            </a:xfrm>
            <a:custGeom>
              <a:avLst/>
              <a:gdLst/>
              <a:ahLst/>
              <a:cxnLst/>
              <a:rect l="l" t="t" r="r" b="b"/>
              <a:pathLst>
                <a:path w="3962400" h="9525">
                  <a:moveTo>
                    <a:pt x="0" y="0"/>
                  </a:moveTo>
                  <a:lnTo>
                    <a:pt x="3962400" y="0"/>
                  </a:lnTo>
                </a:path>
              </a:pathLst>
            </a:custGeom>
            <a:noFill/>
            <a:ln w="19050">
              <a:solidFill>
                <a:srgbClr val="CFCFC8"/>
              </a:solidFill>
              <a:prstDash val="lgDash"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62000" y="3048000"/>
              <a:ext cx="3048000" cy="2667000"/>
            </a:xfrm>
            <a:prstGeom prst="rect">
              <a:avLst/>
            </a:prstGeom>
            <a:solidFill>
              <a:srgbClr val="F5F4EF"/>
            </a:solidFill>
            <a:ln w="9525">
              <a:solidFill>
                <a:srgbClr val="CFCFC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2000" y="3048000"/>
              <a:ext cx="3048000" cy="4572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7547" y="3228499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ECECE8"/>
                  </a:solidFill>
                  <a:latin typeface="Arial"/>
                  <a:ea typeface="Microsoft YaHei"/>
                  <a:cs typeface="Arial"/>
                </a:rPr>
                <a:t>诊断先行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7738" y="3712845"/>
              <a:ext cx="42148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AI系统主动梳理业务目标、资源与断点，生成可落地的业务地图与立项建议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572000" y="3048000"/>
              <a:ext cx="3048000" cy="2667000"/>
            </a:xfrm>
            <a:prstGeom prst="rect">
              <a:avLst/>
            </a:prstGeom>
            <a:solidFill>
              <a:srgbClr val="F5F4EF"/>
            </a:solidFill>
            <a:ln w="9525">
              <a:solidFill>
                <a:srgbClr val="CFCFC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4572000" y="3048000"/>
              <a:ext cx="3048000" cy="4572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757547" y="3228499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ECECE8"/>
                  </a:solidFill>
                  <a:latin typeface="Arial"/>
                  <a:ea typeface="Microsoft YaHei"/>
                  <a:cs typeface="Arial"/>
                </a:rPr>
                <a:t>系统嵌入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57738" y="3712845"/>
              <a:ext cx="34595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17个AI智能体进入岗位，七层闭环贯通从生产到分发的全链路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382000" y="3048000"/>
              <a:ext cx="3048000" cy="2667000"/>
            </a:xfrm>
            <a:prstGeom prst="rect">
              <a:avLst/>
            </a:prstGeom>
            <a:solidFill>
              <a:srgbClr val="0A0A0A"/>
            </a:solidFill>
            <a:ln w="19050">
              <a:solidFill>
                <a:srgbClr val="E6FF3D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8382000" y="3048000"/>
              <a:ext cx="3048000" cy="457200"/>
            </a:xfrm>
            <a:prstGeom prst="rect">
              <a:avLst/>
            </a:prstGeom>
            <a:solidFill>
              <a:srgbClr val="E6FF3D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567547" y="3228499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资产复利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67738" y="3712845"/>
              <a:ext cx="38865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CECE8"/>
                  </a:solidFill>
                  <a:latin typeface="Arial"/>
                  <a:ea typeface="Microsoft YaHei"/>
                  <a:cs typeface="Arial"/>
                </a:rPr>
                <a:t>内容、方案、知识、工作流持续沉淀，每一次执行都让下一次增长更精准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9906000" y="4953000"/>
              <a:ext cx="1143000" cy="381000"/>
            </a:xfrm>
            <a:custGeom>
              <a:avLst/>
              <a:gdLst/>
              <a:ahLst/>
              <a:cxnLst/>
              <a:rect l="l" t="t" r="r" b="b"/>
              <a:pathLst>
                <a:path w="1143000" h="381000">
                  <a:moveTo>
                    <a:pt x="0" y="0"/>
                  </a:moveTo>
                  <a:lnTo>
                    <a:pt x="0" y="381000"/>
                  </a:lnTo>
                  <a:lnTo>
                    <a:pt x="1143000" y="381000"/>
                  </a:lnTo>
                </a:path>
              </a:pathLst>
            </a:custGeom>
            <a:noFill/>
            <a:ln w="19050">
              <a:solidFill>
                <a:srgbClr val="E6FF3D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901238" y="5435441"/>
              <a:ext cx="4537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E6FF3D"/>
                  </a:solidFill>
                  <a:latin typeface="Arial"/>
                  <a:ea typeface="Microsoft YaHei"/>
                  <a:cs typeface="Arial"/>
                </a:rPr>
                <a:t>最终落点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0096500" y="5143500"/>
              <a:ext cx="1333500" cy="571500"/>
            </a:xfrm>
            <a:prstGeom prst="rect">
              <a:avLst/>
            </a:prstGeom>
            <a:solidFill>
              <a:srgbClr val="E6FF3D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525258" y="5387816"/>
              <a:ext cx="47598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0A0A0A"/>
                  </a:solidFill>
                  <a:latin typeface="Arial"/>
                  <a:ea typeface="Microsoft YaHei"/>
                  <a:cs typeface="Arial"/>
                </a:rPr>
                <a:t>持续增长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76238" y="6586538"/>
            <a:ext cx="751618" cy="147638"/>
            <a:chOff x="376238" y="6586538"/>
            <a:chExt cx="751618" cy="147638"/>
          </a:xfrm>
        </p:grpSpPr>
        <p:sp>
          <p:nvSpPr>
            <p:cNvPr id="41" name="TextBox 41"/>
            <p:cNvSpPr txBox="1"/>
            <p:nvPr/>
          </p:nvSpPr>
          <p:spPr>
            <a:xfrm>
              <a:off x="376238" y="6586538"/>
              <a:ext cx="75161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CFCFC8"/>
                  </a:solidFill>
                  <a:latin typeface="Arial"/>
                  <a:ea typeface="Microsoft YaHei"/>
                  <a:cs typeface="Arial"/>
                </a:rPr>
                <a:t>© 2024 屿算智能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2026-07-09T14:46:34Z</dcterms:created>
  <dcterms:modified xsi:type="dcterms:W3CDTF">2026-07-09T14:46:34Z</dcterms:modified>
  <cp:category/>
  <cp:contentStatus/>
</cp:coreProperties>
</file>