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企业AI营销工作台：从数据到决策的智能闭环</a:t>
            </a:r>
          </a:p>
          <a:p>
            <a:endParaRPr lang="en-US" dirty="0"/>
          </a:p>
          <a:p>
            <a:r>
              <a:rPr lang="zh-CN" dirty="0"/>
              <a:t>AI营销工作台打通数据、分析、执行与度量，让每一次客户互动都转化为可量化的增长。</a:t>
            </a:r>
          </a:p>
          <a:p>
            <a:endParaRPr lang="en-US" dirty="0"/>
          </a:p>
          <a:p>
            <a:r>
              <a:rPr lang="zh-CN" dirty="0"/>
              <a:t>• 企业AI营销工作台：从数据到决策的智能闭环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本次简报聚焦五件事</a:t>
            </a:r>
          </a:p>
          <a:p>
            <a:endParaRPr lang="en-US" dirty="0"/>
          </a:p>
          <a:p>
            <a:r>
              <a:rPr lang="zh-CN" dirty="0"/>
              <a:t>我们将依次审视行业关键变化、新旧范式对比、实证效果、量化收益与增长分析，最后给出明确的下一步。</a:t>
            </a:r>
          </a:p>
          <a:p>
            <a:endParaRPr lang="en-US" dirty="0"/>
          </a:p>
          <a:p>
            <a:r>
              <a:rPr lang="zh-CN" dirty="0"/>
              <a:t>• 数据孤岛、决策延迟、执行断层正迫使营销体系重构</a:t>
            </a:r>
          </a:p>
          <a:p>
            <a:r>
              <a:rPr lang="zh-CN" dirty="0"/>
              <a:t>• 从依赖人工经验到以模型驱动实时决策</a:t>
            </a:r>
          </a:p>
          <a:p>
            <a:r>
              <a:rPr lang="zh-CN" dirty="0"/>
              <a:t>• 三个高可信度的企业数据，展示立即可复现的效果</a:t>
            </a:r>
          </a:p>
          <a:p>
            <a:r>
              <a:rPr lang="zh-CN" dirty="0"/>
              <a:t>• 核心运营指标的跃升幅度与财务影响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为什么现在的营销体系必须升级</a:t>
            </a:r>
          </a:p>
          <a:p>
            <a:endParaRPr lang="en-US" dirty="0"/>
          </a:p>
          <a:p>
            <a:r>
              <a:rPr lang="zh-CN" dirty="0"/>
              <a:t>客户触点碎片化、响应速度跟不上、执行链路断裂，传统方式已触及天花板。</a:t>
            </a:r>
          </a:p>
          <a:p>
            <a:endParaRPr lang="en-US" dirty="0"/>
          </a:p>
          <a:p>
            <a:r>
              <a:rPr lang="zh-CN" dirty="0"/>
              <a:t>• 数据孤岛导致客户画像不完整，难以形成统一洞察</a:t>
            </a:r>
          </a:p>
          <a:p>
            <a:r>
              <a:rPr lang="zh-CN" dirty="0"/>
              <a:t>• 人工决策周期长，错失实时触达的最佳窗口</a:t>
            </a:r>
          </a:p>
          <a:p>
            <a:r>
              <a:rPr lang="zh-CN" dirty="0"/>
              <a:t>• 执行反馈滞后，无法快速迭代优化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两种范式的差别到底有多大</a:t>
            </a:r>
          </a:p>
          <a:p>
            <a:endParaRPr lang="en-US" dirty="0"/>
          </a:p>
          <a:p>
            <a:r>
              <a:rPr lang="zh-CN" dirty="0"/>
              <a:t>传统营销依赖人海战术与固定规则，AI工作台则通过数据闭环实现自优化。</a:t>
            </a:r>
          </a:p>
          <a:p>
            <a:endParaRPr lang="en-US" dirty="0"/>
          </a:p>
          <a:p>
            <a:r>
              <a:rPr lang="zh-CN" dirty="0"/>
              <a:t>• 数据清洗耗时数周，活动上线需跨部门沟通，优化以月为周期，且难以衡量真实增量</a:t>
            </a:r>
          </a:p>
          <a:p>
            <a:r>
              <a:rPr lang="zh-CN" dirty="0"/>
              <a:t>• 数据自动融合，策略由模型推荐并自动执行，效果实时归因，分钟级迭代优化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已经有企业跑通了这条路</a:t>
            </a:r>
          </a:p>
          <a:p>
            <a:endParaRPr lang="en-US" dirty="0"/>
          </a:p>
          <a:p>
            <a:r>
              <a:rPr lang="zh-CN" dirty="0"/>
              <a:t>以下数据来自三家大型消费品企业的真实部署，部署周期均未超过三个月。</a:t>
            </a:r>
          </a:p>
          <a:p>
            <a:endParaRPr lang="en-US" dirty="0"/>
          </a:p>
          <a:p>
            <a:r>
              <a:rPr lang="zh-CN" dirty="0"/>
              <a:t>• 某家电品牌应用AI动态推荐后，电商详情页加购转化率由4.2%升至5.5%</a:t>
            </a:r>
          </a:p>
          <a:p>
            <a:r>
              <a:rPr lang="zh-CN" dirty="0"/>
              <a:t>• 某零售连锁将会员触达从人工排期改为实时事件触发，信息打开率提升至38%</a:t>
            </a:r>
          </a:p>
          <a:p>
            <a:r>
              <a:rPr lang="zh-CN" dirty="0"/>
              <a:t>• 某金融科技公司通过模型优选渠道组合，CAC从280元降至210元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四个模块的量化回报</a:t>
            </a:r>
          </a:p>
          <a:p>
            <a:endParaRPr lang="en-US" dirty="0"/>
          </a:p>
          <a:p>
            <a:r>
              <a:rPr lang="zh-CN" dirty="0"/>
              <a:t>数据整合、AI分析、自动化执行、效果度量分别带来明确的效率与利润提升。</a:t>
            </a:r>
          </a:p>
          <a:p>
            <a:endParaRPr lang="en-US" dirty="0"/>
          </a:p>
          <a:p>
            <a:r>
              <a:rPr lang="zh-CN" dirty="0"/>
              <a:t>• 数据整合</a:t>
            </a:r>
          </a:p>
          <a:p>
            <a:r>
              <a:rPr lang="zh-CN" dirty="0"/>
              <a:t>• AI分析</a:t>
            </a:r>
          </a:p>
          <a:p>
            <a:r>
              <a:rPr lang="zh-CN" dirty="0"/>
              <a:t>• 自动化执行</a:t>
            </a:r>
          </a:p>
          <a:p>
            <a:r>
              <a:rPr lang="zh-CN" dirty="0"/>
              <a:t>• 效果度量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增长杠杆的优先级一览</a:t>
            </a:r>
          </a:p>
          <a:p>
            <a:endParaRPr lang="en-US" dirty="0"/>
          </a:p>
          <a:p>
            <a:r>
              <a:rPr lang="zh-CN" dirty="0"/>
              <a:t>五个核心指标展示AI工作台在投入可控的前提下可实现的改善幅度。</a:t>
            </a:r>
          </a:p>
          <a:p>
            <a:endParaRPr lang="en-US" dirty="0"/>
          </a:p>
          <a:p>
            <a:r>
              <a:rPr lang="zh-CN" dirty="0"/>
              <a:t>• 模型优化渠道与创意组合，降低无效支出</a:t>
            </a:r>
          </a:p>
          <a:p>
            <a:r>
              <a:rPr lang="zh-CN" dirty="0"/>
              <a:t>• 个性化留存与交叉销售提升复购与客单价</a:t>
            </a:r>
          </a:p>
          <a:p>
            <a:r>
              <a:rPr lang="zh-CN" dirty="0"/>
              <a:t>• 动态内容与实时触发替代固定批次推送</a:t>
            </a:r>
          </a:p>
          <a:p>
            <a:r>
              <a:rPr lang="zh-CN" dirty="0"/>
              <a:t>• 自动化编排减少人工审批与配置环节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接下来该做什么</a:t>
            </a:r>
          </a:p>
          <a:p>
            <a:endParaRPr lang="en-US" dirty="0"/>
          </a:p>
          <a:p>
            <a:r>
              <a:rPr lang="zh-CN" dirty="0"/>
              <a:t>AI营销工作台的部署风险可控，但必须从明确的数据资产与试点场景启动。</a:t>
            </a:r>
          </a:p>
          <a:p>
            <a:endParaRPr lang="en-US" dirty="0"/>
          </a:p>
          <a:p>
            <a:r>
              <a:rPr lang="zh-CN" dirty="0"/>
              <a:t>• 授权数据团队完成客户数据资产的盘点与标准化评估</a:t>
            </a:r>
          </a:p>
          <a:p>
            <a:r>
              <a:rPr lang="zh-CN" dirty="0"/>
              <a:t>• 选定一个高价值场景（如流失干预或新品推荐）启动概念验证</a:t>
            </a:r>
          </a:p>
          <a:p>
            <a:r>
              <a:rPr lang="zh-CN" dirty="0"/>
              <a:t>• 上线自动化营销引擎的最小可行产品，建立全链路度量仪表盘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55000">
                  <a:schemeClr val="lt1">
                    <a:alpha val="92000"/>
                  </a:schemeClr>
                </a:gs>
                <a:gs pos="100000">
                  <a:schemeClr val="lt1">
                    <a:alpha val="15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5715000"/>
              <a:ext cx="12192000" cy="1143000"/>
            </a:xfrm>
            <a:custGeom>
              <a:avLst/>
              <a:gdLst/>
              <a:ahLst/>
              <a:cxnLst/>
              <a:rect l="l" t="t" r="r" b="b"/>
              <a:pathLst>
                <a:path w="12192000" h="1143000">
                  <a:moveTo>
                    <a:pt x="0" y="381000"/>
                  </a:moveTo>
                  <a:cubicBezTo>
                    <a:pt x="2095500" y="0"/>
                    <a:pt x="3238500" y="714375"/>
                    <a:pt x="4953000" y="381000"/>
                  </a:cubicBezTo>
                  <a:cubicBezTo>
                    <a:pt x="6667500" y="47625"/>
                    <a:pt x="7905750" y="714375"/>
                    <a:pt x="9906000" y="381000"/>
                  </a:cubicBezTo>
                  <a:cubicBezTo>
                    <a:pt x="10858500" y="209550"/>
                    <a:pt x="11572875" y="266700"/>
                    <a:pt x="12192000" y="381000"/>
                  </a:cubicBezTo>
                  <a:lnTo>
                    <a:pt x="12192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6166" y="653891"/>
            <a:ext cx="11059096" cy="5934075"/>
            <a:chOff x="566166" y="653891"/>
            <a:chExt cx="11059096" cy="5934075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667702"/>
              <a:ext cx="87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93345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39400" y="70485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43681" y="6538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26041"/>
              <a:ext cx="1865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方案简报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788329" y="642604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143000"/>
            <a:ext cx="10668000" cy="4572000"/>
            <a:chOff x="571500" y="1143000"/>
            <a:chExt cx="10668000" cy="4572000"/>
          </a:xfrm>
        </p:grpSpPr>
        <p:sp>
          <p:nvSpPr>
            <p:cNvPr id="16" name="Freeform 16"/>
            <p:cNvSpPr/>
            <p:nvPr/>
          </p:nvSpPr>
          <p:spPr>
            <a:xfrm>
              <a:off x="571500" y="1238250"/>
              <a:ext cx="4762500" cy="4095750"/>
            </a:xfrm>
            <a:custGeom>
              <a:avLst/>
              <a:gdLst/>
              <a:ahLst/>
              <a:cxnLst/>
              <a:rect l="l" t="t" r="r" b="b"/>
              <a:pathLst>
                <a:path w="4762500" h="4095750">
                  <a:moveTo>
                    <a:pt x="152400" y="0"/>
                  </a:moveTo>
                  <a:lnTo>
                    <a:pt x="4610100" y="0"/>
                  </a:lnTo>
                  <a:cubicBezTo>
                    <a:pt x="4694268" y="0"/>
                    <a:pt x="4762500" y="68232"/>
                    <a:pt x="4762500" y="152400"/>
                  </a:cubicBezTo>
                  <a:lnTo>
                    <a:pt x="4762500" y="3943350"/>
                  </a:lnTo>
                  <a:cubicBezTo>
                    <a:pt x="4762500" y="4027518"/>
                    <a:pt x="4694268" y="4095750"/>
                    <a:pt x="4610100" y="4095750"/>
                  </a:cubicBezTo>
                  <a:lnTo>
                    <a:pt x="152400" y="4095750"/>
                  </a:lnTo>
                  <a:cubicBezTo>
                    <a:pt x="68232" y="4095750"/>
                    <a:pt x="0" y="4027518"/>
                    <a:pt x="0" y="3943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250" y="1416368"/>
              <a:ext cx="701985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7250" y="2159318"/>
              <a:ext cx="458586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从数据到决策的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250" y="2902268"/>
              <a:ext cx="263682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智能闭环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76300" y="42481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918" y="4451032"/>
              <a:ext cx="4675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AI营销工作台打通数据、分析、执行与度量，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918" y="47748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让每一次客户互动都转化为可量化的增长。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76300" y="5105400"/>
              <a:ext cx="1695450" cy="381000"/>
            </a:xfrm>
            <a:custGeom>
              <a:avLst/>
              <a:gdLst/>
              <a:ahLst/>
              <a:cxnLst/>
              <a:rect l="l" t="t" r="r" b="b"/>
              <a:pathLst>
                <a:path w="1695450" h="381000">
                  <a:moveTo>
                    <a:pt x="190500" y="0"/>
                  </a:moveTo>
                  <a:lnTo>
                    <a:pt x="1504950" y="0"/>
                  </a:lnTo>
                  <a:cubicBezTo>
                    <a:pt x="1610160" y="0"/>
                    <a:pt x="1695450" y="85290"/>
                    <a:pt x="1695450" y="190500"/>
                  </a:cubicBezTo>
                  <a:lnTo>
                    <a:pt x="1695450" y="190500"/>
                  </a:lnTo>
                  <a:cubicBezTo>
                    <a:pt x="1695450" y="295710"/>
                    <a:pt x="1610160" y="381000"/>
                    <a:pt x="15049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rgbClr val="D6E6F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4255" y="52235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面向企业管理层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239000" y="1143000"/>
              <a:ext cx="4000500" cy="4572000"/>
            </a:xfrm>
            <a:custGeom>
              <a:avLst/>
              <a:gdLst/>
              <a:ahLst/>
              <a:cxnLst/>
              <a:rect l="l" t="t" r="r" b="b"/>
              <a:pathLst>
                <a:path w="4000500" h="4572000">
                  <a:moveTo>
                    <a:pt x="171450" y="0"/>
                  </a:moveTo>
                  <a:lnTo>
                    <a:pt x="3829050" y="0"/>
                  </a:lnTo>
                  <a:cubicBezTo>
                    <a:pt x="3923739" y="0"/>
                    <a:pt x="4000500" y="76761"/>
                    <a:pt x="4000500" y="171450"/>
                  </a:cubicBezTo>
                  <a:lnTo>
                    <a:pt x="4000500" y="4400550"/>
                  </a:lnTo>
                  <a:cubicBezTo>
                    <a:pt x="4000500" y="4495239"/>
                    <a:pt x="3923739" y="4572000"/>
                    <a:pt x="3829050" y="4572000"/>
                  </a:cubicBezTo>
                  <a:lnTo>
                    <a:pt x="171450" y="4572000"/>
                  </a:lnTo>
                  <a:cubicBezTo>
                    <a:pt x="76761" y="4572000"/>
                    <a:pt x="0" y="4495239"/>
                    <a:pt x="0" y="44005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>
                <a:alpha val="57999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67625" y="1524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628650"/>
                  </a:lnTo>
                  <a:cubicBezTo>
                    <a:pt x="1143000" y="681255"/>
                    <a:pt x="1100355" y="723900"/>
                    <a:pt x="10477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0619" y="18068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9667875" y="152400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628650"/>
                  </a:lnTo>
                  <a:cubicBezTo>
                    <a:pt x="1143000" y="681255"/>
                    <a:pt x="1100355" y="723900"/>
                    <a:pt x="10477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23812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14957" y="1806892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667625" y="333375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628650"/>
                  </a:lnTo>
                  <a:cubicBezTo>
                    <a:pt x="1143000" y="681255"/>
                    <a:pt x="1100355" y="723900"/>
                    <a:pt x="10477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55207" y="36166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667875" y="3333750"/>
              <a:ext cx="1143000" cy="723900"/>
            </a:xfrm>
            <a:custGeom>
              <a:avLst/>
              <a:gdLst/>
              <a:ahLst/>
              <a:cxnLst/>
              <a:rect l="l" t="t" r="r" b="b"/>
              <a:pathLst>
                <a:path w="1143000" h="723900">
                  <a:moveTo>
                    <a:pt x="95250" y="0"/>
                  </a:moveTo>
                  <a:lnTo>
                    <a:pt x="1047750" y="0"/>
                  </a:lnTo>
                  <a:cubicBezTo>
                    <a:pt x="1100355" y="0"/>
                    <a:pt x="1143000" y="42645"/>
                    <a:pt x="1143000" y="95250"/>
                  </a:cubicBezTo>
                  <a:lnTo>
                    <a:pt x="1143000" y="628650"/>
                  </a:lnTo>
                  <a:cubicBezTo>
                    <a:pt x="1143000" y="681255"/>
                    <a:pt x="1100355" y="723900"/>
                    <a:pt x="10477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50869" y="36166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810625" y="18859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239375" y="224790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810625" y="36957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857250" y="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239125" y="224790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108585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743950" y="2295525"/>
              <a:ext cx="990600" cy="990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877300" y="2428875"/>
              <a:ext cx="723900" cy="7239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07602" y="2562225"/>
              <a:ext cx="463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71788" y="28474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智能闭环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810625" y="1885950"/>
              <a:ext cx="123825" cy="495300"/>
            </a:xfrm>
            <a:custGeom>
              <a:avLst/>
              <a:gdLst/>
              <a:ahLst/>
              <a:cxnLst/>
              <a:rect l="l" t="t" r="r" b="b"/>
              <a:pathLst>
                <a:path w="123825" h="495300">
                  <a:moveTo>
                    <a:pt x="0" y="0"/>
                  </a:moveTo>
                  <a:lnTo>
                    <a:pt x="123825" y="495300"/>
                  </a:lnTo>
                </a:path>
              </a:pathLst>
            </a:custGeom>
            <a:noFill/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9544050" y="1885950"/>
              <a:ext cx="123825" cy="495300"/>
            </a:xfrm>
            <a:custGeom>
              <a:avLst/>
              <a:gdLst/>
              <a:ahLst/>
              <a:cxnLst/>
              <a:rect l="l" t="t" r="r" b="b"/>
              <a:pathLst>
                <a:path w="123825" h="495300">
                  <a:moveTo>
                    <a:pt x="123825" y="0"/>
                  </a:moveTo>
                  <a:lnTo>
                    <a:pt x="0" y="495300"/>
                  </a:lnTo>
                </a:path>
              </a:pathLst>
            </a:custGeom>
            <a:noFill/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810625" y="3200400"/>
              <a:ext cx="123825" cy="495300"/>
            </a:xfrm>
            <a:custGeom>
              <a:avLst/>
              <a:gdLst/>
              <a:ahLst/>
              <a:cxnLst/>
              <a:rect l="l" t="t" r="r" b="b"/>
              <a:pathLst>
                <a:path w="123825" h="495300">
                  <a:moveTo>
                    <a:pt x="0" y="495300"/>
                  </a:moveTo>
                  <a:lnTo>
                    <a:pt x="123825" y="0"/>
                  </a:lnTo>
                </a:path>
              </a:pathLst>
            </a:custGeom>
            <a:noFill/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544050" y="3200400"/>
              <a:ext cx="123825" cy="495300"/>
            </a:xfrm>
            <a:custGeom>
              <a:avLst/>
              <a:gdLst/>
              <a:ahLst/>
              <a:cxnLst/>
              <a:rect l="l" t="t" r="r" b="b"/>
              <a:pathLst>
                <a:path w="123825" h="495300">
                  <a:moveTo>
                    <a:pt x="123825" y="4953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>
                  <a:alpha val="55000"/>
                </a:schemeClr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286375" y="2676525"/>
            <a:ext cx="6076340" cy="2809875"/>
            <a:chOff x="5286375" y="2676525"/>
            <a:chExt cx="6076340" cy="2809875"/>
          </a:xfrm>
        </p:grpSpPr>
        <p:sp>
          <p:nvSpPr>
            <p:cNvPr id="47" name="Freeform 47"/>
            <p:cNvSpPr/>
            <p:nvPr/>
          </p:nvSpPr>
          <p:spPr>
            <a:xfrm>
              <a:off x="7477125" y="4933950"/>
              <a:ext cx="3524250" cy="552450"/>
            </a:xfrm>
            <a:custGeom>
              <a:avLst/>
              <a:gdLst/>
              <a:ahLst/>
              <a:cxnLst/>
              <a:rect l="l" t="t" r="r" b="b"/>
              <a:pathLst>
                <a:path w="3524250" h="552450">
                  <a:moveTo>
                    <a:pt x="95250" y="0"/>
                  </a:moveTo>
                  <a:lnTo>
                    <a:pt x="3429000" y="0"/>
                  </a:lnTo>
                  <a:cubicBezTo>
                    <a:pt x="3481605" y="0"/>
                    <a:pt x="3524250" y="42645"/>
                    <a:pt x="3524250" y="95250"/>
                  </a:cubicBezTo>
                  <a:lnTo>
                    <a:pt x="3524250" y="457200"/>
                  </a:lnTo>
                  <a:cubicBezTo>
                    <a:pt x="3524250" y="509805"/>
                    <a:pt x="3481605" y="552450"/>
                    <a:pt x="342900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00391" y="5039678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00391" y="5239702"/>
              <a:ext cx="3662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统一营销数据入口，以 AI 驱动洞察、动作与增长反馈。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334000" y="27241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cubicBezTo>
                    <a:pt x="857250" y="0"/>
                    <a:pt x="1285875" y="0"/>
                    <a:pt x="1905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51" name="Ellipse 51"/>
            <p:cNvSpPr/>
            <p:nvPr/>
          </p:nvSpPr>
          <p:spPr>
            <a:xfrm>
              <a:off x="5286375" y="2676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191375" y="26765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476250"/>
            <a:ext cx="12858750" cy="7810500"/>
            <a:chOff x="0" y="-476250"/>
            <a:chExt cx="12858750" cy="781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143875" y="-476250"/>
              <a:ext cx="3429000" cy="3429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858250" y="3333750"/>
              <a:ext cx="4000500" cy="4000500"/>
            </a:xfrm>
            <a:prstGeom prst="ellips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1162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343852"/>
            <a:ext cx="11048429" cy="6167914"/>
            <a:chOff x="557784" y="343852"/>
            <a:chExt cx="11048429" cy="61679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43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419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本次简报聚焦五件事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3498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7452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1390650"/>
            <a:ext cx="11049000" cy="4324350"/>
            <a:chOff x="571500" y="1390650"/>
            <a:chExt cx="11049000" cy="4324350"/>
          </a:xfrm>
        </p:grpSpPr>
        <p:sp>
          <p:nvSpPr>
            <p:cNvPr id="13" name="Freeform 13"/>
            <p:cNvSpPr/>
            <p:nvPr/>
          </p:nvSpPr>
          <p:spPr>
            <a:xfrm>
              <a:off x="571500" y="1390650"/>
              <a:ext cx="3238500" cy="4324350"/>
            </a:xfrm>
            <a:custGeom>
              <a:avLst/>
              <a:gdLst/>
              <a:ahLst/>
              <a:cxnLst/>
              <a:rect l="l" t="t" r="r" b="b"/>
              <a:pathLst>
                <a:path w="3238500" h="4324350">
                  <a:moveTo>
                    <a:pt x="133350" y="0"/>
                  </a:moveTo>
                  <a:lnTo>
                    <a:pt x="3105150" y="0"/>
                  </a:lnTo>
                  <a:cubicBezTo>
                    <a:pt x="3178797" y="0"/>
                    <a:pt x="3238500" y="59703"/>
                    <a:pt x="3238500" y="133350"/>
                  </a:cubicBezTo>
                  <a:lnTo>
                    <a:pt x="3238500" y="4191000"/>
                  </a:lnTo>
                  <a:cubicBezTo>
                    <a:pt x="3238500" y="4264647"/>
                    <a:pt x="3178797" y="4324350"/>
                    <a:pt x="3105150" y="4324350"/>
                  </a:cubicBezTo>
                  <a:lnTo>
                    <a:pt x="133350" y="4324350"/>
                  </a:lnTo>
                  <a:cubicBezTo>
                    <a:pt x="59703" y="4324350"/>
                    <a:pt x="0" y="4264647"/>
                    <a:pt x="0" y="419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16287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我们将依次审视行业关键变化、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1914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新旧范式对比、实证效果、量化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2200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收益与增长分析，最后给出明确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2486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的下一步。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" y="272415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95350" y="3048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8042" y="2997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数据孤岛、决策延迟、执行断层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95350" y="35814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8042" y="3397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从依赖人工经验到以模型驱动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042" y="3626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实时决策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95350" y="4305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8042" y="42548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三个高可信度的企业数据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98042" y="4788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核心运营指标的跃升与财务影响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229100" y="1390650"/>
              <a:ext cx="7391400" cy="4324350"/>
            </a:xfrm>
            <a:custGeom>
              <a:avLst/>
              <a:gdLst/>
              <a:ahLst/>
              <a:cxnLst/>
              <a:rect l="l" t="t" r="r" b="b"/>
              <a:pathLst>
                <a:path w="7391400" h="4324350">
                  <a:moveTo>
                    <a:pt x="133350" y="0"/>
                  </a:moveTo>
                  <a:lnTo>
                    <a:pt x="7258050" y="0"/>
                  </a:lnTo>
                  <a:cubicBezTo>
                    <a:pt x="7331697" y="0"/>
                    <a:pt x="7391400" y="59703"/>
                    <a:pt x="7391400" y="133350"/>
                  </a:cubicBezTo>
                  <a:lnTo>
                    <a:pt x="7391400" y="4191000"/>
                  </a:lnTo>
                  <a:cubicBezTo>
                    <a:pt x="7391400" y="4264647"/>
                    <a:pt x="7331697" y="4324350"/>
                    <a:pt x="7258050" y="4324350"/>
                  </a:cubicBezTo>
                  <a:lnTo>
                    <a:pt x="133350" y="4324350"/>
                  </a:lnTo>
                  <a:cubicBezTo>
                    <a:pt x="59703" y="4324350"/>
                    <a:pt x="0" y="4264647"/>
                    <a:pt x="0" y="419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552950" y="1676400"/>
              <a:ext cx="1028700" cy="3752850"/>
            </a:xfrm>
            <a:custGeom>
              <a:avLst/>
              <a:gdLst/>
              <a:ahLst/>
              <a:cxnLst/>
              <a:rect l="l" t="t" r="r" b="b"/>
              <a:pathLst>
                <a:path w="1028700" h="3752850">
                  <a:moveTo>
                    <a:pt x="514350" y="0"/>
                  </a:moveTo>
                  <a:lnTo>
                    <a:pt x="514350" y="0"/>
                  </a:lnTo>
                  <a:cubicBezTo>
                    <a:pt x="798418" y="0"/>
                    <a:pt x="1028700" y="230282"/>
                    <a:pt x="1028700" y="514350"/>
                  </a:cubicBezTo>
                  <a:lnTo>
                    <a:pt x="1028700" y="3238500"/>
                  </a:lnTo>
                  <a:cubicBezTo>
                    <a:pt x="1028700" y="3522568"/>
                    <a:pt x="798418" y="3752850"/>
                    <a:pt x="514350" y="3752850"/>
                  </a:cubicBezTo>
                  <a:lnTo>
                    <a:pt x="514350" y="3752850"/>
                  </a:lnTo>
                  <a:cubicBezTo>
                    <a:pt x="230282" y="3752850"/>
                    <a:pt x="0" y="3522568"/>
                    <a:pt x="0" y="3238500"/>
                  </a:cubicBezTo>
                  <a:lnTo>
                    <a:pt x="0" y="514350"/>
                  </a:lnTo>
                  <a:cubicBezTo>
                    <a:pt x="0" y="230282"/>
                    <a:pt x="230282" y="0"/>
                    <a:pt x="5143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54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067300" y="209550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991100" y="20193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991100" y="27432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991100" y="34671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991100" y="41910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991100" y="4914900"/>
              <a:ext cx="152400" cy="152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92569" y="20554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92569" y="27793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92569" y="35032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2569" y="42271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92569" y="4951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219700" y="20955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5219700" y="28194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219700" y="35433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5219700" y="42672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219700" y="49911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5657850" y="1809750"/>
              <a:ext cx="5581650" cy="571500"/>
            </a:xfrm>
            <a:custGeom>
              <a:avLst/>
              <a:gdLst/>
              <a:ahLst/>
              <a:cxnLst/>
              <a:rect l="l" t="t" r="r" b="b"/>
              <a:pathLst>
                <a:path w="5581650" h="571500">
                  <a:moveTo>
                    <a:pt x="95250" y="0"/>
                  </a:moveTo>
                  <a:lnTo>
                    <a:pt x="5486400" y="0"/>
                  </a:lnTo>
                  <a:cubicBezTo>
                    <a:pt x="5539005" y="0"/>
                    <a:pt x="5581650" y="42645"/>
                    <a:pt x="5581650" y="95250"/>
                  </a:cubicBezTo>
                  <a:lnTo>
                    <a:pt x="5581650" y="476250"/>
                  </a:lnTo>
                  <a:cubicBezTo>
                    <a:pt x="5581650" y="528855"/>
                    <a:pt x="5539005" y="571500"/>
                    <a:pt x="54864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657850" y="2533650"/>
              <a:ext cx="5581650" cy="571500"/>
            </a:xfrm>
            <a:custGeom>
              <a:avLst/>
              <a:gdLst/>
              <a:ahLst/>
              <a:cxnLst/>
              <a:rect l="l" t="t" r="r" b="b"/>
              <a:pathLst>
                <a:path w="5581650" h="571500">
                  <a:moveTo>
                    <a:pt x="95250" y="0"/>
                  </a:moveTo>
                  <a:lnTo>
                    <a:pt x="5486400" y="0"/>
                  </a:lnTo>
                  <a:cubicBezTo>
                    <a:pt x="5539005" y="0"/>
                    <a:pt x="5581650" y="42645"/>
                    <a:pt x="5581650" y="95250"/>
                  </a:cubicBezTo>
                  <a:lnTo>
                    <a:pt x="5581650" y="476250"/>
                  </a:lnTo>
                  <a:cubicBezTo>
                    <a:pt x="5581650" y="528855"/>
                    <a:pt x="5539005" y="571500"/>
                    <a:pt x="54864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657850" y="3257550"/>
              <a:ext cx="5581650" cy="571500"/>
            </a:xfrm>
            <a:custGeom>
              <a:avLst/>
              <a:gdLst/>
              <a:ahLst/>
              <a:cxnLst/>
              <a:rect l="l" t="t" r="r" b="b"/>
              <a:pathLst>
                <a:path w="5581650" h="571500">
                  <a:moveTo>
                    <a:pt x="95250" y="0"/>
                  </a:moveTo>
                  <a:lnTo>
                    <a:pt x="5486400" y="0"/>
                  </a:lnTo>
                  <a:cubicBezTo>
                    <a:pt x="5539005" y="0"/>
                    <a:pt x="5581650" y="42645"/>
                    <a:pt x="5581650" y="95250"/>
                  </a:cubicBezTo>
                  <a:lnTo>
                    <a:pt x="5581650" y="476250"/>
                  </a:lnTo>
                  <a:cubicBezTo>
                    <a:pt x="5581650" y="528855"/>
                    <a:pt x="5539005" y="571500"/>
                    <a:pt x="54864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5657850" y="3981450"/>
              <a:ext cx="5581650" cy="571500"/>
            </a:xfrm>
            <a:custGeom>
              <a:avLst/>
              <a:gdLst/>
              <a:ahLst/>
              <a:cxnLst/>
              <a:rect l="l" t="t" r="r" b="b"/>
              <a:pathLst>
                <a:path w="5581650" h="571500">
                  <a:moveTo>
                    <a:pt x="95250" y="0"/>
                  </a:moveTo>
                  <a:lnTo>
                    <a:pt x="5486400" y="0"/>
                  </a:lnTo>
                  <a:cubicBezTo>
                    <a:pt x="5539005" y="0"/>
                    <a:pt x="5581650" y="42645"/>
                    <a:pt x="5581650" y="95250"/>
                  </a:cubicBezTo>
                  <a:lnTo>
                    <a:pt x="5581650" y="476250"/>
                  </a:lnTo>
                  <a:cubicBezTo>
                    <a:pt x="5581650" y="528855"/>
                    <a:pt x="5539005" y="571500"/>
                    <a:pt x="54864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5657850" y="4705350"/>
              <a:ext cx="5581650" cy="571500"/>
            </a:xfrm>
            <a:custGeom>
              <a:avLst/>
              <a:gdLst/>
              <a:ahLst/>
              <a:cxnLst/>
              <a:rect l="l" t="t" r="r" b="b"/>
              <a:pathLst>
                <a:path w="5581650" h="571500">
                  <a:moveTo>
                    <a:pt x="95250" y="0"/>
                  </a:moveTo>
                  <a:lnTo>
                    <a:pt x="5486400" y="0"/>
                  </a:lnTo>
                  <a:cubicBezTo>
                    <a:pt x="5539005" y="0"/>
                    <a:pt x="5581650" y="42645"/>
                    <a:pt x="5581650" y="95250"/>
                  </a:cubicBezTo>
                  <a:lnTo>
                    <a:pt x="5581650" y="476250"/>
                  </a:lnTo>
                  <a:cubicBezTo>
                    <a:pt x="5581650" y="528855"/>
                    <a:pt x="5539005" y="571500"/>
                    <a:pt x="54864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5406" y="1834515"/>
              <a:ext cx="3781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数据孤岛、决策延迟、执行断层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19216" y="21155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数据孤岛、决策延迟、执行断层正迫使营销体系重构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15406" y="2558415"/>
              <a:ext cx="3513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从人工经验走向模型驱动决策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19216" y="28394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从依赖人工经验到以模型驱动实时决策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15406" y="3282315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三个高可信度的企业数据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9216" y="35633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展示立即可复现的效果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15406" y="4006215"/>
              <a:ext cx="3781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核心运营指标的跃升与财务影响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19216" y="42872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量化四个模块带来的回报空间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15406" y="4730115"/>
              <a:ext cx="3781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关键增长杠杆的现状与优化空间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919216" y="50111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形成优先级清单，并落到下一步行动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5848350"/>
            <a:ext cx="11049000" cy="263461"/>
            <a:chOff x="571500" y="5848350"/>
            <a:chExt cx="11049000" cy="263461"/>
          </a:xfrm>
        </p:grpSpPr>
        <p:sp>
          <p:nvSpPr>
            <p:cNvPr id="62" name="Freeform 62"/>
            <p:cNvSpPr/>
            <p:nvPr/>
          </p:nvSpPr>
          <p:spPr>
            <a:xfrm>
              <a:off x="571500" y="5848350"/>
              <a:ext cx="11049000" cy="247650"/>
            </a:xfrm>
            <a:custGeom>
              <a:avLst/>
              <a:gdLst/>
              <a:ahLst/>
              <a:cxnLst/>
              <a:rect l="l" t="t" r="r" b="b"/>
              <a:pathLst>
                <a:path w="11049000" h="24765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190500"/>
                  </a:lnTo>
                  <a:cubicBezTo>
                    <a:pt x="11049000" y="222063"/>
                    <a:pt x="11023413" y="247650"/>
                    <a:pt x="1099185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62279" y="59064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按“问题识别 → 范式切换 → 案例验证 → 回报测算 → 行动建议”推进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8763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810500" y="1524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810500" y="4953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943850" y="1524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163050" y="1524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82250" y="1524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6166" y="439102"/>
            <a:ext cx="11059096" cy="6225064"/>
            <a:chOff x="566166" y="439102"/>
            <a:chExt cx="11059096" cy="6225064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43910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72181" y="4633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65022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99703" y="6502241"/>
              <a:ext cx="1425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attention_is_all_you_need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7784" y="1137285"/>
            <a:ext cx="11062716" cy="4882515"/>
            <a:chOff x="557784" y="1137285"/>
            <a:chExt cx="11062716" cy="4882515"/>
          </a:xfrm>
        </p:grpSpPr>
        <p:sp>
          <p:nvSpPr>
            <p:cNvPr id="18" name="TextBox 18"/>
            <p:cNvSpPr txBox="1"/>
            <p:nvPr/>
          </p:nvSpPr>
          <p:spPr>
            <a:xfrm>
              <a:off x="557784" y="1137285"/>
              <a:ext cx="5672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为什么现在的营销体系必须升级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1809750"/>
              <a:ext cx="6858000" cy="3143250"/>
            </a:xfrm>
            <a:custGeom>
              <a:avLst/>
              <a:gdLst/>
              <a:ahLst/>
              <a:cxnLst/>
              <a:rect l="l" t="t" r="r" b="b"/>
              <a:pathLst>
                <a:path w="6858000" h="3143250">
                  <a:moveTo>
                    <a:pt x="114300" y="0"/>
                  </a:moveTo>
                  <a:lnTo>
                    <a:pt x="6743700" y="0"/>
                  </a:lnTo>
                  <a:cubicBezTo>
                    <a:pt x="6806826" y="0"/>
                    <a:pt x="6858000" y="51174"/>
                    <a:pt x="6858000" y="114300"/>
                  </a:cubicBezTo>
                  <a:lnTo>
                    <a:pt x="6858000" y="3028950"/>
                  </a:lnTo>
                  <a:cubicBezTo>
                    <a:pt x="6858000" y="3092076"/>
                    <a:pt x="6806826" y="3143250"/>
                    <a:pt x="6743700" y="3143250"/>
                  </a:cubicBezTo>
                  <a:lnTo>
                    <a:pt x="114300" y="3143250"/>
                  </a:lnTo>
                  <a:cubicBezTo>
                    <a:pt x="51174" y="3143250"/>
                    <a:pt x="0" y="3092076"/>
                    <a:pt x="0" y="3028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1809750"/>
              <a:ext cx="114300" cy="3143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0694" y="2246948"/>
              <a:ext cx="35146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传统方式已触及增长天花板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1456" y="28155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客户触点碎片化、响应速度跟不上、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1456" y="31965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执行链路断裂，营销体系需要从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1456" y="3577590"/>
              <a:ext cx="4709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离散人工协同升级为一体化 AI 工作台。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71500" y="5219700"/>
              <a:ext cx="6858000" cy="800100"/>
            </a:xfrm>
            <a:custGeom>
              <a:avLst/>
              <a:gdLst/>
              <a:ahLst/>
              <a:cxnLst/>
              <a:rect l="l" t="t" r="r" b="b"/>
              <a:pathLst>
                <a:path w="6858000" h="800100">
                  <a:moveTo>
                    <a:pt x="114300" y="0"/>
                  </a:moveTo>
                  <a:lnTo>
                    <a:pt x="6743700" y="0"/>
                  </a:lnTo>
                  <a:cubicBezTo>
                    <a:pt x="6806826" y="0"/>
                    <a:pt x="6858000" y="51174"/>
                    <a:pt x="6858000" y="114300"/>
                  </a:cubicBezTo>
                  <a:lnTo>
                    <a:pt x="6858000" y="685800"/>
                  </a:lnTo>
                  <a:cubicBezTo>
                    <a:pt x="6858000" y="748926"/>
                    <a:pt x="6806826" y="800100"/>
                    <a:pt x="6743700" y="800100"/>
                  </a:cubicBezTo>
                  <a:lnTo>
                    <a:pt x="114300" y="800100"/>
                  </a:lnTo>
                  <a:cubicBezTo>
                    <a:pt x="51174" y="800100"/>
                    <a:pt x="0" y="748926"/>
                    <a:pt x="0" y="685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00100" y="5448300"/>
              <a:ext cx="342900" cy="342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5350" y="5553075"/>
              <a:ext cx="161925" cy="123825"/>
            </a:xfrm>
            <a:custGeom>
              <a:avLst/>
              <a:gdLst/>
              <a:ahLst/>
              <a:cxnLst/>
              <a:rect l="l" t="t" r="r" b="b"/>
              <a:pathLst>
                <a:path w="161925" h="123825">
                  <a:moveTo>
                    <a:pt x="0" y="66675"/>
                  </a:moveTo>
                  <a:lnTo>
                    <a:pt x="57150" y="123825"/>
                  </a:lnTo>
                  <a:lnTo>
                    <a:pt x="161925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87018" y="5374958"/>
              <a:ext cx="2998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升级目标不是“多一个工具”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88542" y="56645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而是把数据、分析、执行、度量连成闭环，形成可持续优化系统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810500" y="1714500"/>
              <a:ext cx="3810000" cy="1047750"/>
            </a:xfrm>
            <a:custGeom>
              <a:avLst/>
              <a:gdLst/>
              <a:ahLst/>
              <a:cxnLst/>
              <a:rect l="l" t="t" r="r" b="b"/>
              <a:pathLst>
                <a:path w="3810000" h="104775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933450"/>
                  </a:lnTo>
                  <a:cubicBezTo>
                    <a:pt x="3810000" y="996576"/>
                    <a:pt x="3758826" y="1047750"/>
                    <a:pt x="3695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020050" y="194310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096250" y="2019300"/>
              <a:ext cx="171450" cy="180975"/>
            </a:xfrm>
            <a:custGeom>
              <a:avLst/>
              <a:gdLst/>
              <a:ahLst/>
              <a:cxnLst/>
              <a:rect l="l" t="t" r="r" b="b"/>
              <a:pathLst>
                <a:path w="171450" h="180975">
                  <a:moveTo>
                    <a:pt x="0" y="114300"/>
                  </a:moveTo>
                  <a:cubicBezTo>
                    <a:pt x="38100" y="19050"/>
                    <a:pt x="114300" y="0"/>
                    <a:pt x="152400" y="57150"/>
                  </a:cubicBezTo>
                  <a:cubicBezTo>
                    <a:pt x="171450" y="95250"/>
                    <a:pt x="152400" y="142875"/>
                    <a:pt x="114300" y="161925"/>
                  </a:cubicBezTo>
                  <a:cubicBezTo>
                    <a:pt x="76200" y="180975"/>
                    <a:pt x="19050" y="161925"/>
                    <a:pt x="0" y="114300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248650" y="21812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68868" y="18792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数据孤岛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0392" y="2197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客户画像不完整，难以形成统一洞察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810500" y="2905125"/>
              <a:ext cx="3810000" cy="1047750"/>
            </a:xfrm>
            <a:custGeom>
              <a:avLst/>
              <a:gdLst/>
              <a:ahLst/>
              <a:cxnLst/>
              <a:rect l="l" t="t" r="r" b="b"/>
              <a:pathLst>
                <a:path w="3810000" h="104775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933450"/>
                  </a:lnTo>
                  <a:cubicBezTo>
                    <a:pt x="3810000" y="996576"/>
                    <a:pt x="3758826" y="1047750"/>
                    <a:pt x="3695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020050" y="3133725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72450" y="3190875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0" y="0"/>
                  </a:moveTo>
                  <a:lnTo>
                    <a:pt x="0" y="104775"/>
                  </a:lnTo>
                  <a:lnTo>
                    <a:pt x="76200" y="1428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9" name="Ellipse 39"/>
            <p:cNvSpPr/>
            <p:nvPr/>
          </p:nvSpPr>
          <p:spPr>
            <a:xfrm>
              <a:off x="8105775" y="3219450"/>
              <a:ext cx="133350" cy="1333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68868" y="3069908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决策延迟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70392" y="33880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人工决策周期长，错失实时触达窗口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810500" y="4095750"/>
              <a:ext cx="3810000" cy="1047750"/>
            </a:xfrm>
            <a:custGeom>
              <a:avLst/>
              <a:gdLst/>
              <a:ahLst/>
              <a:cxnLst/>
              <a:rect l="l" t="t" r="r" b="b"/>
              <a:pathLst>
                <a:path w="3810000" h="104775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933450"/>
                  </a:lnTo>
                  <a:cubicBezTo>
                    <a:pt x="3810000" y="996576"/>
                    <a:pt x="3758826" y="1047750"/>
                    <a:pt x="3695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020050" y="4324350"/>
              <a:ext cx="304800" cy="3048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86725" y="44005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0" y="76200"/>
                  </a:moveTo>
                  <a:lnTo>
                    <a:pt x="76200" y="0"/>
                  </a:lnTo>
                  <a:lnTo>
                    <a:pt x="161925" y="76200"/>
                  </a:lnTo>
                  <a:lnTo>
                    <a:pt x="76200" y="1524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8248650" y="447675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68868" y="426053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执行断层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0392" y="4578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执行反馈滞后，无法快速迭代优化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429500" y="23336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629525" y="22955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429500" y="34290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629525" y="33909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429500" y="452437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7629525" y="44862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66738" y="1263491"/>
            <a:ext cx="8118348" cy="485775"/>
            <a:chOff x="566738" y="1263491"/>
            <a:chExt cx="8118348" cy="485775"/>
          </a:xfrm>
        </p:grpSpPr>
        <p:sp>
          <p:nvSpPr>
            <p:cNvPr id="55" name="TextBox 55"/>
            <p:cNvSpPr txBox="1"/>
            <p:nvPr/>
          </p:nvSpPr>
          <p:spPr>
            <a:xfrm>
              <a:off x="7824788" y="1263491"/>
              <a:ext cx="8602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INSIGHT DRIVERS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738" y="1587341"/>
              <a:ext cx="1411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PRIMARY JUDGEMENT ZONE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362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504950"/>
              <a:ext cx="9525" cy="4229100"/>
            </a:xfrm>
            <a:custGeom>
              <a:avLst/>
              <a:gdLst/>
              <a:ahLst/>
              <a:cxnLst/>
              <a:rect l="l" t="t" r="r" b="b"/>
              <a:pathLst>
                <a:path w="9525" h="4229100">
                  <a:moveTo>
                    <a:pt x="0" y="0"/>
                  </a:moveTo>
                  <a:lnTo>
                    <a:pt x="0" y="42291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39102"/>
            <a:ext cx="11067479" cy="6244114"/>
            <a:chOff x="557784" y="439102"/>
            <a:chExt cx="11067479" cy="62441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391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2293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两种范式的差别到底有多大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5212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3880" y="1247775"/>
            <a:ext cx="11056620" cy="4699826"/>
            <a:chOff x="563880" y="1247775"/>
            <a:chExt cx="11056620" cy="4699826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247775"/>
              <a:ext cx="7024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传统营销依赖人海战术与固定规则，AI工作台则通过数据闭环实现自优化。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733550"/>
              <a:ext cx="5295900" cy="2724150"/>
            </a:xfrm>
            <a:custGeom>
              <a:avLst/>
              <a:gdLst/>
              <a:ahLst/>
              <a:cxnLst/>
              <a:rect l="l" t="t" r="r" b="b"/>
              <a:pathLst>
                <a:path w="5295900" h="27241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2609850"/>
                  </a:lnTo>
                  <a:cubicBezTo>
                    <a:pt x="5295900" y="2672976"/>
                    <a:pt x="5244726" y="2724150"/>
                    <a:pt x="5181600" y="2724150"/>
                  </a:cubicBezTo>
                  <a:lnTo>
                    <a:pt x="114300" y="2724150"/>
                  </a:lnTo>
                  <a:cubicBezTo>
                    <a:pt x="51174" y="2724150"/>
                    <a:pt x="0" y="2672976"/>
                    <a:pt x="0" y="2609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324600" y="1733550"/>
              <a:ext cx="5295900" cy="2724150"/>
            </a:xfrm>
            <a:custGeom>
              <a:avLst/>
              <a:gdLst/>
              <a:ahLst/>
              <a:cxnLst/>
              <a:rect l="l" t="t" r="r" b="b"/>
              <a:pathLst>
                <a:path w="5295900" h="27241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2609850"/>
                  </a:lnTo>
                  <a:cubicBezTo>
                    <a:pt x="5295900" y="2672976"/>
                    <a:pt x="5244726" y="2724150"/>
                    <a:pt x="5181600" y="2724150"/>
                  </a:cubicBezTo>
                  <a:lnTo>
                    <a:pt x="114300" y="2724150"/>
                  </a:lnTo>
                  <a:cubicBezTo>
                    <a:pt x="51174" y="2724150"/>
                    <a:pt x="0" y="2672976"/>
                    <a:pt x="0" y="2609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1733550"/>
              <a:ext cx="5295900" cy="552450"/>
            </a:xfrm>
            <a:custGeom>
              <a:avLst/>
              <a:gdLst/>
              <a:ahLst/>
              <a:cxnLst/>
              <a:rect l="l" t="t" r="r" b="b"/>
              <a:pathLst>
                <a:path w="5295900" h="5524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438150"/>
                  </a:lnTo>
                  <a:cubicBezTo>
                    <a:pt x="5295900" y="501276"/>
                    <a:pt x="5244726" y="552450"/>
                    <a:pt x="51816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324600" y="1733550"/>
              <a:ext cx="5295900" cy="552450"/>
            </a:xfrm>
            <a:custGeom>
              <a:avLst/>
              <a:gdLst/>
              <a:ahLst/>
              <a:cxnLst/>
              <a:rect l="l" t="t" r="r" b="b"/>
              <a:pathLst>
                <a:path w="5295900" h="55245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438150"/>
                  </a:lnTo>
                  <a:cubicBezTo>
                    <a:pt x="5295900" y="501276"/>
                    <a:pt x="5244726" y="552450"/>
                    <a:pt x="51816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8294" y="18849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866" y="22298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基于规则的批量执行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1394" y="1884998"/>
              <a:ext cx="20886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AI营销工作台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85966" y="22298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模型驱动的实时决策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76300" y="26860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9180" y="2619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数据清洗耗时数周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76300" y="321945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180" y="3038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活动上线需跨部门沟通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180" y="32861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链路长、依赖人工协调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76300" y="388620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59180" y="38195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优化以月为周期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76300" y="4229100"/>
              <a:ext cx="76200" cy="7620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9180" y="4162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难以衡量真实增量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29400" y="268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12280" y="2619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数据自动融合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29400" y="32194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2280" y="3038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策略由模型推荐并自动执行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2280" y="32861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无需人工逐层推动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29400" y="3886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12280" y="38195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效果实时归因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29400" y="4229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2280" y="4162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分钟级迭代优化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71500" y="4724400"/>
              <a:ext cx="11049000" cy="1181100"/>
            </a:xfrm>
            <a:custGeom>
              <a:avLst/>
              <a:gdLst/>
              <a:ahLst/>
              <a:cxnLst/>
              <a:rect l="l" t="t" r="r" b="b"/>
              <a:pathLst>
                <a:path w="11049000" h="11811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066800"/>
                  </a:lnTo>
                  <a:cubicBezTo>
                    <a:pt x="11049000" y="1129926"/>
                    <a:pt x="10997826" y="1181100"/>
                    <a:pt x="10934700" y="1181100"/>
                  </a:cubicBezTo>
                  <a:lnTo>
                    <a:pt x="114300" y="1181100"/>
                  </a:lnTo>
                  <a:cubicBezTo>
                    <a:pt x="51174" y="1181100"/>
                    <a:pt x="0" y="1129926"/>
                    <a:pt x="0" y="1066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8294" y="4856798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关键变量对比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6126" y="4856798"/>
              <a:ext cx="17672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不同路径影响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38200" y="521970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000500" y="52197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162800" y="52197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1342" y="5416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决策逻辑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17242" y="54168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人工经验 + 固定规则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79542" y="54168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模型学习 + 实时反馈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41842" y="5416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窗口越晚，成本越高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1342" y="5683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优化节奏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17242" y="5683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月度复盘后调整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79542" y="5683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分钟级观测与重算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41842" y="5683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迭代越快，增量越可见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4629150" y="5334000"/>
              <a:ext cx="361950" cy="171450"/>
            </a:xfrm>
            <a:custGeom>
              <a:avLst/>
              <a:gdLst/>
              <a:ahLst/>
              <a:cxnLst/>
              <a:rect l="l" t="t" r="r" b="b"/>
              <a:pathLst>
                <a:path w="361950" h="171450">
                  <a:moveTo>
                    <a:pt x="85725" y="0"/>
                  </a:moveTo>
                  <a:lnTo>
                    <a:pt x="276225" y="0"/>
                  </a:lnTo>
                  <a:cubicBezTo>
                    <a:pt x="323570" y="0"/>
                    <a:pt x="361950" y="38380"/>
                    <a:pt x="361950" y="85725"/>
                  </a:cubicBezTo>
                  <a:lnTo>
                    <a:pt x="361950" y="85725"/>
                  </a:lnTo>
                  <a:cubicBezTo>
                    <a:pt x="361950" y="133070"/>
                    <a:pt x="323570" y="171450"/>
                    <a:pt x="276225" y="171450"/>
                  </a:cubicBezTo>
                  <a:lnTo>
                    <a:pt x="85725" y="171450"/>
                  </a:lnTo>
                  <a:cubicBezTo>
                    <a:pt x="38380" y="171450"/>
                    <a:pt x="0" y="133070"/>
                    <a:pt x="0" y="857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791450" y="5334000"/>
              <a:ext cx="361950" cy="171450"/>
            </a:xfrm>
            <a:custGeom>
              <a:avLst/>
              <a:gdLst/>
              <a:ahLst/>
              <a:cxnLst/>
              <a:rect l="l" t="t" r="r" b="b"/>
              <a:pathLst>
                <a:path w="361950" h="171450">
                  <a:moveTo>
                    <a:pt x="85725" y="0"/>
                  </a:moveTo>
                  <a:lnTo>
                    <a:pt x="276225" y="0"/>
                  </a:lnTo>
                  <a:cubicBezTo>
                    <a:pt x="323570" y="0"/>
                    <a:pt x="361950" y="38380"/>
                    <a:pt x="361950" y="85725"/>
                  </a:cubicBezTo>
                  <a:lnTo>
                    <a:pt x="361950" y="85725"/>
                  </a:lnTo>
                  <a:cubicBezTo>
                    <a:pt x="361950" y="133070"/>
                    <a:pt x="323570" y="171450"/>
                    <a:pt x="276225" y="171450"/>
                  </a:cubicBezTo>
                  <a:lnTo>
                    <a:pt x="85725" y="171450"/>
                  </a:lnTo>
                  <a:cubicBezTo>
                    <a:pt x="38380" y="171450"/>
                    <a:pt x="0" y="133070"/>
                    <a:pt x="0" y="857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49832" y="5368766"/>
              <a:ext cx="1205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12132" y="5368766"/>
              <a:ext cx="1205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新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829300" y="1257300"/>
            <a:ext cx="5791200" cy="1952625"/>
            <a:chOff x="5829300" y="1257300"/>
            <a:chExt cx="5791200" cy="1952625"/>
          </a:xfrm>
        </p:grpSpPr>
        <p:sp>
          <p:nvSpPr>
            <p:cNvPr id="59" name="Freeform 59"/>
            <p:cNvSpPr/>
            <p:nvPr/>
          </p:nvSpPr>
          <p:spPr>
            <a:xfrm>
              <a:off x="5829300" y="3095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cubicBezTo>
                    <a:pt x="171450" y="0"/>
                    <a:pt x="247650" y="0"/>
                    <a:pt x="38100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5981700" y="2981325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6048375" y="3048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76200" y="47625"/>
                  </a:lnTo>
                  <a:moveTo>
                    <a:pt x="47625" y="0"/>
                  </a:moveTo>
                  <a:lnTo>
                    <a:pt x="95250" y="47625"/>
                  </a:lnTo>
                  <a:lnTo>
                    <a:pt x="47625" y="9525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62" name="Freeform 62"/>
            <p:cNvSpPr/>
            <p:nvPr/>
          </p:nvSpPr>
          <p:spPr>
            <a:xfrm>
              <a:off x="10001250" y="1257300"/>
              <a:ext cx="1619250" cy="323850"/>
            </a:xfrm>
            <a:custGeom>
              <a:avLst/>
              <a:gdLst/>
              <a:ahLst/>
              <a:cxnLst/>
              <a:rect l="l" t="t" r="r" b="b"/>
              <a:pathLst>
                <a:path w="1619250" h="323850">
                  <a:moveTo>
                    <a:pt x="76200" y="0"/>
                  </a:moveTo>
                  <a:lnTo>
                    <a:pt x="1543050" y="0"/>
                  </a:lnTo>
                  <a:cubicBezTo>
                    <a:pt x="1585134" y="0"/>
                    <a:pt x="1619250" y="34116"/>
                    <a:pt x="1619250" y="76200"/>
                  </a:cubicBezTo>
                  <a:lnTo>
                    <a:pt x="1619250" y="247650"/>
                  </a:lnTo>
                  <a:cubicBezTo>
                    <a:pt x="1619250" y="289734"/>
                    <a:pt x="1585134" y="323850"/>
                    <a:pt x="154305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098786" y="13535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从批量执行到闭环决策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00100"/>
            <a:ext cx="12287250" cy="7658100"/>
            <a:chOff x="0" y="-800100"/>
            <a:chExt cx="12287250" cy="76581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648700" y="-800100"/>
              <a:ext cx="3429000" cy="3429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191750" y="-666750"/>
              <a:ext cx="2095500" cy="20955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352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0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629602"/>
            <a:ext cx="10972229" cy="6015514"/>
            <a:chOff x="557784" y="629602"/>
            <a:chExt cx="10972229" cy="60155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29602"/>
              <a:ext cx="900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8705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已经有企业跑通了这条路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983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1619250"/>
            <a:ext cx="11049000" cy="4038600"/>
            <a:chOff x="571500" y="1619250"/>
            <a:chExt cx="11049000" cy="4038600"/>
          </a:xfrm>
        </p:grpSpPr>
        <p:sp>
          <p:nvSpPr>
            <p:cNvPr id="13" name="Freeform 13"/>
            <p:cNvSpPr/>
            <p:nvPr/>
          </p:nvSpPr>
          <p:spPr>
            <a:xfrm>
              <a:off x="571500" y="1619250"/>
              <a:ext cx="11049000" cy="742950"/>
            </a:xfrm>
            <a:custGeom>
              <a:avLst/>
              <a:gdLst/>
              <a:ahLst/>
              <a:cxnLst/>
              <a:rect l="l" t="t" r="r" b="b"/>
              <a:pathLst>
                <a:path w="11049000" h="7429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28650"/>
                  </a:lnTo>
                  <a:cubicBezTo>
                    <a:pt x="11049000" y="691776"/>
                    <a:pt x="10997826" y="742950"/>
                    <a:pt x="10934700" y="742950"/>
                  </a:cubicBezTo>
                  <a:lnTo>
                    <a:pt x="114300" y="742950"/>
                  </a:lnTo>
                  <a:cubicBezTo>
                    <a:pt x="51174" y="742950"/>
                    <a:pt x="0" y="691776"/>
                    <a:pt x="0" y="628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8680" y="17621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以下数据来自三家大型消费品企业的真实部署，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8680" y="2028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部署周期均未超过三个月。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6098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81500" y="26098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191500" y="26098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0100" y="2838450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171450" y="0"/>
                  </a:moveTo>
                  <a:lnTo>
                    <a:pt x="723900" y="0"/>
                  </a:lnTo>
                  <a:cubicBezTo>
                    <a:pt x="818589" y="0"/>
                    <a:pt x="895350" y="76761"/>
                    <a:pt x="895350" y="171450"/>
                  </a:cubicBezTo>
                  <a:lnTo>
                    <a:pt x="895350" y="723900"/>
                  </a:lnTo>
                  <a:cubicBezTo>
                    <a:pt x="895350" y="818589"/>
                    <a:pt x="818589" y="895350"/>
                    <a:pt x="723900" y="895350"/>
                  </a:cubicBezTo>
                  <a:lnTo>
                    <a:pt x="171450" y="895350"/>
                  </a:lnTo>
                  <a:cubicBezTo>
                    <a:pt x="76761" y="895350"/>
                    <a:pt x="0" y="818589"/>
                    <a:pt x="0" y="723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10100" y="2838450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171450" y="0"/>
                  </a:moveTo>
                  <a:lnTo>
                    <a:pt x="723900" y="0"/>
                  </a:lnTo>
                  <a:cubicBezTo>
                    <a:pt x="818589" y="0"/>
                    <a:pt x="895350" y="76761"/>
                    <a:pt x="895350" y="171450"/>
                  </a:cubicBezTo>
                  <a:lnTo>
                    <a:pt x="895350" y="723900"/>
                  </a:lnTo>
                  <a:cubicBezTo>
                    <a:pt x="895350" y="818589"/>
                    <a:pt x="818589" y="895350"/>
                    <a:pt x="723900" y="895350"/>
                  </a:cubicBezTo>
                  <a:lnTo>
                    <a:pt x="171450" y="895350"/>
                  </a:lnTo>
                  <a:cubicBezTo>
                    <a:pt x="76761" y="895350"/>
                    <a:pt x="0" y="818589"/>
                    <a:pt x="0" y="723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420100" y="2838450"/>
              <a:ext cx="895350" cy="895350"/>
            </a:xfrm>
            <a:custGeom>
              <a:avLst/>
              <a:gdLst/>
              <a:ahLst/>
              <a:cxnLst/>
              <a:rect l="l" t="t" r="r" b="b"/>
              <a:pathLst>
                <a:path w="895350" h="895350">
                  <a:moveTo>
                    <a:pt x="171450" y="0"/>
                  </a:moveTo>
                  <a:lnTo>
                    <a:pt x="723900" y="0"/>
                  </a:lnTo>
                  <a:cubicBezTo>
                    <a:pt x="818589" y="0"/>
                    <a:pt x="895350" y="76761"/>
                    <a:pt x="895350" y="171450"/>
                  </a:cubicBezTo>
                  <a:lnTo>
                    <a:pt x="895350" y="723900"/>
                  </a:lnTo>
                  <a:cubicBezTo>
                    <a:pt x="895350" y="818589"/>
                    <a:pt x="818589" y="895350"/>
                    <a:pt x="723900" y="895350"/>
                  </a:cubicBezTo>
                  <a:lnTo>
                    <a:pt x="171450" y="895350"/>
                  </a:lnTo>
                  <a:cubicBezTo>
                    <a:pt x="76761" y="895350"/>
                    <a:pt x="0" y="818589"/>
                    <a:pt x="0" y="723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28700" y="2943225"/>
              <a:ext cx="495300" cy="533400"/>
            </a:xfrm>
            <a:custGeom>
              <a:avLst/>
              <a:gdLst/>
              <a:ahLst/>
              <a:cxnLst/>
              <a:rect l="l" t="t" r="r" b="b"/>
              <a:pathLst>
                <a:path w="495300" h="533400">
                  <a:moveTo>
                    <a:pt x="0" y="533400"/>
                  </a:moveTo>
                  <a:lnTo>
                    <a:pt x="0" y="209550"/>
                  </a:lnTo>
                  <a:lnTo>
                    <a:pt x="247650" y="0"/>
                  </a:lnTo>
                  <a:lnTo>
                    <a:pt x="495300" y="209550"/>
                  </a:lnTo>
                  <a:lnTo>
                    <a:pt x="495300" y="53340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33475" y="3181350"/>
              <a:ext cx="314325" cy="171450"/>
            </a:xfrm>
            <a:custGeom>
              <a:avLst/>
              <a:gdLst/>
              <a:ahLst/>
              <a:cxnLst/>
              <a:rect l="l" t="t" r="r" b="b"/>
              <a:pathLst>
                <a:path w="314325" h="171450">
                  <a:moveTo>
                    <a:pt x="0" y="171450"/>
                  </a:moveTo>
                  <a:lnTo>
                    <a:pt x="114300" y="57150"/>
                  </a:lnTo>
                  <a:lnTo>
                    <a:pt x="219075" y="133350"/>
                  </a:lnTo>
                  <a:lnTo>
                    <a:pt x="314325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24" name="Ellipse 24"/>
            <p:cNvSpPr/>
            <p:nvPr/>
          </p:nvSpPr>
          <p:spPr>
            <a:xfrm>
              <a:off x="1100138" y="33194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214438" y="32051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319212" y="328136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414462" y="31480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24425" y="3124200"/>
              <a:ext cx="571500" cy="533400"/>
            </a:xfrm>
            <a:custGeom>
              <a:avLst/>
              <a:gdLst/>
              <a:ahLst/>
              <a:cxnLst/>
              <a:rect l="l" t="t" r="r" b="b"/>
              <a:pathLst>
                <a:path w="571500" h="533400">
                  <a:moveTo>
                    <a:pt x="0" y="266700"/>
                  </a:moveTo>
                  <a:cubicBezTo>
                    <a:pt x="0" y="76200"/>
                    <a:pt x="152400" y="0"/>
                    <a:pt x="285750" y="0"/>
                  </a:cubicBezTo>
                  <a:cubicBezTo>
                    <a:pt x="419100" y="0"/>
                    <a:pt x="571500" y="76200"/>
                    <a:pt x="571500" y="266700"/>
                  </a:cubicBezTo>
                  <a:cubicBezTo>
                    <a:pt x="571500" y="457200"/>
                    <a:pt x="419100" y="533400"/>
                    <a:pt x="285750" y="533400"/>
                  </a:cubicBez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210175" y="3476625"/>
              <a:ext cx="9525" cy="180975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180975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067300" y="3171825"/>
              <a:ext cx="285750" cy="142875"/>
            </a:xfrm>
            <a:custGeom>
              <a:avLst/>
              <a:gdLst/>
              <a:ahLst/>
              <a:cxnLst/>
              <a:rect l="l" t="t" r="r" b="b"/>
              <a:pathLst>
                <a:path w="285750" h="142875">
                  <a:moveTo>
                    <a:pt x="0" y="142875"/>
                  </a:moveTo>
                  <a:lnTo>
                    <a:pt x="142875" y="0"/>
                  </a:lnTo>
                  <a:lnTo>
                    <a:pt x="285750" y="1428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1" name="Line 31"/>
            <p:cNvSpPr/>
            <p:nvPr/>
          </p:nvSpPr>
          <p:spPr>
            <a:xfrm>
              <a:off x="4953000" y="34671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50000" sp="250000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8715375" y="3048000"/>
              <a:ext cx="609600" cy="247650"/>
            </a:xfrm>
            <a:custGeom>
              <a:avLst/>
              <a:gdLst/>
              <a:ahLst/>
              <a:cxnLst/>
              <a:rect l="l" t="t" r="r" b="b"/>
              <a:pathLst>
                <a:path w="609600" h="247650">
                  <a:moveTo>
                    <a:pt x="0" y="180975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609600" y="666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3" name="Freeform 33"/>
            <p:cNvSpPr/>
            <p:nvPr/>
          </p:nvSpPr>
          <p:spPr>
            <a:xfrm>
              <a:off x="8715375" y="3248025"/>
              <a:ext cx="609600" cy="247650"/>
            </a:xfrm>
            <a:custGeom>
              <a:avLst/>
              <a:gdLst/>
              <a:ahLst/>
              <a:cxnLst/>
              <a:rect l="l" t="t" r="r" b="b"/>
              <a:pathLst>
                <a:path w="609600" h="247650">
                  <a:moveTo>
                    <a:pt x="0" y="180975"/>
                  </a:moveTo>
                  <a:lnTo>
                    <a:pt x="304800" y="0"/>
                  </a:lnTo>
                  <a:lnTo>
                    <a:pt x="304800" y="247650"/>
                  </a:lnTo>
                  <a:lnTo>
                    <a:pt x="609600" y="66675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20857" y="3530918"/>
              <a:ext cx="417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CAC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80616" y="2953702"/>
              <a:ext cx="586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4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CASE 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0616" y="2953702"/>
              <a:ext cx="586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4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CASE 02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00616" y="2953702"/>
              <a:ext cx="586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4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CASE 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70710" y="31432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80710" y="31432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90710" y="3143250"/>
              <a:ext cx="8593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79092" y="3569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转化率提升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89092" y="35690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响应速度提高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99092" y="35690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获客成本降低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1885950" y="39052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695950" y="39052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9505950" y="39052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878330" y="40386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某家电品牌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79092" y="4359592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动态推荐上线后，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79092" y="46072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详情页加购转化率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79092" y="4854892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由 4.2% 升至 5.5%。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88330" y="40386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某零售连锁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689092" y="43595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会员触达改为实时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89092" y="46072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事件触发后，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89092" y="485489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信息打开率提升至 38%。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98330" y="403860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某金融科技公司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99092" y="43595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通过模型优选渠道组合，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99092" y="4607242"/>
              <a:ext cx="1204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CAC 从 280 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99092" y="4854892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降至 210 元。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800100" y="5181600"/>
              <a:ext cx="2971800" cy="247650"/>
            </a:xfrm>
            <a:custGeom>
              <a:avLst/>
              <a:gdLst/>
              <a:ahLst/>
              <a:cxnLst/>
              <a:rect l="l" t="t" r="r" b="b"/>
              <a:pathLst>
                <a:path w="2971800" h="247650">
                  <a:moveTo>
                    <a:pt x="123825" y="0"/>
                  </a:moveTo>
                  <a:lnTo>
                    <a:pt x="2847975" y="0"/>
                  </a:lnTo>
                  <a:cubicBezTo>
                    <a:pt x="2916362" y="0"/>
                    <a:pt x="2971800" y="55438"/>
                    <a:pt x="2971800" y="123825"/>
                  </a:cubicBezTo>
                  <a:lnTo>
                    <a:pt x="2971800" y="123825"/>
                  </a:lnTo>
                  <a:cubicBezTo>
                    <a:pt x="2971800" y="192212"/>
                    <a:pt x="2916362" y="247650"/>
                    <a:pt x="28479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4610100" y="5181600"/>
              <a:ext cx="2971800" cy="247650"/>
            </a:xfrm>
            <a:custGeom>
              <a:avLst/>
              <a:gdLst/>
              <a:ahLst/>
              <a:cxnLst/>
              <a:rect l="l" t="t" r="r" b="b"/>
              <a:pathLst>
                <a:path w="2971800" h="247650">
                  <a:moveTo>
                    <a:pt x="123825" y="0"/>
                  </a:moveTo>
                  <a:lnTo>
                    <a:pt x="2847975" y="0"/>
                  </a:lnTo>
                  <a:cubicBezTo>
                    <a:pt x="2916362" y="0"/>
                    <a:pt x="2971800" y="55438"/>
                    <a:pt x="2971800" y="123825"/>
                  </a:cubicBezTo>
                  <a:lnTo>
                    <a:pt x="2971800" y="123825"/>
                  </a:lnTo>
                  <a:cubicBezTo>
                    <a:pt x="2971800" y="192212"/>
                    <a:pt x="2916362" y="247650"/>
                    <a:pt x="28479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420100" y="5181600"/>
              <a:ext cx="2971800" cy="247650"/>
            </a:xfrm>
            <a:custGeom>
              <a:avLst/>
              <a:gdLst/>
              <a:ahLst/>
              <a:cxnLst/>
              <a:rect l="l" t="t" r="r" b="b"/>
              <a:pathLst>
                <a:path w="2971800" h="247650">
                  <a:moveTo>
                    <a:pt x="123825" y="0"/>
                  </a:moveTo>
                  <a:lnTo>
                    <a:pt x="2847975" y="0"/>
                  </a:lnTo>
                  <a:cubicBezTo>
                    <a:pt x="2916362" y="0"/>
                    <a:pt x="2971800" y="55438"/>
                    <a:pt x="2971800" y="123825"/>
                  </a:cubicBezTo>
                  <a:lnTo>
                    <a:pt x="2971800" y="123825"/>
                  </a:lnTo>
                  <a:cubicBezTo>
                    <a:pt x="2971800" y="192212"/>
                    <a:pt x="2916362" y="247650"/>
                    <a:pt x="28479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5266" y="52397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部署周期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728216" y="52397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不超过 3 个月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795266" y="52397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触发机制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38216" y="52397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从人工排期切换到实时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05266" y="52397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优化对象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48216" y="52397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渠道组合与投放成本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5867400"/>
            <a:ext cx="11049000" cy="305181"/>
            <a:chOff x="571500" y="5867400"/>
            <a:chExt cx="11049000" cy="305181"/>
          </a:xfrm>
        </p:grpSpPr>
        <p:sp>
          <p:nvSpPr>
            <p:cNvPr id="69" name="Freeform 69"/>
            <p:cNvSpPr/>
            <p:nvPr/>
          </p:nvSpPr>
          <p:spPr>
            <a:xfrm>
              <a:off x="571500" y="5867400"/>
              <a:ext cx="11049000" cy="304800"/>
            </a:xfrm>
            <a:custGeom>
              <a:avLst/>
              <a:gdLst/>
              <a:ahLst/>
              <a:cxnLst/>
              <a:rect l="l" t="t" r="r" b="b"/>
              <a:pathLst>
                <a:path w="11049000" h="3048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209550"/>
                  </a:lnTo>
                  <a:cubicBezTo>
                    <a:pt x="11049000" y="262155"/>
                    <a:pt x="11006355" y="304800"/>
                    <a:pt x="10953750" y="304800"/>
                  </a:cubicBezTo>
                  <a:lnTo>
                    <a:pt x="95250" y="304800"/>
                  </a:lnTo>
                  <a:cubicBezTo>
                    <a:pt x="42645" y="304800"/>
                    <a:pt x="0" y="262155"/>
                    <a:pt x="0" y="209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62000" y="59817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7354" y="5937885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共同特征：以统一数据底座为前提，由模型驱动决策，再把执行与归因闭环打通。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229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46685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3657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172700" y="419100"/>
              <a:ext cx="800100" cy="800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325100" y="571500"/>
              <a:ext cx="495300" cy="495300"/>
            </a:xfrm>
            <a:prstGeom prst="ellipse">
              <a:avLst/>
            </a:prstGeom>
            <a:noFill/>
            <a:ln w="19050">
              <a:solidFill>
                <a:schemeClr val="accent3">
                  <a:alpha val="55000"/>
                </a:scheme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182350" y="1162050"/>
              <a:ext cx="190500" cy="1905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390049"/>
            <a:ext cx="11067479" cy="6293167"/>
            <a:chOff x="557784" y="390049"/>
            <a:chExt cx="11067479" cy="6293167"/>
          </a:xfrm>
        </p:grpSpPr>
        <p:sp>
          <p:nvSpPr>
            <p:cNvPr id="12" name="TextBox 12"/>
            <p:cNvSpPr txBox="1"/>
            <p:nvPr/>
          </p:nvSpPr>
          <p:spPr>
            <a:xfrm>
              <a:off x="566547" y="390049"/>
              <a:ext cx="970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9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784" y="6229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四个模块的量化回报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521291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产品发布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3880" y="1266825"/>
            <a:ext cx="11056620" cy="4331303"/>
            <a:chOff x="563880" y="1266825"/>
            <a:chExt cx="11056620" cy="4331303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1266825"/>
              <a:ext cx="723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数据整合、AI分析、自动化执行、效果度量分别带来明确的效率与利润提升。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71500" y="1676400"/>
              <a:ext cx="5295900" cy="1714500"/>
            </a:xfrm>
            <a:custGeom>
              <a:avLst/>
              <a:gdLst/>
              <a:ahLst/>
              <a:cxnLst/>
              <a:rect l="l" t="t" r="r" b="b"/>
              <a:pathLst>
                <a:path w="5295900" h="171450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600200"/>
                  </a:lnTo>
                  <a:cubicBezTo>
                    <a:pt x="5295900" y="1663326"/>
                    <a:pt x="5244726" y="1714500"/>
                    <a:pt x="51816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324600" y="1676400"/>
              <a:ext cx="5295900" cy="1714500"/>
            </a:xfrm>
            <a:custGeom>
              <a:avLst/>
              <a:gdLst/>
              <a:ahLst/>
              <a:cxnLst/>
              <a:rect l="l" t="t" r="r" b="b"/>
              <a:pathLst>
                <a:path w="5295900" h="171450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600200"/>
                  </a:lnTo>
                  <a:cubicBezTo>
                    <a:pt x="5295900" y="1663326"/>
                    <a:pt x="5244726" y="1714500"/>
                    <a:pt x="51816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3867150"/>
              <a:ext cx="5295900" cy="1714500"/>
            </a:xfrm>
            <a:custGeom>
              <a:avLst/>
              <a:gdLst/>
              <a:ahLst/>
              <a:cxnLst/>
              <a:rect l="l" t="t" r="r" b="b"/>
              <a:pathLst>
                <a:path w="5295900" h="171450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600200"/>
                  </a:lnTo>
                  <a:cubicBezTo>
                    <a:pt x="5295900" y="1663326"/>
                    <a:pt x="5244726" y="1714500"/>
                    <a:pt x="51816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324600" y="3867150"/>
              <a:ext cx="5295900" cy="1714500"/>
            </a:xfrm>
            <a:custGeom>
              <a:avLst/>
              <a:gdLst/>
              <a:ahLst/>
              <a:cxnLst/>
              <a:rect l="l" t="t" r="r" b="b"/>
              <a:pathLst>
                <a:path w="5295900" h="1714500">
                  <a:moveTo>
                    <a:pt x="114300" y="0"/>
                  </a:moveTo>
                  <a:lnTo>
                    <a:pt x="5181600" y="0"/>
                  </a:lnTo>
                  <a:cubicBezTo>
                    <a:pt x="5244726" y="0"/>
                    <a:pt x="5295900" y="51174"/>
                    <a:pt x="5295900" y="114300"/>
                  </a:cubicBezTo>
                  <a:lnTo>
                    <a:pt x="5295900" y="1600200"/>
                  </a:lnTo>
                  <a:cubicBezTo>
                    <a:pt x="5295900" y="1663326"/>
                    <a:pt x="5244726" y="1714500"/>
                    <a:pt x="51816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1676400"/>
              <a:ext cx="57150" cy="1714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676400"/>
              <a:ext cx="57150" cy="1714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71500" y="3867150"/>
              <a:ext cx="5715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3867150"/>
              <a:ext cx="57150" cy="1714500"/>
            </a:xfrm>
            <a:prstGeom prst="rect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1347" y="1933099"/>
              <a:ext cx="164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4447" y="1933099"/>
              <a:ext cx="164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347" y="4123849"/>
              <a:ext cx="164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4447" y="4123849"/>
              <a:ext cx="164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632" y="207835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8732" y="2078355"/>
              <a:ext cx="11067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AI分析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632" y="426910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8732" y="42691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298" y="2422208"/>
              <a:ext cx="15374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100万+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8880" y="2600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日均客户事件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3398" y="2422208"/>
              <a:ext cx="9023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92%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40980" y="2600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预测准确率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298" y="4612958"/>
              <a:ext cx="25019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7天 → 4小时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59480" y="47910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活动上线时间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3398" y="4612958"/>
              <a:ext cx="12787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2.3倍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21930" y="4791075"/>
              <a:ext cx="82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ROI提升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9823" y="29294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全渠道日志实时汇入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9823" y="3158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统一客户图谱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22923" y="2929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流失预测与高意向客户识别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2923" y="3158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近乎实时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9823" y="51201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营销编排由规则引擎升级为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9823" y="534876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模型自动调度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22923" y="51201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全链路归因替换最后点击模型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22923" y="534876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优化预算分配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76300" y="32194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629400" y="321945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876300" y="54102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629400" y="54102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219700" y="1866900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5276850" y="1943100"/>
              <a:ext cx="238125" cy="133350"/>
            </a:xfrm>
            <a:custGeom>
              <a:avLst/>
              <a:gdLst/>
              <a:ahLst/>
              <a:cxnLst/>
              <a:rect l="l" t="t" r="r" b="b"/>
              <a:pathLst>
                <a:path w="238125" h="133350">
                  <a:moveTo>
                    <a:pt x="0" y="133350"/>
                  </a:moveTo>
                  <a:lnTo>
                    <a:pt x="66675" y="66675"/>
                  </a:lnTo>
                  <a:lnTo>
                    <a:pt x="123825" y="123825"/>
                  </a:lnTo>
                  <a:lnTo>
                    <a:pt x="238125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56" name="Freeform 56"/>
            <p:cNvSpPr/>
            <p:nvPr/>
          </p:nvSpPr>
          <p:spPr>
            <a:xfrm>
              <a:off x="5248275" y="21621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972800" y="1866900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1010900" y="1962150"/>
              <a:ext cx="266700" cy="161925"/>
            </a:xfrm>
            <a:custGeom>
              <a:avLst/>
              <a:gdLst/>
              <a:ahLst/>
              <a:cxnLst/>
              <a:rect l="l" t="t" r="r" b="b"/>
              <a:pathLst>
                <a:path w="266700" h="161925">
                  <a:moveTo>
                    <a:pt x="0" y="161925"/>
                  </a:moveTo>
                  <a:lnTo>
                    <a:pt x="76200" y="85725"/>
                  </a:lnTo>
                  <a:lnTo>
                    <a:pt x="133350" y="114300"/>
                  </a:lnTo>
                  <a:lnTo>
                    <a:pt x="266700" y="0"/>
                  </a:lnTo>
                </a:path>
              </a:pathLst>
            </a:custGeom>
            <a:noFill/>
            <a:ln w="20955" cap="rnd">
              <a:solidFill>
                <a:schemeClr val="accent3"/>
              </a:solidFill>
              <a:round/>
            </a:ln>
          </p:spPr>
        </p:sp>
        <p:sp>
          <p:nvSpPr>
            <p:cNvPr id="59" name="Ellipse 59"/>
            <p:cNvSpPr/>
            <p:nvPr/>
          </p:nvSpPr>
          <p:spPr>
            <a:xfrm>
              <a:off x="11066145" y="2026920"/>
              <a:ext cx="41910" cy="4191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1123295" y="2055495"/>
              <a:ext cx="41910" cy="4191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1256645" y="1941195"/>
              <a:ext cx="41910" cy="4191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5219700" y="4057650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5257800" y="42767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5448300" y="4219575"/>
              <a:ext cx="57150" cy="114300"/>
            </a:xfrm>
            <a:custGeom>
              <a:avLst/>
              <a:gdLst/>
              <a:ahLst/>
              <a:cxnLst/>
              <a:rect l="l" t="t" r="r" b="b"/>
              <a:pathLst>
                <a:path w="57150" h="114300">
                  <a:moveTo>
                    <a:pt x="0" y="0"/>
                  </a:moveTo>
                  <a:lnTo>
                    <a:pt x="57150" y="57150"/>
                  </a:lnTo>
                  <a:lnTo>
                    <a:pt x="0" y="114300"/>
                  </a:lnTo>
                </a:path>
              </a:pathLst>
            </a:custGeom>
            <a:noFill/>
            <a:ln w="20955" cap="rnd">
              <a:solidFill>
                <a:schemeClr val="accent1"/>
              </a:solidFill>
              <a:round/>
            </a:ln>
          </p:spPr>
        </p:sp>
        <p:sp>
          <p:nvSpPr>
            <p:cNvPr id="65" name="Ellipse 65"/>
            <p:cNvSpPr/>
            <p:nvPr/>
          </p:nvSpPr>
          <p:spPr>
            <a:xfrm>
              <a:off x="10972800" y="4057650"/>
              <a:ext cx="342900" cy="342900"/>
            </a:xfrm>
            <a:prstGeom prst="ellipse">
              <a:avLst/>
            </a:prstGeom>
            <a:solidFill>
              <a:srgbClr val="EEF8F2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11029950" y="41910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114300"/>
                  </a:moveTo>
                  <a:lnTo>
                    <a:pt x="0" y="0"/>
                  </a:ln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noFill/>
            <a:ln w="19050">
              <a:solidFill>
                <a:srgbClr val="2F855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1182350" y="4133850"/>
              <a:ext cx="76200" cy="171450"/>
            </a:xfrm>
            <a:custGeom>
              <a:avLst/>
              <a:gdLst/>
              <a:ahLst/>
              <a:cxnLst/>
              <a:rect l="l" t="t" r="r" b="b"/>
              <a:pathLst>
                <a:path w="76200" h="171450">
                  <a:moveTo>
                    <a:pt x="0" y="17145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171450"/>
                  </a:lnTo>
                  <a:close/>
                </a:path>
              </a:pathLst>
            </a:custGeom>
            <a:noFill/>
            <a:ln w="19050">
              <a:solidFill>
                <a:srgbClr val="2F855A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571500" y="5791200"/>
            <a:ext cx="11049000" cy="305181"/>
            <a:chOff x="571500" y="5791200"/>
            <a:chExt cx="11049000" cy="305181"/>
          </a:xfrm>
        </p:grpSpPr>
        <p:sp>
          <p:nvSpPr>
            <p:cNvPr id="69" name="Freeform 69"/>
            <p:cNvSpPr/>
            <p:nvPr/>
          </p:nvSpPr>
          <p:spPr>
            <a:xfrm>
              <a:off x="571500" y="5791200"/>
              <a:ext cx="11049000" cy="304800"/>
            </a:xfrm>
            <a:custGeom>
              <a:avLst/>
              <a:gdLst/>
              <a:ahLst/>
              <a:cxnLst/>
              <a:rect l="l" t="t" r="r" b="b"/>
              <a:pathLst>
                <a:path w="11049000" h="3048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28600"/>
                  </a:lnTo>
                  <a:cubicBezTo>
                    <a:pt x="11049000" y="270684"/>
                    <a:pt x="11014884" y="304800"/>
                    <a:pt x="109728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4954" y="58616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核心结论：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613154" y="5861685"/>
              <a:ext cx="3760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四个模块共同把营销从“事后复盘”改成“实时经营”。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381000"/>
            <a:ext cx="12192000" cy="7239000"/>
            <a:chOff x="0" y="-381000"/>
            <a:chExt cx="12192000" cy="7239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429750" y="-381000"/>
              <a:ext cx="2476500" cy="24765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572750" y="666750"/>
              <a:ext cx="1333500" cy="13335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81952"/>
            <a:ext cx="11067478" cy="6320314"/>
            <a:chOff x="557784" y="381952"/>
            <a:chExt cx="11067478" cy="63203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81952"/>
              <a:ext cx="916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680085"/>
              <a:ext cx="40599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增长杠杆的优先级一览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3681" y="65403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403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1562100"/>
            <a:ext cx="11049000" cy="4495800"/>
            <a:chOff x="571500" y="1562100"/>
            <a:chExt cx="11049000" cy="4495800"/>
          </a:xfrm>
        </p:grpSpPr>
        <p:sp>
          <p:nvSpPr>
            <p:cNvPr id="14" name="Freeform 14"/>
            <p:cNvSpPr/>
            <p:nvPr/>
          </p:nvSpPr>
          <p:spPr>
            <a:xfrm>
              <a:off x="571500" y="1562100"/>
              <a:ext cx="3429000" cy="4495800"/>
            </a:xfrm>
            <a:custGeom>
              <a:avLst/>
              <a:gdLst/>
              <a:ahLst/>
              <a:cxnLst/>
              <a:rect l="l" t="t" r="r" b="b"/>
              <a:pathLst>
                <a:path w="3429000" h="44958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381500"/>
                  </a:lnTo>
                  <a:cubicBezTo>
                    <a:pt x="3429000" y="4444626"/>
                    <a:pt x="3377826" y="4495800"/>
                    <a:pt x="3314700" y="4495800"/>
                  </a:cubicBezTo>
                  <a:lnTo>
                    <a:pt x="114300" y="4495800"/>
                  </a:lnTo>
                  <a:cubicBezTo>
                    <a:pt x="51174" y="4495800"/>
                    <a:pt x="0" y="4444626"/>
                    <a:pt x="0" y="438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580" y="1819275"/>
              <a:ext cx="275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五个核心指标展示AI工作台在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21050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投入可控的前提下可实现的改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2390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善幅度。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76300" y="2743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9942" y="2692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模型优化渠道与创意组合，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942" y="2940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降低无效支出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76300" y="3505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942" y="3454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个性化留存与交叉销售提升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9942" y="3702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复购与客单价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76300" y="4267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4216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动态内容与实时触发替代固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464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定批次推送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76300" y="5029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59942" y="4978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自动化编排减少人工审批与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5226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配置环节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267200" y="1562100"/>
              <a:ext cx="7353300" cy="4495800"/>
            </a:xfrm>
            <a:custGeom>
              <a:avLst/>
              <a:gdLst/>
              <a:ahLst/>
              <a:cxnLst/>
              <a:rect l="l" t="t" r="r" b="b"/>
              <a:pathLst>
                <a:path w="7353300" h="4495800">
                  <a:moveTo>
                    <a:pt x="114300" y="0"/>
                  </a:moveTo>
                  <a:lnTo>
                    <a:pt x="7239000" y="0"/>
                  </a:lnTo>
                  <a:cubicBezTo>
                    <a:pt x="7302126" y="0"/>
                    <a:pt x="7353300" y="51174"/>
                    <a:pt x="7353300" y="114300"/>
                  </a:cubicBezTo>
                  <a:lnTo>
                    <a:pt x="7353300" y="4381500"/>
                  </a:lnTo>
                  <a:cubicBezTo>
                    <a:pt x="7353300" y="4444626"/>
                    <a:pt x="7302126" y="4495800"/>
                    <a:pt x="7239000" y="4495800"/>
                  </a:cubicBezTo>
                  <a:lnTo>
                    <a:pt x="114300" y="4495800"/>
                  </a:lnTo>
                  <a:cubicBezTo>
                    <a:pt x="51174" y="4495800"/>
                    <a:pt x="0" y="4444626"/>
                    <a:pt x="0" y="438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572000" y="1790700"/>
              <a:ext cx="6477000" cy="342900"/>
            </a:xfrm>
            <a:custGeom>
              <a:avLst/>
              <a:gdLst/>
              <a:ahLst/>
              <a:cxnLst/>
              <a:rect l="l" t="t" r="r" b="b"/>
              <a:pathLst>
                <a:path w="6477000" h="342900">
                  <a:moveTo>
                    <a:pt x="171450" y="0"/>
                  </a:moveTo>
                  <a:lnTo>
                    <a:pt x="6305550" y="0"/>
                  </a:lnTo>
                  <a:cubicBezTo>
                    <a:pt x="6400239" y="0"/>
                    <a:pt x="6477000" y="76761"/>
                    <a:pt x="6477000" y="171450"/>
                  </a:cubicBezTo>
                  <a:lnTo>
                    <a:pt x="6477000" y="171450"/>
                  </a:lnTo>
                  <a:cubicBezTo>
                    <a:pt x="6477000" y="266139"/>
                    <a:pt x="6400239" y="342900"/>
                    <a:pt x="63055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56404" y="18802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优先级信号图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91979" y="1896428"/>
              <a:ext cx="971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改善幅度 / 100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0" y="23812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715125" y="23812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096250" y="23812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9477375" y="23812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0858500" y="23812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62601" y="2207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43726" y="2207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40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4851" y="2207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60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05976" y="2207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80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53782" y="22078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63618" y="2603182"/>
              <a:ext cx="181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69942" y="2578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渠道与创意优化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71466" y="28203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降低无效支出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667500" y="2552700"/>
              <a:ext cx="4953000" cy="323850"/>
            </a:xfrm>
            <a:custGeom>
              <a:avLst/>
              <a:gdLst/>
              <a:ahLst/>
              <a:cxnLst/>
              <a:rect l="l" t="t" r="r" b="b"/>
              <a:pathLst>
                <a:path w="4953000" h="323850">
                  <a:moveTo>
                    <a:pt x="161925" y="0"/>
                  </a:moveTo>
                  <a:lnTo>
                    <a:pt x="4791075" y="0"/>
                  </a:lnTo>
                  <a:cubicBezTo>
                    <a:pt x="4880504" y="0"/>
                    <a:pt x="4953000" y="72496"/>
                    <a:pt x="4953000" y="161925"/>
                  </a:cubicBezTo>
                  <a:lnTo>
                    <a:pt x="4953000" y="161925"/>
                  </a:lnTo>
                  <a:cubicBezTo>
                    <a:pt x="4953000" y="251354"/>
                    <a:pt x="4880504" y="323850"/>
                    <a:pt x="47910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667500" y="2552700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161925" y="0"/>
                  </a:moveTo>
                  <a:lnTo>
                    <a:pt x="4200525" y="0"/>
                  </a:lnTo>
                  <a:cubicBezTo>
                    <a:pt x="4289954" y="0"/>
                    <a:pt x="4362450" y="72496"/>
                    <a:pt x="4362450" y="161925"/>
                  </a:cubicBezTo>
                  <a:lnTo>
                    <a:pt x="4362450" y="161925"/>
                  </a:lnTo>
                  <a:cubicBezTo>
                    <a:pt x="4362450" y="251354"/>
                    <a:pt x="4289954" y="323850"/>
                    <a:pt x="420052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908436" y="26260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88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3618" y="3460432"/>
              <a:ext cx="181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69942" y="3435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留存与交叉销售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71466" y="3677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提升复购与客单价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667500" y="3409950"/>
              <a:ext cx="4953000" cy="323850"/>
            </a:xfrm>
            <a:custGeom>
              <a:avLst/>
              <a:gdLst/>
              <a:ahLst/>
              <a:cxnLst/>
              <a:rect l="l" t="t" r="r" b="b"/>
              <a:pathLst>
                <a:path w="4953000" h="323850">
                  <a:moveTo>
                    <a:pt x="161925" y="0"/>
                  </a:moveTo>
                  <a:lnTo>
                    <a:pt x="4791075" y="0"/>
                  </a:lnTo>
                  <a:cubicBezTo>
                    <a:pt x="4880504" y="0"/>
                    <a:pt x="4953000" y="72496"/>
                    <a:pt x="4953000" y="161925"/>
                  </a:cubicBezTo>
                  <a:lnTo>
                    <a:pt x="4953000" y="161925"/>
                  </a:lnTo>
                  <a:cubicBezTo>
                    <a:pt x="4953000" y="251354"/>
                    <a:pt x="4880504" y="323850"/>
                    <a:pt x="47910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667500" y="3409950"/>
              <a:ext cx="3667125" cy="323850"/>
            </a:xfrm>
            <a:custGeom>
              <a:avLst/>
              <a:gdLst/>
              <a:ahLst/>
              <a:cxnLst/>
              <a:rect l="l" t="t" r="r" b="b"/>
              <a:pathLst>
                <a:path w="3667125" h="323850">
                  <a:moveTo>
                    <a:pt x="161925" y="0"/>
                  </a:moveTo>
                  <a:lnTo>
                    <a:pt x="3505200" y="0"/>
                  </a:lnTo>
                  <a:cubicBezTo>
                    <a:pt x="3594629" y="0"/>
                    <a:pt x="3667125" y="72496"/>
                    <a:pt x="3667125" y="161925"/>
                  </a:cubicBezTo>
                  <a:lnTo>
                    <a:pt x="3667125" y="161925"/>
                  </a:lnTo>
                  <a:cubicBezTo>
                    <a:pt x="3667125" y="251354"/>
                    <a:pt x="3594629" y="323850"/>
                    <a:pt x="3505200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gradFill>
              <a:gsLst>
                <a:gs pos="0">
                  <a:srgbClr val="2B4E7D"/>
                </a:gs>
                <a:gs pos="100000">
                  <a:srgbClr val="4A97D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13111" y="34832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63618" y="4317682"/>
              <a:ext cx="181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69942" y="4292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动态内容与触发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71466" y="4534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替代固定批次推送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667500" y="4267200"/>
              <a:ext cx="4953000" cy="323850"/>
            </a:xfrm>
            <a:custGeom>
              <a:avLst/>
              <a:gdLst/>
              <a:ahLst/>
              <a:cxnLst/>
              <a:rect l="l" t="t" r="r" b="b"/>
              <a:pathLst>
                <a:path w="4953000" h="323850">
                  <a:moveTo>
                    <a:pt x="161925" y="0"/>
                  </a:moveTo>
                  <a:lnTo>
                    <a:pt x="4791075" y="0"/>
                  </a:lnTo>
                  <a:cubicBezTo>
                    <a:pt x="4880504" y="0"/>
                    <a:pt x="4953000" y="72496"/>
                    <a:pt x="4953000" y="161925"/>
                  </a:cubicBezTo>
                  <a:lnTo>
                    <a:pt x="4953000" y="161925"/>
                  </a:lnTo>
                  <a:cubicBezTo>
                    <a:pt x="4953000" y="251354"/>
                    <a:pt x="4880504" y="323850"/>
                    <a:pt x="47910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667500" y="4267200"/>
              <a:ext cx="2971800" cy="323850"/>
            </a:xfrm>
            <a:custGeom>
              <a:avLst/>
              <a:gdLst/>
              <a:ahLst/>
              <a:cxnLst/>
              <a:rect l="l" t="t" r="r" b="b"/>
              <a:pathLst>
                <a:path w="2971800" h="323850">
                  <a:moveTo>
                    <a:pt x="161925" y="0"/>
                  </a:moveTo>
                  <a:lnTo>
                    <a:pt x="2809875" y="0"/>
                  </a:lnTo>
                  <a:cubicBezTo>
                    <a:pt x="2899304" y="0"/>
                    <a:pt x="2971800" y="72496"/>
                    <a:pt x="2971800" y="161925"/>
                  </a:cubicBezTo>
                  <a:lnTo>
                    <a:pt x="2971800" y="161925"/>
                  </a:lnTo>
                  <a:cubicBezTo>
                    <a:pt x="2971800" y="251354"/>
                    <a:pt x="2899304" y="323850"/>
                    <a:pt x="28098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gradFill>
              <a:gsLst>
                <a:gs pos="0">
                  <a:srgbClr val="4A6A95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17786" y="434054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63618" y="5174932"/>
              <a:ext cx="1813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69942" y="5150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自动化编排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871466" y="53921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减少审批与配置环节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667500" y="5124450"/>
              <a:ext cx="4953000" cy="323850"/>
            </a:xfrm>
            <a:custGeom>
              <a:avLst/>
              <a:gdLst/>
              <a:ahLst/>
              <a:cxnLst/>
              <a:rect l="l" t="t" r="r" b="b"/>
              <a:pathLst>
                <a:path w="4953000" h="323850">
                  <a:moveTo>
                    <a:pt x="161925" y="0"/>
                  </a:moveTo>
                  <a:lnTo>
                    <a:pt x="4791075" y="0"/>
                  </a:lnTo>
                  <a:cubicBezTo>
                    <a:pt x="4880504" y="0"/>
                    <a:pt x="4953000" y="72496"/>
                    <a:pt x="4953000" y="161925"/>
                  </a:cubicBezTo>
                  <a:lnTo>
                    <a:pt x="4953000" y="161925"/>
                  </a:lnTo>
                  <a:cubicBezTo>
                    <a:pt x="4953000" y="251354"/>
                    <a:pt x="4880504" y="323850"/>
                    <a:pt x="47910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6667500" y="5124450"/>
              <a:ext cx="2276475" cy="323850"/>
            </a:xfrm>
            <a:custGeom>
              <a:avLst/>
              <a:gdLst/>
              <a:ahLst/>
              <a:cxnLst/>
              <a:rect l="l" t="t" r="r" b="b"/>
              <a:pathLst>
                <a:path w="2276475" h="323850">
                  <a:moveTo>
                    <a:pt x="161925" y="0"/>
                  </a:moveTo>
                  <a:lnTo>
                    <a:pt x="2114550" y="0"/>
                  </a:lnTo>
                  <a:cubicBezTo>
                    <a:pt x="2203979" y="0"/>
                    <a:pt x="2276475" y="72496"/>
                    <a:pt x="2276475" y="161925"/>
                  </a:cubicBezTo>
                  <a:lnTo>
                    <a:pt x="2276475" y="161925"/>
                  </a:lnTo>
                  <a:cubicBezTo>
                    <a:pt x="2276475" y="251354"/>
                    <a:pt x="2203979" y="323850"/>
                    <a:pt x="2114550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gradFill>
              <a:gsLst>
                <a:gs pos="0">
                  <a:srgbClr val="7A8DAA"/>
                </a:gs>
                <a:gs pos="100000">
                  <a:srgbClr val="9CCBF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822461" y="51977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46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1239500" y="2381250"/>
              <a:ext cx="190500" cy="3276600"/>
            </a:xfrm>
            <a:custGeom>
              <a:avLst/>
              <a:gdLst/>
              <a:ahLst/>
              <a:cxnLst/>
              <a:rect l="l" t="t" r="r" b="b"/>
              <a:pathLst>
                <a:path w="190500" h="3276600">
                  <a:moveTo>
                    <a:pt x="0" y="0"/>
                  </a:moveTo>
                  <a:lnTo>
                    <a:pt x="190500" y="0"/>
                  </a:lnTo>
                  <a:lnTo>
                    <a:pt x="190500" y="3276600"/>
                  </a:lnTo>
                  <a:lnTo>
                    <a:pt x="0" y="32766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1277600" y="26574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1277600" y="35147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11277600" y="4371975"/>
              <a:ext cx="114300" cy="114300"/>
            </a:xfrm>
            <a:prstGeom prst="ellipse">
              <a:avLst/>
            </a:prstGeom>
            <a:solidFill>
              <a:srgbClr val="9CCBF2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1277600" y="5229225"/>
              <a:ext cx="114300" cy="114300"/>
            </a:xfrm>
            <a:prstGeom prst="ellipse">
              <a:avLst/>
            </a:prstGeom>
            <a:solidFill>
              <a:srgbClr val="D3E7F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48166" y="57921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越靠上，越适合作为首批落地增长抓手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553450" y="5753100"/>
            <a:ext cx="3067050" cy="304800"/>
            <a:chOff x="8553450" y="5753100"/>
            <a:chExt cx="3067050" cy="304800"/>
          </a:xfrm>
        </p:grpSpPr>
        <p:sp>
          <p:nvSpPr>
            <p:cNvPr id="75" name="Freeform 75"/>
            <p:cNvSpPr/>
            <p:nvPr/>
          </p:nvSpPr>
          <p:spPr>
            <a:xfrm>
              <a:off x="8553450" y="5753100"/>
              <a:ext cx="3067050" cy="304800"/>
            </a:xfrm>
            <a:custGeom>
              <a:avLst/>
              <a:gdLst/>
              <a:ahLst/>
              <a:cxnLst/>
              <a:rect l="l" t="t" r="r" b="b"/>
              <a:pathLst>
                <a:path w="3067050" h="304800">
                  <a:moveTo>
                    <a:pt x="76200" y="0"/>
                  </a:moveTo>
                  <a:lnTo>
                    <a:pt x="2990850" y="0"/>
                  </a:lnTo>
                  <a:cubicBezTo>
                    <a:pt x="3032934" y="0"/>
                    <a:pt x="3067050" y="34116"/>
                    <a:pt x="3067050" y="76200"/>
                  </a:cubicBezTo>
                  <a:lnTo>
                    <a:pt x="3067050" y="228600"/>
                  </a:lnTo>
                  <a:cubicBezTo>
                    <a:pt x="3067050" y="270684"/>
                    <a:pt x="3032934" y="304800"/>
                    <a:pt x="299085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00516" y="5839778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119616" y="583977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先做优化与留存，再扩展触发与编排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381000" y="762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60960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144000" y="104775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286702"/>
            <a:ext cx="11067479" cy="6244114"/>
            <a:chOff x="557784" y="286702"/>
            <a:chExt cx="11067479" cy="62441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28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96583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接下来该做什么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428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43681" y="3109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24147" y="63688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3880" y="1619250"/>
            <a:ext cx="11056620" cy="4476750"/>
            <a:chOff x="563880" y="1619250"/>
            <a:chExt cx="11056620" cy="4476750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695450"/>
              <a:ext cx="7024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AI营销工作台的部署风险可控，但必须从明确的数据资产与试点场景启动。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2190750"/>
              <a:ext cx="8286750" cy="3190875"/>
            </a:xfrm>
            <a:custGeom>
              <a:avLst/>
              <a:gdLst/>
              <a:ahLst/>
              <a:cxnLst/>
              <a:rect l="l" t="t" r="r" b="b"/>
              <a:pathLst>
                <a:path w="8286750" h="3190875">
                  <a:moveTo>
                    <a:pt x="114300" y="0"/>
                  </a:moveTo>
                  <a:lnTo>
                    <a:pt x="8172450" y="0"/>
                  </a:lnTo>
                  <a:cubicBezTo>
                    <a:pt x="8235576" y="0"/>
                    <a:pt x="8286750" y="51174"/>
                    <a:pt x="8286750" y="114300"/>
                  </a:cubicBezTo>
                  <a:lnTo>
                    <a:pt x="8286750" y="3076575"/>
                  </a:lnTo>
                  <a:cubicBezTo>
                    <a:pt x="8286750" y="3139701"/>
                    <a:pt x="8235576" y="3190875"/>
                    <a:pt x="8172450" y="3190875"/>
                  </a:cubicBezTo>
                  <a:lnTo>
                    <a:pt x="114300" y="3190875"/>
                  </a:lnTo>
                  <a:cubicBezTo>
                    <a:pt x="51174" y="3190875"/>
                    <a:pt x="0" y="3139701"/>
                    <a:pt x="0" y="30765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285875" y="3790950"/>
              <a:ext cx="68580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1771650" y="3562350"/>
              <a:ext cx="457200" cy="4572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486275" y="3562350"/>
              <a:ext cx="457200" cy="4572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200900" y="3562350"/>
              <a:ext cx="457200" cy="4572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31022" y="36957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5647" y="36957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60272" y="36957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04875" y="2590800"/>
              <a:ext cx="2190750" cy="895350"/>
            </a:xfrm>
            <a:custGeom>
              <a:avLst/>
              <a:gdLst/>
              <a:ahLst/>
              <a:cxnLst/>
              <a:rect l="l" t="t" r="r" b="b"/>
              <a:pathLst>
                <a:path w="2190750" h="89535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781050"/>
                  </a:lnTo>
                  <a:cubicBezTo>
                    <a:pt x="2190750" y="844176"/>
                    <a:pt x="2139576" y="895350"/>
                    <a:pt x="207645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0041" y="27632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8517" y="29975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盘点客户数据资产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0041" y="32394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授权数据团队完成盘点与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0041" y="34109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标准化评估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000250" y="348615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619500" y="4152900"/>
              <a:ext cx="2190750" cy="990600"/>
            </a:xfrm>
            <a:custGeom>
              <a:avLst/>
              <a:gdLst/>
              <a:ahLst/>
              <a:cxnLst/>
              <a:rect l="l" t="t" r="r" b="b"/>
              <a:pathLst>
                <a:path w="2190750" h="9906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876300"/>
                  </a:lnTo>
                  <a:cubicBezTo>
                    <a:pt x="2190750" y="939426"/>
                    <a:pt x="2139576" y="990600"/>
                    <a:pt x="207645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04666" y="4325302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30天内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03142" y="4559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选定高价值试点场景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04666" y="48015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优先从流失干预或新品推荐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04666" y="49730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启动概念验证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714875" y="40195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334125" y="2590800"/>
              <a:ext cx="2190750" cy="1066800"/>
            </a:xfrm>
            <a:custGeom>
              <a:avLst/>
              <a:gdLst/>
              <a:ahLst/>
              <a:cxnLst/>
              <a:rect l="l" t="t" r="r" b="b"/>
              <a:pathLst>
                <a:path w="2190750" h="10668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952500"/>
                  </a:lnTo>
                  <a:cubicBezTo>
                    <a:pt x="2190750" y="1015626"/>
                    <a:pt x="2139576" y="1066800"/>
                    <a:pt x="207645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19291" y="2763202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90天内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7767" y="29975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上线最小可行产品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19291" y="32394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部署自动化营销引擎，并建立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9291" y="3410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全链路度量仪表盘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429500" y="35623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334500" y="1619250"/>
              <a:ext cx="2286000" cy="4095750"/>
            </a:xfrm>
            <a:custGeom>
              <a:avLst/>
              <a:gdLst/>
              <a:ahLst/>
              <a:cxnLst/>
              <a:rect l="l" t="t" r="r" b="b"/>
              <a:pathLst>
                <a:path w="2286000" h="409575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3981450"/>
                  </a:lnTo>
                  <a:cubicBezTo>
                    <a:pt x="2286000" y="4044576"/>
                    <a:pt x="2234826" y="4095750"/>
                    <a:pt x="2171700" y="4095750"/>
                  </a:cubicBezTo>
                  <a:lnTo>
                    <a:pt x="114300" y="4095750"/>
                  </a:lnTo>
                  <a:cubicBezTo>
                    <a:pt x="51174" y="4095750"/>
                    <a:pt x="0" y="4044576"/>
                    <a:pt x="0" y="3981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72244" y="17706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最终落点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582150" y="2114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582150" y="2343150"/>
              <a:ext cx="1790700" cy="704850"/>
            </a:xfrm>
            <a:custGeom>
              <a:avLst/>
              <a:gdLst/>
              <a:ahLst/>
              <a:cxnLst/>
              <a:rect l="l" t="t" r="r" b="b"/>
              <a:pathLst>
                <a:path w="1790700" h="704850">
                  <a:moveTo>
                    <a:pt x="95250" y="0"/>
                  </a:moveTo>
                  <a:lnTo>
                    <a:pt x="1695450" y="0"/>
                  </a:lnTo>
                  <a:cubicBezTo>
                    <a:pt x="1748055" y="0"/>
                    <a:pt x="1790700" y="42645"/>
                    <a:pt x="1790700" y="95250"/>
                  </a:cubicBezTo>
                  <a:lnTo>
                    <a:pt x="1790700" y="609600"/>
                  </a:lnTo>
                  <a:cubicBezTo>
                    <a:pt x="1790700" y="662205"/>
                    <a:pt x="1748055" y="704850"/>
                    <a:pt x="16954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729216" y="24965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28454" y="26898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统一客户数据口径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9582150" y="3200400"/>
              <a:ext cx="1790700" cy="704850"/>
            </a:xfrm>
            <a:custGeom>
              <a:avLst/>
              <a:gdLst/>
              <a:ahLst/>
              <a:cxnLst/>
              <a:rect l="l" t="t" r="r" b="b"/>
              <a:pathLst>
                <a:path w="1790700" h="704850">
                  <a:moveTo>
                    <a:pt x="95250" y="0"/>
                  </a:moveTo>
                  <a:lnTo>
                    <a:pt x="1695450" y="0"/>
                  </a:lnTo>
                  <a:cubicBezTo>
                    <a:pt x="1748055" y="0"/>
                    <a:pt x="1790700" y="42645"/>
                    <a:pt x="1790700" y="95250"/>
                  </a:cubicBezTo>
                  <a:lnTo>
                    <a:pt x="1790700" y="609600"/>
                  </a:lnTo>
                  <a:cubicBezTo>
                    <a:pt x="1790700" y="662205"/>
                    <a:pt x="1748055" y="704850"/>
                    <a:pt x="16954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729216" y="3353752"/>
              <a:ext cx="457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28454" y="35471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找到可验证的增长策略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9582150" y="4057650"/>
              <a:ext cx="1790700" cy="704850"/>
            </a:xfrm>
            <a:custGeom>
              <a:avLst/>
              <a:gdLst/>
              <a:ahLst/>
              <a:cxnLst/>
              <a:rect l="l" t="t" r="r" b="b"/>
              <a:pathLst>
                <a:path w="1790700" h="704850">
                  <a:moveTo>
                    <a:pt x="95250" y="0"/>
                  </a:moveTo>
                  <a:lnTo>
                    <a:pt x="1695450" y="0"/>
                  </a:lnTo>
                  <a:cubicBezTo>
                    <a:pt x="1748055" y="0"/>
                    <a:pt x="1790700" y="42645"/>
                    <a:pt x="1790700" y="95250"/>
                  </a:cubicBezTo>
                  <a:lnTo>
                    <a:pt x="1790700" y="609600"/>
                  </a:lnTo>
                  <a:cubicBezTo>
                    <a:pt x="1790700" y="662205"/>
                    <a:pt x="1748055" y="704850"/>
                    <a:pt x="16954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729216" y="42110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28454" y="44043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让策略进入稳定投放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582150" y="4914900"/>
              <a:ext cx="1790700" cy="552450"/>
            </a:xfrm>
            <a:custGeom>
              <a:avLst/>
              <a:gdLst/>
              <a:ahLst/>
              <a:cxnLst/>
              <a:rect l="l" t="t" r="r" b="b"/>
              <a:pathLst>
                <a:path w="1790700" h="552450">
                  <a:moveTo>
                    <a:pt x="95250" y="0"/>
                  </a:moveTo>
                  <a:lnTo>
                    <a:pt x="1695450" y="0"/>
                  </a:lnTo>
                  <a:cubicBezTo>
                    <a:pt x="1748055" y="0"/>
                    <a:pt x="1790700" y="42645"/>
                    <a:pt x="1790700" y="95250"/>
                  </a:cubicBezTo>
                  <a:lnTo>
                    <a:pt x="1790700" y="457200"/>
                  </a:lnTo>
                  <a:cubicBezTo>
                    <a:pt x="1790700" y="509805"/>
                    <a:pt x="1748055" y="552450"/>
                    <a:pt x="16954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29216" y="5068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28454" y="52616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形成闭环经营机制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11372850" y="2695575"/>
              <a:ext cx="152400" cy="2495550"/>
            </a:xfrm>
            <a:custGeom>
              <a:avLst/>
              <a:gdLst/>
              <a:ahLst/>
              <a:cxnLst/>
              <a:rect l="l" t="t" r="r" b="b"/>
              <a:pathLst>
                <a:path w="152400" h="2495550">
                  <a:moveTo>
                    <a:pt x="0" y="0"/>
                  </a:moveTo>
                  <a:lnTo>
                    <a:pt x="152400" y="0"/>
                  </a:lnTo>
                  <a:lnTo>
                    <a:pt x="152400" y="2495550"/>
                  </a:lnTo>
                  <a:lnTo>
                    <a:pt x="0" y="24955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1449050" y="5114925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76200" y="76200"/>
                  </a:moveTo>
                  <a:lnTo>
                    <a:pt x="0" y="0"/>
                  </a:lnTo>
                  <a:moveTo>
                    <a:pt x="76200" y="7620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71500" y="5600700"/>
              <a:ext cx="11049000" cy="495300"/>
            </a:xfrm>
            <a:custGeom>
              <a:avLst/>
              <a:gdLst/>
              <a:ahLst/>
              <a:cxnLst/>
              <a:rect l="l" t="t" r="r" b="b"/>
              <a:pathLst>
                <a:path w="11049000" h="4953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00050"/>
                  </a:lnTo>
                  <a:cubicBezTo>
                    <a:pt x="11049000" y="452655"/>
                    <a:pt x="11006355" y="495300"/>
                    <a:pt x="109537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9615488" y="5816441"/>
            <a:ext cx="1453325" cy="161925"/>
            <a:chOff x="9615488" y="5816441"/>
            <a:chExt cx="1453325" cy="161925"/>
          </a:xfrm>
        </p:grpSpPr>
        <p:sp>
          <p:nvSpPr>
            <p:cNvPr id="60" name="TextBox 60"/>
            <p:cNvSpPr txBox="1"/>
            <p:nvPr/>
          </p:nvSpPr>
          <p:spPr>
            <a:xfrm>
              <a:off x="9615488" y="5816441"/>
              <a:ext cx="14533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由试点验证过渡到经营级能力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