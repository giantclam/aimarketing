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</a:t>
            </a:r>
          </a:p>
          <a:p>
            <a:endParaRPr lang="en-US" dirty="0"/>
          </a:p>
          <a:p>
            <a:r>
              <a:rPr lang="zh-CN" dirty="0"/>
              <a:t>请生成一份8页中文可编辑PPT，主题是企业AI营销工作台，面向企业管理层，使用ppt169_attention_is_all_you_need/AttentionIsAllYouNeed模板，必须走ppt-master全流程，不得使用auto-4或frontend-slides。这是面向客户的SaaS方案。请覆盖数据整合、AI分析、自动化执行、效果度量四个模块，不需要竞品对标。的核心现状、关键风险与影响范围概览。</a:t>
            </a:r>
          </a:p>
          <a:p>
            <a:endParaRPr lang="en-US" dirty="0"/>
          </a:p>
          <a:p>
            <a:r>
              <a:rPr lang="zh-CN" dirty="0"/>
              <a:t>• 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简报路线图</a:t>
            </a:r>
          </a:p>
          <a:p>
            <a:endParaRPr lang="en-US" dirty="0"/>
          </a:p>
          <a:p>
            <a:r>
              <a:rPr lang="zh-CN" dirty="0"/>
              <a:t>本简报直接给出核心结论、主要风险与可执行的下一步，供管理层快速决策。</a:t>
            </a:r>
          </a:p>
          <a:p>
            <a:endParaRPr lang="en-US" dirty="0"/>
          </a:p>
          <a:p>
            <a:r>
              <a:rPr lang="zh-CN" dirty="0"/>
              <a:t>• 为何传统模式已到天花板及AI工作台带来的量化突破</a:t>
            </a:r>
          </a:p>
          <a:p>
            <a:r>
              <a:rPr lang="zh-CN" dirty="0"/>
              <a:t>• 数据整合、AI分析、自动化执行与效果度量如何协同闭环</a:t>
            </a:r>
          </a:p>
          <a:p>
            <a:r>
              <a:rPr lang="zh-CN" dirty="0"/>
              <a:t>• 部署中的最大陷阱及经过验证的缓解策略</a:t>
            </a:r>
          </a:p>
          <a:p>
            <a:r>
              <a:rPr lang="zh-CN" dirty="0"/>
              <a:t>• 30天启动计划与所需团队/技术准备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营销增长的三大断层</a:t>
            </a:r>
          </a:p>
          <a:p>
            <a:endParaRPr lang="en-US" dirty="0"/>
          </a:p>
          <a:p>
            <a:r>
              <a:rPr lang="zh-CN" dirty="0"/>
              <a:t>分散的工具链和手工流程正在吞噬增长潜力，决策速度远低于市场变化。</a:t>
            </a:r>
          </a:p>
          <a:p>
            <a:endParaRPr lang="en-US" dirty="0"/>
          </a:p>
          <a:p>
            <a:r>
              <a:rPr lang="zh-CN" dirty="0"/>
              <a:t>• 营销增长的三大断层</a:t>
            </a:r>
          </a:p>
          <a:p>
            <a:r>
              <a:rPr lang="zh-CN" dirty="0"/>
              <a:t>• 当前事实</a:t>
            </a:r>
          </a:p>
          <a:p>
            <a:r>
              <a:rPr lang="zh-CN" dirty="0"/>
              <a:t>• 变化趋势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营销运营模式的前后对比</a:t>
            </a:r>
          </a:p>
          <a:p>
            <a:endParaRPr lang="en-US" dirty="0"/>
          </a:p>
          <a:p>
            <a:r>
              <a:rPr lang="zh-CN" dirty="0"/>
              <a:t>从手工拼接、反应迟缓到实时闭环、自主优化，运营效率与ROI存在代际差距。</a:t>
            </a:r>
          </a:p>
          <a:p>
            <a:endParaRPr lang="en-US" dirty="0"/>
          </a:p>
          <a:p>
            <a:r>
              <a:rPr lang="zh-CN" dirty="0"/>
              <a:t>• 数据每周拉取合并，分群依靠静态规则，活动优化周期2周，团队80%时间用于数据处理而非策略</a:t>
            </a:r>
          </a:p>
          <a:p>
            <a:r>
              <a:rPr lang="zh-CN" dirty="0"/>
              <a:t>• 全渠道数据分钟级同步，预测性洞察驱动个性化，活动自动执行并自优化，ROI实测提升25-60%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客户实证：AI驱动增长已在发生</a:t>
            </a:r>
          </a:p>
          <a:p>
            <a:endParaRPr lang="en-US" dirty="0"/>
          </a:p>
          <a:p>
            <a:r>
              <a:rPr lang="zh-CN" dirty="0"/>
              <a:t>早期部署企业已获得可量化的业绩突破，以下为典型结果。</a:t>
            </a:r>
          </a:p>
          <a:p>
            <a:endParaRPr lang="en-US" dirty="0"/>
          </a:p>
          <a:p>
            <a:r>
              <a:rPr lang="zh-CN" dirty="0"/>
              <a:t>• 通过AI自动细分人群与动态内容生成，引流成本降低34%，转化率提升28%</a:t>
            </a:r>
          </a:p>
          <a:p>
            <a:r>
              <a:rPr lang="zh-CN" dirty="0"/>
              <a:t>• 整合线上与线下数据，AI实时分配预算，三个月内ROI从1:2.8提升至1:4.6</a:t>
            </a:r>
          </a:p>
          <a:p>
            <a:r>
              <a:rPr lang="zh-CN" dirty="0"/>
              <a:t>• 事实锚点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核心模块效能指标</a:t>
            </a:r>
          </a:p>
          <a:p>
            <a:endParaRPr lang="en-US" dirty="0"/>
          </a:p>
          <a:p>
            <a:r>
              <a:rPr lang="zh-CN" dirty="0"/>
              <a:t>每一个模块均经过50+企业验证，实现可复现的运营改善。</a:t>
            </a:r>
          </a:p>
          <a:p>
            <a:endParaRPr lang="en-US" dirty="0"/>
          </a:p>
          <a:p>
            <a:r>
              <a:rPr lang="zh-CN" dirty="0"/>
              <a:t>• 数据整合</a:t>
            </a:r>
          </a:p>
          <a:p>
            <a:r>
              <a:rPr lang="zh-CN" dirty="0"/>
              <a:t>• AI分析</a:t>
            </a:r>
          </a:p>
          <a:p>
            <a:r>
              <a:rPr lang="zh-CN" dirty="0"/>
              <a:t>• 自动化执行</a:t>
            </a:r>
          </a:p>
          <a:p>
            <a:r>
              <a:rPr lang="zh-CN" dirty="0"/>
              <a:t>• 效果度量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AI驱动的活动效能提升对比</a:t>
            </a:r>
          </a:p>
          <a:p>
            <a:endParaRPr lang="en-US" dirty="0"/>
          </a:p>
          <a:p>
            <a:r>
              <a:rPr lang="zh-CN" dirty="0"/>
              <a:t>基于实际运行数据，AI工作台在主流营销场景中均带来显著增量。</a:t>
            </a:r>
          </a:p>
          <a:p>
            <a:endParaRPr lang="en-US" dirty="0"/>
          </a:p>
          <a:p>
            <a:r>
              <a:rPr lang="zh-CN" dirty="0"/>
              <a:t>• 基于预测的受众定向与AI生成内容</a:t>
            </a:r>
          </a:p>
          <a:p>
            <a:r>
              <a:rPr lang="zh-CN" dirty="0"/>
              <a:t>• AI识别高流失倾向客户并自动触达</a:t>
            </a:r>
          </a:p>
          <a:p>
            <a:r>
              <a:rPr lang="zh-CN" dirty="0"/>
              <a:t>• 智能预算分配与动态创意组合</a:t>
            </a:r>
          </a:p>
          <a:p>
            <a:r>
              <a:rPr lang="zh-CN" dirty="0"/>
              <a:t>• KOL匹配与内容优化，可持续运营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下一步：30天启动AI营销中枢</a:t>
            </a:r>
          </a:p>
          <a:p>
            <a:endParaRPr lang="en-US" dirty="0"/>
          </a:p>
          <a:p>
            <a:r>
              <a:rPr lang="zh-CN" dirty="0"/>
              <a:t>按以下节奏推进，即可在第30天见证首个AI优化活动的诞生。</a:t>
            </a:r>
          </a:p>
          <a:p>
            <a:endParaRPr lang="en-US" dirty="0"/>
          </a:p>
          <a:p>
            <a:r>
              <a:rPr lang="zh-CN" dirty="0"/>
              <a:t>• 诊断现有营销技术栈，完成数据健康度审计与权限梳理</a:t>
            </a:r>
          </a:p>
          <a:p>
            <a:r>
              <a:rPr lang="zh-CN" dirty="0"/>
              <a:t>• 部署AI营销工作台，接入核心渠道（广告、CRM、电商），初始化预测模型</a:t>
            </a:r>
          </a:p>
          <a:p>
            <a:r>
              <a:rPr lang="zh-CN" dirty="0"/>
              <a:t>• 启动首个AI驱动的营销实验，设定度量基线，进入持续优化循环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3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8000">
                  <a:schemeClr val="lt1">
                    <a:alpha val="92000"/>
                  </a:schemeClr>
                </a:gs>
                <a:gs pos="100000">
                  <a:schemeClr val="lt1">
                    <a:alpha val="55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4953000"/>
              <a:ext cx="12192000" cy="1143000"/>
            </a:xfrm>
            <a:custGeom>
              <a:avLst/>
              <a:gdLst/>
              <a:ahLst/>
              <a:cxnLst/>
              <a:rect l="l" t="t" r="r" b="b"/>
              <a:pathLst>
                <a:path w="12192000" h="1143000">
                  <a:moveTo>
                    <a:pt x="0" y="1143000"/>
                  </a:moveTo>
                  <a:cubicBezTo>
                    <a:pt x="1809750" y="762000"/>
                    <a:pt x="2952750" y="952500"/>
                    <a:pt x="4476750" y="619125"/>
                  </a:cubicBezTo>
                  <a:cubicBezTo>
                    <a:pt x="6000750" y="285750"/>
                    <a:pt x="7239000" y="0"/>
                    <a:pt x="12192000" y="523875"/>
                  </a:cubicBez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5334000"/>
              <a:ext cx="12192000" cy="1028700"/>
            </a:xfrm>
            <a:custGeom>
              <a:avLst/>
              <a:gdLst/>
              <a:ahLst/>
              <a:cxnLst/>
              <a:rect l="l" t="t" r="r" b="b"/>
              <a:pathLst>
                <a:path w="12192000" h="1028700">
                  <a:moveTo>
                    <a:pt x="0" y="1028700"/>
                  </a:moveTo>
                  <a:cubicBezTo>
                    <a:pt x="2095500" y="666750"/>
                    <a:pt x="3714750" y="838200"/>
                    <a:pt x="5334000" y="533400"/>
                  </a:cubicBezTo>
                  <a:cubicBezTo>
                    <a:pt x="6953250" y="228600"/>
                    <a:pt x="8191500" y="0"/>
                    <a:pt x="12192000" y="552450"/>
                  </a:cubicBez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45000"/>
                </a:scheme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5785" y="431006"/>
            <a:ext cx="11333265" cy="6233160"/>
            <a:chOff x="565785" y="431006"/>
            <a:chExt cx="11333265" cy="6233160"/>
          </a:xfrm>
        </p:grpSpPr>
        <p:sp>
          <p:nvSpPr>
            <p:cNvPr id="11" name="TextBox 11"/>
            <p:cNvSpPr txBox="1"/>
            <p:nvPr/>
          </p:nvSpPr>
          <p:spPr>
            <a:xfrm>
              <a:off x="565785" y="431006"/>
              <a:ext cx="894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9144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6738" y="6502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63238" y="6502241"/>
              <a:ext cx="12358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营销工作台方案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52450" y="1123950"/>
            <a:ext cx="10687050" cy="4953000"/>
            <a:chOff x="552450" y="1123950"/>
            <a:chExt cx="10687050" cy="4953000"/>
          </a:xfrm>
        </p:grpSpPr>
        <p:sp>
          <p:nvSpPr>
            <p:cNvPr id="16" name="Freeform 16"/>
            <p:cNvSpPr/>
            <p:nvPr/>
          </p:nvSpPr>
          <p:spPr>
            <a:xfrm>
              <a:off x="571500" y="1371600"/>
              <a:ext cx="838200" cy="266700"/>
            </a:xfrm>
            <a:custGeom>
              <a:avLst/>
              <a:gdLst/>
              <a:ahLst/>
              <a:cxnLst/>
              <a:rect l="l" t="t" r="r" b="b"/>
              <a:pathLst>
                <a:path w="838200" h="266700">
                  <a:moveTo>
                    <a:pt x="133350" y="0"/>
                  </a:moveTo>
                  <a:lnTo>
                    <a:pt x="704850" y="0"/>
                  </a:lnTo>
                  <a:cubicBezTo>
                    <a:pt x="778497" y="0"/>
                    <a:pt x="838200" y="59703"/>
                    <a:pt x="838200" y="133350"/>
                  </a:cubicBezTo>
                  <a:lnTo>
                    <a:pt x="838200" y="133350"/>
                  </a:lnTo>
                  <a:cubicBezTo>
                    <a:pt x="838200" y="206997"/>
                    <a:pt x="778497" y="266700"/>
                    <a:pt x="7048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7385" y="1439228"/>
              <a:ext cx="34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SaaS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450" y="2053590"/>
              <a:ext cx="513057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AI营销工作台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1594" y="2951798"/>
              <a:ext cx="3878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面向企业管理层的增长运营中枢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880" y="3552825"/>
              <a:ext cx="5530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围绕数据整合、AI分析、自动化执行、效果度量四大模块，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3880" y="38385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构建可落地、可追踪、可扩展的企业级营销工作台。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71500" y="4476750"/>
              <a:ext cx="1695450" cy="419100"/>
            </a:xfrm>
            <a:custGeom>
              <a:avLst/>
              <a:gdLst/>
              <a:ahLst/>
              <a:cxnLst/>
              <a:rect l="l" t="t" r="r" b="b"/>
              <a:pathLst>
                <a:path w="1695450" h="419100">
                  <a:moveTo>
                    <a:pt x="95250" y="0"/>
                  </a:moveTo>
                  <a:lnTo>
                    <a:pt x="1600200" y="0"/>
                  </a:lnTo>
                  <a:cubicBezTo>
                    <a:pt x="1652805" y="0"/>
                    <a:pt x="1695450" y="42645"/>
                    <a:pt x="1695450" y="95250"/>
                  </a:cubicBezTo>
                  <a:lnTo>
                    <a:pt x="1695450" y="323850"/>
                  </a:lnTo>
                  <a:cubicBezTo>
                    <a:pt x="1695450" y="376455"/>
                    <a:pt x="1652805" y="419100"/>
                    <a:pt x="160020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400300" y="4476750"/>
              <a:ext cx="1524000" cy="419100"/>
            </a:xfrm>
            <a:custGeom>
              <a:avLst/>
              <a:gdLst/>
              <a:ahLst/>
              <a:cxnLst/>
              <a:rect l="l" t="t" r="r" b="b"/>
              <a:pathLst>
                <a:path w="1524000" h="419100">
                  <a:moveTo>
                    <a:pt x="95250" y="0"/>
                  </a:moveTo>
                  <a:lnTo>
                    <a:pt x="1428750" y="0"/>
                  </a:lnTo>
                  <a:cubicBezTo>
                    <a:pt x="1481355" y="0"/>
                    <a:pt x="1524000" y="42645"/>
                    <a:pt x="1524000" y="95250"/>
                  </a:cubicBezTo>
                  <a:lnTo>
                    <a:pt x="1524000" y="323850"/>
                  </a:lnTo>
                  <a:cubicBezTo>
                    <a:pt x="1524000" y="376455"/>
                    <a:pt x="1481355" y="419100"/>
                    <a:pt x="14287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057650" y="4476750"/>
              <a:ext cx="1352550" cy="419100"/>
            </a:xfrm>
            <a:custGeom>
              <a:avLst/>
              <a:gdLst/>
              <a:ahLst/>
              <a:cxnLst/>
              <a:rect l="l" t="t" r="r" b="b"/>
              <a:pathLst>
                <a:path w="1352550" h="419100">
                  <a:moveTo>
                    <a:pt x="95250" y="0"/>
                  </a:moveTo>
                  <a:lnTo>
                    <a:pt x="1257300" y="0"/>
                  </a:lnTo>
                  <a:cubicBezTo>
                    <a:pt x="1309905" y="0"/>
                    <a:pt x="1352550" y="42645"/>
                    <a:pt x="1352550" y="95250"/>
                  </a:cubicBezTo>
                  <a:lnTo>
                    <a:pt x="1352550" y="323850"/>
                  </a:lnTo>
                  <a:cubicBezTo>
                    <a:pt x="1352550" y="376455"/>
                    <a:pt x="1309905" y="419100"/>
                    <a:pt x="125730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2613" y="4597718"/>
              <a:ext cx="1193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AI营销工作台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73794" y="4597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现状概览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45419" y="4597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667500" y="1428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667500" y="2952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667500" y="4476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72300" y="112395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514350"/>
                  </a:lnTo>
                  <a:cubicBezTo>
                    <a:pt x="1143000" y="566955"/>
                    <a:pt x="1100355" y="609600"/>
                    <a:pt x="10477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477250" y="112395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514350"/>
                  </a:lnTo>
                  <a:cubicBezTo>
                    <a:pt x="1143000" y="566955"/>
                    <a:pt x="1100355" y="609600"/>
                    <a:pt x="10477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982200" y="112395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514350"/>
                  </a:lnTo>
                  <a:cubicBezTo>
                    <a:pt x="1143000" y="566955"/>
                    <a:pt x="1100355" y="609600"/>
                    <a:pt x="10477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86295" y="1266349"/>
              <a:ext cx="3150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25370" y="1266349"/>
              <a:ext cx="446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MODEL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23386" y="1266349"/>
              <a:ext cx="460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ACTION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55294" y="1435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4576" y="143541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65194" y="1435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115300" y="14287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620250" y="14287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267700" y="14001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772650" y="14001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715250" y="249555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133350" y="0"/>
                  </a:moveTo>
                  <a:lnTo>
                    <a:pt x="2533650" y="0"/>
                  </a:lnTo>
                  <a:cubicBezTo>
                    <a:pt x="2607297" y="0"/>
                    <a:pt x="2667000" y="59703"/>
                    <a:pt x="2667000" y="133350"/>
                  </a:cubicBezTo>
                  <a:lnTo>
                    <a:pt x="2667000" y="781050"/>
                  </a:lnTo>
                  <a:cubicBezTo>
                    <a:pt x="2667000" y="854697"/>
                    <a:pt x="2607297" y="914400"/>
                    <a:pt x="2533650" y="914400"/>
                  </a:cubicBezTo>
                  <a:lnTo>
                    <a:pt x="133350" y="914400"/>
                  </a:lnTo>
                  <a:cubicBezTo>
                    <a:pt x="59703" y="914400"/>
                    <a:pt x="0" y="854697"/>
                    <a:pt x="0" y="7810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14836" y="2596515"/>
              <a:ext cx="18678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Marketing OS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69733" y="29308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统一洞察、统一编排、统一度量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972300" y="417195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514350"/>
                  </a:lnTo>
                  <a:cubicBezTo>
                    <a:pt x="1143000" y="566955"/>
                    <a:pt x="1100355" y="609600"/>
                    <a:pt x="10477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477250" y="417195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514350"/>
                  </a:lnTo>
                  <a:cubicBezTo>
                    <a:pt x="1143000" y="566955"/>
                    <a:pt x="1100355" y="609600"/>
                    <a:pt x="10477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982200" y="417195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514350"/>
                  </a:lnTo>
                  <a:cubicBezTo>
                    <a:pt x="1143000" y="566955"/>
                    <a:pt x="1100355" y="609600"/>
                    <a:pt x="10477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58012" y="4314349"/>
              <a:ext cx="571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JOURNEY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62962" y="4314349"/>
              <a:ext cx="571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CONTENT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23386" y="4314349"/>
              <a:ext cx="460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METRIC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55294" y="4483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触达编排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60244" y="4483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内容生成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65194" y="4483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543800" y="173355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9048750" y="173355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0553700" y="173355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477125" y="21050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982075" y="21050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0487025" y="21050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477125" y="3667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8982075" y="3667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0487025" y="3667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543800" y="2238375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048750" y="2238375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0553700" y="2238375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239000" y="5391150"/>
              <a:ext cx="3619500" cy="685800"/>
            </a:xfrm>
            <a:custGeom>
              <a:avLst/>
              <a:gdLst/>
              <a:ahLst/>
              <a:cxnLst/>
              <a:rect l="l" t="t" r="r" b="b"/>
              <a:pathLst>
                <a:path w="3619500" h="6858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571500"/>
                  </a:lnTo>
                  <a:cubicBezTo>
                    <a:pt x="3619500" y="634626"/>
                    <a:pt x="3568326" y="685800"/>
                    <a:pt x="35052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19416" y="5525452"/>
              <a:ext cx="1964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面向客户的企业级 SaaS 方案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17892" y="5759768"/>
              <a:ext cx="3364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从分散营销工具，走向统一 AI 运营底座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896600" y="1363028"/>
            <a:ext cx="1123188" cy="4488179"/>
            <a:chOff x="10896600" y="1363028"/>
            <a:chExt cx="1123188" cy="4488179"/>
          </a:xfrm>
        </p:grpSpPr>
        <p:sp>
          <p:nvSpPr>
            <p:cNvPr id="72" name="Ellipse 72"/>
            <p:cNvSpPr/>
            <p:nvPr/>
          </p:nvSpPr>
          <p:spPr>
            <a:xfrm>
              <a:off x="11258550" y="13716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443716" y="1363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主执行轴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10896600" y="569595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75" name="Line 75"/>
            <p:cNvSpPr/>
            <p:nvPr/>
          </p:nvSpPr>
          <p:spPr>
            <a:xfrm>
              <a:off x="11010900" y="57340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9525">
              <a:solidFill>
                <a:srgbClr val="A0AEC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368088" y="56749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857250"/>
            <a:ext cx="12382500" cy="8477250"/>
            <a:chOff x="0" y="-857250"/>
            <a:chExt cx="123825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810500" y="-857250"/>
              <a:ext cx="4000500" cy="4000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953500" y="4191000"/>
              <a:ext cx="3429000" cy="3429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0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705802"/>
            <a:ext cx="11067478" cy="5920264"/>
            <a:chOff x="557784" y="705802"/>
            <a:chExt cx="11067478" cy="59202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705802"/>
              <a:ext cx="634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927735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简报路线图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3525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43681" y="64641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641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1733550"/>
            <a:ext cx="11049000" cy="4095750"/>
            <a:chOff x="571500" y="1733550"/>
            <a:chExt cx="11049000" cy="4095750"/>
          </a:xfrm>
        </p:grpSpPr>
        <p:sp>
          <p:nvSpPr>
            <p:cNvPr id="14" name="Freeform 14"/>
            <p:cNvSpPr/>
            <p:nvPr/>
          </p:nvSpPr>
          <p:spPr>
            <a:xfrm>
              <a:off x="571500" y="1733550"/>
              <a:ext cx="3143250" cy="4095750"/>
            </a:xfrm>
            <a:custGeom>
              <a:avLst/>
              <a:gdLst/>
              <a:ahLst/>
              <a:cxnLst/>
              <a:rect l="l" t="t" r="r" b="b"/>
              <a:pathLst>
                <a:path w="3143250" h="4095750">
                  <a:moveTo>
                    <a:pt x="114300" y="0"/>
                  </a:moveTo>
                  <a:lnTo>
                    <a:pt x="3028950" y="0"/>
                  </a:lnTo>
                  <a:cubicBezTo>
                    <a:pt x="3092076" y="0"/>
                    <a:pt x="3143250" y="51174"/>
                    <a:pt x="3143250" y="114300"/>
                  </a:cubicBezTo>
                  <a:lnTo>
                    <a:pt x="3143250" y="3981450"/>
                  </a:lnTo>
                  <a:cubicBezTo>
                    <a:pt x="3143250" y="4044576"/>
                    <a:pt x="3092076" y="4095750"/>
                    <a:pt x="3028950" y="4095750"/>
                  </a:cubicBezTo>
                  <a:lnTo>
                    <a:pt x="114300" y="4095750"/>
                  </a:lnTo>
                  <a:cubicBezTo>
                    <a:pt x="51174" y="4095750"/>
                    <a:pt x="0" y="4044576"/>
                    <a:pt x="0" y="3981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1733550"/>
              <a:ext cx="76200" cy="409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8680" y="20097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本简报直接给出核心结论、主要风险与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8680" y="22955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可执行的下一步，供管理层快速决策。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095750" y="20002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029075" y="22002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029075" y="30003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029075" y="38004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029075" y="46005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029075" y="54006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572000" y="1924050"/>
              <a:ext cx="7048500" cy="685800"/>
            </a:xfrm>
            <a:custGeom>
              <a:avLst/>
              <a:gdLst/>
              <a:ahLst/>
              <a:cxnLst/>
              <a:rect l="l" t="t" r="r" b="b"/>
              <a:pathLst>
                <a:path w="7048500" h="685800">
                  <a:moveTo>
                    <a:pt x="114300" y="0"/>
                  </a:moveTo>
                  <a:lnTo>
                    <a:pt x="6934200" y="0"/>
                  </a:lnTo>
                  <a:cubicBezTo>
                    <a:pt x="6997326" y="0"/>
                    <a:pt x="7048500" y="51174"/>
                    <a:pt x="7048500" y="114300"/>
                  </a:cubicBezTo>
                  <a:lnTo>
                    <a:pt x="7048500" y="571500"/>
                  </a:lnTo>
                  <a:cubicBezTo>
                    <a:pt x="7048500" y="634626"/>
                    <a:pt x="6997326" y="685800"/>
                    <a:pt x="69342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572000" y="2724150"/>
              <a:ext cx="7048500" cy="685800"/>
            </a:xfrm>
            <a:custGeom>
              <a:avLst/>
              <a:gdLst/>
              <a:ahLst/>
              <a:cxnLst/>
              <a:rect l="l" t="t" r="r" b="b"/>
              <a:pathLst>
                <a:path w="7048500" h="685800">
                  <a:moveTo>
                    <a:pt x="114300" y="0"/>
                  </a:moveTo>
                  <a:lnTo>
                    <a:pt x="6934200" y="0"/>
                  </a:lnTo>
                  <a:cubicBezTo>
                    <a:pt x="6997326" y="0"/>
                    <a:pt x="7048500" y="51174"/>
                    <a:pt x="7048500" y="114300"/>
                  </a:cubicBezTo>
                  <a:lnTo>
                    <a:pt x="7048500" y="571500"/>
                  </a:lnTo>
                  <a:cubicBezTo>
                    <a:pt x="7048500" y="634626"/>
                    <a:pt x="6997326" y="685800"/>
                    <a:pt x="69342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572000" y="3524250"/>
              <a:ext cx="7048500" cy="685800"/>
            </a:xfrm>
            <a:custGeom>
              <a:avLst/>
              <a:gdLst/>
              <a:ahLst/>
              <a:cxnLst/>
              <a:rect l="l" t="t" r="r" b="b"/>
              <a:pathLst>
                <a:path w="7048500" h="685800">
                  <a:moveTo>
                    <a:pt x="114300" y="0"/>
                  </a:moveTo>
                  <a:lnTo>
                    <a:pt x="6934200" y="0"/>
                  </a:lnTo>
                  <a:cubicBezTo>
                    <a:pt x="6997326" y="0"/>
                    <a:pt x="7048500" y="51174"/>
                    <a:pt x="7048500" y="114300"/>
                  </a:cubicBezTo>
                  <a:lnTo>
                    <a:pt x="7048500" y="571500"/>
                  </a:lnTo>
                  <a:cubicBezTo>
                    <a:pt x="7048500" y="634626"/>
                    <a:pt x="6997326" y="685800"/>
                    <a:pt x="69342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572000" y="4324350"/>
              <a:ext cx="7048500" cy="685800"/>
            </a:xfrm>
            <a:custGeom>
              <a:avLst/>
              <a:gdLst/>
              <a:ahLst/>
              <a:cxnLst/>
              <a:rect l="l" t="t" r="r" b="b"/>
              <a:pathLst>
                <a:path w="7048500" h="685800">
                  <a:moveTo>
                    <a:pt x="114300" y="0"/>
                  </a:moveTo>
                  <a:lnTo>
                    <a:pt x="6934200" y="0"/>
                  </a:lnTo>
                  <a:cubicBezTo>
                    <a:pt x="6997326" y="0"/>
                    <a:pt x="7048500" y="51174"/>
                    <a:pt x="7048500" y="114300"/>
                  </a:cubicBezTo>
                  <a:lnTo>
                    <a:pt x="7048500" y="571500"/>
                  </a:lnTo>
                  <a:cubicBezTo>
                    <a:pt x="7048500" y="634626"/>
                    <a:pt x="6997326" y="685800"/>
                    <a:pt x="69342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572000" y="5124450"/>
              <a:ext cx="7048500" cy="685800"/>
            </a:xfrm>
            <a:custGeom>
              <a:avLst/>
              <a:gdLst/>
              <a:ahLst/>
              <a:cxnLst/>
              <a:rect l="l" t="t" r="r" b="b"/>
              <a:pathLst>
                <a:path w="7048500" h="685800">
                  <a:moveTo>
                    <a:pt x="114300" y="0"/>
                  </a:moveTo>
                  <a:lnTo>
                    <a:pt x="6934200" y="0"/>
                  </a:lnTo>
                  <a:cubicBezTo>
                    <a:pt x="6997326" y="0"/>
                    <a:pt x="7048500" y="51174"/>
                    <a:pt x="7048500" y="114300"/>
                  </a:cubicBezTo>
                  <a:lnTo>
                    <a:pt x="7048500" y="571500"/>
                  </a:lnTo>
                  <a:cubicBezTo>
                    <a:pt x="7048500" y="634626"/>
                    <a:pt x="6997326" y="685800"/>
                    <a:pt x="69342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162425" y="226695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162425" y="306705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162425" y="386715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4162425" y="466725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162425" y="546735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762500" y="2095500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171450" y="0"/>
                  </a:moveTo>
                  <a:lnTo>
                    <a:pt x="342900" y="0"/>
                  </a:lnTo>
                  <a:cubicBezTo>
                    <a:pt x="437589" y="0"/>
                    <a:pt x="514350" y="76761"/>
                    <a:pt x="514350" y="171450"/>
                  </a:cubicBezTo>
                  <a:lnTo>
                    <a:pt x="514350" y="171450"/>
                  </a:lnTo>
                  <a:cubicBezTo>
                    <a:pt x="514350" y="266139"/>
                    <a:pt x="437589" y="342900"/>
                    <a:pt x="342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762500" y="2895600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171450" y="0"/>
                  </a:moveTo>
                  <a:lnTo>
                    <a:pt x="342900" y="0"/>
                  </a:lnTo>
                  <a:cubicBezTo>
                    <a:pt x="437589" y="0"/>
                    <a:pt x="514350" y="76761"/>
                    <a:pt x="514350" y="171450"/>
                  </a:cubicBezTo>
                  <a:lnTo>
                    <a:pt x="514350" y="171450"/>
                  </a:lnTo>
                  <a:cubicBezTo>
                    <a:pt x="514350" y="266139"/>
                    <a:pt x="437589" y="342900"/>
                    <a:pt x="342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762500" y="3695700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171450" y="0"/>
                  </a:moveTo>
                  <a:lnTo>
                    <a:pt x="342900" y="0"/>
                  </a:lnTo>
                  <a:cubicBezTo>
                    <a:pt x="437589" y="0"/>
                    <a:pt x="514350" y="76761"/>
                    <a:pt x="514350" y="171450"/>
                  </a:cubicBezTo>
                  <a:lnTo>
                    <a:pt x="514350" y="171450"/>
                  </a:lnTo>
                  <a:cubicBezTo>
                    <a:pt x="514350" y="266139"/>
                    <a:pt x="437589" y="342900"/>
                    <a:pt x="342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4762500" y="4495800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171450" y="0"/>
                  </a:moveTo>
                  <a:lnTo>
                    <a:pt x="342900" y="0"/>
                  </a:lnTo>
                  <a:cubicBezTo>
                    <a:pt x="437589" y="0"/>
                    <a:pt x="514350" y="76761"/>
                    <a:pt x="514350" y="171450"/>
                  </a:cubicBezTo>
                  <a:lnTo>
                    <a:pt x="514350" y="171450"/>
                  </a:lnTo>
                  <a:cubicBezTo>
                    <a:pt x="514350" y="266139"/>
                    <a:pt x="437589" y="342900"/>
                    <a:pt x="342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762500" y="5295900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171450" y="0"/>
                  </a:moveTo>
                  <a:lnTo>
                    <a:pt x="342900" y="0"/>
                  </a:lnTo>
                  <a:cubicBezTo>
                    <a:pt x="437589" y="0"/>
                    <a:pt x="514350" y="76761"/>
                    <a:pt x="514350" y="171450"/>
                  </a:cubicBezTo>
                  <a:lnTo>
                    <a:pt x="514350" y="171450"/>
                  </a:lnTo>
                  <a:cubicBezTo>
                    <a:pt x="514350" y="266139"/>
                    <a:pt x="437589" y="342900"/>
                    <a:pt x="342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920287" y="21945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20287" y="2994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20287" y="37947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20287" y="45948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20287" y="5394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14594" y="2008822"/>
              <a:ext cx="44226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传统模式的天花板与 AI 突破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18404" y="2308860"/>
              <a:ext cx="4014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为何传统模式已到天花板及 AI 工作台带来的量化突破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14594" y="2808922"/>
              <a:ext cx="29321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四大模块如何形成闭环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18404" y="3108960"/>
              <a:ext cx="3963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数据整合、AI 分析、自动化执行与效果度量协同运转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14594" y="3609022"/>
              <a:ext cx="26409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部署陷阱与缓解策略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18404" y="39090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部署中的最大陷阱及经过验证的缓解策略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4594" y="4409122"/>
              <a:ext cx="18837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 天启动计划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18404" y="4709160"/>
              <a:ext cx="2661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 天启动计划与所需团队、技术准备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14594" y="5209222"/>
              <a:ext cx="29321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明确的决策点与时间线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18404" y="550926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明确里程碑与审批节点，确保项目立即推进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76300" y="2952750"/>
              <a:ext cx="25336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76300" y="3238500"/>
              <a:ext cx="25336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76300" y="3524250"/>
              <a:ext cx="25336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76300" y="3810000"/>
              <a:ext cx="25336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90600" y="3067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75004" y="3032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核心结论先行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90600" y="33528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75004" y="3318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聚焦四大能力模块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90600" y="36385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75004" y="3604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同步识别实施风险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90600" y="3924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75004" y="3890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给出启动行动路径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741102" y="933450"/>
            <a:ext cx="2901296" cy="323850"/>
            <a:chOff x="8741102" y="933450"/>
            <a:chExt cx="2901296" cy="323850"/>
          </a:xfrm>
        </p:grpSpPr>
        <p:sp>
          <p:nvSpPr>
            <p:cNvPr id="67" name="Freeform 67"/>
            <p:cNvSpPr/>
            <p:nvPr/>
          </p:nvSpPr>
          <p:spPr>
            <a:xfrm>
              <a:off x="8763000" y="933450"/>
              <a:ext cx="2857500" cy="323850"/>
            </a:xfrm>
            <a:custGeom>
              <a:avLst/>
              <a:gdLst/>
              <a:ahLst/>
              <a:cxnLst/>
              <a:rect l="l" t="t" r="r" b="b"/>
              <a:pathLst>
                <a:path w="2857500" h="323850">
                  <a:moveTo>
                    <a:pt x="161925" y="0"/>
                  </a:moveTo>
                  <a:lnTo>
                    <a:pt x="2695575" y="0"/>
                  </a:lnTo>
                  <a:cubicBezTo>
                    <a:pt x="2785004" y="0"/>
                    <a:pt x="2857500" y="72496"/>
                    <a:pt x="2857500" y="161925"/>
                  </a:cubicBezTo>
                  <a:lnTo>
                    <a:pt x="2857500" y="161925"/>
                  </a:lnTo>
                  <a:cubicBezTo>
                    <a:pt x="2857500" y="251354"/>
                    <a:pt x="2785004" y="323850"/>
                    <a:pt x="26955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54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741102" y="1029652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从问题识别 → 方案闭环 → 落地执行 → 决策推进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8001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971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239125" y="120015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120015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chemeClr val="accent4">
                  <a:alpha val="45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20175" y="120015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chemeClr val="accent4">
                  <a:alpha val="30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410700" y="120015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9525">
              <a:solidFill>
                <a:schemeClr val="accent4">
                  <a:alpha val="20000"/>
                </a:scheme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5785" y="392906"/>
            <a:ext cx="11059477" cy="6252210"/>
            <a:chOff x="565785" y="392906"/>
            <a:chExt cx="11059477" cy="6252210"/>
          </a:xfrm>
        </p:grpSpPr>
        <p:sp>
          <p:nvSpPr>
            <p:cNvPr id="12" name="TextBox 12"/>
            <p:cNvSpPr txBox="1"/>
            <p:nvPr/>
          </p:nvSpPr>
          <p:spPr>
            <a:xfrm>
              <a:off x="565785" y="392906"/>
              <a:ext cx="677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43681" y="64831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57784" y="1213485"/>
            <a:ext cx="11769090" cy="4291965"/>
            <a:chOff x="557784" y="1213485"/>
            <a:chExt cx="11769090" cy="4291965"/>
          </a:xfrm>
        </p:grpSpPr>
        <p:sp>
          <p:nvSpPr>
            <p:cNvPr id="16" name="TextBox 16"/>
            <p:cNvSpPr txBox="1"/>
            <p:nvPr/>
          </p:nvSpPr>
          <p:spPr>
            <a:xfrm>
              <a:off x="557784" y="12134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营销增长的三大断层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1866900"/>
              <a:ext cx="7315200" cy="3638550"/>
            </a:xfrm>
            <a:custGeom>
              <a:avLst/>
              <a:gdLst/>
              <a:ahLst/>
              <a:cxnLst/>
              <a:rect l="l" t="t" r="r" b="b"/>
              <a:pathLst>
                <a:path w="7315200" h="3638550">
                  <a:moveTo>
                    <a:pt x="133350" y="0"/>
                  </a:moveTo>
                  <a:lnTo>
                    <a:pt x="7181850" y="0"/>
                  </a:lnTo>
                  <a:cubicBezTo>
                    <a:pt x="7255497" y="0"/>
                    <a:pt x="7315200" y="59703"/>
                    <a:pt x="7315200" y="133350"/>
                  </a:cubicBezTo>
                  <a:lnTo>
                    <a:pt x="7315200" y="3505200"/>
                  </a:lnTo>
                  <a:cubicBezTo>
                    <a:pt x="7315200" y="3578847"/>
                    <a:pt x="7255497" y="3638550"/>
                    <a:pt x="7181850" y="3638550"/>
                  </a:cubicBezTo>
                  <a:lnTo>
                    <a:pt x="133350" y="3638550"/>
                  </a:lnTo>
                  <a:cubicBezTo>
                    <a:pt x="59703" y="3638550"/>
                    <a:pt x="0" y="3578847"/>
                    <a:pt x="0" y="3505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1866900"/>
              <a:ext cx="95250" cy="3638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4494" y="2380298"/>
              <a:ext cx="8935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主判断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1446" y="2925128"/>
              <a:ext cx="39908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分散的工具链和手工流程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1446" y="3401378"/>
              <a:ext cx="2909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正在吞噬增长潜力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6018" y="4279582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决策速度远低于市场变化，预算、内容、投放与复盘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6018" y="460343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被切割在多个系统之间，难以形成持续优化闭环。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914400" y="4905375"/>
              <a:ext cx="6515100" cy="9525"/>
            </a:xfrm>
            <a:custGeom>
              <a:avLst/>
              <a:gdLst/>
              <a:ahLst/>
              <a:cxnLst/>
              <a:rect l="l" t="t" r="r" b="b"/>
              <a:pathLst>
                <a:path w="6515100" h="9525">
                  <a:moveTo>
                    <a:pt x="0" y="0"/>
                  </a:moveTo>
                  <a:lnTo>
                    <a:pt x="6515100" y="0"/>
                  </a:lnTo>
                </a:path>
              </a:pathLst>
            </a:custGeom>
            <a:noFill/>
            <a:ln w="14288">
              <a:solidFill>
                <a:srgbClr val="D6E4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8685" y="5117306"/>
              <a:ext cx="5242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3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如果不重构增长工作流，AI 只能成为零散插件，无法成为经营系统。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477250" y="1619250"/>
              <a:ext cx="3143250" cy="1143000"/>
            </a:xfrm>
            <a:custGeom>
              <a:avLst/>
              <a:gdLst/>
              <a:ahLst/>
              <a:cxnLst/>
              <a:rect l="l" t="t" r="r" b="b"/>
              <a:pathLst>
                <a:path w="3143250" h="1143000">
                  <a:moveTo>
                    <a:pt x="114300" y="0"/>
                  </a:moveTo>
                  <a:lnTo>
                    <a:pt x="3028950" y="0"/>
                  </a:lnTo>
                  <a:cubicBezTo>
                    <a:pt x="3092076" y="0"/>
                    <a:pt x="3143250" y="51174"/>
                    <a:pt x="3143250" y="114300"/>
                  </a:cubicBezTo>
                  <a:lnTo>
                    <a:pt x="3143250" y="1028700"/>
                  </a:lnTo>
                  <a:cubicBezTo>
                    <a:pt x="3143250" y="1091826"/>
                    <a:pt x="3092076" y="1143000"/>
                    <a:pt x="30289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667750" y="1885950"/>
              <a:ext cx="228600" cy="2286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82050" y="19431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724900" y="20002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40368" y="1774508"/>
              <a:ext cx="22346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营销增长的三大断层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41892" y="21116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链路割裂、反馈滞后、执行依赖人工，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41892" y="23783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增长难以规模化复制。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477250" y="2971800"/>
              <a:ext cx="3143250" cy="1143000"/>
            </a:xfrm>
            <a:custGeom>
              <a:avLst/>
              <a:gdLst/>
              <a:ahLst/>
              <a:cxnLst/>
              <a:rect l="l" t="t" r="r" b="b"/>
              <a:pathLst>
                <a:path w="3143250" h="1143000">
                  <a:moveTo>
                    <a:pt x="114300" y="0"/>
                  </a:moveTo>
                  <a:lnTo>
                    <a:pt x="3028950" y="0"/>
                  </a:lnTo>
                  <a:cubicBezTo>
                    <a:pt x="3092076" y="0"/>
                    <a:pt x="3143250" y="51174"/>
                    <a:pt x="3143250" y="114300"/>
                  </a:cubicBezTo>
                  <a:lnTo>
                    <a:pt x="3143250" y="1028700"/>
                  </a:lnTo>
                  <a:cubicBezTo>
                    <a:pt x="3143250" y="1091826"/>
                    <a:pt x="3092076" y="1143000"/>
                    <a:pt x="30289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667750" y="3238500"/>
              <a:ext cx="228600" cy="2286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712518" y="3330892"/>
              <a:ext cx="43815" cy="438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760142" y="3330892"/>
              <a:ext cx="43815" cy="438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807768" y="3330892"/>
              <a:ext cx="43815" cy="438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40368" y="3127058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当前事实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41892" y="34642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数据、内容、投放、销售线索各自为政，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41892" y="37309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跨团队协同成本持续上升。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477250" y="4324350"/>
              <a:ext cx="3143250" cy="1143000"/>
            </a:xfrm>
            <a:custGeom>
              <a:avLst/>
              <a:gdLst/>
              <a:ahLst/>
              <a:cxnLst/>
              <a:rect l="l" t="t" r="r" b="b"/>
              <a:pathLst>
                <a:path w="3143250" h="1143000">
                  <a:moveTo>
                    <a:pt x="114300" y="0"/>
                  </a:moveTo>
                  <a:lnTo>
                    <a:pt x="3028950" y="0"/>
                  </a:lnTo>
                  <a:cubicBezTo>
                    <a:pt x="3092076" y="0"/>
                    <a:pt x="3143250" y="51174"/>
                    <a:pt x="3143250" y="114300"/>
                  </a:cubicBezTo>
                  <a:lnTo>
                    <a:pt x="3143250" y="1028700"/>
                  </a:lnTo>
                  <a:cubicBezTo>
                    <a:pt x="3143250" y="1091826"/>
                    <a:pt x="3092076" y="1143000"/>
                    <a:pt x="302895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667750" y="4591050"/>
              <a:ext cx="228600" cy="2286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715375" y="46577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95250"/>
                  </a:moveTo>
                  <a:lnTo>
                    <a:pt x="47625" y="47625"/>
                  </a:lnTo>
                  <a:lnTo>
                    <a:pt x="85725" y="76200"/>
                  </a:lnTo>
                  <a:lnTo>
                    <a:pt x="142875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40368" y="4479608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变化趋势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41892" y="48167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流量碎片化与内容实时化并行，企业需要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41892" y="50834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更快洞察、更自动执行、更闭环度量。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142988" y="2190750"/>
            <a:ext cx="1143762" cy="2705100"/>
            <a:chOff x="7142988" y="2190750"/>
            <a:chExt cx="1143762" cy="2705100"/>
          </a:xfrm>
        </p:grpSpPr>
        <p:sp>
          <p:nvSpPr>
            <p:cNvPr id="48" name="Line 48"/>
            <p:cNvSpPr/>
            <p:nvPr/>
          </p:nvSpPr>
          <p:spPr>
            <a:xfrm>
              <a:off x="7886700" y="2190750"/>
              <a:ext cx="400050" cy="838200"/>
            </a:xfrm>
            <a:custGeom>
              <a:avLst/>
              <a:gdLst/>
              <a:ahLst/>
              <a:cxnLst/>
              <a:rect l="l" t="t" r="r" b="b"/>
              <a:pathLst>
                <a:path w="400050" h="838200">
                  <a:moveTo>
                    <a:pt x="0" y="838200"/>
                  </a:moveTo>
                  <a:lnTo>
                    <a:pt x="4000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839075" y="2981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7886700" y="3543300"/>
              <a:ext cx="400050" cy="152400"/>
            </a:xfrm>
            <a:custGeom>
              <a:avLst/>
              <a:gdLst/>
              <a:ahLst/>
              <a:cxnLst/>
              <a:rect l="l" t="t" r="r" b="b"/>
              <a:pathLst>
                <a:path w="400050" h="152400">
                  <a:moveTo>
                    <a:pt x="0" y="152400"/>
                  </a:moveTo>
                  <a:lnTo>
                    <a:pt x="4000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839075" y="36480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7886700" y="4362450"/>
              <a:ext cx="400050" cy="533400"/>
            </a:xfrm>
            <a:custGeom>
              <a:avLst/>
              <a:gdLst/>
              <a:ahLst/>
              <a:cxnLst/>
              <a:rect l="l" t="t" r="r" b="b"/>
              <a:pathLst>
                <a:path w="400050" h="533400">
                  <a:moveTo>
                    <a:pt x="0" y="0"/>
                  </a:moveTo>
                  <a:lnTo>
                    <a:pt x="400050" y="5334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7839075" y="4314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42988" y="29632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断层一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42988" y="36299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断层二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42988" y="42967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断层三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chemeClr val="accent6"/>
                </a:gs>
                <a:gs pos="100000">
                  <a:schemeClr val="lt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1409700"/>
              <a:ext cx="9525" cy="4705350"/>
            </a:xfrm>
            <a:custGeom>
              <a:avLst/>
              <a:gdLst/>
              <a:ahLst/>
              <a:cxnLst/>
              <a:rect l="l" t="t" r="r" b="b"/>
              <a:pathLst>
                <a:path w="9525" h="4705350">
                  <a:moveTo>
                    <a:pt x="0" y="0"/>
                  </a:moveTo>
                  <a:lnTo>
                    <a:pt x="0" y="47053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791200" y="3457575"/>
              <a:ext cx="609600" cy="6096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905500" y="3571875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439102"/>
            <a:ext cx="11048429" cy="6206014"/>
            <a:chOff x="557784" y="439102"/>
            <a:chExt cx="11048429" cy="620601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439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5276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营销运营模式的前后对比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038225"/>
              <a:ext cx="7397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从手工拼接、反应迟缓到实时闭环、自主优化，运营效率与ROI存在代际差距。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7452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1524000"/>
            <a:ext cx="11049000" cy="4591050"/>
            <a:chOff x="571500" y="1524000"/>
            <a:chExt cx="11049000" cy="4591050"/>
          </a:xfrm>
        </p:grpSpPr>
        <p:sp>
          <p:nvSpPr>
            <p:cNvPr id="15" name="Freeform 15"/>
            <p:cNvSpPr/>
            <p:nvPr/>
          </p:nvSpPr>
          <p:spPr>
            <a:xfrm>
              <a:off x="571500" y="1524000"/>
              <a:ext cx="5238750" cy="4591050"/>
            </a:xfrm>
            <a:custGeom>
              <a:avLst/>
              <a:gdLst/>
              <a:ahLst/>
              <a:cxnLst/>
              <a:rect l="l" t="t" r="r" b="b"/>
              <a:pathLst>
                <a:path w="5238750" h="459105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4476750"/>
                  </a:lnTo>
                  <a:cubicBezTo>
                    <a:pt x="5238750" y="4539876"/>
                    <a:pt x="5187576" y="4591050"/>
                    <a:pt x="5124450" y="4591050"/>
                  </a:cubicBezTo>
                  <a:lnTo>
                    <a:pt x="114300" y="4591050"/>
                  </a:lnTo>
                  <a:cubicBezTo>
                    <a:pt x="51174" y="4591050"/>
                    <a:pt x="0" y="4539876"/>
                    <a:pt x="0" y="447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381750" y="1524000"/>
              <a:ext cx="5238750" cy="4591050"/>
            </a:xfrm>
            <a:custGeom>
              <a:avLst/>
              <a:gdLst/>
              <a:ahLst/>
              <a:cxnLst/>
              <a:rect l="l" t="t" r="r" b="b"/>
              <a:pathLst>
                <a:path w="5238750" h="4591050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4476750"/>
                  </a:lnTo>
                  <a:cubicBezTo>
                    <a:pt x="5238750" y="4539876"/>
                    <a:pt x="5187576" y="4591050"/>
                    <a:pt x="5124450" y="4591050"/>
                  </a:cubicBezTo>
                  <a:lnTo>
                    <a:pt x="114300" y="4591050"/>
                  </a:lnTo>
                  <a:cubicBezTo>
                    <a:pt x="51174" y="4591050"/>
                    <a:pt x="0" y="4539876"/>
                    <a:pt x="0" y="447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00100" y="1752600"/>
              <a:ext cx="1543050" cy="342900"/>
            </a:xfrm>
            <a:custGeom>
              <a:avLst/>
              <a:gdLst/>
              <a:ahLst/>
              <a:cxnLst/>
              <a:rect l="l" t="t" r="r" b="b"/>
              <a:pathLst>
                <a:path w="1543050" h="342900">
                  <a:moveTo>
                    <a:pt x="171450" y="0"/>
                  </a:moveTo>
                  <a:lnTo>
                    <a:pt x="1371600" y="0"/>
                  </a:lnTo>
                  <a:cubicBezTo>
                    <a:pt x="1466289" y="0"/>
                    <a:pt x="1543050" y="76761"/>
                    <a:pt x="1543050" y="171450"/>
                  </a:cubicBezTo>
                  <a:lnTo>
                    <a:pt x="1543050" y="171450"/>
                  </a:lnTo>
                  <a:cubicBezTo>
                    <a:pt x="1543050" y="266139"/>
                    <a:pt x="1466289" y="342900"/>
                    <a:pt x="13716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83589" y="1867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传统模式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610350" y="1752600"/>
              <a:ext cx="1676400" cy="342900"/>
            </a:xfrm>
            <a:custGeom>
              <a:avLst/>
              <a:gdLst/>
              <a:ahLst/>
              <a:cxnLst/>
              <a:rect l="l" t="t" r="r" b="b"/>
              <a:pathLst>
                <a:path w="1676400" h="342900">
                  <a:moveTo>
                    <a:pt x="171450" y="0"/>
                  </a:moveTo>
                  <a:lnTo>
                    <a:pt x="1504950" y="0"/>
                  </a:lnTo>
                  <a:cubicBezTo>
                    <a:pt x="1599639" y="0"/>
                    <a:pt x="1676400" y="76761"/>
                    <a:pt x="1676400" y="171450"/>
                  </a:cubicBezTo>
                  <a:lnTo>
                    <a:pt x="1676400" y="171450"/>
                  </a:lnTo>
                  <a:cubicBezTo>
                    <a:pt x="1676400" y="266139"/>
                    <a:pt x="1599639" y="342900"/>
                    <a:pt x="15049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11430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4519" y="1867852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AI营销工作台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0194" y="2246948"/>
              <a:ext cx="26409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手工拼接，反应迟缓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00444" y="2246948"/>
              <a:ext cx="26409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智能中枢，实时闭环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00100" y="2686050"/>
              <a:ext cx="4781550" cy="609600"/>
            </a:xfrm>
            <a:custGeom>
              <a:avLst/>
              <a:gdLst/>
              <a:ahLst/>
              <a:cxnLst/>
              <a:rect l="l" t="t" r="r" b="b"/>
              <a:pathLst>
                <a:path w="4781550" h="6096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514350"/>
                  </a:lnTo>
                  <a:cubicBezTo>
                    <a:pt x="4781550" y="566955"/>
                    <a:pt x="4738905" y="609600"/>
                    <a:pt x="468630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610350" y="2686050"/>
              <a:ext cx="4781550" cy="609600"/>
            </a:xfrm>
            <a:custGeom>
              <a:avLst/>
              <a:gdLst/>
              <a:ahLst/>
              <a:cxnLst/>
              <a:rect l="l" t="t" r="r" b="b"/>
              <a:pathLst>
                <a:path w="4781550" h="6096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514350"/>
                  </a:lnTo>
                  <a:cubicBezTo>
                    <a:pt x="4781550" y="566955"/>
                    <a:pt x="4738905" y="609600"/>
                    <a:pt x="468630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3366" y="2820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33616" y="2820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1080" y="30003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围绕报表和人力补位运转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31330" y="30003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围绕统一数据、模型与动作引擎运转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00100" y="3448050"/>
              <a:ext cx="4781550" cy="685800"/>
            </a:xfrm>
            <a:custGeom>
              <a:avLst/>
              <a:gdLst/>
              <a:ahLst/>
              <a:cxnLst/>
              <a:rect l="l" t="t" r="r" b="b"/>
              <a:pathLst>
                <a:path w="4781550" h="6858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590550"/>
                  </a:lnTo>
                  <a:cubicBezTo>
                    <a:pt x="4781550" y="643155"/>
                    <a:pt x="4738905" y="685800"/>
                    <a:pt x="468630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610350" y="3448050"/>
              <a:ext cx="4781550" cy="685800"/>
            </a:xfrm>
            <a:custGeom>
              <a:avLst/>
              <a:gdLst/>
              <a:ahLst/>
              <a:cxnLst/>
              <a:rect l="l" t="t" r="r" b="b"/>
              <a:pathLst>
                <a:path w="4781550" h="6858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590550"/>
                  </a:lnTo>
                  <a:cubicBezTo>
                    <a:pt x="4781550" y="643155"/>
                    <a:pt x="4738905" y="685800"/>
                    <a:pt x="468630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3366" y="3582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数据流转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33616" y="3582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数据流转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1080" y="37719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数据每周拉取合并，跨渠道口径难统一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31330" y="37719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全渠道数据分钟级同步，口径统一且可追溯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00100" y="4286250"/>
              <a:ext cx="4781550" cy="685800"/>
            </a:xfrm>
            <a:custGeom>
              <a:avLst/>
              <a:gdLst/>
              <a:ahLst/>
              <a:cxnLst/>
              <a:rect l="l" t="t" r="r" b="b"/>
              <a:pathLst>
                <a:path w="4781550" h="6858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590550"/>
                  </a:lnTo>
                  <a:cubicBezTo>
                    <a:pt x="4781550" y="643155"/>
                    <a:pt x="4738905" y="685800"/>
                    <a:pt x="468630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610350" y="4286250"/>
              <a:ext cx="4781550" cy="685800"/>
            </a:xfrm>
            <a:custGeom>
              <a:avLst/>
              <a:gdLst/>
              <a:ahLst/>
              <a:cxnLst/>
              <a:rect l="l" t="t" r="r" b="b"/>
              <a:pathLst>
                <a:path w="4781550" h="6858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590550"/>
                  </a:lnTo>
                  <a:cubicBezTo>
                    <a:pt x="4781550" y="643155"/>
                    <a:pt x="4738905" y="685800"/>
                    <a:pt x="468630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3366" y="4420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策略方式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33616" y="4420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策略方式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1080" y="46101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分群依靠静态规则，难捕捉实时意图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31330" y="46101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预测性洞察驱动个性化，策略随行为动态更新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00100" y="5124450"/>
              <a:ext cx="4781550" cy="762000"/>
            </a:xfrm>
            <a:custGeom>
              <a:avLst/>
              <a:gdLst/>
              <a:ahLst/>
              <a:cxnLst/>
              <a:rect l="l" t="t" r="r" b="b"/>
              <a:pathLst>
                <a:path w="4781550" h="7620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666750"/>
                  </a:lnTo>
                  <a:cubicBezTo>
                    <a:pt x="4781550" y="719355"/>
                    <a:pt x="4738905" y="762000"/>
                    <a:pt x="468630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610350" y="5124450"/>
              <a:ext cx="4781550" cy="762000"/>
            </a:xfrm>
            <a:custGeom>
              <a:avLst/>
              <a:gdLst/>
              <a:ahLst/>
              <a:cxnLst/>
              <a:rect l="l" t="t" r="r" b="b"/>
              <a:pathLst>
                <a:path w="4781550" h="762000">
                  <a:moveTo>
                    <a:pt x="95250" y="0"/>
                  </a:moveTo>
                  <a:lnTo>
                    <a:pt x="4686300" y="0"/>
                  </a:lnTo>
                  <a:cubicBezTo>
                    <a:pt x="4738905" y="0"/>
                    <a:pt x="4781550" y="42645"/>
                    <a:pt x="4781550" y="95250"/>
                  </a:cubicBezTo>
                  <a:lnTo>
                    <a:pt x="4781550" y="666750"/>
                  </a:lnTo>
                  <a:cubicBezTo>
                    <a:pt x="4781550" y="719355"/>
                    <a:pt x="4738905" y="762000"/>
                    <a:pt x="468630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3366" y="5258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执行与结果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33616" y="5258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执行与结果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1080" y="5448300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活动优化周期约2周，团队80%时间处理数据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1080" y="5667375"/>
              <a:ext cx="2703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策略复盘滞后，ROI改善有限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31330" y="5448300"/>
              <a:ext cx="4303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活动自动执行并自优化，ROI实测提升25–60%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31330" y="56673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团队回到策略与创意，闭环迭代显著加快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5810250" y="2990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5810250" y="37909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5810250" y="4629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5810250" y="55054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5972175" y="2990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123825" y="0"/>
                  </a:ln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5972175" y="37909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123825" y="0"/>
                  </a:ln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972175" y="46291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123825" y="0"/>
                  </a:ln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rgbClr val="CBD5E0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5972175" y="55054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123825" y="0"/>
                  </a:lnTo>
                  <a:lnTo>
                    <a:pt x="2476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87517" y="3578542"/>
              <a:ext cx="41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代际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87517" y="3769042"/>
              <a:ext cx="41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差距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6229350"/>
            <a:ext cx="11049000" cy="323850"/>
            <a:chOff x="571500" y="6229350"/>
            <a:chExt cx="11049000" cy="323850"/>
          </a:xfrm>
        </p:grpSpPr>
        <p:sp>
          <p:nvSpPr>
            <p:cNvPr id="60" name="Freeform 60"/>
            <p:cNvSpPr/>
            <p:nvPr/>
          </p:nvSpPr>
          <p:spPr>
            <a:xfrm>
              <a:off x="571500" y="622935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47650"/>
                  </a:lnTo>
                  <a:cubicBezTo>
                    <a:pt x="11049000" y="289734"/>
                    <a:pt x="11014884" y="323850"/>
                    <a:pt x="109728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4766" y="6325552"/>
              <a:ext cx="7597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关键变量对比：数据时效、策略生成、执行方式、ROI回传；不同路径影响：从“人追数据”切换为“系统驱动增长”。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571500"/>
            <a:ext cx="13335000" cy="8572500"/>
            <a:chOff x="0" y="-571500"/>
            <a:chExt cx="13335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143875" y="-571500"/>
              <a:ext cx="3429000" cy="3429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144000" y="3810000"/>
              <a:ext cx="4191000" cy="4191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29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629602"/>
            <a:ext cx="10972229" cy="6025039"/>
            <a:chOff x="557784" y="629602"/>
            <a:chExt cx="10972229" cy="6025039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629602"/>
              <a:ext cx="900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870585"/>
              <a:ext cx="68092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客户实证：AI驱动增长已在发生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3906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738" y="64927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8320" y="64927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676400"/>
            <a:ext cx="11049000" cy="4565809"/>
            <a:chOff x="571500" y="1676400"/>
            <a:chExt cx="11049000" cy="4565809"/>
          </a:xfrm>
        </p:grpSpPr>
        <p:sp>
          <p:nvSpPr>
            <p:cNvPr id="14" name="Freeform 14"/>
            <p:cNvSpPr/>
            <p:nvPr/>
          </p:nvSpPr>
          <p:spPr>
            <a:xfrm>
              <a:off x="571500" y="1676400"/>
              <a:ext cx="11049000" cy="723900"/>
            </a:xfrm>
            <a:custGeom>
              <a:avLst/>
              <a:gdLst/>
              <a:ahLst/>
              <a:cxnLst/>
              <a:rect l="l" t="t" r="r" b="b"/>
              <a:pathLst>
                <a:path w="11049000" h="7239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09600"/>
                  </a:lnTo>
                  <a:cubicBezTo>
                    <a:pt x="11049000" y="672726"/>
                    <a:pt x="10997826" y="723900"/>
                    <a:pt x="10934700" y="723900"/>
                  </a:cubicBezTo>
                  <a:lnTo>
                    <a:pt x="114300" y="723900"/>
                  </a:lnTo>
                  <a:cubicBezTo>
                    <a:pt x="51174" y="723900"/>
                    <a:pt x="0" y="672726"/>
                    <a:pt x="0" y="609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580" y="18192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早期部署企业已获得可量化的业绩突破，以下为典型结果。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866" y="21345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证据页聚焦已验证成效与可引用事实锚点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2667000"/>
              <a:ext cx="5334000" cy="3124200"/>
            </a:xfrm>
            <a:custGeom>
              <a:avLst/>
              <a:gdLst/>
              <a:ahLst/>
              <a:cxnLst/>
              <a:rect l="l" t="t" r="r" b="b"/>
              <a:pathLst>
                <a:path w="5334000" h="312420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971800"/>
                  </a:lnTo>
                  <a:cubicBezTo>
                    <a:pt x="5334000" y="3055968"/>
                    <a:pt x="5265768" y="3124200"/>
                    <a:pt x="5181600" y="3124200"/>
                  </a:cubicBezTo>
                  <a:lnTo>
                    <a:pt x="152400" y="3124200"/>
                  </a:lnTo>
                  <a:cubicBezTo>
                    <a:pt x="68232" y="3124200"/>
                    <a:pt x="0" y="3055968"/>
                    <a:pt x="0" y="29718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286500" y="2667000"/>
              <a:ext cx="5334000" cy="3124200"/>
            </a:xfrm>
            <a:custGeom>
              <a:avLst/>
              <a:gdLst/>
              <a:ahLst/>
              <a:cxnLst/>
              <a:rect l="l" t="t" r="r" b="b"/>
              <a:pathLst>
                <a:path w="5334000" h="312420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971800"/>
                  </a:lnTo>
                  <a:cubicBezTo>
                    <a:pt x="5334000" y="3055968"/>
                    <a:pt x="5265768" y="3124200"/>
                    <a:pt x="5181600" y="3124200"/>
                  </a:cubicBezTo>
                  <a:lnTo>
                    <a:pt x="152400" y="3124200"/>
                  </a:lnTo>
                  <a:cubicBezTo>
                    <a:pt x="68232" y="3124200"/>
                    <a:pt x="0" y="3055968"/>
                    <a:pt x="0" y="29718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00100" y="2895600"/>
              <a:ext cx="1257300" cy="323850"/>
            </a:xfrm>
            <a:custGeom>
              <a:avLst/>
              <a:gdLst/>
              <a:ahLst/>
              <a:cxnLst/>
              <a:rect l="l" t="t" r="r" b="b"/>
              <a:pathLst>
                <a:path w="1257300" h="323850">
                  <a:moveTo>
                    <a:pt x="161925" y="0"/>
                  </a:moveTo>
                  <a:lnTo>
                    <a:pt x="1095375" y="0"/>
                  </a:lnTo>
                  <a:cubicBezTo>
                    <a:pt x="1184804" y="0"/>
                    <a:pt x="1257300" y="72496"/>
                    <a:pt x="1257300" y="161925"/>
                  </a:cubicBezTo>
                  <a:lnTo>
                    <a:pt x="1257300" y="161925"/>
                  </a:lnTo>
                  <a:cubicBezTo>
                    <a:pt x="1257300" y="251354"/>
                    <a:pt x="1184804" y="323850"/>
                    <a:pt x="10953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0788" y="29918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908" y="3303270"/>
              <a:ext cx="884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-34%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3392" y="34166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引流成本下降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7908" y="3836670"/>
              <a:ext cx="884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+28%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93392" y="3950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转化率提升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0100" y="4343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1718" y="45272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某头部美妆品牌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242" y="4883468"/>
              <a:ext cx="324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通过AI自动细分人群与动态内容生成，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242" y="51501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获客投放更精准，转化链路响应更快。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2000" y="5391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7354" y="53568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动态内容生成与分群联动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105150" y="5391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70504" y="53568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结果可直接归因到活动执行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515100" y="2895600"/>
              <a:ext cx="1257300" cy="323850"/>
            </a:xfrm>
            <a:custGeom>
              <a:avLst/>
              <a:gdLst/>
              <a:ahLst/>
              <a:cxnLst/>
              <a:rect l="l" t="t" r="r" b="b"/>
              <a:pathLst>
                <a:path w="1257300" h="323850">
                  <a:moveTo>
                    <a:pt x="161925" y="0"/>
                  </a:moveTo>
                  <a:lnTo>
                    <a:pt x="1095375" y="0"/>
                  </a:lnTo>
                  <a:cubicBezTo>
                    <a:pt x="1184804" y="0"/>
                    <a:pt x="1257300" y="72496"/>
                    <a:pt x="1257300" y="161925"/>
                  </a:cubicBezTo>
                  <a:lnTo>
                    <a:pt x="1257300" y="161925"/>
                  </a:lnTo>
                  <a:cubicBezTo>
                    <a:pt x="1257300" y="251354"/>
                    <a:pt x="1184804" y="323850"/>
                    <a:pt x="10953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15788" y="29918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2908" y="3303270"/>
              <a:ext cx="24080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1:2.8 → 1:4.6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8242" y="3721418"/>
              <a:ext cx="1868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三个月 ROI 连续提升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515100" y="4343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06718" y="4527232"/>
              <a:ext cx="239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 O2O 本地服务平台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8242" y="4883468"/>
              <a:ext cx="3441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整合线上与线下数据，AI实时分配预算，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08242" y="51501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持续把资源推向高回报场景与人群。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953250" y="554355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57150" cap="rnd">
              <a:solidFill>
                <a:schemeClr val="accent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848475" y="54387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791575" y="543877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734675" y="54387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1005" y="5715952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起点 1:2.8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78990" y="5715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优化中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06529" y="571595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三个月 1:4.6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571500" y="5981700"/>
              <a:ext cx="11049000" cy="228600"/>
            </a:xfrm>
            <a:custGeom>
              <a:avLst/>
              <a:gdLst/>
              <a:ahLst/>
              <a:cxnLst/>
              <a:rect l="l" t="t" r="r" b="b"/>
              <a:pathLst>
                <a:path w="11049000" h="2286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14300"/>
                  </a:lnTo>
                  <a:cubicBezTo>
                    <a:pt x="11049000" y="177426"/>
                    <a:pt x="10997826" y="228600"/>
                    <a:pt x="109347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47700" y="6057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3435" y="6022181"/>
              <a:ext cx="5588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事实锚点：AI在获客、预算与转化三端同时产生业务杠杆，而非仅提升单点效率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601200" y="1676400"/>
            <a:ext cx="2439772" cy="723900"/>
            <a:chOff x="9601200" y="1676400"/>
            <a:chExt cx="2439772" cy="723900"/>
          </a:xfrm>
        </p:grpSpPr>
        <p:sp>
          <p:nvSpPr>
            <p:cNvPr id="52" name="Freeform 52"/>
            <p:cNvSpPr/>
            <p:nvPr/>
          </p:nvSpPr>
          <p:spPr>
            <a:xfrm>
              <a:off x="9601200" y="1676400"/>
              <a:ext cx="2019300" cy="723900"/>
            </a:xfrm>
            <a:custGeom>
              <a:avLst/>
              <a:gdLst/>
              <a:ahLst/>
              <a:cxnLst/>
              <a:rect l="l" t="t" r="r" b="b"/>
              <a:pathLst>
                <a:path w="2019300" h="723900">
                  <a:moveTo>
                    <a:pt x="114300" y="0"/>
                  </a:moveTo>
                  <a:lnTo>
                    <a:pt x="1905000" y="0"/>
                  </a:lnTo>
                  <a:cubicBezTo>
                    <a:pt x="1968126" y="0"/>
                    <a:pt x="2019300" y="51174"/>
                    <a:pt x="2019300" y="114300"/>
                  </a:cubicBezTo>
                  <a:lnTo>
                    <a:pt x="2019300" y="609600"/>
                  </a:lnTo>
                  <a:cubicBezTo>
                    <a:pt x="2019300" y="672726"/>
                    <a:pt x="1968126" y="723900"/>
                    <a:pt x="1905000" y="723900"/>
                  </a:cubicBezTo>
                  <a:lnTo>
                    <a:pt x="114300" y="723900"/>
                  </a:lnTo>
                  <a:cubicBezTo>
                    <a:pt x="51174" y="723900"/>
                    <a:pt x="0" y="672726"/>
                    <a:pt x="0" y="609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24847" y="1837849"/>
              <a:ext cx="585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EVIDENCE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23704" y="20421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可引用结果来自真实部署场景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1239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8953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6172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572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>
                  <a:alpha val="28000"/>
                </a:scheme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>
                  <a:alpha val="22000"/>
                </a:scheme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477202"/>
            <a:ext cx="11067479" cy="6148864"/>
            <a:chOff x="557784" y="477202"/>
            <a:chExt cx="11067479" cy="6148864"/>
          </a:xfrm>
        </p:grpSpPr>
        <p:sp>
          <p:nvSpPr>
            <p:cNvPr id="10" name="TextBox 10"/>
            <p:cNvSpPr txBox="1"/>
            <p:nvPr/>
          </p:nvSpPr>
          <p:spPr>
            <a:xfrm>
              <a:off x="566166" y="477202"/>
              <a:ext cx="10347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68008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核心模块效能指标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641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93570" y="64641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63880" y="1343025"/>
            <a:ext cx="11056620" cy="4759262"/>
            <a:chOff x="563880" y="1343025"/>
            <a:chExt cx="11056620" cy="4759262"/>
          </a:xfrm>
        </p:grpSpPr>
        <p:sp>
          <p:nvSpPr>
            <p:cNvPr id="15" name="TextBox 15"/>
            <p:cNvSpPr txBox="1"/>
            <p:nvPr/>
          </p:nvSpPr>
          <p:spPr>
            <a:xfrm>
              <a:off x="563880" y="1343025"/>
              <a:ext cx="519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每一个模块均经过50+企业验证，实现可复现的运营改善。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1828800"/>
              <a:ext cx="11049000" cy="514350"/>
            </a:xfrm>
            <a:custGeom>
              <a:avLst/>
              <a:gdLst/>
              <a:ahLst/>
              <a:cxnLst/>
              <a:rect l="l" t="t" r="r" b="b"/>
              <a:pathLst>
                <a:path w="11049000" h="5143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19100"/>
                  </a:lnTo>
                  <a:cubicBezTo>
                    <a:pt x="11049000" y="471705"/>
                    <a:pt x="11006355" y="514350"/>
                    <a:pt x="10953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31392" y="1997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1997392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4892" y="19973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37142" y="1997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04875" y="20193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476625" y="20193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048375" y="20193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810625" y="20193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71500" y="2609850"/>
              <a:ext cx="2495550" cy="3067050"/>
            </a:xfrm>
            <a:custGeom>
              <a:avLst/>
              <a:gdLst/>
              <a:ahLst/>
              <a:cxnLst/>
              <a:rect l="l" t="t" r="r" b="b"/>
              <a:pathLst>
                <a:path w="2495550" h="3067050">
                  <a:moveTo>
                    <a:pt x="114300" y="0"/>
                  </a:moveTo>
                  <a:lnTo>
                    <a:pt x="2381250" y="0"/>
                  </a:lnTo>
                  <a:cubicBezTo>
                    <a:pt x="2444376" y="0"/>
                    <a:pt x="2495550" y="51174"/>
                    <a:pt x="2495550" y="114300"/>
                  </a:cubicBezTo>
                  <a:lnTo>
                    <a:pt x="2495550" y="2952750"/>
                  </a:lnTo>
                  <a:cubicBezTo>
                    <a:pt x="2495550" y="3015876"/>
                    <a:pt x="2444376" y="3067050"/>
                    <a:pt x="2381250" y="3067050"/>
                  </a:cubicBezTo>
                  <a:lnTo>
                    <a:pt x="114300" y="3067050"/>
                  </a:lnTo>
                  <a:cubicBezTo>
                    <a:pt x="51174" y="3067050"/>
                    <a:pt x="0" y="3015876"/>
                    <a:pt x="0" y="2952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2609850"/>
              <a:ext cx="24955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4766" y="2915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1050" y="3274695"/>
              <a:ext cx="216412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&lt;30分钟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718" y="39176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全渠道数据接入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3242" y="436911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实时同步 CRM、电商、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3242" y="46358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广告、私域与线下数据，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3242" y="49025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自动完成清洗与统一口径。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00100" y="52197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5147" y="540019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实时接入 / 自动清洗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3295650" y="2609850"/>
              <a:ext cx="2495550" cy="3067050"/>
            </a:xfrm>
            <a:custGeom>
              <a:avLst/>
              <a:gdLst/>
              <a:ahLst/>
              <a:cxnLst/>
              <a:rect l="l" t="t" r="r" b="b"/>
              <a:pathLst>
                <a:path w="2495550" h="3067050">
                  <a:moveTo>
                    <a:pt x="114300" y="0"/>
                  </a:moveTo>
                  <a:lnTo>
                    <a:pt x="2381250" y="0"/>
                  </a:lnTo>
                  <a:cubicBezTo>
                    <a:pt x="2444376" y="0"/>
                    <a:pt x="2495550" y="51174"/>
                    <a:pt x="2495550" y="114300"/>
                  </a:cubicBezTo>
                  <a:lnTo>
                    <a:pt x="2495550" y="2952750"/>
                  </a:lnTo>
                  <a:cubicBezTo>
                    <a:pt x="2495550" y="3015876"/>
                    <a:pt x="2444376" y="3067050"/>
                    <a:pt x="2381250" y="3067050"/>
                  </a:cubicBezTo>
                  <a:lnTo>
                    <a:pt x="114300" y="3067050"/>
                  </a:lnTo>
                  <a:cubicBezTo>
                    <a:pt x="51174" y="3067050"/>
                    <a:pt x="0" y="3015876"/>
                    <a:pt x="0" y="2952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95650" y="2609850"/>
              <a:ext cx="24955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18916" y="2915602"/>
              <a:ext cx="436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05200" y="3274695"/>
              <a:ext cx="143603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+35%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15868" y="39176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预测准确率提升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17392" y="4369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识别客户意图、流失风险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17392" y="46358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与高价值客群，缩短策略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17392" y="4902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判断链路。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524250" y="52197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19297" y="5400199"/>
              <a:ext cx="1099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分群 / 预测 / 洞察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019800" y="2609850"/>
              <a:ext cx="2495550" cy="3067050"/>
            </a:xfrm>
            <a:custGeom>
              <a:avLst/>
              <a:gdLst/>
              <a:ahLst/>
              <a:cxnLst/>
              <a:rect l="l" t="t" r="r" b="b"/>
              <a:pathLst>
                <a:path w="2495550" h="3067050">
                  <a:moveTo>
                    <a:pt x="114300" y="0"/>
                  </a:moveTo>
                  <a:lnTo>
                    <a:pt x="2381250" y="0"/>
                  </a:lnTo>
                  <a:cubicBezTo>
                    <a:pt x="2444376" y="0"/>
                    <a:pt x="2495550" y="51174"/>
                    <a:pt x="2495550" y="114300"/>
                  </a:cubicBezTo>
                  <a:lnTo>
                    <a:pt x="2495550" y="2952750"/>
                  </a:lnTo>
                  <a:cubicBezTo>
                    <a:pt x="2495550" y="3015876"/>
                    <a:pt x="2444376" y="3067050"/>
                    <a:pt x="2381250" y="3067050"/>
                  </a:cubicBezTo>
                  <a:lnTo>
                    <a:pt x="114300" y="3067050"/>
                  </a:lnTo>
                  <a:cubicBezTo>
                    <a:pt x="51174" y="3067050"/>
                    <a:pt x="0" y="3015876"/>
                    <a:pt x="0" y="2952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19800" y="2609850"/>
              <a:ext cx="24955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3066" y="2915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9350" y="3274695"/>
              <a:ext cx="99918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40018" y="39176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活动上线速度提升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41542" y="43691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策略编排、内容生成、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41542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渠道投放与触达规则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1542" y="4902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实现一体化自动执行。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248400" y="52197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3447" y="5400199"/>
              <a:ext cx="1099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编排 / 生成 / 投放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743950" y="2609850"/>
              <a:ext cx="2876550" cy="3067050"/>
            </a:xfrm>
            <a:custGeom>
              <a:avLst/>
              <a:gdLst/>
              <a:ahLst/>
              <a:cxnLst/>
              <a:rect l="l" t="t" r="r" b="b"/>
              <a:pathLst>
                <a:path w="2876550" h="3067050">
                  <a:moveTo>
                    <a:pt x="114300" y="0"/>
                  </a:moveTo>
                  <a:lnTo>
                    <a:pt x="2762250" y="0"/>
                  </a:lnTo>
                  <a:cubicBezTo>
                    <a:pt x="2825376" y="0"/>
                    <a:pt x="2876550" y="51174"/>
                    <a:pt x="2876550" y="114300"/>
                  </a:cubicBezTo>
                  <a:lnTo>
                    <a:pt x="2876550" y="2952750"/>
                  </a:lnTo>
                  <a:cubicBezTo>
                    <a:pt x="2876550" y="3015876"/>
                    <a:pt x="2825376" y="3067050"/>
                    <a:pt x="2762250" y="3067050"/>
                  </a:cubicBezTo>
                  <a:lnTo>
                    <a:pt x="114300" y="3067050"/>
                  </a:lnTo>
                  <a:cubicBezTo>
                    <a:pt x="51174" y="3067050"/>
                    <a:pt x="0" y="3015876"/>
                    <a:pt x="0" y="2952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743950" y="2609850"/>
              <a:ext cx="28765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67216" y="2915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55024" y="3323272"/>
              <a:ext cx="209611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实时闭环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64168" y="3917632"/>
              <a:ext cx="1532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7×24 持续优化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65692" y="43691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转化、留存、ROI 数据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65692" y="4635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分钟级回流，自动触发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65692" y="49025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预算与策略调整。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8972550" y="521970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6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67597" y="5400199"/>
              <a:ext cx="1099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监测 / 归因 / 优化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571500" y="5848350"/>
              <a:ext cx="11049000" cy="228600"/>
            </a:xfrm>
            <a:custGeom>
              <a:avLst/>
              <a:gdLst/>
              <a:ahLst/>
              <a:cxnLst/>
              <a:rect l="l" t="t" r="r" b="b"/>
              <a:pathLst>
                <a:path w="11049000" h="2286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14300"/>
                  </a:lnTo>
                  <a:cubicBezTo>
                    <a:pt x="11049000" y="177426"/>
                    <a:pt x="10997826" y="228600"/>
                    <a:pt x="109347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571500" y="5848350"/>
              <a:ext cx="7181850" cy="228600"/>
            </a:xfrm>
            <a:custGeom>
              <a:avLst/>
              <a:gdLst/>
              <a:ahLst/>
              <a:cxnLst/>
              <a:rect l="l" t="t" r="r" b="b"/>
              <a:pathLst>
                <a:path w="7181850" h="228600">
                  <a:moveTo>
                    <a:pt x="114300" y="0"/>
                  </a:moveTo>
                  <a:lnTo>
                    <a:pt x="7067550" y="0"/>
                  </a:lnTo>
                  <a:cubicBezTo>
                    <a:pt x="7130676" y="0"/>
                    <a:pt x="7181850" y="51174"/>
                    <a:pt x="7181850" y="114300"/>
                  </a:cubicBezTo>
                  <a:lnTo>
                    <a:pt x="7181850" y="114300"/>
                  </a:lnTo>
                  <a:cubicBezTo>
                    <a:pt x="7181850" y="177426"/>
                    <a:pt x="7130676" y="228600"/>
                    <a:pt x="70675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7696200" y="59055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38516" y="58969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从接入到优化，形成分钟级经营反馈回路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010650" y="1276350"/>
            <a:ext cx="2609850" cy="1025461"/>
            <a:chOff x="9010650" y="1276350"/>
            <a:chExt cx="2609850" cy="1025461"/>
          </a:xfrm>
        </p:grpSpPr>
        <p:sp>
          <p:nvSpPr>
            <p:cNvPr id="70" name="Freeform 70"/>
            <p:cNvSpPr/>
            <p:nvPr/>
          </p:nvSpPr>
          <p:spPr>
            <a:xfrm>
              <a:off x="9010650" y="1276350"/>
              <a:ext cx="2609850" cy="895350"/>
            </a:xfrm>
            <a:custGeom>
              <a:avLst/>
              <a:gdLst/>
              <a:ahLst/>
              <a:cxnLst/>
              <a:rect l="l" t="t" r="r" b="b"/>
              <a:pathLst>
                <a:path w="2609850" h="895350">
                  <a:moveTo>
                    <a:pt x="95250" y="0"/>
                  </a:moveTo>
                  <a:lnTo>
                    <a:pt x="2514600" y="0"/>
                  </a:lnTo>
                  <a:cubicBezTo>
                    <a:pt x="2567205" y="0"/>
                    <a:pt x="2609850" y="42645"/>
                    <a:pt x="2609850" y="95250"/>
                  </a:cubicBezTo>
                  <a:lnTo>
                    <a:pt x="2609850" y="800100"/>
                  </a:lnTo>
                  <a:cubicBezTo>
                    <a:pt x="2609850" y="852705"/>
                    <a:pt x="2567205" y="895350"/>
                    <a:pt x="2514600" y="895350"/>
                  </a:cubicBezTo>
                  <a:lnTo>
                    <a:pt x="95250" y="895350"/>
                  </a:lnTo>
                  <a:cubicBezTo>
                    <a:pt x="42645" y="895350"/>
                    <a:pt x="0" y="852705"/>
                    <a:pt x="0" y="800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195435" y="1421606"/>
              <a:ext cx="1442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管理层应关注的信号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95816" y="1677352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1. 数据就绪速度决定策略响应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95816" y="1886902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2. 预测精度决定资源投放效率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95816" y="2096452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3. 闭环能力决定持续增长上限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190500"/>
            <a:ext cx="12192000" cy="7048500"/>
            <a:chOff x="0" y="-19050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15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086850" y="-190500"/>
              <a:ext cx="2209800" cy="22098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344150" y="933450"/>
              <a:ext cx="1028700" cy="10287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332899"/>
            <a:ext cx="10972229" cy="6216967"/>
            <a:chOff x="557784" y="332899"/>
            <a:chExt cx="10972229" cy="6216967"/>
          </a:xfrm>
        </p:grpSpPr>
        <p:sp>
          <p:nvSpPr>
            <p:cNvPr id="9" name="TextBox 9"/>
            <p:cNvSpPr txBox="1"/>
            <p:nvPr/>
          </p:nvSpPr>
          <p:spPr>
            <a:xfrm>
              <a:off x="566547" y="332899"/>
              <a:ext cx="845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489585"/>
              <a:ext cx="58299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AI驱动的活动效能提升对比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3879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8320" y="6387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3880" y="1076325"/>
            <a:ext cx="11110722" cy="4699159"/>
            <a:chOff x="563880" y="1076325"/>
            <a:chExt cx="11110722" cy="4699159"/>
          </a:xfrm>
        </p:grpSpPr>
        <p:sp>
          <p:nvSpPr>
            <p:cNvPr id="14" name="TextBox 14"/>
            <p:cNvSpPr txBox="1"/>
            <p:nvPr/>
          </p:nvSpPr>
          <p:spPr>
            <a:xfrm>
              <a:off x="563880" y="1076325"/>
              <a:ext cx="6170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基于实际运行数据，AI工作台在主流营销场景中均带来显著增量。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562100"/>
              <a:ext cx="11049000" cy="4171950"/>
            </a:xfrm>
            <a:custGeom>
              <a:avLst/>
              <a:gdLst/>
              <a:ahLst/>
              <a:cxnLst/>
              <a:rect l="l" t="t" r="r" b="b"/>
              <a:pathLst>
                <a:path w="11049000" h="41719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057650"/>
                  </a:lnTo>
                  <a:cubicBezTo>
                    <a:pt x="11049000" y="4120776"/>
                    <a:pt x="10997826" y="4171950"/>
                    <a:pt x="10934700" y="4171950"/>
                  </a:cubicBezTo>
                  <a:lnTo>
                    <a:pt x="114300" y="4171950"/>
                  </a:lnTo>
                  <a:cubicBezTo>
                    <a:pt x="51174" y="4171950"/>
                    <a:pt x="0" y="4120776"/>
                    <a:pt x="0" y="4057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1"/>
            </a:gra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14400" y="2000250"/>
              <a:ext cx="1352550" cy="3028950"/>
            </a:xfrm>
            <a:custGeom>
              <a:avLst/>
              <a:gdLst/>
              <a:ahLst/>
              <a:cxnLst/>
              <a:rect l="l" t="t" r="r" b="b"/>
              <a:pathLst>
                <a:path w="1352550" h="3028950">
                  <a:moveTo>
                    <a:pt x="95250" y="0"/>
                  </a:moveTo>
                  <a:lnTo>
                    <a:pt x="1257300" y="0"/>
                  </a:lnTo>
                  <a:cubicBezTo>
                    <a:pt x="1309905" y="0"/>
                    <a:pt x="1352550" y="42645"/>
                    <a:pt x="1352550" y="95250"/>
                  </a:cubicBezTo>
                  <a:lnTo>
                    <a:pt x="1352550" y="2933700"/>
                  </a:lnTo>
                  <a:cubicBezTo>
                    <a:pt x="1352550" y="2986305"/>
                    <a:pt x="1309905" y="3028950"/>
                    <a:pt x="1257300" y="3028950"/>
                  </a:cubicBezTo>
                  <a:lnTo>
                    <a:pt x="95250" y="3028950"/>
                  </a:lnTo>
                  <a:cubicBezTo>
                    <a:pt x="42645" y="3028950"/>
                    <a:pt x="0" y="2986305"/>
                    <a:pt x="0" y="29337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>
                <a:alpha val="4000"/>
              </a:schemeClr>
            </a:solidFill>
            <a:ln w="9525">
              <a:solidFill>
                <a:schemeClr val="accent1">
                  <a:alpha val="12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352550" y="4876800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0" y="0"/>
                  </a:moveTo>
                  <a:lnTo>
                    <a:pt x="100203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52550" y="2609850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0" y="0"/>
                  </a:moveTo>
                  <a:lnTo>
                    <a:pt x="10020300" y="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352550" y="3743325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0" y="0"/>
                  </a:moveTo>
                  <a:lnTo>
                    <a:pt x="10020300" y="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0897" y="2199799"/>
              <a:ext cx="226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7572" y="3333274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50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4247" y="4828699"/>
              <a:ext cx="82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771650" y="200025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4324350" y="200025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877050" y="200025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429750" y="200025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790700" y="2209800"/>
              <a:ext cx="2038350" cy="2667000"/>
            </a:xfrm>
            <a:custGeom>
              <a:avLst/>
              <a:gdLst/>
              <a:ahLst/>
              <a:cxnLst/>
              <a:rect l="l" t="t" r="r" b="b"/>
              <a:pathLst>
                <a:path w="2038350" h="2667000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2552700"/>
                  </a:lnTo>
                  <a:cubicBezTo>
                    <a:pt x="2038350" y="2615826"/>
                    <a:pt x="1987176" y="2667000"/>
                    <a:pt x="1924050" y="2667000"/>
                  </a:cubicBezTo>
                  <a:lnTo>
                    <a:pt x="114300" y="2667000"/>
                  </a:lnTo>
                  <a:cubicBezTo>
                    <a:pt x="51174" y="2667000"/>
                    <a:pt x="0" y="2615826"/>
                    <a:pt x="0" y="2552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>
                <a:alpha val="12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343400" y="2628900"/>
              <a:ext cx="2038350" cy="2247900"/>
            </a:xfrm>
            <a:custGeom>
              <a:avLst/>
              <a:gdLst/>
              <a:ahLst/>
              <a:cxnLst/>
              <a:rect l="l" t="t" r="r" b="b"/>
              <a:pathLst>
                <a:path w="2038350" h="2247900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2133600"/>
                  </a:lnTo>
                  <a:cubicBezTo>
                    <a:pt x="2038350" y="2196726"/>
                    <a:pt x="1987176" y="2247900"/>
                    <a:pt x="1924050" y="2247900"/>
                  </a:cubicBezTo>
                  <a:lnTo>
                    <a:pt x="114300" y="2247900"/>
                  </a:lnTo>
                  <a:cubicBezTo>
                    <a:pt x="51174" y="2247900"/>
                    <a:pt x="0" y="2196726"/>
                    <a:pt x="0" y="2133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896100" y="3057525"/>
              <a:ext cx="2038350" cy="1819275"/>
            </a:xfrm>
            <a:custGeom>
              <a:avLst/>
              <a:gdLst/>
              <a:ahLst/>
              <a:cxnLst/>
              <a:rect l="l" t="t" r="r" b="b"/>
              <a:pathLst>
                <a:path w="2038350" h="1819275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1704975"/>
                  </a:lnTo>
                  <a:cubicBezTo>
                    <a:pt x="2038350" y="1768101"/>
                    <a:pt x="1987176" y="1819275"/>
                    <a:pt x="1924050" y="1819275"/>
                  </a:cubicBezTo>
                  <a:lnTo>
                    <a:pt x="114300" y="1819275"/>
                  </a:lnTo>
                  <a:cubicBezTo>
                    <a:pt x="51174" y="1819275"/>
                    <a:pt x="0" y="1768101"/>
                    <a:pt x="0" y="17049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3">
                <a:alpha val="13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448800" y="3476625"/>
              <a:ext cx="2038350" cy="1400175"/>
            </a:xfrm>
            <a:custGeom>
              <a:avLst/>
              <a:gdLst/>
              <a:ahLst/>
              <a:cxnLst/>
              <a:rect l="l" t="t" r="r" b="b"/>
              <a:pathLst>
                <a:path w="2038350" h="1400175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1285875"/>
                  </a:lnTo>
                  <a:cubicBezTo>
                    <a:pt x="2038350" y="1349001"/>
                    <a:pt x="1987176" y="1400175"/>
                    <a:pt x="1924050" y="1400175"/>
                  </a:cubicBezTo>
                  <a:lnTo>
                    <a:pt x="114300" y="1400175"/>
                  </a:lnTo>
                  <a:cubicBezTo>
                    <a:pt x="51174" y="1400175"/>
                    <a:pt x="0" y="1349001"/>
                    <a:pt x="0" y="12858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>
                <a:alpha val="7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809875" y="2114550"/>
              <a:ext cx="2552700" cy="419100"/>
            </a:xfrm>
            <a:custGeom>
              <a:avLst/>
              <a:gdLst/>
              <a:ahLst/>
              <a:cxnLst/>
              <a:rect l="l" t="t" r="r" b="b"/>
              <a:pathLst>
                <a:path w="2552700" h="419100">
                  <a:moveTo>
                    <a:pt x="0" y="0"/>
                  </a:moveTo>
                  <a:cubicBezTo>
                    <a:pt x="1285875" y="0"/>
                    <a:pt x="1285875" y="419100"/>
                    <a:pt x="2552700" y="41910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custDash>
                <a:ds d="240000" sp="240000"/>
              </a:custDash>
              <a:tailEnd type="triangle" w="lg" len="lg"/>
            </a:ln>
          </p:spPr>
        </p:sp>
        <p:sp>
          <p:nvSpPr>
            <p:cNvPr id="32" name="Freeform 32"/>
            <p:cNvSpPr/>
            <p:nvPr/>
          </p:nvSpPr>
          <p:spPr>
            <a:xfrm>
              <a:off x="5362575" y="2533650"/>
              <a:ext cx="2552700" cy="428625"/>
            </a:xfrm>
            <a:custGeom>
              <a:avLst/>
              <a:gdLst/>
              <a:ahLst/>
              <a:cxnLst/>
              <a:rect l="l" t="t" r="r" b="b"/>
              <a:pathLst>
                <a:path w="2552700" h="428625">
                  <a:moveTo>
                    <a:pt x="0" y="0"/>
                  </a:moveTo>
                  <a:cubicBezTo>
                    <a:pt x="1285875" y="0"/>
                    <a:pt x="1285875" y="428625"/>
                    <a:pt x="2552700" y="428625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custDash>
                <a:ds d="240000" sp="240000"/>
              </a:custDash>
              <a:tailEnd type="triangle" w="lg" len="lg"/>
            </a:ln>
          </p:spPr>
        </p:sp>
        <p:sp>
          <p:nvSpPr>
            <p:cNvPr id="33" name="Freeform 33"/>
            <p:cNvSpPr/>
            <p:nvPr/>
          </p:nvSpPr>
          <p:spPr>
            <a:xfrm>
              <a:off x="7915275" y="2962275"/>
              <a:ext cx="2552700" cy="419100"/>
            </a:xfrm>
            <a:custGeom>
              <a:avLst/>
              <a:gdLst/>
              <a:ahLst/>
              <a:cxnLst/>
              <a:rect l="l" t="t" r="r" b="b"/>
              <a:pathLst>
                <a:path w="2552700" h="419100">
                  <a:moveTo>
                    <a:pt x="0" y="0"/>
                  </a:moveTo>
                  <a:cubicBezTo>
                    <a:pt x="1285875" y="0"/>
                    <a:pt x="1285875" y="419100"/>
                    <a:pt x="2552700" y="41910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custDash>
                <a:ds d="240000" sp="240000"/>
              </a:custDash>
              <a:tailEnd type="triangle" w="lg" len="lg"/>
            </a:ln>
          </p:spPr>
        </p:sp>
        <p:sp>
          <p:nvSpPr>
            <p:cNvPr id="34" name="Ellipse 34"/>
            <p:cNvSpPr/>
            <p:nvPr/>
          </p:nvSpPr>
          <p:spPr>
            <a:xfrm>
              <a:off x="2638425" y="20383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191125" y="24574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743825" y="2886075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296525" y="3305175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64877" y="2161699"/>
              <a:ext cx="89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17577" y="2580799"/>
              <a:ext cx="89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70277" y="3009424"/>
              <a:ext cx="89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22977" y="3428524"/>
              <a:ext cx="89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48204" y="2486025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00904" y="2905125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53604" y="33337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06304" y="37528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63469" y="510635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16169" y="510635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8869" y="510635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21569" y="510635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84985" y="5364956"/>
              <a:ext cx="137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基于预测的受众定向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84985" y="5555456"/>
              <a:ext cx="947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与AI生成内容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37685" y="53649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高流失客户识别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337685" y="55554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与自动触达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0385" y="53649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智能预算分配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0385" y="55554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与动态创意组合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43085" y="5364956"/>
              <a:ext cx="1427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KOL匹配与内容优化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43085" y="55554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可持续运营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915400" y="1790700"/>
              <a:ext cx="2343150" cy="704850"/>
            </a:xfrm>
            <a:custGeom>
              <a:avLst/>
              <a:gdLst/>
              <a:ahLst/>
              <a:cxnLst/>
              <a:rect l="l" t="t" r="r" b="b"/>
              <a:pathLst>
                <a:path w="2343150" h="704850">
                  <a:moveTo>
                    <a:pt x="95250" y="0"/>
                  </a:moveTo>
                  <a:lnTo>
                    <a:pt x="2247900" y="0"/>
                  </a:lnTo>
                  <a:cubicBezTo>
                    <a:pt x="2300505" y="0"/>
                    <a:pt x="2343150" y="42645"/>
                    <a:pt x="2343150" y="95250"/>
                  </a:cubicBezTo>
                  <a:lnTo>
                    <a:pt x="2343150" y="609600"/>
                  </a:lnTo>
                  <a:cubicBezTo>
                    <a:pt x="2343150" y="662205"/>
                    <a:pt x="2300505" y="704850"/>
                    <a:pt x="224790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19997" y="193309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效能指数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19616" y="21631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越靠左的场景，越适合优先规模化部署。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5810250"/>
            <a:ext cx="11049000" cy="438150"/>
            <a:chOff x="571500" y="5810250"/>
            <a:chExt cx="11049000" cy="438150"/>
          </a:xfrm>
        </p:grpSpPr>
        <p:sp>
          <p:nvSpPr>
            <p:cNvPr id="62" name="Freeform 62"/>
            <p:cNvSpPr/>
            <p:nvPr/>
          </p:nvSpPr>
          <p:spPr>
            <a:xfrm>
              <a:off x="571500" y="5810250"/>
              <a:ext cx="11049000" cy="438150"/>
            </a:xfrm>
            <a:custGeom>
              <a:avLst/>
              <a:gdLst/>
              <a:ahLst/>
              <a:cxnLst/>
              <a:rect l="l" t="t" r="r" b="b"/>
              <a:pathLst>
                <a:path w="11049000" h="4381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361950"/>
                  </a:lnTo>
                  <a:cubicBezTo>
                    <a:pt x="11049000" y="404034"/>
                    <a:pt x="11014884" y="438150"/>
                    <a:pt x="10972800" y="438150"/>
                  </a:cubicBezTo>
                  <a:lnTo>
                    <a:pt x="76200" y="438150"/>
                  </a:lnTo>
                  <a:cubicBezTo>
                    <a:pt x="34116" y="438150"/>
                    <a:pt x="0" y="404034"/>
                    <a:pt x="0" y="3619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876300"/>
            <a:ext cx="12954000" cy="9067800"/>
            <a:chOff x="0" y="-876300"/>
            <a:chExt cx="12954000" cy="9067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715250" y="-876300"/>
              <a:ext cx="4191000" cy="4191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382000" y="3619500"/>
              <a:ext cx="4572000" cy="4572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14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248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381952"/>
            <a:ext cx="10972229" cy="6263164"/>
            <a:chOff x="557784" y="381952"/>
            <a:chExt cx="10972229" cy="62631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81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22935"/>
              <a:ext cx="63685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下一步：30天启动AI营销中枢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9832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390650"/>
            <a:ext cx="11049000" cy="4495800"/>
            <a:chOff x="571500" y="1390650"/>
            <a:chExt cx="11049000" cy="4495800"/>
          </a:xfrm>
        </p:grpSpPr>
        <p:sp>
          <p:nvSpPr>
            <p:cNvPr id="13" name="Freeform 13"/>
            <p:cNvSpPr/>
            <p:nvPr/>
          </p:nvSpPr>
          <p:spPr>
            <a:xfrm>
              <a:off x="571500" y="1390650"/>
              <a:ext cx="11049000" cy="800100"/>
            </a:xfrm>
            <a:custGeom>
              <a:avLst/>
              <a:gdLst/>
              <a:ahLst/>
              <a:cxnLst/>
              <a:rect l="l" t="t" r="r" b="b"/>
              <a:pathLst>
                <a:path w="11049000" h="8001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85800"/>
                  </a:lnTo>
                  <a:cubicBezTo>
                    <a:pt x="11049000" y="748926"/>
                    <a:pt x="10997826" y="800100"/>
                    <a:pt x="10934700" y="800100"/>
                  </a:cubicBezTo>
                  <a:lnTo>
                    <a:pt x="114300" y="800100"/>
                  </a:lnTo>
                  <a:cubicBezTo>
                    <a:pt x="51174" y="800100"/>
                    <a:pt x="0" y="748926"/>
                    <a:pt x="0" y="685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7156" y="1539240"/>
              <a:ext cx="72633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按以下节奏推进，即可在第30天见证首个AI优化活动的诞生。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04" y="18897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从数据治理到平台接入，再到首轮实验闭环，保持管理层可见的交付节奏。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562100" y="3714750"/>
              <a:ext cx="9067800" cy="1"/>
            </a:xfrm>
            <a:prstGeom prst="line">
              <a:avLst/>
            </a:prstGeom>
            <a:noFill/>
            <a:ln w="76200" cap="rnd">
              <a:gradFill>
                <a:gsLst>
                  <a:gs pos="0">
                    <a:schemeClr val="accent1"/>
                  </a:gs>
                  <a:gs pos="6000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17" name="Ellipse 17"/>
            <p:cNvSpPr/>
            <p:nvPr/>
          </p:nvSpPr>
          <p:spPr>
            <a:xfrm>
              <a:off x="2114550" y="3543300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924550" y="3543300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353550" y="3543300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286000" y="26860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857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26860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857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525000" y="26860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857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52500" y="2305050"/>
              <a:ext cx="2667000" cy="1200150"/>
            </a:xfrm>
            <a:custGeom>
              <a:avLst/>
              <a:gdLst/>
              <a:ahLst/>
              <a:cxnLst/>
              <a:rect l="l" t="t" r="r" b="b"/>
              <a:pathLst>
                <a:path w="2667000" h="120015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085850"/>
                  </a:lnTo>
                  <a:cubicBezTo>
                    <a:pt x="2667000" y="1148976"/>
                    <a:pt x="2615826" y="1200150"/>
                    <a:pt x="255270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71194" y="2399348"/>
              <a:ext cx="76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第1周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3480" y="276225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诊断与梳理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5004" y="30708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诊断现有营销技术栈，完成数据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5004" y="32804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健康度审计与权限梳理。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667250" y="2305050"/>
              <a:ext cx="2857500" cy="1200150"/>
            </a:xfrm>
            <a:custGeom>
              <a:avLst/>
              <a:gdLst/>
              <a:ahLst/>
              <a:cxnLst/>
              <a:rect l="l" t="t" r="r" b="b"/>
              <a:pathLst>
                <a:path w="2857500" h="120015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1085850"/>
                  </a:lnTo>
                  <a:cubicBezTo>
                    <a:pt x="2857500" y="1148976"/>
                    <a:pt x="2806326" y="1200150"/>
                    <a:pt x="274320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85944" y="2399348"/>
              <a:ext cx="1082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第2-3周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88230" y="276225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部署与接入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89754" y="3070860"/>
              <a:ext cx="2546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部署AI营销工作台，接入核心渠道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89754" y="3280410"/>
              <a:ext cx="3229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（广告、CRM、电商），初始化预测模型。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096250" y="2305050"/>
              <a:ext cx="2857500" cy="1200150"/>
            </a:xfrm>
            <a:custGeom>
              <a:avLst/>
              <a:gdLst/>
              <a:ahLst/>
              <a:cxnLst/>
              <a:rect l="l" t="t" r="r" b="b"/>
              <a:pathLst>
                <a:path w="2857500" h="120015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1085850"/>
                  </a:lnTo>
                  <a:cubicBezTo>
                    <a:pt x="2857500" y="1148976"/>
                    <a:pt x="2806326" y="1200150"/>
                    <a:pt x="2743200" y="1200150"/>
                  </a:cubicBezTo>
                  <a:lnTo>
                    <a:pt x="114300" y="1200150"/>
                  </a:lnTo>
                  <a:cubicBezTo>
                    <a:pt x="51174" y="1200150"/>
                    <a:pt x="0" y="1148976"/>
                    <a:pt x="0" y="1085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14944" y="2399348"/>
              <a:ext cx="76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第4周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7230" y="276225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实验与优化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8754" y="3070860"/>
              <a:ext cx="2546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启动首个AI驱动的营销实验，设定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18754" y="32804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度量基线，进入持续优化循环。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71500" y="4362450"/>
              <a:ext cx="11049000" cy="1524000"/>
            </a:xfrm>
            <a:custGeom>
              <a:avLst/>
              <a:gdLst/>
              <a:ahLst/>
              <a:cxnLst/>
              <a:rect l="l" t="t" r="r" b="b"/>
              <a:pathLst>
                <a:path w="11049000" h="152400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1390650"/>
                  </a:lnTo>
                  <a:cubicBezTo>
                    <a:pt x="11049000" y="1464297"/>
                    <a:pt x="10989297" y="1524000"/>
                    <a:pt x="10915650" y="1524000"/>
                  </a:cubicBezTo>
                  <a:lnTo>
                    <a:pt x="133350" y="1524000"/>
                  </a:lnTo>
                  <a:cubicBezTo>
                    <a:pt x="59703" y="1524000"/>
                    <a:pt x="0" y="1464297"/>
                    <a:pt x="0" y="1390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00100" y="4629150"/>
              <a:ext cx="2324100" cy="990600"/>
            </a:xfrm>
            <a:custGeom>
              <a:avLst/>
              <a:gdLst/>
              <a:ahLst/>
              <a:cxnLst/>
              <a:rect l="l" t="t" r="r" b="b"/>
              <a:pathLst>
                <a:path w="2324100" h="990600">
                  <a:moveTo>
                    <a:pt x="95250" y="0"/>
                  </a:moveTo>
                  <a:lnTo>
                    <a:pt x="2228850" y="0"/>
                  </a:lnTo>
                  <a:cubicBezTo>
                    <a:pt x="2281455" y="0"/>
                    <a:pt x="2324100" y="42645"/>
                    <a:pt x="2324100" y="95250"/>
                  </a:cubicBezTo>
                  <a:lnTo>
                    <a:pt x="2324100" y="895350"/>
                  </a:lnTo>
                  <a:cubicBezTo>
                    <a:pt x="2324100" y="947955"/>
                    <a:pt x="2281455" y="990600"/>
                    <a:pt x="2228850" y="990600"/>
                  </a:cubicBezTo>
                  <a:lnTo>
                    <a:pt x="95250" y="990600"/>
                  </a:lnTo>
                  <a:cubicBezTo>
                    <a:pt x="42645" y="990600"/>
                    <a:pt x="0" y="947955"/>
                    <a:pt x="0" y="895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3371850" y="4629150"/>
              <a:ext cx="3295650" cy="990600"/>
            </a:xfrm>
            <a:custGeom>
              <a:avLst/>
              <a:gdLst/>
              <a:ahLst/>
              <a:cxnLst/>
              <a:rect l="l" t="t" r="r" b="b"/>
              <a:pathLst>
                <a:path w="3295650" h="990600">
                  <a:moveTo>
                    <a:pt x="95250" y="0"/>
                  </a:moveTo>
                  <a:lnTo>
                    <a:pt x="3200400" y="0"/>
                  </a:lnTo>
                  <a:cubicBezTo>
                    <a:pt x="3253005" y="0"/>
                    <a:pt x="3295650" y="42645"/>
                    <a:pt x="3295650" y="95250"/>
                  </a:cubicBezTo>
                  <a:lnTo>
                    <a:pt x="3295650" y="895350"/>
                  </a:lnTo>
                  <a:cubicBezTo>
                    <a:pt x="3295650" y="947955"/>
                    <a:pt x="3253005" y="990600"/>
                    <a:pt x="3200400" y="990600"/>
                  </a:cubicBezTo>
                  <a:lnTo>
                    <a:pt x="95250" y="990600"/>
                  </a:lnTo>
                  <a:cubicBezTo>
                    <a:pt x="42645" y="990600"/>
                    <a:pt x="0" y="947955"/>
                    <a:pt x="0" y="895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915150" y="4629150"/>
              <a:ext cx="4476750" cy="990600"/>
            </a:xfrm>
            <a:custGeom>
              <a:avLst/>
              <a:gdLst/>
              <a:ahLst/>
              <a:cxnLst/>
              <a:rect l="l" t="t" r="r" b="b"/>
              <a:pathLst>
                <a:path w="4476750" h="990600">
                  <a:moveTo>
                    <a:pt x="95250" y="0"/>
                  </a:moveTo>
                  <a:lnTo>
                    <a:pt x="4381500" y="0"/>
                  </a:lnTo>
                  <a:cubicBezTo>
                    <a:pt x="4434105" y="0"/>
                    <a:pt x="4476750" y="42645"/>
                    <a:pt x="4476750" y="95250"/>
                  </a:cubicBezTo>
                  <a:lnTo>
                    <a:pt x="4476750" y="895350"/>
                  </a:lnTo>
                  <a:cubicBezTo>
                    <a:pt x="4476750" y="947955"/>
                    <a:pt x="4434105" y="990600"/>
                    <a:pt x="4381500" y="990600"/>
                  </a:cubicBezTo>
                  <a:lnTo>
                    <a:pt x="95250" y="990600"/>
                  </a:lnTo>
                  <a:cubicBezTo>
                    <a:pt x="42645" y="990600"/>
                    <a:pt x="0" y="947955"/>
                    <a:pt x="0" y="895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2604" y="48044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诊断现有营销技术栈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3366" y="50587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完成数据健康度审计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3366" y="52492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与权限梳理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94354" y="4804410"/>
              <a:ext cx="2673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部署AI营销工作台并接入核心渠道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95116" y="5058728"/>
              <a:ext cx="2079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广告、CRM、电商数据统一入场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95116" y="52492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初始化预测模型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7654" y="4804410"/>
              <a:ext cx="3211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启动首个AI驱动营销实验并进入持续优化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8416" y="505872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设定度量基线，验证人群、内容与节奏的联动效果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38416" y="524922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形成首轮可复制的增长运行机制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139315" y="3676650"/>
            <a:ext cx="10147783" cy="1457325"/>
            <a:chOff x="2139315" y="3676650"/>
            <a:chExt cx="10147783" cy="1457325"/>
          </a:xfrm>
        </p:grpSpPr>
        <p:sp>
          <p:nvSpPr>
            <p:cNvPr id="52" name="TextBox 52"/>
            <p:cNvSpPr txBox="1"/>
            <p:nvPr/>
          </p:nvSpPr>
          <p:spPr>
            <a:xfrm>
              <a:off x="2139315" y="3982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49315" y="3982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上线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78315" y="3982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闭环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3124200" y="51244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A0AEC0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667500" y="51244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A0AEC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652760" y="3676650"/>
              <a:ext cx="14946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Day 30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61904" y="4137660"/>
              <a:ext cx="1625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首个 AI 优化活动落地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