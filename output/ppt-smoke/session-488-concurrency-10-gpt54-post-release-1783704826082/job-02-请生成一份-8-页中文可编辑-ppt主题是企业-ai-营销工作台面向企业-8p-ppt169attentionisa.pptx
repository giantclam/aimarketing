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企业AI营销工作台：从数据碎片到增长飞轮</a:t>
            </a:r>
          </a:p>
          <a:p>
            <a:endParaRPr lang="en-US" dirty="0"/>
          </a:p>
          <a:p>
            <a:r>
              <a:rPr lang="zh-CN" dirty="0"/>
              <a:t>一套打通数据整合、AI分析、自动化执行与效果度量的SaaS中枢，让营销团队以最少的人工干预实现最高的转化效能。</a:t>
            </a:r>
          </a:p>
          <a:p>
            <a:endParaRPr lang="en-US" dirty="0"/>
          </a:p>
          <a:p>
            <a:r>
              <a:rPr lang="zh-CN" dirty="0"/>
              <a:t>• 企业AI营销工作台：从数据碎片到增长飞轮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今天必须做出的五项判断</a:t>
            </a:r>
          </a:p>
          <a:p>
            <a:endParaRPr lang="en-US" dirty="0"/>
          </a:p>
          <a:p>
            <a:r>
              <a:rPr lang="zh-CN" dirty="0"/>
              <a:t>本简报围绕五个核心决定展开，帮助管理层在30分钟内完成从认知到行动的对齐。</a:t>
            </a:r>
          </a:p>
          <a:p>
            <a:endParaRPr lang="en-US" dirty="0"/>
          </a:p>
          <a:p>
            <a:r>
              <a:rPr lang="zh-CN" dirty="0"/>
              <a:t>• 沉睡的数据资产正在被竞品激活，窗口期不超过12个月</a:t>
            </a:r>
          </a:p>
          <a:p>
            <a:r>
              <a:rPr lang="zh-CN" dirty="0"/>
              <a:t>• 数据整合→AI分析→自动化执行→效果度量，缺一则减速</a:t>
            </a:r>
          </a:p>
          <a:p>
            <a:r>
              <a:rPr lang="zh-CN" dirty="0"/>
              <a:t>• 数据合规、组织适配、模型漂移——提前筑好防波堤</a:t>
            </a:r>
          </a:p>
          <a:p>
            <a:r>
              <a:rPr lang="zh-CN" dirty="0"/>
              <a:t>• 多点实测数据，而非推断，ROI可分解到每个模块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你的营销数据，60%从未被用上</a:t>
            </a:r>
          </a:p>
          <a:p>
            <a:endParaRPr lang="en-US" dirty="0"/>
          </a:p>
          <a:p>
            <a:r>
              <a:rPr lang="zh-CN" dirty="0"/>
              <a:t>大多数企业的用户行为、交易和互动数据处于沉睡状态，而AI工作台是唤醒这些资产的最短路径。</a:t>
            </a:r>
          </a:p>
          <a:p>
            <a:endParaRPr lang="en-US" dirty="0"/>
          </a:p>
          <a:p>
            <a:r>
              <a:rPr lang="zh-CN" dirty="0"/>
              <a:t>• 非结构化数据利用率低于15%，手工处理使其无法进入实时决策流</a:t>
            </a:r>
          </a:p>
          <a:p>
            <a:r>
              <a:rPr lang="zh-CN" dirty="0"/>
              <a:t>• 延迟每增加一天，潜在转化损失约4%</a:t>
            </a:r>
          </a:p>
          <a:p>
            <a:r>
              <a:rPr lang="zh-CN" dirty="0"/>
              <a:t>• 头部客户上线AI工作台后，数据激活率跃升至92%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四个关键环节，一种迥然不同的运作方式</a:t>
            </a:r>
          </a:p>
          <a:p>
            <a:endParaRPr lang="en-US" dirty="0"/>
          </a:p>
          <a:p>
            <a:r>
              <a:rPr lang="zh-CN" dirty="0"/>
              <a:t>传统营销技术栈由点状工具拼凑而成，AI工作台则内置了数据、分析、执行、度量的原生协同。</a:t>
            </a:r>
          </a:p>
          <a:p>
            <a:endParaRPr lang="en-US" dirty="0"/>
          </a:p>
          <a:p>
            <a:r>
              <a:rPr lang="zh-CN" dirty="0"/>
              <a:t>• 现在：100+数据源一键接入，实时打标，统一客户视图就绪</a:t>
            </a:r>
          </a:p>
          <a:p>
            <a:r>
              <a:rPr lang="zh-CN" dirty="0"/>
              <a:t>• 现在：预测模型自动生成高潜人群，实时推荐下一步动作</a:t>
            </a:r>
          </a:p>
          <a:p>
            <a:r>
              <a:rPr lang="zh-CN" dirty="0"/>
              <a:t>• 现在：智能编排引擎自动分配渠道、时机与内容版本</a:t>
            </a:r>
          </a:p>
          <a:p>
            <a:r>
              <a:rPr lang="zh-CN" dirty="0"/>
              <a:t>• 现在：次日归因看板，增量贡献可分解至创意、时段、人群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已落袋的增长，不是PPT里的预测</a:t>
            </a:r>
          </a:p>
          <a:p>
            <a:endParaRPr lang="en-US" dirty="0"/>
          </a:p>
          <a:p>
            <a:r>
              <a:rPr lang="zh-CN" dirty="0"/>
              <a:t>以下数据来自已上线客户的实测结果，涵盖电商、金融、消费品三个行业。</a:t>
            </a:r>
          </a:p>
          <a:p>
            <a:endParaRPr lang="en-US" dirty="0"/>
          </a:p>
          <a:p>
            <a:r>
              <a:rPr lang="zh-CN" dirty="0"/>
              <a:t>• 整合全渠道数据后，AI驱动的人群包使新客获取成本下降35%，复购率提升22%</a:t>
            </a:r>
          </a:p>
          <a:p>
            <a:r>
              <a:rPr lang="zh-CN" dirty="0"/>
              <a:t>• 实时事件触发自动化流程，将营销响应时间从天级压缩至分钟级，沉默户唤醒效率倍增</a:t>
            </a:r>
          </a:p>
          <a:p>
            <a:r>
              <a:rPr lang="zh-CN" dirty="0"/>
              <a:t>• 自动化执行模块替代了四个手工步骤，市场团队从操作者转型为策略制定者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工作台的四个硬指标</a:t>
            </a:r>
          </a:p>
          <a:p>
            <a:endParaRPr lang="en-US" dirty="0"/>
          </a:p>
          <a:p>
            <a:r>
              <a:rPr lang="zh-CN" dirty="0"/>
              <a:t>这些中位数来自已部署客户，代表保守可预期的基准线。</a:t>
            </a:r>
          </a:p>
          <a:p>
            <a:endParaRPr lang="en-US" dirty="0"/>
          </a:p>
          <a:p>
            <a:r>
              <a:rPr lang="zh-CN" dirty="0"/>
              <a:t>• 部署投产时间</a:t>
            </a:r>
          </a:p>
          <a:p>
            <a:r>
              <a:rPr lang="zh-CN" dirty="0"/>
              <a:t>• campaign创建效率</a:t>
            </a:r>
          </a:p>
          <a:p>
            <a:r>
              <a:rPr lang="zh-CN" dirty="0"/>
              <a:t>• 转化率提升中位数</a:t>
            </a:r>
          </a:p>
          <a:p>
            <a:r>
              <a:rPr lang="zh-CN" dirty="0"/>
              <a:t>• 数据整合覆盖率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增长引擎分解：各模块贡献权重</a:t>
            </a:r>
          </a:p>
          <a:p>
            <a:endParaRPr lang="en-US" dirty="0"/>
          </a:p>
          <a:p>
            <a:r>
              <a:rPr lang="zh-CN" dirty="0"/>
              <a:t>基于已部署客户的实测数据，我们将整体效率提升拆解为四个可独立归因的组件。</a:t>
            </a:r>
          </a:p>
          <a:p>
            <a:endParaRPr lang="en-US" dirty="0"/>
          </a:p>
          <a:p>
            <a:r>
              <a:rPr lang="zh-CN" dirty="0"/>
              <a:t>• 统一客户视图减少重复工作，数据准备时间下降58%</a:t>
            </a:r>
          </a:p>
          <a:p>
            <a:r>
              <a:rPr lang="zh-CN" dirty="0"/>
              <a:t>• 预测人群包使精准度提升，无效触达减少45%</a:t>
            </a:r>
          </a:p>
          <a:p>
            <a:r>
              <a:rPr lang="zh-CN" dirty="0"/>
              <a:t>• 跨渠道编排缩短campaign构建时间，人工介入降低70%</a:t>
            </a:r>
          </a:p>
          <a:p>
            <a:r>
              <a:rPr lang="zh-CN" dirty="0"/>
              <a:t>• 快速归因闭环使优化周期从月降至日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未来90天：从评估到上线</a:t>
            </a:r>
          </a:p>
          <a:p>
            <a:endParaRPr lang="en-US" dirty="0"/>
          </a:p>
          <a:p>
            <a:r>
              <a:rPr lang="zh-CN" dirty="0"/>
              <a:t>建议成立联合推进组，由数据负责人与营销负责人共同挂帅，按以下三阶段推进。</a:t>
            </a:r>
          </a:p>
          <a:p>
            <a:endParaRPr lang="en-US" dirty="0"/>
          </a:p>
          <a:p>
            <a:r>
              <a:rPr lang="zh-CN" dirty="0"/>
              <a:t>• 对接数据源、安全合规审查、选定首个试点campaign。产出：数据接入方案与PoC范围确认书</a:t>
            </a:r>
          </a:p>
          <a:p>
            <a:r>
              <a:rPr lang="zh-CN" dirty="0"/>
              <a:t>• 部署AI工作台，与现有流程并行运行一个完整campaign周期。产出：A/B测试报告与ROI基线</a:t>
            </a:r>
          </a:p>
          <a:p>
            <a:r>
              <a:rPr lang="zh-CN" dirty="0"/>
              <a:t>• 基于试点结果决定规模推广，设置季度验收指标。产出：上线确认与增长KPI责任矩阵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5964d0aa44935984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5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2000">
                  <a:schemeClr val="lt1"/>
                </a:gs>
                <a:gs pos="100000">
                  <a:schemeClr val="lt1">
                    <a:alpha val="76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239000" y="6667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7239000" y="11430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239000" y="16192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7239000" y="20955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7239000" y="25717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7239000" y="30480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239000" y="35242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239000" y="40005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239000" y="44767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7239000" y="49530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239000" y="54292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239000" y="590550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7620000" y="381000"/>
              <a:ext cx="9525" cy="6096000"/>
            </a:xfrm>
            <a:custGeom>
              <a:avLst/>
              <a:gdLst/>
              <a:ahLst/>
              <a:cxnLst/>
              <a:rect l="l" t="t" r="r" b="b"/>
              <a:pathLst>
                <a:path w="9525" h="6096000">
                  <a:moveTo>
                    <a:pt x="0" y="0"/>
                  </a:moveTo>
                  <a:lnTo>
                    <a:pt x="0" y="6096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191500" y="381000"/>
              <a:ext cx="9525" cy="6096000"/>
            </a:xfrm>
            <a:custGeom>
              <a:avLst/>
              <a:gdLst/>
              <a:ahLst/>
              <a:cxnLst/>
              <a:rect l="l" t="t" r="r" b="b"/>
              <a:pathLst>
                <a:path w="9525" h="6096000">
                  <a:moveTo>
                    <a:pt x="0" y="0"/>
                  </a:moveTo>
                  <a:lnTo>
                    <a:pt x="0" y="6096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763000" y="381000"/>
              <a:ext cx="9525" cy="6096000"/>
            </a:xfrm>
            <a:custGeom>
              <a:avLst/>
              <a:gdLst/>
              <a:ahLst/>
              <a:cxnLst/>
              <a:rect l="l" t="t" r="r" b="b"/>
              <a:pathLst>
                <a:path w="9525" h="6096000">
                  <a:moveTo>
                    <a:pt x="0" y="0"/>
                  </a:moveTo>
                  <a:lnTo>
                    <a:pt x="0" y="6096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9334500" y="381000"/>
              <a:ext cx="9525" cy="6096000"/>
            </a:xfrm>
            <a:custGeom>
              <a:avLst/>
              <a:gdLst/>
              <a:ahLst/>
              <a:cxnLst/>
              <a:rect l="l" t="t" r="r" b="b"/>
              <a:pathLst>
                <a:path w="9525" h="6096000">
                  <a:moveTo>
                    <a:pt x="0" y="0"/>
                  </a:moveTo>
                  <a:lnTo>
                    <a:pt x="0" y="6096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906000" y="381000"/>
              <a:ext cx="9525" cy="6096000"/>
            </a:xfrm>
            <a:custGeom>
              <a:avLst/>
              <a:gdLst/>
              <a:ahLst/>
              <a:cxnLst/>
              <a:rect l="l" t="t" r="r" b="b"/>
              <a:pathLst>
                <a:path w="9525" h="6096000">
                  <a:moveTo>
                    <a:pt x="0" y="0"/>
                  </a:moveTo>
                  <a:lnTo>
                    <a:pt x="0" y="6096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0477500" y="381000"/>
              <a:ext cx="9525" cy="6096000"/>
            </a:xfrm>
            <a:custGeom>
              <a:avLst/>
              <a:gdLst/>
              <a:ahLst/>
              <a:cxnLst/>
              <a:rect l="l" t="t" r="r" b="b"/>
              <a:pathLst>
                <a:path w="9525" h="6096000">
                  <a:moveTo>
                    <a:pt x="0" y="0"/>
                  </a:moveTo>
                  <a:lnTo>
                    <a:pt x="0" y="6096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1049000" y="381000"/>
              <a:ext cx="9525" cy="6096000"/>
            </a:xfrm>
            <a:custGeom>
              <a:avLst/>
              <a:gdLst/>
              <a:ahLst/>
              <a:cxnLst/>
              <a:rect l="l" t="t" r="r" b="b"/>
              <a:pathLst>
                <a:path w="9525" h="6096000">
                  <a:moveTo>
                    <a:pt x="0" y="0"/>
                  </a:moveTo>
                  <a:lnTo>
                    <a:pt x="0" y="6096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65404" y="613410"/>
            <a:ext cx="11055096" cy="5898356"/>
            <a:chOff x="565404" y="613410"/>
            <a:chExt cx="11055096" cy="5898356"/>
          </a:xfrm>
        </p:grpSpPr>
        <p:sp>
          <p:nvSpPr>
            <p:cNvPr id="26" name="TextBox 26"/>
            <p:cNvSpPr txBox="1"/>
            <p:nvPr/>
          </p:nvSpPr>
          <p:spPr>
            <a:xfrm>
              <a:off x="565404" y="613410"/>
              <a:ext cx="9424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spc="1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GRIDBRIEF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571500" y="904875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571500" y="6210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66738" y="6349841"/>
              <a:ext cx="16345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SaaS 方案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74520" y="63498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71500" y="1143000"/>
            <a:ext cx="11140440" cy="4495800"/>
            <a:chOff x="571500" y="1143000"/>
            <a:chExt cx="11140440" cy="4495800"/>
          </a:xfrm>
        </p:grpSpPr>
        <p:sp>
          <p:nvSpPr>
            <p:cNvPr id="32" name="Freeform 32"/>
            <p:cNvSpPr/>
            <p:nvPr/>
          </p:nvSpPr>
          <p:spPr>
            <a:xfrm>
              <a:off x="571500" y="1143000"/>
              <a:ext cx="5334000" cy="4095750"/>
            </a:xfrm>
            <a:custGeom>
              <a:avLst/>
              <a:gdLst/>
              <a:ahLst/>
              <a:cxnLst/>
              <a:rect l="l" t="t" r="r" b="b"/>
              <a:pathLst>
                <a:path w="5334000" h="4095750">
                  <a:moveTo>
                    <a:pt x="171450" y="0"/>
                  </a:moveTo>
                  <a:lnTo>
                    <a:pt x="5162550" y="0"/>
                  </a:lnTo>
                  <a:cubicBezTo>
                    <a:pt x="5257239" y="0"/>
                    <a:pt x="5334000" y="76761"/>
                    <a:pt x="5334000" y="171450"/>
                  </a:cubicBezTo>
                  <a:lnTo>
                    <a:pt x="5334000" y="3924300"/>
                  </a:lnTo>
                  <a:cubicBezTo>
                    <a:pt x="5334000" y="4018989"/>
                    <a:pt x="5257239" y="4095750"/>
                    <a:pt x="5162550" y="4095750"/>
                  </a:cubicBezTo>
                  <a:lnTo>
                    <a:pt x="171450" y="4095750"/>
                  </a:lnTo>
                  <a:cubicBezTo>
                    <a:pt x="76761" y="4095750"/>
                    <a:pt x="0" y="4018989"/>
                    <a:pt x="0" y="3924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1">
                <a:alpha val="72000"/>
              </a:schemeClr>
            </a:solidFill>
            <a:ln w="9525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9150" y="1434465"/>
              <a:ext cx="774210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企业AI营销工作台：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9150" y="2158365"/>
              <a:ext cx="720699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从数据碎片到增长飞轮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7156" y="3234690"/>
              <a:ext cx="48444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一套打通数据整合、AI分析、自动化执行与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67156" y="3596640"/>
              <a:ext cx="48024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效果度量的SaaS中枢，让营销团队以最少的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67156" y="39585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人工干预实现最高的转化效能。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876300" y="4419600"/>
              <a:ext cx="1409700" cy="361950"/>
            </a:xfrm>
            <a:custGeom>
              <a:avLst/>
              <a:gdLst/>
              <a:ahLst/>
              <a:cxnLst/>
              <a:rect l="l" t="t" r="r" b="b"/>
              <a:pathLst>
                <a:path w="1409700" h="361950">
                  <a:moveTo>
                    <a:pt x="180975" y="0"/>
                  </a:moveTo>
                  <a:lnTo>
                    <a:pt x="1228725" y="0"/>
                  </a:lnTo>
                  <a:cubicBezTo>
                    <a:pt x="1328675" y="0"/>
                    <a:pt x="1409700" y="81025"/>
                    <a:pt x="1409700" y="180975"/>
                  </a:cubicBezTo>
                  <a:lnTo>
                    <a:pt x="1409700" y="180975"/>
                  </a:lnTo>
                  <a:cubicBezTo>
                    <a:pt x="1409700" y="280925"/>
                    <a:pt x="1328675" y="361950"/>
                    <a:pt x="1228725" y="361950"/>
                  </a:cubicBezTo>
                  <a:lnTo>
                    <a:pt x="180975" y="361950"/>
                  </a:lnTo>
                  <a:cubicBezTo>
                    <a:pt x="81025" y="361950"/>
                    <a:pt x="0" y="280925"/>
                    <a:pt x="0" y="180975"/>
                  </a:cubicBezTo>
                  <a:lnTo>
                    <a:pt x="0" y="180975"/>
                  </a:lnTo>
                  <a:cubicBezTo>
                    <a:pt x="0" y="81025"/>
                    <a:pt x="81025" y="0"/>
                    <a:pt x="18097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235812" y="45281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2381250" y="4419600"/>
              <a:ext cx="1181100" cy="361950"/>
            </a:xfrm>
            <a:custGeom>
              <a:avLst/>
              <a:gdLst/>
              <a:ahLst/>
              <a:cxnLst/>
              <a:rect l="l" t="t" r="r" b="b"/>
              <a:pathLst>
                <a:path w="1181100" h="361950">
                  <a:moveTo>
                    <a:pt x="180975" y="0"/>
                  </a:moveTo>
                  <a:lnTo>
                    <a:pt x="1000125" y="0"/>
                  </a:lnTo>
                  <a:cubicBezTo>
                    <a:pt x="1100075" y="0"/>
                    <a:pt x="1181100" y="81025"/>
                    <a:pt x="1181100" y="180975"/>
                  </a:cubicBezTo>
                  <a:lnTo>
                    <a:pt x="1181100" y="180975"/>
                  </a:lnTo>
                  <a:cubicBezTo>
                    <a:pt x="1181100" y="280925"/>
                    <a:pt x="1100075" y="361950"/>
                    <a:pt x="1000125" y="361950"/>
                  </a:cubicBezTo>
                  <a:lnTo>
                    <a:pt x="180975" y="361950"/>
                  </a:lnTo>
                  <a:cubicBezTo>
                    <a:pt x="81025" y="361950"/>
                    <a:pt x="0" y="280925"/>
                    <a:pt x="0" y="180975"/>
                  </a:cubicBezTo>
                  <a:lnTo>
                    <a:pt x="0" y="180975"/>
                  </a:lnTo>
                  <a:cubicBezTo>
                    <a:pt x="0" y="81025"/>
                    <a:pt x="81025" y="0"/>
                    <a:pt x="18097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710312" y="4528185"/>
              <a:ext cx="522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3657600" y="4419600"/>
              <a:ext cx="1409700" cy="361950"/>
            </a:xfrm>
            <a:custGeom>
              <a:avLst/>
              <a:gdLst/>
              <a:ahLst/>
              <a:cxnLst/>
              <a:rect l="l" t="t" r="r" b="b"/>
              <a:pathLst>
                <a:path w="1409700" h="361950">
                  <a:moveTo>
                    <a:pt x="180975" y="0"/>
                  </a:moveTo>
                  <a:lnTo>
                    <a:pt x="1228725" y="0"/>
                  </a:lnTo>
                  <a:cubicBezTo>
                    <a:pt x="1328675" y="0"/>
                    <a:pt x="1409700" y="81025"/>
                    <a:pt x="1409700" y="180975"/>
                  </a:cubicBezTo>
                  <a:lnTo>
                    <a:pt x="1409700" y="180975"/>
                  </a:lnTo>
                  <a:cubicBezTo>
                    <a:pt x="1409700" y="280925"/>
                    <a:pt x="1328675" y="361950"/>
                    <a:pt x="1228725" y="361950"/>
                  </a:cubicBezTo>
                  <a:lnTo>
                    <a:pt x="180975" y="361950"/>
                  </a:lnTo>
                  <a:cubicBezTo>
                    <a:pt x="81025" y="361950"/>
                    <a:pt x="0" y="280925"/>
                    <a:pt x="0" y="180975"/>
                  </a:cubicBezTo>
                  <a:lnTo>
                    <a:pt x="0" y="180975"/>
                  </a:lnTo>
                  <a:cubicBezTo>
                    <a:pt x="0" y="81025"/>
                    <a:pt x="81025" y="0"/>
                    <a:pt x="18097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932301" y="452818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5162550" y="4419600"/>
              <a:ext cx="1123950" cy="361950"/>
            </a:xfrm>
            <a:custGeom>
              <a:avLst/>
              <a:gdLst/>
              <a:ahLst/>
              <a:cxnLst/>
              <a:rect l="l" t="t" r="r" b="b"/>
              <a:pathLst>
                <a:path w="1123950" h="361950">
                  <a:moveTo>
                    <a:pt x="180975" y="0"/>
                  </a:moveTo>
                  <a:lnTo>
                    <a:pt x="942975" y="0"/>
                  </a:lnTo>
                  <a:cubicBezTo>
                    <a:pt x="1042925" y="0"/>
                    <a:pt x="1123950" y="81025"/>
                    <a:pt x="1123950" y="180975"/>
                  </a:cubicBezTo>
                  <a:lnTo>
                    <a:pt x="1123950" y="180975"/>
                  </a:lnTo>
                  <a:cubicBezTo>
                    <a:pt x="1123950" y="280925"/>
                    <a:pt x="1042925" y="361950"/>
                    <a:pt x="942975" y="361950"/>
                  </a:cubicBezTo>
                  <a:lnTo>
                    <a:pt x="180975" y="361950"/>
                  </a:lnTo>
                  <a:cubicBezTo>
                    <a:pt x="81025" y="361950"/>
                    <a:pt x="0" y="280925"/>
                    <a:pt x="0" y="180975"/>
                  </a:cubicBezTo>
                  <a:lnTo>
                    <a:pt x="0" y="180975"/>
                  </a:lnTo>
                  <a:cubicBezTo>
                    <a:pt x="0" y="81025"/>
                    <a:pt x="81025" y="0"/>
                    <a:pt x="18097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379187" y="45281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943850" y="2381250"/>
              <a:ext cx="2019300" cy="2019300"/>
            </a:xfrm>
            <a:prstGeom prst="ellipse">
              <a:avLst/>
            </a:prstGeom>
            <a:solidFill>
              <a:schemeClr val="lt1">
                <a:alpha val="92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8324850" y="2762250"/>
              <a:ext cx="1257300" cy="12573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606028" y="3071812"/>
              <a:ext cx="6949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增长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606028" y="3414712"/>
              <a:ext cx="6949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飞轮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7905750" y="1162050"/>
              <a:ext cx="2095500" cy="666750"/>
            </a:xfrm>
            <a:custGeom>
              <a:avLst/>
              <a:gdLst/>
              <a:ahLst/>
              <a:cxnLst/>
              <a:rect l="l" t="t" r="r" b="b"/>
              <a:pathLst>
                <a:path w="2095500" h="66675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552450"/>
                  </a:lnTo>
                  <a:cubicBezTo>
                    <a:pt x="2095500" y="615576"/>
                    <a:pt x="2044326" y="666750"/>
                    <a:pt x="1981200" y="666750"/>
                  </a:cubicBezTo>
                  <a:lnTo>
                    <a:pt x="114300" y="666750"/>
                  </a:lnTo>
                  <a:cubicBezTo>
                    <a:pt x="51174" y="666750"/>
                    <a:pt x="0" y="615576"/>
                    <a:pt x="0" y="552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78660" y="12696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816825" y="1563052"/>
              <a:ext cx="22733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打通 CRM、投放、私域、电商数据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10096500" y="3048000"/>
              <a:ext cx="1524000" cy="685800"/>
            </a:xfrm>
            <a:custGeom>
              <a:avLst/>
              <a:gdLst/>
              <a:ahLst/>
              <a:cxnLst/>
              <a:rect l="l" t="t" r="r" b="b"/>
              <a:pathLst>
                <a:path w="1524000" h="685800">
                  <a:moveTo>
                    <a:pt x="114300" y="0"/>
                  </a:moveTo>
                  <a:lnTo>
                    <a:pt x="1409700" y="0"/>
                  </a:lnTo>
                  <a:cubicBezTo>
                    <a:pt x="1472826" y="0"/>
                    <a:pt x="1524000" y="51174"/>
                    <a:pt x="1524000" y="114300"/>
                  </a:cubicBezTo>
                  <a:lnTo>
                    <a:pt x="1524000" y="571500"/>
                  </a:lnTo>
                  <a:cubicBezTo>
                    <a:pt x="1524000" y="634626"/>
                    <a:pt x="1472826" y="685800"/>
                    <a:pt x="1409700" y="685800"/>
                  </a:cubicBezTo>
                  <a:lnTo>
                    <a:pt x="114300" y="685800"/>
                  </a:lnTo>
                  <a:cubicBezTo>
                    <a:pt x="51174" y="685800"/>
                    <a:pt x="0" y="634626"/>
                    <a:pt x="0" y="57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498954" y="3155632"/>
              <a:ext cx="7190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05060" y="344900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识别客群、意图与机会窗口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7905750" y="4953000"/>
              <a:ext cx="2095500" cy="685800"/>
            </a:xfrm>
            <a:custGeom>
              <a:avLst/>
              <a:gdLst/>
              <a:ahLst/>
              <a:cxnLst/>
              <a:rect l="l" t="t" r="r" b="b"/>
              <a:pathLst>
                <a:path w="2095500" h="685800">
                  <a:moveTo>
                    <a:pt x="114300" y="0"/>
                  </a:moveTo>
                  <a:lnTo>
                    <a:pt x="1981200" y="0"/>
                  </a:lnTo>
                  <a:cubicBezTo>
                    <a:pt x="2044326" y="0"/>
                    <a:pt x="2095500" y="51174"/>
                    <a:pt x="2095500" y="114300"/>
                  </a:cubicBezTo>
                  <a:lnTo>
                    <a:pt x="2095500" y="571500"/>
                  </a:lnTo>
                  <a:cubicBezTo>
                    <a:pt x="2095500" y="634626"/>
                    <a:pt x="2044326" y="685800"/>
                    <a:pt x="1981200" y="685800"/>
                  </a:cubicBezTo>
                  <a:lnTo>
                    <a:pt x="114300" y="685800"/>
                  </a:lnTo>
                  <a:cubicBezTo>
                    <a:pt x="51174" y="685800"/>
                    <a:pt x="0" y="634626"/>
                    <a:pt x="0" y="57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362045" y="506063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58709" y="535400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生成内容、编排旅程、触发动作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6286500" y="3048000"/>
              <a:ext cx="1428750" cy="685800"/>
            </a:xfrm>
            <a:custGeom>
              <a:avLst/>
              <a:gdLst/>
              <a:ahLst/>
              <a:cxnLst/>
              <a:rect l="l" t="t" r="r" b="b"/>
              <a:pathLst>
                <a:path w="1428750" h="685800">
                  <a:moveTo>
                    <a:pt x="114300" y="0"/>
                  </a:moveTo>
                  <a:lnTo>
                    <a:pt x="1314450" y="0"/>
                  </a:lnTo>
                  <a:cubicBezTo>
                    <a:pt x="1377576" y="0"/>
                    <a:pt x="1428750" y="51174"/>
                    <a:pt x="1428750" y="114300"/>
                  </a:cubicBezTo>
                  <a:lnTo>
                    <a:pt x="1428750" y="571500"/>
                  </a:lnTo>
                  <a:cubicBezTo>
                    <a:pt x="1428750" y="634626"/>
                    <a:pt x="1377576" y="685800"/>
                    <a:pt x="1314450" y="685800"/>
                  </a:cubicBezTo>
                  <a:lnTo>
                    <a:pt x="114300" y="685800"/>
                  </a:lnTo>
                  <a:cubicBezTo>
                    <a:pt x="51174" y="685800"/>
                    <a:pt x="0" y="634626"/>
                    <a:pt x="0" y="57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26035" y="3155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288786" y="34490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归因、复盘与预算优化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8953500" y="182880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552450"/>
                  </a:moveTo>
                  <a:cubicBezTo>
                    <a:pt x="0" y="342900"/>
                    <a:pt x="0" y="190500"/>
                    <a:pt x="0" y="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9963150" y="3390900"/>
              <a:ext cx="247650" cy="9525"/>
            </a:xfrm>
            <a:custGeom>
              <a:avLst/>
              <a:gdLst/>
              <a:ahLst/>
              <a:cxnLst/>
              <a:rect l="l" t="t" r="r" b="b"/>
              <a:pathLst>
                <a:path w="247650" h="9525">
                  <a:moveTo>
                    <a:pt x="0" y="0"/>
                  </a:moveTo>
                  <a:cubicBezTo>
                    <a:pt x="133350" y="0"/>
                    <a:pt x="247650" y="0"/>
                    <a:pt x="133350" y="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64" name="Freeform 64"/>
            <p:cNvSpPr/>
            <p:nvPr/>
          </p:nvSpPr>
          <p:spPr>
            <a:xfrm>
              <a:off x="8953500" y="440055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cubicBezTo>
                    <a:pt x="0" y="228600"/>
                    <a:pt x="0" y="390525"/>
                    <a:pt x="0" y="55245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7543800" y="3390900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400050" y="0"/>
                  </a:moveTo>
                  <a:cubicBezTo>
                    <a:pt x="171450" y="0"/>
                    <a:pt x="0" y="0"/>
                    <a:pt x="171450" y="0"/>
                  </a:cubicBez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8886825" y="182880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0"/>
                  </a:moveTo>
                  <a:lnTo>
                    <a:pt x="0" y="114300"/>
                  </a:lnTo>
                  <a:lnTo>
                    <a:pt x="133350" y="1143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9982200" y="33242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8886825" y="483870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9" name="Freeform 69"/>
            <p:cNvSpPr/>
            <p:nvPr/>
          </p:nvSpPr>
          <p:spPr>
            <a:xfrm>
              <a:off x="7715250" y="33242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66675"/>
                  </a:moveTo>
                  <a:lnTo>
                    <a:pt x="114300" y="0"/>
                  </a:lnTo>
                  <a:lnTo>
                    <a:pt x="11430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571500" y="5543550"/>
            <a:ext cx="3446526" cy="438150"/>
            <a:chOff x="571500" y="5543550"/>
            <a:chExt cx="3446526" cy="438150"/>
          </a:xfrm>
        </p:grpSpPr>
        <p:sp>
          <p:nvSpPr>
            <p:cNvPr id="71" name="Freeform 71"/>
            <p:cNvSpPr/>
            <p:nvPr/>
          </p:nvSpPr>
          <p:spPr>
            <a:xfrm>
              <a:off x="571500" y="5543550"/>
              <a:ext cx="3429000" cy="438150"/>
            </a:xfrm>
            <a:custGeom>
              <a:avLst/>
              <a:gdLst/>
              <a:ahLst/>
              <a:cxnLst/>
              <a:rect l="l" t="t" r="r" b="b"/>
              <a:pathLst>
                <a:path w="3429000" h="438150">
                  <a:moveTo>
                    <a:pt x="95250" y="0"/>
                  </a:moveTo>
                  <a:lnTo>
                    <a:pt x="3333750" y="0"/>
                  </a:lnTo>
                  <a:cubicBezTo>
                    <a:pt x="3386355" y="0"/>
                    <a:pt x="3429000" y="42645"/>
                    <a:pt x="3429000" y="95250"/>
                  </a:cubicBezTo>
                  <a:lnTo>
                    <a:pt x="3429000" y="342900"/>
                  </a:lnTo>
                  <a:cubicBezTo>
                    <a:pt x="3429000" y="395505"/>
                    <a:pt x="3386355" y="438150"/>
                    <a:pt x="3333750" y="438150"/>
                  </a:cubicBezTo>
                  <a:lnTo>
                    <a:pt x="95250" y="438150"/>
                  </a:lnTo>
                  <a:cubicBezTo>
                    <a:pt x="42645" y="438150"/>
                    <a:pt x="0" y="395505"/>
                    <a:pt x="0" y="3429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74954" y="56807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面向管理层的增长中枢，不是单点工具的叠加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552450"/>
            <a:ext cx="12763500" cy="8172450"/>
            <a:chOff x="0" y="-552450"/>
            <a:chExt cx="12763500" cy="81724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8905875" y="0"/>
              <a:ext cx="3286125" cy="6858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715375" y="-552450"/>
              <a:ext cx="3238500" cy="32385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334500" y="4191000"/>
              <a:ext cx="3429000" cy="3429000"/>
            </a:xfrm>
            <a:prstGeom prst="ellipse">
              <a:avLst/>
            </a:prstGeom>
            <a:solidFill>
              <a:schemeClr val="accent3">
                <a:alpha val="6000"/>
              </a:scheme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1200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7784" y="496252"/>
            <a:ext cx="11067479" cy="6148864"/>
            <a:chOff x="557784" y="496252"/>
            <a:chExt cx="11067479" cy="6148864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496252"/>
              <a:ext cx="634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模块目录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737235"/>
              <a:ext cx="44631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今天必须做出的五项判断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4831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93570" y="64831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3880" y="1514475"/>
            <a:ext cx="11056620" cy="4562475"/>
            <a:chOff x="563880" y="1514475"/>
            <a:chExt cx="11056620" cy="4562475"/>
          </a:xfrm>
        </p:grpSpPr>
        <p:grpSp>
          <p:nvGrpSpPr>
            <p:cNvPr id="43" name="Group 43"/>
            <p:cNvGrpSpPr/>
            <p:nvPr/>
          </p:nvGrpSpPr>
          <p:grpSpPr>
            <a:xfrm>
              <a:off x="563880" y="1514475"/>
              <a:ext cx="7246620" cy="4486275"/>
              <a:chOff x="563880" y="1514475"/>
              <a:chExt cx="7246620" cy="4486275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563880" y="1514475"/>
                <a:ext cx="589140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本简报围绕五个核心决定展开，帮助管理层在30分钟内完成从认知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63880" y="1800225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到行动的对齐。</a:t>
                </a:r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571500" y="2143125"/>
                <a:ext cx="7239000" cy="3857625"/>
              </a:xfrm>
              <a:custGeom>
                <a:avLst/>
                <a:gdLst/>
                <a:ahLst/>
                <a:cxnLst/>
                <a:rect l="l" t="t" r="r" b="b"/>
                <a:pathLst>
                  <a:path w="7239000" h="3857625">
                    <a:moveTo>
                      <a:pt x="114300" y="0"/>
                    </a:moveTo>
                    <a:lnTo>
                      <a:pt x="7124700" y="0"/>
                    </a:lnTo>
                    <a:cubicBezTo>
                      <a:pt x="7187826" y="0"/>
                      <a:pt x="7239000" y="51174"/>
                      <a:pt x="7239000" y="114300"/>
                    </a:cubicBezTo>
                    <a:lnTo>
                      <a:pt x="7239000" y="3743325"/>
                    </a:lnTo>
                    <a:cubicBezTo>
                      <a:pt x="7239000" y="3806451"/>
                      <a:pt x="7187826" y="3857625"/>
                      <a:pt x="7124700" y="3857625"/>
                    </a:cubicBezTo>
                    <a:lnTo>
                      <a:pt x="114300" y="3857625"/>
                    </a:lnTo>
                    <a:cubicBezTo>
                      <a:pt x="51174" y="3857625"/>
                      <a:pt x="0" y="3806451"/>
                      <a:pt x="0" y="3743325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2000250" y="2428875"/>
                <a:ext cx="9525" cy="3286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86125">
                    <a:moveTo>
                      <a:pt x="0" y="0"/>
                    </a:moveTo>
                    <a:lnTo>
                      <a:pt x="0" y="3286125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857250" y="3028950"/>
                <a:ext cx="666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00" h="9525">
                    <a:moveTo>
                      <a:pt x="0" y="0"/>
                    </a:moveTo>
                    <a:lnTo>
                      <a:pt x="6667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857250" y="3629025"/>
                <a:ext cx="666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00" h="9525">
                    <a:moveTo>
                      <a:pt x="0" y="0"/>
                    </a:moveTo>
                    <a:lnTo>
                      <a:pt x="6667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857250" y="4229100"/>
                <a:ext cx="666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00" h="9525">
                    <a:moveTo>
                      <a:pt x="0" y="0"/>
                    </a:moveTo>
                    <a:lnTo>
                      <a:pt x="6667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857250" y="4829175"/>
                <a:ext cx="666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00" h="9525">
                    <a:moveTo>
                      <a:pt x="0" y="0"/>
                    </a:moveTo>
                    <a:lnTo>
                      <a:pt x="6667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57250" y="2362200"/>
                <a:ext cx="8763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876300" h="323850">
                    <a:moveTo>
                      <a:pt x="161925" y="0"/>
                    </a:moveTo>
                    <a:lnTo>
                      <a:pt x="714375" y="0"/>
                    </a:lnTo>
                    <a:cubicBezTo>
                      <a:pt x="803804" y="0"/>
                      <a:pt x="876300" y="72496"/>
                      <a:pt x="876300" y="161925"/>
                    </a:cubicBezTo>
                    <a:lnTo>
                      <a:pt x="876300" y="161925"/>
                    </a:lnTo>
                    <a:cubicBezTo>
                      <a:pt x="876300" y="251354"/>
                      <a:pt x="803804" y="323850"/>
                      <a:pt x="714375" y="323850"/>
                    </a:cubicBezTo>
                    <a:lnTo>
                      <a:pt x="161925" y="323850"/>
                    </a:lnTo>
                    <a:cubicBezTo>
                      <a:pt x="72496" y="323850"/>
                      <a:pt x="0" y="251354"/>
                      <a:pt x="0" y="161925"/>
                    </a:cubicBezTo>
                    <a:lnTo>
                      <a:pt x="0" y="161925"/>
                    </a:lnTo>
                    <a:cubicBezTo>
                      <a:pt x="0" y="72496"/>
                      <a:pt x="72496" y="0"/>
                      <a:pt x="16192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196012" y="24517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01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181606" y="2386965"/>
                <a:ext cx="378195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沉睡的数据资产正在被竞品激活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183892" y="2683192"/>
                <a:ext cx="16675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窗口期不超过12个月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857250" y="2962275"/>
                <a:ext cx="8763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876300" h="323850">
                    <a:moveTo>
                      <a:pt x="161925" y="0"/>
                    </a:moveTo>
                    <a:lnTo>
                      <a:pt x="714375" y="0"/>
                    </a:lnTo>
                    <a:cubicBezTo>
                      <a:pt x="803804" y="0"/>
                      <a:pt x="876300" y="72496"/>
                      <a:pt x="876300" y="161925"/>
                    </a:cubicBezTo>
                    <a:lnTo>
                      <a:pt x="876300" y="161925"/>
                    </a:lnTo>
                    <a:cubicBezTo>
                      <a:pt x="876300" y="251354"/>
                      <a:pt x="803804" y="323850"/>
                      <a:pt x="714375" y="323850"/>
                    </a:cubicBezTo>
                    <a:lnTo>
                      <a:pt x="161925" y="323850"/>
                    </a:lnTo>
                    <a:cubicBezTo>
                      <a:pt x="72496" y="323850"/>
                      <a:pt x="0" y="251354"/>
                      <a:pt x="0" y="161925"/>
                    </a:cubicBezTo>
                    <a:lnTo>
                      <a:pt x="0" y="161925"/>
                    </a:lnTo>
                    <a:cubicBezTo>
                      <a:pt x="0" y="72496"/>
                      <a:pt x="72496" y="0"/>
                      <a:pt x="16192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196012" y="30518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02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181606" y="2987040"/>
                <a:ext cx="270662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四个模块能否形成闭环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2183892" y="3283268"/>
                <a:ext cx="371977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数据整合 → AI分析 → 自动化执行 → 效果度量</a:t>
                </a:r>
              </a:p>
            </p:txBody>
          </p:sp>
          <p:sp>
            <p:nvSpPr>
              <p:cNvPr id="29" name="Freeform 29"/>
              <p:cNvSpPr/>
              <p:nvPr/>
            </p:nvSpPr>
            <p:spPr>
              <a:xfrm>
                <a:off x="857250" y="3562350"/>
                <a:ext cx="8763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876300" h="323850">
                    <a:moveTo>
                      <a:pt x="161925" y="0"/>
                    </a:moveTo>
                    <a:lnTo>
                      <a:pt x="714375" y="0"/>
                    </a:lnTo>
                    <a:cubicBezTo>
                      <a:pt x="803804" y="0"/>
                      <a:pt x="876300" y="72496"/>
                      <a:pt x="876300" y="161925"/>
                    </a:cubicBezTo>
                    <a:lnTo>
                      <a:pt x="876300" y="161925"/>
                    </a:lnTo>
                    <a:cubicBezTo>
                      <a:pt x="876300" y="251354"/>
                      <a:pt x="803804" y="323850"/>
                      <a:pt x="714375" y="323850"/>
                    </a:cubicBezTo>
                    <a:lnTo>
                      <a:pt x="161925" y="323850"/>
                    </a:lnTo>
                    <a:cubicBezTo>
                      <a:pt x="72496" y="323850"/>
                      <a:pt x="0" y="251354"/>
                      <a:pt x="0" y="161925"/>
                    </a:cubicBezTo>
                    <a:lnTo>
                      <a:pt x="0" y="161925"/>
                    </a:lnTo>
                    <a:cubicBezTo>
                      <a:pt x="0" y="72496"/>
                      <a:pt x="72496" y="0"/>
                      <a:pt x="16192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196012" y="36518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03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181606" y="3587115"/>
                <a:ext cx="270662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风险是否已被前置管理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2183892" y="3883342"/>
                <a:ext cx="255803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数据合规、组织适配、模型漂移</a:t>
                </a:r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857250" y="4162425"/>
                <a:ext cx="8763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876300" h="323850">
                    <a:moveTo>
                      <a:pt x="161925" y="0"/>
                    </a:moveTo>
                    <a:lnTo>
                      <a:pt x="714375" y="0"/>
                    </a:lnTo>
                    <a:cubicBezTo>
                      <a:pt x="803804" y="0"/>
                      <a:pt x="876300" y="72496"/>
                      <a:pt x="876300" y="161925"/>
                    </a:cubicBezTo>
                    <a:lnTo>
                      <a:pt x="876300" y="161925"/>
                    </a:lnTo>
                    <a:cubicBezTo>
                      <a:pt x="876300" y="251354"/>
                      <a:pt x="803804" y="323850"/>
                      <a:pt x="714375" y="323850"/>
                    </a:cubicBezTo>
                    <a:lnTo>
                      <a:pt x="161925" y="323850"/>
                    </a:lnTo>
                    <a:cubicBezTo>
                      <a:pt x="72496" y="323850"/>
                      <a:pt x="0" y="251354"/>
                      <a:pt x="0" y="161925"/>
                    </a:cubicBezTo>
                    <a:lnTo>
                      <a:pt x="0" y="161925"/>
                    </a:lnTo>
                    <a:cubicBezTo>
                      <a:pt x="0" y="72496"/>
                      <a:pt x="72496" y="0"/>
                      <a:pt x="16192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196012" y="4251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04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181606" y="4187190"/>
                <a:ext cx="32500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ROI 是否能拆到模块级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183892" y="4483418"/>
                <a:ext cx="23762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依赖多点实测数据，而非推断</a:t>
                </a:r>
              </a:p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857250" y="4762500"/>
                <a:ext cx="8763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876300" h="323850">
                    <a:moveTo>
                      <a:pt x="161925" y="0"/>
                    </a:moveTo>
                    <a:lnTo>
                      <a:pt x="714375" y="0"/>
                    </a:lnTo>
                    <a:cubicBezTo>
                      <a:pt x="803804" y="0"/>
                      <a:pt x="876300" y="72496"/>
                      <a:pt x="876300" y="161925"/>
                    </a:cubicBezTo>
                    <a:lnTo>
                      <a:pt x="876300" y="161925"/>
                    </a:lnTo>
                    <a:cubicBezTo>
                      <a:pt x="876300" y="251354"/>
                      <a:pt x="803804" y="323850"/>
                      <a:pt x="714375" y="323850"/>
                    </a:cubicBezTo>
                    <a:lnTo>
                      <a:pt x="161925" y="323850"/>
                    </a:lnTo>
                    <a:cubicBezTo>
                      <a:pt x="72496" y="323850"/>
                      <a:pt x="0" y="251354"/>
                      <a:pt x="0" y="161925"/>
                    </a:cubicBezTo>
                    <a:lnTo>
                      <a:pt x="0" y="161925"/>
                    </a:lnTo>
                    <a:cubicBezTo>
                      <a:pt x="0" y="72496"/>
                      <a:pt x="72496" y="0"/>
                      <a:pt x="16192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196012" y="48520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2181606" y="4787265"/>
                <a:ext cx="351312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下一步是不是可执行的路线图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183892" y="5083492"/>
                <a:ext cx="273977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三阶段行动清单，而不是概念蓝图</a:t>
                </a:r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857250" y="5438775"/>
                <a:ext cx="666750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6667500" h="333375">
                    <a:moveTo>
                      <a:pt x="161925" y="0"/>
                    </a:moveTo>
                    <a:lnTo>
                      <a:pt x="6505575" y="0"/>
                    </a:lnTo>
                    <a:cubicBezTo>
                      <a:pt x="6595004" y="0"/>
                      <a:pt x="6667500" y="72496"/>
                      <a:pt x="6667500" y="161925"/>
                    </a:cubicBezTo>
                    <a:lnTo>
                      <a:pt x="6667500" y="171450"/>
                    </a:lnTo>
                    <a:cubicBezTo>
                      <a:pt x="6667500" y="260879"/>
                      <a:pt x="6595004" y="333375"/>
                      <a:pt x="6505575" y="333375"/>
                    </a:cubicBezTo>
                    <a:lnTo>
                      <a:pt x="161925" y="333375"/>
                    </a:lnTo>
                    <a:cubicBezTo>
                      <a:pt x="72496" y="333375"/>
                      <a:pt x="0" y="260879"/>
                      <a:pt x="0" y="171450"/>
                    </a:cubicBezTo>
                    <a:lnTo>
                      <a:pt x="0" y="161925"/>
                    </a:lnTo>
                    <a:cubicBezTo>
                      <a:pt x="0" y="72496"/>
                      <a:pt x="72496" y="0"/>
                      <a:pt x="16192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842516" y="5528310"/>
                <a:ext cx="46969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这五项判断共同定义：是否现在投入、如何投入、投入后如何衡量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8362950" y="1581150"/>
              <a:ext cx="3257550" cy="4495800"/>
              <a:chOff x="8362950" y="1581150"/>
              <a:chExt cx="3257550" cy="4495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362950" y="1581150"/>
                <a:ext cx="3257550" cy="4495800"/>
              </a:xfrm>
              <a:custGeom>
                <a:avLst/>
                <a:gdLst/>
                <a:ahLst/>
                <a:cxnLst/>
                <a:rect l="l" t="t" r="r" b="b"/>
                <a:pathLst>
                  <a:path w="3257550" h="4495800">
                    <a:moveTo>
                      <a:pt x="152400" y="0"/>
                    </a:moveTo>
                    <a:lnTo>
                      <a:pt x="3105150" y="0"/>
                    </a:lnTo>
                    <a:cubicBezTo>
                      <a:pt x="3189318" y="0"/>
                      <a:pt x="3257550" y="68232"/>
                      <a:pt x="3257550" y="152400"/>
                    </a:cubicBezTo>
                    <a:lnTo>
                      <a:pt x="3257550" y="4343400"/>
                    </a:lnTo>
                    <a:cubicBezTo>
                      <a:pt x="3257550" y="4427568"/>
                      <a:pt x="3189318" y="4495800"/>
                      <a:pt x="3105150" y="4495800"/>
                    </a:cubicBezTo>
                    <a:lnTo>
                      <a:pt x="152400" y="4495800"/>
                    </a:lnTo>
                    <a:cubicBezTo>
                      <a:pt x="68232" y="4495800"/>
                      <a:pt x="0" y="4427568"/>
                      <a:pt x="0" y="43434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>
                      <a:alpha val="16000"/>
                    </a:schemeClr>
                  </a:gs>
                  <a:gs pos="100000">
                    <a:schemeClr val="accent2">
                      <a:alpha val="3000"/>
                    </a:schemeClr>
                  </a:gs>
                </a:gsLst>
                <a:lin ang="5400000" scaled="1"/>
              </a:gradFill>
              <a:ln w="9525">
                <a:solidFill>
                  <a:schemeClr val="accent4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638794" y="1742122"/>
                <a:ext cx="118475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决策路径</a:t>
                </a:r>
              </a:p>
            </p:txBody>
          </p:sp>
          <p:sp>
            <p:nvSpPr>
              <p:cNvPr id="46" name="Line 46"/>
              <p:cNvSpPr/>
              <p:nvPr/>
            </p:nvSpPr>
            <p:spPr>
              <a:xfrm>
                <a:off x="9029700" y="2266950"/>
                <a:ext cx="9525" cy="3124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24200">
                    <a:moveTo>
                      <a:pt x="0" y="0"/>
                    </a:moveTo>
                    <a:lnTo>
                      <a:pt x="0" y="3124200"/>
                    </a:lnTo>
                  </a:path>
                </a:pathLst>
              </a:custGeom>
              <a:noFill/>
              <a:ln w="28575">
                <a:solidFill>
                  <a:schemeClr val="accent2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8934450" y="238125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8934450" y="30480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8934450" y="371475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8934450" y="4381500"/>
                <a:ext cx="190500" cy="1905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8934450" y="5048250"/>
                <a:ext cx="190500" cy="190500"/>
              </a:xfrm>
              <a:prstGeom prst="ellipse">
                <a:avLst/>
              </a:prstGeom>
              <a:solidFill>
                <a:schemeClr val="accent2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327642" y="2387918"/>
                <a:ext cx="13494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先判断机会窗口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327642" y="3054668"/>
                <a:ext cx="13494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再判断能力闭环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327642" y="3721418"/>
                <a:ext cx="154030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同步判断风险底座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327642" y="4388168"/>
                <a:ext cx="154030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随后判断投入回报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327642" y="5054918"/>
                <a:ext cx="15593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最终进入90天行动</a:t>
                </a:r>
              </a:p>
            </p:txBody>
          </p:sp>
          <p:sp>
            <p:nvSpPr>
              <p:cNvPr id="57" name="Freeform 57"/>
              <p:cNvSpPr/>
              <p:nvPr/>
            </p:nvSpPr>
            <p:spPr>
              <a:xfrm>
                <a:off x="8648700" y="5581650"/>
                <a:ext cx="2590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590800" h="304800">
                    <a:moveTo>
                      <a:pt x="152400" y="0"/>
                    </a:moveTo>
                    <a:lnTo>
                      <a:pt x="2438400" y="0"/>
                    </a:lnTo>
                    <a:cubicBezTo>
                      <a:pt x="2522568" y="0"/>
                      <a:pt x="2590800" y="68232"/>
                      <a:pt x="2590800" y="152400"/>
                    </a:cubicBezTo>
                    <a:lnTo>
                      <a:pt x="2590800" y="152400"/>
                    </a:lnTo>
                    <a:cubicBezTo>
                      <a:pt x="2590800" y="236568"/>
                      <a:pt x="2522568" y="304800"/>
                      <a:pt x="2438400" y="304800"/>
                    </a:cubicBezTo>
                    <a:lnTo>
                      <a:pt x="152400" y="304800"/>
                    </a:lnTo>
                    <a:cubicBezTo>
                      <a:pt x="68232" y="304800"/>
                      <a:pt x="0" y="236568"/>
                      <a:pt x="0" y="1524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8793823" y="5668328"/>
                <a:ext cx="230055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从“看机会”到“定动作”的管理层议程</a:t>
                </a: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8362950" y="723900"/>
            <a:ext cx="3257550" cy="556451"/>
            <a:chOff x="8362950" y="723900"/>
            <a:chExt cx="3257550" cy="556451"/>
          </a:xfrm>
        </p:grpSpPr>
        <p:sp>
          <p:nvSpPr>
            <p:cNvPr id="61" name="Freeform 61"/>
            <p:cNvSpPr/>
            <p:nvPr/>
          </p:nvSpPr>
          <p:spPr>
            <a:xfrm>
              <a:off x="8362950" y="723900"/>
              <a:ext cx="1657350" cy="533400"/>
            </a:xfrm>
            <a:custGeom>
              <a:avLst/>
              <a:gdLst/>
              <a:ahLst/>
              <a:cxnLst/>
              <a:rect l="l" t="t" r="r" b="b"/>
              <a:pathLst>
                <a:path w="1657350" h="533400">
                  <a:moveTo>
                    <a:pt x="114300" y="0"/>
                  </a:moveTo>
                  <a:lnTo>
                    <a:pt x="1543050" y="0"/>
                  </a:lnTo>
                  <a:cubicBezTo>
                    <a:pt x="1606176" y="0"/>
                    <a:pt x="1657350" y="51174"/>
                    <a:pt x="1657350" y="114300"/>
                  </a:cubicBezTo>
                  <a:lnTo>
                    <a:pt x="1657350" y="419100"/>
                  </a:lnTo>
                  <a:cubicBezTo>
                    <a:pt x="1657350" y="482226"/>
                    <a:pt x="1606176" y="533400"/>
                    <a:pt x="1543050" y="533400"/>
                  </a:cubicBezTo>
                  <a:lnTo>
                    <a:pt x="114300" y="533400"/>
                  </a:lnTo>
                  <a:cubicBezTo>
                    <a:pt x="51174" y="533400"/>
                    <a:pt x="0" y="482226"/>
                    <a:pt x="0" y="419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29638" y="8553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本页角色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527542" y="10163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管理层决策目录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10153650" y="723900"/>
              <a:ext cx="1466850" cy="533400"/>
            </a:xfrm>
            <a:custGeom>
              <a:avLst/>
              <a:gdLst/>
              <a:ahLst/>
              <a:cxnLst/>
              <a:rect l="l" t="t" r="r" b="b"/>
              <a:pathLst>
                <a:path w="1466850" h="533400">
                  <a:moveTo>
                    <a:pt x="114300" y="0"/>
                  </a:moveTo>
                  <a:lnTo>
                    <a:pt x="1352550" y="0"/>
                  </a:lnTo>
                  <a:cubicBezTo>
                    <a:pt x="1415676" y="0"/>
                    <a:pt x="1466850" y="51174"/>
                    <a:pt x="1466850" y="114300"/>
                  </a:cubicBezTo>
                  <a:lnTo>
                    <a:pt x="1466850" y="419100"/>
                  </a:lnTo>
                  <a:cubicBezTo>
                    <a:pt x="1466850" y="482226"/>
                    <a:pt x="1415676" y="533400"/>
                    <a:pt x="1352550" y="533400"/>
                  </a:cubicBezTo>
                  <a:lnTo>
                    <a:pt x="114300" y="533400"/>
                  </a:lnTo>
                  <a:cubicBezTo>
                    <a:pt x="51174" y="533400"/>
                    <a:pt x="0" y="482226"/>
                    <a:pt x="0" y="419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320338" y="8553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阅读方式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318242" y="10163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从左到右推进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876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000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933450"/>
              <a:ext cx="1809750" cy="9525"/>
            </a:xfrm>
            <a:custGeom>
              <a:avLst/>
              <a:gdLst/>
              <a:ahLst/>
              <a:cxnLst/>
              <a:rect l="l" t="t" r="r" b="b"/>
              <a:pathLst>
                <a:path w="1809750" h="9525">
                  <a:moveTo>
                    <a:pt x="0" y="0"/>
                  </a:moveTo>
                  <a:lnTo>
                    <a:pt x="1809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65785" y="373856"/>
            <a:ext cx="11040427" cy="6128385"/>
            <a:chOff x="565785" y="373856"/>
            <a:chExt cx="11040427" cy="6128385"/>
          </a:xfrm>
        </p:grpSpPr>
        <p:sp>
          <p:nvSpPr>
            <p:cNvPr id="8" name="TextBox 8"/>
            <p:cNvSpPr txBox="1"/>
            <p:nvPr/>
          </p:nvSpPr>
          <p:spPr>
            <a:xfrm>
              <a:off x="565785" y="3738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6738" y="6340316"/>
              <a:ext cx="1917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product-launch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24631" y="6340316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03 / 08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57784" y="1061085"/>
            <a:ext cx="11062716" cy="4911090"/>
            <a:chOff x="557784" y="1061085"/>
            <a:chExt cx="11062716" cy="4911090"/>
          </a:xfrm>
        </p:grpSpPr>
        <p:sp>
          <p:nvSpPr>
            <p:cNvPr id="12" name="TextBox 12"/>
            <p:cNvSpPr txBox="1"/>
            <p:nvPr/>
          </p:nvSpPr>
          <p:spPr>
            <a:xfrm>
              <a:off x="557784" y="1061085"/>
              <a:ext cx="561245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你的营销数据，60%从未被用上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571500" y="1714500"/>
              <a:ext cx="11049000" cy="2571750"/>
            </a:xfrm>
            <a:custGeom>
              <a:avLst/>
              <a:gdLst/>
              <a:ahLst/>
              <a:cxnLst/>
              <a:rect l="l" t="t" r="r" b="b"/>
              <a:pathLst>
                <a:path w="11049000" h="2571750">
                  <a:moveTo>
                    <a:pt x="133350" y="0"/>
                  </a:moveTo>
                  <a:lnTo>
                    <a:pt x="10915650" y="0"/>
                  </a:lnTo>
                  <a:cubicBezTo>
                    <a:pt x="10989297" y="0"/>
                    <a:pt x="11049000" y="59703"/>
                    <a:pt x="11049000" y="133350"/>
                  </a:cubicBezTo>
                  <a:lnTo>
                    <a:pt x="11049000" y="2438400"/>
                  </a:lnTo>
                  <a:cubicBezTo>
                    <a:pt x="11049000" y="2512047"/>
                    <a:pt x="10989297" y="2571750"/>
                    <a:pt x="10915650" y="2571750"/>
                  </a:cubicBezTo>
                  <a:lnTo>
                    <a:pt x="133350" y="2571750"/>
                  </a:lnTo>
                  <a:cubicBezTo>
                    <a:pt x="59703" y="2571750"/>
                    <a:pt x="0" y="2512047"/>
                    <a:pt x="0" y="2438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71500" y="1714500"/>
              <a:ext cx="171450" cy="2571750"/>
            </a:xfrm>
            <a:custGeom>
              <a:avLst/>
              <a:gdLst/>
              <a:ahLst/>
              <a:cxnLst/>
              <a:rect l="l" t="t" r="r" b="b"/>
              <a:pathLst>
                <a:path w="171450" h="2571750">
                  <a:moveTo>
                    <a:pt x="85725" y="0"/>
                  </a:moveTo>
                  <a:lnTo>
                    <a:pt x="85725" y="0"/>
                  </a:lnTo>
                  <a:cubicBezTo>
                    <a:pt x="133070" y="0"/>
                    <a:pt x="171450" y="38380"/>
                    <a:pt x="171450" y="85725"/>
                  </a:cubicBezTo>
                  <a:lnTo>
                    <a:pt x="171450" y="2486025"/>
                  </a:lnTo>
                  <a:cubicBezTo>
                    <a:pt x="171450" y="2533370"/>
                    <a:pt x="133070" y="2571750"/>
                    <a:pt x="85725" y="2571750"/>
                  </a:cubicBezTo>
                  <a:lnTo>
                    <a:pt x="85725" y="2571750"/>
                  </a:lnTo>
                  <a:cubicBezTo>
                    <a:pt x="38380" y="2571750"/>
                    <a:pt x="0" y="2533370"/>
                    <a:pt x="0" y="2486025"/>
                  </a:cubicBezTo>
                  <a:lnTo>
                    <a:pt x="0" y="85725"/>
                  </a:lnTo>
                  <a:cubicBezTo>
                    <a:pt x="0" y="38380"/>
                    <a:pt x="38380" y="0"/>
                    <a:pt x="85725" y="0"/>
                  </a:cubicBez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47750" y="1662112"/>
              <a:ext cx="2317585" cy="1590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5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60%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18332" y="2106930"/>
              <a:ext cx="53644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大多数企业的用户行为、交易和互动数据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18332" y="2487930"/>
              <a:ext cx="518070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仍处于沉睡状态，而 AI 工作台是唤醒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18332" y="2868930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这些资产的最短路径。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429000" y="325755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422142" y="3530918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如果数据无法被及时接入、理解与触发动作，营销团队看到的不是用户，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22142" y="38166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而是一份持续过时的报表。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571500" y="4552950"/>
              <a:ext cx="3429000" cy="1047750"/>
            </a:xfrm>
            <a:custGeom>
              <a:avLst/>
              <a:gdLst/>
              <a:ahLst/>
              <a:cxnLst/>
              <a:rect l="l" t="t" r="r" b="b"/>
              <a:pathLst>
                <a:path w="3429000" h="104775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933450"/>
                  </a:lnTo>
                  <a:cubicBezTo>
                    <a:pt x="3429000" y="996576"/>
                    <a:pt x="3377826" y="1047750"/>
                    <a:pt x="3314700" y="1047750"/>
                  </a:cubicBezTo>
                  <a:lnTo>
                    <a:pt x="114300" y="1047750"/>
                  </a:lnTo>
                  <a:cubicBezTo>
                    <a:pt x="51174" y="1047750"/>
                    <a:pt x="0" y="996576"/>
                    <a:pt x="0" y="933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800100" y="492442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40130" y="4733925"/>
              <a:ext cx="28033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非结构化数据利用率低于 15%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1654" y="506158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手工处理过慢，难以进入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1654" y="52901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实时决策流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4381500" y="4552950"/>
              <a:ext cx="3429000" cy="1047750"/>
            </a:xfrm>
            <a:custGeom>
              <a:avLst/>
              <a:gdLst/>
              <a:ahLst/>
              <a:cxnLst/>
              <a:rect l="l" t="t" r="r" b="b"/>
              <a:pathLst>
                <a:path w="3429000" h="104775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933450"/>
                  </a:lnTo>
                  <a:cubicBezTo>
                    <a:pt x="3429000" y="996576"/>
                    <a:pt x="3377826" y="1047750"/>
                    <a:pt x="3314700" y="1047750"/>
                  </a:cubicBezTo>
                  <a:lnTo>
                    <a:pt x="114300" y="1047750"/>
                  </a:lnTo>
                  <a:cubicBezTo>
                    <a:pt x="51174" y="1047750"/>
                    <a:pt x="0" y="996576"/>
                    <a:pt x="0" y="933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4610100" y="492442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850130" y="47339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延迟每增加一天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51654" y="5061585"/>
              <a:ext cx="1401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潜在转化损失约 4%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191500" y="4552950"/>
              <a:ext cx="3429000" cy="1047750"/>
            </a:xfrm>
            <a:custGeom>
              <a:avLst/>
              <a:gdLst/>
              <a:ahLst/>
              <a:cxnLst/>
              <a:rect l="l" t="t" r="r" b="b"/>
              <a:pathLst>
                <a:path w="3429000" h="104775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933450"/>
                  </a:lnTo>
                  <a:cubicBezTo>
                    <a:pt x="3429000" y="996576"/>
                    <a:pt x="3377826" y="1047750"/>
                    <a:pt x="3314700" y="1047750"/>
                  </a:cubicBezTo>
                  <a:lnTo>
                    <a:pt x="114300" y="1047750"/>
                  </a:lnTo>
                  <a:cubicBezTo>
                    <a:pt x="51174" y="1047750"/>
                    <a:pt x="0" y="996576"/>
                    <a:pt x="0" y="933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420100" y="4924425"/>
              <a:ext cx="114300" cy="114300"/>
            </a:xfrm>
            <a:prstGeom prst="ellipse">
              <a:avLst/>
            </a:prstGeom>
            <a:solidFill>
              <a:srgbClr val="2F855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660130" y="4733925"/>
              <a:ext cx="25803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头部客户上线 AI 工作台后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61654" y="5061585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数据激活率跃升至 92%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571500" y="5781675"/>
              <a:ext cx="11049000" cy="190500"/>
            </a:xfrm>
            <a:custGeom>
              <a:avLst/>
              <a:gdLst/>
              <a:ahLst/>
              <a:cxnLst/>
              <a:rect l="l" t="t" r="r" b="b"/>
              <a:pathLst>
                <a:path w="11049000" h="19050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95250"/>
                  </a:lnTo>
                  <a:cubicBezTo>
                    <a:pt x="11049000" y="147855"/>
                    <a:pt x="11006355" y="190500"/>
                    <a:pt x="10953750" y="190500"/>
                  </a:cubicBezTo>
                  <a:lnTo>
                    <a:pt x="95250" y="190500"/>
                  </a:lnTo>
                  <a:cubicBezTo>
                    <a:pt x="42645" y="190500"/>
                    <a:pt x="0" y="147855"/>
                    <a:pt x="0" y="9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571500" y="5781675"/>
              <a:ext cx="6629400" cy="190500"/>
            </a:xfrm>
            <a:custGeom>
              <a:avLst/>
              <a:gdLst/>
              <a:ahLst/>
              <a:cxnLst/>
              <a:rect l="l" t="t" r="r" b="b"/>
              <a:pathLst>
                <a:path w="6629400" h="190500">
                  <a:moveTo>
                    <a:pt x="95250" y="0"/>
                  </a:moveTo>
                  <a:lnTo>
                    <a:pt x="6534150" y="0"/>
                  </a:lnTo>
                  <a:cubicBezTo>
                    <a:pt x="6586755" y="0"/>
                    <a:pt x="6629400" y="42645"/>
                    <a:pt x="6629400" y="95250"/>
                  </a:cubicBezTo>
                  <a:lnTo>
                    <a:pt x="6629400" y="95250"/>
                  </a:lnTo>
                  <a:cubicBezTo>
                    <a:pt x="6629400" y="147855"/>
                    <a:pt x="6586755" y="190500"/>
                    <a:pt x="6534150" y="190500"/>
                  </a:cubicBezTo>
                  <a:lnTo>
                    <a:pt x="95250" y="190500"/>
                  </a:lnTo>
                  <a:cubicBezTo>
                    <a:pt x="42645" y="190500"/>
                    <a:pt x="0" y="147855"/>
                    <a:pt x="0" y="95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105650" y="5781675"/>
              <a:ext cx="190500" cy="1905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6738" y="566547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未激活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47464" y="566547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已激活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61466" y="3868102"/>
            <a:ext cx="6705398" cy="2405635"/>
            <a:chOff x="1061466" y="3868102"/>
            <a:chExt cx="6705398" cy="2405635"/>
          </a:xfrm>
        </p:grpSpPr>
        <p:sp>
          <p:nvSpPr>
            <p:cNvPr id="41" name="TextBox 41"/>
            <p:cNvSpPr txBox="1"/>
            <p:nvPr/>
          </p:nvSpPr>
          <p:spPr>
            <a:xfrm>
              <a:off x="1061466" y="3868102"/>
              <a:ext cx="3431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主判断：数据问题不是“没有”，而是“没有被持续利用”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34936" y="6068378"/>
              <a:ext cx="1131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AI 工作台介入点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0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12954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457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1600200"/>
              <a:ext cx="9525" cy="4400550"/>
            </a:xfrm>
            <a:custGeom>
              <a:avLst/>
              <a:gdLst/>
              <a:ahLst/>
              <a:cxnLst/>
              <a:rect l="l" t="t" r="r" b="b"/>
              <a:pathLst>
                <a:path w="9525" h="4400550">
                  <a:moveTo>
                    <a:pt x="0" y="0"/>
                  </a:moveTo>
                  <a:lnTo>
                    <a:pt x="0" y="44005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7784" y="515302"/>
            <a:ext cx="11067478" cy="6263164"/>
            <a:chOff x="557784" y="515302"/>
            <a:chExt cx="11067478" cy="6263164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515302"/>
              <a:ext cx="606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775335"/>
              <a:ext cx="72859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四个关键环节，一种迥然不同的运作方式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616541"/>
              <a:ext cx="1917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product-launch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43681" y="661654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08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63880" y="1457325"/>
            <a:ext cx="11056620" cy="4873562"/>
            <a:chOff x="563880" y="1457325"/>
            <a:chExt cx="11056620" cy="4873562"/>
          </a:xfrm>
        </p:grpSpPr>
        <p:sp>
          <p:nvSpPr>
            <p:cNvPr id="13" name="TextBox 13"/>
            <p:cNvSpPr txBox="1"/>
            <p:nvPr/>
          </p:nvSpPr>
          <p:spPr>
            <a:xfrm>
              <a:off x="563880" y="1457325"/>
              <a:ext cx="8944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传统营销技术栈由点状工具拼凑而成，AI工作台则内置了数据、分析、执行、度量的原生协同。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71500" y="1905000"/>
              <a:ext cx="5334000" cy="4000500"/>
            </a:xfrm>
            <a:custGeom>
              <a:avLst/>
              <a:gdLst/>
              <a:ahLst/>
              <a:cxnLst/>
              <a:rect l="l" t="t" r="r" b="b"/>
              <a:pathLst>
                <a:path w="5334000" h="4000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3886200"/>
                  </a:lnTo>
                  <a:cubicBezTo>
                    <a:pt x="5334000" y="3949326"/>
                    <a:pt x="5282826" y="4000500"/>
                    <a:pt x="5219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286500" y="1905000"/>
              <a:ext cx="5334000" cy="4000500"/>
            </a:xfrm>
            <a:custGeom>
              <a:avLst/>
              <a:gdLst/>
              <a:ahLst/>
              <a:cxnLst/>
              <a:rect l="l" t="t" r="r" b="b"/>
              <a:pathLst>
                <a:path w="5334000" h="4000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3886200"/>
                  </a:lnTo>
                  <a:cubicBezTo>
                    <a:pt x="5334000" y="3949326"/>
                    <a:pt x="5282826" y="4000500"/>
                    <a:pt x="5219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1154" y="2118360"/>
              <a:ext cx="361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过去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66154" y="2118360"/>
              <a:ext cx="361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现在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800100" y="2476500"/>
              <a:ext cx="4876800" cy="723900"/>
            </a:xfrm>
            <a:custGeom>
              <a:avLst/>
              <a:gdLst/>
              <a:ahLst/>
              <a:cxnLst/>
              <a:rect l="l" t="t" r="r" b="b"/>
              <a:pathLst>
                <a:path w="4876800" h="723900">
                  <a:moveTo>
                    <a:pt x="95250" y="0"/>
                  </a:moveTo>
                  <a:lnTo>
                    <a:pt x="4781550" y="0"/>
                  </a:lnTo>
                  <a:cubicBezTo>
                    <a:pt x="4834155" y="0"/>
                    <a:pt x="4876800" y="42645"/>
                    <a:pt x="4876800" y="95250"/>
                  </a:cubicBezTo>
                  <a:lnTo>
                    <a:pt x="4876800" y="628650"/>
                  </a:lnTo>
                  <a:cubicBezTo>
                    <a:pt x="4876800" y="681255"/>
                    <a:pt x="4834155" y="723900"/>
                    <a:pt x="4781550" y="723900"/>
                  </a:cubicBezTo>
                  <a:lnTo>
                    <a:pt x="95250" y="723900"/>
                  </a:lnTo>
                  <a:cubicBezTo>
                    <a:pt x="42645" y="723900"/>
                    <a:pt x="0" y="681255"/>
                    <a:pt x="0" y="628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515100" y="2476500"/>
              <a:ext cx="4876800" cy="723900"/>
            </a:xfrm>
            <a:custGeom>
              <a:avLst/>
              <a:gdLst/>
              <a:ahLst/>
              <a:cxnLst/>
              <a:rect l="l" t="t" r="r" b="b"/>
              <a:pathLst>
                <a:path w="4876800" h="723900">
                  <a:moveTo>
                    <a:pt x="95250" y="0"/>
                  </a:moveTo>
                  <a:lnTo>
                    <a:pt x="4781550" y="0"/>
                  </a:lnTo>
                  <a:cubicBezTo>
                    <a:pt x="4834155" y="0"/>
                    <a:pt x="4876800" y="42645"/>
                    <a:pt x="4876800" y="95250"/>
                  </a:cubicBezTo>
                  <a:lnTo>
                    <a:pt x="4876800" y="628650"/>
                  </a:lnTo>
                  <a:cubicBezTo>
                    <a:pt x="4876800" y="681255"/>
                    <a:pt x="4834155" y="723900"/>
                    <a:pt x="4781550" y="723900"/>
                  </a:cubicBezTo>
                  <a:lnTo>
                    <a:pt x="95250" y="723900"/>
                  </a:lnTo>
                  <a:cubicBezTo>
                    <a:pt x="42645" y="723900"/>
                    <a:pt x="0" y="681255"/>
                    <a:pt x="0" y="628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3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00100" y="3390900"/>
              <a:ext cx="4876800" cy="723900"/>
            </a:xfrm>
            <a:custGeom>
              <a:avLst/>
              <a:gdLst/>
              <a:ahLst/>
              <a:cxnLst/>
              <a:rect l="l" t="t" r="r" b="b"/>
              <a:pathLst>
                <a:path w="4876800" h="723900">
                  <a:moveTo>
                    <a:pt x="95250" y="0"/>
                  </a:moveTo>
                  <a:lnTo>
                    <a:pt x="4781550" y="0"/>
                  </a:lnTo>
                  <a:cubicBezTo>
                    <a:pt x="4834155" y="0"/>
                    <a:pt x="4876800" y="42645"/>
                    <a:pt x="4876800" y="95250"/>
                  </a:cubicBezTo>
                  <a:lnTo>
                    <a:pt x="4876800" y="628650"/>
                  </a:lnTo>
                  <a:cubicBezTo>
                    <a:pt x="4876800" y="681255"/>
                    <a:pt x="4834155" y="723900"/>
                    <a:pt x="4781550" y="723900"/>
                  </a:cubicBezTo>
                  <a:lnTo>
                    <a:pt x="95250" y="723900"/>
                  </a:lnTo>
                  <a:cubicBezTo>
                    <a:pt x="42645" y="723900"/>
                    <a:pt x="0" y="681255"/>
                    <a:pt x="0" y="628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6515100" y="3390900"/>
              <a:ext cx="4876800" cy="723900"/>
            </a:xfrm>
            <a:custGeom>
              <a:avLst/>
              <a:gdLst/>
              <a:ahLst/>
              <a:cxnLst/>
              <a:rect l="l" t="t" r="r" b="b"/>
              <a:pathLst>
                <a:path w="4876800" h="723900">
                  <a:moveTo>
                    <a:pt x="95250" y="0"/>
                  </a:moveTo>
                  <a:lnTo>
                    <a:pt x="4781550" y="0"/>
                  </a:lnTo>
                  <a:cubicBezTo>
                    <a:pt x="4834155" y="0"/>
                    <a:pt x="4876800" y="42645"/>
                    <a:pt x="4876800" y="95250"/>
                  </a:cubicBezTo>
                  <a:lnTo>
                    <a:pt x="4876800" y="628650"/>
                  </a:lnTo>
                  <a:cubicBezTo>
                    <a:pt x="4876800" y="681255"/>
                    <a:pt x="4834155" y="723900"/>
                    <a:pt x="4781550" y="723900"/>
                  </a:cubicBezTo>
                  <a:lnTo>
                    <a:pt x="95250" y="723900"/>
                  </a:lnTo>
                  <a:cubicBezTo>
                    <a:pt x="42645" y="723900"/>
                    <a:pt x="0" y="681255"/>
                    <a:pt x="0" y="628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3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800100" y="4305300"/>
              <a:ext cx="4876800" cy="723900"/>
            </a:xfrm>
            <a:custGeom>
              <a:avLst/>
              <a:gdLst/>
              <a:ahLst/>
              <a:cxnLst/>
              <a:rect l="l" t="t" r="r" b="b"/>
              <a:pathLst>
                <a:path w="4876800" h="723900">
                  <a:moveTo>
                    <a:pt x="95250" y="0"/>
                  </a:moveTo>
                  <a:lnTo>
                    <a:pt x="4781550" y="0"/>
                  </a:lnTo>
                  <a:cubicBezTo>
                    <a:pt x="4834155" y="0"/>
                    <a:pt x="4876800" y="42645"/>
                    <a:pt x="4876800" y="95250"/>
                  </a:cubicBezTo>
                  <a:lnTo>
                    <a:pt x="4876800" y="628650"/>
                  </a:lnTo>
                  <a:cubicBezTo>
                    <a:pt x="4876800" y="681255"/>
                    <a:pt x="4834155" y="723900"/>
                    <a:pt x="4781550" y="723900"/>
                  </a:cubicBezTo>
                  <a:lnTo>
                    <a:pt x="95250" y="723900"/>
                  </a:lnTo>
                  <a:cubicBezTo>
                    <a:pt x="42645" y="723900"/>
                    <a:pt x="0" y="681255"/>
                    <a:pt x="0" y="628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515100" y="4305300"/>
              <a:ext cx="4876800" cy="723900"/>
            </a:xfrm>
            <a:custGeom>
              <a:avLst/>
              <a:gdLst/>
              <a:ahLst/>
              <a:cxnLst/>
              <a:rect l="l" t="t" r="r" b="b"/>
              <a:pathLst>
                <a:path w="4876800" h="723900">
                  <a:moveTo>
                    <a:pt x="95250" y="0"/>
                  </a:moveTo>
                  <a:lnTo>
                    <a:pt x="4781550" y="0"/>
                  </a:lnTo>
                  <a:cubicBezTo>
                    <a:pt x="4834155" y="0"/>
                    <a:pt x="4876800" y="42645"/>
                    <a:pt x="4876800" y="95250"/>
                  </a:cubicBezTo>
                  <a:lnTo>
                    <a:pt x="4876800" y="628650"/>
                  </a:lnTo>
                  <a:cubicBezTo>
                    <a:pt x="4876800" y="681255"/>
                    <a:pt x="4834155" y="723900"/>
                    <a:pt x="4781550" y="723900"/>
                  </a:cubicBezTo>
                  <a:lnTo>
                    <a:pt x="95250" y="723900"/>
                  </a:lnTo>
                  <a:cubicBezTo>
                    <a:pt x="42645" y="723900"/>
                    <a:pt x="0" y="681255"/>
                    <a:pt x="0" y="6286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3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800100" y="5219700"/>
              <a:ext cx="4876800" cy="533400"/>
            </a:xfrm>
            <a:custGeom>
              <a:avLst/>
              <a:gdLst/>
              <a:ahLst/>
              <a:cxnLst/>
              <a:rect l="l" t="t" r="r" b="b"/>
              <a:pathLst>
                <a:path w="4876800" h="533400">
                  <a:moveTo>
                    <a:pt x="95250" y="0"/>
                  </a:moveTo>
                  <a:lnTo>
                    <a:pt x="4781550" y="0"/>
                  </a:lnTo>
                  <a:cubicBezTo>
                    <a:pt x="4834155" y="0"/>
                    <a:pt x="4876800" y="42645"/>
                    <a:pt x="4876800" y="95250"/>
                  </a:cubicBezTo>
                  <a:lnTo>
                    <a:pt x="4876800" y="438150"/>
                  </a:lnTo>
                  <a:cubicBezTo>
                    <a:pt x="4876800" y="490755"/>
                    <a:pt x="4834155" y="533400"/>
                    <a:pt x="47815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515100" y="5219700"/>
              <a:ext cx="4876800" cy="533400"/>
            </a:xfrm>
            <a:custGeom>
              <a:avLst/>
              <a:gdLst/>
              <a:ahLst/>
              <a:cxnLst/>
              <a:rect l="l" t="t" r="r" b="b"/>
              <a:pathLst>
                <a:path w="4876800" h="533400">
                  <a:moveTo>
                    <a:pt x="95250" y="0"/>
                  </a:moveTo>
                  <a:lnTo>
                    <a:pt x="4781550" y="0"/>
                  </a:lnTo>
                  <a:cubicBezTo>
                    <a:pt x="4834155" y="0"/>
                    <a:pt x="4876800" y="42645"/>
                    <a:pt x="4876800" y="95250"/>
                  </a:cubicBezTo>
                  <a:lnTo>
                    <a:pt x="4876800" y="438150"/>
                  </a:lnTo>
                  <a:cubicBezTo>
                    <a:pt x="4876800" y="490755"/>
                    <a:pt x="4834155" y="533400"/>
                    <a:pt x="47815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952500" y="2686050"/>
              <a:ext cx="304800" cy="3048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52500" y="3600450"/>
              <a:ext cx="304800" cy="3048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952500" y="4514850"/>
              <a:ext cx="304800" cy="3048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952500" y="5334000"/>
              <a:ext cx="304800" cy="304800"/>
            </a:xfrm>
            <a:prstGeom prst="ellipse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6667500" y="268605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667500" y="360045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6667500" y="451485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667500" y="5334000"/>
              <a:ext cx="304800" cy="304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9518" y="27565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9518" y="36709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9518" y="45853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9518" y="54044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64518" y="27565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64518" y="36709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64518" y="45853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64518" y="540448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83792" y="26069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84554" y="2851785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多系统手工对接，平均耗时 2 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98792" y="26069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99554" y="2851785"/>
              <a:ext cx="25161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100+ 数据源一键接入，实时打标，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99554" y="30422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统一客户视图就绪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83792" y="3521392"/>
              <a:ext cx="58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84554" y="3766185"/>
              <a:ext cx="24274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BI 报表滞后，人群划分依赖经验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98792" y="3521392"/>
              <a:ext cx="5883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99554" y="376618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预测模型自动生成高潜人群，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99554" y="39566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实时推荐下一步动作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383792" y="443579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84554" y="4680585"/>
              <a:ext cx="31679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campaign 排期靠 Excel，跨渠道需多人协调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98792" y="443579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99554" y="4680585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智能编排引擎自动分配渠道、时机与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99554" y="48710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内容版本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383792" y="53120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384554" y="553783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月度报告无法追溯即时归因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98792" y="53120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99554" y="5537835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次日归因看板，增量贡献可分解至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99554" y="57283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创意、时段、人群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571500" y="6057900"/>
              <a:ext cx="11049000" cy="266700"/>
            </a:xfrm>
            <a:custGeom>
              <a:avLst/>
              <a:gdLst/>
              <a:ahLst/>
              <a:cxnLst/>
              <a:rect l="l" t="t" r="r" b="b"/>
              <a:pathLst>
                <a:path w="11049000" h="26670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190500"/>
                  </a:lnTo>
                  <a:cubicBezTo>
                    <a:pt x="11049000" y="232584"/>
                    <a:pt x="11014884" y="266700"/>
                    <a:pt x="10972800" y="266700"/>
                  </a:cubicBezTo>
                  <a:lnTo>
                    <a:pt x="76200" y="266700"/>
                  </a:lnTo>
                  <a:cubicBezTo>
                    <a:pt x="34116" y="266700"/>
                    <a:pt x="0" y="232584"/>
                    <a:pt x="0" y="1905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56666" y="6125528"/>
              <a:ext cx="51275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从“工具拼装”转向“原生闭环”：数据、分析、执行、度量在同一工作台内连续流动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266168" y="1693545"/>
            <a:ext cx="1659664" cy="3945255"/>
            <a:chOff x="5266168" y="1693545"/>
            <a:chExt cx="1659664" cy="3945255"/>
          </a:xfrm>
        </p:grpSpPr>
        <p:sp>
          <p:nvSpPr>
            <p:cNvPr id="65" name="Line 65"/>
            <p:cNvSpPr/>
            <p:nvPr/>
          </p:nvSpPr>
          <p:spPr>
            <a:xfrm>
              <a:off x="5981700" y="28384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5981700" y="37528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5981700" y="466725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5981700" y="5486400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5848350" y="2686050"/>
              <a:ext cx="114300" cy="304800"/>
            </a:xfrm>
            <a:custGeom>
              <a:avLst/>
              <a:gdLst/>
              <a:ahLst/>
              <a:cxnLst/>
              <a:rect l="l" t="t" r="r" b="b"/>
              <a:pathLst>
                <a:path w="114300" h="304800">
                  <a:moveTo>
                    <a:pt x="0" y="0"/>
                  </a:moveTo>
                  <a:lnTo>
                    <a:pt x="114300" y="152400"/>
                  </a:lnTo>
                  <a:lnTo>
                    <a:pt x="0" y="3048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5848350" y="3600450"/>
              <a:ext cx="114300" cy="304800"/>
            </a:xfrm>
            <a:custGeom>
              <a:avLst/>
              <a:gdLst/>
              <a:ahLst/>
              <a:cxnLst/>
              <a:rect l="l" t="t" r="r" b="b"/>
              <a:pathLst>
                <a:path w="114300" h="304800">
                  <a:moveTo>
                    <a:pt x="0" y="0"/>
                  </a:moveTo>
                  <a:lnTo>
                    <a:pt x="114300" y="152400"/>
                  </a:lnTo>
                  <a:lnTo>
                    <a:pt x="0" y="3048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5848350" y="4514850"/>
              <a:ext cx="114300" cy="304800"/>
            </a:xfrm>
            <a:custGeom>
              <a:avLst/>
              <a:gdLst/>
              <a:ahLst/>
              <a:cxnLst/>
              <a:rect l="l" t="t" r="r" b="b"/>
              <a:pathLst>
                <a:path w="114300" h="304800">
                  <a:moveTo>
                    <a:pt x="0" y="0"/>
                  </a:moveTo>
                  <a:lnTo>
                    <a:pt x="114300" y="152400"/>
                  </a:lnTo>
                  <a:lnTo>
                    <a:pt x="0" y="3048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5848350" y="5334000"/>
              <a:ext cx="114300" cy="304800"/>
            </a:xfrm>
            <a:custGeom>
              <a:avLst/>
              <a:gdLst/>
              <a:ahLst/>
              <a:cxnLst/>
              <a:rect l="l" t="t" r="r" b="b"/>
              <a:pathLst>
                <a:path w="114300" h="304800">
                  <a:moveTo>
                    <a:pt x="0" y="0"/>
                  </a:moveTo>
                  <a:lnTo>
                    <a:pt x="114300" y="152400"/>
                  </a:lnTo>
                  <a:lnTo>
                    <a:pt x="0" y="3048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266168" y="1693545"/>
              <a:ext cx="165966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legacy stack → AI workspace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71500" y="1200150"/>
              <a:ext cx="11049000" cy="5086350"/>
            </a:xfrm>
            <a:custGeom>
              <a:avLst/>
              <a:gdLst/>
              <a:ahLst/>
              <a:cxnLst/>
              <a:rect l="l" t="t" r="r" b="b"/>
              <a:pathLst>
                <a:path w="11049000" h="5086350">
                  <a:moveTo>
                    <a:pt x="171450" y="0"/>
                  </a:moveTo>
                  <a:lnTo>
                    <a:pt x="10877550" y="0"/>
                  </a:lnTo>
                  <a:cubicBezTo>
                    <a:pt x="10972239" y="0"/>
                    <a:pt x="11049000" y="76761"/>
                    <a:pt x="11049000" y="171450"/>
                  </a:cubicBezTo>
                  <a:lnTo>
                    <a:pt x="11049000" y="4914900"/>
                  </a:lnTo>
                  <a:cubicBezTo>
                    <a:pt x="11049000" y="5009589"/>
                    <a:pt x="10972239" y="5086350"/>
                    <a:pt x="10877550" y="5086350"/>
                  </a:cubicBezTo>
                  <a:lnTo>
                    <a:pt x="171450" y="5086350"/>
                  </a:lnTo>
                  <a:cubicBezTo>
                    <a:pt x="76761" y="5086350"/>
                    <a:pt x="0" y="5009589"/>
                    <a:pt x="0" y="49149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571500" y="1200150"/>
              <a:ext cx="11049000" cy="5086350"/>
            </a:xfrm>
            <a:custGeom>
              <a:avLst/>
              <a:gdLst/>
              <a:ahLst/>
              <a:cxnLst/>
              <a:rect l="l" t="t" r="r" b="b"/>
              <a:pathLst>
                <a:path w="11049000" h="5086350">
                  <a:moveTo>
                    <a:pt x="171450" y="0"/>
                  </a:moveTo>
                  <a:lnTo>
                    <a:pt x="10877550" y="0"/>
                  </a:lnTo>
                  <a:cubicBezTo>
                    <a:pt x="10972239" y="0"/>
                    <a:pt x="11049000" y="76761"/>
                    <a:pt x="11049000" y="171450"/>
                  </a:cubicBezTo>
                  <a:lnTo>
                    <a:pt x="11049000" y="4914900"/>
                  </a:lnTo>
                  <a:cubicBezTo>
                    <a:pt x="11049000" y="5009589"/>
                    <a:pt x="10972239" y="5086350"/>
                    <a:pt x="10877550" y="5086350"/>
                  </a:cubicBezTo>
                  <a:lnTo>
                    <a:pt x="171450" y="5086350"/>
                  </a:lnTo>
                  <a:cubicBezTo>
                    <a:pt x="76761" y="5086350"/>
                    <a:pt x="0" y="5009589"/>
                    <a:pt x="0" y="49149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1866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981700" y="1866900"/>
              <a:ext cx="9525" cy="4419600"/>
            </a:xfrm>
            <a:custGeom>
              <a:avLst/>
              <a:gdLst/>
              <a:ahLst/>
              <a:cxnLst/>
              <a:rect l="l" t="t" r="r" b="b"/>
              <a:pathLst>
                <a:path w="9525" h="4419600">
                  <a:moveTo>
                    <a:pt x="0" y="0"/>
                  </a:moveTo>
                  <a:lnTo>
                    <a:pt x="0" y="44196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390049"/>
            <a:ext cx="10972229" cy="6331267"/>
            <a:chOff x="557784" y="390049"/>
            <a:chExt cx="10972229" cy="6331267"/>
          </a:xfrm>
        </p:grpSpPr>
        <p:sp>
          <p:nvSpPr>
            <p:cNvPr id="8" name="TextBox 8"/>
            <p:cNvSpPr txBox="1"/>
            <p:nvPr/>
          </p:nvSpPr>
          <p:spPr>
            <a:xfrm>
              <a:off x="566547" y="390049"/>
              <a:ext cx="8878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PROOFGRID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613410"/>
              <a:ext cx="720096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已落袋的增长，不是PPT里的预测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047750"/>
              <a:ext cx="2038350" cy="9525"/>
            </a:xfrm>
            <a:custGeom>
              <a:avLst/>
              <a:gdLst/>
              <a:ahLst/>
              <a:cxnLst/>
              <a:rect l="l" t="t" r="r" b="b"/>
              <a:pathLst>
                <a:path w="2038350" h="9525">
                  <a:moveTo>
                    <a:pt x="0" y="0"/>
                  </a:moveTo>
                  <a:lnTo>
                    <a:pt x="20383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3880" y="13144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以下数据来自已上线客户的实测结果，涵盖电商、金融、消费品三个行业。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559391"/>
              <a:ext cx="163458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SaaS 方案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98320" y="65593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00100" y="2076450"/>
            <a:ext cx="11040923" cy="4033075"/>
            <a:chOff x="800100" y="2076450"/>
            <a:chExt cx="11040923" cy="4033075"/>
          </a:xfrm>
        </p:grpSpPr>
        <p:sp>
          <p:nvSpPr>
            <p:cNvPr id="15" name="Freeform 15"/>
            <p:cNvSpPr/>
            <p:nvPr/>
          </p:nvSpPr>
          <p:spPr>
            <a:xfrm>
              <a:off x="800100" y="2076450"/>
              <a:ext cx="4953000" cy="1104900"/>
            </a:xfrm>
            <a:custGeom>
              <a:avLst/>
              <a:gdLst/>
              <a:ahLst/>
              <a:cxnLst/>
              <a:rect l="l" t="t" r="r" b="b"/>
              <a:pathLst>
                <a:path w="4953000" h="1104900">
                  <a:moveTo>
                    <a:pt x="133350" y="0"/>
                  </a:moveTo>
                  <a:lnTo>
                    <a:pt x="4819650" y="0"/>
                  </a:lnTo>
                  <a:cubicBezTo>
                    <a:pt x="4893297" y="0"/>
                    <a:pt x="4953000" y="59703"/>
                    <a:pt x="4953000" y="133350"/>
                  </a:cubicBezTo>
                  <a:lnTo>
                    <a:pt x="4953000" y="971550"/>
                  </a:lnTo>
                  <a:cubicBezTo>
                    <a:pt x="4953000" y="1045197"/>
                    <a:pt x="4893297" y="1104900"/>
                    <a:pt x="4819650" y="1104900"/>
                  </a:cubicBezTo>
                  <a:lnTo>
                    <a:pt x="133350" y="1104900"/>
                  </a:lnTo>
                  <a:cubicBezTo>
                    <a:pt x="59703" y="1104900"/>
                    <a:pt x="0" y="1045197"/>
                    <a:pt x="0" y="9715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800100" y="2076450"/>
              <a:ext cx="4953000" cy="1104900"/>
            </a:xfrm>
            <a:custGeom>
              <a:avLst/>
              <a:gdLst/>
              <a:ahLst/>
              <a:cxnLst/>
              <a:rect l="l" t="t" r="r" b="b"/>
              <a:pathLst>
                <a:path w="4953000" h="1104900">
                  <a:moveTo>
                    <a:pt x="133350" y="0"/>
                  </a:moveTo>
                  <a:lnTo>
                    <a:pt x="4819650" y="0"/>
                  </a:lnTo>
                  <a:cubicBezTo>
                    <a:pt x="4893297" y="0"/>
                    <a:pt x="4953000" y="59703"/>
                    <a:pt x="4953000" y="133350"/>
                  </a:cubicBezTo>
                  <a:lnTo>
                    <a:pt x="4953000" y="971550"/>
                  </a:lnTo>
                  <a:cubicBezTo>
                    <a:pt x="4953000" y="1045197"/>
                    <a:pt x="4893297" y="1104900"/>
                    <a:pt x="4819650" y="1104900"/>
                  </a:cubicBezTo>
                  <a:lnTo>
                    <a:pt x="133350" y="1104900"/>
                  </a:lnTo>
                  <a:cubicBezTo>
                    <a:pt x="59703" y="1104900"/>
                    <a:pt x="0" y="1045197"/>
                    <a:pt x="0" y="9715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057275" y="2362200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87018" y="22888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核心结论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02030" y="26193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平台价值已在真实业务中被验证：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2030" y="2905125"/>
              <a:ext cx="3258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降本、提效、放大 ROI 同时成立。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800100" y="3390900"/>
              <a:ext cx="4953000" cy="876300"/>
            </a:xfrm>
            <a:custGeom>
              <a:avLst/>
              <a:gdLst/>
              <a:ahLst/>
              <a:cxnLst/>
              <a:rect l="l" t="t" r="r" b="b"/>
              <a:pathLst>
                <a:path w="4953000" h="876300">
                  <a:moveTo>
                    <a:pt x="114300" y="0"/>
                  </a:moveTo>
                  <a:lnTo>
                    <a:pt x="4838700" y="0"/>
                  </a:lnTo>
                  <a:cubicBezTo>
                    <a:pt x="4901826" y="0"/>
                    <a:pt x="4953000" y="51174"/>
                    <a:pt x="4953000" y="114300"/>
                  </a:cubicBezTo>
                  <a:lnTo>
                    <a:pt x="4953000" y="762000"/>
                  </a:lnTo>
                  <a:cubicBezTo>
                    <a:pt x="4953000" y="825126"/>
                    <a:pt x="4901826" y="876300"/>
                    <a:pt x="4838700" y="876300"/>
                  </a:cubicBezTo>
                  <a:lnTo>
                    <a:pt x="114300" y="876300"/>
                  </a:lnTo>
                  <a:cubicBezTo>
                    <a:pt x="51174" y="876300"/>
                    <a:pt x="0" y="825126"/>
                    <a:pt x="0" y="762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00100" y="3390900"/>
              <a:ext cx="4953000" cy="876300"/>
            </a:xfrm>
            <a:custGeom>
              <a:avLst/>
              <a:gdLst/>
              <a:ahLst/>
              <a:cxnLst/>
              <a:rect l="l" t="t" r="r" b="b"/>
              <a:pathLst>
                <a:path w="4953000" h="876300">
                  <a:moveTo>
                    <a:pt x="114300" y="0"/>
                  </a:moveTo>
                  <a:lnTo>
                    <a:pt x="4838700" y="0"/>
                  </a:lnTo>
                  <a:cubicBezTo>
                    <a:pt x="4901826" y="0"/>
                    <a:pt x="4953000" y="51174"/>
                    <a:pt x="4953000" y="114300"/>
                  </a:cubicBezTo>
                  <a:lnTo>
                    <a:pt x="4953000" y="762000"/>
                  </a:lnTo>
                  <a:cubicBezTo>
                    <a:pt x="4953000" y="825126"/>
                    <a:pt x="4901826" y="876300"/>
                    <a:pt x="4838700" y="876300"/>
                  </a:cubicBezTo>
                  <a:lnTo>
                    <a:pt x="114300" y="876300"/>
                  </a:lnTo>
                  <a:cubicBezTo>
                    <a:pt x="51174" y="876300"/>
                    <a:pt x="0" y="825126"/>
                    <a:pt x="0" y="762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023938" y="3624262"/>
              <a:ext cx="85725" cy="8572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212342" y="3588068"/>
              <a:ext cx="5332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整合全渠道数据后，AI驱动的人群包使新客获取成本下降35%，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212342" y="3854768"/>
              <a:ext cx="12586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复购率提升22%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800100" y="4457700"/>
              <a:ext cx="4953000" cy="876300"/>
            </a:xfrm>
            <a:custGeom>
              <a:avLst/>
              <a:gdLst/>
              <a:ahLst/>
              <a:cxnLst/>
              <a:rect l="l" t="t" r="r" b="b"/>
              <a:pathLst>
                <a:path w="4953000" h="876300">
                  <a:moveTo>
                    <a:pt x="114300" y="0"/>
                  </a:moveTo>
                  <a:lnTo>
                    <a:pt x="4838700" y="0"/>
                  </a:lnTo>
                  <a:cubicBezTo>
                    <a:pt x="4901826" y="0"/>
                    <a:pt x="4953000" y="51174"/>
                    <a:pt x="4953000" y="114300"/>
                  </a:cubicBezTo>
                  <a:lnTo>
                    <a:pt x="4953000" y="762000"/>
                  </a:lnTo>
                  <a:cubicBezTo>
                    <a:pt x="4953000" y="825126"/>
                    <a:pt x="4901826" y="876300"/>
                    <a:pt x="4838700" y="876300"/>
                  </a:cubicBezTo>
                  <a:lnTo>
                    <a:pt x="114300" y="876300"/>
                  </a:lnTo>
                  <a:cubicBezTo>
                    <a:pt x="51174" y="876300"/>
                    <a:pt x="0" y="825126"/>
                    <a:pt x="0" y="762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800100" y="4457700"/>
              <a:ext cx="4953000" cy="876300"/>
            </a:xfrm>
            <a:custGeom>
              <a:avLst/>
              <a:gdLst/>
              <a:ahLst/>
              <a:cxnLst/>
              <a:rect l="l" t="t" r="r" b="b"/>
              <a:pathLst>
                <a:path w="4953000" h="876300">
                  <a:moveTo>
                    <a:pt x="114300" y="0"/>
                  </a:moveTo>
                  <a:lnTo>
                    <a:pt x="4838700" y="0"/>
                  </a:lnTo>
                  <a:cubicBezTo>
                    <a:pt x="4901826" y="0"/>
                    <a:pt x="4953000" y="51174"/>
                    <a:pt x="4953000" y="114300"/>
                  </a:cubicBezTo>
                  <a:lnTo>
                    <a:pt x="4953000" y="762000"/>
                  </a:lnTo>
                  <a:cubicBezTo>
                    <a:pt x="4953000" y="825126"/>
                    <a:pt x="4901826" y="876300"/>
                    <a:pt x="4838700" y="876300"/>
                  </a:cubicBezTo>
                  <a:lnTo>
                    <a:pt x="114300" y="876300"/>
                  </a:lnTo>
                  <a:cubicBezTo>
                    <a:pt x="51174" y="876300"/>
                    <a:pt x="0" y="825126"/>
                    <a:pt x="0" y="7620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023938" y="4691062"/>
              <a:ext cx="85725" cy="8572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12342" y="4654868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实时事件触发自动化流程，将营销响应时间从天级压缩至分钟级，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12342" y="49215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沉默户唤醒效率倍增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00100" y="5524500"/>
              <a:ext cx="4953000" cy="571500"/>
            </a:xfrm>
            <a:custGeom>
              <a:avLst/>
              <a:gdLst/>
              <a:ahLst/>
              <a:cxnLst/>
              <a:rect l="l" t="t" r="r" b="b"/>
              <a:pathLst>
                <a:path w="4953000" h="571500">
                  <a:moveTo>
                    <a:pt x="114300" y="0"/>
                  </a:moveTo>
                  <a:lnTo>
                    <a:pt x="4838700" y="0"/>
                  </a:lnTo>
                  <a:cubicBezTo>
                    <a:pt x="4901826" y="0"/>
                    <a:pt x="4953000" y="51174"/>
                    <a:pt x="4953000" y="114300"/>
                  </a:cubicBezTo>
                  <a:lnTo>
                    <a:pt x="4953000" y="457200"/>
                  </a:lnTo>
                  <a:cubicBezTo>
                    <a:pt x="4953000" y="520326"/>
                    <a:pt x="4901826" y="571500"/>
                    <a:pt x="4838700" y="571500"/>
                  </a:cubicBezTo>
                  <a:lnTo>
                    <a:pt x="114300" y="571500"/>
                  </a:lnTo>
                  <a:cubicBezTo>
                    <a:pt x="51174" y="571500"/>
                    <a:pt x="0" y="520326"/>
                    <a:pt x="0" y="457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800100" y="5524500"/>
              <a:ext cx="4953000" cy="571500"/>
            </a:xfrm>
            <a:custGeom>
              <a:avLst/>
              <a:gdLst/>
              <a:ahLst/>
              <a:cxnLst/>
              <a:rect l="l" t="t" r="r" b="b"/>
              <a:pathLst>
                <a:path w="4953000" h="571500">
                  <a:moveTo>
                    <a:pt x="114300" y="0"/>
                  </a:moveTo>
                  <a:lnTo>
                    <a:pt x="4838700" y="0"/>
                  </a:lnTo>
                  <a:cubicBezTo>
                    <a:pt x="4901826" y="0"/>
                    <a:pt x="4953000" y="51174"/>
                    <a:pt x="4953000" y="114300"/>
                  </a:cubicBezTo>
                  <a:lnTo>
                    <a:pt x="4953000" y="457200"/>
                  </a:lnTo>
                  <a:cubicBezTo>
                    <a:pt x="4953000" y="520326"/>
                    <a:pt x="4901826" y="571500"/>
                    <a:pt x="4838700" y="571500"/>
                  </a:cubicBezTo>
                  <a:lnTo>
                    <a:pt x="114300" y="571500"/>
                  </a:lnTo>
                  <a:cubicBezTo>
                    <a:pt x="51174" y="571500"/>
                    <a:pt x="0" y="520326"/>
                    <a:pt x="0" y="457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023938" y="5767388"/>
              <a:ext cx="85725" cy="8572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212342" y="57216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自动化执行模块替代了四个手工步骤，市场团队从操作者转型为策略制定者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248400" y="2095500"/>
              <a:ext cx="5143500" cy="1257300"/>
            </a:xfrm>
            <a:custGeom>
              <a:avLst/>
              <a:gdLst/>
              <a:ahLst/>
              <a:cxnLst/>
              <a:rect l="l" t="t" r="r" b="b"/>
              <a:pathLst>
                <a:path w="5143500" h="1257300">
                  <a:moveTo>
                    <a:pt x="133350" y="0"/>
                  </a:moveTo>
                  <a:lnTo>
                    <a:pt x="5010150" y="0"/>
                  </a:lnTo>
                  <a:cubicBezTo>
                    <a:pt x="5083797" y="0"/>
                    <a:pt x="5143500" y="59703"/>
                    <a:pt x="5143500" y="133350"/>
                  </a:cubicBezTo>
                  <a:lnTo>
                    <a:pt x="5143500" y="1123950"/>
                  </a:lnTo>
                  <a:cubicBezTo>
                    <a:pt x="5143500" y="1197597"/>
                    <a:pt x="5083797" y="1257300"/>
                    <a:pt x="5010150" y="1257300"/>
                  </a:cubicBezTo>
                  <a:lnTo>
                    <a:pt x="133350" y="1257300"/>
                  </a:lnTo>
                  <a:cubicBezTo>
                    <a:pt x="59703" y="1257300"/>
                    <a:pt x="0" y="1197597"/>
                    <a:pt x="0" y="11239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248400" y="2095500"/>
              <a:ext cx="5143500" cy="1257300"/>
            </a:xfrm>
            <a:custGeom>
              <a:avLst/>
              <a:gdLst/>
              <a:ahLst/>
              <a:cxnLst/>
              <a:rect l="l" t="t" r="r" b="b"/>
              <a:pathLst>
                <a:path w="5143500" h="1257300">
                  <a:moveTo>
                    <a:pt x="133350" y="0"/>
                  </a:moveTo>
                  <a:lnTo>
                    <a:pt x="5010150" y="0"/>
                  </a:lnTo>
                  <a:cubicBezTo>
                    <a:pt x="5083797" y="0"/>
                    <a:pt x="5143500" y="59703"/>
                    <a:pt x="5143500" y="133350"/>
                  </a:cubicBezTo>
                  <a:lnTo>
                    <a:pt x="5143500" y="1123950"/>
                  </a:lnTo>
                  <a:cubicBezTo>
                    <a:pt x="5143500" y="1197597"/>
                    <a:pt x="5083797" y="1257300"/>
                    <a:pt x="5010150" y="1257300"/>
                  </a:cubicBezTo>
                  <a:lnTo>
                    <a:pt x="133350" y="1257300"/>
                  </a:lnTo>
                  <a:cubicBezTo>
                    <a:pt x="59703" y="1257300"/>
                    <a:pt x="0" y="1197597"/>
                    <a:pt x="0" y="11239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48400" y="2095500"/>
              <a:ext cx="76200" cy="1257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05194" y="2208848"/>
              <a:ext cx="14759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某头部电商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743237" y="2095500"/>
              <a:ext cx="10162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300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2.8×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16998" y="2563178"/>
              <a:ext cx="9515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30天 ROI 提升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515100" y="281940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508242" y="2930842"/>
              <a:ext cx="5332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整合全渠道数据后，AI驱动的人群包使新客获取成本下降35%，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08242" y="3178492"/>
              <a:ext cx="14403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复购率提升22%。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248400" y="3562350"/>
              <a:ext cx="5143500" cy="1257300"/>
            </a:xfrm>
            <a:custGeom>
              <a:avLst/>
              <a:gdLst/>
              <a:ahLst/>
              <a:cxnLst/>
              <a:rect l="l" t="t" r="r" b="b"/>
              <a:pathLst>
                <a:path w="5143500" h="1257300">
                  <a:moveTo>
                    <a:pt x="133350" y="0"/>
                  </a:moveTo>
                  <a:lnTo>
                    <a:pt x="5010150" y="0"/>
                  </a:lnTo>
                  <a:cubicBezTo>
                    <a:pt x="5083797" y="0"/>
                    <a:pt x="5143500" y="59703"/>
                    <a:pt x="5143500" y="133350"/>
                  </a:cubicBezTo>
                  <a:lnTo>
                    <a:pt x="5143500" y="1123950"/>
                  </a:lnTo>
                  <a:cubicBezTo>
                    <a:pt x="5143500" y="1197597"/>
                    <a:pt x="5083797" y="1257300"/>
                    <a:pt x="5010150" y="1257300"/>
                  </a:cubicBezTo>
                  <a:lnTo>
                    <a:pt x="133350" y="1257300"/>
                  </a:lnTo>
                  <a:cubicBezTo>
                    <a:pt x="59703" y="1257300"/>
                    <a:pt x="0" y="1197597"/>
                    <a:pt x="0" y="11239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6248400" y="3562350"/>
              <a:ext cx="5143500" cy="1257300"/>
            </a:xfrm>
            <a:custGeom>
              <a:avLst/>
              <a:gdLst/>
              <a:ahLst/>
              <a:cxnLst/>
              <a:rect l="l" t="t" r="r" b="b"/>
              <a:pathLst>
                <a:path w="5143500" h="1257300">
                  <a:moveTo>
                    <a:pt x="133350" y="0"/>
                  </a:moveTo>
                  <a:lnTo>
                    <a:pt x="5010150" y="0"/>
                  </a:lnTo>
                  <a:cubicBezTo>
                    <a:pt x="5083797" y="0"/>
                    <a:pt x="5143500" y="59703"/>
                    <a:pt x="5143500" y="133350"/>
                  </a:cubicBezTo>
                  <a:lnTo>
                    <a:pt x="5143500" y="1123950"/>
                  </a:lnTo>
                  <a:cubicBezTo>
                    <a:pt x="5143500" y="1197597"/>
                    <a:pt x="5083797" y="1257300"/>
                    <a:pt x="5010150" y="1257300"/>
                  </a:cubicBezTo>
                  <a:lnTo>
                    <a:pt x="133350" y="1257300"/>
                  </a:lnTo>
                  <a:cubicBezTo>
                    <a:pt x="59703" y="1257300"/>
                    <a:pt x="0" y="1197597"/>
                    <a:pt x="0" y="11239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48400" y="3562350"/>
              <a:ext cx="76200" cy="1257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05194" y="367569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某城商行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48876" y="3562350"/>
              <a:ext cx="11058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+41%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722358" y="4030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信用卡激活率提升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6515100" y="428625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508242" y="4397692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实时事件触发自动化流程，将营销响应时间从天级压缩至分钟级，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508242" y="46453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沉默户唤醒效率倍增。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248400" y="5029200"/>
              <a:ext cx="5143500" cy="1066800"/>
            </a:xfrm>
            <a:custGeom>
              <a:avLst/>
              <a:gdLst/>
              <a:ahLst/>
              <a:cxnLst/>
              <a:rect l="l" t="t" r="r" b="b"/>
              <a:pathLst>
                <a:path w="5143500" h="1066800">
                  <a:moveTo>
                    <a:pt x="133350" y="0"/>
                  </a:moveTo>
                  <a:lnTo>
                    <a:pt x="5010150" y="0"/>
                  </a:lnTo>
                  <a:cubicBezTo>
                    <a:pt x="5083797" y="0"/>
                    <a:pt x="5143500" y="59703"/>
                    <a:pt x="5143500" y="133350"/>
                  </a:cubicBezTo>
                  <a:lnTo>
                    <a:pt x="5143500" y="933450"/>
                  </a:lnTo>
                  <a:cubicBezTo>
                    <a:pt x="5143500" y="1007097"/>
                    <a:pt x="5083797" y="1066800"/>
                    <a:pt x="5010150" y="1066800"/>
                  </a:cubicBezTo>
                  <a:lnTo>
                    <a:pt x="133350" y="1066800"/>
                  </a:lnTo>
                  <a:cubicBezTo>
                    <a:pt x="59703" y="1066800"/>
                    <a:pt x="0" y="1007097"/>
                    <a:pt x="0" y="9334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6248400" y="5029200"/>
              <a:ext cx="5143500" cy="1066800"/>
            </a:xfrm>
            <a:custGeom>
              <a:avLst/>
              <a:gdLst/>
              <a:ahLst/>
              <a:cxnLst/>
              <a:rect l="l" t="t" r="r" b="b"/>
              <a:pathLst>
                <a:path w="5143500" h="1066800">
                  <a:moveTo>
                    <a:pt x="133350" y="0"/>
                  </a:moveTo>
                  <a:lnTo>
                    <a:pt x="5010150" y="0"/>
                  </a:lnTo>
                  <a:cubicBezTo>
                    <a:pt x="5083797" y="0"/>
                    <a:pt x="5143500" y="59703"/>
                    <a:pt x="5143500" y="133350"/>
                  </a:cubicBezTo>
                  <a:lnTo>
                    <a:pt x="5143500" y="933450"/>
                  </a:lnTo>
                  <a:cubicBezTo>
                    <a:pt x="5143500" y="1007097"/>
                    <a:pt x="5083797" y="1066800"/>
                    <a:pt x="5010150" y="1066800"/>
                  </a:cubicBezTo>
                  <a:lnTo>
                    <a:pt x="133350" y="1066800"/>
                  </a:lnTo>
                  <a:cubicBezTo>
                    <a:pt x="59703" y="1066800"/>
                    <a:pt x="0" y="1007097"/>
                    <a:pt x="0" y="9334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48400" y="5029200"/>
              <a:ext cx="7620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05194" y="5142548"/>
              <a:ext cx="14759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某快消品牌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29826" y="5029200"/>
              <a:ext cx="11058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-73%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347778" y="5496878"/>
              <a:ext cx="15160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campaign 上线周期缩短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6515100" y="5753100"/>
              <a:ext cx="4610100" cy="9525"/>
            </a:xfrm>
            <a:custGeom>
              <a:avLst/>
              <a:gdLst/>
              <a:ahLst/>
              <a:cxnLst/>
              <a:rect l="l" t="t" r="r" b="b"/>
              <a:pathLst>
                <a:path w="4610100" h="9525">
                  <a:moveTo>
                    <a:pt x="0" y="0"/>
                  </a:moveTo>
                  <a:lnTo>
                    <a:pt x="46101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508242" y="5845492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自动化执行模块替代了四个手工步骤，市场团队完成角色升级。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638800" y="2628900"/>
            <a:ext cx="3254502" cy="3130487"/>
            <a:chOff x="5638800" y="2628900"/>
            <a:chExt cx="3254502" cy="3130487"/>
          </a:xfrm>
        </p:grpSpPr>
        <p:sp>
          <p:nvSpPr>
            <p:cNvPr id="62" name="Ellipse 62"/>
            <p:cNvSpPr/>
            <p:nvPr/>
          </p:nvSpPr>
          <p:spPr>
            <a:xfrm>
              <a:off x="5638800" y="26289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97218" y="2682716"/>
              <a:ext cx="736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4" name="Line 64"/>
            <p:cNvSpPr/>
            <p:nvPr/>
          </p:nvSpPr>
          <p:spPr>
            <a:xfrm>
              <a:off x="5829300" y="27241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338316" y="2658428"/>
              <a:ext cx="23853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证据锚点：ROI 与获客效率同步改善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5638800" y="4095750"/>
              <a:ext cx="190500" cy="190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697218" y="4149566"/>
              <a:ext cx="736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5829300" y="419100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338316" y="4125278"/>
              <a:ext cx="2413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证明材料：分钟级触发带来激活率跃升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5638800" y="55245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5697218" y="5578316"/>
              <a:ext cx="736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5829300" y="56197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338316" y="5554028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落地结果：流程自动化直接缩短上线周期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0" y="106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1620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F5F7FA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57784" y="313849"/>
            <a:ext cx="11067479" cy="6264592"/>
            <a:chOff x="557784" y="313849"/>
            <a:chExt cx="11067479" cy="6264592"/>
          </a:xfrm>
        </p:grpSpPr>
        <p:sp>
          <p:nvSpPr>
            <p:cNvPr id="9" name="TextBox 9"/>
            <p:cNvSpPr txBox="1"/>
            <p:nvPr/>
          </p:nvSpPr>
          <p:spPr>
            <a:xfrm>
              <a:off x="566547" y="313849"/>
              <a:ext cx="10020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spc="112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SIGNALCOUNT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784" y="546735"/>
              <a:ext cx="36566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工作台的四个硬指标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" y="9715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624147" y="3300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6738" y="6416516"/>
              <a:ext cx="134001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产品发布场景 · SaaS 方案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243681" y="6416516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08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63880" y="1266825"/>
            <a:ext cx="11056620" cy="4943475"/>
            <a:chOff x="563880" y="1266825"/>
            <a:chExt cx="11056620" cy="4943475"/>
          </a:xfrm>
        </p:grpSpPr>
        <p:sp>
          <p:nvSpPr>
            <p:cNvPr id="16" name="TextBox 16"/>
            <p:cNvSpPr txBox="1"/>
            <p:nvPr/>
          </p:nvSpPr>
          <p:spPr>
            <a:xfrm>
              <a:off x="563880" y="126682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这些中位数来自已部署客户，代表保守可预期的基准线。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71500" y="1771650"/>
              <a:ext cx="5334000" cy="1866900"/>
            </a:xfrm>
            <a:custGeom>
              <a:avLst/>
              <a:gdLst/>
              <a:ahLst/>
              <a:cxnLst/>
              <a:rect l="l" t="t" r="r" b="b"/>
              <a:pathLst>
                <a:path w="5334000" h="18669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752600"/>
                  </a:lnTo>
                  <a:cubicBezTo>
                    <a:pt x="5334000" y="1815726"/>
                    <a:pt x="5282826" y="1866900"/>
                    <a:pt x="5219700" y="1866900"/>
                  </a:cubicBezTo>
                  <a:lnTo>
                    <a:pt x="114300" y="1866900"/>
                  </a:lnTo>
                  <a:cubicBezTo>
                    <a:pt x="51174" y="1866900"/>
                    <a:pt x="0" y="1815726"/>
                    <a:pt x="0" y="17526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134100" y="1771650"/>
              <a:ext cx="5486400" cy="1866900"/>
            </a:xfrm>
            <a:custGeom>
              <a:avLst/>
              <a:gdLst/>
              <a:ahLst/>
              <a:cxnLst/>
              <a:rect l="l" t="t" r="r" b="b"/>
              <a:pathLst>
                <a:path w="5486400" h="1866900">
                  <a:moveTo>
                    <a:pt x="114300" y="0"/>
                  </a:moveTo>
                  <a:lnTo>
                    <a:pt x="5372100" y="0"/>
                  </a:lnTo>
                  <a:cubicBezTo>
                    <a:pt x="5435226" y="0"/>
                    <a:pt x="5486400" y="51174"/>
                    <a:pt x="5486400" y="114300"/>
                  </a:cubicBezTo>
                  <a:lnTo>
                    <a:pt x="5486400" y="1752600"/>
                  </a:lnTo>
                  <a:cubicBezTo>
                    <a:pt x="5486400" y="1815726"/>
                    <a:pt x="5435226" y="1866900"/>
                    <a:pt x="5372100" y="1866900"/>
                  </a:cubicBezTo>
                  <a:lnTo>
                    <a:pt x="114300" y="1866900"/>
                  </a:lnTo>
                  <a:cubicBezTo>
                    <a:pt x="51174" y="1866900"/>
                    <a:pt x="0" y="1815726"/>
                    <a:pt x="0" y="17526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71500" y="3867150"/>
              <a:ext cx="5334000" cy="1866900"/>
            </a:xfrm>
            <a:custGeom>
              <a:avLst/>
              <a:gdLst/>
              <a:ahLst/>
              <a:cxnLst/>
              <a:rect l="l" t="t" r="r" b="b"/>
              <a:pathLst>
                <a:path w="5334000" h="18669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752600"/>
                  </a:lnTo>
                  <a:cubicBezTo>
                    <a:pt x="5334000" y="1815726"/>
                    <a:pt x="5282826" y="1866900"/>
                    <a:pt x="5219700" y="1866900"/>
                  </a:cubicBezTo>
                  <a:lnTo>
                    <a:pt x="114300" y="1866900"/>
                  </a:lnTo>
                  <a:cubicBezTo>
                    <a:pt x="51174" y="1866900"/>
                    <a:pt x="0" y="1815726"/>
                    <a:pt x="0" y="17526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134100" y="3867150"/>
              <a:ext cx="5486400" cy="1866900"/>
            </a:xfrm>
            <a:custGeom>
              <a:avLst/>
              <a:gdLst/>
              <a:ahLst/>
              <a:cxnLst/>
              <a:rect l="l" t="t" r="r" b="b"/>
              <a:pathLst>
                <a:path w="5486400" h="1866900">
                  <a:moveTo>
                    <a:pt x="114300" y="0"/>
                  </a:moveTo>
                  <a:lnTo>
                    <a:pt x="5372100" y="0"/>
                  </a:lnTo>
                  <a:cubicBezTo>
                    <a:pt x="5435226" y="0"/>
                    <a:pt x="5486400" y="51174"/>
                    <a:pt x="5486400" y="114300"/>
                  </a:cubicBezTo>
                  <a:lnTo>
                    <a:pt x="5486400" y="1752600"/>
                  </a:lnTo>
                  <a:cubicBezTo>
                    <a:pt x="5486400" y="1815726"/>
                    <a:pt x="5435226" y="1866900"/>
                    <a:pt x="5372100" y="1866900"/>
                  </a:cubicBezTo>
                  <a:lnTo>
                    <a:pt x="114300" y="1866900"/>
                  </a:lnTo>
                  <a:cubicBezTo>
                    <a:pt x="51174" y="1866900"/>
                    <a:pt x="0" y="1815726"/>
                    <a:pt x="0" y="17526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00100" y="200025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95250" y="0"/>
                  </a:moveTo>
                  <a:lnTo>
                    <a:pt x="438150" y="0"/>
                  </a:lnTo>
                  <a:cubicBezTo>
                    <a:pt x="490755" y="0"/>
                    <a:pt x="533400" y="42645"/>
                    <a:pt x="533400" y="95250"/>
                  </a:cubicBezTo>
                  <a:lnTo>
                    <a:pt x="533400" y="438150"/>
                  </a:lnTo>
                  <a:cubicBezTo>
                    <a:pt x="533400" y="490755"/>
                    <a:pt x="490755" y="533400"/>
                    <a:pt x="4381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71550" y="2114550"/>
              <a:ext cx="266700" cy="342900"/>
            </a:xfrm>
            <a:custGeom>
              <a:avLst/>
              <a:gdLst/>
              <a:ahLst/>
              <a:cxnLst/>
              <a:rect l="l" t="t" r="r" b="b"/>
              <a:pathLst>
                <a:path w="266700" h="342900">
                  <a:moveTo>
                    <a:pt x="0" y="0"/>
                  </a:moveTo>
                  <a:lnTo>
                    <a:pt x="190500" y="0"/>
                  </a:lnTo>
                  <a:lnTo>
                    <a:pt x="190500" y="152400"/>
                  </a:lnTo>
                  <a:lnTo>
                    <a:pt x="266700" y="152400"/>
                  </a:lnTo>
                  <a:lnTo>
                    <a:pt x="95250" y="342900"/>
                  </a:lnTo>
                  <a:lnTo>
                    <a:pt x="95250" y="190500"/>
                  </a:lnTo>
                  <a:lnTo>
                    <a:pt x="0" y="1905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94766" y="2715578"/>
              <a:ext cx="176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07998" y="2060258"/>
              <a:ext cx="130224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&lt; 1 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14856" y="25298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部署投产时间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17142" y="2892742"/>
              <a:ext cx="25964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从签约到首个 AI 模型上线运行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1524000" y="3257550"/>
              <a:ext cx="4038600" cy="9525"/>
            </a:xfrm>
            <a:custGeom>
              <a:avLst/>
              <a:gdLst/>
              <a:ahLst/>
              <a:cxnLst/>
              <a:rect l="l" t="t" r="r" b="b"/>
              <a:pathLst>
                <a:path w="4038600" h="952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518666" y="33537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部署投产时间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6362700" y="200025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95250" y="0"/>
                  </a:moveTo>
                  <a:lnTo>
                    <a:pt x="438150" y="0"/>
                  </a:lnTo>
                  <a:cubicBezTo>
                    <a:pt x="490755" y="0"/>
                    <a:pt x="533400" y="42645"/>
                    <a:pt x="533400" y="95250"/>
                  </a:cubicBezTo>
                  <a:lnTo>
                    <a:pt x="533400" y="438150"/>
                  </a:lnTo>
                  <a:cubicBezTo>
                    <a:pt x="533400" y="490755"/>
                    <a:pt x="490755" y="533400"/>
                    <a:pt x="4381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6515100" y="2152650"/>
              <a:ext cx="457200" cy="228600"/>
            </a:xfrm>
            <a:custGeom>
              <a:avLst/>
              <a:gdLst/>
              <a:ahLst/>
              <a:cxnLst/>
              <a:rect l="l" t="t" r="r" b="b"/>
              <a:pathLst>
                <a:path w="457200" h="228600">
                  <a:moveTo>
                    <a:pt x="0" y="228600"/>
                  </a:moveTo>
                  <a:lnTo>
                    <a:pt x="190500" y="38100"/>
                  </a:lnTo>
                  <a:lnTo>
                    <a:pt x="304800" y="152400"/>
                  </a:lnTo>
                  <a:lnTo>
                    <a:pt x="45720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31" name="Freeform 31"/>
            <p:cNvSpPr/>
            <p:nvPr/>
          </p:nvSpPr>
          <p:spPr>
            <a:xfrm>
              <a:off x="6896100" y="21526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57366" y="2715578"/>
              <a:ext cx="176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70598" y="2060258"/>
              <a:ext cx="66040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3X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77456" y="2529840"/>
              <a:ext cx="21427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campaign创建效率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79742" y="2892742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相较纯人工流程，包含多版本测试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7086600" y="32575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81266" y="3353752"/>
              <a:ext cx="11909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campaign创建效率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800100" y="409575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95250" y="0"/>
                  </a:moveTo>
                  <a:lnTo>
                    <a:pt x="438150" y="0"/>
                  </a:lnTo>
                  <a:cubicBezTo>
                    <a:pt x="490755" y="0"/>
                    <a:pt x="533400" y="42645"/>
                    <a:pt x="533400" y="95250"/>
                  </a:cubicBezTo>
                  <a:lnTo>
                    <a:pt x="533400" y="438150"/>
                  </a:lnTo>
                  <a:cubicBezTo>
                    <a:pt x="533400" y="490755"/>
                    <a:pt x="490755" y="533400"/>
                    <a:pt x="4381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952500" y="4229100"/>
              <a:ext cx="285750" cy="247650"/>
            </a:xfrm>
            <a:custGeom>
              <a:avLst/>
              <a:gdLst/>
              <a:ahLst/>
              <a:cxnLst/>
              <a:rect l="l" t="t" r="r" b="b"/>
              <a:pathLst>
                <a:path w="285750" h="247650">
                  <a:moveTo>
                    <a:pt x="0" y="247650"/>
                  </a:moveTo>
                  <a:lnTo>
                    <a:pt x="95250" y="114300"/>
                  </a:lnTo>
                  <a:lnTo>
                    <a:pt x="190500" y="171450"/>
                  </a:lnTo>
                  <a:lnTo>
                    <a:pt x="285750" y="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40" name="Freeform 40"/>
            <p:cNvSpPr/>
            <p:nvPr/>
          </p:nvSpPr>
          <p:spPr>
            <a:xfrm>
              <a:off x="1162050" y="42291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94766" y="4811078"/>
              <a:ext cx="176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507998" y="4155758"/>
              <a:ext cx="11611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+20%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514856" y="46253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转化率提升中位数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517142" y="49882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受控实验下的增量贡献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1524000" y="5353050"/>
              <a:ext cx="4038600" cy="9525"/>
            </a:xfrm>
            <a:custGeom>
              <a:avLst/>
              <a:gdLst/>
              <a:ahLst/>
              <a:cxnLst/>
              <a:rect l="l" t="t" r="r" b="b"/>
              <a:pathLst>
                <a:path w="4038600" h="952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518666" y="54492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转化率提升中位数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6362700" y="409575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95250" y="0"/>
                  </a:moveTo>
                  <a:lnTo>
                    <a:pt x="438150" y="0"/>
                  </a:lnTo>
                  <a:cubicBezTo>
                    <a:pt x="490755" y="0"/>
                    <a:pt x="533400" y="42645"/>
                    <a:pt x="533400" y="95250"/>
                  </a:cubicBezTo>
                  <a:lnTo>
                    <a:pt x="533400" y="438150"/>
                  </a:lnTo>
                  <a:cubicBezTo>
                    <a:pt x="533400" y="490755"/>
                    <a:pt x="490755" y="533400"/>
                    <a:pt x="4381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chemeClr val="accent2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6515100" y="4229100"/>
              <a:ext cx="304800" cy="285750"/>
            </a:xfrm>
            <a:custGeom>
              <a:avLst/>
              <a:gdLst/>
              <a:ahLst/>
              <a:cxnLst/>
              <a:rect l="l" t="t" r="r" b="b"/>
              <a:pathLst>
                <a:path w="304800" h="285750">
                  <a:moveTo>
                    <a:pt x="0" y="0"/>
                  </a:moveTo>
                  <a:lnTo>
                    <a:pt x="304800" y="0"/>
                  </a:lnTo>
                  <a:lnTo>
                    <a:pt x="304800" y="285750"/>
                  </a:lnTo>
                  <a:lnTo>
                    <a:pt x="0" y="28575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6591300" y="43053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chemeClr val="accent2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6591300" y="43815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chemeClr val="accent2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6591300" y="445770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19050" cap="rnd">
              <a:solidFill>
                <a:schemeClr val="accent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357366" y="4811078"/>
              <a:ext cx="176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70598" y="4155758"/>
              <a:ext cx="90235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92%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77456" y="4625340"/>
              <a:ext cx="1799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数据整合覆盖率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079742" y="4988242"/>
              <a:ext cx="27761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支持100+数据源，含离线与实时流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7086600" y="535305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81266" y="54492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数据整合覆盖率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571500" y="5886450"/>
              <a:ext cx="11049000" cy="323850"/>
            </a:xfrm>
            <a:custGeom>
              <a:avLst/>
              <a:gdLst/>
              <a:ahLst/>
              <a:cxnLst/>
              <a:rect l="l" t="t" r="r" b="b"/>
              <a:pathLst>
                <a:path w="11049000" h="32385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247650"/>
                  </a:lnTo>
                  <a:cubicBezTo>
                    <a:pt x="11049000" y="289734"/>
                    <a:pt x="11014884" y="323850"/>
                    <a:pt x="109728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55904" y="5966460"/>
              <a:ext cx="521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解读：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232154" y="5966460"/>
              <a:ext cx="6312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先把接入周期压到周级，再把创建效率、转化增量与覆盖率同时拉到可规模复制的区间。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71500" y="1771650"/>
            <a:ext cx="11049000" cy="3962400"/>
            <a:chOff x="571500" y="1771650"/>
            <a:chExt cx="11049000" cy="3962400"/>
          </a:xfrm>
        </p:grpSpPr>
        <p:sp>
          <p:nvSpPr>
            <p:cNvPr id="62" name="Line 62"/>
            <p:cNvSpPr/>
            <p:nvPr/>
          </p:nvSpPr>
          <p:spPr>
            <a:xfrm>
              <a:off x="6019800" y="1771650"/>
              <a:ext cx="9525" cy="3962400"/>
            </a:xfrm>
            <a:custGeom>
              <a:avLst/>
              <a:gdLst/>
              <a:ahLst/>
              <a:cxnLst/>
              <a:rect l="l" t="t" r="r" b="b"/>
              <a:pathLst>
                <a:path w="9525" h="3962400">
                  <a:moveTo>
                    <a:pt x="0" y="0"/>
                  </a:moveTo>
                  <a:lnTo>
                    <a:pt x="0" y="39624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571500" y="3752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5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876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9144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13335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13335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rgbClr val="A0AEC0">
                  <a:alpha val="45000"/>
                </a:srgbClr>
              </a:solidFill>
              <a:custDash>
                <a:ds d="300000" sp="800000"/>
              </a:custDash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343852"/>
            <a:ext cx="10734103" cy="6301264"/>
            <a:chOff x="557784" y="343852"/>
            <a:chExt cx="10734103" cy="6301264"/>
          </a:xfrm>
        </p:grpSpPr>
        <p:sp>
          <p:nvSpPr>
            <p:cNvPr id="9" name="TextBox 9"/>
            <p:cNvSpPr txBox="1"/>
            <p:nvPr/>
          </p:nvSpPr>
          <p:spPr>
            <a:xfrm>
              <a:off x="566166" y="343852"/>
              <a:ext cx="907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12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SPREADMAP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784" y="470535"/>
              <a:ext cx="56729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增长引擎分解：各模块贡献权重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3880" y="1000125"/>
              <a:ext cx="72847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基于已部署客户的实测数据，我们将整体效率提升拆解为四个可独立归因的组件。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483191"/>
              <a:ext cx="12651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07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232831" y="6483191"/>
              <a:ext cx="105905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attention blueprint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819150" y="1562100"/>
            <a:ext cx="10610850" cy="4495800"/>
            <a:chOff x="819150" y="1562100"/>
            <a:chExt cx="10610850" cy="4495800"/>
          </a:xfrm>
        </p:grpSpPr>
        <p:sp>
          <p:nvSpPr>
            <p:cNvPr id="15" name="Freeform 15"/>
            <p:cNvSpPr/>
            <p:nvPr/>
          </p:nvSpPr>
          <p:spPr>
            <a:xfrm>
              <a:off x="819150" y="1562100"/>
              <a:ext cx="4457700" cy="4324350"/>
            </a:xfrm>
            <a:custGeom>
              <a:avLst/>
              <a:gdLst/>
              <a:ahLst/>
              <a:cxnLst/>
              <a:rect l="l" t="t" r="r" b="b"/>
              <a:pathLst>
                <a:path w="4457700" h="4324350">
                  <a:moveTo>
                    <a:pt x="133350" y="0"/>
                  </a:moveTo>
                  <a:lnTo>
                    <a:pt x="4324350" y="0"/>
                  </a:lnTo>
                  <a:cubicBezTo>
                    <a:pt x="4397997" y="0"/>
                    <a:pt x="4457700" y="59703"/>
                    <a:pt x="4457700" y="133350"/>
                  </a:cubicBezTo>
                  <a:lnTo>
                    <a:pt x="4457700" y="4191000"/>
                  </a:lnTo>
                  <a:cubicBezTo>
                    <a:pt x="4457700" y="4264647"/>
                    <a:pt x="4397997" y="4324350"/>
                    <a:pt x="4324350" y="4324350"/>
                  </a:cubicBezTo>
                  <a:lnTo>
                    <a:pt x="133350" y="4324350"/>
                  </a:lnTo>
                  <a:cubicBezTo>
                    <a:pt x="59703" y="4324350"/>
                    <a:pt x="0" y="4264647"/>
                    <a:pt x="0" y="41910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57656" y="1691640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贡献拆解图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1466" y="2010728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四个模块共同驱动效率提升，但可分别量化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2305050" y="3028950"/>
              <a:ext cx="1485900" cy="14859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190750" y="2914650"/>
              <a:ext cx="1714500" cy="1714500"/>
            </a:xfrm>
            <a:prstGeom prst="ellipse">
              <a:avLst/>
            </a:pr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410054" y="3430905"/>
              <a:ext cx="12758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增长引擎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373259" y="37976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效率提升可归因</a:t>
              </a:r>
            </a:p>
          </p:txBody>
        </p:sp>
        <p:sp>
          <p:nvSpPr>
            <p:cNvPr id="22" name="Line 22"/>
            <p:cNvSpPr/>
            <p:nvPr/>
          </p:nvSpPr>
          <p:spPr>
            <a:xfrm flipV="1">
              <a:off x="3543300" y="2571750"/>
              <a:ext cx="838200" cy="7239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3" name="Line 23"/>
            <p:cNvSpPr/>
            <p:nvPr/>
          </p:nvSpPr>
          <p:spPr>
            <a:xfrm>
              <a:off x="3867150" y="3771900"/>
              <a:ext cx="99060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4" name="Line 24"/>
            <p:cNvSpPr/>
            <p:nvPr/>
          </p:nvSpPr>
          <p:spPr>
            <a:xfrm>
              <a:off x="3543300" y="4248150"/>
              <a:ext cx="838200" cy="7239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5" name="Line 25"/>
            <p:cNvSpPr/>
            <p:nvPr/>
          </p:nvSpPr>
          <p:spPr>
            <a:xfrm flipH="1">
              <a:off x="1714500" y="4248150"/>
              <a:ext cx="838200" cy="72390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26" name="Freeform 26"/>
            <p:cNvSpPr/>
            <p:nvPr/>
          </p:nvSpPr>
          <p:spPr>
            <a:xfrm>
              <a:off x="4114800" y="2152650"/>
              <a:ext cx="914400" cy="647700"/>
            </a:xfrm>
            <a:custGeom>
              <a:avLst/>
              <a:gdLst/>
              <a:ahLst/>
              <a:cxnLst/>
              <a:rect l="l" t="t" r="r" b="b"/>
              <a:pathLst>
                <a:path w="914400" h="647700">
                  <a:moveTo>
                    <a:pt x="114300" y="0"/>
                  </a:moveTo>
                  <a:lnTo>
                    <a:pt x="800100" y="0"/>
                  </a:lnTo>
                  <a:cubicBezTo>
                    <a:pt x="863226" y="0"/>
                    <a:pt x="914400" y="51174"/>
                    <a:pt x="914400" y="114300"/>
                  </a:cubicBezTo>
                  <a:lnTo>
                    <a:pt x="914400" y="533400"/>
                  </a:lnTo>
                  <a:cubicBezTo>
                    <a:pt x="914400" y="596526"/>
                    <a:pt x="863226" y="647700"/>
                    <a:pt x="800100" y="647700"/>
                  </a:cubicBezTo>
                  <a:lnTo>
                    <a:pt x="114300" y="647700"/>
                  </a:lnTo>
                  <a:cubicBezTo>
                    <a:pt x="51174" y="647700"/>
                    <a:pt x="0" y="596526"/>
                    <a:pt x="0" y="533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97814" y="2245042"/>
              <a:ext cx="148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27507" y="2453640"/>
              <a:ext cx="4889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58%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4895850" y="3448050"/>
              <a:ext cx="914400" cy="647700"/>
            </a:xfrm>
            <a:custGeom>
              <a:avLst/>
              <a:gdLst/>
              <a:ahLst/>
              <a:cxnLst/>
              <a:rect l="l" t="t" r="r" b="b"/>
              <a:pathLst>
                <a:path w="914400" h="647700">
                  <a:moveTo>
                    <a:pt x="114300" y="0"/>
                  </a:moveTo>
                  <a:lnTo>
                    <a:pt x="800100" y="0"/>
                  </a:lnTo>
                  <a:cubicBezTo>
                    <a:pt x="863226" y="0"/>
                    <a:pt x="914400" y="51174"/>
                    <a:pt x="914400" y="114300"/>
                  </a:cubicBezTo>
                  <a:lnTo>
                    <a:pt x="914400" y="533400"/>
                  </a:lnTo>
                  <a:cubicBezTo>
                    <a:pt x="914400" y="596526"/>
                    <a:pt x="863226" y="647700"/>
                    <a:pt x="800100" y="647700"/>
                  </a:cubicBezTo>
                  <a:lnTo>
                    <a:pt x="114300" y="647700"/>
                  </a:lnTo>
                  <a:cubicBezTo>
                    <a:pt x="51174" y="647700"/>
                    <a:pt x="0" y="596526"/>
                    <a:pt x="0" y="533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78864" y="3540442"/>
              <a:ext cx="148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108557" y="3749040"/>
              <a:ext cx="4889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45%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4114800" y="4743450"/>
              <a:ext cx="914400" cy="647700"/>
            </a:xfrm>
            <a:custGeom>
              <a:avLst/>
              <a:gdLst/>
              <a:ahLst/>
              <a:cxnLst/>
              <a:rect l="l" t="t" r="r" b="b"/>
              <a:pathLst>
                <a:path w="914400" h="647700">
                  <a:moveTo>
                    <a:pt x="114300" y="0"/>
                  </a:moveTo>
                  <a:lnTo>
                    <a:pt x="800100" y="0"/>
                  </a:lnTo>
                  <a:cubicBezTo>
                    <a:pt x="863226" y="0"/>
                    <a:pt x="914400" y="51174"/>
                    <a:pt x="914400" y="114300"/>
                  </a:cubicBezTo>
                  <a:lnTo>
                    <a:pt x="914400" y="533400"/>
                  </a:lnTo>
                  <a:cubicBezTo>
                    <a:pt x="914400" y="596526"/>
                    <a:pt x="863226" y="647700"/>
                    <a:pt x="800100" y="647700"/>
                  </a:cubicBezTo>
                  <a:lnTo>
                    <a:pt x="114300" y="647700"/>
                  </a:lnTo>
                  <a:cubicBezTo>
                    <a:pt x="51174" y="647700"/>
                    <a:pt x="0" y="596526"/>
                    <a:pt x="0" y="533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97814" y="4835842"/>
              <a:ext cx="148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27507" y="5044440"/>
              <a:ext cx="4889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70%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1066800" y="4743450"/>
              <a:ext cx="914400" cy="647700"/>
            </a:xfrm>
            <a:custGeom>
              <a:avLst/>
              <a:gdLst/>
              <a:ahLst/>
              <a:cxnLst/>
              <a:rect l="l" t="t" r="r" b="b"/>
              <a:pathLst>
                <a:path w="914400" h="647700">
                  <a:moveTo>
                    <a:pt x="114300" y="0"/>
                  </a:moveTo>
                  <a:lnTo>
                    <a:pt x="800100" y="0"/>
                  </a:lnTo>
                  <a:cubicBezTo>
                    <a:pt x="863226" y="0"/>
                    <a:pt x="914400" y="51174"/>
                    <a:pt x="914400" y="114300"/>
                  </a:cubicBezTo>
                  <a:lnTo>
                    <a:pt x="914400" y="533400"/>
                  </a:lnTo>
                  <a:cubicBezTo>
                    <a:pt x="914400" y="596526"/>
                    <a:pt x="863226" y="647700"/>
                    <a:pt x="800100" y="647700"/>
                  </a:cubicBezTo>
                  <a:lnTo>
                    <a:pt x="114300" y="647700"/>
                  </a:lnTo>
                  <a:cubicBezTo>
                    <a:pt x="51174" y="647700"/>
                    <a:pt x="0" y="596526"/>
                    <a:pt x="0" y="533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449814" y="4835842"/>
              <a:ext cx="1483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79507" y="5044440"/>
              <a:ext cx="4889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46%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6667500" y="1562100"/>
              <a:ext cx="4762500" cy="1009650"/>
            </a:xfrm>
            <a:custGeom>
              <a:avLst/>
              <a:gdLst/>
              <a:ahLst/>
              <a:cxnLst/>
              <a:rect l="l" t="t" r="r" b="b"/>
              <a:pathLst>
                <a:path w="4762500" h="1009650">
                  <a:moveTo>
                    <a:pt x="133350" y="0"/>
                  </a:moveTo>
                  <a:lnTo>
                    <a:pt x="4629150" y="0"/>
                  </a:lnTo>
                  <a:cubicBezTo>
                    <a:pt x="4702797" y="0"/>
                    <a:pt x="4762500" y="59703"/>
                    <a:pt x="4762500" y="133350"/>
                  </a:cubicBezTo>
                  <a:lnTo>
                    <a:pt x="4762500" y="876300"/>
                  </a:lnTo>
                  <a:cubicBezTo>
                    <a:pt x="4762500" y="949947"/>
                    <a:pt x="4702797" y="1009650"/>
                    <a:pt x="4629150" y="1009650"/>
                  </a:cubicBezTo>
                  <a:lnTo>
                    <a:pt x="133350" y="1009650"/>
                  </a:lnTo>
                  <a:cubicBezTo>
                    <a:pt x="59703" y="1009650"/>
                    <a:pt x="0" y="949947"/>
                    <a:pt x="0" y="876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67500" y="1562100"/>
              <a:ext cx="76200" cy="1009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26580" y="1704975"/>
              <a:ext cx="1565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A · 数据整合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927342" y="1997392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统一客户视图减少重复工作，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27342" y="2245042"/>
              <a:ext cx="18038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数据准备时间下降58%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10210800" y="1771650"/>
              <a:ext cx="914400" cy="381000"/>
            </a:xfrm>
            <a:custGeom>
              <a:avLst/>
              <a:gdLst/>
              <a:ahLst/>
              <a:cxnLst/>
              <a:rect l="l" t="t" r="r" b="b"/>
              <a:pathLst>
                <a:path w="914400" h="381000">
                  <a:moveTo>
                    <a:pt x="190500" y="0"/>
                  </a:moveTo>
                  <a:lnTo>
                    <a:pt x="723900" y="0"/>
                  </a:lnTo>
                  <a:cubicBezTo>
                    <a:pt x="829110" y="0"/>
                    <a:pt x="914400" y="85290"/>
                    <a:pt x="914400" y="190500"/>
                  </a:cubicBezTo>
                  <a:lnTo>
                    <a:pt x="914400" y="190500"/>
                  </a:lnTo>
                  <a:cubicBezTo>
                    <a:pt x="914400" y="295710"/>
                    <a:pt x="829110" y="381000"/>
                    <a:pt x="7239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464255" y="185737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58%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6667500" y="2724150"/>
              <a:ext cx="4762500" cy="1009650"/>
            </a:xfrm>
            <a:custGeom>
              <a:avLst/>
              <a:gdLst/>
              <a:ahLst/>
              <a:cxnLst/>
              <a:rect l="l" t="t" r="r" b="b"/>
              <a:pathLst>
                <a:path w="4762500" h="1009650">
                  <a:moveTo>
                    <a:pt x="133350" y="0"/>
                  </a:moveTo>
                  <a:lnTo>
                    <a:pt x="4629150" y="0"/>
                  </a:lnTo>
                  <a:cubicBezTo>
                    <a:pt x="4702797" y="0"/>
                    <a:pt x="4762500" y="59703"/>
                    <a:pt x="4762500" y="133350"/>
                  </a:cubicBezTo>
                  <a:lnTo>
                    <a:pt x="4762500" y="876300"/>
                  </a:lnTo>
                  <a:cubicBezTo>
                    <a:pt x="4762500" y="949947"/>
                    <a:pt x="4702797" y="1009650"/>
                    <a:pt x="4629150" y="1009650"/>
                  </a:cubicBezTo>
                  <a:lnTo>
                    <a:pt x="133350" y="1009650"/>
                  </a:lnTo>
                  <a:cubicBezTo>
                    <a:pt x="59703" y="1009650"/>
                    <a:pt x="0" y="949947"/>
                    <a:pt x="0" y="876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67500" y="2724150"/>
              <a:ext cx="76200" cy="1009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926580" y="2867025"/>
              <a:ext cx="1334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B · AI 分析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27342" y="31594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预测人群包使精准度提升，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27342" y="3407092"/>
              <a:ext cx="14403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无效触达减少45%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10210800" y="2933700"/>
              <a:ext cx="914400" cy="381000"/>
            </a:xfrm>
            <a:custGeom>
              <a:avLst/>
              <a:gdLst/>
              <a:ahLst/>
              <a:cxnLst/>
              <a:rect l="l" t="t" r="r" b="b"/>
              <a:pathLst>
                <a:path w="914400" h="381000">
                  <a:moveTo>
                    <a:pt x="190500" y="0"/>
                  </a:moveTo>
                  <a:lnTo>
                    <a:pt x="723900" y="0"/>
                  </a:lnTo>
                  <a:cubicBezTo>
                    <a:pt x="829110" y="0"/>
                    <a:pt x="914400" y="85290"/>
                    <a:pt x="914400" y="190500"/>
                  </a:cubicBezTo>
                  <a:lnTo>
                    <a:pt x="914400" y="190500"/>
                  </a:lnTo>
                  <a:cubicBezTo>
                    <a:pt x="914400" y="295710"/>
                    <a:pt x="829110" y="381000"/>
                    <a:pt x="7239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464255" y="30194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45%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6667500" y="3886200"/>
              <a:ext cx="4762500" cy="1009650"/>
            </a:xfrm>
            <a:custGeom>
              <a:avLst/>
              <a:gdLst/>
              <a:ahLst/>
              <a:cxnLst/>
              <a:rect l="l" t="t" r="r" b="b"/>
              <a:pathLst>
                <a:path w="4762500" h="1009650">
                  <a:moveTo>
                    <a:pt x="133350" y="0"/>
                  </a:moveTo>
                  <a:lnTo>
                    <a:pt x="4629150" y="0"/>
                  </a:lnTo>
                  <a:cubicBezTo>
                    <a:pt x="4702797" y="0"/>
                    <a:pt x="4762500" y="59703"/>
                    <a:pt x="4762500" y="133350"/>
                  </a:cubicBezTo>
                  <a:lnTo>
                    <a:pt x="4762500" y="876300"/>
                  </a:lnTo>
                  <a:cubicBezTo>
                    <a:pt x="4762500" y="949947"/>
                    <a:pt x="4702797" y="1009650"/>
                    <a:pt x="4629150" y="1009650"/>
                  </a:cubicBezTo>
                  <a:lnTo>
                    <a:pt x="133350" y="1009650"/>
                  </a:lnTo>
                  <a:cubicBezTo>
                    <a:pt x="59703" y="1009650"/>
                    <a:pt x="0" y="949947"/>
                    <a:pt x="0" y="876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67500" y="3886200"/>
              <a:ext cx="76200" cy="1009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26580" y="4029075"/>
              <a:ext cx="18378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C · 自动化执行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27342" y="4321492"/>
              <a:ext cx="2985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跨渠道编排缩短campaign构建时间，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27342" y="4569142"/>
              <a:ext cx="14403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人工介入降低70%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10210800" y="4095750"/>
              <a:ext cx="914400" cy="381000"/>
            </a:xfrm>
            <a:custGeom>
              <a:avLst/>
              <a:gdLst/>
              <a:ahLst/>
              <a:cxnLst/>
              <a:rect l="l" t="t" r="r" b="b"/>
              <a:pathLst>
                <a:path w="914400" h="381000">
                  <a:moveTo>
                    <a:pt x="190500" y="0"/>
                  </a:moveTo>
                  <a:lnTo>
                    <a:pt x="723900" y="0"/>
                  </a:lnTo>
                  <a:cubicBezTo>
                    <a:pt x="829110" y="0"/>
                    <a:pt x="914400" y="85290"/>
                    <a:pt x="914400" y="190500"/>
                  </a:cubicBezTo>
                  <a:lnTo>
                    <a:pt x="914400" y="190500"/>
                  </a:lnTo>
                  <a:cubicBezTo>
                    <a:pt x="914400" y="295710"/>
                    <a:pt x="829110" y="381000"/>
                    <a:pt x="7239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464255" y="418147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70%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6667500" y="5048250"/>
              <a:ext cx="4762500" cy="1009650"/>
            </a:xfrm>
            <a:custGeom>
              <a:avLst/>
              <a:gdLst/>
              <a:ahLst/>
              <a:cxnLst/>
              <a:rect l="l" t="t" r="r" b="b"/>
              <a:pathLst>
                <a:path w="4762500" h="1009650">
                  <a:moveTo>
                    <a:pt x="133350" y="0"/>
                  </a:moveTo>
                  <a:lnTo>
                    <a:pt x="4629150" y="0"/>
                  </a:lnTo>
                  <a:cubicBezTo>
                    <a:pt x="4702797" y="0"/>
                    <a:pt x="4762500" y="59703"/>
                    <a:pt x="4762500" y="133350"/>
                  </a:cubicBezTo>
                  <a:lnTo>
                    <a:pt x="4762500" y="876300"/>
                  </a:lnTo>
                  <a:cubicBezTo>
                    <a:pt x="4762500" y="949947"/>
                    <a:pt x="4702797" y="1009650"/>
                    <a:pt x="4629150" y="1009650"/>
                  </a:cubicBezTo>
                  <a:lnTo>
                    <a:pt x="133350" y="1009650"/>
                  </a:lnTo>
                  <a:cubicBezTo>
                    <a:pt x="59703" y="1009650"/>
                    <a:pt x="0" y="949947"/>
                    <a:pt x="0" y="876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6667500" y="5048250"/>
              <a:ext cx="76200" cy="1009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926580" y="5191125"/>
              <a:ext cx="15658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D · 效果度量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927342" y="54835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快速归因闭环使优化周期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927342" y="57311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从月降至日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10210800" y="5257800"/>
              <a:ext cx="914400" cy="381000"/>
            </a:xfrm>
            <a:custGeom>
              <a:avLst/>
              <a:gdLst/>
              <a:ahLst/>
              <a:cxnLst/>
              <a:rect l="l" t="t" r="r" b="b"/>
              <a:pathLst>
                <a:path w="914400" h="381000">
                  <a:moveTo>
                    <a:pt x="190500" y="0"/>
                  </a:moveTo>
                  <a:lnTo>
                    <a:pt x="723900" y="0"/>
                  </a:lnTo>
                  <a:cubicBezTo>
                    <a:pt x="829110" y="0"/>
                    <a:pt x="914400" y="85290"/>
                    <a:pt x="914400" y="190500"/>
                  </a:cubicBezTo>
                  <a:lnTo>
                    <a:pt x="914400" y="190500"/>
                  </a:lnTo>
                  <a:cubicBezTo>
                    <a:pt x="914400" y="295710"/>
                    <a:pt x="829110" y="381000"/>
                    <a:pt x="72390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464255" y="5343525"/>
              <a:ext cx="4074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46%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904875" y="2066925"/>
            <a:ext cx="5610225" cy="3692462"/>
            <a:chOff x="904875" y="2066925"/>
            <a:chExt cx="5610225" cy="3692462"/>
          </a:xfrm>
        </p:grpSpPr>
        <p:sp>
          <p:nvSpPr>
            <p:cNvPr id="67" name="TextBox 67"/>
            <p:cNvSpPr txBox="1"/>
            <p:nvPr/>
          </p:nvSpPr>
          <p:spPr>
            <a:xfrm>
              <a:off x="1061466" y="5554028"/>
              <a:ext cx="43925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注：百分比代表该模块对效率改善的直接贡献幅度或关键过程优化幅度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904875" y="5600700"/>
              <a:ext cx="57150" cy="571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9" name="Line 69"/>
            <p:cNvSpPr/>
            <p:nvPr/>
          </p:nvSpPr>
          <p:spPr>
            <a:xfrm>
              <a:off x="5810250" y="2066925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5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prstDash val="dash"/>
            </a:ln>
          </p:spPr>
        </p:sp>
        <p:sp>
          <p:nvSpPr>
            <p:cNvPr id="70" name="Line 70"/>
            <p:cNvSpPr/>
            <p:nvPr/>
          </p:nvSpPr>
          <p:spPr>
            <a:xfrm>
              <a:off x="5810250" y="3228975"/>
              <a:ext cx="704850" cy="9525"/>
            </a:xfrm>
            <a:custGeom>
              <a:avLst/>
              <a:gdLst/>
              <a:ahLst/>
              <a:cxnLst/>
              <a:rect l="l" t="t" r="r" b="b"/>
              <a:pathLst>
                <a:path w="704850" h="9525">
                  <a:moveTo>
                    <a:pt x="0" y="0"/>
                  </a:moveTo>
                  <a:lnTo>
                    <a:pt x="70485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prstDash val="dash"/>
            </a:ln>
          </p:spPr>
        </p:sp>
        <p:sp>
          <p:nvSpPr>
            <p:cNvPr id="71" name="Line 71"/>
            <p:cNvSpPr/>
            <p:nvPr/>
          </p:nvSpPr>
          <p:spPr>
            <a:xfrm>
              <a:off x="5029200" y="4391025"/>
              <a:ext cx="1485900" cy="676275"/>
            </a:xfrm>
            <a:custGeom>
              <a:avLst/>
              <a:gdLst/>
              <a:ahLst/>
              <a:cxnLst/>
              <a:rect l="l" t="t" r="r" b="b"/>
              <a:pathLst>
                <a:path w="1485900" h="676275">
                  <a:moveTo>
                    <a:pt x="0" y="676275"/>
                  </a:moveTo>
                  <a:lnTo>
                    <a:pt x="14859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prstDash val="dash"/>
            </a:ln>
          </p:spPr>
        </p:sp>
        <p:sp>
          <p:nvSpPr>
            <p:cNvPr id="72" name="Line 72"/>
            <p:cNvSpPr/>
            <p:nvPr/>
          </p:nvSpPr>
          <p:spPr>
            <a:xfrm>
              <a:off x="1981200" y="5067300"/>
              <a:ext cx="4533900" cy="485775"/>
            </a:xfrm>
            <a:custGeom>
              <a:avLst/>
              <a:gdLst/>
              <a:ahLst/>
              <a:cxnLst/>
              <a:rect l="l" t="t" r="r" b="b"/>
              <a:pathLst>
                <a:path w="4533900" h="485775">
                  <a:moveTo>
                    <a:pt x="0" y="0"/>
                  </a:moveTo>
                  <a:lnTo>
                    <a:pt x="4533900" y="485775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prstDash val="dash"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228600"/>
            <a:ext cx="12192000" cy="7086600"/>
            <a:chOff x="0" y="-228600"/>
            <a:chExt cx="12192000" cy="70866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990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324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334500" y="-228600"/>
              <a:ext cx="2286000" cy="2286000"/>
            </a:xfrm>
            <a:prstGeom prst="ellipse">
              <a:avLst/>
            </a:prstGeom>
            <a:solidFill>
              <a:schemeClr val="accent2">
                <a:alpha val="6000"/>
              </a:schemeClr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7784" y="401002"/>
            <a:ext cx="10972229" cy="6320314"/>
            <a:chOff x="557784" y="401002"/>
            <a:chExt cx="10972229" cy="6320314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4010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584835"/>
              <a:ext cx="450351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未来90天：从评估到上线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5593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98320" y="65593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63880" y="1247775"/>
            <a:ext cx="11123158" cy="4905375"/>
            <a:chOff x="563880" y="1247775"/>
            <a:chExt cx="11123158" cy="4905375"/>
          </a:xfrm>
        </p:grpSpPr>
        <p:sp>
          <p:nvSpPr>
            <p:cNvPr id="13" name="TextBox 13"/>
            <p:cNvSpPr txBox="1"/>
            <p:nvPr/>
          </p:nvSpPr>
          <p:spPr>
            <a:xfrm>
              <a:off x="563880" y="124777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建议成立联合推进组，由数据负责人与营销负责人共同挂帅，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880" y="15144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按以下三阶段推进。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71500" y="1771650"/>
              <a:ext cx="11049000" cy="552450"/>
            </a:xfrm>
            <a:custGeom>
              <a:avLst/>
              <a:gdLst/>
              <a:ahLst/>
              <a:cxnLst/>
              <a:rect l="l" t="t" r="r" b="b"/>
              <a:pathLst>
                <a:path w="11049000" h="55245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457200"/>
                  </a:lnTo>
                  <a:cubicBezTo>
                    <a:pt x="11049000" y="509805"/>
                    <a:pt x="11006355" y="552450"/>
                    <a:pt x="10953750" y="552450"/>
                  </a:cubicBezTo>
                  <a:lnTo>
                    <a:pt x="95250" y="552450"/>
                  </a:lnTo>
                  <a:cubicBezTo>
                    <a:pt x="42645" y="552450"/>
                    <a:pt x="0" y="509805"/>
                    <a:pt x="0" y="4572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619250" y="2047875"/>
              <a:ext cx="8953500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7" name="Ellipse 17"/>
            <p:cNvSpPr/>
            <p:nvPr/>
          </p:nvSpPr>
          <p:spPr>
            <a:xfrm>
              <a:off x="2228850" y="1895475"/>
              <a:ext cx="304800" cy="3048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943600" y="1895475"/>
              <a:ext cx="304800" cy="3048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9658350" y="1895475"/>
              <a:ext cx="304800" cy="3048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332791" y="198215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47541" y="198215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62291" y="198215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857250" y="2667000"/>
              <a:ext cx="3048000" cy="2952750"/>
            </a:xfrm>
            <a:custGeom>
              <a:avLst/>
              <a:gdLst/>
              <a:ahLst/>
              <a:cxnLst/>
              <a:rect l="l" t="t" r="r" b="b"/>
              <a:pathLst>
                <a:path w="3048000" h="2952750">
                  <a:moveTo>
                    <a:pt x="114300" y="0"/>
                  </a:moveTo>
                  <a:lnTo>
                    <a:pt x="2933700" y="0"/>
                  </a:lnTo>
                  <a:cubicBezTo>
                    <a:pt x="2996826" y="0"/>
                    <a:pt x="3048000" y="51174"/>
                    <a:pt x="3048000" y="114300"/>
                  </a:cubicBezTo>
                  <a:lnTo>
                    <a:pt x="3048000" y="2838450"/>
                  </a:lnTo>
                  <a:cubicBezTo>
                    <a:pt x="3048000" y="2901576"/>
                    <a:pt x="2996826" y="2952750"/>
                    <a:pt x="2933700" y="2952750"/>
                  </a:cubicBezTo>
                  <a:lnTo>
                    <a:pt x="114300" y="2952750"/>
                  </a:lnTo>
                  <a:cubicBezTo>
                    <a:pt x="51174" y="2952750"/>
                    <a:pt x="0" y="2901576"/>
                    <a:pt x="0" y="2838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47750" y="2876550"/>
              <a:ext cx="838200" cy="285750"/>
            </a:xfrm>
            <a:custGeom>
              <a:avLst/>
              <a:gdLst/>
              <a:ahLst/>
              <a:cxnLst/>
              <a:rect l="l" t="t" r="r" b="b"/>
              <a:pathLst>
                <a:path w="838200" h="285750">
                  <a:moveTo>
                    <a:pt x="142875" y="0"/>
                  </a:moveTo>
                  <a:lnTo>
                    <a:pt x="695325" y="0"/>
                  </a:lnTo>
                  <a:cubicBezTo>
                    <a:pt x="774233" y="0"/>
                    <a:pt x="838200" y="63967"/>
                    <a:pt x="838200" y="142875"/>
                  </a:cubicBezTo>
                  <a:lnTo>
                    <a:pt x="838200" y="142875"/>
                  </a:lnTo>
                  <a:cubicBezTo>
                    <a:pt x="838200" y="221783"/>
                    <a:pt x="774233" y="285750"/>
                    <a:pt x="6953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03550" y="2953702"/>
              <a:ext cx="526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第1–2周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7082" y="3259455"/>
              <a:ext cx="19031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技术就绪审计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1047750" y="36385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40130" y="38195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对接数据源、安全合规审查、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0130" y="4105275"/>
              <a:ext cx="23071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选定首个试点campaign。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1047750" y="4591050"/>
              <a:ext cx="2667000" cy="800100"/>
            </a:xfrm>
            <a:custGeom>
              <a:avLst/>
              <a:gdLst/>
              <a:ahLst/>
              <a:cxnLst/>
              <a:rect l="l" t="t" r="r" b="b"/>
              <a:pathLst>
                <a:path w="2667000" h="800100">
                  <a:moveTo>
                    <a:pt x="95250" y="0"/>
                  </a:moveTo>
                  <a:lnTo>
                    <a:pt x="2571750" y="0"/>
                  </a:lnTo>
                  <a:cubicBezTo>
                    <a:pt x="2624355" y="0"/>
                    <a:pt x="2667000" y="42645"/>
                    <a:pt x="2667000" y="95250"/>
                  </a:cubicBezTo>
                  <a:lnTo>
                    <a:pt x="2667000" y="704850"/>
                  </a:lnTo>
                  <a:cubicBezTo>
                    <a:pt x="2667000" y="757455"/>
                    <a:pt x="2624355" y="800100"/>
                    <a:pt x="2571750" y="800100"/>
                  </a:cubicBezTo>
                  <a:lnTo>
                    <a:pt x="95250" y="800100"/>
                  </a:lnTo>
                  <a:cubicBezTo>
                    <a:pt x="42645" y="800100"/>
                    <a:pt x="0" y="757455"/>
                    <a:pt x="0" y="704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94816" y="47253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产出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93292" y="49596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数据接入方案与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93292" y="5207318"/>
              <a:ext cx="1267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PoC范围确认书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4572000" y="2667000"/>
              <a:ext cx="3048000" cy="2952750"/>
            </a:xfrm>
            <a:custGeom>
              <a:avLst/>
              <a:gdLst/>
              <a:ahLst/>
              <a:cxnLst/>
              <a:rect l="l" t="t" r="r" b="b"/>
              <a:pathLst>
                <a:path w="3048000" h="2952750">
                  <a:moveTo>
                    <a:pt x="114300" y="0"/>
                  </a:moveTo>
                  <a:lnTo>
                    <a:pt x="2933700" y="0"/>
                  </a:lnTo>
                  <a:cubicBezTo>
                    <a:pt x="2996826" y="0"/>
                    <a:pt x="3048000" y="51174"/>
                    <a:pt x="3048000" y="114300"/>
                  </a:cubicBezTo>
                  <a:lnTo>
                    <a:pt x="3048000" y="2838450"/>
                  </a:lnTo>
                  <a:cubicBezTo>
                    <a:pt x="3048000" y="2901576"/>
                    <a:pt x="2996826" y="2952750"/>
                    <a:pt x="2933700" y="2952750"/>
                  </a:cubicBezTo>
                  <a:lnTo>
                    <a:pt x="114300" y="2952750"/>
                  </a:lnTo>
                  <a:cubicBezTo>
                    <a:pt x="51174" y="2952750"/>
                    <a:pt x="0" y="2901576"/>
                    <a:pt x="0" y="2838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4762500" y="2876550"/>
              <a:ext cx="838200" cy="285750"/>
            </a:xfrm>
            <a:custGeom>
              <a:avLst/>
              <a:gdLst/>
              <a:ahLst/>
              <a:cxnLst/>
              <a:rect l="l" t="t" r="r" b="b"/>
              <a:pathLst>
                <a:path w="838200" h="285750">
                  <a:moveTo>
                    <a:pt x="142875" y="0"/>
                  </a:moveTo>
                  <a:lnTo>
                    <a:pt x="695325" y="0"/>
                  </a:lnTo>
                  <a:cubicBezTo>
                    <a:pt x="774233" y="0"/>
                    <a:pt x="838200" y="63967"/>
                    <a:pt x="838200" y="142875"/>
                  </a:cubicBezTo>
                  <a:lnTo>
                    <a:pt x="838200" y="142875"/>
                  </a:lnTo>
                  <a:cubicBezTo>
                    <a:pt x="838200" y="221783"/>
                    <a:pt x="774233" y="285750"/>
                    <a:pt x="6953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918300" y="2953702"/>
              <a:ext cx="526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第3–8周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51832" y="3259455"/>
              <a:ext cx="190317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试点并行跑通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762500" y="36385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54880" y="3819525"/>
              <a:ext cx="29702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部署AI工作台，与现有流程并行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54880" y="4105275"/>
              <a:ext cx="27110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运行一个完整campaign周期。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4762500" y="4591050"/>
              <a:ext cx="2667000" cy="800100"/>
            </a:xfrm>
            <a:custGeom>
              <a:avLst/>
              <a:gdLst/>
              <a:ahLst/>
              <a:cxnLst/>
              <a:rect l="l" t="t" r="r" b="b"/>
              <a:pathLst>
                <a:path w="2667000" h="800100">
                  <a:moveTo>
                    <a:pt x="95250" y="0"/>
                  </a:moveTo>
                  <a:lnTo>
                    <a:pt x="2571750" y="0"/>
                  </a:lnTo>
                  <a:cubicBezTo>
                    <a:pt x="2624355" y="0"/>
                    <a:pt x="2667000" y="42645"/>
                    <a:pt x="2667000" y="95250"/>
                  </a:cubicBezTo>
                  <a:lnTo>
                    <a:pt x="2667000" y="704850"/>
                  </a:lnTo>
                  <a:cubicBezTo>
                    <a:pt x="2667000" y="757455"/>
                    <a:pt x="2624355" y="800100"/>
                    <a:pt x="2571750" y="800100"/>
                  </a:cubicBezTo>
                  <a:lnTo>
                    <a:pt x="95250" y="800100"/>
                  </a:lnTo>
                  <a:cubicBezTo>
                    <a:pt x="42645" y="800100"/>
                    <a:pt x="0" y="757455"/>
                    <a:pt x="0" y="704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909566" y="47253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产出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08042" y="4959668"/>
              <a:ext cx="1290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A/B测试报告与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08042" y="5207318"/>
              <a:ext cx="7050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ROI基线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8286750" y="2667000"/>
              <a:ext cx="3048000" cy="2952750"/>
            </a:xfrm>
            <a:custGeom>
              <a:avLst/>
              <a:gdLst/>
              <a:ahLst/>
              <a:cxnLst/>
              <a:rect l="l" t="t" r="r" b="b"/>
              <a:pathLst>
                <a:path w="3048000" h="2952750">
                  <a:moveTo>
                    <a:pt x="114300" y="0"/>
                  </a:moveTo>
                  <a:lnTo>
                    <a:pt x="2933700" y="0"/>
                  </a:lnTo>
                  <a:cubicBezTo>
                    <a:pt x="2996826" y="0"/>
                    <a:pt x="3048000" y="51174"/>
                    <a:pt x="3048000" y="114300"/>
                  </a:cubicBezTo>
                  <a:lnTo>
                    <a:pt x="3048000" y="2838450"/>
                  </a:lnTo>
                  <a:cubicBezTo>
                    <a:pt x="3048000" y="2901576"/>
                    <a:pt x="2996826" y="2952750"/>
                    <a:pt x="2933700" y="2952750"/>
                  </a:cubicBezTo>
                  <a:lnTo>
                    <a:pt x="114300" y="2952750"/>
                  </a:lnTo>
                  <a:cubicBezTo>
                    <a:pt x="51174" y="2952750"/>
                    <a:pt x="0" y="2901576"/>
                    <a:pt x="0" y="2838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8477250" y="2876550"/>
              <a:ext cx="914400" cy="285750"/>
            </a:xfrm>
            <a:custGeom>
              <a:avLst/>
              <a:gdLst/>
              <a:ahLst/>
              <a:cxnLst/>
              <a:rect l="l" t="t" r="r" b="b"/>
              <a:pathLst>
                <a:path w="914400" h="285750">
                  <a:moveTo>
                    <a:pt x="142875" y="0"/>
                  </a:moveTo>
                  <a:lnTo>
                    <a:pt x="771525" y="0"/>
                  </a:lnTo>
                  <a:cubicBezTo>
                    <a:pt x="850433" y="0"/>
                    <a:pt x="914400" y="63967"/>
                    <a:pt x="914400" y="142875"/>
                  </a:cubicBezTo>
                  <a:lnTo>
                    <a:pt x="914400" y="142875"/>
                  </a:lnTo>
                  <a:cubicBezTo>
                    <a:pt x="914400" y="221783"/>
                    <a:pt x="850433" y="285750"/>
                    <a:pt x="771525" y="285750"/>
                  </a:cubicBezTo>
                  <a:lnTo>
                    <a:pt x="142875" y="285750"/>
                  </a:lnTo>
                  <a:cubicBezTo>
                    <a:pt x="63967" y="285750"/>
                    <a:pt x="0" y="221783"/>
                    <a:pt x="0" y="142875"/>
                  </a:cubicBezTo>
                  <a:lnTo>
                    <a:pt x="0" y="142875"/>
                  </a:lnTo>
                  <a:cubicBezTo>
                    <a:pt x="0" y="63967"/>
                    <a:pt x="63967" y="0"/>
                    <a:pt x="14287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632279" y="29537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第9–12周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66582" y="3259455"/>
              <a:ext cx="32204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全量切换与KPI锁定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8477250" y="36385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69630" y="38195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基于试点结果决定规模推广，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69630" y="41052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设置季度验收指标。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8477250" y="4591050"/>
              <a:ext cx="2667000" cy="800100"/>
            </a:xfrm>
            <a:custGeom>
              <a:avLst/>
              <a:gdLst/>
              <a:ahLst/>
              <a:cxnLst/>
              <a:rect l="l" t="t" r="r" b="b"/>
              <a:pathLst>
                <a:path w="2667000" h="800100">
                  <a:moveTo>
                    <a:pt x="95250" y="0"/>
                  </a:moveTo>
                  <a:lnTo>
                    <a:pt x="2571750" y="0"/>
                  </a:lnTo>
                  <a:cubicBezTo>
                    <a:pt x="2624355" y="0"/>
                    <a:pt x="2667000" y="42645"/>
                    <a:pt x="2667000" y="95250"/>
                  </a:cubicBezTo>
                  <a:lnTo>
                    <a:pt x="2667000" y="704850"/>
                  </a:lnTo>
                  <a:cubicBezTo>
                    <a:pt x="2667000" y="757455"/>
                    <a:pt x="2624355" y="800100"/>
                    <a:pt x="2571750" y="800100"/>
                  </a:cubicBezTo>
                  <a:lnTo>
                    <a:pt x="95250" y="800100"/>
                  </a:lnTo>
                  <a:cubicBezTo>
                    <a:pt x="42645" y="800100"/>
                    <a:pt x="0" y="757455"/>
                    <a:pt x="0" y="7048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24316" y="47253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产出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22792" y="4959668"/>
              <a:ext cx="16267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上线确认与增长KPI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22792" y="52073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责任矩阵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571500" y="5829300"/>
              <a:ext cx="11049000" cy="323850"/>
            </a:xfrm>
            <a:custGeom>
              <a:avLst/>
              <a:gdLst/>
              <a:ahLst/>
              <a:cxnLst/>
              <a:rect l="l" t="t" r="r" b="b"/>
              <a:pathLst>
                <a:path w="11049000" h="32385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247650"/>
                  </a:lnTo>
                  <a:cubicBezTo>
                    <a:pt x="11049000" y="289734"/>
                    <a:pt x="11014884" y="323850"/>
                    <a:pt x="10972800" y="323850"/>
                  </a:cubicBezTo>
                  <a:lnTo>
                    <a:pt x="76200" y="323850"/>
                  </a:lnTo>
                  <a:cubicBezTo>
                    <a:pt x="34116" y="323850"/>
                    <a:pt x="0" y="289734"/>
                    <a:pt x="0" y="2476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220032" y="5909310"/>
              <a:ext cx="37519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联合推进组双负责人机制：数据负责人 + 营销负责人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914400" y="1924050"/>
            <a:ext cx="10363200" cy="628650"/>
            <a:chOff x="914400" y="1924050"/>
            <a:chExt cx="10363200" cy="628650"/>
          </a:xfrm>
        </p:grpSpPr>
        <p:sp>
          <p:nvSpPr>
            <p:cNvPr id="59" name="Line 59"/>
            <p:cNvSpPr/>
            <p:nvPr/>
          </p:nvSpPr>
          <p:spPr>
            <a:xfrm>
              <a:off x="2381250" y="2200275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6096000" y="2200275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9810750" y="2200275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1733550" y="20478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3048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63" name="Freeform 63"/>
            <p:cNvSpPr/>
            <p:nvPr/>
          </p:nvSpPr>
          <p:spPr>
            <a:xfrm>
              <a:off x="914400" y="1924050"/>
              <a:ext cx="704850" cy="247650"/>
            </a:xfrm>
            <a:custGeom>
              <a:avLst/>
              <a:gdLst/>
              <a:ahLst/>
              <a:cxnLst/>
              <a:rect l="l" t="t" r="r" b="b"/>
              <a:pathLst>
                <a:path w="704850" h="247650">
                  <a:moveTo>
                    <a:pt x="76200" y="0"/>
                  </a:moveTo>
                  <a:lnTo>
                    <a:pt x="628650" y="0"/>
                  </a:lnTo>
                  <a:cubicBezTo>
                    <a:pt x="670734" y="0"/>
                    <a:pt x="704850" y="34116"/>
                    <a:pt x="704850" y="76200"/>
                  </a:cubicBezTo>
                  <a:lnTo>
                    <a:pt x="704850" y="171450"/>
                  </a:lnTo>
                  <a:cubicBezTo>
                    <a:pt x="704850" y="213534"/>
                    <a:pt x="670734" y="247650"/>
                    <a:pt x="628650" y="247650"/>
                  </a:cubicBezTo>
                  <a:lnTo>
                    <a:pt x="76200" y="247650"/>
                  </a:lnTo>
                  <a:cubicBezTo>
                    <a:pt x="34116" y="247650"/>
                    <a:pt x="0" y="213534"/>
                    <a:pt x="0" y="1714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130618" y="1990249"/>
              <a:ext cx="2724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启动</a:t>
              </a:r>
            </a:p>
          </p:txBody>
        </p:sp>
        <p:sp>
          <p:nvSpPr>
            <p:cNvPr id="65" name="Freeform 65"/>
            <p:cNvSpPr/>
            <p:nvPr/>
          </p:nvSpPr>
          <p:spPr>
            <a:xfrm>
              <a:off x="10153650" y="204787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66" name="Freeform 66"/>
            <p:cNvSpPr/>
            <p:nvPr/>
          </p:nvSpPr>
          <p:spPr>
            <a:xfrm>
              <a:off x="10534650" y="1924050"/>
              <a:ext cx="742950" cy="247650"/>
            </a:xfrm>
            <a:custGeom>
              <a:avLst/>
              <a:gdLst/>
              <a:ahLst/>
              <a:cxnLst/>
              <a:rect l="l" t="t" r="r" b="b"/>
              <a:pathLst>
                <a:path w="742950" h="247650">
                  <a:moveTo>
                    <a:pt x="76200" y="0"/>
                  </a:moveTo>
                  <a:lnTo>
                    <a:pt x="666750" y="0"/>
                  </a:lnTo>
                  <a:cubicBezTo>
                    <a:pt x="708834" y="0"/>
                    <a:pt x="742950" y="34116"/>
                    <a:pt x="742950" y="76200"/>
                  </a:cubicBezTo>
                  <a:lnTo>
                    <a:pt x="742950" y="171450"/>
                  </a:lnTo>
                  <a:cubicBezTo>
                    <a:pt x="742950" y="213534"/>
                    <a:pt x="708834" y="247650"/>
                    <a:pt x="666750" y="247650"/>
                  </a:cubicBezTo>
                  <a:lnTo>
                    <a:pt x="76200" y="247650"/>
                  </a:lnTo>
                  <a:cubicBezTo>
                    <a:pt x="34116" y="247650"/>
                    <a:pt x="0" y="213534"/>
                    <a:pt x="0" y="1714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769918" y="1990249"/>
              <a:ext cx="27241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验收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2026-07-10T23:36:53Z</dcterms:created>
  <dcterms:modified xsi:type="dcterms:W3CDTF">2026-07-10T23:36:53Z</dcterms:modified>
  <cp:category/>
  <cp:contentStatus/>
</cp:coreProperties>
</file>