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锐策AI营销工作台</a:t>
            </a:r>
          </a:p>
          <a:p>
            <a:endParaRPr lang="en-US" dirty="0"/>
          </a:p>
          <a:p>
            <a:r>
              <a:rPr lang="zh-CN" dirty="0"/>
              <a:t>打通全域数据，以AI驱动分析、自动化执行与效果度量，实现可量化的营销ROI跃升。</a:t>
            </a:r>
          </a:p>
          <a:p>
            <a:endParaRPr lang="en-US" dirty="0"/>
          </a:p>
          <a:p>
            <a:r>
              <a:rPr lang="zh-CN" dirty="0"/>
              <a:t>• 锐策AI营销工作台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执行简报议程</a:t>
            </a:r>
          </a:p>
          <a:p>
            <a:endParaRPr lang="en-US" dirty="0"/>
          </a:p>
          <a:p>
            <a:r>
              <a:rPr lang="zh-CN" dirty="0"/>
              <a:t>围绕商业价值、破局路径、能力对比、实证成果与行动路线展开，支撑快速决策。</a:t>
            </a:r>
          </a:p>
          <a:p>
            <a:endParaRPr lang="en-US" dirty="0"/>
          </a:p>
          <a:p>
            <a:r>
              <a:rPr lang="zh-CN" dirty="0"/>
              <a:t>• AI工作台带来的直接收益与战略杠杆</a:t>
            </a:r>
          </a:p>
          <a:p>
            <a:r>
              <a:rPr lang="zh-CN" dirty="0"/>
              <a:t>• 数据孤岛、决策延迟与执行脱节的根本原因</a:t>
            </a:r>
          </a:p>
          <a:p>
            <a:r>
              <a:rPr lang="zh-CN" dirty="0"/>
              <a:t>• 从数据整合到效果度量的全链路差异</a:t>
            </a:r>
          </a:p>
          <a:p>
            <a:r>
              <a:rPr lang="zh-CN" dirty="0"/>
              <a:t>• 跨行业头部企业的真实增长数据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核心能力，数字说话</a:t>
            </a:r>
          </a:p>
          <a:p>
            <a:endParaRPr lang="en-US" dirty="0"/>
          </a:p>
          <a:p>
            <a:r>
              <a:rPr lang="zh-CN" dirty="0"/>
              <a:t>锐策AI营销工作台已在多行业落地，关键指标印证智能营销的实质提升。</a:t>
            </a:r>
          </a:p>
          <a:p>
            <a:endParaRPr lang="en-US" dirty="0"/>
          </a:p>
          <a:p>
            <a:r>
              <a:rPr lang="zh-CN" dirty="0"/>
              <a:t>• 全域数据整合：预置200+营销渠道连接器，实现零运维实时同步</a:t>
            </a:r>
          </a:p>
          <a:p>
            <a:r>
              <a:rPr lang="zh-CN" dirty="0"/>
              <a:t>• 实时AI分析：毫秒级顾客意图识别与动态策略推荐</a:t>
            </a:r>
          </a:p>
          <a:p>
            <a:r>
              <a:rPr lang="zh-CN" dirty="0"/>
              <a:t>• 自动化执行：降低80%人工运营操作，营销活动一键编排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传统模式vsAI工作台：营销运营的根本差异</a:t>
            </a:r>
          </a:p>
          <a:p>
            <a:endParaRPr lang="en-US" dirty="0"/>
          </a:p>
          <a:p>
            <a:r>
              <a:rPr lang="zh-CN" dirty="0"/>
              <a:t>同一链路，两种能力水位。AI工作台重构速度、精度与规模的上限。</a:t>
            </a:r>
          </a:p>
          <a:p>
            <a:endParaRPr lang="en-US" dirty="0"/>
          </a:p>
          <a:p>
            <a:r>
              <a:rPr lang="zh-CN" dirty="0"/>
              <a:t>• 多平台数据孤立，IT支撑成本高，时效滞后</a:t>
            </a:r>
          </a:p>
          <a:p>
            <a:r>
              <a:rPr lang="zh-CN" dirty="0"/>
              <a:t>• 实时同步，零运维，统一客户全息画像</a:t>
            </a:r>
          </a:p>
          <a:p>
            <a:r>
              <a:rPr lang="zh-CN" dirty="0"/>
              <a:t>• 周级复盘，错过最佳干预窗口</a:t>
            </a:r>
          </a:p>
          <a:p>
            <a:r>
              <a:rPr lang="zh-CN" dirty="0"/>
              <a:t>• 毫秒级意图捕捉，AI自动生成最优策略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客户实证：可量化的业务增长</a:t>
            </a:r>
          </a:p>
          <a:p>
            <a:endParaRPr lang="en-US" dirty="0"/>
          </a:p>
          <a:p>
            <a:r>
              <a:rPr lang="zh-CN" dirty="0"/>
              <a:t>跨行业的领先企业已通过锐策AI工作台实现可验证的营销效能跃迁。</a:t>
            </a:r>
          </a:p>
          <a:p>
            <a:endParaRPr lang="en-US" dirty="0"/>
          </a:p>
          <a:p>
            <a:r>
              <a:rPr lang="zh-CN" dirty="0"/>
              <a:t>• 618期间，AI实时调整出价与创意组合，广告支出回报率同比提升40%，额外创造营收破亿元</a:t>
            </a:r>
          </a:p>
          <a:p>
            <a:r>
              <a:rPr lang="zh-CN" dirty="0"/>
              <a:t>• 个人贷款产品智能推荐，基于用户实时意图动态匹配话术，点击转化率从1.1%升至2.5%</a:t>
            </a:r>
          </a:p>
          <a:p>
            <a:r>
              <a:rPr lang="zh-CN" dirty="0"/>
              <a:t>• 从市场洞察到全域营销活动上线全流程自动化，新品冷启动效率大幅提升，首周销量超预期35%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平台效能：规模化运行的硬指标</a:t>
            </a:r>
          </a:p>
          <a:p>
            <a:endParaRPr lang="en-US" dirty="0"/>
          </a:p>
          <a:p>
            <a:r>
              <a:rPr lang="zh-CN" dirty="0"/>
              <a:t>锐策AI营销工作台已稳定处理超万亿级营销事件，保障高可用、高精度与高安全。</a:t>
            </a:r>
          </a:p>
          <a:p>
            <a:endParaRPr lang="en-US" dirty="0"/>
          </a:p>
          <a:p>
            <a:r>
              <a:rPr lang="zh-CN" dirty="0"/>
              <a:t>• 日均数据处理量</a:t>
            </a:r>
          </a:p>
          <a:p>
            <a:r>
              <a:rPr lang="zh-CN" dirty="0"/>
              <a:t>• AI预测准确度</a:t>
            </a:r>
          </a:p>
          <a:p>
            <a:r>
              <a:rPr lang="zh-CN" dirty="0"/>
              <a:t>• 自动化任务执行/日</a:t>
            </a:r>
          </a:p>
          <a:p>
            <a:r>
              <a:rPr lang="zh-CN" dirty="0"/>
              <a:t>• 客户平均效率提升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渠道优化实证：转化率与成本关键变化</a:t>
            </a:r>
          </a:p>
          <a:p>
            <a:endParaRPr lang="en-US" dirty="0"/>
          </a:p>
          <a:p>
            <a:r>
              <a:rPr lang="zh-CN" dirty="0"/>
              <a:t>对比启用AI工作台前后，典型营销渠道的核心指标变化——增量明确，可复现。</a:t>
            </a:r>
          </a:p>
          <a:p>
            <a:endParaRPr lang="en-US" dirty="0"/>
          </a:p>
          <a:p>
            <a:r>
              <a:rPr lang="zh-CN" dirty="0"/>
              <a:t>• 点击转化率从1.8%升至2.4%；单次获客成本下降18%</a:t>
            </a:r>
          </a:p>
          <a:p>
            <a:r>
              <a:rPr lang="zh-CN" dirty="0"/>
              <a:t>• 转化率从3.2%升至3.9%；无效点击减少25%</a:t>
            </a:r>
          </a:p>
          <a:p>
            <a:r>
              <a:rPr lang="zh-CN" dirty="0"/>
              <a:t>• AI个性化推荐使购买转化提高55%；退订率下降</a:t>
            </a:r>
          </a:p>
          <a:p>
            <a:r>
              <a:rPr lang="zh-CN" dirty="0"/>
              <a:t>• AI生成最佳时机与内容，打开率与点击率翻倍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下一步：三个月启动智能营销转型</a:t>
            </a:r>
          </a:p>
          <a:p>
            <a:endParaRPr lang="en-US" dirty="0"/>
          </a:p>
          <a:p>
            <a:r>
              <a:rPr lang="zh-CN" dirty="0"/>
              <a:t>分阶段推进试点验证、全面推广与能力内化，构建持续增长的数据-决策-执行飞轮。</a:t>
            </a:r>
          </a:p>
          <a:p>
            <a:endParaRPr lang="en-US" dirty="0"/>
          </a:p>
          <a:p>
            <a:r>
              <a:rPr lang="zh-CN" dirty="0"/>
              <a:t>• 选择一条核心产品线或一个高流量渠道部署AI工作台，设定基线并追踪ROI，快速拿回业务结果</a:t>
            </a:r>
          </a:p>
          <a:p>
            <a:r>
              <a:rPr lang="zh-CN" dirty="0"/>
              <a:t>• 将验证成功的模式复制至多品牌、全渠道，建立标准化AI营销运营流程和激励机制</a:t>
            </a:r>
          </a:p>
          <a:p>
            <a:r>
              <a:rPr lang="zh-CN" dirty="0"/>
              <a:t>• 搭建企业AI营销中台，持续训练专有模型，形成数据洞察-决策-自动化执行的自主飞轮，摆脱对经验个体的依赖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2000">
                  <a:schemeClr val="lt1">
                    <a:alpha val="96000"/>
                  </a:schemeClr>
                </a:gs>
                <a:gs pos="100000">
                  <a:schemeClr val="lt1">
                    <a:alpha val="72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6000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0287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810500" y="12001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191500" y="15621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10000"/>
                </a:scheme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572500" y="192405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6738" y="645795"/>
            <a:ext cx="10753725" cy="5665946"/>
            <a:chOff x="566738" y="645795"/>
            <a:chExt cx="10753725" cy="5665946"/>
          </a:xfrm>
        </p:grpSpPr>
        <p:sp>
          <p:nvSpPr>
            <p:cNvPr id="13" name="TextBox 13"/>
            <p:cNvSpPr txBox="1"/>
            <p:nvPr/>
          </p:nvSpPr>
          <p:spPr>
            <a:xfrm>
              <a:off x="566738" y="645795"/>
              <a:ext cx="749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149816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锐策AI营销工作台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8770" y="61498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-18166" y="1181100"/>
            <a:ext cx="11219566" cy="4057650"/>
            <a:chOff x="-18166" y="1181100"/>
            <a:chExt cx="11219566" cy="4057650"/>
          </a:xfrm>
        </p:grpSpPr>
        <p:sp>
          <p:nvSpPr>
            <p:cNvPr id="17" name="Freeform 17"/>
            <p:cNvSpPr/>
            <p:nvPr/>
          </p:nvSpPr>
          <p:spPr>
            <a:xfrm>
              <a:off x="571500" y="1352550"/>
              <a:ext cx="4953000" cy="3886200"/>
            </a:xfrm>
            <a:custGeom>
              <a:avLst/>
              <a:gdLst/>
              <a:ahLst/>
              <a:cxnLst/>
              <a:rect l="l" t="t" r="r" b="b"/>
              <a:pathLst>
                <a:path w="4953000" h="388620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3733800"/>
                  </a:lnTo>
                  <a:cubicBezTo>
                    <a:pt x="4953000" y="3817968"/>
                    <a:pt x="4884768" y="3886200"/>
                    <a:pt x="4800600" y="3886200"/>
                  </a:cubicBezTo>
                  <a:lnTo>
                    <a:pt x="152400" y="3886200"/>
                  </a:lnTo>
                  <a:cubicBezTo>
                    <a:pt x="68232" y="3886200"/>
                    <a:pt x="0" y="3817968"/>
                    <a:pt x="0" y="37338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1">
                <a:alpha val="66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5785" y="1497806"/>
              <a:ext cx="2260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面向企业管理层的 SaaS 方案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2450" y="1939290"/>
              <a:ext cx="251905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锐策AI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450" y="2682240"/>
              <a:ext cx="36225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2168" y="3536632"/>
              <a:ext cx="32673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打通全域数据，以AI驱动分析、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2168" y="38604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自动化执行与效果度量，实现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2168" y="4184332"/>
              <a:ext cx="2504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可量化的营销ROI跃升。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90550" y="4610100"/>
              <a:ext cx="1866900" cy="323850"/>
            </a:xfrm>
            <a:custGeom>
              <a:avLst/>
              <a:gdLst/>
              <a:ahLst/>
              <a:cxnLst/>
              <a:rect l="l" t="t" r="r" b="b"/>
              <a:pathLst>
                <a:path w="1866900" h="323850">
                  <a:moveTo>
                    <a:pt x="161925" y="0"/>
                  </a:moveTo>
                  <a:lnTo>
                    <a:pt x="1704975" y="0"/>
                  </a:lnTo>
                  <a:cubicBezTo>
                    <a:pt x="1794404" y="0"/>
                    <a:pt x="1866900" y="72496"/>
                    <a:pt x="1866900" y="161925"/>
                  </a:cubicBezTo>
                  <a:lnTo>
                    <a:pt x="1866900" y="161925"/>
                  </a:lnTo>
                  <a:cubicBezTo>
                    <a:pt x="1866900" y="251354"/>
                    <a:pt x="1794404" y="323850"/>
                    <a:pt x="17049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-18166" y="4706302"/>
              <a:ext cx="3084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 × AI 分析 × 自动化执行 × 效果度量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239000" y="1485900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239000" y="2971800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239000" y="4457700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2">
                  <a:alpha val="28000"/>
                </a:scheme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658100" y="11811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514350"/>
                  </a:lnTo>
                  <a:cubicBezTo>
                    <a:pt x="1066800" y="566955"/>
                    <a:pt x="1024155" y="609600"/>
                    <a:pt x="9715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89329" y="13249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全域数据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44421" y="15220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统一接入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563100" y="11811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514350"/>
                  </a:lnTo>
                  <a:cubicBezTo>
                    <a:pt x="1066800" y="566955"/>
                    <a:pt x="1024155" y="609600"/>
                    <a:pt x="9715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6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67698" y="1324928"/>
              <a:ext cx="457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49422" y="15220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洞察生成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191500" y="26670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514350"/>
                  </a:lnTo>
                  <a:cubicBezTo>
                    <a:pt x="1066800" y="566955"/>
                    <a:pt x="1024155" y="609600"/>
                    <a:pt x="9715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22729" y="2810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7822" y="30079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策略落地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096500" y="26670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514350"/>
                  </a:lnTo>
                  <a:cubicBezTo>
                    <a:pt x="1066800" y="566955"/>
                    <a:pt x="1024155" y="609600"/>
                    <a:pt x="9715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27729" y="2810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82822" y="30079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闭环优化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724900" y="179070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096500" y="179070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724900" y="327660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629900" y="327660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724900" y="41529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205662" y="14525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205662" y="2938462"/>
              <a:ext cx="66675" cy="66675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205662" y="4424362"/>
              <a:ext cx="66675" cy="66675"/>
            </a:xfrm>
            <a:prstGeom prst="ellipse">
              <a:avLst/>
            </a:prstGeom>
            <a:solidFill>
              <a:schemeClr val="accent2">
                <a:alpha val="55000"/>
              </a:scheme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315200" y="14859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cubicBezTo>
                    <a:pt x="171450" y="0"/>
                    <a:pt x="209550" y="0"/>
                    <a:pt x="342900" y="0"/>
                  </a:cubicBez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315200" y="2971800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cubicBezTo>
                    <a:pt x="457200" y="0"/>
                    <a:pt x="514350" y="0"/>
                    <a:pt x="876300" y="0"/>
                  </a:cubicBezTo>
                </a:path>
              </a:pathLst>
            </a:custGeom>
            <a:noFill/>
            <a:ln w="14288">
              <a:solidFill>
                <a:schemeClr val="accent2">
                  <a:alpha val="70000"/>
                </a:schemeClr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315200" y="44577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cubicBezTo>
                    <a:pt x="1123950" y="0"/>
                    <a:pt x="1847850" y="0"/>
                    <a:pt x="2476500" y="0"/>
                  </a:cubicBezTo>
                </a:path>
              </a:pathLst>
            </a:custGeom>
            <a:noFill/>
            <a:ln w="14288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791700" y="4171950"/>
              <a:ext cx="1409700" cy="571500"/>
            </a:xfrm>
            <a:custGeom>
              <a:avLst/>
              <a:gdLst/>
              <a:ahLst/>
              <a:cxnLst/>
              <a:rect l="l" t="t" r="r" b="b"/>
              <a:pathLst>
                <a:path w="1409700" h="571500">
                  <a:moveTo>
                    <a:pt x="114300" y="0"/>
                  </a:moveTo>
                  <a:lnTo>
                    <a:pt x="1295400" y="0"/>
                  </a:lnTo>
                  <a:cubicBezTo>
                    <a:pt x="1358526" y="0"/>
                    <a:pt x="1409700" y="51174"/>
                    <a:pt x="1409700" y="114300"/>
                  </a:cubicBezTo>
                  <a:lnTo>
                    <a:pt x="1409700" y="457200"/>
                  </a:lnTo>
                  <a:cubicBezTo>
                    <a:pt x="1409700" y="520326"/>
                    <a:pt x="1358526" y="571500"/>
                    <a:pt x="12954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005075" y="4287202"/>
              <a:ext cx="98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营销 ROI 闭环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88982" y="44938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监测 · 归因 · 提升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953250" y="1352550"/>
            <a:ext cx="3449955" cy="4130611"/>
            <a:chOff x="6953250" y="1352550"/>
            <a:chExt cx="3449955" cy="4130611"/>
          </a:xfrm>
        </p:grpSpPr>
        <p:sp>
          <p:nvSpPr>
            <p:cNvPr id="56" name="Ellipse 56"/>
            <p:cNvSpPr/>
            <p:nvPr/>
          </p:nvSpPr>
          <p:spPr>
            <a:xfrm>
              <a:off x="6953250" y="1352550"/>
              <a:ext cx="266700" cy="2667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17699" y="1444466"/>
              <a:ext cx="1378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24166" y="52778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从数据底座到执行闭环，形成统一工作台主轴。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90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763000" y="1333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401002"/>
            <a:ext cx="11067479" cy="6186964"/>
            <a:chOff x="557784" y="401002"/>
            <a:chExt cx="11067479" cy="61869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401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执行简报议程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260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锐策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93570" y="64260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3880" y="1343025"/>
            <a:ext cx="11056620" cy="5019675"/>
            <a:chOff x="563880" y="1343025"/>
            <a:chExt cx="11056620" cy="5019675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3430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围绕商业价值、破局路径、能力对比、实证成果与行动路线展开，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16097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支撑快速决策。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962150"/>
              <a:ext cx="7962900" cy="3752850"/>
            </a:xfrm>
            <a:custGeom>
              <a:avLst/>
              <a:gdLst/>
              <a:ahLst/>
              <a:cxnLst/>
              <a:rect l="l" t="t" r="r" b="b"/>
              <a:pathLst>
                <a:path w="7962900" h="3752850">
                  <a:moveTo>
                    <a:pt x="133350" y="0"/>
                  </a:moveTo>
                  <a:lnTo>
                    <a:pt x="7829550" y="0"/>
                  </a:lnTo>
                  <a:cubicBezTo>
                    <a:pt x="7903197" y="0"/>
                    <a:pt x="7962900" y="59703"/>
                    <a:pt x="7962900" y="133350"/>
                  </a:cubicBezTo>
                  <a:lnTo>
                    <a:pt x="7962900" y="3619500"/>
                  </a:lnTo>
                  <a:cubicBezTo>
                    <a:pt x="7962900" y="3693147"/>
                    <a:pt x="7903197" y="3752850"/>
                    <a:pt x="7829550" y="3752850"/>
                  </a:cubicBezTo>
                  <a:lnTo>
                    <a:pt x="133350" y="3752850"/>
                  </a:lnTo>
                  <a:cubicBezTo>
                    <a:pt x="59703" y="3752850"/>
                    <a:pt x="0" y="3693147"/>
                    <a:pt x="0" y="3619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62050" y="24574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85850" y="23812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85850" y="307657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37719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85850" y="44672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85850" y="51625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428750" y="2152650"/>
              <a:ext cx="6724650" cy="609600"/>
            </a:xfrm>
            <a:custGeom>
              <a:avLst/>
              <a:gdLst/>
              <a:ahLst/>
              <a:cxnLst/>
              <a:rect l="l" t="t" r="r" b="b"/>
              <a:pathLst>
                <a:path w="6724650" h="609600">
                  <a:moveTo>
                    <a:pt x="95250" y="0"/>
                  </a:moveTo>
                  <a:lnTo>
                    <a:pt x="6629400" y="0"/>
                  </a:lnTo>
                  <a:cubicBezTo>
                    <a:pt x="6682005" y="0"/>
                    <a:pt x="6724650" y="42645"/>
                    <a:pt x="6724650" y="95250"/>
                  </a:cubicBezTo>
                  <a:lnTo>
                    <a:pt x="6724650" y="514350"/>
                  </a:lnTo>
                  <a:cubicBezTo>
                    <a:pt x="6724650" y="566955"/>
                    <a:pt x="6682005" y="609600"/>
                    <a:pt x="662940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428750" y="2847975"/>
              <a:ext cx="6724650" cy="609600"/>
            </a:xfrm>
            <a:custGeom>
              <a:avLst/>
              <a:gdLst/>
              <a:ahLst/>
              <a:cxnLst/>
              <a:rect l="l" t="t" r="r" b="b"/>
              <a:pathLst>
                <a:path w="6724650" h="609600">
                  <a:moveTo>
                    <a:pt x="95250" y="0"/>
                  </a:moveTo>
                  <a:lnTo>
                    <a:pt x="6629400" y="0"/>
                  </a:lnTo>
                  <a:cubicBezTo>
                    <a:pt x="6682005" y="0"/>
                    <a:pt x="6724650" y="42645"/>
                    <a:pt x="6724650" y="95250"/>
                  </a:cubicBezTo>
                  <a:lnTo>
                    <a:pt x="6724650" y="514350"/>
                  </a:lnTo>
                  <a:cubicBezTo>
                    <a:pt x="6724650" y="566955"/>
                    <a:pt x="6682005" y="609600"/>
                    <a:pt x="662940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428750" y="3543300"/>
              <a:ext cx="6724650" cy="609600"/>
            </a:xfrm>
            <a:custGeom>
              <a:avLst/>
              <a:gdLst/>
              <a:ahLst/>
              <a:cxnLst/>
              <a:rect l="l" t="t" r="r" b="b"/>
              <a:pathLst>
                <a:path w="6724650" h="609600">
                  <a:moveTo>
                    <a:pt x="95250" y="0"/>
                  </a:moveTo>
                  <a:lnTo>
                    <a:pt x="6629400" y="0"/>
                  </a:lnTo>
                  <a:cubicBezTo>
                    <a:pt x="6682005" y="0"/>
                    <a:pt x="6724650" y="42645"/>
                    <a:pt x="6724650" y="95250"/>
                  </a:cubicBezTo>
                  <a:lnTo>
                    <a:pt x="6724650" y="514350"/>
                  </a:lnTo>
                  <a:cubicBezTo>
                    <a:pt x="6724650" y="566955"/>
                    <a:pt x="6682005" y="609600"/>
                    <a:pt x="662940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428750" y="4238625"/>
              <a:ext cx="6724650" cy="609600"/>
            </a:xfrm>
            <a:custGeom>
              <a:avLst/>
              <a:gdLst/>
              <a:ahLst/>
              <a:cxnLst/>
              <a:rect l="l" t="t" r="r" b="b"/>
              <a:pathLst>
                <a:path w="6724650" h="609600">
                  <a:moveTo>
                    <a:pt x="95250" y="0"/>
                  </a:moveTo>
                  <a:lnTo>
                    <a:pt x="6629400" y="0"/>
                  </a:lnTo>
                  <a:cubicBezTo>
                    <a:pt x="6682005" y="0"/>
                    <a:pt x="6724650" y="42645"/>
                    <a:pt x="6724650" y="95250"/>
                  </a:cubicBezTo>
                  <a:lnTo>
                    <a:pt x="6724650" y="514350"/>
                  </a:lnTo>
                  <a:cubicBezTo>
                    <a:pt x="6724650" y="566955"/>
                    <a:pt x="6682005" y="609600"/>
                    <a:pt x="662940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428750" y="4933950"/>
              <a:ext cx="6724650" cy="609600"/>
            </a:xfrm>
            <a:custGeom>
              <a:avLst/>
              <a:gdLst/>
              <a:ahLst/>
              <a:cxnLst/>
              <a:rect l="l" t="t" r="r" b="b"/>
              <a:pathLst>
                <a:path w="6724650" h="609600">
                  <a:moveTo>
                    <a:pt x="95250" y="0"/>
                  </a:moveTo>
                  <a:lnTo>
                    <a:pt x="6629400" y="0"/>
                  </a:lnTo>
                  <a:cubicBezTo>
                    <a:pt x="6682005" y="0"/>
                    <a:pt x="6724650" y="42645"/>
                    <a:pt x="6724650" y="95250"/>
                  </a:cubicBezTo>
                  <a:lnTo>
                    <a:pt x="6724650" y="514350"/>
                  </a:lnTo>
                  <a:cubicBezTo>
                    <a:pt x="6724650" y="566955"/>
                    <a:pt x="6682005" y="609600"/>
                    <a:pt x="662940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076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7642" y="29308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07642" y="3626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07642" y="43214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7642" y="50168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01418" y="222218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工作台带来的直接收益与战略杠杆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01418" y="2917508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数据孤岛、决策延迟与执行脱节的根本原因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01418" y="3612832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从数据整合到效果度量的全链路差异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01418" y="4308158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跨行业头部企业的真实增长数据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01418" y="50034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分阶段试点、推广与能力内化的行动建议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428750" y="31527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428750" y="38481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428750" y="45434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428750" y="52387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029700" y="1962150"/>
              <a:ext cx="2590800" cy="3752850"/>
            </a:xfrm>
            <a:custGeom>
              <a:avLst/>
              <a:gdLst/>
              <a:ahLst/>
              <a:cxnLst/>
              <a:rect l="l" t="t" r="r" b="b"/>
              <a:pathLst>
                <a:path w="2590800" h="3752850">
                  <a:moveTo>
                    <a:pt x="133350" y="0"/>
                  </a:moveTo>
                  <a:lnTo>
                    <a:pt x="2457450" y="0"/>
                  </a:lnTo>
                  <a:cubicBezTo>
                    <a:pt x="2531097" y="0"/>
                    <a:pt x="2590800" y="59703"/>
                    <a:pt x="2590800" y="133350"/>
                  </a:cubicBezTo>
                  <a:lnTo>
                    <a:pt x="2590800" y="3619500"/>
                  </a:lnTo>
                  <a:cubicBezTo>
                    <a:pt x="2590800" y="3693147"/>
                    <a:pt x="2531097" y="3752850"/>
                    <a:pt x="2457450" y="3752850"/>
                  </a:cubicBezTo>
                  <a:lnTo>
                    <a:pt x="133350" y="3752850"/>
                  </a:lnTo>
                  <a:cubicBezTo>
                    <a:pt x="59703" y="3752850"/>
                    <a:pt x="0" y="3693147"/>
                    <a:pt x="0" y="3619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49156" y="211074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四大能力模块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9258300" y="2571750"/>
              <a:ext cx="2133600" cy="552450"/>
            </a:xfrm>
            <a:custGeom>
              <a:avLst/>
              <a:gdLst/>
              <a:ahLst/>
              <a:cxnLst/>
              <a:rect l="l" t="t" r="r" b="b"/>
              <a:pathLst>
                <a:path w="2133600" h="552450">
                  <a:moveTo>
                    <a:pt x="95250" y="0"/>
                  </a:moveTo>
                  <a:lnTo>
                    <a:pt x="2038350" y="0"/>
                  </a:lnTo>
                  <a:cubicBezTo>
                    <a:pt x="2090955" y="0"/>
                    <a:pt x="2133600" y="42645"/>
                    <a:pt x="2133600" y="95250"/>
                  </a:cubicBezTo>
                  <a:lnTo>
                    <a:pt x="2133600" y="457200"/>
                  </a:lnTo>
                  <a:cubicBezTo>
                    <a:pt x="2133600" y="509805"/>
                    <a:pt x="2090955" y="552450"/>
                    <a:pt x="20383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258300" y="3238500"/>
              <a:ext cx="2133600" cy="552450"/>
            </a:xfrm>
            <a:custGeom>
              <a:avLst/>
              <a:gdLst/>
              <a:ahLst/>
              <a:cxnLst/>
              <a:rect l="l" t="t" r="r" b="b"/>
              <a:pathLst>
                <a:path w="2133600" h="552450">
                  <a:moveTo>
                    <a:pt x="95250" y="0"/>
                  </a:moveTo>
                  <a:lnTo>
                    <a:pt x="2038350" y="0"/>
                  </a:lnTo>
                  <a:cubicBezTo>
                    <a:pt x="2090955" y="0"/>
                    <a:pt x="2133600" y="42645"/>
                    <a:pt x="2133600" y="95250"/>
                  </a:cubicBezTo>
                  <a:lnTo>
                    <a:pt x="2133600" y="457200"/>
                  </a:lnTo>
                  <a:cubicBezTo>
                    <a:pt x="2133600" y="509805"/>
                    <a:pt x="2090955" y="552450"/>
                    <a:pt x="20383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258300" y="3905250"/>
              <a:ext cx="2133600" cy="552450"/>
            </a:xfrm>
            <a:custGeom>
              <a:avLst/>
              <a:gdLst/>
              <a:ahLst/>
              <a:cxnLst/>
              <a:rect l="l" t="t" r="r" b="b"/>
              <a:pathLst>
                <a:path w="2133600" h="552450">
                  <a:moveTo>
                    <a:pt x="95250" y="0"/>
                  </a:moveTo>
                  <a:lnTo>
                    <a:pt x="2038350" y="0"/>
                  </a:lnTo>
                  <a:cubicBezTo>
                    <a:pt x="2090955" y="0"/>
                    <a:pt x="2133600" y="42645"/>
                    <a:pt x="2133600" y="95250"/>
                  </a:cubicBezTo>
                  <a:lnTo>
                    <a:pt x="2133600" y="457200"/>
                  </a:lnTo>
                  <a:cubicBezTo>
                    <a:pt x="2133600" y="509805"/>
                    <a:pt x="2090955" y="552450"/>
                    <a:pt x="20383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58300" y="4572000"/>
              <a:ext cx="2133600" cy="552450"/>
            </a:xfrm>
            <a:custGeom>
              <a:avLst/>
              <a:gdLst/>
              <a:ahLst/>
              <a:cxnLst/>
              <a:rect l="l" t="t" r="r" b="b"/>
              <a:pathLst>
                <a:path w="2133600" h="552450">
                  <a:moveTo>
                    <a:pt x="95250" y="0"/>
                  </a:moveTo>
                  <a:lnTo>
                    <a:pt x="2038350" y="0"/>
                  </a:lnTo>
                  <a:cubicBezTo>
                    <a:pt x="2090955" y="0"/>
                    <a:pt x="2133600" y="42645"/>
                    <a:pt x="2133600" y="95250"/>
                  </a:cubicBezTo>
                  <a:lnTo>
                    <a:pt x="2133600" y="457200"/>
                  </a:lnTo>
                  <a:cubicBezTo>
                    <a:pt x="2133600" y="509805"/>
                    <a:pt x="2090955" y="552450"/>
                    <a:pt x="20383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9391650" y="27527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391650" y="3419475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391650" y="4086225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391650" y="4752975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707118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07118" y="3393758"/>
              <a:ext cx="7930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07118" y="40605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07118" y="47272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0325100" y="31242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10325100" y="37909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10325100" y="44577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71500" y="5924550"/>
              <a:ext cx="11049000" cy="438150"/>
            </a:xfrm>
            <a:custGeom>
              <a:avLst/>
              <a:gdLst/>
              <a:ahLst/>
              <a:cxnLst/>
              <a:rect l="l" t="t" r="r" b="b"/>
              <a:pathLst>
                <a:path w="11049000" h="4381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42900"/>
                  </a:lnTo>
                  <a:cubicBezTo>
                    <a:pt x="11049000" y="395505"/>
                    <a:pt x="11006355" y="438150"/>
                    <a:pt x="109537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3242" y="605504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本页先排清决策路径，再进入价值、能力、案例与落地节奏。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34400" y="2266950"/>
            <a:ext cx="2142744" cy="3444811"/>
            <a:chOff x="8534400" y="2266950"/>
            <a:chExt cx="2142744" cy="3444811"/>
          </a:xfrm>
        </p:grpSpPr>
        <p:sp>
          <p:nvSpPr>
            <p:cNvPr id="61" name="TextBox 61"/>
            <p:cNvSpPr txBox="1"/>
            <p:nvPr/>
          </p:nvSpPr>
          <p:spPr>
            <a:xfrm>
              <a:off x="9252966" y="53159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议程从问题识别切入，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966" y="5506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以能力闭环作为主线。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8534400" y="22669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8534400" y="54292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8763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334500" y="0"/>
              <a:ext cx="2857500" cy="2476500"/>
            </a:xfrm>
            <a:custGeom>
              <a:avLst/>
              <a:gdLst/>
              <a:ahLst/>
              <a:cxnLst/>
              <a:rect l="l" t="t" r="r" b="b"/>
              <a:pathLst>
                <a:path w="2857500" h="2476500">
                  <a:moveTo>
                    <a:pt x="0" y="0"/>
                  </a:moveTo>
                  <a:lnTo>
                    <a:pt x="2857500" y="0"/>
                  </a:lnTo>
                  <a:lnTo>
                    <a:pt x="2857500" y="2476500"/>
                  </a:lnTo>
                  <a:cubicBezTo>
                    <a:pt x="2095500" y="2286000"/>
                    <a:pt x="1333500" y="2000250"/>
                    <a:pt x="666750" y="1524000"/>
                  </a:cubicBezTo>
                  <a:cubicBezTo>
                    <a:pt x="361950" y="1295400"/>
                    <a:pt x="152400" y="87630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4953000"/>
              <a:ext cx="5486400" cy="1905000"/>
            </a:xfrm>
            <a:custGeom>
              <a:avLst/>
              <a:gdLst/>
              <a:ahLst/>
              <a:cxnLst/>
              <a:rect l="l" t="t" r="r" b="b"/>
              <a:pathLst>
                <a:path w="5486400" h="1905000">
                  <a:moveTo>
                    <a:pt x="0" y="1905000"/>
                  </a:moveTo>
                  <a:lnTo>
                    <a:pt x="0" y="0"/>
                  </a:lnTo>
                  <a:cubicBezTo>
                    <a:pt x="1143000" y="266700"/>
                    <a:pt x="2266950" y="590550"/>
                    <a:pt x="3409950" y="990600"/>
                  </a:cubicBezTo>
                  <a:cubicBezTo>
                    <a:pt x="4095750" y="1238250"/>
                    <a:pt x="4781550" y="1543050"/>
                    <a:pt x="5486400" y="1905000"/>
                  </a:cubicBezTo>
                  <a:close/>
                </a:path>
              </a:pathLst>
            </a:custGeom>
            <a:solidFill>
              <a:schemeClr val="lt2">
                <a:alpha val="70000"/>
              </a:scheme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401002"/>
            <a:ext cx="11067479" cy="6120289"/>
            <a:chOff x="557784" y="401002"/>
            <a:chExt cx="11067479" cy="6120289"/>
          </a:xfrm>
        </p:grpSpPr>
        <p:sp>
          <p:nvSpPr>
            <p:cNvPr id="10" name="TextBox 10"/>
            <p:cNvSpPr txBox="1"/>
            <p:nvPr/>
          </p:nvSpPr>
          <p:spPr>
            <a:xfrm>
              <a:off x="566166" y="401002"/>
              <a:ext cx="634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50863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核心能力，数字说话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359366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93570" y="635936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1428750"/>
            <a:ext cx="11049000" cy="4095750"/>
            <a:chOff x="571500" y="1428750"/>
            <a:chExt cx="11049000" cy="4095750"/>
          </a:xfrm>
        </p:grpSpPr>
        <p:sp>
          <p:nvSpPr>
            <p:cNvPr id="15" name="Freeform 15"/>
            <p:cNvSpPr/>
            <p:nvPr/>
          </p:nvSpPr>
          <p:spPr>
            <a:xfrm>
              <a:off x="571500" y="1428750"/>
              <a:ext cx="7239000" cy="4095750"/>
            </a:xfrm>
            <a:custGeom>
              <a:avLst/>
              <a:gdLst/>
              <a:ahLst/>
              <a:cxnLst/>
              <a:rect l="l" t="t" r="r" b="b"/>
              <a:pathLst>
                <a:path w="7239000" h="4095750">
                  <a:moveTo>
                    <a:pt x="133350" y="0"/>
                  </a:moveTo>
                  <a:lnTo>
                    <a:pt x="7105650" y="0"/>
                  </a:lnTo>
                  <a:cubicBezTo>
                    <a:pt x="7179297" y="0"/>
                    <a:pt x="7239000" y="59703"/>
                    <a:pt x="7239000" y="133350"/>
                  </a:cubicBezTo>
                  <a:lnTo>
                    <a:pt x="7239000" y="3962400"/>
                  </a:lnTo>
                  <a:cubicBezTo>
                    <a:pt x="7239000" y="4036047"/>
                    <a:pt x="7179297" y="4095750"/>
                    <a:pt x="7105650" y="4095750"/>
                  </a:cubicBezTo>
                  <a:lnTo>
                    <a:pt x="133350" y="4095750"/>
                  </a:lnTo>
                  <a:cubicBezTo>
                    <a:pt x="59703" y="4095750"/>
                    <a:pt x="0" y="4036047"/>
                    <a:pt x="0" y="3962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38200" y="1695450"/>
              <a:ext cx="1371600" cy="323850"/>
            </a:xfrm>
            <a:custGeom>
              <a:avLst/>
              <a:gdLst/>
              <a:ahLst/>
              <a:cxnLst/>
              <a:rect l="l" t="t" r="r" b="b"/>
              <a:pathLst>
                <a:path w="1371600" h="323850">
                  <a:moveTo>
                    <a:pt x="161925" y="0"/>
                  </a:moveTo>
                  <a:lnTo>
                    <a:pt x="1209675" y="0"/>
                  </a:lnTo>
                  <a:cubicBezTo>
                    <a:pt x="1299104" y="0"/>
                    <a:pt x="1371600" y="72496"/>
                    <a:pt x="1371600" y="161925"/>
                  </a:cubicBezTo>
                  <a:lnTo>
                    <a:pt x="1371600" y="161925"/>
                  </a:lnTo>
                  <a:cubicBezTo>
                    <a:pt x="1371600" y="251354"/>
                    <a:pt x="1299104" y="323850"/>
                    <a:pt x="12096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4992" y="179165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已验证的增长引擎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150" y="1754505"/>
              <a:ext cx="2699553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200+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9056" y="2815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营销渠道连接器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3276600"/>
              <a:ext cx="6705600" cy="9525"/>
            </a:xfrm>
            <a:custGeom>
              <a:avLst/>
              <a:gdLst/>
              <a:ahLst/>
              <a:cxnLst/>
              <a:rect l="l" t="t" r="r" b="b"/>
              <a:pathLst>
                <a:path w="6705600" h="9525">
                  <a:moveTo>
                    <a:pt x="0" y="0"/>
                  </a:moveTo>
                  <a:lnTo>
                    <a:pt x="670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532" y="3564255"/>
              <a:ext cx="68743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锐策AI营销工作台已在多行业落地，关键指标印证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532" y="392620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智能营销的实质提升。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38200" y="4476750"/>
              <a:ext cx="2038350" cy="685800"/>
            </a:xfrm>
            <a:custGeom>
              <a:avLst/>
              <a:gdLst/>
              <a:ahLst/>
              <a:cxnLst/>
              <a:rect l="l" t="t" r="r" b="b"/>
              <a:pathLst>
                <a:path w="2038350" h="685800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571500"/>
                  </a:lnTo>
                  <a:cubicBezTo>
                    <a:pt x="2038350" y="634626"/>
                    <a:pt x="1987176" y="685800"/>
                    <a:pt x="19240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7458" y="448437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90066" y="46301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零运维实时同步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3554" y="4871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数据接入标准化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067050" y="4476750"/>
              <a:ext cx="2038350" cy="685800"/>
            </a:xfrm>
            <a:custGeom>
              <a:avLst/>
              <a:gdLst/>
              <a:ahLst/>
              <a:cxnLst/>
              <a:rect l="l" t="t" r="r" b="b"/>
              <a:pathLst>
                <a:path w="2038350" h="685800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571500"/>
                  </a:lnTo>
                  <a:cubicBezTo>
                    <a:pt x="2038350" y="634626"/>
                    <a:pt x="1987176" y="685800"/>
                    <a:pt x="19240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26308" y="4484370"/>
              <a:ext cx="4903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33216" y="46301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毫秒级意图识别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32404" y="4871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策略推荐实时响应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295900" y="4476750"/>
              <a:ext cx="2038350" cy="685800"/>
            </a:xfrm>
            <a:custGeom>
              <a:avLst/>
              <a:gdLst/>
              <a:ahLst/>
              <a:cxnLst/>
              <a:rect l="l" t="t" r="r" b="b"/>
              <a:pathLst>
                <a:path w="2038350" h="685800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571500"/>
                  </a:lnTo>
                  <a:cubicBezTo>
                    <a:pt x="2038350" y="634626"/>
                    <a:pt x="1987176" y="685800"/>
                    <a:pt x="19240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55158" y="4484370"/>
              <a:ext cx="6875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80%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4466" y="4630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人工操作下降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61254" y="4871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活动编排自动完成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191500" y="1428750"/>
              <a:ext cx="3429000" cy="4095750"/>
            </a:xfrm>
            <a:custGeom>
              <a:avLst/>
              <a:gdLst/>
              <a:ahLst/>
              <a:cxnLst/>
              <a:rect l="l" t="t" r="r" b="b"/>
              <a:pathLst>
                <a:path w="3429000" h="4095750">
                  <a:moveTo>
                    <a:pt x="133350" y="0"/>
                  </a:moveTo>
                  <a:lnTo>
                    <a:pt x="3295650" y="0"/>
                  </a:lnTo>
                  <a:cubicBezTo>
                    <a:pt x="3369297" y="0"/>
                    <a:pt x="3429000" y="59703"/>
                    <a:pt x="3429000" y="133350"/>
                  </a:cubicBezTo>
                  <a:lnTo>
                    <a:pt x="3429000" y="3962400"/>
                  </a:lnTo>
                  <a:cubicBezTo>
                    <a:pt x="3429000" y="4036047"/>
                    <a:pt x="3369297" y="4095750"/>
                    <a:pt x="3295650" y="4095750"/>
                  </a:cubicBezTo>
                  <a:lnTo>
                    <a:pt x="133350" y="4095750"/>
                  </a:lnTo>
                  <a:cubicBezTo>
                    <a:pt x="59703" y="4095750"/>
                    <a:pt x="0" y="4036047"/>
                    <a:pt x="0" y="3962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87156" y="161544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三项直接证据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0966" y="19440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从整合、分析到执行，形成闭环能力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496300" y="2362200"/>
              <a:ext cx="2819400" cy="819150"/>
            </a:xfrm>
            <a:custGeom>
              <a:avLst/>
              <a:gdLst/>
              <a:ahLst/>
              <a:cxnLst/>
              <a:rect l="l" t="t" r="r" b="b"/>
              <a:pathLst>
                <a:path w="2819400" h="819150">
                  <a:moveTo>
                    <a:pt x="114300" y="0"/>
                  </a:moveTo>
                  <a:lnTo>
                    <a:pt x="2705100" y="0"/>
                  </a:lnTo>
                  <a:cubicBezTo>
                    <a:pt x="2768226" y="0"/>
                    <a:pt x="2819400" y="51174"/>
                    <a:pt x="2819400" y="114300"/>
                  </a:cubicBezTo>
                  <a:lnTo>
                    <a:pt x="2819400" y="704850"/>
                  </a:lnTo>
                  <a:cubicBezTo>
                    <a:pt x="2819400" y="767976"/>
                    <a:pt x="2768226" y="819150"/>
                    <a:pt x="2705100" y="819150"/>
                  </a:cubicBezTo>
                  <a:lnTo>
                    <a:pt x="114300" y="819150"/>
                  </a:lnTo>
                  <a:cubicBezTo>
                    <a:pt x="51174" y="819150"/>
                    <a:pt x="0" y="767976"/>
                    <a:pt x="0" y="704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58225" y="2533650"/>
              <a:ext cx="209550" cy="20955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705850" y="2590800"/>
              <a:ext cx="114300" cy="85725"/>
            </a:xfrm>
            <a:custGeom>
              <a:avLst/>
              <a:gdLst/>
              <a:ahLst/>
              <a:cxnLst/>
              <a:rect l="l" t="t" r="r" b="b"/>
              <a:pathLst>
                <a:path w="114300" h="85725">
                  <a:moveTo>
                    <a:pt x="0" y="47625"/>
                  </a:moveTo>
                  <a:lnTo>
                    <a:pt x="38100" y="85725"/>
                  </a:ln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03792" y="25117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全域数据整合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4554" y="2775585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预置200+营销渠道连接器，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04554" y="29851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实现零运维实时同步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8496300" y="3390900"/>
              <a:ext cx="2819400" cy="819150"/>
            </a:xfrm>
            <a:custGeom>
              <a:avLst/>
              <a:gdLst/>
              <a:ahLst/>
              <a:cxnLst/>
              <a:rect l="l" t="t" r="r" b="b"/>
              <a:pathLst>
                <a:path w="2819400" h="819150">
                  <a:moveTo>
                    <a:pt x="114300" y="0"/>
                  </a:moveTo>
                  <a:lnTo>
                    <a:pt x="2705100" y="0"/>
                  </a:lnTo>
                  <a:cubicBezTo>
                    <a:pt x="2768226" y="0"/>
                    <a:pt x="2819400" y="51174"/>
                    <a:pt x="2819400" y="114300"/>
                  </a:cubicBezTo>
                  <a:lnTo>
                    <a:pt x="2819400" y="704850"/>
                  </a:lnTo>
                  <a:cubicBezTo>
                    <a:pt x="2819400" y="767976"/>
                    <a:pt x="2768226" y="819150"/>
                    <a:pt x="2705100" y="819150"/>
                  </a:cubicBezTo>
                  <a:lnTo>
                    <a:pt x="114300" y="819150"/>
                  </a:lnTo>
                  <a:cubicBezTo>
                    <a:pt x="51174" y="819150"/>
                    <a:pt x="0" y="767976"/>
                    <a:pt x="0" y="704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658225" y="3562350"/>
              <a:ext cx="209550" cy="20955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705850" y="3619500"/>
              <a:ext cx="114300" cy="85725"/>
            </a:xfrm>
            <a:custGeom>
              <a:avLst/>
              <a:gdLst/>
              <a:ahLst/>
              <a:cxnLst/>
              <a:rect l="l" t="t" r="r" b="b"/>
              <a:pathLst>
                <a:path w="114300" h="85725">
                  <a:moveTo>
                    <a:pt x="0" y="47625"/>
                  </a:moveTo>
                  <a:lnTo>
                    <a:pt x="38100" y="85725"/>
                  </a:ln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03792" y="3540442"/>
              <a:ext cx="991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实时AI分析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04554" y="380428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毫秒级顾客意图识别与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04554" y="40138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动态策略推荐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8496300" y="4419600"/>
              <a:ext cx="2819400" cy="819150"/>
            </a:xfrm>
            <a:custGeom>
              <a:avLst/>
              <a:gdLst/>
              <a:ahLst/>
              <a:cxnLst/>
              <a:rect l="l" t="t" r="r" b="b"/>
              <a:pathLst>
                <a:path w="2819400" h="819150">
                  <a:moveTo>
                    <a:pt x="114300" y="0"/>
                  </a:moveTo>
                  <a:lnTo>
                    <a:pt x="2705100" y="0"/>
                  </a:lnTo>
                  <a:cubicBezTo>
                    <a:pt x="2768226" y="0"/>
                    <a:pt x="2819400" y="51174"/>
                    <a:pt x="2819400" y="114300"/>
                  </a:cubicBezTo>
                  <a:lnTo>
                    <a:pt x="2819400" y="704850"/>
                  </a:lnTo>
                  <a:cubicBezTo>
                    <a:pt x="2819400" y="767976"/>
                    <a:pt x="2768226" y="819150"/>
                    <a:pt x="2705100" y="819150"/>
                  </a:cubicBezTo>
                  <a:lnTo>
                    <a:pt x="114300" y="819150"/>
                  </a:lnTo>
                  <a:cubicBezTo>
                    <a:pt x="51174" y="819150"/>
                    <a:pt x="0" y="767976"/>
                    <a:pt x="0" y="704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658225" y="4591050"/>
              <a:ext cx="209550" cy="20955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705850" y="4648200"/>
              <a:ext cx="114300" cy="85725"/>
            </a:xfrm>
            <a:custGeom>
              <a:avLst/>
              <a:gdLst/>
              <a:ahLst/>
              <a:cxnLst/>
              <a:rect l="l" t="t" r="r" b="b"/>
              <a:pathLst>
                <a:path w="114300" h="85725">
                  <a:moveTo>
                    <a:pt x="0" y="47625"/>
                  </a:moveTo>
                  <a:lnTo>
                    <a:pt x="38100" y="85725"/>
                  </a:ln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003792" y="45691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4832985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降低80%人工运营操作，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4554" y="50425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营销活动一键编排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505700" y="2152174"/>
            <a:ext cx="1855089" cy="2743390"/>
            <a:chOff x="7505700" y="2152174"/>
            <a:chExt cx="1855089" cy="2743390"/>
          </a:xfrm>
        </p:grpSpPr>
        <p:sp>
          <p:nvSpPr>
            <p:cNvPr id="57" name="Ellipse 57"/>
            <p:cNvSpPr/>
            <p:nvPr/>
          </p:nvSpPr>
          <p:spPr>
            <a:xfrm>
              <a:off x="7505700" y="21717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7543800" y="220980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00847" y="21521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主判断区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505700" y="4724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7543800" y="476250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00847" y="470487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三项能力支撑证据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361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667702"/>
            <a:ext cx="11062716" cy="6120289"/>
            <a:chOff x="557784" y="667702"/>
            <a:chExt cx="11062716" cy="6120289"/>
          </a:xfrm>
        </p:grpSpPr>
        <p:sp>
          <p:nvSpPr>
            <p:cNvPr id="7" name="TextBox 7"/>
            <p:cNvSpPr txBox="1"/>
            <p:nvPr/>
          </p:nvSpPr>
          <p:spPr>
            <a:xfrm>
              <a:off x="566166" y="667702"/>
              <a:ext cx="634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784" y="889635"/>
              <a:ext cx="84877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传统模式vsAI工作台：营销运营的根本差异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371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3880" y="1476375"/>
              <a:ext cx="6384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同一链路，两种能力水位。AI工作台重构速度、精度与规模的上限。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62606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8320" y="662606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1962150"/>
            <a:ext cx="11049000" cy="4416361"/>
            <a:chOff x="571500" y="1962150"/>
            <a:chExt cx="11049000" cy="4416361"/>
          </a:xfrm>
        </p:grpSpPr>
        <p:sp>
          <p:nvSpPr>
            <p:cNvPr id="14" name="Freeform 14"/>
            <p:cNvSpPr/>
            <p:nvPr/>
          </p:nvSpPr>
          <p:spPr>
            <a:xfrm>
              <a:off x="571500" y="1962150"/>
              <a:ext cx="5334000" cy="4133850"/>
            </a:xfrm>
            <a:custGeom>
              <a:avLst/>
              <a:gdLst/>
              <a:ahLst/>
              <a:cxnLst/>
              <a:rect l="l" t="t" r="r" b="b"/>
              <a:pathLst>
                <a:path w="5334000" h="41338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4000500"/>
                  </a:lnTo>
                  <a:cubicBezTo>
                    <a:pt x="5334000" y="4074147"/>
                    <a:pt x="5274297" y="4133850"/>
                    <a:pt x="5200650" y="4133850"/>
                  </a:cubicBezTo>
                  <a:lnTo>
                    <a:pt x="133350" y="4133850"/>
                  </a:lnTo>
                  <a:cubicBezTo>
                    <a:pt x="59703" y="4133850"/>
                    <a:pt x="0" y="4074147"/>
                    <a:pt x="0" y="4000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1"/>
            </a:gradFill>
            <a:ln w="14288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286500" y="1962150"/>
              <a:ext cx="5334000" cy="4133850"/>
            </a:xfrm>
            <a:custGeom>
              <a:avLst/>
              <a:gdLst/>
              <a:ahLst/>
              <a:cxnLst/>
              <a:rect l="l" t="t" r="r" b="b"/>
              <a:pathLst>
                <a:path w="5334000" h="41338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4000500"/>
                  </a:lnTo>
                  <a:cubicBezTo>
                    <a:pt x="5334000" y="4074147"/>
                    <a:pt x="5274297" y="4133850"/>
                    <a:pt x="5200650" y="4133850"/>
                  </a:cubicBezTo>
                  <a:lnTo>
                    <a:pt x="133350" y="4133850"/>
                  </a:lnTo>
                  <a:cubicBezTo>
                    <a:pt x="59703" y="4133850"/>
                    <a:pt x="0" y="4074147"/>
                    <a:pt x="0" y="4000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1"/>
                </a:gs>
              </a:gsLst>
              <a:lin ang="0" scaled="1"/>
            </a:gradFill>
            <a:ln w="14288">
              <a:solidFill>
                <a:schemeClr val="accent3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500" y="1962150"/>
              <a:ext cx="5334000" cy="514350"/>
            </a:xfrm>
            <a:custGeom>
              <a:avLst/>
              <a:gdLst/>
              <a:ahLst/>
              <a:cxnLst/>
              <a:rect l="l" t="t" r="r" b="b"/>
              <a:pathLst>
                <a:path w="5334000" h="5143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381000"/>
                  </a:lnTo>
                  <a:cubicBezTo>
                    <a:pt x="5334000" y="454647"/>
                    <a:pt x="5274297" y="514350"/>
                    <a:pt x="5200650" y="514350"/>
                  </a:cubicBezTo>
                  <a:lnTo>
                    <a:pt x="133350" y="514350"/>
                  </a:lnTo>
                  <a:cubicBezTo>
                    <a:pt x="59703" y="514350"/>
                    <a:pt x="0" y="454647"/>
                    <a:pt x="0" y="38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286500" y="1962150"/>
              <a:ext cx="5334000" cy="514350"/>
            </a:xfrm>
            <a:custGeom>
              <a:avLst/>
              <a:gdLst/>
              <a:ahLst/>
              <a:cxnLst/>
              <a:rect l="l" t="t" r="r" b="b"/>
              <a:pathLst>
                <a:path w="5334000" h="5143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381000"/>
                  </a:lnTo>
                  <a:cubicBezTo>
                    <a:pt x="5334000" y="454647"/>
                    <a:pt x="5274297" y="514350"/>
                    <a:pt x="5200650" y="514350"/>
                  </a:cubicBezTo>
                  <a:lnTo>
                    <a:pt x="133350" y="514350"/>
                  </a:lnTo>
                  <a:cubicBezTo>
                    <a:pt x="59703" y="514350"/>
                    <a:pt x="0" y="454647"/>
                    <a:pt x="0" y="38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54885" y="2085022"/>
              <a:ext cx="17672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传统营销运营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09185" y="2085022"/>
              <a:ext cx="20886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AI营销工作台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0" y="207645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886450" y="3819525"/>
              <a:ext cx="419100" cy="419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10275" y="3971925"/>
              <a:ext cx="171450" cy="114300"/>
            </a:xfrm>
            <a:custGeom>
              <a:avLst/>
              <a:gdLst/>
              <a:ahLst/>
              <a:cxnLst/>
              <a:rect l="l" t="t" r="r" b="b"/>
              <a:pathLst>
                <a:path w="171450" h="114300">
                  <a:moveTo>
                    <a:pt x="0" y="57150"/>
                  </a:moveTo>
                  <a:lnTo>
                    <a:pt x="171450" y="57150"/>
                  </a:lnTo>
                  <a:moveTo>
                    <a:pt x="114300" y="0"/>
                  </a:moveTo>
                  <a:lnTo>
                    <a:pt x="171450" y="57150"/>
                  </a:lnTo>
                  <a:lnTo>
                    <a:pt x="114300" y="1143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23" name="Freeform 23"/>
            <p:cNvSpPr/>
            <p:nvPr/>
          </p:nvSpPr>
          <p:spPr>
            <a:xfrm>
              <a:off x="876300" y="2705100"/>
              <a:ext cx="4724400" cy="1390650"/>
            </a:xfrm>
            <a:custGeom>
              <a:avLst/>
              <a:gdLst/>
              <a:ahLst/>
              <a:cxnLst/>
              <a:rect l="l" t="t" r="r" b="b"/>
              <a:pathLst>
                <a:path w="4724400" h="1390650">
                  <a:moveTo>
                    <a:pt x="114300" y="0"/>
                  </a:moveTo>
                  <a:lnTo>
                    <a:pt x="4610100" y="0"/>
                  </a:lnTo>
                  <a:cubicBezTo>
                    <a:pt x="4673226" y="0"/>
                    <a:pt x="4724400" y="51174"/>
                    <a:pt x="4724400" y="114300"/>
                  </a:cubicBezTo>
                  <a:lnTo>
                    <a:pt x="4724400" y="1276350"/>
                  </a:lnTo>
                  <a:cubicBezTo>
                    <a:pt x="4724400" y="1339476"/>
                    <a:pt x="4673226" y="1390650"/>
                    <a:pt x="4610100" y="1390650"/>
                  </a:cubicBezTo>
                  <a:lnTo>
                    <a:pt x="114300" y="1390650"/>
                  </a:lnTo>
                  <a:cubicBezTo>
                    <a:pt x="51174" y="1390650"/>
                    <a:pt x="0" y="1339476"/>
                    <a:pt x="0" y="1276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591300" y="2705100"/>
              <a:ext cx="4724400" cy="1390650"/>
            </a:xfrm>
            <a:custGeom>
              <a:avLst/>
              <a:gdLst/>
              <a:ahLst/>
              <a:cxnLst/>
              <a:rect l="l" t="t" r="r" b="b"/>
              <a:pathLst>
                <a:path w="4724400" h="1390650">
                  <a:moveTo>
                    <a:pt x="114300" y="0"/>
                  </a:moveTo>
                  <a:lnTo>
                    <a:pt x="4610100" y="0"/>
                  </a:lnTo>
                  <a:cubicBezTo>
                    <a:pt x="4673226" y="0"/>
                    <a:pt x="4724400" y="51174"/>
                    <a:pt x="4724400" y="114300"/>
                  </a:cubicBezTo>
                  <a:lnTo>
                    <a:pt x="4724400" y="1276350"/>
                  </a:lnTo>
                  <a:cubicBezTo>
                    <a:pt x="4724400" y="1339476"/>
                    <a:pt x="4673226" y="1390650"/>
                    <a:pt x="4610100" y="1390650"/>
                  </a:cubicBezTo>
                  <a:lnTo>
                    <a:pt x="114300" y="1390650"/>
                  </a:lnTo>
                  <a:cubicBezTo>
                    <a:pt x="51174" y="1390650"/>
                    <a:pt x="0" y="1339476"/>
                    <a:pt x="0" y="1276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rgbClr val="BEE3F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76300" y="4305300"/>
              <a:ext cx="4724400" cy="1390650"/>
            </a:xfrm>
            <a:custGeom>
              <a:avLst/>
              <a:gdLst/>
              <a:ahLst/>
              <a:cxnLst/>
              <a:rect l="l" t="t" r="r" b="b"/>
              <a:pathLst>
                <a:path w="4724400" h="1390650">
                  <a:moveTo>
                    <a:pt x="114300" y="0"/>
                  </a:moveTo>
                  <a:lnTo>
                    <a:pt x="4610100" y="0"/>
                  </a:lnTo>
                  <a:cubicBezTo>
                    <a:pt x="4673226" y="0"/>
                    <a:pt x="4724400" y="51174"/>
                    <a:pt x="4724400" y="114300"/>
                  </a:cubicBezTo>
                  <a:lnTo>
                    <a:pt x="4724400" y="1276350"/>
                  </a:lnTo>
                  <a:cubicBezTo>
                    <a:pt x="4724400" y="1339476"/>
                    <a:pt x="4673226" y="1390650"/>
                    <a:pt x="4610100" y="1390650"/>
                  </a:cubicBezTo>
                  <a:lnTo>
                    <a:pt x="114300" y="1390650"/>
                  </a:lnTo>
                  <a:cubicBezTo>
                    <a:pt x="51174" y="1390650"/>
                    <a:pt x="0" y="1339476"/>
                    <a:pt x="0" y="1276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591300" y="4305300"/>
              <a:ext cx="4724400" cy="1390650"/>
            </a:xfrm>
            <a:custGeom>
              <a:avLst/>
              <a:gdLst/>
              <a:ahLst/>
              <a:cxnLst/>
              <a:rect l="l" t="t" r="r" b="b"/>
              <a:pathLst>
                <a:path w="4724400" h="1390650">
                  <a:moveTo>
                    <a:pt x="114300" y="0"/>
                  </a:moveTo>
                  <a:lnTo>
                    <a:pt x="4610100" y="0"/>
                  </a:lnTo>
                  <a:cubicBezTo>
                    <a:pt x="4673226" y="0"/>
                    <a:pt x="4724400" y="51174"/>
                    <a:pt x="4724400" y="114300"/>
                  </a:cubicBezTo>
                  <a:lnTo>
                    <a:pt x="4724400" y="1276350"/>
                  </a:lnTo>
                  <a:cubicBezTo>
                    <a:pt x="4724400" y="1339476"/>
                    <a:pt x="4673226" y="1390650"/>
                    <a:pt x="4610100" y="1390650"/>
                  </a:cubicBezTo>
                  <a:lnTo>
                    <a:pt x="114300" y="1390650"/>
                  </a:lnTo>
                  <a:cubicBezTo>
                    <a:pt x="51174" y="1390650"/>
                    <a:pt x="0" y="1339476"/>
                    <a:pt x="0" y="1276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rgbClr val="BEE3F8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76300" y="4200525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66800" y="2914650"/>
              <a:ext cx="914400" cy="266700"/>
            </a:xfrm>
            <a:custGeom>
              <a:avLst/>
              <a:gdLst/>
              <a:ahLst/>
              <a:cxnLst/>
              <a:rect l="l" t="t" r="r" b="b"/>
              <a:pathLst>
                <a:path w="914400" h="266700">
                  <a:moveTo>
                    <a:pt x="133350" y="0"/>
                  </a:moveTo>
                  <a:lnTo>
                    <a:pt x="781050" y="0"/>
                  </a:lnTo>
                  <a:cubicBezTo>
                    <a:pt x="854697" y="0"/>
                    <a:pt x="914400" y="59703"/>
                    <a:pt x="914400" y="133350"/>
                  </a:cubicBezTo>
                  <a:lnTo>
                    <a:pt x="914400" y="133350"/>
                  </a:lnTo>
                  <a:cubicBezTo>
                    <a:pt x="914400" y="206997"/>
                    <a:pt x="854697" y="266700"/>
                    <a:pt x="7810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81800" y="2914650"/>
              <a:ext cx="914400" cy="266700"/>
            </a:xfrm>
            <a:custGeom>
              <a:avLst/>
              <a:gdLst/>
              <a:ahLst/>
              <a:cxnLst/>
              <a:rect l="l" t="t" r="r" b="b"/>
              <a:pathLst>
                <a:path w="914400" h="266700">
                  <a:moveTo>
                    <a:pt x="133350" y="0"/>
                  </a:moveTo>
                  <a:lnTo>
                    <a:pt x="781050" y="0"/>
                  </a:lnTo>
                  <a:cubicBezTo>
                    <a:pt x="854697" y="0"/>
                    <a:pt x="914400" y="59703"/>
                    <a:pt x="914400" y="133350"/>
                  </a:cubicBezTo>
                  <a:lnTo>
                    <a:pt x="914400" y="133350"/>
                  </a:lnTo>
                  <a:cubicBezTo>
                    <a:pt x="914400" y="206997"/>
                    <a:pt x="854697" y="266700"/>
                    <a:pt x="7810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1829" y="29822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36829" y="29822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066800" y="4514850"/>
              <a:ext cx="914400" cy="266700"/>
            </a:xfrm>
            <a:custGeom>
              <a:avLst/>
              <a:gdLst/>
              <a:ahLst/>
              <a:cxnLst/>
              <a:rect l="l" t="t" r="r" b="b"/>
              <a:pathLst>
                <a:path w="914400" h="266700">
                  <a:moveTo>
                    <a:pt x="133350" y="0"/>
                  </a:moveTo>
                  <a:lnTo>
                    <a:pt x="781050" y="0"/>
                  </a:lnTo>
                  <a:cubicBezTo>
                    <a:pt x="854697" y="0"/>
                    <a:pt x="914400" y="59703"/>
                    <a:pt x="914400" y="133350"/>
                  </a:cubicBezTo>
                  <a:lnTo>
                    <a:pt x="914400" y="133350"/>
                  </a:lnTo>
                  <a:cubicBezTo>
                    <a:pt x="914400" y="206997"/>
                    <a:pt x="854697" y="266700"/>
                    <a:pt x="7810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781800" y="4514850"/>
              <a:ext cx="914400" cy="266700"/>
            </a:xfrm>
            <a:custGeom>
              <a:avLst/>
              <a:gdLst/>
              <a:ahLst/>
              <a:cxnLst/>
              <a:rect l="l" t="t" r="r" b="b"/>
              <a:pathLst>
                <a:path w="914400" h="266700">
                  <a:moveTo>
                    <a:pt x="133350" y="0"/>
                  </a:moveTo>
                  <a:lnTo>
                    <a:pt x="781050" y="0"/>
                  </a:lnTo>
                  <a:cubicBezTo>
                    <a:pt x="854697" y="0"/>
                    <a:pt x="914400" y="59703"/>
                    <a:pt x="914400" y="133350"/>
                  </a:cubicBezTo>
                  <a:lnTo>
                    <a:pt x="914400" y="133350"/>
                  </a:lnTo>
                  <a:cubicBezTo>
                    <a:pt x="914400" y="206997"/>
                    <a:pt x="854697" y="266700"/>
                    <a:pt x="7810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21829" y="45824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分析决策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36829" y="45824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分析决策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7656" y="3272790"/>
              <a:ext cx="1900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手动导出与对账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7656" y="487299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报表滞后，依赖人工经验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72656" y="3272790"/>
              <a:ext cx="24915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200+连接器自动融合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72656" y="487299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实时智能分析与预测推荐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1123950" y="371475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06830" y="3648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多平台数据孤立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1123950" y="398145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06830" y="3914775"/>
              <a:ext cx="2330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IT支撑成本高，时效滞后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1123950" y="531495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06830" y="524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周级复盘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23950" y="558165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06830" y="55149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错过最佳干预窗口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838950" y="37147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21830" y="3648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实时同步，零运维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38950" y="3981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21830" y="3914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统一客户全息画像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838950" y="5314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21830" y="5248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毫秒级意图捕捉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838950" y="5581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21830" y="5514975"/>
              <a:ext cx="1903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AI自动生成最优策略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76300" y="5924550"/>
              <a:ext cx="10439400" cy="171450"/>
            </a:xfrm>
            <a:custGeom>
              <a:avLst/>
              <a:gdLst/>
              <a:ahLst/>
              <a:cxnLst/>
              <a:rect l="l" t="t" r="r" b="b"/>
              <a:pathLst>
                <a:path w="10439400" h="171450">
                  <a:moveTo>
                    <a:pt x="85725" y="0"/>
                  </a:moveTo>
                  <a:lnTo>
                    <a:pt x="10353675" y="0"/>
                  </a:lnTo>
                  <a:cubicBezTo>
                    <a:pt x="10401020" y="0"/>
                    <a:pt x="10439400" y="38380"/>
                    <a:pt x="10439400" y="85725"/>
                  </a:cubicBezTo>
                  <a:lnTo>
                    <a:pt x="10439400" y="85725"/>
                  </a:lnTo>
                  <a:cubicBezTo>
                    <a:pt x="10439400" y="133070"/>
                    <a:pt x="10401020" y="171450"/>
                    <a:pt x="10353675" y="171450"/>
                  </a:cubicBezTo>
                  <a:lnTo>
                    <a:pt x="85725" y="171450"/>
                  </a:lnTo>
                  <a:cubicBezTo>
                    <a:pt x="38380" y="171450"/>
                    <a:pt x="0" y="133070"/>
                    <a:pt x="0" y="85725"/>
                  </a:cubicBezTo>
                  <a:lnTo>
                    <a:pt x="0" y="85725"/>
                  </a:lnTo>
                  <a:cubicBezTo>
                    <a:pt x="0" y="38380"/>
                    <a:pt x="38380" y="0"/>
                    <a:pt x="857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76300" y="5924550"/>
              <a:ext cx="8210550" cy="171450"/>
            </a:xfrm>
            <a:custGeom>
              <a:avLst/>
              <a:gdLst/>
              <a:ahLst/>
              <a:cxnLst/>
              <a:rect l="l" t="t" r="r" b="b"/>
              <a:pathLst>
                <a:path w="8210550" h="171450">
                  <a:moveTo>
                    <a:pt x="85725" y="0"/>
                  </a:moveTo>
                  <a:lnTo>
                    <a:pt x="8124825" y="0"/>
                  </a:lnTo>
                  <a:cubicBezTo>
                    <a:pt x="8172170" y="0"/>
                    <a:pt x="8210550" y="38380"/>
                    <a:pt x="8210550" y="85725"/>
                  </a:cubicBezTo>
                  <a:lnTo>
                    <a:pt x="8210550" y="85725"/>
                  </a:lnTo>
                  <a:cubicBezTo>
                    <a:pt x="8210550" y="133070"/>
                    <a:pt x="8172170" y="171450"/>
                    <a:pt x="8124825" y="171450"/>
                  </a:cubicBezTo>
                  <a:lnTo>
                    <a:pt x="85725" y="171450"/>
                  </a:lnTo>
                  <a:cubicBezTo>
                    <a:pt x="38380" y="171450"/>
                    <a:pt x="0" y="133070"/>
                    <a:pt x="0" y="85725"/>
                  </a:cubicBezTo>
                  <a:lnTo>
                    <a:pt x="0" y="85725"/>
                  </a:lnTo>
                  <a:cubicBezTo>
                    <a:pt x="0" y="38380"/>
                    <a:pt x="38380" y="0"/>
                    <a:pt x="857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001125" y="5924550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0966" y="6173152"/>
              <a:ext cx="3996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能力跃迁：从“人工拼接与事后复盘”转向“自动融合与实时决策”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238500" y="1562100"/>
            <a:ext cx="8382000" cy="4343400"/>
            <a:chOff x="3238500" y="1562100"/>
            <a:chExt cx="8382000" cy="4343400"/>
          </a:xfrm>
        </p:grpSpPr>
        <p:sp>
          <p:nvSpPr>
            <p:cNvPr id="61" name="Freeform 61"/>
            <p:cNvSpPr/>
            <p:nvPr/>
          </p:nvSpPr>
          <p:spPr>
            <a:xfrm>
              <a:off x="10363200" y="1562100"/>
              <a:ext cx="1257300" cy="285750"/>
            </a:xfrm>
            <a:custGeom>
              <a:avLst/>
              <a:gdLst/>
              <a:ahLst/>
              <a:cxnLst/>
              <a:rect l="l" t="t" r="r" b="b"/>
              <a:pathLst>
                <a:path w="1257300" h="285750">
                  <a:moveTo>
                    <a:pt x="142875" y="0"/>
                  </a:moveTo>
                  <a:lnTo>
                    <a:pt x="1114425" y="0"/>
                  </a:lnTo>
                  <a:cubicBezTo>
                    <a:pt x="1193333" y="0"/>
                    <a:pt x="1257300" y="63967"/>
                    <a:pt x="1257300" y="142875"/>
                  </a:cubicBezTo>
                  <a:lnTo>
                    <a:pt x="1257300" y="142875"/>
                  </a:lnTo>
                  <a:cubicBezTo>
                    <a:pt x="1257300" y="221783"/>
                    <a:pt x="1193333" y="285750"/>
                    <a:pt x="11144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rgbClr val="BEE3F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615470" y="16392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双维度对照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3238500" y="2476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7620">
              <a:solidFill>
                <a:schemeClr val="accent4"/>
              </a:solidFill>
              <a:custDash>
                <a:ds d="500000" sp="625000"/>
              </a:custDash>
            </a:ln>
          </p:spPr>
        </p:sp>
        <p:sp>
          <p:nvSpPr>
            <p:cNvPr id="64" name="Line 64"/>
            <p:cNvSpPr/>
            <p:nvPr/>
          </p:nvSpPr>
          <p:spPr>
            <a:xfrm>
              <a:off x="8953500" y="2476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7620">
              <a:solidFill>
                <a:srgbClr val="BEE3F8"/>
              </a:solidFill>
              <a:custDash>
                <a:ds d="500000" sp="625000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63706" y="32651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整合能力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63706" y="48653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决策能力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7630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2000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43852"/>
            <a:ext cx="11067479" cy="6301264"/>
            <a:chOff x="557784" y="343852"/>
            <a:chExt cx="11067479" cy="63012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343852"/>
              <a:ext cx="874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603885"/>
              <a:ext cx="526968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客户实证：可量化的业务增长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152525"/>
              <a:ext cx="6170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跨行业领先企业已通过锐策AI工作台实现可验证的营销效能跃迁。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9357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2266950"/>
            <a:ext cx="11049000" cy="3733800"/>
            <a:chOff x="571500" y="2266950"/>
            <a:chExt cx="11049000" cy="3733800"/>
          </a:xfrm>
        </p:grpSpPr>
        <p:sp>
          <p:nvSpPr>
            <p:cNvPr id="15" name="Freeform 15"/>
            <p:cNvSpPr/>
            <p:nvPr/>
          </p:nvSpPr>
          <p:spPr>
            <a:xfrm>
              <a:off x="571500" y="2266950"/>
              <a:ext cx="8001000" cy="3733800"/>
            </a:xfrm>
            <a:custGeom>
              <a:avLst/>
              <a:gdLst/>
              <a:ahLst/>
              <a:cxnLst/>
              <a:rect l="l" t="t" r="r" b="b"/>
              <a:pathLst>
                <a:path w="8001000" h="3733800">
                  <a:moveTo>
                    <a:pt x="133350" y="0"/>
                  </a:moveTo>
                  <a:lnTo>
                    <a:pt x="7867650" y="0"/>
                  </a:lnTo>
                  <a:cubicBezTo>
                    <a:pt x="7941297" y="0"/>
                    <a:pt x="8001000" y="59703"/>
                    <a:pt x="8001000" y="133350"/>
                  </a:cubicBezTo>
                  <a:lnTo>
                    <a:pt x="8001000" y="3600450"/>
                  </a:lnTo>
                  <a:cubicBezTo>
                    <a:pt x="8001000" y="3674097"/>
                    <a:pt x="7941297" y="3733800"/>
                    <a:pt x="7867650" y="3733800"/>
                  </a:cubicBezTo>
                  <a:lnTo>
                    <a:pt x="133350" y="3733800"/>
                  </a:lnTo>
                  <a:cubicBezTo>
                    <a:pt x="59703" y="3733800"/>
                    <a:pt x="0" y="3674097"/>
                    <a:pt x="0" y="3600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00100" y="249555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114300" y="0"/>
                  </a:moveTo>
                  <a:lnTo>
                    <a:pt x="7429500" y="0"/>
                  </a:lnTo>
                  <a:cubicBezTo>
                    <a:pt x="7492626" y="0"/>
                    <a:pt x="7543800" y="51174"/>
                    <a:pt x="7543800" y="114300"/>
                  </a:cubicBezTo>
                  <a:lnTo>
                    <a:pt x="7543800" y="800100"/>
                  </a:lnTo>
                  <a:cubicBezTo>
                    <a:pt x="7543800" y="863226"/>
                    <a:pt x="7492626" y="914400"/>
                    <a:pt x="742950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00100" y="367665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114300" y="0"/>
                  </a:moveTo>
                  <a:lnTo>
                    <a:pt x="7429500" y="0"/>
                  </a:lnTo>
                  <a:cubicBezTo>
                    <a:pt x="7492626" y="0"/>
                    <a:pt x="7543800" y="51174"/>
                    <a:pt x="7543800" y="114300"/>
                  </a:cubicBezTo>
                  <a:lnTo>
                    <a:pt x="7543800" y="800100"/>
                  </a:lnTo>
                  <a:cubicBezTo>
                    <a:pt x="7543800" y="863226"/>
                    <a:pt x="7492626" y="914400"/>
                    <a:pt x="742950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00100" y="485775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114300" y="0"/>
                  </a:moveTo>
                  <a:lnTo>
                    <a:pt x="7429500" y="0"/>
                  </a:lnTo>
                  <a:cubicBezTo>
                    <a:pt x="7492626" y="0"/>
                    <a:pt x="7543800" y="51174"/>
                    <a:pt x="7543800" y="114300"/>
                  </a:cubicBezTo>
                  <a:lnTo>
                    <a:pt x="7543800" y="800100"/>
                  </a:lnTo>
                  <a:cubicBezTo>
                    <a:pt x="7543800" y="863226"/>
                    <a:pt x="7492626" y="914400"/>
                    <a:pt x="742950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763000" y="2266950"/>
              <a:ext cx="2857500" cy="3733800"/>
            </a:xfrm>
            <a:custGeom>
              <a:avLst/>
              <a:gdLst/>
              <a:ahLst/>
              <a:cxnLst/>
              <a:rect l="l" t="t" r="r" b="b"/>
              <a:pathLst>
                <a:path w="2857500" h="373380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3600450"/>
                  </a:lnTo>
                  <a:cubicBezTo>
                    <a:pt x="2857500" y="3674097"/>
                    <a:pt x="2797797" y="3733800"/>
                    <a:pt x="2724150" y="3733800"/>
                  </a:cubicBezTo>
                  <a:lnTo>
                    <a:pt x="133350" y="3733800"/>
                  </a:lnTo>
                  <a:cubicBezTo>
                    <a:pt x="59703" y="3733800"/>
                    <a:pt x="0" y="3674097"/>
                    <a:pt x="0" y="3600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991600" y="2495550"/>
              <a:ext cx="2400300" cy="914400"/>
            </a:xfrm>
            <a:custGeom>
              <a:avLst/>
              <a:gdLst/>
              <a:ahLst/>
              <a:cxnLst/>
              <a:rect l="l" t="t" r="r" b="b"/>
              <a:pathLst>
                <a:path w="2400300" h="914400">
                  <a:moveTo>
                    <a:pt x="114300" y="0"/>
                  </a:moveTo>
                  <a:lnTo>
                    <a:pt x="2286000" y="0"/>
                  </a:lnTo>
                  <a:cubicBezTo>
                    <a:pt x="2349126" y="0"/>
                    <a:pt x="2400300" y="51174"/>
                    <a:pt x="2400300" y="114300"/>
                  </a:cubicBezTo>
                  <a:lnTo>
                    <a:pt x="2400300" y="800100"/>
                  </a:lnTo>
                  <a:cubicBezTo>
                    <a:pt x="2400300" y="863226"/>
                    <a:pt x="2349126" y="914400"/>
                    <a:pt x="228600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991600" y="3676650"/>
              <a:ext cx="2400300" cy="914400"/>
            </a:xfrm>
            <a:custGeom>
              <a:avLst/>
              <a:gdLst/>
              <a:ahLst/>
              <a:cxnLst/>
              <a:rect l="l" t="t" r="r" b="b"/>
              <a:pathLst>
                <a:path w="2400300" h="914400">
                  <a:moveTo>
                    <a:pt x="114300" y="0"/>
                  </a:moveTo>
                  <a:lnTo>
                    <a:pt x="2286000" y="0"/>
                  </a:lnTo>
                  <a:cubicBezTo>
                    <a:pt x="2349126" y="0"/>
                    <a:pt x="2400300" y="51174"/>
                    <a:pt x="2400300" y="114300"/>
                  </a:cubicBezTo>
                  <a:lnTo>
                    <a:pt x="2400300" y="800100"/>
                  </a:lnTo>
                  <a:cubicBezTo>
                    <a:pt x="2400300" y="863226"/>
                    <a:pt x="2349126" y="914400"/>
                    <a:pt x="228600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991600" y="4857750"/>
              <a:ext cx="2400300" cy="914400"/>
            </a:xfrm>
            <a:custGeom>
              <a:avLst/>
              <a:gdLst/>
              <a:ahLst/>
              <a:cxnLst/>
              <a:rect l="l" t="t" r="r" b="b"/>
              <a:pathLst>
                <a:path w="2400300" h="914400">
                  <a:moveTo>
                    <a:pt x="114300" y="0"/>
                  </a:moveTo>
                  <a:lnTo>
                    <a:pt x="2286000" y="0"/>
                  </a:lnTo>
                  <a:cubicBezTo>
                    <a:pt x="2349126" y="0"/>
                    <a:pt x="2400300" y="51174"/>
                    <a:pt x="2400300" y="114300"/>
                  </a:cubicBezTo>
                  <a:lnTo>
                    <a:pt x="2400300" y="800100"/>
                  </a:lnTo>
                  <a:cubicBezTo>
                    <a:pt x="2400300" y="863226"/>
                    <a:pt x="2349126" y="914400"/>
                    <a:pt x="228600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90600" y="27622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1872" y="28479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4856" y="26441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某头部电商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37332" y="2611755"/>
              <a:ext cx="19636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ROAS +40%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17142" y="2978468"/>
              <a:ext cx="5841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618期间，AI实时调整出价与创意组合，广告支出回报率同比提升40%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7142" y="3188018"/>
              <a:ext cx="4675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额外创造营收破亿元，验证“分析+执行”闭环的规模化价值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90600" y="39433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11872" y="40290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4856" y="3825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某股份制银行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37382" y="3792855"/>
              <a:ext cx="18874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点击率 2.3倍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7142" y="415956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个人贷款产品智能推荐，基于用户实时意图动态匹配话术与触达时机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7142" y="4369118"/>
              <a:ext cx="4339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点击转化率从1.1%升至2.5%，带动获客效率显著提升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90600" y="51244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11872" y="5210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5006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某快消品牌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18282" y="4973955"/>
              <a:ext cx="14954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周期 -60%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17142" y="534066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从市场洞察到全域营销活动上线全流程自动化，新品冷启动效率大幅提升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7142" y="5550218"/>
              <a:ext cx="5256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首周销量超预期35%，证明工作台可直接拉动上市速度与销量表现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85504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证据锚点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76360" y="26860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40%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61042" y="2864168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大促ROAS提升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991600" y="321945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86266" y="32585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实时竞价 × 创意协同优化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85504" y="3794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证据锚点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76360" y="386715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2.3×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80092" y="4045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推荐点击率增长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991600" y="440055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86266" y="44396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实时意图识别 × 动态话术匹配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85504" y="4975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证据锚点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76360" y="50482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-60%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70592" y="5226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新品上市周期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991600" y="558165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86266" y="56207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洞察、策划、投放一体化自动执行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1049000" cy="3705225"/>
            <a:chOff x="571500" y="1619250"/>
            <a:chExt cx="11049000" cy="3705225"/>
          </a:xfrm>
        </p:grpSpPr>
        <p:sp>
          <p:nvSpPr>
            <p:cNvPr id="57" name="Freeform 57"/>
            <p:cNvSpPr/>
            <p:nvPr/>
          </p:nvSpPr>
          <p:spPr>
            <a:xfrm>
              <a:off x="8343900" y="2952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cubicBezTo>
                    <a:pt x="276225" y="0"/>
                    <a:pt x="342900" y="0"/>
                    <a:pt x="571500" y="0"/>
                  </a:cubicBezTo>
                </a:path>
              </a:pathLst>
            </a:custGeom>
            <a:noFill/>
            <a:ln w="23812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8" name="Freeform 58"/>
            <p:cNvSpPr/>
            <p:nvPr/>
          </p:nvSpPr>
          <p:spPr>
            <a:xfrm>
              <a:off x="8343900" y="4133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cubicBezTo>
                    <a:pt x="276225" y="0"/>
                    <a:pt x="342900" y="0"/>
                    <a:pt x="571500" y="0"/>
                  </a:cubicBezTo>
                </a:path>
              </a:pathLst>
            </a:custGeom>
            <a:noFill/>
            <a:ln w="23812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9" name="Freeform 59"/>
            <p:cNvSpPr/>
            <p:nvPr/>
          </p:nvSpPr>
          <p:spPr>
            <a:xfrm>
              <a:off x="8343900" y="53149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cubicBezTo>
                    <a:pt x="276225" y="0"/>
                    <a:pt x="342900" y="0"/>
                    <a:pt x="571500" y="0"/>
                  </a:cubicBezTo>
                </a:path>
              </a:pathLst>
            </a:custGeom>
            <a:noFill/>
            <a:ln w="23812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0" name="Freeform 60"/>
            <p:cNvSpPr/>
            <p:nvPr/>
          </p:nvSpPr>
          <p:spPr>
            <a:xfrm>
              <a:off x="571500" y="1619250"/>
              <a:ext cx="11049000" cy="266700"/>
            </a:xfrm>
            <a:custGeom>
              <a:avLst/>
              <a:gdLst/>
              <a:ahLst/>
              <a:cxnLst/>
              <a:rect l="l" t="t" r="r" b="b"/>
              <a:pathLst>
                <a:path w="11049000" h="2667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190500"/>
                  </a:lnTo>
                  <a:cubicBezTo>
                    <a:pt x="11049000" y="232584"/>
                    <a:pt x="11014884" y="266700"/>
                    <a:pt x="10972800" y="266700"/>
                  </a:cubicBezTo>
                  <a:lnTo>
                    <a:pt x="76200" y="266700"/>
                  </a:lnTo>
                  <a:cubicBezTo>
                    <a:pt x="34116" y="266700"/>
                    <a:pt x="0" y="232584"/>
                    <a:pt x="0" y="190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6285" y="1678781"/>
              <a:ext cx="6266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证明逻辑：真实客户场景 → 可量化指标改善 → 直接业务结果，形成面向管理层的价值闭环证据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438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19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1409700"/>
              <a:ext cx="9525" cy="4533900"/>
            </a:xfrm>
            <a:custGeom>
              <a:avLst/>
              <a:gdLst/>
              <a:ahLst/>
              <a:cxnLst/>
              <a:rect l="l" t="t" r="r" b="b"/>
              <a:pathLst>
                <a:path w="9525" h="4533900">
                  <a:moveTo>
                    <a:pt x="0" y="0"/>
                  </a:moveTo>
                  <a:lnTo>
                    <a:pt x="0" y="45339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6738" y="207645"/>
            <a:ext cx="11058525" cy="6466046"/>
            <a:chOff x="566738" y="207645"/>
            <a:chExt cx="11058525" cy="6466046"/>
          </a:xfrm>
        </p:grpSpPr>
        <p:sp>
          <p:nvSpPr>
            <p:cNvPr id="9" name="TextBox 9"/>
            <p:cNvSpPr txBox="1"/>
            <p:nvPr/>
          </p:nvSpPr>
          <p:spPr>
            <a:xfrm>
              <a:off x="566738" y="207645"/>
              <a:ext cx="9376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8270" y="651176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24147" y="651176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57784" y="527685"/>
            <a:ext cx="11062716" cy="5749671"/>
            <a:chOff x="557784" y="527685"/>
            <a:chExt cx="11062716" cy="5749671"/>
          </a:xfrm>
        </p:grpSpPr>
        <p:sp>
          <p:nvSpPr>
            <p:cNvPr id="13" name="TextBox 13"/>
            <p:cNvSpPr txBox="1"/>
            <p:nvPr/>
          </p:nvSpPr>
          <p:spPr>
            <a:xfrm>
              <a:off x="557784" y="527685"/>
              <a:ext cx="56729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平台效能：规模化运行的硬指标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1152525"/>
              <a:ext cx="7664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锐策AI营销工作台已稳定处理超万亿级营销事件，保障高可用、高精度与高安全。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5219700" cy="1981200"/>
            </a:xfrm>
            <a:custGeom>
              <a:avLst/>
              <a:gdLst/>
              <a:ahLst/>
              <a:cxnLst/>
              <a:rect l="l" t="t" r="r" b="b"/>
              <a:pathLst>
                <a:path w="5219700" h="19812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866900"/>
                  </a:lnTo>
                  <a:cubicBezTo>
                    <a:pt x="5219700" y="1930026"/>
                    <a:pt x="5168526" y="1981200"/>
                    <a:pt x="5105400" y="1981200"/>
                  </a:cubicBezTo>
                  <a:lnTo>
                    <a:pt x="114300" y="1981200"/>
                  </a:lnTo>
                  <a:cubicBezTo>
                    <a:pt x="51174" y="1981200"/>
                    <a:pt x="0" y="1930026"/>
                    <a:pt x="0" y="1866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400800" y="1619250"/>
              <a:ext cx="5219700" cy="1981200"/>
            </a:xfrm>
            <a:custGeom>
              <a:avLst/>
              <a:gdLst/>
              <a:ahLst/>
              <a:cxnLst/>
              <a:rect l="l" t="t" r="r" b="b"/>
              <a:pathLst>
                <a:path w="5219700" h="19812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866900"/>
                  </a:lnTo>
                  <a:cubicBezTo>
                    <a:pt x="5219700" y="1930026"/>
                    <a:pt x="5168526" y="1981200"/>
                    <a:pt x="5105400" y="1981200"/>
                  </a:cubicBezTo>
                  <a:lnTo>
                    <a:pt x="114300" y="1981200"/>
                  </a:lnTo>
                  <a:cubicBezTo>
                    <a:pt x="51174" y="1981200"/>
                    <a:pt x="0" y="1930026"/>
                    <a:pt x="0" y="1866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3829050"/>
              <a:ext cx="5219700" cy="1981200"/>
            </a:xfrm>
            <a:custGeom>
              <a:avLst/>
              <a:gdLst/>
              <a:ahLst/>
              <a:cxnLst/>
              <a:rect l="l" t="t" r="r" b="b"/>
              <a:pathLst>
                <a:path w="5219700" h="19812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866900"/>
                  </a:lnTo>
                  <a:cubicBezTo>
                    <a:pt x="5219700" y="1930026"/>
                    <a:pt x="5168526" y="1981200"/>
                    <a:pt x="5105400" y="1981200"/>
                  </a:cubicBezTo>
                  <a:lnTo>
                    <a:pt x="114300" y="1981200"/>
                  </a:lnTo>
                  <a:cubicBezTo>
                    <a:pt x="51174" y="1981200"/>
                    <a:pt x="0" y="1930026"/>
                    <a:pt x="0" y="1866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400800" y="3829050"/>
              <a:ext cx="5219700" cy="1981200"/>
            </a:xfrm>
            <a:custGeom>
              <a:avLst/>
              <a:gdLst/>
              <a:ahLst/>
              <a:cxnLst/>
              <a:rect l="l" t="t" r="r" b="b"/>
              <a:pathLst>
                <a:path w="5219700" h="19812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866900"/>
                  </a:lnTo>
                  <a:cubicBezTo>
                    <a:pt x="5219700" y="1930026"/>
                    <a:pt x="5168526" y="1981200"/>
                    <a:pt x="5105400" y="1981200"/>
                  </a:cubicBezTo>
                  <a:lnTo>
                    <a:pt x="114300" y="1981200"/>
                  </a:lnTo>
                  <a:cubicBezTo>
                    <a:pt x="51174" y="1981200"/>
                    <a:pt x="0" y="1930026"/>
                    <a:pt x="0" y="1866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181350" y="203835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010650" y="203835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181350" y="424815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010650" y="424815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19150" y="18478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04875" y="1990725"/>
              <a:ext cx="247650" cy="200025"/>
            </a:xfrm>
            <a:custGeom>
              <a:avLst/>
              <a:gdLst/>
              <a:ahLst/>
              <a:cxnLst/>
              <a:rect l="l" t="t" r="r" b="b"/>
              <a:pathLst>
                <a:path w="247650" h="200025">
                  <a:moveTo>
                    <a:pt x="0" y="133350"/>
                  </a:moveTo>
                  <a:lnTo>
                    <a:pt x="247650" y="133350"/>
                  </a:lnTo>
                  <a:moveTo>
                    <a:pt x="0" y="66675"/>
                  </a:moveTo>
                  <a:lnTo>
                    <a:pt x="247650" y="66675"/>
                  </a:lnTo>
                  <a:moveTo>
                    <a:pt x="57150" y="0"/>
                  </a:moveTo>
                  <a:lnTo>
                    <a:pt x="190500" y="0"/>
                  </a:lnTo>
                  <a:moveTo>
                    <a:pt x="57150" y="200025"/>
                  </a:moveTo>
                  <a:lnTo>
                    <a:pt x="190500" y="200025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65504" y="19088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日均数据处理量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55598" y="2117408"/>
              <a:ext cx="20314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TB/日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4742" y="2654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覆盖全渠道用户行为日志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64742" y="2902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与离线特征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57250" y="335280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648450" y="18478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743700" y="2009775"/>
              <a:ext cx="247650" cy="133350"/>
            </a:xfrm>
            <a:custGeom>
              <a:avLst/>
              <a:gdLst/>
              <a:ahLst/>
              <a:cxnLst/>
              <a:rect l="l" t="t" r="r" b="b"/>
              <a:pathLst>
                <a:path w="247650" h="133350">
                  <a:moveTo>
                    <a:pt x="0" y="133350"/>
                  </a:moveTo>
                  <a:lnTo>
                    <a:pt x="57150" y="76200"/>
                  </a:lnTo>
                  <a:lnTo>
                    <a:pt x="114300" y="104775"/>
                  </a:lnTo>
                  <a:lnTo>
                    <a:pt x="190500" y="0"/>
                  </a:lnTo>
                  <a:lnTo>
                    <a:pt x="247650" y="28575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32" name="Freeform 32"/>
            <p:cNvSpPr/>
            <p:nvPr/>
          </p:nvSpPr>
          <p:spPr>
            <a:xfrm>
              <a:off x="6743700" y="2181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94804" y="1908810"/>
              <a:ext cx="1060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AI预测准确度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84898" y="2117408"/>
              <a:ext cx="9023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92%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4042" y="2654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客户意向与转化概率预判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86550" y="335280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19150" y="40576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4875" y="4200525"/>
              <a:ext cx="247650" cy="190500"/>
            </a:xfrm>
            <a:custGeom>
              <a:avLst/>
              <a:gdLst/>
              <a:ahLst/>
              <a:cxnLst/>
              <a:rect l="l" t="t" r="r" b="b"/>
              <a:pathLst>
                <a:path w="247650" h="190500">
                  <a:moveTo>
                    <a:pt x="0" y="133350"/>
                  </a:moveTo>
                  <a:lnTo>
                    <a:pt x="247650" y="133350"/>
                  </a:lnTo>
                  <a:moveTo>
                    <a:pt x="57150" y="76200"/>
                  </a:moveTo>
                  <a:lnTo>
                    <a:pt x="57150" y="190500"/>
                  </a:lnTo>
                  <a:moveTo>
                    <a:pt x="123825" y="38100"/>
                  </a:moveTo>
                  <a:lnTo>
                    <a:pt x="123825" y="171450"/>
                  </a:lnTo>
                  <a:moveTo>
                    <a:pt x="190500" y="0"/>
                  </a:moveTo>
                  <a:lnTo>
                    <a:pt x="190500" y="1524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365504" y="4118610"/>
              <a:ext cx="1462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自动化任务执行/日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55598" y="4327208"/>
              <a:ext cx="14198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 万+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64742" y="48644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零人工干预，高并发稳健调度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57250" y="556260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48450" y="40576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743700" y="4210050"/>
              <a:ext cx="247650" cy="161925"/>
            </a:xfrm>
            <a:custGeom>
              <a:avLst/>
              <a:gdLst/>
              <a:ahLst/>
              <a:cxnLst/>
              <a:rect l="l" t="t" r="r" b="b"/>
              <a:pathLst>
                <a:path w="247650" h="161925">
                  <a:moveTo>
                    <a:pt x="0" y="161925"/>
                  </a:moveTo>
                  <a:lnTo>
                    <a:pt x="76200" y="85725"/>
                  </a:lnTo>
                  <a:lnTo>
                    <a:pt x="133350" y="114300"/>
                  </a:lnTo>
                  <a:lnTo>
                    <a:pt x="2476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6953250" y="42100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lnTo>
                    <a:pt x="38100" y="0"/>
                  </a:lnTo>
                  <a:lnTo>
                    <a:pt x="38100" y="381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94804" y="41186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客户平均效率提升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84898" y="4327208"/>
              <a:ext cx="9023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35%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94042" y="48644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营销活动从策划到上线时间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94042" y="5112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显著缩短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686550" y="556260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28575">
              <a:solidFill>
                <a:srgbClr val="2F855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571500" y="5981700"/>
              <a:ext cx="11049000" cy="285750"/>
            </a:xfrm>
            <a:custGeom>
              <a:avLst/>
              <a:gdLst/>
              <a:ahLst/>
              <a:cxnLst/>
              <a:rect l="l" t="t" r="r" b="b"/>
              <a:pathLst>
                <a:path w="11049000" h="2857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09550"/>
                  </a:lnTo>
                  <a:cubicBezTo>
                    <a:pt x="11049000" y="251634"/>
                    <a:pt x="11014884" y="285750"/>
                    <a:pt x="109728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5904" y="60426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核心信号：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613154" y="6042660"/>
              <a:ext cx="6360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高吞吐数据底座 + 高精度预测引擎 + 高并发自动化执行，直接转化为客户运营效率提升。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48325" y="1503045"/>
            <a:ext cx="5886450" cy="4729162"/>
            <a:chOff x="5648325" y="1503045"/>
            <a:chExt cx="5886450" cy="4729162"/>
          </a:xfrm>
        </p:grpSpPr>
        <p:sp>
          <p:nvSpPr>
            <p:cNvPr id="55" name="Ellipse 55"/>
            <p:cNvSpPr/>
            <p:nvPr/>
          </p:nvSpPr>
          <p:spPr>
            <a:xfrm>
              <a:off x="5648325" y="18002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56769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57888" y="1503045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throughput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1477625" y="18002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112776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2286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09898" y="15030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prediction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648325" y="58197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5676900" y="5848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2286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57888" y="6055995"/>
              <a:ext cx="669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automation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11477625" y="5819775"/>
              <a:ext cx="57150" cy="5715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11277600" y="5848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228600"/>
                  </a:lnTo>
                </a:path>
              </a:pathLst>
            </a:custGeom>
            <a:noFill/>
            <a:ln w="14288">
              <a:solidFill>
                <a:srgbClr val="2F855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724998" y="6055995"/>
              <a:ext cx="5002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outcome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71500" y="114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1485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810500" y="857250"/>
              <a:ext cx="2286000" cy="5048250"/>
            </a:xfrm>
            <a:custGeom>
              <a:avLst/>
              <a:gdLst/>
              <a:ahLst/>
              <a:cxnLst/>
              <a:rect l="l" t="t" r="r" b="b"/>
              <a:pathLst>
                <a:path w="2286000" h="5048250">
                  <a:moveTo>
                    <a:pt x="0" y="0"/>
                  </a:moveTo>
                  <a:lnTo>
                    <a:pt x="0" y="5048250"/>
                  </a:lnTo>
                  <a:moveTo>
                    <a:pt x="1143000" y="0"/>
                  </a:moveTo>
                  <a:lnTo>
                    <a:pt x="1143000" y="5048250"/>
                  </a:lnTo>
                  <a:moveTo>
                    <a:pt x="2286000" y="0"/>
                  </a:moveTo>
                  <a:lnTo>
                    <a:pt x="2286000" y="50482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  <a:custDash>
                <a:ds d="300000" sp="80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7239000" y="2247900"/>
              <a:ext cx="4000500" cy="2362200"/>
            </a:xfrm>
            <a:custGeom>
              <a:avLst/>
              <a:gdLst/>
              <a:ahLst/>
              <a:cxnLst/>
              <a:rect l="l" t="t" r="r" b="b"/>
              <a:pathLst>
                <a:path w="4000500" h="2362200">
                  <a:moveTo>
                    <a:pt x="0" y="0"/>
                  </a:moveTo>
                  <a:lnTo>
                    <a:pt x="4000500" y="0"/>
                  </a:lnTo>
                  <a:moveTo>
                    <a:pt x="0" y="1181100"/>
                  </a:moveTo>
                  <a:lnTo>
                    <a:pt x="4000500" y="1181100"/>
                  </a:lnTo>
                  <a:moveTo>
                    <a:pt x="0" y="2362200"/>
                  </a:moveTo>
                  <a:lnTo>
                    <a:pt x="4000500" y="23622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  <a:custDash>
                <a:ds d="300000" sp="800000"/>
              </a:custDash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934402"/>
            <a:ext cx="11048429" cy="5653564"/>
            <a:chOff x="557784" y="934402"/>
            <a:chExt cx="11048429" cy="5653564"/>
          </a:xfrm>
        </p:grpSpPr>
        <p:sp>
          <p:nvSpPr>
            <p:cNvPr id="10" name="TextBox 10"/>
            <p:cNvSpPr txBox="1"/>
            <p:nvPr/>
          </p:nvSpPr>
          <p:spPr>
            <a:xfrm>
              <a:off x="566166" y="934402"/>
              <a:ext cx="907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1089660"/>
              <a:ext cx="68826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渠道优化实证：转化率与成本关键变化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260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74520" y="64260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71500" y="1790700"/>
            <a:ext cx="11068050" cy="4114800"/>
            <a:chOff x="571500" y="1790700"/>
            <a:chExt cx="11068050" cy="4114800"/>
          </a:xfrm>
        </p:grpSpPr>
        <p:sp>
          <p:nvSpPr>
            <p:cNvPr id="15" name="Freeform 15"/>
            <p:cNvSpPr/>
            <p:nvPr/>
          </p:nvSpPr>
          <p:spPr>
            <a:xfrm>
              <a:off x="571500" y="1790700"/>
              <a:ext cx="3390900" cy="4114800"/>
            </a:xfrm>
            <a:custGeom>
              <a:avLst/>
              <a:gdLst/>
              <a:ahLst/>
              <a:cxnLst/>
              <a:rect l="l" t="t" r="r" b="b"/>
              <a:pathLst>
                <a:path w="3390900" h="4114800">
                  <a:moveTo>
                    <a:pt x="114300" y="0"/>
                  </a:moveTo>
                  <a:lnTo>
                    <a:pt x="3276600" y="0"/>
                  </a:lnTo>
                  <a:cubicBezTo>
                    <a:pt x="3339726" y="0"/>
                    <a:pt x="3390900" y="51174"/>
                    <a:pt x="3390900" y="114300"/>
                  </a:cubicBezTo>
                  <a:lnTo>
                    <a:pt x="3390900" y="4000500"/>
                  </a:lnTo>
                  <a:cubicBezTo>
                    <a:pt x="3390900" y="4063626"/>
                    <a:pt x="3339726" y="4114800"/>
                    <a:pt x="3276600" y="4114800"/>
                  </a:cubicBezTo>
                  <a:lnTo>
                    <a:pt x="114300" y="4114800"/>
                  </a:lnTo>
                  <a:cubicBezTo>
                    <a:pt x="51174" y="4114800"/>
                    <a:pt x="0" y="4063626"/>
                    <a:pt x="0" y="4000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0580" y="2009775"/>
              <a:ext cx="38237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对比启用AI工作台前后，典型营销渠道的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2295525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核心指标变化——增量明确，可复现。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2724150"/>
              <a:ext cx="2857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33450" y="3124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6142" y="3073718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点击转化率从1.8%升至2.4%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142" y="332136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单次获客成本下降18%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33450" y="3886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383571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转化率从3.2%升至3.9%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142" y="4083368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无效点击减少25%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933450" y="4648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6142" y="4597718"/>
              <a:ext cx="2836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AI个性化推荐使购买转化提高55%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6142" y="4845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退订率下降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33450" y="5410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36142" y="5359718"/>
              <a:ext cx="1905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AI生成最佳时机与内容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6142" y="5607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打开率与点击率翻倍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267200" y="1790700"/>
              <a:ext cx="7353300" cy="4114800"/>
            </a:xfrm>
            <a:custGeom>
              <a:avLst/>
              <a:gdLst/>
              <a:ahLst/>
              <a:cxnLst/>
              <a:rect l="l" t="t" r="r" b="b"/>
              <a:pathLst>
                <a:path w="7353300" h="4114800">
                  <a:moveTo>
                    <a:pt x="114300" y="0"/>
                  </a:moveTo>
                  <a:lnTo>
                    <a:pt x="7239000" y="0"/>
                  </a:lnTo>
                  <a:cubicBezTo>
                    <a:pt x="7302126" y="0"/>
                    <a:pt x="7353300" y="51174"/>
                    <a:pt x="7353300" y="114300"/>
                  </a:cubicBezTo>
                  <a:lnTo>
                    <a:pt x="7353300" y="4000500"/>
                  </a:lnTo>
                  <a:cubicBezTo>
                    <a:pt x="7353300" y="4063626"/>
                    <a:pt x="7302126" y="4114800"/>
                    <a:pt x="7239000" y="4114800"/>
                  </a:cubicBezTo>
                  <a:lnTo>
                    <a:pt x="114300" y="4114800"/>
                  </a:lnTo>
                  <a:cubicBezTo>
                    <a:pt x="51174" y="4114800"/>
                    <a:pt x="0" y="4063626"/>
                    <a:pt x="0" y="4000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24197" y="2028349"/>
              <a:ext cx="10868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AI 前后变化强度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200650" y="2333625"/>
              <a:ext cx="2038350" cy="714375"/>
            </a:xfrm>
            <a:custGeom>
              <a:avLst/>
              <a:gdLst/>
              <a:ahLst/>
              <a:cxnLst/>
              <a:rect l="l" t="t" r="r" b="b"/>
              <a:pathLst>
                <a:path w="2038350" h="714375">
                  <a:moveTo>
                    <a:pt x="0" y="714375"/>
                  </a:moveTo>
                  <a:cubicBezTo>
                    <a:pt x="609600" y="142875"/>
                    <a:pt x="1371600" y="0"/>
                    <a:pt x="2038350" y="428625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4" name="Freeform 34"/>
            <p:cNvSpPr/>
            <p:nvPr/>
          </p:nvSpPr>
          <p:spPr>
            <a:xfrm>
              <a:off x="7239000" y="2762250"/>
              <a:ext cx="2114550" cy="571500"/>
            </a:xfrm>
            <a:custGeom>
              <a:avLst/>
              <a:gdLst/>
              <a:ahLst/>
              <a:cxnLst/>
              <a:rect l="l" t="t" r="r" b="b"/>
              <a:pathLst>
                <a:path w="2114550" h="571500">
                  <a:moveTo>
                    <a:pt x="0" y="0"/>
                  </a:moveTo>
                  <a:cubicBezTo>
                    <a:pt x="666750" y="428625"/>
                    <a:pt x="1428750" y="571500"/>
                    <a:pt x="2114550" y="28575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5" name="Freeform 35"/>
            <p:cNvSpPr/>
            <p:nvPr/>
          </p:nvSpPr>
          <p:spPr>
            <a:xfrm>
              <a:off x="9353550" y="2628900"/>
              <a:ext cx="1714500" cy="419100"/>
            </a:xfrm>
            <a:custGeom>
              <a:avLst/>
              <a:gdLst/>
              <a:ahLst/>
              <a:cxnLst/>
              <a:rect l="l" t="t" r="r" b="b"/>
              <a:pathLst>
                <a:path w="1714500" h="419100">
                  <a:moveTo>
                    <a:pt x="0" y="419100"/>
                  </a:moveTo>
                  <a:cubicBezTo>
                    <a:pt x="571500" y="152400"/>
                    <a:pt x="1238250" y="0"/>
                    <a:pt x="1714500" y="4191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6" name="Ellipse 36"/>
            <p:cNvSpPr/>
            <p:nvPr/>
          </p:nvSpPr>
          <p:spPr>
            <a:xfrm>
              <a:off x="4705350" y="2552700"/>
              <a:ext cx="990600" cy="9906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743700" y="2266950"/>
              <a:ext cx="990600" cy="9906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667750" y="2362200"/>
              <a:ext cx="1371600" cy="13716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496550" y="2476500"/>
              <a:ext cx="1143000" cy="1143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35791" y="2647950"/>
              <a:ext cx="3297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18108" y="305752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+20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4141" y="2362200"/>
              <a:ext cx="3297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56458" y="27717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+20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63962" y="2580322"/>
              <a:ext cx="37917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4500" y="304419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+55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94948" y="2631758"/>
              <a:ext cx="3462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67254" y="3041332"/>
              <a:ext cx="401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+46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4705350" y="4114800"/>
              <a:ext cx="990600" cy="1181100"/>
            </a:xfrm>
            <a:custGeom>
              <a:avLst/>
              <a:gdLst/>
              <a:ahLst/>
              <a:cxnLst/>
              <a:rect l="l" t="t" r="r" b="b"/>
              <a:pathLst>
                <a:path w="990600" h="1181100">
                  <a:moveTo>
                    <a:pt x="95250" y="0"/>
                  </a:moveTo>
                  <a:lnTo>
                    <a:pt x="895350" y="0"/>
                  </a:lnTo>
                  <a:cubicBezTo>
                    <a:pt x="947955" y="0"/>
                    <a:pt x="990600" y="42645"/>
                    <a:pt x="990600" y="95250"/>
                  </a:cubicBezTo>
                  <a:lnTo>
                    <a:pt x="990600" y="1085850"/>
                  </a:lnTo>
                  <a:cubicBezTo>
                    <a:pt x="990600" y="1138455"/>
                    <a:pt x="947955" y="1181100"/>
                    <a:pt x="895350" y="1181100"/>
                  </a:cubicBezTo>
                  <a:lnTo>
                    <a:pt x="95250" y="1181100"/>
                  </a:lnTo>
                  <a:cubicBezTo>
                    <a:pt x="42645" y="1181100"/>
                    <a:pt x="0" y="1138455"/>
                    <a:pt x="0" y="1085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743700" y="4114800"/>
              <a:ext cx="990600" cy="1181100"/>
            </a:xfrm>
            <a:custGeom>
              <a:avLst/>
              <a:gdLst/>
              <a:ahLst/>
              <a:cxnLst/>
              <a:rect l="l" t="t" r="r" b="b"/>
              <a:pathLst>
                <a:path w="990600" h="1181100">
                  <a:moveTo>
                    <a:pt x="95250" y="0"/>
                  </a:moveTo>
                  <a:lnTo>
                    <a:pt x="895350" y="0"/>
                  </a:lnTo>
                  <a:cubicBezTo>
                    <a:pt x="947955" y="0"/>
                    <a:pt x="990600" y="42645"/>
                    <a:pt x="990600" y="95250"/>
                  </a:cubicBezTo>
                  <a:lnTo>
                    <a:pt x="990600" y="1085850"/>
                  </a:lnTo>
                  <a:cubicBezTo>
                    <a:pt x="990600" y="1138455"/>
                    <a:pt x="947955" y="1181100"/>
                    <a:pt x="895350" y="1181100"/>
                  </a:cubicBezTo>
                  <a:lnTo>
                    <a:pt x="95250" y="1181100"/>
                  </a:lnTo>
                  <a:cubicBezTo>
                    <a:pt x="42645" y="1181100"/>
                    <a:pt x="0" y="1138455"/>
                    <a:pt x="0" y="1085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858250" y="4114800"/>
              <a:ext cx="990600" cy="1181100"/>
            </a:xfrm>
            <a:custGeom>
              <a:avLst/>
              <a:gdLst/>
              <a:ahLst/>
              <a:cxnLst/>
              <a:rect l="l" t="t" r="r" b="b"/>
              <a:pathLst>
                <a:path w="990600" h="1181100">
                  <a:moveTo>
                    <a:pt x="95250" y="0"/>
                  </a:moveTo>
                  <a:lnTo>
                    <a:pt x="895350" y="0"/>
                  </a:lnTo>
                  <a:cubicBezTo>
                    <a:pt x="947955" y="0"/>
                    <a:pt x="990600" y="42645"/>
                    <a:pt x="990600" y="95250"/>
                  </a:cubicBezTo>
                  <a:lnTo>
                    <a:pt x="990600" y="1085850"/>
                  </a:lnTo>
                  <a:cubicBezTo>
                    <a:pt x="990600" y="1138455"/>
                    <a:pt x="947955" y="1181100"/>
                    <a:pt x="895350" y="1181100"/>
                  </a:cubicBezTo>
                  <a:lnTo>
                    <a:pt x="95250" y="1181100"/>
                  </a:lnTo>
                  <a:cubicBezTo>
                    <a:pt x="42645" y="1181100"/>
                    <a:pt x="0" y="1138455"/>
                    <a:pt x="0" y="1085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572750" y="4114800"/>
              <a:ext cx="990600" cy="1181100"/>
            </a:xfrm>
            <a:custGeom>
              <a:avLst/>
              <a:gdLst/>
              <a:ahLst/>
              <a:cxnLst/>
              <a:rect l="l" t="t" r="r" b="b"/>
              <a:pathLst>
                <a:path w="990600" h="1181100">
                  <a:moveTo>
                    <a:pt x="95250" y="0"/>
                  </a:moveTo>
                  <a:lnTo>
                    <a:pt x="895350" y="0"/>
                  </a:lnTo>
                  <a:cubicBezTo>
                    <a:pt x="947955" y="0"/>
                    <a:pt x="990600" y="42645"/>
                    <a:pt x="990600" y="95250"/>
                  </a:cubicBezTo>
                  <a:lnTo>
                    <a:pt x="990600" y="1085850"/>
                  </a:lnTo>
                  <a:cubicBezTo>
                    <a:pt x="990600" y="1138455"/>
                    <a:pt x="947955" y="1181100"/>
                    <a:pt x="895350" y="1181100"/>
                  </a:cubicBezTo>
                  <a:lnTo>
                    <a:pt x="95250" y="1181100"/>
                  </a:lnTo>
                  <a:cubicBezTo>
                    <a:pt x="42645" y="1181100"/>
                    <a:pt x="0" y="1138455"/>
                    <a:pt x="0" y="1085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5200650" y="35433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4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239000" y="32766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4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353550" y="37338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4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1068050" y="36195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138345" y="42738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71466" y="4537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点击广告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06188" y="4782502"/>
              <a:ext cx="988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CVR 1.8→2.4%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70475" y="4992052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CAC -18%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76695" y="42738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09816" y="4537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搜索投放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44538" y="4782502"/>
              <a:ext cx="988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CVR 3.2→3.9%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60140" y="4992052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无效点击 -25%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91245" y="42738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43594" y="4537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个性化推荐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74690" y="4782502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购买转化 +55%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94838" y="49920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退订率下降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05745" y="42738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694441" y="4537710"/>
              <a:ext cx="747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邮件/私域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67988" y="47825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打开与点击翻倍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38663" y="4992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最佳时机生成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4629150" y="5448300"/>
              <a:ext cx="6629400" cy="247650"/>
            </a:xfrm>
            <a:custGeom>
              <a:avLst/>
              <a:gdLst/>
              <a:ahLst/>
              <a:cxnLst/>
              <a:rect l="l" t="t" r="r" b="b"/>
              <a:pathLst>
                <a:path w="6629400" h="247650">
                  <a:moveTo>
                    <a:pt x="123825" y="0"/>
                  </a:moveTo>
                  <a:lnTo>
                    <a:pt x="6505575" y="0"/>
                  </a:lnTo>
                  <a:cubicBezTo>
                    <a:pt x="6573962" y="0"/>
                    <a:pt x="6629400" y="55438"/>
                    <a:pt x="6629400" y="123825"/>
                  </a:cubicBezTo>
                  <a:lnTo>
                    <a:pt x="6629400" y="123825"/>
                  </a:lnTo>
                  <a:cubicBezTo>
                    <a:pt x="6629400" y="192212"/>
                    <a:pt x="6573962" y="247650"/>
                    <a:pt x="65055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4629150" y="5448300"/>
              <a:ext cx="4819650" cy="247650"/>
            </a:xfrm>
            <a:custGeom>
              <a:avLst/>
              <a:gdLst/>
              <a:ahLst/>
              <a:cxnLst/>
              <a:rect l="l" t="t" r="r" b="b"/>
              <a:pathLst>
                <a:path w="4819650" h="247650">
                  <a:moveTo>
                    <a:pt x="123825" y="0"/>
                  </a:moveTo>
                  <a:lnTo>
                    <a:pt x="4695825" y="0"/>
                  </a:lnTo>
                  <a:cubicBezTo>
                    <a:pt x="4764212" y="0"/>
                    <a:pt x="4819650" y="55438"/>
                    <a:pt x="4819650" y="123825"/>
                  </a:cubicBezTo>
                  <a:lnTo>
                    <a:pt x="4819650" y="123825"/>
                  </a:lnTo>
                  <a:cubicBezTo>
                    <a:pt x="4819650" y="192212"/>
                    <a:pt x="4764212" y="247650"/>
                    <a:pt x="46958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757166" y="55064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整体趋势：高意图与高个性化渠道提升最明显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25406" y="5506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可复用到更多投放场景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296025" y="2019300"/>
            <a:ext cx="4905375" cy="876300"/>
            <a:chOff x="6296025" y="2019300"/>
            <a:chExt cx="4905375" cy="876300"/>
          </a:xfrm>
        </p:grpSpPr>
        <p:sp>
          <p:nvSpPr>
            <p:cNvPr id="77" name="Freeform 77"/>
            <p:cNvSpPr/>
            <p:nvPr/>
          </p:nvSpPr>
          <p:spPr>
            <a:xfrm>
              <a:off x="9601200" y="2343150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76200" y="0"/>
                  </a:moveTo>
                  <a:lnTo>
                    <a:pt x="1524000" y="0"/>
                  </a:lnTo>
                  <a:cubicBezTo>
                    <a:pt x="1566084" y="0"/>
                    <a:pt x="1600200" y="34116"/>
                    <a:pt x="1600200" y="76200"/>
                  </a:cubicBezTo>
                  <a:lnTo>
                    <a:pt x="1600200" y="247650"/>
                  </a:lnTo>
                  <a:cubicBezTo>
                    <a:pt x="1600200" y="289734"/>
                    <a:pt x="1566084" y="323850"/>
                    <a:pt x="1524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689211" y="24393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峰值增益来自推荐场景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9353550" y="2667000"/>
              <a:ext cx="247650" cy="228600"/>
            </a:xfrm>
            <a:custGeom>
              <a:avLst/>
              <a:gdLst/>
              <a:ahLst/>
              <a:cxnLst/>
              <a:rect l="l" t="t" r="r" b="b"/>
              <a:pathLst>
                <a:path w="247650" h="228600">
                  <a:moveTo>
                    <a:pt x="247650" y="0"/>
                  </a:moveTo>
                  <a:cubicBezTo>
                    <a:pt x="95250" y="133350"/>
                    <a:pt x="57150" y="190500"/>
                    <a:pt x="0" y="228600"/>
                  </a:cubicBez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6296025" y="2019300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76200" y="0"/>
                  </a:moveTo>
                  <a:lnTo>
                    <a:pt x="1390650" y="0"/>
                  </a:lnTo>
                  <a:cubicBezTo>
                    <a:pt x="1432734" y="0"/>
                    <a:pt x="1466850" y="34116"/>
                    <a:pt x="1466850" y="76200"/>
                  </a:cubicBezTo>
                  <a:lnTo>
                    <a:pt x="1466850" y="247650"/>
                  </a:lnTo>
                  <a:cubicBezTo>
                    <a:pt x="1466850" y="289734"/>
                    <a:pt x="1432734" y="323850"/>
                    <a:pt x="139065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88037" y="21155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投放侧同步优化质量</a:t>
              </a:r>
            </a:p>
          </p:txBody>
        </p:sp>
        <p:sp>
          <p:nvSpPr>
            <p:cNvPr id="82" name="Freeform 82"/>
            <p:cNvSpPr/>
            <p:nvPr/>
          </p:nvSpPr>
          <p:spPr>
            <a:xfrm>
              <a:off x="7010400" y="2343150"/>
              <a:ext cx="228600" cy="247650"/>
            </a:xfrm>
            <a:custGeom>
              <a:avLst/>
              <a:gdLst/>
              <a:ahLst/>
              <a:cxnLst/>
              <a:rect l="l" t="t" r="r" b="b"/>
              <a:pathLst>
                <a:path w="228600" h="247650">
                  <a:moveTo>
                    <a:pt x="0" y="0"/>
                  </a:moveTo>
                  <a:cubicBezTo>
                    <a:pt x="57150" y="114300"/>
                    <a:pt x="114300" y="190500"/>
                    <a:pt x="228600" y="247650"/>
                  </a:cubicBez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514350"/>
            <a:ext cx="12573000" cy="7943850"/>
            <a:chOff x="0" y="-514350"/>
            <a:chExt cx="12573000" cy="79438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95300"/>
              <a:ext cx="11049000" cy="5867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286750" y="-514350"/>
              <a:ext cx="3238500" cy="32385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572000"/>
              <a:ext cx="2857500" cy="2857500"/>
            </a:xfrm>
            <a:prstGeom prst="ellips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809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686752"/>
            <a:ext cx="10857929" cy="5577364"/>
            <a:chOff x="557784" y="686752"/>
            <a:chExt cx="10857929" cy="55773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686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1022985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下一步：三个月启动智能营销转型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4859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738" y="6102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84020" y="6102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3880" y="2047875"/>
            <a:ext cx="11056620" cy="4048125"/>
            <a:chOff x="563880" y="2047875"/>
            <a:chExt cx="11056620" cy="4048125"/>
          </a:xfrm>
        </p:grpSpPr>
        <p:sp>
          <p:nvSpPr>
            <p:cNvPr id="15" name="TextBox 15"/>
            <p:cNvSpPr txBox="1"/>
            <p:nvPr/>
          </p:nvSpPr>
          <p:spPr>
            <a:xfrm>
              <a:off x="563880" y="204787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分阶段推进试点验证、全面推广与能力内化，构建持续增长的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880" y="233362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数据-决策-执行飞轮。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2609850"/>
              <a:ext cx="11049000" cy="742950"/>
            </a:xfrm>
            <a:custGeom>
              <a:avLst/>
              <a:gdLst/>
              <a:ahLst/>
              <a:cxnLst/>
              <a:rect l="l" t="t" r="r" b="b"/>
              <a:pathLst>
                <a:path w="11049000" h="7429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28650"/>
                  </a:lnTo>
                  <a:cubicBezTo>
                    <a:pt x="11049000" y="691776"/>
                    <a:pt x="10997826" y="742950"/>
                    <a:pt x="10934700" y="742950"/>
                  </a:cubicBezTo>
                  <a:lnTo>
                    <a:pt x="114300" y="742950"/>
                  </a:lnTo>
                  <a:cubicBezTo>
                    <a:pt x="51174" y="742950"/>
                    <a:pt x="0" y="691776"/>
                    <a:pt x="0" y="628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428750" y="2981325"/>
              <a:ext cx="9334500" cy="1"/>
            </a:xfrm>
            <a:prstGeom prst="line">
              <a:avLst/>
            </a:prstGeom>
            <a:noFill/>
            <a:ln w="57150"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2228850" y="2828925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5943600" y="2828925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658350" y="2828925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47750" y="3657600"/>
              <a:ext cx="2667000" cy="2019300"/>
            </a:xfrm>
            <a:custGeom>
              <a:avLst/>
              <a:gdLst/>
              <a:ahLst/>
              <a:cxnLst/>
              <a:rect l="l" t="t" r="r" b="b"/>
              <a:pathLst>
                <a:path w="2667000" h="20193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905000"/>
                  </a:lnTo>
                  <a:cubicBezTo>
                    <a:pt x="2667000" y="1968126"/>
                    <a:pt x="2615826" y="2019300"/>
                    <a:pt x="25527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762500" y="3657600"/>
              <a:ext cx="2667000" cy="2019300"/>
            </a:xfrm>
            <a:custGeom>
              <a:avLst/>
              <a:gdLst/>
              <a:ahLst/>
              <a:cxnLst/>
              <a:rect l="l" t="t" r="r" b="b"/>
              <a:pathLst>
                <a:path w="2667000" h="20193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905000"/>
                  </a:lnTo>
                  <a:cubicBezTo>
                    <a:pt x="2667000" y="1968126"/>
                    <a:pt x="2615826" y="2019300"/>
                    <a:pt x="25527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477250" y="3657600"/>
              <a:ext cx="2667000" cy="2019300"/>
            </a:xfrm>
            <a:custGeom>
              <a:avLst/>
              <a:gdLst/>
              <a:ahLst/>
              <a:cxnLst/>
              <a:rect l="l" t="t" r="r" b="b"/>
              <a:pathLst>
                <a:path w="2667000" h="20193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905000"/>
                  </a:lnTo>
                  <a:cubicBezTo>
                    <a:pt x="2667000" y="1968126"/>
                    <a:pt x="2615826" y="2019300"/>
                    <a:pt x="25527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381250" y="31337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31337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810750" y="31337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42416" y="3163252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1 个月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166" y="3163252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3 个月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1916" y="3163252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6 个月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66444" y="38661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试点验证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81194" y="38661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全面推广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95944" y="38661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能力内化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71016" y="4249102"/>
              <a:ext cx="1683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从单点 ROI 到可复制方法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5766" y="42491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从成功样板到组织级扩散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00516" y="42491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从工具应用到企业长期能力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68730" y="45434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选择一条核心产品线或一个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68730" y="4810125"/>
              <a:ext cx="2671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高流量渠道部署 AI 工作台，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68730" y="5076825"/>
              <a:ext cx="2127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设定基线并追踪 ROI，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68730" y="53435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快速拿回业务结果。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83480" y="4543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将验证成功的模式复制至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83480" y="48101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多品牌、多渠道，建立标准化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83480" y="5076825"/>
              <a:ext cx="2820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营销运营流程与激励机制。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98230" y="4543425"/>
              <a:ext cx="2244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搭建企业 AI 营销中台，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98230" y="4810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持续训练专有模型，形成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98230" y="507682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数据洞察-决策-自动化执行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98230" y="53435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的自主飞轮。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1500" y="5829300"/>
              <a:ext cx="11049000" cy="26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895350" y="2076450"/>
            <a:ext cx="9551746" cy="2025587"/>
            <a:chOff x="895350" y="2076450"/>
            <a:chExt cx="9551746" cy="2025587"/>
          </a:xfrm>
        </p:grpSpPr>
        <p:sp>
          <p:nvSpPr>
            <p:cNvPr id="50" name="Freeform 50"/>
            <p:cNvSpPr/>
            <p:nvPr/>
          </p:nvSpPr>
          <p:spPr>
            <a:xfrm>
              <a:off x="895350" y="38481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114300"/>
                  </a:lnTo>
                  <a:cubicBezTo>
                    <a:pt x="228600" y="177426"/>
                    <a:pt x="177426" y="228600"/>
                    <a:pt x="1143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3501" y="3896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4610100" y="38481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114300"/>
                  </a:lnTo>
                  <a:cubicBezTo>
                    <a:pt x="228600" y="177426"/>
                    <a:pt x="177426" y="228600"/>
                    <a:pt x="1143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678251" y="3896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8324850" y="38481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114300"/>
                  </a:lnTo>
                  <a:cubicBezTo>
                    <a:pt x="228600" y="177426"/>
                    <a:pt x="177426" y="228600"/>
                    <a:pt x="1143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393001" y="3896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2381250" y="2076450"/>
              <a:ext cx="3714750" cy="209550"/>
            </a:xfrm>
            <a:custGeom>
              <a:avLst/>
              <a:gdLst/>
              <a:ahLst/>
              <a:cxnLst/>
              <a:rect l="l" t="t" r="r" b="b"/>
              <a:pathLst>
                <a:path w="3714750" h="209550">
                  <a:moveTo>
                    <a:pt x="0" y="209550"/>
                  </a:moveTo>
                  <a:cubicBezTo>
                    <a:pt x="1238250" y="0"/>
                    <a:pt x="2571750" y="0"/>
                    <a:pt x="3714750" y="209550"/>
                  </a:cubicBez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096000" y="2076450"/>
              <a:ext cx="3714750" cy="209550"/>
            </a:xfrm>
            <a:custGeom>
              <a:avLst/>
              <a:gdLst/>
              <a:ahLst/>
              <a:cxnLst/>
              <a:rect l="l" t="t" r="r" b="b"/>
              <a:pathLst>
                <a:path w="3714750" h="209550">
                  <a:moveTo>
                    <a:pt x="0" y="209550"/>
                  </a:moveTo>
                  <a:cubicBezTo>
                    <a:pt x="1238250" y="0"/>
                    <a:pt x="2571750" y="0"/>
                    <a:pt x="3714750" y="209550"/>
                  </a:cubicBez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810512" y="2077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验证单点增长闭环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525262" y="2077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复制成功运营机制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74404" y="207740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沉淀企业级 AI 能力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