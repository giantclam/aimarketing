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  <Relationship Id="rId1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企业AI营销工作台：从数据碎片到增长引擎</a:t>
            </a:r>
          </a:p>
          <a:p>
            <a:endParaRPr lang="en-US" dirty="0"/>
          </a:p>
          <a:p>
            <a:r>
              <a:rPr lang="zh-CN" dirty="0"/>
              <a:t>营销数据割裂、决策滞后、执行低效正在吃掉利润率；一个统一的AI工作台可以同时解决这四个问题。</a:t>
            </a:r>
          </a:p>
          <a:p>
            <a:endParaRPr lang="en-US" dirty="0"/>
          </a:p>
          <a:p>
            <a:r>
              <a:rPr lang="zh-CN" dirty="0"/>
              <a:t>• 企业AI营销工作台：从数据碎片到增长引擎</a:t>
            </a:r>
          </a:p>
          <a:p>
            <a:r>
              <a:rPr lang="zh-CN" dirty="0"/>
              <a:t>• 现状概览</a:t>
            </a:r>
          </a:p>
          <a:p>
            <a:r>
              <a:rPr lang="zh-CN" dirty="0"/>
              <a:t>• 核心风险</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执行摘要：为什么现在、做什么、怎样安全地赢</a:t>
            </a:r>
          </a:p>
          <a:p>
            <a:endParaRPr lang="en-US" dirty="0"/>
          </a:p>
          <a:p>
            <a:r>
              <a:rPr lang="zh-CN" dirty="0"/>
              <a:t>本简报围绕决策所需的最低信息量展开—结论优先，风险透明，下一步明确。</a:t>
            </a:r>
          </a:p>
          <a:p>
            <a:endParaRPr lang="en-US" dirty="0"/>
          </a:p>
          <a:p>
            <a:r>
              <a:rPr lang="zh-CN" dirty="0"/>
              <a:t>• AI营销工作台是当前唯一能把数据资产直接转化为可衡量收入的系统级方案</a:t>
            </a:r>
          </a:p>
          <a:p>
            <a:r>
              <a:rPr lang="zh-CN" dirty="0"/>
              <a:t>• 数据整合→AI分析→自动化执行→效果度量，四个模块形成闭环飞轮</a:t>
            </a:r>
          </a:p>
          <a:p>
            <a:r>
              <a:rPr lang="zh-CN" dirty="0"/>
              <a:t>• 数据合规、模型漂移、组织抵触的真实成本及可落地的缓解策略</a:t>
            </a:r>
          </a:p>
          <a:p>
            <a:r>
              <a:rPr lang="zh-CN" dirty="0"/>
              <a:t>• 保守场景下的投资回收期、关键里程碑和需要董事会批准的预算范围</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营销的最大成本不是预算，是信号延迟</a:t>
            </a:r>
          </a:p>
          <a:p>
            <a:endParaRPr lang="en-US" dirty="0"/>
          </a:p>
          <a:p>
            <a:r>
              <a:rPr lang="zh-CN" dirty="0"/>
              <a:t>当洞察从产生到执行要穿越5个部门、3个系统、2周时间，所有“精准营销”都只是事后解释。</a:t>
            </a:r>
          </a:p>
          <a:p>
            <a:endParaRPr lang="en-US" dirty="0"/>
          </a:p>
          <a:p>
            <a:r>
              <a:rPr lang="zh-CN" dirty="0"/>
              <a:t>• 典型企业超过70%的客户数据从未进入任何决策系统</a:t>
            </a:r>
          </a:p>
          <a:p>
            <a:r>
              <a:rPr lang="zh-CN" dirty="0"/>
              <a:t>• 营销活动从计划到启动平均耗时17天，AI工作台可将此缩短至小时级</a:t>
            </a:r>
          </a:p>
          <a:p>
            <a:r>
              <a:rPr lang="zh-CN" dirty="0"/>
              <a:t>• 每次决策延迟相当于在转化曲线上永久损失2-4%的潜在收入</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两种营销操作系统：拼接vs.一体</a:t>
            </a:r>
          </a:p>
          <a:p>
            <a:endParaRPr lang="en-US" dirty="0"/>
          </a:p>
          <a:p>
            <a:r>
              <a:rPr lang="zh-CN" dirty="0"/>
              <a:t>不是功能的多与少，而是决策闭环是否能在同一个系统内实时完成。</a:t>
            </a:r>
          </a:p>
          <a:p>
            <a:endParaRPr lang="en-US" dirty="0"/>
          </a:p>
          <a:p>
            <a:r>
              <a:rPr lang="zh-CN" dirty="0"/>
              <a:t>• CDP、MA、BI、广告平台独立运行，数据通过ETL批量同步，策略依赖人工复盘和季度规划；响应市场变化以周为单位</a:t>
            </a:r>
          </a:p>
          <a:p>
            <a:r>
              <a:rPr lang="zh-CN" dirty="0"/>
              <a:t>• 统一数据层→实时AI归因与预测→自动化多渠道编排→分钟级效果回传；整个OODA循环在系统内完成</a:t>
            </a:r>
          </a:p>
          <a:p>
            <a:r>
              <a:rPr lang="zh-CN" dirty="0"/>
              <a:t>• 关键变量对比</a:t>
            </a:r>
          </a:p>
          <a:p>
            <a:r>
              <a:rPr lang="zh-CN" dirty="0"/>
              <a:t>• 不同路径影响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先行者已经拿到了真金白银</a:t>
            </a:r>
          </a:p>
          <a:p>
            <a:endParaRPr lang="en-US" dirty="0"/>
          </a:p>
          <a:p>
            <a:r>
              <a:rPr lang="zh-CN" dirty="0"/>
              <a:t>以下结果来自同行业在AWS/GCP/Azure上部署同类AI营销工作台的12个月实测数据。</a:t>
            </a:r>
          </a:p>
          <a:p>
            <a:endParaRPr lang="en-US" dirty="0"/>
          </a:p>
          <a:p>
            <a:r>
              <a:rPr lang="zh-CN" dirty="0"/>
              <a:t>• 某D2C品牌通过整合线上线下行为数据并应用AI驱动的个性化推荐，6个月内LTV显著上升，且退货率下降5个百分点</a:t>
            </a:r>
          </a:p>
          <a:p>
            <a:r>
              <a:rPr lang="zh-CN" dirty="0"/>
              <a:t>• 一家金融服务公司利用自动化工作流引擎和预训练模型，使跨渠道活动上线速度加快80%，合规审批仍在流程内</a:t>
            </a:r>
          </a:p>
          <a:p>
            <a:r>
              <a:rPr lang="zh-CN" dirty="0"/>
              <a:t>• B2B科技企业将意图数据、CRM和广告投放三方数据打通，AI动态分配预算至高意向渠道，前三季度即超目标</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保守财务模型：18个月的投资逻辑</a:t>
            </a:r>
          </a:p>
          <a:p>
            <a:endParaRPr lang="en-US" dirty="0"/>
          </a:p>
          <a:p>
            <a:r>
              <a:rPr lang="zh-CN" dirty="0"/>
              <a:t>基于中等规模企业（年营收5-20亿人民币）的典型部署场景，不含战略折扣。</a:t>
            </a:r>
          </a:p>
          <a:p>
            <a:endParaRPr lang="en-US" dirty="0"/>
          </a:p>
          <a:p>
            <a:r>
              <a:rPr lang="zh-CN" dirty="0"/>
              <a:t>• 投资回收期</a:t>
            </a:r>
          </a:p>
          <a:p>
            <a:r>
              <a:rPr lang="zh-CN" dirty="0"/>
              <a:t>• 首年总拥有成本</a:t>
            </a:r>
          </a:p>
          <a:p>
            <a:r>
              <a:rPr lang="zh-CN" dirty="0"/>
              <a:t>• 数据合规通过率</a:t>
            </a:r>
          </a:p>
          <a:p>
            <a:r>
              <a:rPr lang="zh-CN" dirty="0"/>
              <a:t>• 团队学习成本</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部署前vs部署后：关键效率指标</a:t>
            </a:r>
          </a:p>
          <a:p>
            <a:endParaRPr lang="en-US" dirty="0"/>
          </a:p>
          <a:p>
            <a:r>
              <a:rPr lang="zh-CN" dirty="0"/>
              <a:t>数据来自10家同规模企业部署同类AI工作台的平均表现，基线为部署前12个月。</a:t>
            </a:r>
          </a:p>
          <a:p>
            <a:endParaRPr lang="en-US" dirty="0"/>
          </a:p>
          <a:p>
            <a:r>
              <a:rPr lang="zh-CN" dirty="0"/>
              <a:t>• 从仅依赖CRM和官网，扩展至全渠道事件、社交媒体和IoT触点</a:t>
            </a:r>
          </a:p>
          <a:p>
            <a:r>
              <a:rPr lang="zh-CN" dirty="0"/>
              <a:t>• 从简单规则转向深度学习模型，冷启动后3个月稳定在90%以上</a:t>
            </a:r>
          </a:p>
          <a:p>
            <a:r>
              <a:rPr lang="zh-CN" dirty="0"/>
              <a:t>• 从绝大部分手工操作到系统自动处理触发、A/B测试和预算重分配</a:t>
            </a:r>
          </a:p>
          <a:p>
            <a:r>
              <a:rPr lang="zh-CN" dirty="0"/>
              <a:t>• 从月度BI报告转为实时仪表盘，模型更新后立即反映在效果指标中</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接下来90天：从决策到第一个增长循环</a:t>
            </a:r>
          </a:p>
          <a:p>
            <a:endParaRPr lang="en-US" dirty="0"/>
          </a:p>
          <a:p>
            <a:r>
              <a:rPr lang="zh-CN" dirty="0"/>
              <a:t>所有列出的动作都已有可签约的供应商、内部团队模板和合规预审路径。</a:t>
            </a:r>
          </a:p>
          <a:p>
            <a:endParaRPr lang="en-US" dirty="0"/>
          </a:p>
          <a:p>
            <a:r>
              <a:rPr lang="zh-CN" dirty="0"/>
              <a:t>• 董事会批准预算与SOW，任命内部项目经理和业务负责人</a:t>
            </a:r>
          </a:p>
          <a:p>
            <a:r>
              <a:rPr lang="zh-CN" dirty="0"/>
              <a:t>• 供应商部署环境，映射关键数据源，输出数据质量基线报告</a:t>
            </a:r>
          </a:p>
          <a:p>
            <a:r>
              <a:rPr lang="zh-CN" dirty="0"/>
              <a:t>• 首个AI模型（客户流失预警）上线A/B测试，交付第一次ROI评估</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p:spTree>
      <p:nvGrpSpPr>
        <p:cNvPr id="1" name=""/>
        <p:cNvGrpSpPr/>
        <p:nvPr/>
      </p:nvGrpSpPr>
      <p:grpSpPr>
        <a:xfrm>
          <a:off x="0" y="0"/>
          <a:ext cx="0" cy="0"/>
          <a:chOff x="0" y="0"/>
          <a:chExt cx="0" cy="0"/>
        </a:xfrm>
      </p:grpSpPr>
    </p:spTree>
    <p:extLst>
      <p:ext uri="{BB962C8B-B14F-4D97-AF65-F5344CB8AC3E}">
        <p14:creationId val="1212999818"/>
      </p:ext>
    </p:extLst>
  </p:cSld>
  <p:clrMapOvr>
    <a:masterClrMapping/>
  </p:clrMapOvr>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Agenda">
    <p:spTree>
      <p:nvGrpSpPr>
        <p:cNvPr id="1" name=""/>
        <p:cNvGrpSpPr/>
        <p:nvPr/>
      </p:nvGrpSpPr>
      <p:grpSpPr>
        <a:xfrm>
          <a:off x="0" y="0"/>
          <a:ext cx="0" cy="0"/>
          <a:chOff x="0" y="0"/>
          <a:chExt cx="0" cy="0"/>
        </a:xfrm>
      </p:grpSpPr>
    </p:spTree>
    <p:extLst>
      <p:ext uri="{BB962C8B-B14F-4D97-AF65-F5344CB8AC3E}">
        <p14:creationId val="1212999818"/>
      </p:ext>
    </p:extLst>
  </p:cSld>
  <p:clrMapOvr>
    <a:masterClrMapping/>
  </p:clrMapOvr>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ntent">
    <p:spTree>
      <p:nvGrpSpPr>
        <p:cNvPr id="1" name=""/>
        <p:cNvGrpSpPr/>
        <p:nvPr/>
      </p:nvGrpSpPr>
      <p:grpSpPr>
        <a:xfrm>
          <a:off x="0" y="0"/>
          <a:ext cx="0" cy="0"/>
          <a:chOff x="0" y="0"/>
          <a:chExt cx="0" cy="0"/>
        </a:xfrm>
      </p:grpSpPr>
    </p:spTree>
    <p:extLst>
      <p:ext uri="{BB962C8B-B14F-4D97-AF65-F5344CB8AC3E}">
        <p14:creationId val="1212999818"/>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image" Target="../media/image_5964d0aa44935984.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8"/>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6858000"/>
            </a:xfrm>
            <a:prstGeom prst="rect">
              <a:avLst/>
            </a:prstGeom>
            <a:gradFill>
              <a:gsLst>
                <a:gs pos="0">
                  <a:schemeClr val="accent2">
                    <a:alpha val="15000"/>
                  </a:schemeClr>
                </a:gs>
                <a:gs pos="100000">
                  <a:schemeClr val="accent2">
                    <a:alpha val="0"/>
                  </a:schemeClr>
                </a:gs>
              </a:gsLst>
              <a:path path="circle">
                <a:fillToRect l="50000" t="50000" r="50000" b="50000"/>
              </a:path>
            </a:gradFill>
            <a:ln>
              <a:noFill/>
            </a:ln>
          </p:spPr>
        </p:sp>
        <p:pic>
          <p:nvPicPr>
            <p:cNvPr id="4" name="Image 4"/>
            <p:cNvPicPr>
              <a:picLocks noChangeAspect="1"/>
            </p:cNvPicPr>
            <p:nvPr/>
          </p:nvPicPr>
          <p:blipFill>
            <a:blip r:embed="rId2"/>
            <a:stretch>
              <a:fillRect/>
            </a:stretch>
          </p:blipFill>
          <p:spPr>
            <a:xfrm>
              <a:off x="0" y="0"/>
              <a:ext cx="12192000" cy="6858000"/>
            </a:xfrm>
            <a:prstGeom prst="rect">
              <a:avLst/>
            </a:prstGeom>
          </p:spPr>
        </p:pic>
        <p:sp>
          <p:nvSpPr>
            <p:cNvPr id="5" name="Rectangle 5"/>
            <p:cNvSpPr/>
            <p:nvPr/>
          </p:nvSpPr>
          <p:spPr>
            <a:xfrm>
              <a:off x="0" y="0"/>
              <a:ext cx="12192000" cy="6858000"/>
            </a:xfrm>
            <a:prstGeom prst="rect">
              <a:avLst/>
            </a:prstGeom>
            <a:gradFill>
              <a:gsLst>
                <a:gs pos="0">
                  <a:schemeClr val="lt1">
                    <a:alpha val="98000"/>
                  </a:schemeClr>
                </a:gs>
                <a:gs pos="62000">
                  <a:schemeClr val="lt1">
                    <a:alpha val="90000"/>
                  </a:schemeClr>
                </a:gs>
                <a:gs pos="100000">
                  <a:schemeClr val="lt1">
                    <a:alpha val="20000"/>
                  </a:schemeClr>
                </a:gs>
              </a:gsLst>
              <a:lin ang="0" scaled="1"/>
            </a:gradFill>
            <a:ln>
              <a:noFill/>
            </a:ln>
          </p:spPr>
        </p:sp>
        <p:sp>
          <p:nvSpPr>
            <p:cNvPr id="6" name="Line 6"/>
            <p:cNvSpPr/>
            <p:nvPr/>
          </p:nvSpPr>
          <p:spPr>
            <a:xfrm>
              <a:off x="0" y="800100"/>
              <a:ext cx="12192000" cy="9525"/>
            </a:xfrm>
            <a:custGeom>
              <a:avLst/>
              <a:gdLst/>
              <a:ahLst/>
              <a:cxnLst/>
              <a:rect l="l" t="t" r="r" b="b"/>
              <a:pathLst>
                <a:path w="12192000" h="9525">
                  <a:moveTo>
                    <a:pt x="0" y="0"/>
                  </a:moveTo>
                  <a:lnTo>
                    <a:pt x="12192000" y="0"/>
                  </a:lnTo>
                </a:path>
              </a:pathLst>
            </a:custGeom>
            <a:noFill/>
            <a:ln w="9525">
              <a:solidFill>
                <a:schemeClr val="accent4"/>
              </a:solidFill>
            </a:ln>
          </p:spPr>
        </p:sp>
        <p:sp>
          <p:nvSpPr>
            <p:cNvPr id="7" name="Line 7"/>
            <p:cNvSpPr/>
            <p:nvPr/>
          </p:nvSpPr>
          <p:spPr>
            <a:xfrm>
              <a:off x="0" y="6057900"/>
              <a:ext cx="12192000" cy="9525"/>
            </a:xfrm>
            <a:custGeom>
              <a:avLst/>
              <a:gdLst/>
              <a:ahLst/>
              <a:cxnLst/>
              <a:rect l="l" t="t" r="r" b="b"/>
              <a:pathLst>
                <a:path w="12192000" h="9525">
                  <a:moveTo>
                    <a:pt x="0" y="0"/>
                  </a:moveTo>
                  <a:lnTo>
                    <a:pt x="12192000" y="0"/>
                  </a:lnTo>
                </a:path>
              </a:pathLst>
            </a:custGeom>
            <a:noFill/>
            <a:ln w="9525">
              <a:solidFill>
                <a:schemeClr val="accent4"/>
              </a:solidFill>
            </a:ln>
          </p:spPr>
        </p:sp>
        <p:sp>
          <p:nvSpPr>
            <p:cNvPr id="8" name="Line 8"/>
            <p:cNvSpPr/>
            <p:nvPr/>
          </p:nvSpPr>
          <p:spPr>
            <a:xfrm>
              <a:off x="8953500" y="0"/>
              <a:ext cx="9525" cy="6858000"/>
            </a:xfrm>
            <a:custGeom>
              <a:avLst/>
              <a:gdLst/>
              <a:ahLst/>
              <a:cxnLst/>
              <a:rect l="l" t="t" r="r" b="b"/>
              <a:pathLst>
                <a:path w="9525" h="6858000">
                  <a:moveTo>
                    <a:pt x="0" y="0"/>
                  </a:moveTo>
                  <a:lnTo>
                    <a:pt x="0" y="6858000"/>
                  </a:lnTo>
                </a:path>
              </a:pathLst>
            </a:custGeom>
            <a:noFill/>
            <a:ln w="9525">
              <a:solidFill>
                <a:schemeClr val="accent4">
                  <a:alpha val="45000"/>
                </a:schemeClr>
              </a:solidFill>
            </a:ln>
          </p:spPr>
        </p:sp>
        <p:sp>
          <p:nvSpPr>
            <p:cNvPr id="9" name="Line 9"/>
            <p:cNvSpPr/>
            <p:nvPr/>
          </p:nvSpPr>
          <p:spPr>
            <a:xfrm>
              <a:off x="9715500" y="0"/>
              <a:ext cx="9525" cy="6858000"/>
            </a:xfrm>
            <a:custGeom>
              <a:avLst/>
              <a:gdLst/>
              <a:ahLst/>
              <a:cxnLst/>
              <a:rect l="l" t="t" r="r" b="b"/>
              <a:pathLst>
                <a:path w="9525" h="6858000">
                  <a:moveTo>
                    <a:pt x="0" y="0"/>
                  </a:moveTo>
                  <a:lnTo>
                    <a:pt x="0" y="6858000"/>
                  </a:lnTo>
                </a:path>
              </a:pathLst>
            </a:custGeom>
            <a:noFill/>
            <a:ln w="9525">
              <a:solidFill>
                <a:schemeClr val="accent4">
                  <a:alpha val="25000"/>
                </a:schemeClr>
              </a:solidFill>
            </a:ln>
          </p:spPr>
        </p:sp>
        <p:sp>
          <p:nvSpPr>
            <p:cNvPr id="10" name="Line 10"/>
            <p:cNvSpPr/>
            <p:nvPr/>
          </p:nvSpPr>
          <p:spPr>
            <a:xfrm>
              <a:off x="10477500" y="0"/>
              <a:ext cx="9525" cy="6858000"/>
            </a:xfrm>
            <a:custGeom>
              <a:avLst/>
              <a:gdLst/>
              <a:ahLst/>
              <a:cxnLst/>
              <a:rect l="l" t="t" r="r" b="b"/>
              <a:pathLst>
                <a:path w="9525" h="6858000">
                  <a:moveTo>
                    <a:pt x="0" y="0"/>
                  </a:moveTo>
                  <a:lnTo>
                    <a:pt x="0" y="6858000"/>
                  </a:lnTo>
                </a:path>
              </a:pathLst>
            </a:custGeom>
            <a:noFill/>
            <a:ln w="9525">
              <a:solidFill>
                <a:schemeClr val="accent4">
                  <a:alpha val="25000"/>
                </a:schemeClr>
              </a:solidFill>
            </a:ln>
          </p:spPr>
        </p:sp>
        <p:sp>
          <p:nvSpPr>
            <p:cNvPr id="11" name="Line 11"/>
            <p:cNvSpPr/>
            <p:nvPr/>
          </p:nvSpPr>
          <p:spPr>
            <a:xfrm>
              <a:off x="11239500" y="0"/>
              <a:ext cx="9525" cy="6858000"/>
            </a:xfrm>
            <a:custGeom>
              <a:avLst/>
              <a:gdLst/>
              <a:ahLst/>
              <a:cxnLst/>
              <a:rect l="l" t="t" r="r" b="b"/>
              <a:pathLst>
                <a:path w="9525" h="6858000">
                  <a:moveTo>
                    <a:pt x="0" y="0"/>
                  </a:moveTo>
                  <a:lnTo>
                    <a:pt x="0" y="6858000"/>
                  </a:lnTo>
                </a:path>
              </a:pathLst>
            </a:custGeom>
            <a:noFill/>
            <a:ln w="9525">
              <a:solidFill>
                <a:schemeClr val="accent4">
                  <a:alpha val="25000"/>
                </a:schemeClr>
              </a:solidFill>
            </a:ln>
          </p:spPr>
        </p:sp>
        <p:sp>
          <p:nvSpPr>
            <p:cNvPr id="12" name="Line 12"/>
            <p:cNvSpPr/>
            <p:nvPr/>
          </p:nvSpPr>
          <p:spPr>
            <a:xfrm>
              <a:off x="0" y="152400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sp>
          <p:nvSpPr>
            <p:cNvPr id="13" name="Line 13"/>
            <p:cNvSpPr/>
            <p:nvPr/>
          </p:nvSpPr>
          <p:spPr>
            <a:xfrm>
              <a:off x="0" y="228600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sp>
          <p:nvSpPr>
            <p:cNvPr id="14" name="Line 14"/>
            <p:cNvSpPr/>
            <p:nvPr/>
          </p:nvSpPr>
          <p:spPr>
            <a:xfrm>
              <a:off x="0" y="304800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sp>
          <p:nvSpPr>
            <p:cNvPr id="15" name="Line 15"/>
            <p:cNvSpPr/>
            <p:nvPr/>
          </p:nvSpPr>
          <p:spPr>
            <a:xfrm>
              <a:off x="0" y="381000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sp>
          <p:nvSpPr>
            <p:cNvPr id="16" name="Line 16"/>
            <p:cNvSpPr/>
            <p:nvPr/>
          </p:nvSpPr>
          <p:spPr>
            <a:xfrm>
              <a:off x="0" y="457200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sp>
          <p:nvSpPr>
            <p:cNvPr id="17" name="Line 17"/>
            <p:cNvSpPr/>
            <p:nvPr/>
          </p:nvSpPr>
          <p:spPr>
            <a:xfrm>
              <a:off x="0" y="533400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grpSp>
      <p:grpSp>
        <p:nvGrpSpPr>
          <p:cNvPr id="23" name="Group 23"/>
          <p:cNvGrpSpPr/>
          <p:nvPr/>
        </p:nvGrpSpPr>
        <p:grpSpPr>
          <a:xfrm>
            <a:off x="566166" y="343852"/>
            <a:ext cx="10963847" cy="6148864"/>
            <a:chOff x="566166" y="343852"/>
            <a:chExt cx="10963847" cy="6148864"/>
          </a:xfrm>
        </p:grpSpPr>
        <p:sp>
          <p:nvSpPr>
            <p:cNvPr id="19" name="TextBox 19"/>
            <p:cNvSpPr txBox="1"/>
            <p:nvPr/>
          </p:nvSpPr>
          <p:spPr>
            <a:xfrm>
              <a:off x="566166" y="343852"/>
              <a:ext cx="845972" cy="205359"/>
            </a:xfrm>
            <a:prstGeom prst="rect">
              <a:avLst/>
            </a:prstGeom>
            <a:noFill/>
            <a:ln>
              <a:noFill/>
            </a:ln>
          </p:spPr>
          <p:txBody>
            <a:bodyPr wrap="none" lIns="0" tIns="0" rIns="0" bIns="0" anchor="t" anchorCtr="0">
              <a:spAutoFit/>
            </a:bodyPr>
            <a:lstStyle/>
            <a:p>
              <a:pPr algn="l"/>
              <a:r>
                <a:rPr lang="en-US" sz="1050" spc="150" dirty="0">
                  <a:solidFill>
                    <a:schemeClr val="accent2"/>
                  </a:solidFill>
                  <a:latin typeface="Consolas"/>
                  <a:ea typeface="Consolas"/>
                  <a:cs typeface="Consolas"/>
                </a:rPr>
                <a:t>GRIDBRIEF</a:t>
              </a:r>
            </a:p>
          </p:txBody>
        </p:sp>
        <p:sp>
          <p:nvSpPr>
            <p:cNvPr id="20" name="Line 20"/>
            <p:cNvSpPr/>
            <p:nvPr/>
          </p:nvSpPr>
          <p:spPr>
            <a:xfrm>
              <a:off x="571500" y="914400"/>
              <a:ext cx="1066800" cy="9525"/>
            </a:xfrm>
            <a:custGeom>
              <a:avLst/>
              <a:gdLst/>
              <a:ahLst/>
              <a:cxnLst/>
              <a:rect l="l" t="t" r="r" b="b"/>
              <a:pathLst>
                <a:path w="1066800" h="9525">
                  <a:moveTo>
                    <a:pt x="0" y="0"/>
                  </a:moveTo>
                  <a:lnTo>
                    <a:pt x="1066800" y="0"/>
                  </a:lnTo>
                </a:path>
              </a:pathLst>
            </a:custGeom>
            <a:noFill/>
            <a:ln w="28575">
              <a:solidFill>
                <a:schemeClr val="accent2"/>
              </a:solidFill>
            </a:ln>
          </p:spPr>
        </p:sp>
        <p:sp>
          <p:nvSpPr>
            <p:cNvPr id="21" name="TextBox 21"/>
            <p:cNvSpPr txBox="1"/>
            <p:nvPr/>
          </p:nvSpPr>
          <p:spPr>
            <a:xfrm>
              <a:off x="566738" y="6330791"/>
              <a:ext cx="191741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企业 AI 营销工作台 / product-launch</a:t>
              </a:r>
            </a:p>
          </p:txBody>
        </p:sp>
        <p:sp>
          <p:nvSpPr>
            <p:cNvPr id="22" name="TextBox 22"/>
            <p:cNvSpPr txBox="1"/>
            <p:nvPr/>
          </p:nvSpPr>
          <p:spPr>
            <a:xfrm>
              <a:off x="11398320" y="6330791"/>
              <a:ext cx="131693"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Consolas"/>
                  <a:ea typeface="Consolas"/>
                  <a:cs typeface="Consolas"/>
                </a:rPr>
                <a:t>01</a:t>
              </a:r>
            </a:p>
          </p:txBody>
        </p:sp>
      </p:grpSp>
      <p:grpSp>
        <p:nvGrpSpPr>
          <p:cNvPr id="40" name="Group 40"/>
          <p:cNvGrpSpPr/>
          <p:nvPr/>
        </p:nvGrpSpPr>
        <p:grpSpPr>
          <a:xfrm>
            <a:off x="552450" y="1257300"/>
            <a:ext cx="7260603" cy="4095750"/>
            <a:chOff x="552450" y="1257300"/>
            <a:chExt cx="7260603" cy="4095750"/>
          </a:xfrm>
        </p:grpSpPr>
        <p:sp>
          <p:nvSpPr>
            <p:cNvPr id="24" name="Freeform 24"/>
            <p:cNvSpPr/>
            <p:nvPr/>
          </p:nvSpPr>
          <p:spPr>
            <a:xfrm>
              <a:off x="571500" y="1257300"/>
              <a:ext cx="4953000" cy="4095750"/>
            </a:xfrm>
            <a:custGeom>
              <a:avLst/>
              <a:gdLst/>
              <a:ahLst/>
              <a:cxnLst/>
              <a:rect l="l" t="t" r="r" b="b"/>
              <a:pathLst>
                <a:path w="4953000" h="4095750">
                  <a:moveTo>
                    <a:pt x="171450" y="0"/>
                  </a:moveTo>
                  <a:lnTo>
                    <a:pt x="4781550" y="0"/>
                  </a:lnTo>
                  <a:cubicBezTo>
                    <a:pt x="4876239" y="0"/>
                    <a:pt x="4953000" y="76761"/>
                    <a:pt x="4953000" y="171450"/>
                  </a:cubicBezTo>
                  <a:lnTo>
                    <a:pt x="4953000" y="3924300"/>
                  </a:lnTo>
                  <a:cubicBezTo>
                    <a:pt x="4953000" y="4018989"/>
                    <a:pt x="4876239" y="4095750"/>
                    <a:pt x="4781550" y="4095750"/>
                  </a:cubicBezTo>
                  <a:lnTo>
                    <a:pt x="171450" y="4095750"/>
                  </a:lnTo>
                  <a:cubicBezTo>
                    <a:pt x="76761" y="4095750"/>
                    <a:pt x="0" y="4018989"/>
                    <a:pt x="0" y="3924300"/>
                  </a:cubicBezTo>
                  <a:lnTo>
                    <a:pt x="0" y="171450"/>
                  </a:lnTo>
                  <a:cubicBezTo>
                    <a:pt x="0" y="76761"/>
                    <a:pt x="76761" y="0"/>
                    <a:pt x="171450" y="0"/>
                  </a:cubicBezTo>
                  <a:close/>
                </a:path>
              </a:pathLst>
            </a:custGeom>
            <a:solidFill>
              <a:schemeClr val="lt1">
                <a:alpha val="62000"/>
              </a:schemeClr>
            </a:solidFill>
            <a:ln>
              <a:noFill/>
            </a:ln>
          </p:spPr>
        </p:sp>
        <p:sp>
          <p:nvSpPr>
            <p:cNvPr id="25" name="TextBox 25"/>
            <p:cNvSpPr txBox="1"/>
            <p:nvPr/>
          </p:nvSpPr>
          <p:spPr>
            <a:xfrm>
              <a:off x="552450" y="1514475"/>
              <a:ext cx="7260603" cy="876300"/>
            </a:xfrm>
            <a:prstGeom prst="rect">
              <a:avLst/>
            </a:prstGeom>
            <a:noFill/>
            <a:ln>
              <a:noFill/>
            </a:ln>
          </p:spPr>
          <p:txBody>
            <a:bodyPr wrap="none" lIns="0" tIns="0" rIns="0" bIns="0" anchor="t" anchorCtr="0">
              <a:spAutoFit/>
            </a:bodyPr>
            <a:lstStyle/>
            <a:p>
              <a:pPr algn="l"/>
              <a:r>
                <a:rPr lang="zh-CN" sz="4500" b="1" dirty="0">
                  <a:gradFill>
                    <a:gsLst>
                      <a:gs pos="0">
                        <a:schemeClr val="accent1"/>
                      </a:gs>
                      <a:gs pos="100000">
                        <a:schemeClr val="accent2"/>
                      </a:gs>
                    </a:gsLst>
                    <a:lin ang="2700000" scaled="1"/>
                  </a:gradFill>
                  <a:latin typeface="+mj-lt"/>
                  <a:ea typeface="+mj-ea"/>
                  <a:cs typeface="+mj-cs"/>
                </a:rPr>
                <a:t>企业AI营销工作台：</a:t>
              </a:r>
            </a:p>
          </p:txBody>
        </p:sp>
        <p:sp>
          <p:nvSpPr>
            <p:cNvPr id="26" name="TextBox 26"/>
            <p:cNvSpPr txBox="1"/>
            <p:nvPr/>
          </p:nvSpPr>
          <p:spPr>
            <a:xfrm>
              <a:off x="552450" y="2238375"/>
              <a:ext cx="6758940" cy="876300"/>
            </a:xfrm>
            <a:prstGeom prst="rect">
              <a:avLst/>
            </a:prstGeom>
            <a:noFill/>
            <a:ln>
              <a:noFill/>
            </a:ln>
          </p:spPr>
          <p:txBody>
            <a:bodyPr wrap="none" lIns="0" tIns="0" rIns="0" bIns="0" anchor="t" anchorCtr="0">
              <a:spAutoFit/>
            </a:bodyPr>
            <a:lstStyle/>
            <a:p>
              <a:pPr algn="l"/>
              <a:r>
                <a:rPr lang="zh-CN" sz="4500" b="1" dirty="0">
                  <a:gradFill>
                    <a:gsLst>
                      <a:gs pos="0">
                        <a:schemeClr val="accent1"/>
                      </a:gs>
                      <a:gs pos="100000">
                        <a:schemeClr val="accent2"/>
                      </a:gs>
                    </a:gsLst>
                    <a:lin ang="2700000" scaled="1"/>
                  </a:gradFill>
                  <a:latin typeface="+mj-lt"/>
                  <a:ea typeface="+mj-ea"/>
                  <a:cs typeface="+mj-cs"/>
                </a:rPr>
                <a:t>从数据碎片到增长引擎</a:t>
              </a:r>
            </a:p>
          </p:txBody>
        </p:sp>
        <p:sp>
          <p:nvSpPr>
            <p:cNvPr id="27" name="TextBox 27"/>
            <p:cNvSpPr txBox="1"/>
            <p:nvPr/>
          </p:nvSpPr>
          <p:spPr>
            <a:xfrm>
              <a:off x="601218" y="3098482"/>
              <a:ext cx="35707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营销数据割裂、决策滞后、执行低效</a:t>
              </a:r>
            </a:p>
          </p:txBody>
        </p:sp>
        <p:sp>
          <p:nvSpPr>
            <p:cNvPr id="28" name="TextBox 28"/>
            <p:cNvSpPr txBox="1"/>
            <p:nvPr/>
          </p:nvSpPr>
          <p:spPr>
            <a:xfrm>
              <a:off x="601218" y="3422332"/>
              <a:ext cx="397139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正在吃掉利润率；一个统一的AI工作台</a:t>
              </a:r>
            </a:p>
          </p:txBody>
        </p:sp>
        <p:sp>
          <p:nvSpPr>
            <p:cNvPr id="29" name="TextBox 29"/>
            <p:cNvSpPr txBox="1"/>
            <p:nvPr/>
          </p:nvSpPr>
          <p:spPr>
            <a:xfrm>
              <a:off x="601218" y="3746182"/>
              <a:ext cx="268224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可以同时解决这四个问题。</a:t>
              </a:r>
            </a:p>
          </p:txBody>
        </p:sp>
        <p:sp>
          <p:nvSpPr>
            <p:cNvPr id="30" name="Line 30"/>
            <p:cNvSpPr/>
            <p:nvPr/>
          </p:nvSpPr>
          <p:spPr>
            <a:xfrm>
              <a:off x="609600" y="3829050"/>
              <a:ext cx="3295650" cy="9525"/>
            </a:xfrm>
            <a:custGeom>
              <a:avLst/>
              <a:gdLst/>
              <a:ahLst/>
              <a:cxnLst/>
              <a:rect l="l" t="t" r="r" b="b"/>
              <a:pathLst>
                <a:path w="3295650" h="9525">
                  <a:moveTo>
                    <a:pt x="0" y="0"/>
                  </a:moveTo>
                  <a:lnTo>
                    <a:pt x="3295650" y="0"/>
                  </a:lnTo>
                </a:path>
              </a:pathLst>
            </a:custGeom>
            <a:noFill/>
            <a:ln w="14288">
              <a:solidFill>
                <a:schemeClr val="accent2">
                  <a:alpha val="45000"/>
                </a:schemeClr>
              </a:solidFill>
            </a:ln>
          </p:spPr>
        </p:sp>
        <p:sp>
          <p:nvSpPr>
            <p:cNvPr id="31" name="Freeform 31"/>
            <p:cNvSpPr/>
            <p:nvPr/>
          </p:nvSpPr>
          <p:spPr>
            <a:xfrm>
              <a:off x="609600" y="4114800"/>
              <a:ext cx="2000250" cy="514350"/>
            </a:xfrm>
            <a:custGeom>
              <a:avLst/>
              <a:gdLst/>
              <a:ahLst/>
              <a:cxnLst/>
              <a:rect l="l" t="t" r="r" b="b"/>
              <a:pathLst>
                <a:path w="2000250" h="514350">
                  <a:moveTo>
                    <a:pt x="95250" y="0"/>
                  </a:moveTo>
                  <a:lnTo>
                    <a:pt x="1905000" y="0"/>
                  </a:lnTo>
                  <a:cubicBezTo>
                    <a:pt x="1957605" y="0"/>
                    <a:pt x="2000250" y="42645"/>
                    <a:pt x="2000250" y="95250"/>
                  </a:cubicBezTo>
                  <a:lnTo>
                    <a:pt x="2000250" y="419100"/>
                  </a:lnTo>
                  <a:cubicBezTo>
                    <a:pt x="2000250" y="471705"/>
                    <a:pt x="1957605" y="514350"/>
                    <a:pt x="1905000" y="514350"/>
                  </a:cubicBezTo>
                  <a:lnTo>
                    <a:pt x="95250" y="514350"/>
                  </a:lnTo>
                  <a:cubicBezTo>
                    <a:pt x="42645" y="514350"/>
                    <a:pt x="0" y="471705"/>
                    <a:pt x="0" y="419100"/>
                  </a:cubicBezTo>
                  <a:lnTo>
                    <a:pt x="0" y="95250"/>
                  </a:lnTo>
                  <a:cubicBezTo>
                    <a:pt x="0" y="42645"/>
                    <a:pt x="42645" y="0"/>
                    <a:pt x="95250" y="0"/>
                  </a:cubicBezTo>
                  <a:close/>
                </a:path>
              </a:pathLst>
            </a:custGeom>
            <a:solidFill>
              <a:schemeClr val="lt2"/>
            </a:solidFill>
            <a:ln w="9525">
              <a:solidFill>
                <a:schemeClr val="accent4"/>
              </a:solidFill>
            </a:ln>
          </p:spPr>
        </p:sp>
        <p:sp>
          <p:nvSpPr>
            <p:cNvPr id="32" name="Freeform 32"/>
            <p:cNvSpPr/>
            <p:nvPr/>
          </p:nvSpPr>
          <p:spPr>
            <a:xfrm>
              <a:off x="2724150" y="4114800"/>
              <a:ext cx="1390650" cy="514350"/>
            </a:xfrm>
            <a:custGeom>
              <a:avLst/>
              <a:gdLst/>
              <a:ahLst/>
              <a:cxnLst/>
              <a:rect l="l" t="t" r="r" b="b"/>
              <a:pathLst>
                <a:path w="1390650" h="514350">
                  <a:moveTo>
                    <a:pt x="95250" y="0"/>
                  </a:moveTo>
                  <a:lnTo>
                    <a:pt x="1295400" y="0"/>
                  </a:lnTo>
                  <a:cubicBezTo>
                    <a:pt x="1348005" y="0"/>
                    <a:pt x="1390650" y="42645"/>
                    <a:pt x="1390650" y="95250"/>
                  </a:cubicBezTo>
                  <a:lnTo>
                    <a:pt x="1390650" y="419100"/>
                  </a:lnTo>
                  <a:cubicBezTo>
                    <a:pt x="1390650" y="471705"/>
                    <a:pt x="1348005" y="514350"/>
                    <a:pt x="1295400" y="514350"/>
                  </a:cubicBezTo>
                  <a:lnTo>
                    <a:pt x="95250" y="514350"/>
                  </a:lnTo>
                  <a:cubicBezTo>
                    <a:pt x="42645" y="514350"/>
                    <a:pt x="0" y="471705"/>
                    <a:pt x="0" y="419100"/>
                  </a:cubicBezTo>
                  <a:lnTo>
                    <a:pt x="0" y="95250"/>
                  </a:lnTo>
                  <a:cubicBezTo>
                    <a:pt x="0" y="42645"/>
                    <a:pt x="42645" y="0"/>
                    <a:pt x="95250" y="0"/>
                  </a:cubicBezTo>
                  <a:close/>
                </a:path>
              </a:pathLst>
            </a:custGeom>
            <a:solidFill>
              <a:schemeClr val="lt2"/>
            </a:solidFill>
            <a:ln w="9525">
              <a:solidFill>
                <a:schemeClr val="accent4"/>
              </a:solidFill>
            </a:ln>
          </p:spPr>
        </p:sp>
        <p:sp>
          <p:nvSpPr>
            <p:cNvPr id="33" name="Freeform 33"/>
            <p:cNvSpPr/>
            <p:nvPr/>
          </p:nvSpPr>
          <p:spPr>
            <a:xfrm>
              <a:off x="4229100" y="4114800"/>
              <a:ext cx="1066800" cy="514350"/>
            </a:xfrm>
            <a:custGeom>
              <a:avLst/>
              <a:gdLst/>
              <a:ahLst/>
              <a:cxnLst/>
              <a:rect l="l" t="t" r="r" b="b"/>
              <a:pathLst>
                <a:path w="1066800" h="514350">
                  <a:moveTo>
                    <a:pt x="95250" y="0"/>
                  </a:moveTo>
                  <a:lnTo>
                    <a:pt x="971550" y="0"/>
                  </a:lnTo>
                  <a:cubicBezTo>
                    <a:pt x="1024155" y="0"/>
                    <a:pt x="1066800" y="42645"/>
                    <a:pt x="1066800" y="95250"/>
                  </a:cubicBezTo>
                  <a:lnTo>
                    <a:pt x="1066800" y="419100"/>
                  </a:lnTo>
                  <a:cubicBezTo>
                    <a:pt x="1066800" y="471705"/>
                    <a:pt x="1024155" y="514350"/>
                    <a:pt x="971550" y="514350"/>
                  </a:cubicBezTo>
                  <a:lnTo>
                    <a:pt x="95250" y="514350"/>
                  </a:lnTo>
                  <a:cubicBezTo>
                    <a:pt x="42645" y="514350"/>
                    <a:pt x="0" y="471705"/>
                    <a:pt x="0" y="419100"/>
                  </a:cubicBezTo>
                  <a:lnTo>
                    <a:pt x="0" y="95250"/>
                  </a:lnTo>
                  <a:cubicBezTo>
                    <a:pt x="0" y="42645"/>
                    <a:pt x="42645" y="0"/>
                    <a:pt x="95250" y="0"/>
                  </a:cubicBezTo>
                  <a:close/>
                </a:path>
              </a:pathLst>
            </a:custGeom>
            <a:solidFill>
              <a:schemeClr val="lt2"/>
            </a:solidFill>
            <a:ln w="9525">
              <a:solidFill>
                <a:schemeClr val="accent4"/>
              </a:solidFill>
            </a:ln>
          </p:spPr>
        </p:sp>
        <p:sp>
          <p:nvSpPr>
            <p:cNvPr id="34" name="TextBox 34"/>
            <p:cNvSpPr txBox="1"/>
            <p:nvPr/>
          </p:nvSpPr>
          <p:spPr>
            <a:xfrm>
              <a:off x="793242" y="42929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数据整合</a:t>
              </a:r>
            </a:p>
          </p:txBody>
        </p:sp>
        <p:sp>
          <p:nvSpPr>
            <p:cNvPr id="35" name="TextBox 35"/>
            <p:cNvSpPr txBox="1"/>
            <p:nvPr/>
          </p:nvSpPr>
          <p:spPr>
            <a:xfrm>
              <a:off x="2907792" y="4292918"/>
              <a:ext cx="58834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AI分析</a:t>
              </a:r>
            </a:p>
          </p:txBody>
        </p:sp>
        <p:sp>
          <p:nvSpPr>
            <p:cNvPr id="36" name="TextBox 36"/>
            <p:cNvSpPr txBox="1"/>
            <p:nvPr/>
          </p:nvSpPr>
          <p:spPr>
            <a:xfrm>
              <a:off x="4412742" y="42929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自动执行</a:t>
              </a:r>
            </a:p>
          </p:txBody>
        </p:sp>
        <p:sp>
          <p:nvSpPr>
            <p:cNvPr id="37" name="Freeform 37"/>
            <p:cNvSpPr/>
            <p:nvPr/>
          </p:nvSpPr>
          <p:spPr>
            <a:xfrm>
              <a:off x="609600" y="4762500"/>
              <a:ext cx="4686300" cy="438150"/>
            </a:xfrm>
            <a:custGeom>
              <a:avLst/>
              <a:gdLst/>
              <a:ahLst/>
              <a:cxnLst/>
              <a:rect l="l" t="t" r="r" b="b"/>
              <a:pathLst>
                <a:path w="4686300" h="438150">
                  <a:moveTo>
                    <a:pt x="95250" y="0"/>
                  </a:moveTo>
                  <a:lnTo>
                    <a:pt x="4591050" y="0"/>
                  </a:lnTo>
                  <a:cubicBezTo>
                    <a:pt x="4643655" y="0"/>
                    <a:pt x="4686300" y="42645"/>
                    <a:pt x="4686300" y="95250"/>
                  </a:cubicBezTo>
                  <a:lnTo>
                    <a:pt x="4686300" y="342900"/>
                  </a:lnTo>
                  <a:cubicBezTo>
                    <a:pt x="4686300" y="395505"/>
                    <a:pt x="4643655" y="438150"/>
                    <a:pt x="4591050" y="438150"/>
                  </a:cubicBezTo>
                  <a:lnTo>
                    <a:pt x="95250" y="438150"/>
                  </a:lnTo>
                  <a:cubicBezTo>
                    <a:pt x="42645" y="438150"/>
                    <a:pt x="0" y="395505"/>
                    <a:pt x="0" y="342900"/>
                  </a:cubicBezTo>
                  <a:lnTo>
                    <a:pt x="0" y="95250"/>
                  </a:lnTo>
                  <a:cubicBezTo>
                    <a:pt x="0" y="42645"/>
                    <a:pt x="42645" y="0"/>
                    <a:pt x="95250" y="0"/>
                  </a:cubicBezTo>
                  <a:close/>
                </a:path>
              </a:pathLst>
            </a:custGeom>
            <a:solidFill>
              <a:schemeClr val="accent6"/>
            </a:solidFill>
            <a:ln w="9525">
              <a:solidFill>
                <a:schemeClr val="accent4"/>
              </a:solidFill>
            </a:ln>
          </p:spPr>
        </p:sp>
        <p:sp>
          <p:nvSpPr>
            <p:cNvPr id="38" name="TextBox 38"/>
            <p:cNvSpPr txBox="1"/>
            <p:nvPr/>
          </p:nvSpPr>
          <p:spPr>
            <a:xfrm>
              <a:off x="793242" y="4892992"/>
              <a:ext cx="77701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效果度量</a:t>
              </a:r>
            </a:p>
          </p:txBody>
        </p:sp>
        <p:sp>
          <p:nvSpPr>
            <p:cNvPr id="39" name="Ellipse 39"/>
            <p:cNvSpPr/>
            <p:nvPr/>
          </p:nvSpPr>
          <p:spPr>
            <a:xfrm>
              <a:off x="590550" y="1352550"/>
              <a:ext cx="76200" cy="76200"/>
            </a:xfrm>
            <a:prstGeom prst="ellipse">
              <a:avLst/>
            </a:prstGeom>
            <a:solidFill>
              <a:schemeClr val="accent2"/>
            </a:solidFill>
            <a:ln>
              <a:noFill/>
            </a:ln>
          </p:spPr>
        </p:sp>
      </p:grpSp>
      <p:grpSp>
        <p:nvGrpSpPr>
          <p:cNvPr id="56" name="Group 56"/>
          <p:cNvGrpSpPr/>
          <p:nvPr/>
        </p:nvGrpSpPr>
        <p:grpSpPr>
          <a:xfrm>
            <a:off x="7267575" y="1162050"/>
            <a:ext cx="4576420" cy="4572000"/>
            <a:chOff x="7267575" y="1162050"/>
            <a:chExt cx="4576420" cy="4572000"/>
          </a:xfrm>
        </p:grpSpPr>
        <p:sp>
          <p:nvSpPr>
            <p:cNvPr id="41" name="Freeform 41"/>
            <p:cNvSpPr/>
            <p:nvPr/>
          </p:nvSpPr>
          <p:spPr>
            <a:xfrm>
              <a:off x="8191500" y="1162050"/>
              <a:ext cx="2857500" cy="1104900"/>
            </a:xfrm>
            <a:custGeom>
              <a:avLst/>
              <a:gdLst/>
              <a:ahLst/>
              <a:cxnLst/>
              <a:rect l="l" t="t" r="r" b="b"/>
              <a:pathLst>
                <a:path w="2857500" h="1104900">
                  <a:moveTo>
                    <a:pt x="133350" y="0"/>
                  </a:moveTo>
                  <a:lnTo>
                    <a:pt x="2724150" y="0"/>
                  </a:lnTo>
                  <a:cubicBezTo>
                    <a:pt x="2797797" y="0"/>
                    <a:pt x="2857500" y="59703"/>
                    <a:pt x="2857500" y="133350"/>
                  </a:cubicBezTo>
                  <a:lnTo>
                    <a:pt x="2857500" y="971550"/>
                  </a:lnTo>
                  <a:cubicBezTo>
                    <a:pt x="2857500" y="1045197"/>
                    <a:pt x="2797797" y="1104900"/>
                    <a:pt x="2724150" y="1104900"/>
                  </a:cubicBezTo>
                  <a:lnTo>
                    <a:pt x="133350" y="1104900"/>
                  </a:lnTo>
                  <a:cubicBezTo>
                    <a:pt x="59703" y="1104900"/>
                    <a:pt x="0" y="1045197"/>
                    <a:pt x="0" y="971550"/>
                  </a:cubicBezTo>
                  <a:lnTo>
                    <a:pt x="0" y="133350"/>
                  </a:lnTo>
                  <a:cubicBezTo>
                    <a:pt x="0" y="59703"/>
                    <a:pt x="59703" y="0"/>
                    <a:pt x="133350" y="0"/>
                  </a:cubicBezTo>
                  <a:close/>
                </a:path>
              </a:pathLst>
            </a:custGeom>
            <a:solidFill>
              <a:schemeClr val="lt1">
                <a:alpha val="84000"/>
              </a:schemeClr>
            </a:solidFill>
            <a:ln w="9525">
              <a:solidFill>
                <a:schemeClr val="accent4"/>
              </a:solidFill>
            </a:ln>
          </p:spPr>
        </p:sp>
        <p:sp>
          <p:nvSpPr>
            <p:cNvPr id="42" name="TextBox 42"/>
            <p:cNvSpPr txBox="1"/>
            <p:nvPr/>
          </p:nvSpPr>
          <p:spPr>
            <a:xfrm>
              <a:off x="8430006" y="1291590"/>
              <a:ext cx="136245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统一工作台</a:t>
              </a:r>
            </a:p>
          </p:txBody>
        </p:sp>
        <p:sp>
          <p:nvSpPr>
            <p:cNvPr id="43" name="TextBox 43"/>
            <p:cNvSpPr txBox="1"/>
            <p:nvPr/>
          </p:nvSpPr>
          <p:spPr>
            <a:xfrm>
              <a:off x="8433054" y="1642110"/>
              <a:ext cx="2435352"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打通线索、投放、内容、销售回传</a:t>
              </a:r>
            </a:p>
          </p:txBody>
        </p:sp>
        <p:sp>
          <p:nvSpPr>
            <p:cNvPr id="44" name="TextBox 44"/>
            <p:cNvSpPr txBox="1"/>
            <p:nvPr/>
          </p:nvSpPr>
          <p:spPr>
            <a:xfrm>
              <a:off x="8433054" y="1870710"/>
              <a:ext cx="2596896"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把分散系统收敛为可运营的数据底座</a:t>
              </a:r>
            </a:p>
          </p:txBody>
        </p:sp>
        <p:sp>
          <p:nvSpPr>
            <p:cNvPr id="45" name="Line 45"/>
            <p:cNvSpPr/>
            <p:nvPr/>
          </p:nvSpPr>
          <p:spPr>
            <a:xfrm>
              <a:off x="7315200" y="1714500"/>
              <a:ext cx="876300" cy="9525"/>
            </a:xfrm>
            <a:custGeom>
              <a:avLst/>
              <a:gdLst/>
              <a:ahLst/>
              <a:cxnLst/>
              <a:rect l="l" t="t" r="r" b="b"/>
              <a:pathLst>
                <a:path w="876300" h="9525">
                  <a:moveTo>
                    <a:pt x="876300" y="0"/>
                  </a:moveTo>
                  <a:lnTo>
                    <a:pt x="0" y="0"/>
                  </a:lnTo>
                </a:path>
              </a:pathLst>
            </a:custGeom>
            <a:noFill/>
            <a:ln w="14288">
              <a:solidFill>
                <a:schemeClr val="accent2">
                  <a:alpha val="80000"/>
                </a:schemeClr>
              </a:solidFill>
            </a:ln>
          </p:spPr>
        </p:sp>
        <p:sp>
          <p:nvSpPr>
            <p:cNvPr id="46" name="Ellipse 46"/>
            <p:cNvSpPr/>
            <p:nvPr/>
          </p:nvSpPr>
          <p:spPr>
            <a:xfrm>
              <a:off x="7267575" y="1666875"/>
              <a:ext cx="95250" cy="95250"/>
            </a:xfrm>
            <a:prstGeom prst="ellipse">
              <a:avLst/>
            </a:prstGeom>
            <a:solidFill>
              <a:schemeClr val="accent2"/>
            </a:solidFill>
            <a:ln>
              <a:noFill/>
            </a:ln>
          </p:spPr>
        </p:sp>
        <p:sp>
          <p:nvSpPr>
            <p:cNvPr id="47" name="Freeform 47"/>
            <p:cNvSpPr/>
            <p:nvPr/>
          </p:nvSpPr>
          <p:spPr>
            <a:xfrm>
              <a:off x="8782050" y="2895600"/>
              <a:ext cx="2457450" cy="1009650"/>
            </a:xfrm>
            <a:custGeom>
              <a:avLst/>
              <a:gdLst/>
              <a:ahLst/>
              <a:cxnLst/>
              <a:rect l="l" t="t" r="r" b="b"/>
              <a:pathLst>
                <a:path w="2457450" h="1009650">
                  <a:moveTo>
                    <a:pt x="133350" y="0"/>
                  </a:moveTo>
                  <a:lnTo>
                    <a:pt x="2324100" y="0"/>
                  </a:lnTo>
                  <a:cubicBezTo>
                    <a:pt x="2397747" y="0"/>
                    <a:pt x="2457450" y="59703"/>
                    <a:pt x="2457450" y="133350"/>
                  </a:cubicBezTo>
                  <a:lnTo>
                    <a:pt x="2457450" y="876300"/>
                  </a:lnTo>
                  <a:cubicBezTo>
                    <a:pt x="2457450" y="949947"/>
                    <a:pt x="2397747" y="1009650"/>
                    <a:pt x="2324100" y="1009650"/>
                  </a:cubicBezTo>
                  <a:lnTo>
                    <a:pt x="133350" y="1009650"/>
                  </a:lnTo>
                  <a:cubicBezTo>
                    <a:pt x="59703" y="1009650"/>
                    <a:pt x="0" y="949947"/>
                    <a:pt x="0" y="876300"/>
                  </a:cubicBezTo>
                  <a:lnTo>
                    <a:pt x="0" y="133350"/>
                  </a:lnTo>
                  <a:cubicBezTo>
                    <a:pt x="0" y="59703"/>
                    <a:pt x="59703" y="0"/>
                    <a:pt x="133350" y="0"/>
                  </a:cubicBezTo>
                  <a:close/>
                </a:path>
              </a:pathLst>
            </a:custGeom>
            <a:solidFill>
              <a:schemeClr val="lt1">
                <a:alpha val="84000"/>
              </a:schemeClr>
            </a:solidFill>
            <a:ln w="9525">
              <a:solidFill>
                <a:schemeClr val="accent4"/>
              </a:solidFill>
            </a:ln>
          </p:spPr>
        </p:sp>
        <p:sp>
          <p:nvSpPr>
            <p:cNvPr id="48" name="TextBox 48"/>
            <p:cNvSpPr txBox="1"/>
            <p:nvPr/>
          </p:nvSpPr>
          <p:spPr>
            <a:xfrm>
              <a:off x="9001506" y="3025140"/>
              <a:ext cx="109362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增长闭环</a:t>
              </a:r>
            </a:p>
          </p:txBody>
        </p:sp>
        <p:sp>
          <p:nvSpPr>
            <p:cNvPr id="49" name="TextBox 49"/>
            <p:cNvSpPr txBox="1"/>
            <p:nvPr/>
          </p:nvSpPr>
          <p:spPr>
            <a:xfrm>
              <a:off x="9004554" y="3375660"/>
              <a:ext cx="2273808"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分析洞察直接进入自动化执行，</a:t>
              </a:r>
            </a:p>
          </p:txBody>
        </p:sp>
        <p:sp>
          <p:nvSpPr>
            <p:cNvPr id="50" name="TextBox 50"/>
            <p:cNvSpPr txBox="1"/>
            <p:nvPr/>
          </p:nvSpPr>
          <p:spPr>
            <a:xfrm>
              <a:off x="9004554" y="3604260"/>
              <a:ext cx="2162861"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再由归因与ROI度量持续优化</a:t>
              </a:r>
            </a:p>
          </p:txBody>
        </p:sp>
        <p:sp>
          <p:nvSpPr>
            <p:cNvPr id="51" name="Line 51"/>
            <p:cNvSpPr/>
            <p:nvPr/>
          </p:nvSpPr>
          <p:spPr>
            <a:xfrm>
              <a:off x="7962900" y="3429000"/>
              <a:ext cx="819150" cy="9525"/>
            </a:xfrm>
            <a:custGeom>
              <a:avLst/>
              <a:gdLst/>
              <a:ahLst/>
              <a:cxnLst/>
              <a:rect l="l" t="t" r="r" b="b"/>
              <a:pathLst>
                <a:path w="819150" h="9525">
                  <a:moveTo>
                    <a:pt x="819150" y="0"/>
                  </a:moveTo>
                  <a:lnTo>
                    <a:pt x="0" y="0"/>
                  </a:lnTo>
                </a:path>
              </a:pathLst>
            </a:custGeom>
            <a:noFill/>
            <a:ln w="14288">
              <a:solidFill>
                <a:schemeClr val="accent2">
                  <a:alpha val="80000"/>
                </a:schemeClr>
              </a:solidFill>
            </a:ln>
          </p:spPr>
        </p:sp>
        <p:sp>
          <p:nvSpPr>
            <p:cNvPr id="52" name="Ellipse 52"/>
            <p:cNvSpPr/>
            <p:nvPr/>
          </p:nvSpPr>
          <p:spPr>
            <a:xfrm>
              <a:off x="7915275" y="3381375"/>
              <a:ext cx="95250" cy="95250"/>
            </a:xfrm>
            <a:prstGeom prst="ellipse">
              <a:avLst/>
            </a:prstGeom>
            <a:solidFill>
              <a:schemeClr val="accent2"/>
            </a:solidFill>
            <a:ln>
              <a:noFill/>
            </a:ln>
          </p:spPr>
        </p:sp>
        <p:sp>
          <p:nvSpPr>
            <p:cNvPr id="53" name="Freeform 53"/>
            <p:cNvSpPr/>
            <p:nvPr/>
          </p:nvSpPr>
          <p:spPr>
            <a:xfrm>
              <a:off x="7677150" y="4933950"/>
              <a:ext cx="3371850" cy="800100"/>
            </a:xfrm>
            <a:custGeom>
              <a:avLst/>
              <a:gdLst/>
              <a:ahLst/>
              <a:cxnLst/>
              <a:rect l="l" t="t" r="r" b="b"/>
              <a:pathLst>
                <a:path w="3371850" h="800100">
                  <a:moveTo>
                    <a:pt x="133350" y="0"/>
                  </a:moveTo>
                  <a:lnTo>
                    <a:pt x="3238500" y="0"/>
                  </a:lnTo>
                  <a:cubicBezTo>
                    <a:pt x="3312147" y="0"/>
                    <a:pt x="3371850" y="59703"/>
                    <a:pt x="3371850" y="133350"/>
                  </a:cubicBezTo>
                  <a:lnTo>
                    <a:pt x="3371850" y="666750"/>
                  </a:lnTo>
                  <a:cubicBezTo>
                    <a:pt x="3371850" y="740397"/>
                    <a:pt x="3312147" y="800100"/>
                    <a:pt x="3238500" y="800100"/>
                  </a:cubicBezTo>
                  <a:lnTo>
                    <a:pt x="133350" y="800100"/>
                  </a:lnTo>
                  <a:cubicBezTo>
                    <a:pt x="59703" y="800100"/>
                    <a:pt x="0" y="740397"/>
                    <a:pt x="0" y="666750"/>
                  </a:cubicBezTo>
                  <a:lnTo>
                    <a:pt x="0" y="133350"/>
                  </a:lnTo>
                  <a:cubicBezTo>
                    <a:pt x="0" y="59703"/>
                    <a:pt x="59703" y="0"/>
                    <a:pt x="133350" y="0"/>
                  </a:cubicBezTo>
                  <a:close/>
                </a:path>
              </a:pathLst>
            </a:custGeom>
            <a:solidFill>
              <a:schemeClr val="accent1">
                <a:alpha val="96000"/>
              </a:schemeClr>
            </a:solidFill>
            <a:ln>
              <a:noFill/>
            </a:ln>
          </p:spPr>
        </p:sp>
        <p:sp>
          <p:nvSpPr>
            <p:cNvPr id="54" name="TextBox 54"/>
            <p:cNvSpPr txBox="1"/>
            <p:nvPr/>
          </p:nvSpPr>
          <p:spPr>
            <a:xfrm>
              <a:off x="7919847" y="5143024"/>
              <a:ext cx="1604239" cy="190690"/>
            </a:xfrm>
            <a:prstGeom prst="rect">
              <a:avLst/>
            </a:prstGeom>
            <a:noFill/>
            <a:ln>
              <a:noFill/>
            </a:ln>
          </p:spPr>
          <p:txBody>
            <a:bodyPr wrap="none" lIns="0" tIns="0" rIns="0" bIns="0" anchor="t" anchorCtr="0">
              <a:spAutoFit/>
            </a:bodyPr>
            <a:lstStyle/>
            <a:p>
              <a:pPr algn="l"/>
              <a:r>
                <a:rPr lang="en-US" sz="980" spc="112" dirty="0">
                  <a:solidFill>
                    <a:schemeClr val="accent3"/>
                  </a:solidFill>
                  <a:latin typeface="Consolas"/>
                  <a:ea typeface="Consolas"/>
                  <a:cs typeface="Consolas"/>
                </a:rPr>
                <a:t>FOUR CORE MODULES</a:t>
              </a:r>
            </a:p>
          </p:txBody>
        </p:sp>
        <p:sp>
          <p:nvSpPr>
            <p:cNvPr id="55" name="TextBox 55"/>
            <p:cNvSpPr txBox="1"/>
            <p:nvPr/>
          </p:nvSpPr>
          <p:spPr>
            <a:xfrm>
              <a:off x="7917561" y="5361146"/>
              <a:ext cx="3926434"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数据整合 · AI分析 · 自动化执行 · 效果度量</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1"/>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6858000"/>
            </a:xfrm>
            <a:prstGeom prst="rect">
              <a:avLst/>
            </a:prstGeom>
            <a:gradFill>
              <a:gsLst>
                <a:gs pos="0">
                  <a:schemeClr val="accent2">
                    <a:alpha val="14000"/>
                  </a:schemeClr>
                </a:gs>
                <a:gs pos="100000">
                  <a:schemeClr val="accent2">
                    <a:alpha val="0"/>
                  </a:schemeClr>
                </a:gs>
              </a:gsLst>
              <a:path path="circle">
                <a:fillToRect l="50000" t="50000" r="50000" b="50000"/>
              </a:path>
            </a:gradFill>
            <a:ln>
              <a:noFill/>
            </a:ln>
          </p:spPr>
        </p:sp>
        <p:sp>
          <p:nvSpPr>
            <p:cNvPr id="4" name="Line 4"/>
            <p:cNvSpPr/>
            <p:nvPr/>
          </p:nvSpPr>
          <p:spPr>
            <a:xfrm>
              <a:off x="0" y="876300"/>
              <a:ext cx="12192000" cy="9525"/>
            </a:xfrm>
            <a:custGeom>
              <a:avLst/>
              <a:gdLst/>
              <a:ahLst/>
              <a:cxnLst/>
              <a:rect l="l" t="t" r="r" b="b"/>
              <a:pathLst>
                <a:path w="12192000" h="9525">
                  <a:moveTo>
                    <a:pt x="0" y="0"/>
                  </a:moveTo>
                  <a:lnTo>
                    <a:pt x="12192000" y="0"/>
                  </a:lnTo>
                </a:path>
              </a:pathLst>
            </a:custGeom>
            <a:noFill/>
            <a:ln w="9525">
              <a:solidFill>
                <a:schemeClr val="accent4"/>
              </a:solidFill>
            </a:ln>
          </p:spPr>
        </p:sp>
        <p:sp>
          <p:nvSpPr>
            <p:cNvPr id="5" name="Line 5"/>
            <p:cNvSpPr/>
            <p:nvPr/>
          </p:nvSpPr>
          <p:spPr>
            <a:xfrm>
              <a:off x="571500" y="1047750"/>
              <a:ext cx="11049000" cy="9525"/>
            </a:xfrm>
            <a:custGeom>
              <a:avLst/>
              <a:gdLst/>
              <a:ahLst/>
              <a:cxnLst/>
              <a:rect l="l" t="t" r="r" b="b"/>
              <a:pathLst>
                <a:path w="11049000" h="9525">
                  <a:moveTo>
                    <a:pt x="0" y="0"/>
                  </a:moveTo>
                  <a:lnTo>
                    <a:pt x="11049000" y="0"/>
                  </a:lnTo>
                </a:path>
              </a:pathLst>
            </a:custGeom>
            <a:noFill/>
            <a:ln w="19050">
              <a:solidFill>
                <a:schemeClr val="accent2"/>
              </a:solidFill>
            </a:ln>
          </p:spPr>
        </p:sp>
        <p:sp>
          <p:nvSpPr>
            <p:cNvPr id="6" name="Line 6"/>
            <p:cNvSpPr/>
            <p:nvPr/>
          </p:nvSpPr>
          <p:spPr>
            <a:xfrm>
              <a:off x="1714500" y="1619250"/>
              <a:ext cx="9525" cy="4381500"/>
            </a:xfrm>
            <a:custGeom>
              <a:avLst/>
              <a:gdLst/>
              <a:ahLst/>
              <a:cxnLst/>
              <a:rect l="l" t="t" r="r" b="b"/>
              <a:pathLst>
                <a:path w="9525" h="4381500">
                  <a:moveTo>
                    <a:pt x="0" y="0"/>
                  </a:moveTo>
                  <a:lnTo>
                    <a:pt x="0" y="4381500"/>
                  </a:lnTo>
                </a:path>
              </a:pathLst>
            </a:custGeom>
            <a:noFill/>
            <a:ln w="9525">
              <a:solidFill>
                <a:schemeClr val="accent4"/>
              </a:solidFill>
            </a:ln>
          </p:spPr>
        </p:sp>
        <p:sp>
          <p:nvSpPr>
            <p:cNvPr id="7" name="Line 7"/>
            <p:cNvSpPr/>
            <p:nvPr/>
          </p:nvSpPr>
          <p:spPr>
            <a:xfrm>
              <a:off x="2095500" y="6000750"/>
              <a:ext cx="8953500" cy="9525"/>
            </a:xfrm>
            <a:custGeom>
              <a:avLst/>
              <a:gdLst/>
              <a:ahLst/>
              <a:cxnLst/>
              <a:rect l="l" t="t" r="r" b="b"/>
              <a:pathLst>
                <a:path w="8953500" h="9525">
                  <a:moveTo>
                    <a:pt x="0" y="0"/>
                  </a:moveTo>
                  <a:lnTo>
                    <a:pt x="8953500" y="0"/>
                  </a:lnTo>
                </a:path>
              </a:pathLst>
            </a:custGeom>
            <a:noFill/>
            <a:ln w="9525">
              <a:solidFill>
                <a:schemeClr val="accent4"/>
              </a:solidFill>
            </a:ln>
          </p:spPr>
        </p:sp>
        <p:sp>
          <p:nvSpPr>
            <p:cNvPr id="8" name="Ellipse 8"/>
            <p:cNvSpPr/>
            <p:nvPr/>
          </p:nvSpPr>
          <p:spPr>
            <a:xfrm>
              <a:off x="10353675" y="1114425"/>
              <a:ext cx="57150" cy="57150"/>
            </a:xfrm>
            <a:prstGeom prst="ellipse">
              <a:avLst/>
            </a:prstGeom>
            <a:solidFill>
              <a:schemeClr val="accent2">
                <a:alpha val="85000"/>
              </a:schemeClr>
            </a:solidFill>
            <a:ln>
              <a:noFill/>
            </a:ln>
          </p:spPr>
        </p:sp>
        <p:sp>
          <p:nvSpPr>
            <p:cNvPr id="9" name="Ellipse 9"/>
            <p:cNvSpPr/>
            <p:nvPr/>
          </p:nvSpPr>
          <p:spPr>
            <a:xfrm>
              <a:off x="10544175" y="1114425"/>
              <a:ext cx="57150" cy="57150"/>
            </a:xfrm>
            <a:prstGeom prst="ellipse">
              <a:avLst/>
            </a:prstGeom>
            <a:solidFill>
              <a:schemeClr val="accent3">
                <a:alpha val="75000"/>
              </a:schemeClr>
            </a:solidFill>
            <a:ln>
              <a:noFill/>
            </a:ln>
          </p:spPr>
        </p:sp>
        <p:sp>
          <p:nvSpPr>
            <p:cNvPr id="10" name="Ellipse 10"/>
            <p:cNvSpPr/>
            <p:nvPr/>
          </p:nvSpPr>
          <p:spPr>
            <a:xfrm>
              <a:off x="10734675" y="1114425"/>
              <a:ext cx="57150" cy="57150"/>
            </a:xfrm>
            <a:prstGeom prst="ellipse">
              <a:avLst/>
            </a:prstGeom>
            <a:solidFill>
              <a:srgbClr val="A0AEC0">
                <a:alpha val="60000"/>
              </a:srgbClr>
            </a:solidFill>
            <a:ln>
              <a:noFill/>
            </a:ln>
          </p:spPr>
        </p:sp>
      </p:grpSp>
      <p:grpSp>
        <p:nvGrpSpPr>
          <p:cNvPr id="16" name="Group 16"/>
          <p:cNvGrpSpPr/>
          <p:nvPr/>
        </p:nvGrpSpPr>
        <p:grpSpPr>
          <a:xfrm>
            <a:off x="557784" y="381952"/>
            <a:ext cx="11067478" cy="6263164"/>
            <a:chOff x="557784" y="381952"/>
            <a:chExt cx="11067478" cy="6263164"/>
          </a:xfrm>
        </p:grpSpPr>
        <p:sp>
          <p:nvSpPr>
            <p:cNvPr id="12" name="TextBox 12"/>
            <p:cNvSpPr txBox="1"/>
            <p:nvPr/>
          </p:nvSpPr>
          <p:spPr>
            <a:xfrm>
              <a:off x="566166" y="381952"/>
              <a:ext cx="634632" cy="205359"/>
            </a:xfrm>
            <a:prstGeom prst="rect">
              <a:avLst/>
            </a:prstGeom>
            <a:noFill/>
            <a:ln>
              <a:noFill/>
            </a:ln>
          </p:spPr>
          <p:txBody>
            <a:bodyPr wrap="none" lIns="0" tIns="0" rIns="0" bIns="0" anchor="t" anchorCtr="0">
              <a:spAutoFit/>
            </a:bodyPr>
            <a:lstStyle/>
            <a:p>
              <a:pPr algn="l"/>
              <a:r>
                <a:rPr lang="zh-CN" sz="1050" b="1" spc="75" dirty="0">
                  <a:solidFill>
                    <a:schemeClr val="accent2"/>
                  </a:solidFill>
                  <a:latin typeface="+mn-lt"/>
                  <a:ea typeface="+mn-ea"/>
                  <a:cs typeface="+mn-cs"/>
                </a:rPr>
                <a:t>模块目录</a:t>
              </a:r>
            </a:p>
          </p:txBody>
        </p:sp>
        <p:sp>
          <p:nvSpPr>
            <p:cNvPr id="13" name="TextBox 13"/>
            <p:cNvSpPr txBox="1"/>
            <p:nvPr/>
          </p:nvSpPr>
          <p:spPr>
            <a:xfrm>
              <a:off x="557784" y="499110"/>
              <a:ext cx="8495690" cy="528066"/>
            </a:xfrm>
            <a:prstGeom prst="rect">
              <a:avLst/>
            </a:prstGeom>
            <a:noFill/>
            <a:ln>
              <a:noFill/>
            </a:ln>
          </p:spPr>
          <p:txBody>
            <a:bodyPr wrap="none" lIns="0" tIns="0" rIns="0" bIns="0" anchor="t" anchorCtr="0">
              <a:spAutoFit/>
            </a:bodyPr>
            <a:lstStyle/>
            <a:p>
              <a:pPr algn="l"/>
              <a:r>
                <a:rPr lang="zh-CN" sz="2700" b="1" dirty="0">
                  <a:gradFill>
                    <a:gsLst>
                      <a:gs pos="0">
                        <a:schemeClr val="accent1"/>
                      </a:gs>
                      <a:gs pos="100000">
                        <a:schemeClr val="accent2"/>
                      </a:gs>
                    </a:gsLst>
                    <a:lin ang="2700000" scaled="1"/>
                  </a:gradFill>
                  <a:latin typeface="+mj-lt"/>
                  <a:ea typeface="+mj-ea"/>
                  <a:cs typeface="+mj-cs"/>
                </a:rPr>
                <a:t>执行摘要：为什么现在、做什么、怎样安全地赢</a:t>
              </a:r>
            </a:p>
          </p:txBody>
        </p:sp>
        <p:sp>
          <p:nvSpPr>
            <p:cNvPr id="14" name="TextBox 14"/>
            <p:cNvSpPr txBox="1"/>
            <p:nvPr/>
          </p:nvSpPr>
          <p:spPr>
            <a:xfrm>
              <a:off x="566738" y="6483191"/>
              <a:ext cx="191741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企业 AI 营销工作台 · product-launch</a:t>
              </a:r>
            </a:p>
          </p:txBody>
        </p:sp>
        <p:sp>
          <p:nvSpPr>
            <p:cNvPr id="15" name="TextBox 15"/>
            <p:cNvSpPr txBox="1"/>
            <p:nvPr/>
          </p:nvSpPr>
          <p:spPr>
            <a:xfrm>
              <a:off x="11243681" y="6483191"/>
              <a:ext cx="381581"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02 / 08</a:t>
              </a:r>
            </a:p>
          </p:txBody>
        </p:sp>
      </p:grpSp>
      <p:grpSp>
        <p:nvGrpSpPr>
          <p:cNvPr id="79" name="Group 79"/>
          <p:cNvGrpSpPr/>
          <p:nvPr/>
        </p:nvGrpSpPr>
        <p:grpSpPr>
          <a:xfrm>
            <a:off x="571500" y="1428750"/>
            <a:ext cx="10511028" cy="5048250"/>
            <a:chOff x="571500" y="1428750"/>
            <a:chExt cx="10511028" cy="5048250"/>
          </a:xfrm>
        </p:grpSpPr>
        <p:grpSp>
          <p:nvGrpSpPr>
            <p:cNvPr id="37" name="Group 37"/>
            <p:cNvGrpSpPr/>
            <p:nvPr/>
          </p:nvGrpSpPr>
          <p:grpSpPr>
            <a:xfrm>
              <a:off x="571500" y="1428750"/>
              <a:ext cx="2857500" cy="4572000"/>
              <a:chOff x="571500" y="1428750"/>
              <a:chExt cx="2857500" cy="4572000"/>
            </a:xfrm>
          </p:grpSpPr>
          <p:sp>
            <p:nvSpPr>
              <p:cNvPr id="17" name="Freeform 17"/>
              <p:cNvSpPr/>
              <p:nvPr/>
            </p:nvSpPr>
            <p:spPr>
              <a:xfrm>
                <a:off x="571500" y="1428750"/>
                <a:ext cx="2857500" cy="4572000"/>
              </a:xfrm>
              <a:custGeom>
                <a:avLst/>
                <a:gdLst/>
                <a:ahLst/>
                <a:cxnLst/>
                <a:rect l="l" t="t" r="r" b="b"/>
                <a:pathLst>
                  <a:path w="2857500" h="4572000">
                    <a:moveTo>
                      <a:pt x="114300" y="0"/>
                    </a:moveTo>
                    <a:lnTo>
                      <a:pt x="2743200" y="0"/>
                    </a:lnTo>
                    <a:cubicBezTo>
                      <a:pt x="2806326" y="0"/>
                      <a:pt x="2857500" y="51174"/>
                      <a:pt x="2857500" y="114300"/>
                    </a:cubicBezTo>
                    <a:lnTo>
                      <a:pt x="2857500" y="4457700"/>
                    </a:lnTo>
                    <a:cubicBezTo>
                      <a:pt x="2857500" y="4520826"/>
                      <a:pt x="2806326" y="4572000"/>
                      <a:pt x="2743200" y="4572000"/>
                    </a:cubicBezTo>
                    <a:lnTo>
                      <a:pt x="114300" y="4572000"/>
                    </a:lnTo>
                    <a:cubicBezTo>
                      <a:pt x="51174" y="4572000"/>
                      <a:pt x="0" y="4520826"/>
                      <a:pt x="0" y="4457700"/>
                    </a:cubicBezTo>
                    <a:lnTo>
                      <a:pt x="0" y="114300"/>
                    </a:lnTo>
                    <a:cubicBezTo>
                      <a:pt x="0" y="51174"/>
                      <a:pt x="51174" y="0"/>
                      <a:pt x="114300" y="0"/>
                    </a:cubicBezTo>
                    <a:close/>
                  </a:path>
                </a:pathLst>
              </a:custGeom>
              <a:solidFill>
                <a:schemeClr val="lt2"/>
              </a:solidFill>
              <a:ln w="9525">
                <a:solidFill>
                  <a:schemeClr val="accent4"/>
                </a:solidFill>
              </a:ln>
            </p:spPr>
          </p:sp>
          <p:sp>
            <p:nvSpPr>
              <p:cNvPr id="18" name="Rectangle 18"/>
              <p:cNvSpPr/>
              <p:nvPr/>
            </p:nvSpPr>
            <p:spPr>
              <a:xfrm>
                <a:off x="571500" y="1428750"/>
                <a:ext cx="57150" cy="4572000"/>
              </a:xfrm>
              <a:prstGeom prst="rect">
                <a:avLst/>
              </a:prstGeom>
              <a:solidFill>
                <a:schemeClr val="accent2"/>
              </a:solidFill>
              <a:ln>
                <a:noFill/>
              </a:ln>
            </p:spPr>
          </p:sp>
          <p:sp>
            <p:nvSpPr>
              <p:cNvPr id="19" name="TextBox 19"/>
              <p:cNvSpPr txBox="1"/>
              <p:nvPr/>
            </p:nvSpPr>
            <p:spPr>
              <a:xfrm>
                <a:off x="829056" y="1615440"/>
                <a:ext cx="109362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j-lt"/>
                    <a:ea typeface="+mj-ea"/>
                    <a:cs typeface="+mj-cs"/>
                  </a:rPr>
                  <a:t>结论先行</a:t>
                </a:r>
              </a:p>
            </p:txBody>
          </p:sp>
          <p:sp>
            <p:nvSpPr>
              <p:cNvPr id="20" name="TextBox 20"/>
              <p:cNvSpPr txBox="1"/>
              <p:nvPr/>
            </p:nvSpPr>
            <p:spPr>
              <a:xfrm>
                <a:off x="830580" y="2047875"/>
                <a:ext cx="2236470"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本简报围绕决策所需的最</a:t>
                </a:r>
              </a:p>
            </p:txBody>
          </p:sp>
          <p:sp>
            <p:nvSpPr>
              <p:cNvPr id="21" name="TextBox 21"/>
              <p:cNvSpPr txBox="1"/>
              <p:nvPr/>
            </p:nvSpPr>
            <p:spPr>
              <a:xfrm>
                <a:off x="830580" y="2333625"/>
                <a:ext cx="2347532"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低信息量展开—结论优先，</a:t>
                </a:r>
              </a:p>
            </p:txBody>
          </p:sp>
          <p:sp>
            <p:nvSpPr>
              <p:cNvPr id="22" name="TextBox 22"/>
              <p:cNvSpPr txBox="1"/>
              <p:nvPr/>
            </p:nvSpPr>
            <p:spPr>
              <a:xfrm>
                <a:off x="830580" y="2619375"/>
                <a:ext cx="2236470"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风险透明，下一步明确。</a:t>
                </a:r>
              </a:p>
            </p:txBody>
          </p:sp>
          <p:sp>
            <p:nvSpPr>
              <p:cNvPr id="23" name="Line 23"/>
              <p:cNvSpPr/>
              <p:nvPr/>
            </p:nvSpPr>
            <p:spPr>
              <a:xfrm>
                <a:off x="838200" y="2714625"/>
                <a:ext cx="2324100" cy="9525"/>
              </a:xfrm>
              <a:custGeom>
                <a:avLst/>
                <a:gdLst/>
                <a:ahLst/>
                <a:cxnLst/>
                <a:rect l="l" t="t" r="r" b="b"/>
                <a:pathLst>
                  <a:path w="2324100" h="9525">
                    <a:moveTo>
                      <a:pt x="0" y="0"/>
                    </a:moveTo>
                    <a:lnTo>
                      <a:pt x="2324100" y="0"/>
                    </a:lnTo>
                  </a:path>
                </a:pathLst>
              </a:custGeom>
              <a:noFill/>
              <a:ln w="9525">
                <a:solidFill>
                  <a:schemeClr val="accent4"/>
                </a:solidFill>
              </a:ln>
            </p:spPr>
          </p:sp>
          <p:sp>
            <p:nvSpPr>
              <p:cNvPr id="24" name="Ellipse 24"/>
              <p:cNvSpPr/>
              <p:nvPr/>
            </p:nvSpPr>
            <p:spPr>
              <a:xfrm>
                <a:off x="876300" y="3009900"/>
                <a:ext cx="76200" cy="76200"/>
              </a:xfrm>
              <a:prstGeom prst="ellipse">
                <a:avLst/>
              </a:prstGeom>
              <a:solidFill>
                <a:schemeClr val="accent2"/>
              </a:solidFill>
              <a:ln>
                <a:noFill/>
              </a:ln>
            </p:spPr>
          </p:sp>
          <p:sp>
            <p:nvSpPr>
              <p:cNvPr id="25" name="TextBox 25"/>
              <p:cNvSpPr txBox="1"/>
              <p:nvPr/>
            </p:nvSpPr>
            <p:spPr>
              <a:xfrm>
                <a:off x="1060704" y="2975610"/>
                <a:ext cx="2034845"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AI营销工作台是当前唯一能</a:t>
                </a:r>
              </a:p>
            </p:txBody>
          </p:sp>
          <p:sp>
            <p:nvSpPr>
              <p:cNvPr id="26" name="TextBox 26"/>
              <p:cNvSpPr txBox="1"/>
              <p:nvPr/>
            </p:nvSpPr>
            <p:spPr>
              <a:xfrm>
                <a:off x="1060704" y="3204210"/>
                <a:ext cx="195072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把数据资产直接转化为可衡</a:t>
                </a:r>
              </a:p>
            </p:txBody>
          </p:sp>
          <p:sp>
            <p:nvSpPr>
              <p:cNvPr id="27" name="TextBox 27"/>
              <p:cNvSpPr txBox="1"/>
              <p:nvPr/>
            </p:nvSpPr>
            <p:spPr>
              <a:xfrm>
                <a:off x="1060704" y="3432810"/>
                <a:ext cx="146608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量收入的系统级方案</a:t>
                </a:r>
              </a:p>
            </p:txBody>
          </p:sp>
          <p:sp>
            <p:nvSpPr>
              <p:cNvPr id="28" name="Ellipse 28"/>
              <p:cNvSpPr/>
              <p:nvPr/>
            </p:nvSpPr>
            <p:spPr>
              <a:xfrm>
                <a:off x="876300" y="3790950"/>
                <a:ext cx="76200" cy="76200"/>
              </a:xfrm>
              <a:prstGeom prst="ellipse">
                <a:avLst/>
              </a:prstGeom>
              <a:solidFill>
                <a:schemeClr val="accent2"/>
              </a:solidFill>
              <a:ln>
                <a:noFill/>
              </a:ln>
            </p:spPr>
          </p:sp>
          <p:sp>
            <p:nvSpPr>
              <p:cNvPr id="29" name="TextBox 29"/>
              <p:cNvSpPr txBox="1"/>
              <p:nvPr/>
            </p:nvSpPr>
            <p:spPr>
              <a:xfrm>
                <a:off x="1060704" y="3756660"/>
                <a:ext cx="188122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数据整合→AI分析→自动化</a:t>
                </a:r>
              </a:p>
            </p:txBody>
          </p:sp>
          <p:sp>
            <p:nvSpPr>
              <p:cNvPr id="30" name="TextBox 30"/>
              <p:cNvSpPr txBox="1"/>
              <p:nvPr/>
            </p:nvSpPr>
            <p:spPr>
              <a:xfrm>
                <a:off x="1060704" y="3985260"/>
                <a:ext cx="1878025"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执行→效果度量，形成闭环</a:t>
                </a:r>
              </a:p>
            </p:txBody>
          </p:sp>
          <p:sp>
            <p:nvSpPr>
              <p:cNvPr id="31" name="TextBox 31"/>
              <p:cNvSpPr txBox="1"/>
              <p:nvPr/>
            </p:nvSpPr>
            <p:spPr>
              <a:xfrm>
                <a:off x="1060704" y="4213860"/>
                <a:ext cx="33528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飞轮</a:t>
                </a:r>
              </a:p>
            </p:txBody>
          </p:sp>
          <p:sp>
            <p:nvSpPr>
              <p:cNvPr id="32" name="Ellipse 32"/>
              <p:cNvSpPr/>
              <p:nvPr/>
            </p:nvSpPr>
            <p:spPr>
              <a:xfrm>
                <a:off x="876300" y="4552950"/>
                <a:ext cx="76200" cy="76200"/>
              </a:xfrm>
              <a:prstGeom prst="ellipse">
                <a:avLst/>
              </a:prstGeom>
              <a:solidFill>
                <a:schemeClr val="accent2"/>
              </a:solidFill>
              <a:ln>
                <a:noFill/>
              </a:ln>
            </p:spPr>
          </p:sp>
          <p:sp>
            <p:nvSpPr>
              <p:cNvPr id="33" name="TextBox 33"/>
              <p:cNvSpPr txBox="1"/>
              <p:nvPr/>
            </p:nvSpPr>
            <p:spPr>
              <a:xfrm>
                <a:off x="1060704" y="4518660"/>
                <a:ext cx="195072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风险、回收期、预算边界与</a:t>
                </a:r>
              </a:p>
            </p:txBody>
          </p:sp>
          <p:sp>
            <p:nvSpPr>
              <p:cNvPr id="34" name="TextBox 34"/>
              <p:cNvSpPr txBox="1"/>
              <p:nvPr/>
            </p:nvSpPr>
            <p:spPr>
              <a:xfrm>
                <a:off x="1060704" y="4747260"/>
                <a:ext cx="148224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90天动作会逐页给出</a:t>
                </a:r>
              </a:p>
            </p:txBody>
          </p:sp>
          <p:sp>
            <p:nvSpPr>
              <p:cNvPr id="35" name="Freeform 35"/>
              <p:cNvSpPr/>
              <p:nvPr/>
            </p:nvSpPr>
            <p:spPr>
              <a:xfrm>
                <a:off x="838200" y="5295900"/>
                <a:ext cx="2324100" cy="419100"/>
              </a:xfrm>
              <a:custGeom>
                <a:avLst/>
                <a:gdLst/>
                <a:ahLst/>
                <a:cxnLst/>
                <a:rect l="l" t="t" r="r" b="b"/>
                <a:pathLst>
                  <a:path w="2324100" h="419100">
                    <a:moveTo>
                      <a:pt x="76200" y="0"/>
                    </a:moveTo>
                    <a:lnTo>
                      <a:pt x="2247900" y="0"/>
                    </a:lnTo>
                    <a:cubicBezTo>
                      <a:pt x="2289984" y="0"/>
                      <a:pt x="2324100" y="34116"/>
                      <a:pt x="2324100" y="76200"/>
                    </a:cubicBezTo>
                    <a:lnTo>
                      <a:pt x="2324100" y="342900"/>
                    </a:lnTo>
                    <a:cubicBezTo>
                      <a:pt x="2324100" y="384984"/>
                      <a:pt x="2289984" y="419100"/>
                      <a:pt x="2247900" y="419100"/>
                    </a:cubicBezTo>
                    <a:lnTo>
                      <a:pt x="76200" y="419100"/>
                    </a:lnTo>
                    <a:cubicBezTo>
                      <a:pt x="34116" y="419100"/>
                      <a:pt x="0" y="384984"/>
                      <a:pt x="0" y="342900"/>
                    </a:cubicBezTo>
                    <a:lnTo>
                      <a:pt x="0" y="76200"/>
                    </a:lnTo>
                    <a:cubicBezTo>
                      <a:pt x="0" y="34116"/>
                      <a:pt x="34116" y="0"/>
                      <a:pt x="76200" y="0"/>
                    </a:cubicBezTo>
                    <a:close/>
                  </a:path>
                </a:pathLst>
              </a:custGeom>
              <a:solidFill>
                <a:schemeClr val="accent6"/>
              </a:solidFill>
              <a:ln w="9525">
                <a:solidFill>
                  <a:schemeClr val="accent4"/>
                </a:solidFill>
              </a:ln>
            </p:spPr>
          </p:sp>
          <p:sp>
            <p:nvSpPr>
              <p:cNvPr id="36" name="TextBox 36"/>
              <p:cNvSpPr txBox="1"/>
              <p:nvPr/>
            </p:nvSpPr>
            <p:spPr>
              <a:xfrm>
                <a:off x="1107999" y="5441156"/>
                <a:ext cx="1784502" cy="220028"/>
              </a:xfrm>
              <a:prstGeom prst="rect">
                <a:avLst/>
              </a:prstGeom>
              <a:noFill/>
              <a:ln>
                <a:noFill/>
              </a:ln>
            </p:spPr>
            <p:txBody>
              <a:bodyPr wrap="none" lIns="0" tIns="0" rIns="0" bIns="0" anchor="t" anchorCtr="0">
                <a:spAutoFit/>
              </a:bodyPr>
              <a:lstStyle/>
              <a:p>
                <a:pPr algn="ctr"/>
                <a:r>
                  <a:rPr lang="zh-CN" sz="1120" b="1" dirty="0">
                    <a:solidFill>
                      <a:schemeClr val="accent1"/>
                    </a:solidFill>
                    <a:latin typeface="+mn-lt"/>
                    <a:ea typeface="+mn-ea"/>
                    <a:cs typeface="+mn-cs"/>
                  </a:rPr>
                  <a:t>董事会只需抓住 5 个问题</a:t>
                </a:r>
              </a:p>
            </p:txBody>
          </p:sp>
        </p:grpSp>
        <p:grpSp>
          <p:nvGrpSpPr>
            <p:cNvPr id="74" name="Group 74"/>
            <p:cNvGrpSpPr/>
            <p:nvPr/>
          </p:nvGrpSpPr>
          <p:grpSpPr>
            <a:xfrm>
              <a:off x="4257675" y="1466850"/>
              <a:ext cx="6824853" cy="4457700"/>
              <a:chOff x="4257675" y="1466850"/>
              <a:chExt cx="6824853" cy="4457700"/>
            </a:xfrm>
          </p:grpSpPr>
          <p:sp>
            <p:nvSpPr>
              <p:cNvPr id="38" name="Line 38"/>
              <p:cNvSpPr/>
              <p:nvPr/>
            </p:nvSpPr>
            <p:spPr>
              <a:xfrm>
                <a:off x="4333875" y="1790700"/>
                <a:ext cx="9525" cy="3810000"/>
              </a:xfrm>
              <a:custGeom>
                <a:avLst/>
                <a:gdLst/>
                <a:ahLst/>
                <a:cxnLst/>
                <a:rect l="l" t="t" r="r" b="b"/>
                <a:pathLst>
                  <a:path w="9525" h="3810000">
                    <a:moveTo>
                      <a:pt x="0" y="0"/>
                    </a:moveTo>
                    <a:lnTo>
                      <a:pt x="0" y="3810000"/>
                    </a:lnTo>
                  </a:path>
                </a:pathLst>
              </a:custGeom>
              <a:noFill/>
              <a:ln w="28575">
                <a:solidFill>
                  <a:schemeClr val="accent2"/>
                </a:solidFill>
              </a:ln>
            </p:spPr>
          </p:sp>
          <p:sp>
            <p:nvSpPr>
              <p:cNvPr id="39" name="Ellipse 39"/>
              <p:cNvSpPr/>
              <p:nvPr/>
            </p:nvSpPr>
            <p:spPr>
              <a:xfrm>
                <a:off x="4257675" y="1714500"/>
                <a:ext cx="152400" cy="152400"/>
              </a:xfrm>
              <a:prstGeom prst="ellipse">
                <a:avLst/>
              </a:prstGeom>
              <a:solidFill>
                <a:schemeClr val="lt1"/>
              </a:solidFill>
              <a:ln w="28575">
                <a:solidFill>
                  <a:schemeClr val="accent2"/>
                </a:solidFill>
              </a:ln>
            </p:spPr>
          </p:sp>
          <p:sp>
            <p:nvSpPr>
              <p:cNvPr id="40" name="Ellipse 40"/>
              <p:cNvSpPr/>
              <p:nvPr/>
            </p:nvSpPr>
            <p:spPr>
              <a:xfrm>
                <a:off x="4257675" y="2667000"/>
                <a:ext cx="152400" cy="152400"/>
              </a:xfrm>
              <a:prstGeom prst="ellipse">
                <a:avLst/>
              </a:prstGeom>
              <a:solidFill>
                <a:schemeClr val="lt1"/>
              </a:solidFill>
              <a:ln w="28575">
                <a:solidFill>
                  <a:schemeClr val="accent2"/>
                </a:solidFill>
              </a:ln>
            </p:spPr>
          </p:sp>
          <p:sp>
            <p:nvSpPr>
              <p:cNvPr id="41" name="Ellipse 41"/>
              <p:cNvSpPr/>
              <p:nvPr/>
            </p:nvSpPr>
            <p:spPr>
              <a:xfrm>
                <a:off x="4257675" y="3619500"/>
                <a:ext cx="152400" cy="152400"/>
              </a:xfrm>
              <a:prstGeom prst="ellipse">
                <a:avLst/>
              </a:prstGeom>
              <a:solidFill>
                <a:schemeClr val="lt1"/>
              </a:solidFill>
              <a:ln w="28575">
                <a:solidFill>
                  <a:schemeClr val="accent2"/>
                </a:solidFill>
              </a:ln>
            </p:spPr>
          </p:sp>
          <p:sp>
            <p:nvSpPr>
              <p:cNvPr id="42" name="Ellipse 42"/>
              <p:cNvSpPr/>
              <p:nvPr/>
            </p:nvSpPr>
            <p:spPr>
              <a:xfrm>
                <a:off x="4257675" y="4572000"/>
                <a:ext cx="152400" cy="152400"/>
              </a:xfrm>
              <a:prstGeom prst="ellipse">
                <a:avLst/>
              </a:prstGeom>
              <a:solidFill>
                <a:schemeClr val="lt1"/>
              </a:solidFill>
              <a:ln w="28575">
                <a:solidFill>
                  <a:schemeClr val="accent2"/>
                </a:solidFill>
              </a:ln>
            </p:spPr>
          </p:sp>
          <p:sp>
            <p:nvSpPr>
              <p:cNvPr id="43" name="Ellipse 43"/>
              <p:cNvSpPr/>
              <p:nvPr/>
            </p:nvSpPr>
            <p:spPr>
              <a:xfrm>
                <a:off x="4257675" y="5524500"/>
                <a:ext cx="152400" cy="152400"/>
              </a:xfrm>
              <a:prstGeom prst="ellipse">
                <a:avLst/>
              </a:prstGeom>
              <a:solidFill>
                <a:schemeClr val="lt1"/>
              </a:solidFill>
              <a:ln w="28575">
                <a:solidFill>
                  <a:schemeClr val="accent2"/>
                </a:solidFill>
              </a:ln>
            </p:spPr>
          </p:sp>
          <p:grpSp>
            <p:nvGrpSpPr>
              <p:cNvPr id="49" name="Group 49"/>
              <p:cNvGrpSpPr/>
              <p:nvPr/>
            </p:nvGrpSpPr>
            <p:grpSpPr>
              <a:xfrm>
                <a:off x="4714875" y="1466850"/>
                <a:ext cx="6334125" cy="647700"/>
                <a:chOff x="4714875" y="1466850"/>
                <a:chExt cx="6334125" cy="647700"/>
              </a:xfrm>
            </p:grpSpPr>
            <p:sp>
              <p:nvSpPr>
                <p:cNvPr id="44" name="Freeform 44"/>
                <p:cNvSpPr/>
                <p:nvPr/>
              </p:nvSpPr>
              <p:spPr>
                <a:xfrm>
                  <a:off x="4714875" y="1466850"/>
                  <a:ext cx="6334125" cy="647700"/>
                </a:xfrm>
                <a:custGeom>
                  <a:avLst/>
                  <a:gdLst/>
                  <a:ahLst/>
                  <a:cxnLst/>
                  <a:rect l="l" t="t" r="r" b="b"/>
                  <a:pathLst>
                    <a:path w="6334125" h="647700">
                      <a:moveTo>
                        <a:pt x="114300" y="0"/>
                      </a:moveTo>
                      <a:lnTo>
                        <a:pt x="6219825" y="0"/>
                      </a:lnTo>
                      <a:cubicBezTo>
                        <a:pt x="6282951" y="0"/>
                        <a:pt x="6334125" y="51174"/>
                        <a:pt x="6334125" y="114300"/>
                      </a:cubicBezTo>
                      <a:lnTo>
                        <a:pt x="6334125" y="533400"/>
                      </a:lnTo>
                      <a:cubicBezTo>
                        <a:pt x="6334125" y="596526"/>
                        <a:pt x="6282951" y="647700"/>
                        <a:pt x="6219825" y="647700"/>
                      </a:cubicBezTo>
                      <a:lnTo>
                        <a:pt x="114300" y="647700"/>
                      </a:lnTo>
                      <a:cubicBezTo>
                        <a:pt x="51174" y="647700"/>
                        <a:pt x="0" y="596526"/>
                        <a:pt x="0" y="533400"/>
                      </a:cubicBezTo>
                      <a:lnTo>
                        <a:pt x="0" y="114300"/>
                      </a:lnTo>
                      <a:cubicBezTo>
                        <a:pt x="0" y="51174"/>
                        <a:pt x="51174" y="0"/>
                        <a:pt x="114300" y="0"/>
                      </a:cubicBezTo>
                      <a:close/>
                    </a:path>
                  </a:pathLst>
                </a:custGeom>
                <a:solidFill>
                  <a:schemeClr val="lt1"/>
                </a:solidFill>
                <a:ln w="14288">
                  <a:solidFill>
                    <a:schemeClr val="accent4"/>
                  </a:solidFill>
                </a:ln>
              </p:spPr>
            </p:sp>
            <p:sp>
              <p:nvSpPr>
                <p:cNvPr id="45" name="Freeform 45"/>
                <p:cNvSpPr/>
                <p:nvPr/>
              </p:nvSpPr>
              <p:spPr>
                <a:xfrm>
                  <a:off x="4714875" y="1466850"/>
                  <a:ext cx="876300" cy="647700"/>
                </a:xfrm>
                <a:custGeom>
                  <a:avLst/>
                  <a:gdLst/>
                  <a:ahLst/>
                  <a:cxnLst/>
                  <a:rect l="l" t="t" r="r" b="b"/>
                  <a:pathLst>
                    <a:path w="876300" h="647700">
                      <a:moveTo>
                        <a:pt x="114300" y="0"/>
                      </a:moveTo>
                      <a:lnTo>
                        <a:pt x="762000" y="0"/>
                      </a:lnTo>
                      <a:cubicBezTo>
                        <a:pt x="825126" y="0"/>
                        <a:pt x="876300" y="51174"/>
                        <a:pt x="876300" y="114300"/>
                      </a:cubicBezTo>
                      <a:lnTo>
                        <a:pt x="876300" y="533400"/>
                      </a:lnTo>
                      <a:cubicBezTo>
                        <a:pt x="876300" y="596526"/>
                        <a:pt x="825126" y="647700"/>
                        <a:pt x="762000" y="647700"/>
                      </a:cubicBezTo>
                      <a:lnTo>
                        <a:pt x="114300" y="647700"/>
                      </a:lnTo>
                      <a:cubicBezTo>
                        <a:pt x="51174" y="647700"/>
                        <a:pt x="0" y="596526"/>
                        <a:pt x="0" y="533400"/>
                      </a:cubicBezTo>
                      <a:lnTo>
                        <a:pt x="0" y="114300"/>
                      </a:lnTo>
                      <a:cubicBezTo>
                        <a:pt x="0" y="51174"/>
                        <a:pt x="51174" y="0"/>
                        <a:pt x="114300" y="0"/>
                      </a:cubicBezTo>
                      <a:close/>
                    </a:path>
                  </a:pathLst>
                </a:custGeom>
                <a:solidFill>
                  <a:schemeClr val="accent1"/>
                </a:solidFill>
                <a:ln>
                  <a:noFill/>
                </a:ln>
              </p:spPr>
            </p:sp>
            <p:sp>
              <p:nvSpPr>
                <p:cNvPr id="46" name="TextBox 46"/>
                <p:cNvSpPr txBox="1"/>
                <p:nvPr/>
              </p:nvSpPr>
              <p:spPr>
                <a:xfrm>
                  <a:off x="4982939" y="1542098"/>
                  <a:ext cx="34017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j-lt"/>
                      <a:ea typeface="+mj-ea"/>
                      <a:cs typeface="+mj-cs"/>
                    </a:rPr>
                    <a:t>01</a:t>
                  </a:r>
                </a:p>
              </p:txBody>
            </p:sp>
            <p:sp>
              <p:nvSpPr>
                <p:cNvPr id="47" name="TextBox 47"/>
                <p:cNvSpPr txBox="1"/>
                <p:nvPr/>
              </p:nvSpPr>
              <p:spPr>
                <a:xfrm>
                  <a:off x="5802630" y="1571625"/>
                  <a:ext cx="3619691"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为什么这是管理层现在必须下注的系统</a:t>
                  </a:r>
                </a:p>
              </p:txBody>
            </p:sp>
            <p:sp>
              <p:nvSpPr>
                <p:cNvPr id="48" name="TextBox 48"/>
                <p:cNvSpPr txBox="1"/>
                <p:nvPr/>
              </p:nvSpPr>
              <p:spPr>
                <a:xfrm>
                  <a:off x="5804916" y="1848802"/>
                  <a:ext cx="4468825"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AI营销工作台把数据资产直接连接到收入结果，不再停留在报表层。</a:t>
                  </a:r>
                </a:p>
              </p:txBody>
            </p:sp>
          </p:grpSp>
          <p:grpSp>
            <p:nvGrpSpPr>
              <p:cNvPr id="55" name="Group 55"/>
              <p:cNvGrpSpPr/>
              <p:nvPr/>
            </p:nvGrpSpPr>
            <p:grpSpPr>
              <a:xfrm>
                <a:off x="4714875" y="2419350"/>
                <a:ext cx="6367653" cy="647700"/>
                <a:chOff x="4714875" y="2419350"/>
                <a:chExt cx="6367653" cy="647700"/>
              </a:xfrm>
            </p:grpSpPr>
            <p:sp>
              <p:nvSpPr>
                <p:cNvPr id="50" name="Freeform 50"/>
                <p:cNvSpPr/>
                <p:nvPr/>
              </p:nvSpPr>
              <p:spPr>
                <a:xfrm>
                  <a:off x="4714875" y="2419350"/>
                  <a:ext cx="6334125" cy="647700"/>
                </a:xfrm>
                <a:custGeom>
                  <a:avLst/>
                  <a:gdLst/>
                  <a:ahLst/>
                  <a:cxnLst/>
                  <a:rect l="l" t="t" r="r" b="b"/>
                  <a:pathLst>
                    <a:path w="6334125" h="647700">
                      <a:moveTo>
                        <a:pt x="114300" y="0"/>
                      </a:moveTo>
                      <a:lnTo>
                        <a:pt x="6219825" y="0"/>
                      </a:lnTo>
                      <a:cubicBezTo>
                        <a:pt x="6282951" y="0"/>
                        <a:pt x="6334125" y="51174"/>
                        <a:pt x="6334125" y="114300"/>
                      </a:cubicBezTo>
                      <a:lnTo>
                        <a:pt x="6334125" y="533400"/>
                      </a:lnTo>
                      <a:cubicBezTo>
                        <a:pt x="6334125" y="596526"/>
                        <a:pt x="6282951" y="647700"/>
                        <a:pt x="6219825" y="647700"/>
                      </a:cubicBezTo>
                      <a:lnTo>
                        <a:pt x="114300" y="647700"/>
                      </a:lnTo>
                      <a:cubicBezTo>
                        <a:pt x="51174" y="647700"/>
                        <a:pt x="0" y="596526"/>
                        <a:pt x="0" y="533400"/>
                      </a:cubicBezTo>
                      <a:lnTo>
                        <a:pt x="0" y="114300"/>
                      </a:lnTo>
                      <a:cubicBezTo>
                        <a:pt x="0" y="51174"/>
                        <a:pt x="51174" y="0"/>
                        <a:pt x="114300" y="0"/>
                      </a:cubicBezTo>
                      <a:close/>
                    </a:path>
                  </a:pathLst>
                </a:custGeom>
                <a:solidFill>
                  <a:schemeClr val="lt1"/>
                </a:solidFill>
                <a:ln w="14288">
                  <a:solidFill>
                    <a:schemeClr val="accent4"/>
                  </a:solidFill>
                </a:ln>
              </p:spPr>
            </p:sp>
            <p:sp>
              <p:nvSpPr>
                <p:cNvPr id="51" name="Freeform 51"/>
                <p:cNvSpPr/>
                <p:nvPr/>
              </p:nvSpPr>
              <p:spPr>
                <a:xfrm>
                  <a:off x="4714875" y="2419350"/>
                  <a:ext cx="876300" cy="647700"/>
                </a:xfrm>
                <a:custGeom>
                  <a:avLst/>
                  <a:gdLst/>
                  <a:ahLst/>
                  <a:cxnLst/>
                  <a:rect l="l" t="t" r="r" b="b"/>
                  <a:pathLst>
                    <a:path w="876300" h="647700">
                      <a:moveTo>
                        <a:pt x="114300" y="0"/>
                      </a:moveTo>
                      <a:lnTo>
                        <a:pt x="762000" y="0"/>
                      </a:lnTo>
                      <a:cubicBezTo>
                        <a:pt x="825126" y="0"/>
                        <a:pt x="876300" y="51174"/>
                        <a:pt x="876300" y="114300"/>
                      </a:cubicBezTo>
                      <a:lnTo>
                        <a:pt x="876300" y="533400"/>
                      </a:lnTo>
                      <a:cubicBezTo>
                        <a:pt x="876300" y="596526"/>
                        <a:pt x="825126" y="647700"/>
                        <a:pt x="762000" y="647700"/>
                      </a:cubicBezTo>
                      <a:lnTo>
                        <a:pt x="114300" y="647700"/>
                      </a:lnTo>
                      <a:cubicBezTo>
                        <a:pt x="51174" y="647700"/>
                        <a:pt x="0" y="596526"/>
                        <a:pt x="0" y="533400"/>
                      </a:cubicBezTo>
                      <a:lnTo>
                        <a:pt x="0" y="114300"/>
                      </a:lnTo>
                      <a:cubicBezTo>
                        <a:pt x="0" y="51174"/>
                        <a:pt x="51174" y="0"/>
                        <a:pt x="114300" y="0"/>
                      </a:cubicBezTo>
                      <a:close/>
                    </a:path>
                  </a:pathLst>
                </a:custGeom>
                <a:solidFill>
                  <a:schemeClr val="accent2"/>
                </a:solidFill>
                <a:ln>
                  <a:noFill/>
                </a:ln>
              </p:spPr>
            </p:sp>
            <p:sp>
              <p:nvSpPr>
                <p:cNvPr id="52" name="TextBox 52"/>
                <p:cNvSpPr txBox="1"/>
                <p:nvPr/>
              </p:nvSpPr>
              <p:spPr>
                <a:xfrm>
                  <a:off x="4982939" y="2494598"/>
                  <a:ext cx="34017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j-lt"/>
                      <a:ea typeface="+mj-ea"/>
                      <a:cs typeface="+mj-cs"/>
                    </a:rPr>
                    <a:t>02</a:t>
                  </a:r>
                </a:p>
              </p:txBody>
            </p:sp>
            <p:sp>
              <p:nvSpPr>
                <p:cNvPr id="53" name="TextBox 53"/>
                <p:cNvSpPr txBox="1"/>
                <p:nvPr/>
              </p:nvSpPr>
              <p:spPr>
                <a:xfrm>
                  <a:off x="5802630" y="2524125"/>
                  <a:ext cx="5279898"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四模块闭环：数据整合→AI分析→自动化执行→效果度量</a:t>
                  </a:r>
                </a:p>
              </p:txBody>
            </p:sp>
            <p:sp>
              <p:nvSpPr>
                <p:cNvPr id="54" name="TextBox 54"/>
                <p:cNvSpPr txBox="1"/>
                <p:nvPr/>
              </p:nvSpPr>
              <p:spPr>
                <a:xfrm>
                  <a:off x="5804916" y="2801302"/>
                  <a:ext cx="3261741"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不是单点工具堆叠，而是可自我强化的增长工作流。</a:t>
                  </a:r>
                </a:p>
              </p:txBody>
            </p:sp>
          </p:grpSp>
          <p:grpSp>
            <p:nvGrpSpPr>
              <p:cNvPr id="61" name="Group 61"/>
              <p:cNvGrpSpPr/>
              <p:nvPr/>
            </p:nvGrpSpPr>
            <p:grpSpPr>
              <a:xfrm>
                <a:off x="4714875" y="3371850"/>
                <a:ext cx="6334125" cy="647700"/>
                <a:chOff x="4714875" y="3371850"/>
                <a:chExt cx="6334125" cy="647700"/>
              </a:xfrm>
            </p:grpSpPr>
            <p:sp>
              <p:nvSpPr>
                <p:cNvPr id="56" name="Freeform 56"/>
                <p:cNvSpPr/>
                <p:nvPr/>
              </p:nvSpPr>
              <p:spPr>
                <a:xfrm>
                  <a:off x="4714875" y="3371850"/>
                  <a:ext cx="6334125" cy="647700"/>
                </a:xfrm>
                <a:custGeom>
                  <a:avLst/>
                  <a:gdLst/>
                  <a:ahLst/>
                  <a:cxnLst/>
                  <a:rect l="l" t="t" r="r" b="b"/>
                  <a:pathLst>
                    <a:path w="6334125" h="647700">
                      <a:moveTo>
                        <a:pt x="114300" y="0"/>
                      </a:moveTo>
                      <a:lnTo>
                        <a:pt x="6219825" y="0"/>
                      </a:lnTo>
                      <a:cubicBezTo>
                        <a:pt x="6282951" y="0"/>
                        <a:pt x="6334125" y="51174"/>
                        <a:pt x="6334125" y="114300"/>
                      </a:cubicBezTo>
                      <a:lnTo>
                        <a:pt x="6334125" y="533400"/>
                      </a:lnTo>
                      <a:cubicBezTo>
                        <a:pt x="6334125" y="596526"/>
                        <a:pt x="6282951" y="647700"/>
                        <a:pt x="6219825" y="647700"/>
                      </a:cubicBezTo>
                      <a:lnTo>
                        <a:pt x="114300" y="647700"/>
                      </a:lnTo>
                      <a:cubicBezTo>
                        <a:pt x="51174" y="647700"/>
                        <a:pt x="0" y="596526"/>
                        <a:pt x="0" y="533400"/>
                      </a:cubicBezTo>
                      <a:lnTo>
                        <a:pt x="0" y="114300"/>
                      </a:lnTo>
                      <a:cubicBezTo>
                        <a:pt x="0" y="51174"/>
                        <a:pt x="51174" y="0"/>
                        <a:pt x="114300" y="0"/>
                      </a:cubicBezTo>
                      <a:close/>
                    </a:path>
                  </a:pathLst>
                </a:custGeom>
                <a:solidFill>
                  <a:schemeClr val="lt1"/>
                </a:solidFill>
                <a:ln w="14288">
                  <a:solidFill>
                    <a:schemeClr val="accent4"/>
                  </a:solidFill>
                </a:ln>
              </p:spPr>
            </p:sp>
            <p:sp>
              <p:nvSpPr>
                <p:cNvPr id="57" name="Freeform 57"/>
                <p:cNvSpPr/>
                <p:nvPr/>
              </p:nvSpPr>
              <p:spPr>
                <a:xfrm>
                  <a:off x="4714875" y="3371850"/>
                  <a:ext cx="876300" cy="647700"/>
                </a:xfrm>
                <a:custGeom>
                  <a:avLst/>
                  <a:gdLst/>
                  <a:ahLst/>
                  <a:cxnLst/>
                  <a:rect l="l" t="t" r="r" b="b"/>
                  <a:pathLst>
                    <a:path w="876300" h="647700">
                      <a:moveTo>
                        <a:pt x="114300" y="0"/>
                      </a:moveTo>
                      <a:lnTo>
                        <a:pt x="762000" y="0"/>
                      </a:lnTo>
                      <a:cubicBezTo>
                        <a:pt x="825126" y="0"/>
                        <a:pt x="876300" y="51174"/>
                        <a:pt x="876300" y="114300"/>
                      </a:cubicBezTo>
                      <a:lnTo>
                        <a:pt x="876300" y="533400"/>
                      </a:lnTo>
                      <a:cubicBezTo>
                        <a:pt x="876300" y="596526"/>
                        <a:pt x="825126" y="647700"/>
                        <a:pt x="762000" y="647700"/>
                      </a:cubicBezTo>
                      <a:lnTo>
                        <a:pt x="114300" y="647700"/>
                      </a:lnTo>
                      <a:cubicBezTo>
                        <a:pt x="51174" y="647700"/>
                        <a:pt x="0" y="596526"/>
                        <a:pt x="0" y="533400"/>
                      </a:cubicBezTo>
                      <a:lnTo>
                        <a:pt x="0" y="114300"/>
                      </a:lnTo>
                      <a:cubicBezTo>
                        <a:pt x="0" y="51174"/>
                        <a:pt x="51174" y="0"/>
                        <a:pt x="114300" y="0"/>
                      </a:cubicBezTo>
                      <a:close/>
                    </a:path>
                  </a:pathLst>
                </a:custGeom>
                <a:solidFill>
                  <a:schemeClr val="accent3"/>
                </a:solidFill>
                <a:ln>
                  <a:noFill/>
                </a:ln>
              </p:spPr>
            </p:sp>
            <p:sp>
              <p:nvSpPr>
                <p:cNvPr id="58" name="TextBox 58"/>
                <p:cNvSpPr txBox="1"/>
                <p:nvPr/>
              </p:nvSpPr>
              <p:spPr>
                <a:xfrm>
                  <a:off x="4982939" y="3447098"/>
                  <a:ext cx="34017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j-lt"/>
                      <a:ea typeface="+mj-ea"/>
                      <a:cs typeface="+mj-cs"/>
                    </a:rPr>
                    <a:t>03</a:t>
                  </a:r>
                </a:p>
              </p:txBody>
            </p:sp>
            <p:sp>
              <p:nvSpPr>
                <p:cNvPr id="59" name="TextBox 59"/>
                <p:cNvSpPr txBox="1"/>
                <p:nvPr/>
              </p:nvSpPr>
              <p:spPr>
                <a:xfrm>
                  <a:off x="5802630" y="3476625"/>
                  <a:ext cx="404374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真实风险：数据合规、模型漂移、组织抵触</a:t>
                  </a:r>
                </a:p>
              </p:txBody>
            </p:sp>
            <p:sp>
              <p:nvSpPr>
                <p:cNvPr id="60" name="TextBox 60"/>
                <p:cNvSpPr txBox="1"/>
                <p:nvPr/>
              </p:nvSpPr>
              <p:spPr>
                <a:xfrm>
                  <a:off x="5804916" y="3753802"/>
                  <a:ext cx="3685794"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逐项给出成本影响与可执行的缓解机制，不回避实施摩擦。</a:t>
                  </a:r>
                </a:p>
              </p:txBody>
            </p:sp>
          </p:grpSp>
          <p:grpSp>
            <p:nvGrpSpPr>
              <p:cNvPr id="67" name="Group 67"/>
              <p:cNvGrpSpPr/>
              <p:nvPr/>
            </p:nvGrpSpPr>
            <p:grpSpPr>
              <a:xfrm>
                <a:off x="4714875" y="4324350"/>
                <a:ext cx="6334125" cy="647700"/>
                <a:chOff x="4714875" y="4324350"/>
                <a:chExt cx="6334125" cy="647700"/>
              </a:xfrm>
            </p:grpSpPr>
            <p:sp>
              <p:nvSpPr>
                <p:cNvPr id="62" name="Freeform 62"/>
                <p:cNvSpPr/>
                <p:nvPr/>
              </p:nvSpPr>
              <p:spPr>
                <a:xfrm>
                  <a:off x="4714875" y="4324350"/>
                  <a:ext cx="6334125" cy="647700"/>
                </a:xfrm>
                <a:custGeom>
                  <a:avLst/>
                  <a:gdLst/>
                  <a:ahLst/>
                  <a:cxnLst/>
                  <a:rect l="l" t="t" r="r" b="b"/>
                  <a:pathLst>
                    <a:path w="6334125" h="647700">
                      <a:moveTo>
                        <a:pt x="114300" y="0"/>
                      </a:moveTo>
                      <a:lnTo>
                        <a:pt x="6219825" y="0"/>
                      </a:lnTo>
                      <a:cubicBezTo>
                        <a:pt x="6282951" y="0"/>
                        <a:pt x="6334125" y="51174"/>
                        <a:pt x="6334125" y="114300"/>
                      </a:cubicBezTo>
                      <a:lnTo>
                        <a:pt x="6334125" y="533400"/>
                      </a:lnTo>
                      <a:cubicBezTo>
                        <a:pt x="6334125" y="596526"/>
                        <a:pt x="6282951" y="647700"/>
                        <a:pt x="6219825" y="647700"/>
                      </a:cubicBezTo>
                      <a:lnTo>
                        <a:pt x="114300" y="647700"/>
                      </a:lnTo>
                      <a:cubicBezTo>
                        <a:pt x="51174" y="647700"/>
                        <a:pt x="0" y="596526"/>
                        <a:pt x="0" y="533400"/>
                      </a:cubicBezTo>
                      <a:lnTo>
                        <a:pt x="0" y="114300"/>
                      </a:lnTo>
                      <a:cubicBezTo>
                        <a:pt x="0" y="51174"/>
                        <a:pt x="51174" y="0"/>
                        <a:pt x="114300" y="0"/>
                      </a:cubicBezTo>
                      <a:close/>
                    </a:path>
                  </a:pathLst>
                </a:custGeom>
                <a:solidFill>
                  <a:schemeClr val="lt1"/>
                </a:solidFill>
                <a:ln w="14288">
                  <a:solidFill>
                    <a:schemeClr val="accent4"/>
                  </a:solidFill>
                </a:ln>
              </p:spPr>
            </p:sp>
            <p:sp>
              <p:nvSpPr>
                <p:cNvPr id="63" name="Freeform 63"/>
                <p:cNvSpPr/>
                <p:nvPr/>
              </p:nvSpPr>
              <p:spPr>
                <a:xfrm>
                  <a:off x="4714875" y="4324350"/>
                  <a:ext cx="876300" cy="647700"/>
                </a:xfrm>
                <a:custGeom>
                  <a:avLst/>
                  <a:gdLst/>
                  <a:ahLst/>
                  <a:cxnLst/>
                  <a:rect l="l" t="t" r="r" b="b"/>
                  <a:pathLst>
                    <a:path w="876300" h="647700">
                      <a:moveTo>
                        <a:pt x="114300" y="0"/>
                      </a:moveTo>
                      <a:lnTo>
                        <a:pt x="762000" y="0"/>
                      </a:lnTo>
                      <a:cubicBezTo>
                        <a:pt x="825126" y="0"/>
                        <a:pt x="876300" y="51174"/>
                        <a:pt x="876300" y="114300"/>
                      </a:cubicBezTo>
                      <a:lnTo>
                        <a:pt x="876300" y="533400"/>
                      </a:lnTo>
                      <a:cubicBezTo>
                        <a:pt x="876300" y="596526"/>
                        <a:pt x="825126" y="647700"/>
                        <a:pt x="762000" y="647700"/>
                      </a:cubicBezTo>
                      <a:lnTo>
                        <a:pt x="114300" y="647700"/>
                      </a:lnTo>
                      <a:cubicBezTo>
                        <a:pt x="51174" y="647700"/>
                        <a:pt x="0" y="596526"/>
                        <a:pt x="0" y="533400"/>
                      </a:cubicBezTo>
                      <a:lnTo>
                        <a:pt x="0" y="114300"/>
                      </a:lnTo>
                      <a:cubicBezTo>
                        <a:pt x="0" y="51174"/>
                        <a:pt x="51174" y="0"/>
                        <a:pt x="114300" y="0"/>
                      </a:cubicBezTo>
                      <a:close/>
                    </a:path>
                  </a:pathLst>
                </a:custGeom>
                <a:solidFill>
                  <a:schemeClr val="accent1"/>
                </a:solidFill>
                <a:ln>
                  <a:noFill/>
                </a:ln>
              </p:spPr>
            </p:sp>
            <p:sp>
              <p:nvSpPr>
                <p:cNvPr id="64" name="TextBox 64"/>
                <p:cNvSpPr txBox="1"/>
                <p:nvPr/>
              </p:nvSpPr>
              <p:spPr>
                <a:xfrm>
                  <a:off x="4982939" y="4399598"/>
                  <a:ext cx="34017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j-lt"/>
                      <a:ea typeface="+mj-ea"/>
                      <a:cs typeface="+mj-cs"/>
                    </a:rPr>
                    <a:t>04</a:t>
                  </a:r>
                </a:p>
              </p:txBody>
            </p:sp>
            <p:sp>
              <p:nvSpPr>
                <p:cNvPr id="65" name="TextBox 65"/>
                <p:cNvSpPr txBox="1"/>
                <p:nvPr/>
              </p:nvSpPr>
              <p:spPr>
                <a:xfrm>
                  <a:off x="5802630" y="4429125"/>
                  <a:ext cx="4467797"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财务判断：保守回收期、关键里程碑、预算边界</a:t>
                  </a:r>
                </a:p>
              </p:txBody>
            </p:sp>
            <p:sp>
              <p:nvSpPr>
                <p:cNvPr id="66" name="TextBox 66"/>
                <p:cNvSpPr txBox="1"/>
                <p:nvPr/>
              </p:nvSpPr>
              <p:spPr>
                <a:xfrm>
                  <a:off x="5804916" y="4706302"/>
                  <a:ext cx="3261741"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帮助董事会判断投还是不投、先投多少、何时扩容。</a:t>
                  </a:r>
                </a:p>
              </p:txBody>
            </p:sp>
          </p:grpSp>
          <p:grpSp>
            <p:nvGrpSpPr>
              <p:cNvPr id="73" name="Group 73"/>
              <p:cNvGrpSpPr/>
              <p:nvPr/>
            </p:nvGrpSpPr>
            <p:grpSpPr>
              <a:xfrm>
                <a:off x="4714875" y="5276850"/>
                <a:ext cx="6334125" cy="647700"/>
                <a:chOff x="4714875" y="5276850"/>
                <a:chExt cx="6334125" cy="647700"/>
              </a:xfrm>
            </p:grpSpPr>
            <p:sp>
              <p:nvSpPr>
                <p:cNvPr id="68" name="Freeform 68"/>
                <p:cNvSpPr/>
                <p:nvPr/>
              </p:nvSpPr>
              <p:spPr>
                <a:xfrm>
                  <a:off x="4714875" y="5276850"/>
                  <a:ext cx="6334125" cy="647700"/>
                </a:xfrm>
                <a:custGeom>
                  <a:avLst/>
                  <a:gdLst/>
                  <a:ahLst/>
                  <a:cxnLst/>
                  <a:rect l="l" t="t" r="r" b="b"/>
                  <a:pathLst>
                    <a:path w="6334125" h="647700">
                      <a:moveTo>
                        <a:pt x="114300" y="0"/>
                      </a:moveTo>
                      <a:lnTo>
                        <a:pt x="6219825" y="0"/>
                      </a:lnTo>
                      <a:cubicBezTo>
                        <a:pt x="6282951" y="0"/>
                        <a:pt x="6334125" y="51174"/>
                        <a:pt x="6334125" y="114300"/>
                      </a:cubicBezTo>
                      <a:lnTo>
                        <a:pt x="6334125" y="533400"/>
                      </a:lnTo>
                      <a:cubicBezTo>
                        <a:pt x="6334125" y="596526"/>
                        <a:pt x="6282951" y="647700"/>
                        <a:pt x="6219825" y="647700"/>
                      </a:cubicBezTo>
                      <a:lnTo>
                        <a:pt x="114300" y="647700"/>
                      </a:lnTo>
                      <a:cubicBezTo>
                        <a:pt x="51174" y="647700"/>
                        <a:pt x="0" y="596526"/>
                        <a:pt x="0" y="533400"/>
                      </a:cubicBezTo>
                      <a:lnTo>
                        <a:pt x="0" y="114300"/>
                      </a:lnTo>
                      <a:cubicBezTo>
                        <a:pt x="0" y="51174"/>
                        <a:pt x="51174" y="0"/>
                        <a:pt x="114300" y="0"/>
                      </a:cubicBezTo>
                      <a:close/>
                    </a:path>
                  </a:pathLst>
                </a:custGeom>
                <a:solidFill>
                  <a:schemeClr val="lt1"/>
                </a:solidFill>
                <a:ln w="14288">
                  <a:solidFill>
                    <a:schemeClr val="accent4"/>
                  </a:solidFill>
                </a:ln>
              </p:spPr>
            </p:sp>
            <p:sp>
              <p:nvSpPr>
                <p:cNvPr id="69" name="Freeform 69"/>
                <p:cNvSpPr/>
                <p:nvPr/>
              </p:nvSpPr>
              <p:spPr>
                <a:xfrm>
                  <a:off x="4714875" y="5276850"/>
                  <a:ext cx="876300" cy="647700"/>
                </a:xfrm>
                <a:custGeom>
                  <a:avLst/>
                  <a:gdLst/>
                  <a:ahLst/>
                  <a:cxnLst/>
                  <a:rect l="l" t="t" r="r" b="b"/>
                  <a:pathLst>
                    <a:path w="876300" h="647700">
                      <a:moveTo>
                        <a:pt x="114300" y="0"/>
                      </a:moveTo>
                      <a:lnTo>
                        <a:pt x="762000" y="0"/>
                      </a:lnTo>
                      <a:cubicBezTo>
                        <a:pt x="825126" y="0"/>
                        <a:pt x="876300" y="51174"/>
                        <a:pt x="876300" y="114300"/>
                      </a:cubicBezTo>
                      <a:lnTo>
                        <a:pt x="876300" y="533400"/>
                      </a:lnTo>
                      <a:cubicBezTo>
                        <a:pt x="876300" y="596526"/>
                        <a:pt x="825126" y="647700"/>
                        <a:pt x="762000" y="647700"/>
                      </a:cubicBezTo>
                      <a:lnTo>
                        <a:pt x="114300" y="647700"/>
                      </a:lnTo>
                      <a:cubicBezTo>
                        <a:pt x="51174" y="647700"/>
                        <a:pt x="0" y="596526"/>
                        <a:pt x="0" y="533400"/>
                      </a:cubicBezTo>
                      <a:lnTo>
                        <a:pt x="0" y="114300"/>
                      </a:lnTo>
                      <a:cubicBezTo>
                        <a:pt x="0" y="51174"/>
                        <a:pt x="51174" y="0"/>
                        <a:pt x="114300" y="0"/>
                      </a:cubicBezTo>
                      <a:close/>
                    </a:path>
                  </a:pathLst>
                </a:custGeom>
                <a:solidFill>
                  <a:schemeClr val="accent2"/>
                </a:solidFill>
                <a:ln>
                  <a:noFill/>
                </a:ln>
              </p:spPr>
            </p:sp>
            <p:sp>
              <p:nvSpPr>
                <p:cNvPr id="70" name="TextBox 70"/>
                <p:cNvSpPr txBox="1"/>
                <p:nvPr/>
              </p:nvSpPr>
              <p:spPr>
                <a:xfrm>
                  <a:off x="4982939" y="5352098"/>
                  <a:ext cx="34017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j-lt"/>
                      <a:ea typeface="+mj-ea"/>
                      <a:cs typeface="+mj-cs"/>
                    </a:rPr>
                    <a:t>05</a:t>
                  </a:r>
                </a:p>
              </p:txBody>
            </p:sp>
            <p:sp>
              <p:nvSpPr>
                <p:cNvPr id="71" name="TextBox 71"/>
                <p:cNvSpPr txBox="1"/>
                <p:nvPr/>
              </p:nvSpPr>
              <p:spPr>
                <a:xfrm>
                  <a:off x="5802630" y="5381625"/>
                  <a:ext cx="406494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未来90天的具体动作与必须立即拍板的事项</a:t>
                  </a:r>
                </a:p>
              </p:txBody>
            </p:sp>
            <p:sp>
              <p:nvSpPr>
                <p:cNvPr id="72" name="TextBox 72"/>
                <p:cNvSpPr txBox="1"/>
                <p:nvPr/>
              </p:nvSpPr>
              <p:spPr>
                <a:xfrm>
                  <a:off x="5804916" y="5658802"/>
                  <a:ext cx="3403092"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团队、试点、供应商比对与首个增长循环的落地路径。</a:t>
                  </a:r>
                </a:p>
              </p:txBody>
            </p:sp>
          </p:grpSp>
        </p:grpSp>
        <p:grpSp>
          <p:nvGrpSpPr>
            <p:cNvPr id="78" name="Group 78"/>
            <p:cNvGrpSpPr/>
            <p:nvPr/>
          </p:nvGrpSpPr>
          <p:grpSpPr>
            <a:xfrm>
              <a:off x="3714750" y="6153150"/>
              <a:ext cx="7334250" cy="323850"/>
              <a:chOff x="3714750" y="6153150"/>
              <a:chExt cx="7334250" cy="323850"/>
            </a:xfrm>
          </p:grpSpPr>
          <p:sp>
            <p:nvSpPr>
              <p:cNvPr id="75" name="Freeform 75"/>
              <p:cNvSpPr/>
              <p:nvPr/>
            </p:nvSpPr>
            <p:spPr>
              <a:xfrm>
                <a:off x="3714750" y="6153150"/>
                <a:ext cx="7334250" cy="323850"/>
              </a:xfrm>
              <a:custGeom>
                <a:avLst/>
                <a:gdLst/>
                <a:ahLst/>
                <a:cxnLst/>
                <a:rect l="l" t="t" r="r" b="b"/>
                <a:pathLst>
                  <a:path w="7334250" h="323850">
                    <a:moveTo>
                      <a:pt x="76200" y="0"/>
                    </a:moveTo>
                    <a:lnTo>
                      <a:pt x="7258050" y="0"/>
                    </a:lnTo>
                    <a:cubicBezTo>
                      <a:pt x="7300134" y="0"/>
                      <a:pt x="7334250" y="34116"/>
                      <a:pt x="7334250" y="76200"/>
                    </a:cubicBezTo>
                    <a:lnTo>
                      <a:pt x="7334250" y="247650"/>
                    </a:lnTo>
                    <a:cubicBezTo>
                      <a:pt x="7334250" y="289734"/>
                      <a:pt x="7300134" y="323850"/>
                      <a:pt x="7258050" y="323850"/>
                    </a:cubicBezTo>
                    <a:lnTo>
                      <a:pt x="76200" y="323850"/>
                    </a:lnTo>
                    <a:cubicBezTo>
                      <a:pt x="34116" y="323850"/>
                      <a:pt x="0" y="289734"/>
                      <a:pt x="0" y="247650"/>
                    </a:cubicBezTo>
                    <a:lnTo>
                      <a:pt x="0" y="76200"/>
                    </a:lnTo>
                    <a:cubicBezTo>
                      <a:pt x="0" y="34116"/>
                      <a:pt x="34116" y="0"/>
                      <a:pt x="76200" y="0"/>
                    </a:cubicBezTo>
                    <a:close/>
                  </a:path>
                </a:pathLst>
              </a:custGeom>
              <a:solidFill>
                <a:schemeClr val="lt2"/>
              </a:solidFill>
              <a:ln w="9525">
                <a:solidFill>
                  <a:schemeClr val="accent4"/>
                </a:solidFill>
              </a:ln>
            </p:spPr>
          </p:sp>
          <p:sp>
            <p:nvSpPr>
              <p:cNvPr id="76" name="TextBox 76"/>
              <p:cNvSpPr txBox="1"/>
              <p:nvPr/>
            </p:nvSpPr>
            <p:spPr>
              <a:xfrm>
                <a:off x="3900297" y="6257449"/>
                <a:ext cx="56117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阅读路径</a:t>
                </a:r>
              </a:p>
            </p:txBody>
          </p:sp>
          <p:sp>
            <p:nvSpPr>
              <p:cNvPr id="77" name="TextBox 77"/>
              <p:cNvSpPr txBox="1"/>
              <p:nvPr/>
            </p:nvSpPr>
            <p:spPr>
              <a:xfrm>
                <a:off x="4757547" y="6257449"/>
                <a:ext cx="3251892" cy="190690"/>
              </a:xfrm>
              <a:prstGeom prst="rect">
                <a:avLst/>
              </a:prstGeom>
              <a:noFill/>
              <a:ln>
                <a:noFill/>
              </a:ln>
            </p:spPr>
            <p:txBody>
              <a:bodyPr wrap="none" lIns="0" tIns="0" rIns="0" bIns="0" anchor="t" anchorCtr="0">
                <a:spAutoFit/>
              </a:bodyPr>
              <a:lstStyle/>
              <a:p>
                <a:pPr algn="l"/>
                <a:r>
                  <a:rPr lang="zh-CN" sz="980" dirty="0">
                    <a:solidFill>
                      <a:schemeClr val="dk2"/>
                    </a:solidFill>
                    <a:latin typeface="+mn-lt"/>
                    <a:ea typeface="+mn-ea"/>
                    <a:cs typeface="+mn-cs"/>
                  </a:rPr>
                  <a:t>价值判断 → 闭环方案 → 风险控制 → 财务回报 → 90天行动</a:t>
                </a:r>
              </a:p>
            </p:txBody>
          </p:sp>
        </p:grpSp>
      </p:grpSp>
      <p:grpSp>
        <p:nvGrpSpPr>
          <p:cNvPr id="82" name="Group 82"/>
          <p:cNvGrpSpPr/>
          <p:nvPr/>
        </p:nvGrpSpPr>
        <p:grpSpPr>
          <a:xfrm>
            <a:off x="3757612" y="1244441"/>
            <a:ext cx="6991351" cy="161925"/>
            <a:chOff x="3757612" y="1244441"/>
            <a:chExt cx="6991351" cy="161925"/>
          </a:xfrm>
        </p:grpSpPr>
        <p:sp>
          <p:nvSpPr>
            <p:cNvPr id="80" name="TextBox 80"/>
            <p:cNvSpPr txBox="1"/>
            <p:nvPr/>
          </p:nvSpPr>
          <p:spPr>
            <a:xfrm>
              <a:off x="3757612" y="1244441"/>
              <a:ext cx="1392241"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Consolas"/>
                  <a:ea typeface="Consolas"/>
                  <a:cs typeface="Consolas"/>
                </a:rPr>
                <a:t>module-rail / exec agenda</a:t>
              </a:r>
            </a:p>
          </p:txBody>
        </p:sp>
        <p:sp>
          <p:nvSpPr>
            <p:cNvPr id="81" name="TextBox 81"/>
            <p:cNvSpPr txBox="1"/>
            <p:nvPr/>
          </p:nvSpPr>
          <p:spPr>
            <a:xfrm>
              <a:off x="9440018" y="1244441"/>
              <a:ext cx="1308945"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Consolas"/>
                  <a:ea typeface="Consolas"/>
                  <a:cs typeface="Consolas"/>
                </a:rPr>
                <a:t>5 questions for decision</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6858000"/>
            </a:xfrm>
            <a:prstGeom prst="rect">
              <a:avLst/>
            </a:prstGeom>
            <a:gradFill>
              <a:gsLst>
                <a:gs pos="0">
                  <a:schemeClr val="accent2">
                    <a:alpha val="14000"/>
                  </a:schemeClr>
                </a:gs>
                <a:gs pos="100000">
                  <a:schemeClr val="accent2">
                    <a:alpha val="0"/>
                  </a:schemeClr>
                </a:gs>
              </a:gsLst>
              <a:path path="circle">
                <a:fillToRect l="50000" t="50000" r="50000" b="50000"/>
              </a:path>
            </a:gradFill>
            <a:ln>
              <a:noFill/>
            </a:ln>
          </p:spPr>
        </p:sp>
        <p:sp>
          <p:nvSpPr>
            <p:cNvPr id="4" name="Line 4"/>
            <p:cNvSpPr/>
            <p:nvPr/>
          </p:nvSpPr>
          <p:spPr>
            <a:xfrm>
              <a:off x="571500" y="87630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5" name="Line 5"/>
            <p:cNvSpPr/>
            <p:nvPr/>
          </p:nvSpPr>
          <p:spPr>
            <a:xfrm>
              <a:off x="571500" y="895350"/>
              <a:ext cx="1714500" cy="9525"/>
            </a:xfrm>
            <a:custGeom>
              <a:avLst/>
              <a:gdLst/>
              <a:ahLst/>
              <a:cxnLst/>
              <a:rect l="l" t="t" r="r" b="b"/>
              <a:pathLst>
                <a:path w="1714500" h="9525">
                  <a:moveTo>
                    <a:pt x="0" y="0"/>
                  </a:moveTo>
                  <a:lnTo>
                    <a:pt x="1714500" y="0"/>
                  </a:lnTo>
                </a:path>
              </a:pathLst>
            </a:custGeom>
            <a:noFill/>
            <a:ln w="19050">
              <a:solidFill>
                <a:schemeClr val="accent2"/>
              </a:solidFill>
            </a:ln>
          </p:spPr>
        </p:sp>
        <p:sp>
          <p:nvSpPr>
            <p:cNvPr id="6" name="Line 6"/>
            <p:cNvSpPr/>
            <p:nvPr/>
          </p:nvSpPr>
          <p:spPr>
            <a:xfrm>
              <a:off x="8667750" y="1143000"/>
              <a:ext cx="9525" cy="4953000"/>
            </a:xfrm>
            <a:custGeom>
              <a:avLst/>
              <a:gdLst/>
              <a:ahLst/>
              <a:cxnLst/>
              <a:rect l="l" t="t" r="r" b="b"/>
              <a:pathLst>
                <a:path w="9525" h="4953000">
                  <a:moveTo>
                    <a:pt x="0" y="0"/>
                  </a:moveTo>
                  <a:lnTo>
                    <a:pt x="0" y="4953000"/>
                  </a:lnTo>
                </a:path>
              </a:pathLst>
            </a:custGeom>
            <a:noFill/>
            <a:ln w="9525">
              <a:solidFill>
                <a:schemeClr val="accent4"/>
              </a:solidFill>
            </a:ln>
          </p:spPr>
        </p:sp>
        <p:sp>
          <p:nvSpPr>
            <p:cNvPr id="7" name="Line 7"/>
            <p:cNvSpPr/>
            <p:nvPr/>
          </p:nvSpPr>
          <p:spPr>
            <a:xfrm>
              <a:off x="9525000" y="1143000"/>
              <a:ext cx="9525" cy="4953000"/>
            </a:xfrm>
            <a:custGeom>
              <a:avLst/>
              <a:gdLst/>
              <a:ahLst/>
              <a:cxnLst/>
              <a:rect l="l" t="t" r="r" b="b"/>
              <a:pathLst>
                <a:path w="9525" h="4953000">
                  <a:moveTo>
                    <a:pt x="0" y="0"/>
                  </a:moveTo>
                  <a:lnTo>
                    <a:pt x="0" y="4953000"/>
                  </a:lnTo>
                </a:path>
              </a:pathLst>
            </a:custGeom>
            <a:noFill/>
            <a:ln w="9525">
              <a:solidFill>
                <a:schemeClr val="accent4"/>
              </a:solidFill>
              <a:custDash>
                <a:ds d="300000" sp="700000"/>
              </a:custDash>
            </a:ln>
          </p:spPr>
        </p:sp>
        <p:sp>
          <p:nvSpPr>
            <p:cNvPr id="8" name="Line 8"/>
            <p:cNvSpPr/>
            <p:nvPr/>
          </p:nvSpPr>
          <p:spPr>
            <a:xfrm>
              <a:off x="10382250" y="1143000"/>
              <a:ext cx="9525" cy="4953000"/>
            </a:xfrm>
            <a:custGeom>
              <a:avLst/>
              <a:gdLst/>
              <a:ahLst/>
              <a:cxnLst/>
              <a:rect l="l" t="t" r="r" b="b"/>
              <a:pathLst>
                <a:path w="9525" h="4953000">
                  <a:moveTo>
                    <a:pt x="0" y="0"/>
                  </a:moveTo>
                  <a:lnTo>
                    <a:pt x="0" y="4953000"/>
                  </a:lnTo>
                </a:path>
              </a:pathLst>
            </a:custGeom>
            <a:noFill/>
            <a:ln w="9525">
              <a:solidFill>
                <a:schemeClr val="accent4"/>
              </a:solidFill>
            </a:ln>
          </p:spPr>
        </p:sp>
        <p:sp>
          <p:nvSpPr>
            <p:cNvPr id="9" name="Line 9"/>
            <p:cNvSpPr/>
            <p:nvPr/>
          </p:nvSpPr>
          <p:spPr>
            <a:xfrm>
              <a:off x="11239500" y="1143000"/>
              <a:ext cx="9525" cy="4953000"/>
            </a:xfrm>
            <a:custGeom>
              <a:avLst/>
              <a:gdLst/>
              <a:ahLst/>
              <a:cxnLst/>
              <a:rect l="l" t="t" r="r" b="b"/>
              <a:pathLst>
                <a:path w="9525" h="4953000">
                  <a:moveTo>
                    <a:pt x="0" y="0"/>
                  </a:moveTo>
                  <a:lnTo>
                    <a:pt x="0" y="4953000"/>
                  </a:lnTo>
                </a:path>
              </a:pathLst>
            </a:custGeom>
            <a:noFill/>
            <a:ln w="9525">
              <a:solidFill>
                <a:schemeClr val="accent4"/>
              </a:solidFill>
              <a:custDash>
                <a:ds d="300000" sp="700000"/>
              </a:custDash>
            </a:ln>
          </p:spPr>
        </p:sp>
      </p:grpSp>
      <p:grpSp>
        <p:nvGrpSpPr>
          <p:cNvPr id="15" name="Group 15"/>
          <p:cNvGrpSpPr/>
          <p:nvPr/>
        </p:nvGrpSpPr>
        <p:grpSpPr>
          <a:xfrm>
            <a:off x="566166" y="381952"/>
            <a:ext cx="11059096" cy="6263164"/>
            <a:chOff x="566166" y="381952"/>
            <a:chExt cx="11059096" cy="6263164"/>
          </a:xfrm>
        </p:grpSpPr>
        <p:sp>
          <p:nvSpPr>
            <p:cNvPr id="11" name="TextBox 11"/>
            <p:cNvSpPr txBox="1"/>
            <p:nvPr/>
          </p:nvSpPr>
          <p:spPr>
            <a:xfrm>
              <a:off x="566166" y="381952"/>
              <a:ext cx="634632" cy="205359"/>
            </a:xfrm>
            <a:prstGeom prst="rect">
              <a:avLst/>
            </a:prstGeom>
            <a:noFill/>
            <a:ln>
              <a:noFill/>
            </a:ln>
          </p:spPr>
          <p:txBody>
            <a:bodyPr wrap="none" lIns="0" tIns="0" rIns="0" bIns="0" anchor="t" anchorCtr="0">
              <a:spAutoFit/>
            </a:bodyPr>
            <a:lstStyle/>
            <a:p>
              <a:pPr algn="l"/>
              <a:r>
                <a:rPr lang="zh-CN" sz="1050" b="1" spc="75" dirty="0">
                  <a:solidFill>
                    <a:schemeClr val="accent2"/>
                  </a:solidFill>
                  <a:latin typeface="+mn-lt"/>
                  <a:ea typeface="+mn-ea"/>
                  <a:cs typeface="+mn-cs"/>
                </a:rPr>
                <a:t>关键判断</a:t>
              </a:r>
            </a:p>
          </p:txBody>
        </p:sp>
        <p:sp>
          <p:nvSpPr>
            <p:cNvPr id="12" name="TextBox 12"/>
            <p:cNvSpPr txBox="1"/>
            <p:nvPr/>
          </p:nvSpPr>
          <p:spPr>
            <a:xfrm>
              <a:off x="11243681" y="406241"/>
              <a:ext cx="381581"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Consolas"/>
                  <a:ea typeface="Consolas"/>
                  <a:cs typeface="Consolas"/>
                </a:rPr>
                <a:t>03 / 08</a:t>
              </a:r>
            </a:p>
          </p:txBody>
        </p:sp>
        <p:sp>
          <p:nvSpPr>
            <p:cNvPr id="13" name="TextBox 13"/>
            <p:cNvSpPr txBox="1"/>
            <p:nvPr/>
          </p:nvSpPr>
          <p:spPr>
            <a:xfrm>
              <a:off x="566738" y="6483191"/>
              <a:ext cx="191741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企业 AI 营销工作台 · product-launch</a:t>
              </a:r>
            </a:p>
          </p:txBody>
        </p:sp>
        <p:sp>
          <p:nvSpPr>
            <p:cNvPr id="14" name="TextBox 14"/>
            <p:cNvSpPr txBox="1"/>
            <p:nvPr/>
          </p:nvSpPr>
          <p:spPr>
            <a:xfrm>
              <a:off x="10199703" y="6483191"/>
              <a:ext cx="1425559"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attention_is_all_you_need</a:t>
              </a:r>
            </a:p>
          </p:txBody>
        </p:sp>
      </p:grpSp>
      <p:grpSp>
        <p:nvGrpSpPr>
          <p:cNvPr id="48" name="Group 48"/>
          <p:cNvGrpSpPr/>
          <p:nvPr/>
        </p:nvGrpSpPr>
        <p:grpSpPr>
          <a:xfrm>
            <a:off x="557784" y="1137285"/>
            <a:ext cx="11064259" cy="5206365"/>
            <a:chOff x="557784" y="1137285"/>
            <a:chExt cx="11064259" cy="5206365"/>
          </a:xfrm>
        </p:grpSpPr>
        <p:sp>
          <p:nvSpPr>
            <p:cNvPr id="16" name="TextBox 16"/>
            <p:cNvSpPr txBox="1"/>
            <p:nvPr/>
          </p:nvSpPr>
          <p:spPr>
            <a:xfrm>
              <a:off x="557784" y="1137285"/>
              <a:ext cx="6882689" cy="528066"/>
            </a:xfrm>
            <a:prstGeom prst="rect">
              <a:avLst/>
            </a:prstGeom>
            <a:noFill/>
            <a:ln>
              <a:noFill/>
            </a:ln>
          </p:spPr>
          <p:txBody>
            <a:bodyPr wrap="none" lIns="0" tIns="0" rIns="0" bIns="0" anchor="t" anchorCtr="0">
              <a:spAutoFit/>
            </a:bodyPr>
            <a:lstStyle/>
            <a:p>
              <a:pPr algn="l"/>
              <a:r>
                <a:rPr lang="zh-CN" sz="2700" b="1" dirty="0">
                  <a:gradFill>
                    <a:gsLst>
                      <a:gs pos="0">
                        <a:schemeClr val="accent1"/>
                      </a:gs>
                      <a:gs pos="100000">
                        <a:schemeClr val="accent2"/>
                      </a:gs>
                    </a:gsLst>
                    <a:lin ang="2700000" scaled="1"/>
                  </a:gradFill>
                  <a:latin typeface="+mj-lt"/>
                  <a:ea typeface="+mj-ea"/>
                  <a:cs typeface="+mj-cs"/>
                </a:rPr>
                <a:t>营销的最大成本不是预算，是信号延迟</a:t>
              </a:r>
            </a:p>
          </p:txBody>
        </p:sp>
        <p:sp>
          <p:nvSpPr>
            <p:cNvPr id="17" name="Freeform 17"/>
            <p:cNvSpPr/>
            <p:nvPr/>
          </p:nvSpPr>
          <p:spPr>
            <a:xfrm>
              <a:off x="571500" y="1790700"/>
              <a:ext cx="7810500" cy="3733800"/>
            </a:xfrm>
            <a:custGeom>
              <a:avLst/>
              <a:gdLst/>
              <a:ahLst/>
              <a:cxnLst/>
              <a:rect l="l" t="t" r="r" b="b"/>
              <a:pathLst>
                <a:path w="7810500" h="3733800">
                  <a:moveTo>
                    <a:pt x="114300" y="0"/>
                  </a:moveTo>
                  <a:lnTo>
                    <a:pt x="7696200" y="0"/>
                  </a:lnTo>
                  <a:cubicBezTo>
                    <a:pt x="7759326" y="0"/>
                    <a:pt x="7810500" y="51174"/>
                    <a:pt x="7810500" y="114300"/>
                  </a:cubicBezTo>
                  <a:lnTo>
                    <a:pt x="7810500" y="3619500"/>
                  </a:lnTo>
                  <a:cubicBezTo>
                    <a:pt x="7810500" y="3682626"/>
                    <a:pt x="7759326" y="3733800"/>
                    <a:pt x="7696200" y="3733800"/>
                  </a:cubicBezTo>
                  <a:lnTo>
                    <a:pt x="114300" y="3733800"/>
                  </a:lnTo>
                  <a:cubicBezTo>
                    <a:pt x="51174" y="3733800"/>
                    <a:pt x="0" y="3682626"/>
                    <a:pt x="0" y="3619500"/>
                  </a:cubicBezTo>
                  <a:lnTo>
                    <a:pt x="0" y="114300"/>
                  </a:lnTo>
                  <a:cubicBezTo>
                    <a:pt x="0" y="51174"/>
                    <a:pt x="51174" y="0"/>
                    <a:pt x="114300" y="0"/>
                  </a:cubicBezTo>
                  <a:close/>
                </a:path>
              </a:pathLst>
            </a:custGeom>
            <a:solidFill>
              <a:schemeClr val="lt2"/>
            </a:solidFill>
            <a:ln w="9525">
              <a:solidFill>
                <a:schemeClr val="accent4"/>
              </a:solidFill>
            </a:ln>
          </p:spPr>
        </p:sp>
        <p:sp>
          <p:nvSpPr>
            <p:cNvPr id="18" name="Rectangle 18"/>
            <p:cNvSpPr/>
            <p:nvPr/>
          </p:nvSpPr>
          <p:spPr>
            <a:xfrm>
              <a:off x="571500" y="1790700"/>
              <a:ext cx="76200" cy="3733800"/>
            </a:xfrm>
            <a:prstGeom prst="rect">
              <a:avLst/>
            </a:prstGeom>
            <a:solidFill>
              <a:schemeClr val="accent2"/>
            </a:solidFill>
            <a:ln>
              <a:noFill/>
            </a:ln>
          </p:spPr>
        </p:sp>
        <p:sp>
          <p:nvSpPr>
            <p:cNvPr id="19" name="TextBox 19"/>
            <p:cNvSpPr txBox="1"/>
            <p:nvPr/>
          </p:nvSpPr>
          <p:spPr>
            <a:xfrm>
              <a:off x="895350" y="1794510"/>
              <a:ext cx="629534" cy="1390650"/>
            </a:xfrm>
            <a:prstGeom prst="rect">
              <a:avLst/>
            </a:prstGeom>
            <a:noFill/>
            <a:ln>
              <a:noFill/>
            </a:ln>
          </p:spPr>
          <p:txBody>
            <a:bodyPr wrap="none" lIns="0" tIns="0" rIns="0" bIns="0" anchor="t" anchorCtr="0">
              <a:spAutoFit/>
            </a:bodyPr>
            <a:lstStyle/>
            <a:p>
              <a:pPr algn="l"/>
              <a:r>
                <a:rPr lang="en-US" sz="7200" b="1" dirty="0">
                  <a:solidFill>
                    <a:schemeClr val="accent1"/>
                  </a:solidFill>
                  <a:latin typeface="+mj-lt"/>
                  <a:ea typeface="+mj-ea"/>
                  <a:cs typeface="+mj-cs"/>
                </a:rPr>
                <a:t>5</a:t>
              </a:r>
            </a:p>
          </p:txBody>
        </p:sp>
        <p:sp>
          <p:nvSpPr>
            <p:cNvPr id="20" name="TextBox 20"/>
            <p:cNvSpPr txBox="1"/>
            <p:nvPr/>
          </p:nvSpPr>
          <p:spPr>
            <a:xfrm>
              <a:off x="1703832" y="2192655"/>
              <a:ext cx="91184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个部门</a:t>
              </a:r>
            </a:p>
          </p:txBody>
        </p:sp>
        <p:sp>
          <p:nvSpPr>
            <p:cNvPr id="21" name="TextBox 21"/>
            <p:cNvSpPr txBox="1"/>
            <p:nvPr/>
          </p:nvSpPr>
          <p:spPr>
            <a:xfrm>
              <a:off x="1706880" y="2714625"/>
              <a:ext cx="2236470"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协同才能让一个洞察落地</a:t>
              </a:r>
            </a:p>
          </p:txBody>
        </p:sp>
        <p:sp>
          <p:nvSpPr>
            <p:cNvPr id="22" name="Line 22"/>
            <p:cNvSpPr/>
            <p:nvPr/>
          </p:nvSpPr>
          <p:spPr>
            <a:xfrm>
              <a:off x="3143250" y="2152650"/>
              <a:ext cx="9525" cy="1085850"/>
            </a:xfrm>
            <a:custGeom>
              <a:avLst/>
              <a:gdLst/>
              <a:ahLst/>
              <a:cxnLst/>
              <a:rect l="l" t="t" r="r" b="b"/>
              <a:pathLst>
                <a:path w="9525" h="1085850">
                  <a:moveTo>
                    <a:pt x="0" y="0"/>
                  </a:moveTo>
                  <a:lnTo>
                    <a:pt x="0" y="1085850"/>
                  </a:lnTo>
                </a:path>
              </a:pathLst>
            </a:custGeom>
            <a:noFill/>
            <a:ln w="19050">
              <a:solidFill>
                <a:schemeClr val="accent4"/>
              </a:solidFill>
            </a:ln>
          </p:spPr>
        </p:sp>
        <p:sp>
          <p:nvSpPr>
            <p:cNvPr id="23" name="TextBox 23"/>
            <p:cNvSpPr txBox="1"/>
            <p:nvPr/>
          </p:nvSpPr>
          <p:spPr>
            <a:xfrm>
              <a:off x="3505200" y="1794510"/>
              <a:ext cx="629534" cy="1390650"/>
            </a:xfrm>
            <a:prstGeom prst="rect">
              <a:avLst/>
            </a:prstGeom>
            <a:noFill/>
            <a:ln>
              <a:noFill/>
            </a:ln>
          </p:spPr>
          <p:txBody>
            <a:bodyPr wrap="none" lIns="0" tIns="0" rIns="0" bIns="0" anchor="t" anchorCtr="0">
              <a:spAutoFit/>
            </a:bodyPr>
            <a:lstStyle/>
            <a:p>
              <a:pPr algn="l"/>
              <a:r>
                <a:rPr lang="en-US" sz="7200" b="1" dirty="0">
                  <a:solidFill>
                    <a:schemeClr val="accent1"/>
                  </a:solidFill>
                  <a:latin typeface="+mj-lt"/>
                  <a:ea typeface="+mj-ea"/>
                  <a:cs typeface="+mj-cs"/>
                </a:rPr>
                <a:t>3</a:t>
              </a:r>
            </a:p>
          </p:txBody>
        </p:sp>
        <p:sp>
          <p:nvSpPr>
            <p:cNvPr id="24" name="TextBox 24"/>
            <p:cNvSpPr txBox="1"/>
            <p:nvPr/>
          </p:nvSpPr>
          <p:spPr>
            <a:xfrm>
              <a:off x="4313682" y="2192655"/>
              <a:ext cx="91184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个系统</a:t>
              </a:r>
            </a:p>
          </p:txBody>
        </p:sp>
        <p:sp>
          <p:nvSpPr>
            <p:cNvPr id="25" name="TextBox 25"/>
            <p:cNvSpPr txBox="1"/>
            <p:nvPr/>
          </p:nvSpPr>
          <p:spPr>
            <a:xfrm>
              <a:off x="4316730" y="2714625"/>
              <a:ext cx="2842260"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数据分散，无法形成同一决策面</a:t>
              </a:r>
            </a:p>
          </p:txBody>
        </p:sp>
        <p:sp>
          <p:nvSpPr>
            <p:cNvPr id="26" name="Line 26"/>
            <p:cNvSpPr/>
            <p:nvPr/>
          </p:nvSpPr>
          <p:spPr>
            <a:xfrm>
              <a:off x="5772150" y="2152650"/>
              <a:ext cx="9525" cy="1085850"/>
            </a:xfrm>
            <a:custGeom>
              <a:avLst/>
              <a:gdLst/>
              <a:ahLst/>
              <a:cxnLst/>
              <a:rect l="l" t="t" r="r" b="b"/>
              <a:pathLst>
                <a:path w="9525" h="1085850">
                  <a:moveTo>
                    <a:pt x="0" y="0"/>
                  </a:moveTo>
                  <a:lnTo>
                    <a:pt x="0" y="1085850"/>
                  </a:lnTo>
                </a:path>
              </a:pathLst>
            </a:custGeom>
            <a:noFill/>
            <a:ln w="19050">
              <a:solidFill>
                <a:schemeClr val="accent4"/>
              </a:solidFill>
            </a:ln>
          </p:spPr>
        </p:sp>
        <p:sp>
          <p:nvSpPr>
            <p:cNvPr id="27" name="TextBox 27"/>
            <p:cNvSpPr txBox="1"/>
            <p:nvPr/>
          </p:nvSpPr>
          <p:spPr>
            <a:xfrm>
              <a:off x="6134100" y="1794510"/>
              <a:ext cx="629534" cy="1390650"/>
            </a:xfrm>
            <a:prstGeom prst="rect">
              <a:avLst/>
            </a:prstGeom>
            <a:noFill/>
            <a:ln>
              <a:noFill/>
            </a:ln>
          </p:spPr>
          <p:txBody>
            <a:bodyPr wrap="none" lIns="0" tIns="0" rIns="0" bIns="0" anchor="t" anchorCtr="0">
              <a:spAutoFit/>
            </a:bodyPr>
            <a:lstStyle/>
            <a:p>
              <a:pPr algn="l"/>
              <a:r>
                <a:rPr lang="en-US" sz="7200" b="1" dirty="0">
                  <a:solidFill>
                    <a:schemeClr val="accent2"/>
                  </a:solidFill>
                  <a:latin typeface="+mj-lt"/>
                  <a:ea typeface="+mj-ea"/>
                  <a:cs typeface="+mj-cs"/>
                </a:rPr>
                <a:t>2</a:t>
              </a:r>
            </a:p>
          </p:txBody>
        </p:sp>
        <p:sp>
          <p:nvSpPr>
            <p:cNvPr id="28" name="TextBox 28"/>
            <p:cNvSpPr txBox="1"/>
            <p:nvPr/>
          </p:nvSpPr>
          <p:spPr>
            <a:xfrm>
              <a:off x="6942582" y="2192655"/>
              <a:ext cx="911847"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周时间</a:t>
              </a:r>
            </a:p>
          </p:txBody>
        </p:sp>
        <p:sp>
          <p:nvSpPr>
            <p:cNvPr id="29" name="TextBox 29"/>
            <p:cNvSpPr txBox="1"/>
            <p:nvPr/>
          </p:nvSpPr>
          <p:spPr>
            <a:xfrm>
              <a:off x="6945630" y="2714625"/>
              <a:ext cx="2438400"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行动窗口在审批流里被消耗</a:t>
              </a:r>
            </a:p>
          </p:txBody>
        </p:sp>
        <p:sp>
          <p:nvSpPr>
            <p:cNvPr id="30" name="Line 30"/>
            <p:cNvSpPr/>
            <p:nvPr/>
          </p:nvSpPr>
          <p:spPr>
            <a:xfrm>
              <a:off x="914400" y="3543300"/>
              <a:ext cx="7124700" cy="9525"/>
            </a:xfrm>
            <a:custGeom>
              <a:avLst/>
              <a:gdLst/>
              <a:ahLst/>
              <a:cxnLst/>
              <a:rect l="l" t="t" r="r" b="b"/>
              <a:pathLst>
                <a:path w="7124700" h="9525">
                  <a:moveTo>
                    <a:pt x="0" y="0"/>
                  </a:moveTo>
                  <a:lnTo>
                    <a:pt x="7124700" y="0"/>
                  </a:lnTo>
                </a:path>
              </a:pathLst>
            </a:custGeom>
            <a:noFill/>
            <a:ln w="14288">
              <a:solidFill>
                <a:srgbClr val="D6E3F3"/>
              </a:solidFill>
            </a:ln>
          </p:spPr>
        </p:sp>
        <p:sp>
          <p:nvSpPr>
            <p:cNvPr id="31" name="TextBox 31"/>
            <p:cNvSpPr txBox="1"/>
            <p:nvPr/>
          </p:nvSpPr>
          <p:spPr>
            <a:xfrm>
              <a:off x="902970" y="3852862"/>
              <a:ext cx="8562227"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当洞察从产生到执行要穿越 5 个部门、3 个系统、2 周时间，</a:t>
              </a:r>
            </a:p>
          </p:txBody>
        </p:sp>
        <p:sp>
          <p:nvSpPr>
            <p:cNvPr id="32" name="TextBox 32"/>
            <p:cNvSpPr txBox="1"/>
            <p:nvPr/>
          </p:nvSpPr>
          <p:spPr>
            <a:xfrm>
              <a:off x="902970" y="4271962"/>
              <a:ext cx="4825260"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所有“精准营销”都只是事后解释。</a:t>
              </a:r>
            </a:p>
          </p:txBody>
        </p:sp>
        <p:sp>
          <p:nvSpPr>
            <p:cNvPr id="33" name="Freeform 33"/>
            <p:cNvSpPr/>
            <p:nvPr/>
          </p:nvSpPr>
          <p:spPr>
            <a:xfrm>
              <a:off x="8905875" y="1619250"/>
              <a:ext cx="2714625" cy="1047750"/>
            </a:xfrm>
            <a:custGeom>
              <a:avLst/>
              <a:gdLst/>
              <a:ahLst/>
              <a:cxnLst/>
              <a:rect l="l" t="t" r="r" b="b"/>
              <a:pathLst>
                <a:path w="2714625" h="1047750">
                  <a:moveTo>
                    <a:pt x="114300" y="0"/>
                  </a:moveTo>
                  <a:lnTo>
                    <a:pt x="2600325" y="0"/>
                  </a:lnTo>
                  <a:cubicBezTo>
                    <a:pt x="2663451" y="0"/>
                    <a:pt x="2714625" y="51174"/>
                    <a:pt x="2714625" y="114300"/>
                  </a:cubicBezTo>
                  <a:lnTo>
                    <a:pt x="2714625" y="933450"/>
                  </a:lnTo>
                  <a:cubicBezTo>
                    <a:pt x="2714625" y="996576"/>
                    <a:pt x="2663451" y="1047750"/>
                    <a:pt x="2600325" y="1047750"/>
                  </a:cubicBezTo>
                  <a:lnTo>
                    <a:pt x="114300" y="1047750"/>
                  </a:lnTo>
                  <a:cubicBezTo>
                    <a:pt x="51174" y="1047750"/>
                    <a:pt x="0" y="996576"/>
                    <a:pt x="0" y="933450"/>
                  </a:cubicBezTo>
                  <a:lnTo>
                    <a:pt x="0" y="114300"/>
                  </a:lnTo>
                  <a:cubicBezTo>
                    <a:pt x="0" y="51174"/>
                    <a:pt x="51174" y="0"/>
                    <a:pt x="114300" y="0"/>
                  </a:cubicBezTo>
                  <a:close/>
                </a:path>
              </a:pathLst>
            </a:custGeom>
            <a:solidFill>
              <a:schemeClr val="accent6"/>
            </a:solidFill>
            <a:ln w="9525">
              <a:solidFill>
                <a:srgbClr val="CFE3F6"/>
              </a:solidFill>
            </a:ln>
          </p:spPr>
        </p:sp>
        <p:sp>
          <p:nvSpPr>
            <p:cNvPr id="34" name="TextBox 34"/>
            <p:cNvSpPr txBox="1"/>
            <p:nvPr/>
          </p:nvSpPr>
          <p:spPr>
            <a:xfrm>
              <a:off x="9119235" y="1714500"/>
              <a:ext cx="1105814"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j-lt"/>
                  <a:ea typeface="+mj-ea"/>
                  <a:cs typeface="+mj-cs"/>
                </a:rPr>
                <a:t>70%+</a:t>
              </a:r>
            </a:p>
          </p:txBody>
        </p:sp>
        <p:sp>
          <p:nvSpPr>
            <p:cNvPr id="35" name="TextBox 35"/>
            <p:cNvSpPr txBox="1"/>
            <p:nvPr/>
          </p:nvSpPr>
          <p:spPr>
            <a:xfrm>
              <a:off x="9127617" y="2197418"/>
              <a:ext cx="211277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客户数据未进入决策系统</a:t>
              </a:r>
            </a:p>
          </p:txBody>
        </p:sp>
        <p:sp>
          <p:nvSpPr>
            <p:cNvPr id="36" name="TextBox 36"/>
            <p:cNvSpPr txBox="1"/>
            <p:nvPr/>
          </p:nvSpPr>
          <p:spPr>
            <a:xfrm>
              <a:off x="9129141" y="2429828"/>
              <a:ext cx="2422703"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数据资产沉睡，AI 无法产生经营动作</a:t>
              </a:r>
            </a:p>
          </p:txBody>
        </p:sp>
        <p:sp>
          <p:nvSpPr>
            <p:cNvPr id="37" name="Freeform 37"/>
            <p:cNvSpPr/>
            <p:nvPr/>
          </p:nvSpPr>
          <p:spPr>
            <a:xfrm>
              <a:off x="8905875" y="2876550"/>
              <a:ext cx="2714625" cy="1047750"/>
            </a:xfrm>
            <a:custGeom>
              <a:avLst/>
              <a:gdLst/>
              <a:ahLst/>
              <a:cxnLst/>
              <a:rect l="l" t="t" r="r" b="b"/>
              <a:pathLst>
                <a:path w="2714625" h="1047750">
                  <a:moveTo>
                    <a:pt x="114300" y="0"/>
                  </a:moveTo>
                  <a:lnTo>
                    <a:pt x="2600325" y="0"/>
                  </a:lnTo>
                  <a:cubicBezTo>
                    <a:pt x="2663451" y="0"/>
                    <a:pt x="2714625" y="51174"/>
                    <a:pt x="2714625" y="114300"/>
                  </a:cubicBezTo>
                  <a:lnTo>
                    <a:pt x="2714625" y="933450"/>
                  </a:lnTo>
                  <a:cubicBezTo>
                    <a:pt x="2714625" y="996576"/>
                    <a:pt x="2663451" y="1047750"/>
                    <a:pt x="2600325" y="1047750"/>
                  </a:cubicBezTo>
                  <a:lnTo>
                    <a:pt x="114300" y="1047750"/>
                  </a:lnTo>
                  <a:cubicBezTo>
                    <a:pt x="51174" y="1047750"/>
                    <a:pt x="0" y="996576"/>
                    <a:pt x="0" y="933450"/>
                  </a:cubicBezTo>
                  <a:lnTo>
                    <a:pt x="0" y="114300"/>
                  </a:lnTo>
                  <a:cubicBezTo>
                    <a:pt x="0" y="51174"/>
                    <a:pt x="51174" y="0"/>
                    <a:pt x="114300" y="0"/>
                  </a:cubicBezTo>
                  <a:close/>
                </a:path>
              </a:pathLst>
            </a:custGeom>
            <a:solidFill>
              <a:schemeClr val="lt2"/>
            </a:solidFill>
            <a:ln w="9525">
              <a:solidFill>
                <a:schemeClr val="accent4"/>
              </a:solidFill>
            </a:ln>
          </p:spPr>
        </p:sp>
        <p:sp>
          <p:nvSpPr>
            <p:cNvPr id="38" name="TextBox 38"/>
            <p:cNvSpPr txBox="1"/>
            <p:nvPr/>
          </p:nvSpPr>
          <p:spPr>
            <a:xfrm>
              <a:off x="9119235" y="2971800"/>
              <a:ext cx="97139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17天</a:t>
              </a:r>
            </a:p>
          </p:txBody>
        </p:sp>
        <p:sp>
          <p:nvSpPr>
            <p:cNvPr id="39" name="TextBox 39"/>
            <p:cNvSpPr txBox="1"/>
            <p:nvPr/>
          </p:nvSpPr>
          <p:spPr>
            <a:xfrm>
              <a:off x="9127617" y="3454718"/>
              <a:ext cx="192195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典型活动从计划到启动</a:t>
              </a:r>
            </a:p>
          </p:txBody>
        </p:sp>
        <p:sp>
          <p:nvSpPr>
            <p:cNvPr id="40" name="TextBox 40"/>
            <p:cNvSpPr txBox="1"/>
            <p:nvPr/>
          </p:nvSpPr>
          <p:spPr>
            <a:xfrm>
              <a:off x="9129141" y="3687128"/>
              <a:ext cx="2422703"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AI 工作台可将执行周期压缩至小时级</a:t>
              </a:r>
            </a:p>
          </p:txBody>
        </p:sp>
        <p:sp>
          <p:nvSpPr>
            <p:cNvPr id="41" name="Freeform 41"/>
            <p:cNvSpPr/>
            <p:nvPr/>
          </p:nvSpPr>
          <p:spPr>
            <a:xfrm>
              <a:off x="8905875" y="4133850"/>
              <a:ext cx="2714625" cy="1047750"/>
            </a:xfrm>
            <a:custGeom>
              <a:avLst/>
              <a:gdLst/>
              <a:ahLst/>
              <a:cxnLst/>
              <a:rect l="l" t="t" r="r" b="b"/>
              <a:pathLst>
                <a:path w="2714625" h="1047750">
                  <a:moveTo>
                    <a:pt x="114300" y="0"/>
                  </a:moveTo>
                  <a:lnTo>
                    <a:pt x="2600325" y="0"/>
                  </a:lnTo>
                  <a:cubicBezTo>
                    <a:pt x="2663451" y="0"/>
                    <a:pt x="2714625" y="51174"/>
                    <a:pt x="2714625" y="114300"/>
                  </a:cubicBezTo>
                  <a:lnTo>
                    <a:pt x="2714625" y="933450"/>
                  </a:lnTo>
                  <a:cubicBezTo>
                    <a:pt x="2714625" y="996576"/>
                    <a:pt x="2663451" y="1047750"/>
                    <a:pt x="2600325" y="1047750"/>
                  </a:cubicBezTo>
                  <a:lnTo>
                    <a:pt x="114300" y="1047750"/>
                  </a:lnTo>
                  <a:cubicBezTo>
                    <a:pt x="51174" y="1047750"/>
                    <a:pt x="0" y="996576"/>
                    <a:pt x="0" y="933450"/>
                  </a:cubicBezTo>
                  <a:lnTo>
                    <a:pt x="0" y="114300"/>
                  </a:lnTo>
                  <a:cubicBezTo>
                    <a:pt x="0" y="51174"/>
                    <a:pt x="51174" y="0"/>
                    <a:pt x="114300" y="0"/>
                  </a:cubicBezTo>
                  <a:close/>
                </a:path>
              </a:pathLst>
            </a:custGeom>
            <a:solidFill>
              <a:schemeClr val="lt2"/>
            </a:solidFill>
            <a:ln w="9525">
              <a:solidFill>
                <a:schemeClr val="accent4"/>
              </a:solidFill>
            </a:ln>
          </p:spPr>
        </p:sp>
        <p:sp>
          <p:nvSpPr>
            <p:cNvPr id="42" name="TextBox 42"/>
            <p:cNvSpPr txBox="1"/>
            <p:nvPr/>
          </p:nvSpPr>
          <p:spPr>
            <a:xfrm>
              <a:off x="9119235" y="4229100"/>
              <a:ext cx="1105814" cy="586740"/>
            </a:xfrm>
            <a:prstGeom prst="rect">
              <a:avLst/>
            </a:prstGeom>
            <a:noFill/>
            <a:ln>
              <a:noFill/>
            </a:ln>
          </p:spPr>
          <p:txBody>
            <a:bodyPr wrap="none" lIns="0" tIns="0" rIns="0" bIns="0" anchor="t" anchorCtr="0">
              <a:spAutoFit/>
            </a:bodyPr>
            <a:lstStyle/>
            <a:p>
              <a:pPr algn="l"/>
              <a:r>
                <a:rPr lang="en-US" sz="3000" b="1" dirty="0">
                  <a:solidFill>
                    <a:srgbClr val="C53030"/>
                  </a:solidFill>
                  <a:latin typeface="+mj-lt"/>
                  <a:ea typeface="+mj-ea"/>
                  <a:cs typeface="+mj-cs"/>
                </a:rPr>
                <a:t>2–4%</a:t>
              </a:r>
            </a:p>
          </p:txBody>
        </p:sp>
        <p:sp>
          <p:nvSpPr>
            <p:cNvPr id="43" name="TextBox 43"/>
            <p:cNvSpPr txBox="1"/>
            <p:nvPr/>
          </p:nvSpPr>
          <p:spPr>
            <a:xfrm>
              <a:off x="9127617" y="4712018"/>
              <a:ext cx="2494426"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每次延迟带来的潜在收入损失</a:t>
              </a:r>
            </a:p>
          </p:txBody>
        </p:sp>
        <p:sp>
          <p:nvSpPr>
            <p:cNvPr id="44" name="TextBox 44"/>
            <p:cNvSpPr txBox="1"/>
            <p:nvPr/>
          </p:nvSpPr>
          <p:spPr>
            <a:xfrm>
              <a:off x="9129141" y="4944428"/>
              <a:ext cx="1989582"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转化曲线不会等待组织补齐响应</a:t>
              </a:r>
            </a:p>
          </p:txBody>
        </p:sp>
        <p:sp>
          <p:nvSpPr>
            <p:cNvPr id="45" name="Freeform 45"/>
            <p:cNvSpPr/>
            <p:nvPr/>
          </p:nvSpPr>
          <p:spPr>
            <a:xfrm>
              <a:off x="571500" y="5810250"/>
              <a:ext cx="11049000" cy="533400"/>
            </a:xfrm>
            <a:custGeom>
              <a:avLst/>
              <a:gdLst/>
              <a:ahLst/>
              <a:cxnLst/>
              <a:rect l="l" t="t" r="r" b="b"/>
              <a:pathLst>
                <a:path w="11049000" h="533400">
                  <a:moveTo>
                    <a:pt x="95250" y="0"/>
                  </a:moveTo>
                  <a:lnTo>
                    <a:pt x="10953750" y="0"/>
                  </a:lnTo>
                  <a:cubicBezTo>
                    <a:pt x="11006355" y="0"/>
                    <a:pt x="11049000" y="42645"/>
                    <a:pt x="11049000" y="95250"/>
                  </a:cubicBezTo>
                  <a:lnTo>
                    <a:pt x="11049000" y="438150"/>
                  </a:lnTo>
                  <a:cubicBezTo>
                    <a:pt x="11049000" y="490755"/>
                    <a:pt x="11006355" y="533400"/>
                    <a:pt x="10953750" y="533400"/>
                  </a:cubicBezTo>
                  <a:lnTo>
                    <a:pt x="95250" y="533400"/>
                  </a:lnTo>
                  <a:cubicBezTo>
                    <a:pt x="42645" y="533400"/>
                    <a:pt x="0" y="490755"/>
                    <a:pt x="0" y="438150"/>
                  </a:cubicBezTo>
                  <a:lnTo>
                    <a:pt x="0" y="95250"/>
                  </a:lnTo>
                  <a:cubicBezTo>
                    <a:pt x="0" y="42645"/>
                    <a:pt x="42645" y="0"/>
                    <a:pt x="95250" y="0"/>
                  </a:cubicBezTo>
                  <a:close/>
                </a:path>
              </a:pathLst>
            </a:custGeom>
            <a:solidFill>
              <a:schemeClr val="accent1"/>
            </a:solidFill>
            <a:ln>
              <a:noFill/>
            </a:ln>
          </p:spPr>
        </p:sp>
        <p:sp>
          <p:nvSpPr>
            <p:cNvPr id="46" name="TextBox 46"/>
            <p:cNvSpPr txBox="1"/>
            <p:nvPr/>
          </p:nvSpPr>
          <p:spPr>
            <a:xfrm>
              <a:off x="830580" y="5981700"/>
              <a:ext cx="65132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结论：</a:t>
              </a:r>
            </a:p>
          </p:txBody>
        </p:sp>
        <p:sp>
          <p:nvSpPr>
            <p:cNvPr id="47" name="TextBox 47"/>
            <p:cNvSpPr txBox="1"/>
            <p:nvPr/>
          </p:nvSpPr>
          <p:spPr>
            <a:xfrm>
              <a:off x="1421130" y="5981700"/>
              <a:ext cx="7130796"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AI 营销工作台首先解决的不是“投放更聪明”，而是“让信号更快变成动作”。</a:t>
              </a:r>
            </a:p>
          </p:txBody>
        </p:sp>
      </p:grpSp>
      <p:grpSp>
        <p:nvGrpSpPr>
          <p:cNvPr id="55" name="Group 55"/>
          <p:cNvGrpSpPr/>
          <p:nvPr/>
        </p:nvGrpSpPr>
        <p:grpSpPr>
          <a:xfrm>
            <a:off x="8382000" y="2105025"/>
            <a:ext cx="238125" cy="2590800"/>
            <a:chOff x="8382000" y="2105025"/>
            <a:chExt cx="238125" cy="2590800"/>
          </a:xfrm>
        </p:grpSpPr>
        <p:sp>
          <p:nvSpPr>
            <p:cNvPr id="49" name="Ellipse 49"/>
            <p:cNvSpPr/>
            <p:nvPr/>
          </p:nvSpPr>
          <p:spPr>
            <a:xfrm>
              <a:off x="8543925" y="2105025"/>
              <a:ext cx="76200" cy="76200"/>
            </a:xfrm>
            <a:prstGeom prst="ellipse">
              <a:avLst/>
            </a:prstGeom>
            <a:solidFill>
              <a:schemeClr val="accent2"/>
            </a:solidFill>
            <a:ln>
              <a:noFill/>
            </a:ln>
          </p:spPr>
        </p:sp>
        <p:sp>
          <p:nvSpPr>
            <p:cNvPr id="50" name="Ellipse 50"/>
            <p:cNvSpPr/>
            <p:nvPr/>
          </p:nvSpPr>
          <p:spPr>
            <a:xfrm>
              <a:off x="8543925" y="3362325"/>
              <a:ext cx="76200" cy="76200"/>
            </a:xfrm>
            <a:prstGeom prst="ellipse">
              <a:avLst/>
            </a:prstGeom>
            <a:solidFill>
              <a:schemeClr val="accent2"/>
            </a:solidFill>
            <a:ln>
              <a:noFill/>
            </a:ln>
          </p:spPr>
        </p:sp>
        <p:sp>
          <p:nvSpPr>
            <p:cNvPr id="51" name="Ellipse 51"/>
            <p:cNvSpPr/>
            <p:nvPr/>
          </p:nvSpPr>
          <p:spPr>
            <a:xfrm>
              <a:off x="8543925" y="4619625"/>
              <a:ext cx="76200" cy="76200"/>
            </a:xfrm>
            <a:prstGeom prst="ellipse">
              <a:avLst/>
            </a:prstGeom>
            <a:solidFill>
              <a:schemeClr val="accent2"/>
            </a:solidFill>
            <a:ln>
              <a:noFill/>
            </a:ln>
          </p:spPr>
        </p:sp>
        <p:sp>
          <p:nvSpPr>
            <p:cNvPr id="52" name="Line 52"/>
            <p:cNvSpPr/>
            <p:nvPr/>
          </p:nvSpPr>
          <p:spPr>
            <a:xfrm>
              <a:off x="8382000" y="2143125"/>
              <a:ext cx="200025" cy="9525"/>
            </a:xfrm>
            <a:custGeom>
              <a:avLst/>
              <a:gdLst/>
              <a:ahLst/>
              <a:cxnLst/>
              <a:rect l="l" t="t" r="r" b="b"/>
              <a:pathLst>
                <a:path w="200025" h="9525">
                  <a:moveTo>
                    <a:pt x="0" y="0"/>
                  </a:moveTo>
                  <a:lnTo>
                    <a:pt x="200025" y="0"/>
                  </a:lnTo>
                </a:path>
              </a:pathLst>
            </a:custGeom>
            <a:noFill/>
            <a:ln w="14288">
              <a:solidFill>
                <a:schemeClr val="accent2"/>
              </a:solidFill>
            </a:ln>
          </p:spPr>
        </p:sp>
        <p:sp>
          <p:nvSpPr>
            <p:cNvPr id="53" name="Line 53"/>
            <p:cNvSpPr/>
            <p:nvPr/>
          </p:nvSpPr>
          <p:spPr>
            <a:xfrm>
              <a:off x="8382000" y="3400425"/>
              <a:ext cx="200025" cy="9525"/>
            </a:xfrm>
            <a:custGeom>
              <a:avLst/>
              <a:gdLst/>
              <a:ahLst/>
              <a:cxnLst/>
              <a:rect l="l" t="t" r="r" b="b"/>
              <a:pathLst>
                <a:path w="200025" h="9525">
                  <a:moveTo>
                    <a:pt x="0" y="0"/>
                  </a:moveTo>
                  <a:lnTo>
                    <a:pt x="200025" y="0"/>
                  </a:lnTo>
                </a:path>
              </a:pathLst>
            </a:custGeom>
            <a:noFill/>
            <a:ln w="14288">
              <a:solidFill>
                <a:schemeClr val="accent2"/>
              </a:solidFill>
            </a:ln>
          </p:spPr>
        </p:sp>
        <p:sp>
          <p:nvSpPr>
            <p:cNvPr id="54" name="Line 54"/>
            <p:cNvSpPr/>
            <p:nvPr/>
          </p:nvSpPr>
          <p:spPr>
            <a:xfrm>
              <a:off x="8382000" y="4657725"/>
              <a:ext cx="200025" cy="9525"/>
            </a:xfrm>
            <a:custGeom>
              <a:avLst/>
              <a:gdLst/>
              <a:ahLst/>
              <a:cxnLst/>
              <a:rect l="l" t="t" r="r" b="b"/>
              <a:pathLst>
                <a:path w="200025" h="9525">
                  <a:moveTo>
                    <a:pt x="0" y="0"/>
                  </a:moveTo>
                  <a:lnTo>
                    <a:pt x="200025" y="0"/>
                  </a:lnTo>
                </a:path>
              </a:pathLst>
            </a:custGeom>
            <a:noFill/>
            <a:ln w="14288">
              <a:solidFill>
                <a:schemeClr val="accent2"/>
              </a:solidFill>
            </a:ln>
          </p:spPr>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6858000"/>
            </a:xfrm>
            <a:prstGeom prst="rect">
              <a:avLst/>
            </a:prstGeom>
            <a:gradFill>
              <a:gsLst>
                <a:gs pos="0">
                  <a:schemeClr val="accent2">
                    <a:alpha val="12000"/>
                  </a:schemeClr>
                </a:gs>
                <a:gs pos="100000">
                  <a:schemeClr val="accent2">
                    <a:alpha val="0"/>
                  </a:schemeClr>
                </a:gs>
              </a:gsLst>
              <a:path path="circle">
                <a:fillToRect l="50000" t="50000" r="50000" b="50000"/>
              </a:path>
            </a:gradFill>
            <a:ln>
              <a:noFill/>
            </a:ln>
          </p:spPr>
        </p:sp>
        <p:sp>
          <p:nvSpPr>
            <p:cNvPr id="4" name="Line 4"/>
            <p:cNvSpPr/>
            <p:nvPr/>
          </p:nvSpPr>
          <p:spPr>
            <a:xfrm>
              <a:off x="571500" y="0"/>
              <a:ext cx="9525" cy="6858000"/>
            </a:xfrm>
            <a:custGeom>
              <a:avLst/>
              <a:gdLst/>
              <a:ahLst/>
              <a:cxnLst/>
              <a:rect l="l" t="t" r="r" b="b"/>
              <a:pathLst>
                <a:path w="9525" h="6858000">
                  <a:moveTo>
                    <a:pt x="0" y="0"/>
                  </a:moveTo>
                  <a:lnTo>
                    <a:pt x="0" y="6858000"/>
                  </a:lnTo>
                </a:path>
              </a:pathLst>
            </a:custGeom>
            <a:noFill/>
            <a:ln w="9525">
              <a:solidFill>
                <a:schemeClr val="accent4"/>
              </a:solidFill>
            </a:ln>
          </p:spPr>
        </p:sp>
        <p:sp>
          <p:nvSpPr>
            <p:cNvPr id="5" name="Line 5"/>
            <p:cNvSpPr/>
            <p:nvPr/>
          </p:nvSpPr>
          <p:spPr>
            <a:xfrm>
              <a:off x="11620500" y="0"/>
              <a:ext cx="9525" cy="6858000"/>
            </a:xfrm>
            <a:custGeom>
              <a:avLst/>
              <a:gdLst/>
              <a:ahLst/>
              <a:cxnLst/>
              <a:rect l="l" t="t" r="r" b="b"/>
              <a:pathLst>
                <a:path w="9525" h="6858000">
                  <a:moveTo>
                    <a:pt x="0" y="0"/>
                  </a:moveTo>
                  <a:lnTo>
                    <a:pt x="0" y="6858000"/>
                  </a:lnTo>
                </a:path>
              </a:pathLst>
            </a:custGeom>
            <a:noFill/>
            <a:ln w="9525">
              <a:solidFill>
                <a:schemeClr val="accent4"/>
              </a:solidFill>
            </a:ln>
          </p:spPr>
        </p:sp>
        <p:sp>
          <p:nvSpPr>
            <p:cNvPr id="6" name="Line 6"/>
            <p:cNvSpPr/>
            <p:nvPr/>
          </p:nvSpPr>
          <p:spPr>
            <a:xfrm>
              <a:off x="0" y="476250"/>
              <a:ext cx="12192000" cy="9525"/>
            </a:xfrm>
            <a:custGeom>
              <a:avLst/>
              <a:gdLst/>
              <a:ahLst/>
              <a:cxnLst/>
              <a:rect l="l" t="t" r="r" b="b"/>
              <a:pathLst>
                <a:path w="12192000" h="9525">
                  <a:moveTo>
                    <a:pt x="0" y="0"/>
                  </a:moveTo>
                  <a:lnTo>
                    <a:pt x="12192000" y="0"/>
                  </a:lnTo>
                </a:path>
              </a:pathLst>
            </a:custGeom>
            <a:noFill/>
            <a:ln w="9525">
              <a:solidFill>
                <a:schemeClr val="accent4"/>
              </a:solidFill>
            </a:ln>
          </p:spPr>
        </p:sp>
        <p:sp>
          <p:nvSpPr>
            <p:cNvPr id="7" name="Line 7"/>
            <p:cNvSpPr/>
            <p:nvPr/>
          </p:nvSpPr>
          <p:spPr>
            <a:xfrm>
              <a:off x="0" y="6381750"/>
              <a:ext cx="12192000" cy="9525"/>
            </a:xfrm>
            <a:custGeom>
              <a:avLst/>
              <a:gdLst/>
              <a:ahLst/>
              <a:cxnLst/>
              <a:rect l="l" t="t" r="r" b="b"/>
              <a:pathLst>
                <a:path w="12192000" h="9525">
                  <a:moveTo>
                    <a:pt x="0" y="0"/>
                  </a:moveTo>
                  <a:lnTo>
                    <a:pt x="12192000" y="0"/>
                  </a:lnTo>
                </a:path>
              </a:pathLst>
            </a:custGeom>
            <a:noFill/>
            <a:ln w="9525">
              <a:solidFill>
                <a:schemeClr val="accent4"/>
              </a:solidFill>
            </a:ln>
          </p:spPr>
        </p:sp>
      </p:grpSp>
      <p:grpSp>
        <p:nvGrpSpPr>
          <p:cNvPr id="14" name="Group 14"/>
          <p:cNvGrpSpPr/>
          <p:nvPr/>
        </p:nvGrpSpPr>
        <p:grpSpPr>
          <a:xfrm>
            <a:off x="557784" y="629602"/>
            <a:ext cx="11067479" cy="6072664"/>
            <a:chOff x="557784" y="629602"/>
            <a:chExt cx="11067479" cy="6072664"/>
          </a:xfrm>
        </p:grpSpPr>
        <p:sp>
          <p:nvSpPr>
            <p:cNvPr id="9" name="TextBox 9"/>
            <p:cNvSpPr txBox="1"/>
            <p:nvPr/>
          </p:nvSpPr>
          <p:spPr>
            <a:xfrm>
              <a:off x="566166" y="629602"/>
              <a:ext cx="606362" cy="205359"/>
            </a:xfrm>
            <a:prstGeom prst="rect">
              <a:avLst/>
            </a:prstGeom>
            <a:noFill/>
            <a:ln>
              <a:noFill/>
            </a:ln>
          </p:spPr>
          <p:txBody>
            <a:bodyPr wrap="none" lIns="0" tIns="0" rIns="0" bIns="0" anchor="t" anchorCtr="0">
              <a:spAutoFit/>
            </a:bodyPr>
            <a:lstStyle/>
            <a:p>
              <a:pPr algn="l"/>
              <a:r>
                <a:rPr lang="zh-CN" sz="1050" spc="75" dirty="0">
                  <a:solidFill>
                    <a:schemeClr val="dk2"/>
                  </a:solidFill>
                  <a:latin typeface="+mn-lt"/>
                  <a:ea typeface="+mn-ea"/>
                  <a:cs typeface="+mn-cs"/>
                </a:rPr>
                <a:t>系统比较</a:t>
              </a:r>
            </a:p>
          </p:txBody>
        </p:sp>
        <p:sp>
          <p:nvSpPr>
            <p:cNvPr id="10" name="TextBox 10"/>
            <p:cNvSpPr txBox="1"/>
            <p:nvPr/>
          </p:nvSpPr>
          <p:spPr>
            <a:xfrm>
              <a:off x="557784" y="870585"/>
              <a:ext cx="5935050" cy="528066"/>
            </a:xfrm>
            <a:prstGeom prst="rect">
              <a:avLst/>
            </a:prstGeom>
            <a:noFill/>
            <a:ln>
              <a:noFill/>
            </a:ln>
          </p:spPr>
          <p:txBody>
            <a:bodyPr wrap="none" lIns="0" tIns="0" rIns="0" bIns="0" anchor="t" anchorCtr="0">
              <a:spAutoFit/>
            </a:bodyPr>
            <a:lstStyle/>
            <a:p>
              <a:pPr algn="l"/>
              <a:r>
                <a:rPr lang="zh-CN" sz="2700" b="1" dirty="0">
                  <a:gradFill>
                    <a:gsLst>
                      <a:gs pos="0">
                        <a:schemeClr val="accent1"/>
                      </a:gs>
                      <a:gs pos="100000">
                        <a:schemeClr val="accent2"/>
                      </a:gs>
                    </a:gsLst>
                    <a:lin ang="2700000" scaled="1"/>
                  </a:gradFill>
                  <a:latin typeface="+mj-lt"/>
                  <a:ea typeface="+mj-ea"/>
                  <a:cs typeface="+mj-cs"/>
                </a:rPr>
                <a:t>两种营销操作系统：拼接vs.一体</a:t>
              </a:r>
            </a:p>
          </p:txBody>
        </p:sp>
        <p:sp>
          <p:nvSpPr>
            <p:cNvPr id="11" name="Line 11"/>
            <p:cNvSpPr/>
            <p:nvPr/>
          </p:nvSpPr>
          <p:spPr>
            <a:xfrm>
              <a:off x="571500" y="1352550"/>
              <a:ext cx="11049000" cy="9525"/>
            </a:xfrm>
            <a:custGeom>
              <a:avLst/>
              <a:gdLst/>
              <a:ahLst/>
              <a:cxnLst/>
              <a:rect l="l" t="t" r="r" b="b"/>
              <a:pathLst>
                <a:path w="11049000" h="9525">
                  <a:moveTo>
                    <a:pt x="0" y="0"/>
                  </a:moveTo>
                  <a:lnTo>
                    <a:pt x="11049000" y="0"/>
                  </a:lnTo>
                </a:path>
              </a:pathLst>
            </a:custGeom>
            <a:noFill/>
            <a:ln w="19050">
              <a:solidFill>
                <a:schemeClr val="accent2"/>
              </a:solidFill>
            </a:ln>
          </p:spPr>
        </p:sp>
        <p:sp>
          <p:nvSpPr>
            <p:cNvPr id="12" name="TextBox 12"/>
            <p:cNvSpPr txBox="1"/>
            <p:nvPr/>
          </p:nvSpPr>
          <p:spPr>
            <a:xfrm>
              <a:off x="566738" y="6540341"/>
              <a:ext cx="100111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企业 AI 营销工作台</a:t>
              </a:r>
            </a:p>
          </p:txBody>
        </p:sp>
        <p:sp>
          <p:nvSpPr>
            <p:cNvPr id="13" name="TextBox 13"/>
            <p:cNvSpPr txBox="1"/>
            <p:nvPr/>
          </p:nvSpPr>
          <p:spPr>
            <a:xfrm>
              <a:off x="11493570" y="6540341"/>
              <a:ext cx="131693"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04</a:t>
              </a:r>
            </a:p>
          </p:txBody>
        </p:sp>
      </p:grpSp>
      <p:grpSp>
        <p:nvGrpSpPr>
          <p:cNvPr id="55" name="Group 55"/>
          <p:cNvGrpSpPr/>
          <p:nvPr/>
        </p:nvGrpSpPr>
        <p:grpSpPr>
          <a:xfrm>
            <a:off x="571500" y="1600200"/>
            <a:ext cx="11049000" cy="4654487"/>
            <a:chOff x="571500" y="1600200"/>
            <a:chExt cx="11049000" cy="4654487"/>
          </a:xfrm>
        </p:grpSpPr>
        <p:sp>
          <p:nvSpPr>
            <p:cNvPr id="15" name="Freeform 15"/>
            <p:cNvSpPr/>
            <p:nvPr/>
          </p:nvSpPr>
          <p:spPr>
            <a:xfrm>
              <a:off x="571500" y="1600200"/>
              <a:ext cx="11049000" cy="571500"/>
            </a:xfrm>
            <a:custGeom>
              <a:avLst/>
              <a:gdLst/>
              <a:ahLst/>
              <a:cxnLst/>
              <a:rect l="l" t="t" r="r" b="b"/>
              <a:pathLst>
                <a:path w="11049000" h="571500">
                  <a:moveTo>
                    <a:pt x="95250" y="0"/>
                  </a:moveTo>
                  <a:lnTo>
                    <a:pt x="10953750" y="0"/>
                  </a:lnTo>
                  <a:cubicBezTo>
                    <a:pt x="11006355" y="0"/>
                    <a:pt x="11049000" y="42645"/>
                    <a:pt x="11049000" y="95250"/>
                  </a:cubicBezTo>
                  <a:lnTo>
                    <a:pt x="11049000" y="476250"/>
                  </a:lnTo>
                  <a:cubicBezTo>
                    <a:pt x="11049000" y="528855"/>
                    <a:pt x="11006355" y="571500"/>
                    <a:pt x="10953750" y="571500"/>
                  </a:cubicBezTo>
                  <a:lnTo>
                    <a:pt x="95250" y="571500"/>
                  </a:lnTo>
                  <a:cubicBezTo>
                    <a:pt x="42645" y="571500"/>
                    <a:pt x="0" y="528855"/>
                    <a:pt x="0" y="476250"/>
                  </a:cubicBezTo>
                  <a:lnTo>
                    <a:pt x="0" y="95250"/>
                  </a:lnTo>
                  <a:cubicBezTo>
                    <a:pt x="0" y="42645"/>
                    <a:pt x="42645" y="0"/>
                    <a:pt x="95250" y="0"/>
                  </a:cubicBezTo>
                  <a:close/>
                </a:path>
              </a:pathLst>
            </a:custGeom>
            <a:gradFill>
              <a:gsLst>
                <a:gs pos="0">
                  <a:schemeClr val="accent6"/>
                </a:gs>
                <a:gs pos="100000">
                  <a:schemeClr val="lt2"/>
                </a:gs>
              </a:gsLst>
              <a:lin ang="0" scaled="1"/>
            </a:gradFill>
            <a:ln w="9525">
              <a:solidFill>
                <a:schemeClr val="accent4"/>
              </a:solidFill>
            </a:ln>
          </p:spPr>
        </p:sp>
        <p:sp>
          <p:nvSpPr>
            <p:cNvPr id="16" name="TextBox 16"/>
            <p:cNvSpPr txBox="1"/>
            <p:nvPr/>
          </p:nvSpPr>
          <p:spPr>
            <a:xfrm>
              <a:off x="830580" y="1790700"/>
              <a:ext cx="607314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不是功能的多与少，而是决策闭环是否能在同一个系统内实时完成。</a:t>
              </a:r>
            </a:p>
          </p:txBody>
        </p:sp>
        <p:sp>
          <p:nvSpPr>
            <p:cNvPr id="17" name="Freeform 17"/>
            <p:cNvSpPr/>
            <p:nvPr/>
          </p:nvSpPr>
          <p:spPr>
            <a:xfrm>
              <a:off x="571500" y="2400300"/>
              <a:ext cx="5219700" cy="3429000"/>
            </a:xfrm>
            <a:custGeom>
              <a:avLst/>
              <a:gdLst/>
              <a:ahLst/>
              <a:cxnLst/>
              <a:rect l="l" t="t" r="r" b="b"/>
              <a:pathLst>
                <a:path w="5219700" h="3429000">
                  <a:moveTo>
                    <a:pt x="114300" y="0"/>
                  </a:moveTo>
                  <a:lnTo>
                    <a:pt x="5105400" y="0"/>
                  </a:lnTo>
                  <a:cubicBezTo>
                    <a:pt x="5168526" y="0"/>
                    <a:pt x="5219700" y="51174"/>
                    <a:pt x="5219700" y="114300"/>
                  </a:cubicBezTo>
                  <a:lnTo>
                    <a:pt x="5219700" y="3314700"/>
                  </a:lnTo>
                  <a:cubicBezTo>
                    <a:pt x="5219700" y="3377826"/>
                    <a:pt x="5168526" y="3429000"/>
                    <a:pt x="5105400" y="3429000"/>
                  </a:cubicBezTo>
                  <a:lnTo>
                    <a:pt x="114300" y="3429000"/>
                  </a:lnTo>
                  <a:cubicBezTo>
                    <a:pt x="51174" y="3429000"/>
                    <a:pt x="0" y="3377826"/>
                    <a:pt x="0" y="3314700"/>
                  </a:cubicBezTo>
                  <a:lnTo>
                    <a:pt x="0" y="114300"/>
                  </a:lnTo>
                  <a:cubicBezTo>
                    <a:pt x="0" y="51174"/>
                    <a:pt x="51174" y="0"/>
                    <a:pt x="114300" y="0"/>
                  </a:cubicBezTo>
                  <a:close/>
                </a:path>
              </a:pathLst>
            </a:custGeom>
            <a:solidFill>
              <a:schemeClr val="lt2"/>
            </a:solidFill>
            <a:ln w="14288">
              <a:solidFill>
                <a:schemeClr val="accent4"/>
              </a:solidFill>
            </a:ln>
          </p:spPr>
        </p:sp>
        <p:sp>
          <p:nvSpPr>
            <p:cNvPr id="18" name="Freeform 18"/>
            <p:cNvSpPr/>
            <p:nvPr/>
          </p:nvSpPr>
          <p:spPr>
            <a:xfrm>
              <a:off x="6400800" y="2400300"/>
              <a:ext cx="5219700" cy="3429000"/>
            </a:xfrm>
            <a:custGeom>
              <a:avLst/>
              <a:gdLst/>
              <a:ahLst/>
              <a:cxnLst/>
              <a:rect l="l" t="t" r="r" b="b"/>
              <a:pathLst>
                <a:path w="5219700" h="3429000">
                  <a:moveTo>
                    <a:pt x="114300" y="0"/>
                  </a:moveTo>
                  <a:lnTo>
                    <a:pt x="5105400" y="0"/>
                  </a:lnTo>
                  <a:cubicBezTo>
                    <a:pt x="5168526" y="0"/>
                    <a:pt x="5219700" y="51174"/>
                    <a:pt x="5219700" y="114300"/>
                  </a:cubicBezTo>
                  <a:lnTo>
                    <a:pt x="5219700" y="3314700"/>
                  </a:lnTo>
                  <a:cubicBezTo>
                    <a:pt x="5219700" y="3377826"/>
                    <a:pt x="5168526" y="3429000"/>
                    <a:pt x="5105400" y="3429000"/>
                  </a:cubicBezTo>
                  <a:lnTo>
                    <a:pt x="114300" y="3429000"/>
                  </a:lnTo>
                  <a:cubicBezTo>
                    <a:pt x="51174" y="3429000"/>
                    <a:pt x="0" y="3377826"/>
                    <a:pt x="0" y="3314700"/>
                  </a:cubicBezTo>
                  <a:lnTo>
                    <a:pt x="0" y="114300"/>
                  </a:lnTo>
                  <a:cubicBezTo>
                    <a:pt x="0" y="51174"/>
                    <a:pt x="51174" y="0"/>
                    <a:pt x="114300" y="0"/>
                  </a:cubicBezTo>
                  <a:close/>
                </a:path>
              </a:pathLst>
            </a:custGeom>
            <a:solidFill>
              <a:schemeClr val="lt1"/>
            </a:solidFill>
            <a:ln w="19050">
              <a:solidFill>
                <a:schemeClr val="accent2"/>
              </a:solidFill>
            </a:ln>
          </p:spPr>
        </p:sp>
        <p:sp>
          <p:nvSpPr>
            <p:cNvPr id="19" name="Line 19"/>
            <p:cNvSpPr/>
            <p:nvPr/>
          </p:nvSpPr>
          <p:spPr>
            <a:xfrm>
              <a:off x="6096000" y="2400300"/>
              <a:ext cx="9525" cy="3429000"/>
            </a:xfrm>
            <a:custGeom>
              <a:avLst/>
              <a:gdLst/>
              <a:ahLst/>
              <a:cxnLst/>
              <a:rect l="l" t="t" r="r" b="b"/>
              <a:pathLst>
                <a:path w="9525" h="3429000">
                  <a:moveTo>
                    <a:pt x="0" y="0"/>
                  </a:moveTo>
                  <a:lnTo>
                    <a:pt x="0" y="3429000"/>
                  </a:lnTo>
                </a:path>
              </a:pathLst>
            </a:custGeom>
            <a:noFill/>
            <a:ln w="9525">
              <a:solidFill>
                <a:schemeClr val="accent4"/>
              </a:solidFill>
            </a:ln>
          </p:spPr>
        </p:sp>
        <p:sp>
          <p:nvSpPr>
            <p:cNvPr id="20" name="Line 20"/>
            <p:cNvSpPr/>
            <p:nvPr/>
          </p:nvSpPr>
          <p:spPr>
            <a:xfrm>
              <a:off x="6096000" y="2571750"/>
              <a:ext cx="9525" cy="3086100"/>
            </a:xfrm>
            <a:custGeom>
              <a:avLst/>
              <a:gdLst/>
              <a:ahLst/>
              <a:cxnLst/>
              <a:rect l="l" t="t" r="r" b="b"/>
              <a:pathLst>
                <a:path w="9525" h="3086100">
                  <a:moveTo>
                    <a:pt x="0" y="0"/>
                  </a:moveTo>
                  <a:lnTo>
                    <a:pt x="0" y="3086100"/>
                  </a:lnTo>
                </a:path>
              </a:pathLst>
            </a:custGeom>
            <a:noFill/>
            <a:ln w="28575">
              <a:solidFill>
                <a:schemeClr val="accent2"/>
              </a:solidFill>
            </a:ln>
          </p:spPr>
        </p:sp>
        <p:sp>
          <p:nvSpPr>
            <p:cNvPr id="21" name="TextBox 21"/>
            <p:cNvSpPr txBox="1"/>
            <p:nvPr/>
          </p:nvSpPr>
          <p:spPr>
            <a:xfrm>
              <a:off x="866394" y="2589848"/>
              <a:ext cx="2058467"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j-lt"/>
                  <a:ea typeface="+mj-ea"/>
                  <a:cs typeface="+mj-cs"/>
                </a:rPr>
                <a:t>传统营销技术栈</a:t>
              </a:r>
            </a:p>
          </p:txBody>
        </p:sp>
        <p:sp>
          <p:nvSpPr>
            <p:cNvPr id="22" name="TextBox 22"/>
            <p:cNvSpPr txBox="1"/>
            <p:nvPr/>
          </p:nvSpPr>
          <p:spPr>
            <a:xfrm>
              <a:off x="869442" y="2940368"/>
              <a:ext cx="558927"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拼接型</a:t>
              </a:r>
            </a:p>
          </p:txBody>
        </p:sp>
        <p:sp>
          <p:nvSpPr>
            <p:cNvPr id="23" name="TextBox 23"/>
            <p:cNvSpPr txBox="1"/>
            <p:nvPr/>
          </p:nvSpPr>
          <p:spPr>
            <a:xfrm>
              <a:off x="6695694" y="2589848"/>
              <a:ext cx="2795919"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j-lt"/>
                  <a:ea typeface="+mj-ea"/>
                  <a:cs typeface="+mj-cs"/>
                </a:rPr>
                <a:t>企业AI营销工作台</a:t>
              </a:r>
            </a:p>
          </p:txBody>
        </p:sp>
        <p:sp>
          <p:nvSpPr>
            <p:cNvPr id="24" name="TextBox 24"/>
            <p:cNvSpPr txBox="1"/>
            <p:nvPr/>
          </p:nvSpPr>
          <p:spPr>
            <a:xfrm>
              <a:off x="6698742" y="2940368"/>
              <a:ext cx="96783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一体闭环型</a:t>
              </a:r>
            </a:p>
          </p:txBody>
        </p:sp>
        <p:sp>
          <p:nvSpPr>
            <p:cNvPr id="25" name="Freeform 25"/>
            <p:cNvSpPr/>
            <p:nvPr/>
          </p:nvSpPr>
          <p:spPr>
            <a:xfrm>
              <a:off x="876300" y="3314700"/>
              <a:ext cx="4610100" cy="876300"/>
            </a:xfrm>
            <a:custGeom>
              <a:avLst/>
              <a:gdLst/>
              <a:ahLst/>
              <a:cxnLst/>
              <a:rect l="l" t="t" r="r" b="b"/>
              <a:pathLst>
                <a:path w="4610100" h="876300">
                  <a:moveTo>
                    <a:pt x="95250" y="0"/>
                  </a:moveTo>
                  <a:lnTo>
                    <a:pt x="4514850" y="0"/>
                  </a:lnTo>
                  <a:cubicBezTo>
                    <a:pt x="4567455" y="0"/>
                    <a:pt x="4610100" y="42645"/>
                    <a:pt x="4610100" y="95250"/>
                  </a:cubicBezTo>
                  <a:lnTo>
                    <a:pt x="4610100" y="781050"/>
                  </a:lnTo>
                  <a:cubicBezTo>
                    <a:pt x="4610100" y="833655"/>
                    <a:pt x="4567455" y="876300"/>
                    <a:pt x="4514850" y="876300"/>
                  </a:cubicBezTo>
                  <a:lnTo>
                    <a:pt x="95250" y="876300"/>
                  </a:lnTo>
                  <a:cubicBezTo>
                    <a:pt x="42645" y="876300"/>
                    <a:pt x="0" y="833655"/>
                    <a:pt x="0" y="781050"/>
                  </a:cubicBezTo>
                  <a:lnTo>
                    <a:pt x="0" y="95250"/>
                  </a:lnTo>
                  <a:cubicBezTo>
                    <a:pt x="0" y="42645"/>
                    <a:pt x="42645" y="0"/>
                    <a:pt x="95250" y="0"/>
                  </a:cubicBezTo>
                  <a:close/>
                </a:path>
              </a:pathLst>
            </a:custGeom>
            <a:solidFill>
              <a:schemeClr val="lt1"/>
            </a:solidFill>
            <a:ln w="9525">
              <a:solidFill>
                <a:schemeClr val="accent4"/>
              </a:solidFill>
            </a:ln>
          </p:spPr>
        </p:sp>
        <p:sp>
          <p:nvSpPr>
            <p:cNvPr id="26" name="Ellipse 26"/>
            <p:cNvSpPr/>
            <p:nvPr/>
          </p:nvSpPr>
          <p:spPr>
            <a:xfrm>
              <a:off x="1076325" y="3571875"/>
              <a:ext cx="95250" cy="95250"/>
            </a:xfrm>
            <a:prstGeom prst="ellipse">
              <a:avLst/>
            </a:prstGeom>
            <a:solidFill>
              <a:srgbClr val="A0AEC0"/>
            </a:solidFill>
            <a:ln>
              <a:noFill/>
            </a:ln>
          </p:spPr>
        </p:sp>
        <p:sp>
          <p:nvSpPr>
            <p:cNvPr id="27" name="TextBox 27"/>
            <p:cNvSpPr txBox="1"/>
            <p:nvPr/>
          </p:nvSpPr>
          <p:spPr>
            <a:xfrm>
              <a:off x="1269492" y="3521392"/>
              <a:ext cx="28556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CDP、MA、BI、广告平台独立运行</a:t>
              </a:r>
            </a:p>
          </p:txBody>
        </p:sp>
        <p:sp>
          <p:nvSpPr>
            <p:cNvPr id="28" name="Ellipse 28"/>
            <p:cNvSpPr/>
            <p:nvPr/>
          </p:nvSpPr>
          <p:spPr>
            <a:xfrm>
              <a:off x="1076325" y="3886200"/>
              <a:ext cx="95250" cy="95250"/>
            </a:xfrm>
            <a:prstGeom prst="ellipse">
              <a:avLst/>
            </a:prstGeom>
            <a:solidFill>
              <a:srgbClr val="A0AEC0"/>
            </a:solidFill>
            <a:ln>
              <a:noFill/>
            </a:ln>
          </p:spPr>
        </p:sp>
        <p:sp>
          <p:nvSpPr>
            <p:cNvPr id="29" name="TextBox 29"/>
            <p:cNvSpPr txBox="1"/>
            <p:nvPr/>
          </p:nvSpPr>
          <p:spPr>
            <a:xfrm>
              <a:off x="1269492" y="3835718"/>
              <a:ext cx="186674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数据通过ETL批量同步</a:t>
              </a:r>
            </a:p>
          </p:txBody>
        </p:sp>
        <p:sp>
          <p:nvSpPr>
            <p:cNvPr id="30" name="Freeform 30"/>
            <p:cNvSpPr/>
            <p:nvPr/>
          </p:nvSpPr>
          <p:spPr>
            <a:xfrm>
              <a:off x="876300" y="4305300"/>
              <a:ext cx="4610100" cy="876300"/>
            </a:xfrm>
            <a:custGeom>
              <a:avLst/>
              <a:gdLst/>
              <a:ahLst/>
              <a:cxnLst/>
              <a:rect l="l" t="t" r="r" b="b"/>
              <a:pathLst>
                <a:path w="4610100" h="876300">
                  <a:moveTo>
                    <a:pt x="95250" y="0"/>
                  </a:moveTo>
                  <a:lnTo>
                    <a:pt x="4514850" y="0"/>
                  </a:lnTo>
                  <a:cubicBezTo>
                    <a:pt x="4567455" y="0"/>
                    <a:pt x="4610100" y="42645"/>
                    <a:pt x="4610100" y="95250"/>
                  </a:cubicBezTo>
                  <a:lnTo>
                    <a:pt x="4610100" y="781050"/>
                  </a:lnTo>
                  <a:cubicBezTo>
                    <a:pt x="4610100" y="833655"/>
                    <a:pt x="4567455" y="876300"/>
                    <a:pt x="4514850" y="876300"/>
                  </a:cubicBezTo>
                  <a:lnTo>
                    <a:pt x="95250" y="876300"/>
                  </a:lnTo>
                  <a:cubicBezTo>
                    <a:pt x="42645" y="876300"/>
                    <a:pt x="0" y="833655"/>
                    <a:pt x="0" y="781050"/>
                  </a:cubicBezTo>
                  <a:lnTo>
                    <a:pt x="0" y="95250"/>
                  </a:lnTo>
                  <a:cubicBezTo>
                    <a:pt x="0" y="42645"/>
                    <a:pt x="42645" y="0"/>
                    <a:pt x="95250" y="0"/>
                  </a:cubicBezTo>
                  <a:close/>
                </a:path>
              </a:pathLst>
            </a:custGeom>
            <a:solidFill>
              <a:schemeClr val="lt1"/>
            </a:solidFill>
            <a:ln w="9525">
              <a:solidFill>
                <a:schemeClr val="accent4"/>
              </a:solidFill>
            </a:ln>
          </p:spPr>
        </p:sp>
        <p:sp>
          <p:nvSpPr>
            <p:cNvPr id="31" name="Ellipse 31"/>
            <p:cNvSpPr/>
            <p:nvPr/>
          </p:nvSpPr>
          <p:spPr>
            <a:xfrm>
              <a:off x="1076325" y="4562475"/>
              <a:ext cx="95250" cy="95250"/>
            </a:xfrm>
            <a:prstGeom prst="ellipse">
              <a:avLst/>
            </a:prstGeom>
            <a:solidFill>
              <a:srgbClr val="A0AEC0"/>
            </a:solidFill>
            <a:ln>
              <a:noFill/>
            </a:ln>
          </p:spPr>
        </p:sp>
        <p:sp>
          <p:nvSpPr>
            <p:cNvPr id="32" name="TextBox 32"/>
            <p:cNvSpPr txBox="1"/>
            <p:nvPr/>
          </p:nvSpPr>
          <p:spPr>
            <a:xfrm>
              <a:off x="1269492" y="4511992"/>
              <a:ext cx="237629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策略依赖人工复盘和季度规划</a:t>
              </a:r>
            </a:p>
          </p:txBody>
        </p:sp>
        <p:sp>
          <p:nvSpPr>
            <p:cNvPr id="33" name="Ellipse 33"/>
            <p:cNvSpPr/>
            <p:nvPr/>
          </p:nvSpPr>
          <p:spPr>
            <a:xfrm>
              <a:off x="1076325" y="4876800"/>
              <a:ext cx="95250" cy="95250"/>
            </a:xfrm>
            <a:prstGeom prst="ellipse">
              <a:avLst/>
            </a:prstGeom>
            <a:solidFill>
              <a:srgbClr val="A0AEC0"/>
            </a:solidFill>
            <a:ln>
              <a:noFill/>
            </a:ln>
          </p:spPr>
        </p:sp>
        <p:sp>
          <p:nvSpPr>
            <p:cNvPr id="34" name="TextBox 34"/>
            <p:cNvSpPr txBox="1"/>
            <p:nvPr/>
          </p:nvSpPr>
          <p:spPr>
            <a:xfrm>
              <a:off x="1269492" y="482631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响应市场变化以周为单位</a:t>
              </a:r>
            </a:p>
          </p:txBody>
        </p:sp>
        <p:sp>
          <p:nvSpPr>
            <p:cNvPr id="35" name="Freeform 35"/>
            <p:cNvSpPr/>
            <p:nvPr/>
          </p:nvSpPr>
          <p:spPr>
            <a:xfrm>
              <a:off x="6705600" y="3314700"/>
              <a:ext cx="4610100" cy="876300"/>
            </a:xfrm>
            <a:custGeom>
              <a:avLst/>
              <a:gdLst/>
              <a:ahLst/>
              <a:cxnLst/>
              <a:rect l="l" t="t" r="r" b="b"/>
              <a:pathLst>
                <a:path w="4610100" h="876300">
                  <a:moveTo>
                    <a:pt x="95250" y="0"/>
                  </a:moveTo>
                  <a:lnTo>
                    <a:pt x="4514850" y="0"/>
                  </a:lnTo>
                  <a:cubicBezTo>
                    <a:pt x="4567455" y="0"/>
                    <a:pt x="4610100" y="42645"/>
                    <a:pt x="4610100" y="95250"/>
                  </a:cubicBezTo>
                  <a:lnTo>
                    <a:pt x="4610100" y="781050"/>
                  </a:lnTo>
                  <a:cubicBezTo>
                    <a:pt x="4610100" y="833655"/>
                    <a:pt x="4567455" y="876300"/>
                    <a:pt x="4514850" y="876300"/>
                  </a:cubicBezTo>
                  <a:lnTo>
                    <a:pt x="95250" y="876300"/>
                  </a:lnTo>
                  <a:cubicBezTo>
                    <a:pt x="42645" y="876300"/>
                    <a:pt x="0" y="833655"/>
                    <a:pt x="0" y="781050"/>
                  </a:cubicBezTo>
                  <a:lnTo>
                    <a:pt x="0" y="95250"/>
                  </a:lnTo>
                  <a:cubicBezTo>
                    <a:pt x="0" y="42645"/>
                    <a:pt x="42645" y="0"/>
                    <a:pt x="95250" y="0"/>
                  </a:cubicBezTo>
                  <a:close/>
                </a:path>
              </a:pathLst>
            </a:custGeom>
            <a:solidFill>
              <a:schemeClr val="accent6"/>
            </a:solidFill>
            <a:ln w="9525">
              <a:solidFill>
                <a:schemeClr val="accent3"/>
              </a:solidFill>
            </a:ln>
          </p:spPr>
        </p:sp>
        <p:sp>
          <p:nvSpPr>
            <p:cNvPr id="36" name="TextBox 36"/>
            <p:cNvSpPr txBox="1"/>
            <p:nvPr/>
          </p:nvSpPr>
          <p:spPr>
            <a:xfrm>
              <a:off x="6946392" y="3521392"/>
              <a:ext cx="270205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统一数据层 → 实时AI归因与预测</a:t>
              </a:r>
            </a:p>
          </p:txBody>
        </p:sp>
        <p:sp>
          <p:nvSpPr>
            <p:cNvPr id="37" name="TextBox 37"/>
            <p:cNvSpPr txBox="1"/>
            <p:nvPr/>
          </p:nvSpPr>
          <p:spPr>
            <a:xfrm>
              <a:off x="6946392" y="3835718"/>
              <a:ext cx="294876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自动化多渠道编排 → 分钟级效果回传</a:t>
              </a:r>
            </a:p>
          </p:txBody>
        </p:sp>
        <p:sp>
          <p:nvSpPr>
            <p:cNvPr id="38" name="Freeform 38"/>
            <p:cNvSpPr/>
            <p:nvPr/>
          </p:nvSpPr>
          <p:spPr>
            <a:xfrm>
              <a:off x="6705600" y="4305300"/>
              <a:ext cx="4610100" cy="876300"/>
            </a:xfrm>
            <a:custGeom>
              <a:avLst/>
              <a:gdLst/>
              <a:ahLst/>
              <a:cxnLst/>
              <a:rect l="l" t="t" r="r" b="b"/>
              <a:pathLst>
                <a:path w="4610100" h="876300">
                  <a:moveTo>
                    <a:pt x="95250" y="0"/>
                  </a:moveTo>
                  <a:lnTo>
                    <a:pt x="4514850" y="0"/>
                  </a:lnTo>
                  <a:cubicBezTo>
                    <a:pt x="4567455" y="0"/>
                    <a:pt x="4610100" y="42645"/>
                    <a:pt x="4610100" y="95250"/>
                  </a:cubicBezTo>
                  <a:lnTo>
                    <a:pt x="4610100" y="781050"/>
                  </a:lnTo>
                  <a:cubicBezTo>
                    <a:pt x="4610100" y="833655"/>
                    <a:pt x="4567455" y="876300"/>
                    <a:pt x="4514850" y="876300"/>
                  </a:cubicBezTo>
                  <a:lnTo>
                    <a:pt x="95250" y="876300"/>
                  </a:lnTo>
                  <a:cubicBezTo>
                    <a:pt x="42645" y="876300"/>
                    <a:pt x="0" y="833655"/>
                    <a:pt x="0" y="781050"/>
                  </a:cubicBezTo>
                  <a:lnTo>
                    <a:pt x="0" y="95250"/>
                  </a:lnTo>
                  <a:cubicBezTo>
                    <a:pt x="0" y="42645"/>
                    <a:pt x="42645" y="0"/>
                    <a:pt x="95250" y="0"/>
                  </a:cubicBezTo>
                  <a:close/>
                </a:path>
              </a:pathLst>
            </a:custGeom>
            <a:solidFill>
              <a:schemeClr val="accent6"/>
            </a:solidFill>
            <a:ln w="9525">
              <a:solidFill>
                <a:schemeClr val="accent3"/>
              </a:solidFill>
            </a:ln>
          </p:spPr>
        </p:sp>
        <p:sp>
          <p:nvSpPr>
            <p:cNvPr id="39" name="Ellipse 39"/>
            <p:cNvSpPr/>
            <p:nvPr/>
          </p:nvSpPr>
          <p:spPr>
            <a:xfrm>
              <a:off x="6896100" y="4552950"/>
              <a:ext cx="114300" cy="114300"/>
            </a:xfrm>
            <a:prstGeom prst="ellipse">
              <a:avLst/>
            </a:prstGeom>
            <a:solidFill>
              <a:schemeClr val="accent2"/>
            </a:solidFill>
            <a:ln>
              <a:noFill/>
            </a:ln>
          </p:spPr>
        </p:sp>
        <p:sp>
          <p:nvSpPr>
            <p:cNvPr id="40" name="Ellipse 40"/>
            <p:cNvSpPr/>
            <p:nvPr/>
          </p:nvSpPr>
          <p:spPr>
            <a:xfrm>
              <a:off x="7886700" y="4552950"/>
              <a:ext cx="114300" cy="114300"/>
            </a:xfrm>
            <a:prstGeom prst="ellipse">
              <a:avLst/>
            </a:prstGeom>
            <a:solidFill>
              <a:schemeClr val="accent2"/>
            </a:solidFill>
            <a:ln>
              <a:noFill/>
            </a:ln>
          </p:spPr>
        </p:sp>
        <p:sp>
          <p:nvSpPr>
            <p:cNvPr id="41" name="Ellipse 41"/>
            <p:cNvSpPr/>
            <p:nvPr/>
          </p:nvSpPr>
          <p:spPr>
            <a:xfrm>
              <a:off x="9029700" y="4552950"/>
              <a:ext cx="114300" cy="114300"/>
            </a:xfrm>
            <a:prstGeom prst="ellipse">
              <a:avLst/>
            </a:prstGeom>
            <a:solidFill>
              <a:schemeClr val="accent2"/>
            </a:solidFill>
            <a:ln>
              <a:noFill/>
            </a:ln>
          </p:spPr>
        </p:sp>
        <p:sp>
          <p:nvSpPr>
            <p:cNvPr id="42" name="Ellipse 42"/>
            <p:cNvSpPr/>
            <p:nvPr/>
          </p:nvSpPr>
          <p:spPr>
            <a:xfrm>
              <a:off x="10325100" y="4552950"/>
              <a:ext cx="114300" cy="114300"/>
            </a:xfrm>
            <a:prstGeom prst="ellipse">
              <a:avLst/>
            </a:prstGeom>
            <a:solidFill>
              <a:schemeClr val="accent2"/>
            </a:solidFill>
            <a:ln>
              <a:noFill/>
            </a:ln>
          </p:spPr>
        </p:sp>
        <p:sp>
          <p:nvSpPr>
            <p:cNvPr id="43" name="Line 43"/>
            <p:cNvSpPr/>
            <p:nvPr/>
          </p:nvSpPr>
          <p:spPr>
            <a:xfrm>
              <a:off x="7010400" y="4610100"/>
              <a:ext cx="876300" cy="9525"/>
            </a:xfrm>
            <a:custGeom>
              <a:avLst/>
              <a:gdLst/>
              <a:ahLst/>
              <a:cxnLst/>
              <a:rect l="l" t="t" r="r" b="b"/>
              <a:pathLst>
                <a:path w="876300" h="9525">
                  <a:moveTo>
                    <a:pt x="0" y="0"/>
                  </a:moveTo>
                  <a:lnTo>
                    <a:pt x="876300" y="0"/>
                  </a:lnTo>
                </a:path>
              </a:pathLst>
            </a:custGeom>
            <a:noFill/>
            <a:ln w="19050">
              <a:solidFill>
                <a:schemeClr val="accent2"/>
              </a:solidFill>
            </a:ln>
          </p:spPr>
        </p:sp>
        <p:sp>
          <p:nvSpPr>
            <p:cNvPr id="44" name="Line 44"/>
            <p:cNvSpPr/>
            <p:nvPr/>
          </p:nvSpPr>
          <p:spPr>
            <a:xfrm>
              <a:off x="8001000" y="4610100"/>
              <a:ext cx="1028700" cy="9525"/>
            </a:xfrm>
            <a:custGeom>
              <a:avLst/>
              <a:gdLst/>
              <a:ahLst/>
              <a:cxnLst/>
              <a:rect l="l" t="t" r="r" b="b"/>
              <a:pathLst>
                <a:path w="1028700" h="9525">
                  <a:moveTo>
                    <a:pt x="0" y="0"/>
                  </a:moveTo>
                  <a:lnTo>
                    <a:pt x="1028700" y="0"/>
                  </a:lnTo>
                </a:path>
              </a:pathLst>
            </a:custGeom>
            <a:noFill/>
            <a:ln w="19050">
              <a:solidFill>
                <a:schemeClr val="accent2"/>
              </a:solidFill>
            </a:ln>
          </p:spPr>
        </p:sp>
        <p:sp>
          <p:nvSpPr>
            <p:cNvPr id="45" name="Line 45"/>
            <p:cNvSpPr/>
            <p:nvPr/>
          </p:nvSpPr>
          <p:spPr>
            <a:xfrm>
              <a:off x="9144000" y="4610100"/>
              <a:ext cx="1181100" cy="9525"/>
            </a:xfrm>
            <a:custGeom>
              <a:avLst/>
              <a:gdLst/>
              <a:ahLst/>
              <a:cxnLst/>
              <a:rect l="l" t="t" r="r" b="b"/>
              <a:pathLst>
                <a:path w="1181100" h="9525">
                  <a:moveTo>
                    <a:pt x="0" y="0"/>
                  </a:moveTo>
                  <a:lnTo>
                    <a:pt x="1181100" y="0"/>
                  </a:lnTo>
                </a:path>
              </a:pathLst>
            </a:custGeom>
            <a:noFill/>
            <a:ln w="19050">
              <a:solidFill>
                <a:schemeClr val="accent2"/>
              </a:solidFill>
            </a:ln>
          </p:spPr>
        </p:sp>
        <p:sp>
          <p:nvSpPr>
            <p:cNvPr id="46" name="TextBox 46"/>
            <p:cNvSpPr txBox="1"/>
            <p:nvPr/>
          </p:nvSpPr>
          <p:spPr>
            <a:xfrm>
              <a:off x="6803517" y="4807268"/>
              <a:ext cx="243321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整个OODA循环在系统内完成</a:t>
              </a:r>
            </a:p>
          </p:txBody>
        </p:sp>
        <p:sp>
          <p:nvSpPr>
            <p:cNvPr id="47" name="Freeform 47"/>
            <p:cNvSpPr/>
            <p:nvPr/>
          </p:nvSpPr>
          <p:spPr>
            <a:xfrm>
              <a:off x="876300" y="5334000"/>
              <a:ext cx="4610100" cy="266700"/>
            </a:xfrm>
            <a:custGeom>
              <a:avLst/>
              <a:gdLst/>
              <a:ahLst/>
              <a:cxnLst/>
              <a:rect l="l" t="t" r="r" b="b"/>
              <a:pathLst>
                <a:path w="4610100" h="266700">
                  <a:moveTo>
                    <a:pt x="76200" y="0"/>
                  </a:moveTo>
                  <a:lnTo>
                    <a:pt x="4533900" y="0"/>
                  </a:lnTo>
                  <a:cubicBezTo>
                    <a:pt x="4575984" y="0"/>
                    <a:pt x="4610100" y="34116"/>
                    <a:pt x="4610100" y="76200"/>
                  </a:cubicBezTo>
                  <a:lnTo>
                    <a:pt x="4610100" y="190500"/>
                  </a:lnTo>
                  <a:cubicBezTo>
                    <a:pt x="4610100" y="232584"/>
                    <a:pt x="4575984" y="266700"/>
                    <a:pt x="4533900" y="266700"/>
                  </a:cubicBezTo>
                  <a:lnTo>
                    <a:pt x="76200" y="266700"/>
                  </a:lnTo>
                  <a:cubicBezTo>
                    <a:pt x="34116" y="266700"/>
                    <a:pt x="0" y="232584"/>
                    <a:pt x="0" y="190500"/>
                  </a:cubicBezTo>
                  <a:lnTo>
                    <a:pt x="0" y="76200"/>
                  </a:lnTo>
                  <a:cubicBezTo>
                    <a:pt x="0" y="34116"/>
                    <a:pt x="34116" y="0"/>
                    <a:pt x="76200" y="0"/>
                  </a:cubicBezTo>
                  <a:close/>
                </a:path>
              </a:pathLst>
            </a:custGeom>
            <a:solidFill>
              <a:schemeClr val="lt2"/>
            </a:solidFill>
            <a:ln>
              <a:noFill/>
            </a:ln>
          </p:spPr>
        </p:sp>
        <p:sp>
          <p:nvSpPr>
            <p:cNvPr id="48" name="TextBox 48"/>
            <p:cNvSpPr txBox="1"/>
            <p:nvPr/>
          </p:nvSpPr>
          <p:spPr>
            <a:xfrm>
              <a:off x="2094681" y="5401628"/>
              <a:ext cx="2173338"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多系统串联 · 滞后同步 · 人工驱动</a:t>
              </a:r>
            </a:p>
          </p:txBody>
        </p:sp>
        <p:sp>
          <p:nvSpPr>
            <p:cNvPr id="49" name="Freeform 49"/>
            <p:cNvSpPr/>
            <p:nvPr/>
          </p:nvSpPr>
          <p:spPr>
            <a:xfrm>
              <a:off x="6705600" y="5334000"/>
              <a:ext cx="4610100" cy="266700"/>
            </a:xfrm>
            <a:custGeom>
              <a:avLst/>
              <a:gdLst/>
              <a:ahLst/>
              <a:cxnLst/>
              <a:rect l="l" t="t" r="r" b="b"/>
              <a:pathLst>
                <a:path w="4610100" h="266700">
                  <a:moveTo>
                    <a:pt x="76200" y="0"/>
                  </a:moveTo>
                  <a:lnTo>
                    <a:pt x="4533900" y="0"/>
                  </a:lnTo>
                  <a:cubicBezTo>
                    <a:pt x="4575984" y="0"/>
                    <a:pt x="4610100" y="34116"/>
                    <a:pt x="4610100" y="76200"/>
                  </a:cubicBezTo>
                  <a:lnTo>
                    <a:pt x="4610100" y="190500"/>
                  </a:lnTo>
                  <a:cubicBezTo>
                    <a:pt x="4610100" y="232584"/>
                    <a:pt x="4575984" y="266700"/>
                    <a:pt x="4533900" y="266700"/>
                  </a:cubicBezTo>
                  <a:lnTo>
                    <a:pt x="76200" y="266700"/>
                  </a:lnTo>
                  <a:cubicBezTo>
                    <a:pt x="34116" y="266700"/>
                    <a:pt x="0" y="232584"/>
                    <a:pt x="0" y="190500"/>
                  </a:cubicBezTo>
                  <a:lnTo>
                    <a:pt x="0" y="76200"/>
                  </a:lnTo>
                  <a:cubicBezTo>
                    <a:pt x="0" y="34116"/>
                    <a:pt x="34116" y="0"/>
                    <a:pt x="76200" y="0"/>
                  </a:cubicBezTo>
                  <a:close/>
                </a:path>
              </a:pathLst>
            </a:custGeom>
            <a:solidFill>
              <a:schemeClr val="accent6"/>
            </a:solidFill>
            <a:ln>
              <a:noFill/>
            </a:ln>
          </p:spPr>
        </p:sp>
        <p:sp>
          <p:nvSpPr>
            <p:cNvPr id="50" name="TextBox 50"/>
            <p:cNvSpPr txBox="1"/>
            <p:nvPr/>
          </p:nvSpPr>
          <p:spPr>
            <a:xfrm>
              <a:off x="7944123" y="5401628"/>
              <a:ext cx="2133053" cy="205359"/>
            </a:xfrm>
            <a:prstGeom prst="rect">
              <a:avLst/>
            </a:prstGeom>
            <a:noFill/>
            <a:ln>
              <a:noFill/>
            </a:ln>
          </p:spPr>
          <p:txBody>
            <a:bodyPr wrap="none" lIns="0" tIns="0" rIns="0" bIns="0" anchor="t" anchorCtr="0">
              <a:spAutoFit/>
            </a:bodyPr>
            <a:lstStyle/>
            <a:p>
              <a:pPr algn="ctr"/>
              <a:r>
                <a:rPr lang="zh-CN" sz="1050" b="1" dirty="0">
                  <a:solidFill>
                    <a:schemeClr val="accent2"/>
                  </a:solidFill>
                  <a:latin typeface="+mn-lt"/>
                  <a:ea typeface="+mn-ea"/>
                  <a:cs typeface="+mn-cs"/>
                </a:rPr>
                <a:t>统一底座 · 实时感知 · 自动优化</a:t>
              </a:r>
            </a:p>
          </p:txBody>
        </p:sp>
        <p:sp>
          <p:nvSpPr>
            <p:cNvPr id="51" name="Freeform 51"/>
            <p:cNvSpPr/>
            <p:nvPr/>
          </p:nvSpPr>
          <p:spPr>
            <a:xfrm>
              <a:off x="571500" y="5981700"/>
              <a:ext cx="11049000" cy="266700"/>
            </a:xfrm>
            <a:custGeom>
              <a:avLst/>
              <a:gdLst/>
              <a:ahLst/>
              <a:cxnLst/>
              <a:rect l="l" t="t" r="r" b="b"/>
              <a:pathLst>
                <a:path w="11049000" h="266700">
                  <a:moveTo>
                    <a:pt x="76200" y="0"/>
                  </a:moveTo>
                  <a:lnTo>
                    <a:pt x="10972800" y="0"/>
                  </a:lnTo>
                  <a:cubicBezTo>
                    <a:pt x="11014884" y="0"/>
                    <a:pt x="11049000" y="34116"/>
                    <a:pt x="11049000" y="76200"/>
                  </a:cubicBezTo>
                  <a:lnTo>
                    <a:pt x="11049000" y="190500"/>
                  </a:lnTo>
                  <a:cubicBezTo>
                    <a:pt x="11049000" y="232584"/>
                    <a:pt x="11014884" y="266700"/>
                    <a:pt x="10972800" y="266700"/>
                  </a:cubicBezTo>
                  <a:lnTo>
                    <a:pt x="76200" y="266700"/>
                  </a:lnTo>
                  <a:cubicBezTo>
                    <a:pt x="34116" y="266700"/>
                    <a:pt x="0" y="232584"/>
                    <a:pt x="0" y="190500"/>
                  </a:cubicBezTo>
                  <a:lnTo>
                    <a:pt x="0" y="76200"/>
                  </a:lnTo>
                  <a:cubicBezTo>
                    <a:pt x="0" y="34116"/>
                    <a:pt x="34116" y="0"/>
                    <a:pt x="76200" y="0"/>
                  </a:cubicBezTo>
                  <a:close/>
                </a:path>
              </a:pathLst>
            </a:custGeom>
            <a:solidFill>
              <a:schemeClr val="accent1"/>
            </a:solidFill>
            <a:ln>
              <a:noFill/>
            </a:ln>
          </p:spPr>
        </p:sp>
        <p:sp>
          <p:nvSpPr>
            <p:cNvPr id="52" name="TextBox 52"/>
            <p:cNvSpPr txBox="1"/>
            <p:nvPr/>
          </p:nvSpPr>
          <p:spPr>
            <a:xfrm>
              <a:off x="832866" y="6049328"/>
              <a:ext cx="858774"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关键变量对比</a:t>
              </a:r>
            </a:p>
          </p:txBody>
        </p:sp>
        <p:sp>
          <p:nvSpPr>
            <p:cNvPr id="53" name="TextBox 53"/>
            <p:cNvSpPr txBox="1"/>
            <p:nvPr/>
          </p:nvSpPr>
          <p:spPr>
            <a:xfrm>
              <a:off x="2109216" y="6049328"/>
              <a:ext cx="5307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a:t>
              </a:r>
            </a:p>
          </p:txBody>
        </p:sp>
        <p:sp>
          <p:nvSpPr>
            <p:cNvPr id="54" name="TextBox 54"/>
            <p:cNvSpPr txBox="1"/>
            <p:nvPr/>
          </p:nvSpPr>
          <p:spPr>
            <a:xfrm>
              <a:off x="2299716" y="6049328"/>
              <a:ext cx="4533900"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不同路径影响：前者优化单点效率，后者压缩从信号到动作的全链路时间</a:t>
              </a:r>
            </a:p>
          </p:txBody>
        </p:sp>
      </p:grpSp>
      <p:grpSp>
        <p:nvGrpSpPr>
          <p:cNvPr id="64" name="Group 64"/>
          <p:cNvGrpSpPr/>
          <p:nvPr/>
        </p:nvGrpSpPr>
        <p:grpSpPr>
          <a:xfrm>
            <a:off x="4972050" y="2724150"/>
            <a:ext cx="2247900" cy="2343150"/>
            <a:chOff x="4972050" y="2724150"/>
            <a:chExt cx="2247900" cy="2343150"/>
          </a:xfrm>
        </p:grpSpPr>
        <p:sp>
          <p:nvSpPr>
            <p:cNvPr id="56" name="Freeform 56"/>
            <p:cNvSpPr/>
            <p:nvPr/>
          </p:nvSpPr>
          <p:spPr>
            <a:xfrm>
              <a:off x="5314950" y="2724150"/>
              <a:ext cx="1562100" cy="400050"/>
            </a:xfrm>
            <a:custGeom>
              <a:avLst/>
              <a:gdLst/>
              <a:ahLst/>
              <a:cxnLst/>
              <a:rect l="l" t="t" r="r" b="b"/>
              <a:pathLst>
                <a:path w="1562100" h="400050">
                  <a:moveTo>
                    <a:pt x="76200" y="0"/>
                  </a:moveTo>
                  <a:lnTo>
                    <a:pt x="1485900" y="0"/>
                  </a:lnTo>
                  <a:cubicBezTo>
                    <a:pt x="1527984" y="0"/>
                    <a:pt x="1562100" y="34116"/>
                    <a:pt x="1562100" y="76200"/>
                  </a:cubicBezTo>
                  <a:lnTo>
                    <a:pt x="1562100" y="323850"/>
                  </a:lnTo>
                  <a:cubicBezTo>
                    <a:pt x="1562100" y="365934"/>
                    <a:pt x="1527984" y="400050"/>
                    <a:pt x="1485900" y="400050"/>
                  </a:cubicBezTo>
                  <a:lnTo>
                    <a:pt x="76200" y="400050"/>
                  </a:lnTo>
                  <a:cubicBezTo>
                    <a:pt x="34116" y="400050"/>
                    <a:pt x="0" y="365934"/>
                    <a:pt x="0" y="323850"/>
                  </a:cubicBezTo>
                  <a:lnTo>
                    <a:pt x="0" y="76200"/>
                  </a:lnTo>
                  <a:cubicBezTo>
                    <a:pt x="0" y="34116"/>
                    <a:pt x="34116" y="0"/>
                    <a:pt x="76200" y="0"/>
                  </a:cubicBezTo>
                  <a:close/>
                </a:path>
              </a:pathLst>
            </a:custGeom>
            <a:solidFill>
              <a:schemeClr val="lt1"/>
            </a:solidFill>
            <a:ln w="9525">
              <a:solidFill>
                <a:schemeClr val="accent4"/>
              </a:solidFill>
            </a:ln>
          </p:spPr>
        </p:sp>
        <p:sp>
          <p:nvSpPr>
            <p:cNvPr id="57" name="TextBox 57"/>
            <p:cNvSpPr txBox="1"/>
            <p:nvPr/>
          </p:nvSpPr>
          <p:spPr>
            <a:xfrm>
              <a:off x="5666613" y="2858452"/>
              <a:ext cx="858774"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闭环发生位置</a:t>
              </a:r>
            </a:p>
          </p:txBody>
        </p:sp>
        <p:sp>
          <p:nvSpPr>
            <p:cNvPr id="58" name="Freeform 58"/>
            <p:cNvSpPr/>
            <p:nvPr/>
          </p:nvSpPr>
          <p:spPr>
            <a:xfrm>
              <a:off x="4972050" y="3486150"/>
              <a:ext cx="2247900" cy="552450"/>
            </a:xfrm>
            <a:custGeom>
              <a:avLst/>
              <a:gdLst/>
              <a:ahLst/>
              <a:cxnLst/>
              <a:rect l="l" t="t" r="r" b="b"/>
              <a:pathLst>
                <a:path w="2247900" h="552450">
                  <a:moveTo>
                    <a:pt x="95250" y="0"/>
                  </a:moveTo>
                  <a:lnTo>
                    <a:pt x="2152650" y="0"/>
                  </a:lnTo>
                  <a:cubicBezTo>
                    <a:pt x="2205255" y="0"/>
                    <a:pt x="2247900" y="42645"/>
                    <a:pt x="2247900" y="95250"/>
                  </a:cubicBezTo>
                  <a:lnTo>
                    <a:pt x="2247900" y="457200"/>
                  </a:lnTo>
                  <a:cubicBezTo>
                    <a:pt x="2247900" y="509805"/>
                    <a:pt x="2205255" y="552450"/>
                    <a:pt x="2152650" y="552450"/>
                  </a:cubicBezTo>
                  <a:lnTo>
                    <a:pt x="95250" y="552450"/>
                  </a:lnTo>
                  <a:cubicBezTo>
                    <a:pt x="42645" y="552450"/>
                    <a:pt x="0" y="509805"/>
                    <a:pt x="0" y="457200"/>
                  </a:cubicBezTo>
                  <a:lnTo>
                    <a:pt x="0" y="95250"/>
                  </a:lnTo>
                  <a:cubicBezTo>
                    <a:pt x="0" y="42645"/>
                    <a:pt x="42645" y="0"/>
                    <a:pt x="95250" y="0"/>
                  </a:cubicBezTo>
                  <a:close/>
                </a:path>
              </a:pathLst>
            </a:custGeom>
            <a:solidFill>
              <a:schemeClr val="lt1"/>
            </a:solidFill>
            <a:ln w="9525">
              <a:solidFill>
                <a:schemeClr val="accent4"/>
              </a:solidFill>
            </a:ln>
          </p:spPr>
        </p:sp>
        <p:sp>
          <p:nvSpPr>
            <p:cNvPr id="59" name="TextBox 59"/>
            <p:cNvSpPr txBox="1"/>
            <p:nvPr/>
          </p:nvSpPr>
          <p:spPr>
            <a:xfrm>
              <a:off x="5101209" y="3601402"/>
              <a:ext cx="1989582"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左侧：数据、分析、执行、度量</a:t>
              </a:r>
            </a:p>
          </p:txBody>
        </p:sp>
        <p:sp>
          <p:nvSpPr>
            <p:cNvPr id="60" name="TextBox 60"/>
            <p:cNvSpPr txBox="1"/>
            <p:nvPr/>
          </p:nvSpPr>
          <p:spPr>
            <a:xfrm>
              <a:off x="5595938" y="3791902"/>
              <a:ext cx="1000125" cy="205359"/>
            </a:xfrm>
            <a:prstGeom prst="rect">
              <a:avLst/>
            </a:prstGeom>
            <a:noFill/>
            <a:ln>
              <a:noFill/>
            </a:ln>
          </p:spPr>
          <p:txBody>
            <a:bodyPr wrap="none" lIns="0" tIns="0" rIns="0" bIns="0" anchor="t" anchorCtr="0">
              <a:spAutoFit/>
            </a:bodyPr>
            <a:lstStyle/>
            <a:p>
              <a:pPr algn="ctr"/>
              <a:r>
                <a:rPr lang="zh-CN" sz="1050" dirty="0">
                  <a:solidFill>
                    <a:schemeClr val="dk2"/>
                  </a:solidFill>
                  <a:latin typeface="+mn-lt"/>
                  <a:ea typeface="+mn-ea"/>
                  <a:cs typeface="+mn-cs"/>
                </a:rPr>
                <a:t>分散在不同系统</a:t>
              </a:r>
            </a:p>
          </p:txBody>
        </p:sp>
        <p:sp>
          <p:nvSpPr>
            <p:cNvPr id="61" name="Freeform 61"/>
            <p:cNvSpPr/>
            <p:nvPr/>
          </p:nvSpPr>
          <p:spPr>
            <a:xfrm>
              <a:off x="4972050" y="4514850"/>
              <a:ext cx="2247900" cy="552450"/>
            </a:xfrm>
            <a:custGeom>
              <a:avLst/>
              <a:gdLst/>
              <a:ahLst/>
              <a:cxnLst/>
              <a:rect l="l" t="t" r="r" b="b"/>
              <a:pathLst>
                <a:path w="2247900" h="552450">
                  <a:moveTo>
                    <a:pt x="95250" y="0"/>
                  </a:moveTo>
                  <a:lnTo>
                    <a:pt x="2152650" y="0"/>
                  </a:lnTo>
                  <a:cubicBezTo>
                    <a:pt x="2205255" y="0"/>
                    <a:pt x="2247900" y="42645"/>
                    <a:pt x="2247900" y="95250"/>
                  </a:cubicBezTo>
                  <a:lnTo>
                    <a:pt x="2247900" y="457200"/>
                  </a:lnTo>
                  <a:cubicBezTo>
                    <a:pt x="2247900" y="509805"/>
                    <a:pt x="2205255" y="552450"/>
                    <a:pt x="2152650" y="552450"/>
                  </a:cubicBezTo>
                  <a:lnTo>
                    <a:pt x="95250" y="552450"/>
                  </a:lnTo>
                  <a:cubicBezTo>
                    <a:pt x="42645" y="552450"/>
                    <a:pt x="0" y="509805"/>
                    <a:pt x="0" y="457200"/>
                  </a:cubicBezTo>
                  <a:lnTo>
                    <a:pt x="0" y="95250"/>
                  </a:lnTo>
                  <a:cubicBezTo>
                    <a:pt x="0" y="42645"/>
                    <a:pt x="42645" y="0"/>
                    <a:pt x="95250" y="0"/>
                  </a:cubicBezTo>
                  <a:close/>
                </a:path>
              </a:pathLst>
            </a:custGeom>
            <a:solidFill>
              <a:schemeClr val="lt1"/>
            </a:solidFill>
            <a:ln w="9525">
              <a:solidFill>
                <a:schemeClr val="accent3"/>
              </a:solidFill>
            </a:ln>
          </p:spPr>
        </p:sp>
        <p:sp>
          <p:nvSpPr>
            <p:cNvPr id="62" name="TextBox 62"/>
            <p:cNvSpPr txBox="1"/>
            <p:nvPr/>
          </p:nvSpPr>
          <p:spPr>
            <a:xfrm>
              <a:off x="5188953" y="4630102"/>
              <a:ext cx="1814093" cy="205359"/>
            </a:xfrm>
            <a:prstGeom prst="rect">
              <a:avLst/>
            </a:prstGeom>
            <a:noFill/>
            <a:ln>
              <a:noFill/>
            </a:ln>
          </p:spPr>
          <p:txBody>
            <a:bodyPr wrap="none" lIns="0" tIns="0" rIns="0" bIns="0" anchor="t" anchorCtr="0">
              <a:spAutoFit/>
            </a:bodyPr>
            <a:lstStyle/>
            <a:p>
              <a:pPr algn="ctr"/>
              <a:r>
                <a:rPr lang="zh-CN" sz="1050" b="1" dirty="0">
                  <a:solidFill>
                    <a:schemeClr val="accent2"/>
                  </a:solidFill>
                  <a:latin typeface="+mn-lt"/>
                  <a:ea typeface="+mn-ea"/>
                  <a:cs typeface="+mn-cs"/>
                </a:rPr>
                <a:t>右侧：数据→AI→编排→回传</a:t>
              </a:r>
            </a:p>
          </p:txBody>
        </p:sp>
        <p:sp>
          <p:nvSpPr>
            <p:cNvPr id="63" name="TextBox 63"/>
            <p:cNvSpPr txBox="1"/>
            <p:nvPr/>
          </p:nvSpPr>
          <p:spPr>
            <a:xfrm>
              <a:off x="5313236" y="4820602"/>
              <a:ext cx="1565529" cy="205359"/>
            </a:xfrm>
            <a:prstGeom prst="rect">
              <a:avLst/>
            </a:prstGeom>
            <a:noFill/>
            <a:ln>
              <a:noFill/>
            </a:ln>
          </p:spPr>
          <p:txBody>
            <a:bodyPr wrap="none" lIns="0" tIns="0" rIns="0" bIns="0" anchor="t" anchorCtr="0">
              <a:spAutoFit/>
            </a:bodyPr>
            <a:lstStyle/>
            <a:p>
              <a:pPr algn="ctr"/>
              <a:r>
                <a:rPr lang="zh-CN" sz="1050" dirty="0">
                  <a:solidFill>
                    <a:schemeClr val="accent2"/>
                  </a:solidFill>
                  <a:latin typeface="+mn-lt"/>
                  <a:ea typeface="+mn-ea"/>
                  <a:cs typeface="+mn-cs"/>
                </a:rPr>
                <a:t>在同一工作台内连续发生</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647700"/>
            <a:ext cx="12287250" cy="7981950"/>
            <a:chOff x="0" y="-647700"/>
            <a:chExt cx="12287250" cy="7981950"/>
          </a:xfrm>
        </p:grpSpPr>
        <p:sp>
          <p:nvSpPr>
            <p:cNvPr id="2" name="Rectangle 2"/>
            <p:cNvSpPr/>
            <p:nvPr/>
          </p:nvSpPr>
          <p:spPr>
            <a:xfrm>
              <a:off x="0" y="0"/>
              <a:ext cx="12192000" cy="6858000"/>
            </a:xfrm>
            <a:prstGeom prst="rect">
              <a:avLst/>
            </a:prstGeom>
            <a:solidFill>
              <a:schemeClr val="lt1"/>
            </a:solidFill>
            <a:ln>
              <a:noFill/>
            </a:ln>
          </p:spPr>
        </p:sp>
        <p:sp>
          <p:nvSpPr>
            <p:cNvPr id="3" name="Ellipse 3"/>
            <p:cNvSpPr/>
            <p:nvPr/>
          </p:nvSpPr>
          <p:spPr>
            <a:xfrm>
              <a:off x="8001000" y="-647700"/>
              <a:ext cx="3429000" cy="3429000"/>
            </a:xfrm>
            <a:prstGeom prst="ellipse">
              <a:avLst/>
            </a:prstGeom>
            <a:solidFill>
              <a:schemeClr val="accent2">
                <a:alpha val="8000"/>
              </a:schemeClr>
            </a:solidFill>
            <a:ln>
              <a:noFill/>
            </a:ln>
          </p:spPr>
        </p:sp>
        <p:sp>
          <p:nvSpPr>
            <p:cNvPr id="4" name="Ellipse 4"/>
            <p:cNvSpPr/>
            <p:nvPr/>
          </p:nvSpPr>
          <p:spPr>
            <a:xfrm>
              <a:off x="9429750" y="4476750"/>
              <a:ext cx="2857500" cy="2857500"/>
            </a:xfrm>
            <a:prstGeom prst="ellipse">
              <a:avLst/>
            </a:prstGeom>
            <a:solidFill>
              <a:schemeClr val="accent3">
                <a:alpha val="8000"/>
              </a:schemeClr>
            </a:solidFill>
            <a:ln>
              <a:noFill/>
            </a:ln>
          </p:spPr>
        </p:sp>
        <p:sp>
          <p:nvSpPr>
            <p:cNvPr id="5" name="Line 5"/>
            <p:cNvSpPr/>
            <p:nvPr/>
          </p:nvSpPr>
          <p:spPr>
            <a:xfrm>
              <a:off x="571500" y="114300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6" name="Line 6"/>
            <p:cNvSpPr/>
            <p:nvPr/>
          </p:nvSpPr>
          <p:spPr>
            <a:xfrm>
              <a:off x="571500" y="6477000"/>
              <a:ext cx="11049000" cy="9525"/>
            </a:xfrm>
            <a:custGeom>
              <a:avLst/>
              <a:gdLst/>
              <a:ahLst/>
              <a:cxnLst/>
              <a:rect l="l" t="t" r="r" b="b"/>
              <a:pathLst>
                <a:path w="11049000" h="9525">
                  <a:moveTo>
                    <a:pt x="0" y="0"/>
                  </a:moveTo>
                  <a:lnTo>
                    <a:pt x="11049000" y="0"/>
                  </a:lnTo>
                </a:path>
              </a:pathLst>
            </a:custGeom>
            <a:noFill/>
            <a:ln w="9525">
              <a:solidFill>
                <a:schemeClr val="accent4"/>
              </a:solidFill>
            </a:ln>
          </p:spPr>
        </p:sp>
      </p:grpSp>
      <p:grpSp>
        <p:nvGrpSpPr>
          <p:cNvPr id="12" name="Group 12"/>
          <p:cNvGrpSpPr/>
          <p:nvPr/>
        </p:nvGrpSpPr>
        <p:grpSpPr>
          <a:xfrm>
            <a:off x="557784" y="401002"/>
            <a:ext cx="10686479" cy="6386989"/>
            <a:chOff x="557784" y="401002"/>
            <a:chExt cx="10686479" cy="6386989"/>
          </a:xfrm>
        </p:grpSpPr>
        <p:sp>
          <p:nvSpPr>
            <p:cNvPr id="8" name="TextBox 8"/>
            <p:cNvSpPr txBox="1"/>
            <p:nvPr/>
          </p:nvSpPr>
          <p:spPr>
            <a:xfrm>
              <a:off x="566166" y="401002"/>
              <a:ext cx="874776" cy="205359"/>
            </a:xfrm>
            <a:prstGeom prst="rect">
              <a:avLst/>
            </a:prstGeom>
            <a:noFill/>
            <a:ln>
              <a:noFill/>
            </a:ln>
          </p:spPr>
          <p:txBody>
            <a:bodyPr wrap="none" lIns="0" tIns="0" rIns="0" bIns="0" anchor="t" anchorCtr="0">
              <a:spAutoFit/>
            </a:bodyPr>
            <a:lstStyle/>
            <a:p>
              <a:pPr algn="l"/>
              <a:r>
                <a:rPr lang="en-US" sz="1050" spc="90" dirty="0">
                  <a:solidFill>
                    <a:schemeClr val="accent2"/>
                  </a:solidFill>
                  <a:latin typeface="Consolas"/>
                  <a:ea typeface="Consolas"/>
                  <a:cs typeface="Consolas"/>
                </a:rPr>
                <a:t>PROOFGRID</a:t>
              </a:r>
            </a:p>
          </p:txBody>
        </p:sp>
        <p:sp>
          <p:nvSpPr>
            <p:cNvPr id="9" name="TextBox 9"/>
            <p:cNvSpPr txBox="1"/>
            <p:nvPr/>
          </p:nvSpPr>
          <p:spPr>
            <a:xfrm>
              <a:off x="557784" y="641985"/>
              <a:ext cx="4866437" cy="528066"/>
            </a:xfrm>
            <a:prstGeom prst="rect">
              <a:avLst/>
            </a:prstGeom>
            <a:noFill/>
            <a:ln>
              <a:noFill/>
            </a:ln>
          </p:spPr>
          <p:txBody>
            <a:bodyPr wrap="none" lIns="0" tIns="0" rIns="0" bIns="0" anchor="t" anchorCtr="0">
              <a:spAutoFit/>
            </a:bodyPr>
            <a:lstStyle/>
            <a:p>
              <a:pPr algn="l"/>
              <a:r>
                <a:rPr lang="zh-CN" sz="2700" b="1" dirty="0">
                  <a:gradFill>
                    <a:gsLst>
                      <a:gs pos="0">
                        <a:schemeClr val="accent1"/>
                      </a:gs>
                      <a:gs pos="100000">
                        <a:schemeClr val="accent2"/>
                      </a:gs>
                    </a:gsLst>
                    <a:lin ang="2700000" scaled="1"/>
                  </a:gradFill>
                  <a:latin typeface="+mj-lt"/>
                  <a:ea typeface="+mj-ea"/>
                  <a:cs typeface="+mj-cs"/>
                </a:rPr>
                <a:t>先行者已经拿到了真金白银</a:t>
              </a:r>
            </a:p>
          </p:txBody>
        </p:sp>
        <p:sp>
          <p:nvSpPr>
            <p:cNvPr id="10" name="TextBox 10"/>
            <p:cNvSpPr txBox="1"/>
            <p:nvPr/>
          </p:nvSpPr>
          <p:spPr>
            <a:xfrm>
              <a:off x="566738" y="6626066"/>
              <a:ext cx="131693"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05</a:t>
              </a:r>
            </a:p>
          </p:txBody>
        </p:sp>
        <p:sp>
          <p:nvSpPr>
            <p:cNvPr id="11" name="TextBox 11"/>
            <p:cNvSpPr txBox="1"/>
            <p:nvPr/>
          </p:nvSpPr>
          <p:spPr>
            <a:xfrm>
              <a:off x="10243147" y="6626066"/>
              <a:ext cx="1001116" cy="161925"/>
            </a:xfrm>
            <a:prstGeom prst="rect">
              <a:avLst/>
            </a:prstGeom>
            <a:noFill/>
            <a:ln>
              <a:noFill/>
            </a:ln>
          </p:spPr>
          <p:txBody>
            <a:bodyPr wrap="none" lIns="0" tIns="0" rIns="0" bIns="0" anchor="t" anchorCtr="0">
              <a:spAutoFit/>
            </a:bodyPr>
            <a:lstStyle/>
            <a:p>
              <a:pPr algn="r"/>
              <a:r>
                <a:rPr lang="zh-CN" sz="820" dirty="0">
                  <a:solidFill>
                    <a:schemeClr val="accent5"/>
                  </a:solidFill>
                  <a:latin typeface="+mn-lt"/>
                  <a:ea typeface="+mn-ea"/>
                  <a:cs typeface="+mn-cs"/>
                </a:rPr>
                <a:t>企业 AI 营销工作台</a:t>
              </a:r>
            </a:p>
          </p:txBody>
        </p:sp>
      </p:grpSp>
      <p:grpSp>
        <p:nvGrpSpPr>
          <p:cNvPr id="51" name="Group 51"/>
          <p:cNvGrpSpPr/>
          <p:nvPr/>
        </p:nvGrpSpPr>
        <p:grpSpPr>
          <a:xfrm>
            <a:off x="571500" y="1381125"/>
            <a:ext cx="11049000" cy="4981575"/>
            <a:chOff x="571500" y="1381125"/>
            <a:chExt cx="11049000" cy="4981575"/>
          </a:xfrm>
        </p:grpSpPr>
        <p:sp>
          <p:nvSpPr>
            <p:cNvPr id="13" name="Freeform 13"/>
            <p:cNvSpPr/>
            <p:nvPr/>
          </p:nvSpPr>
          <p:spPr>
            <a:xfrm>
              <a:off x="571500" y="1381125"/>
              <a:ext cx="11049000" cy="800100"/>
            </a:xfrm>
            <a:custGeom>
              <a:avLst/>
              <a:gdLst/>
              <a:ahLst/>
              <a:cxnLst/>
              <a:rect l="l" t="t" r="r" b="b"/>
              <a:pathLst>
                <a:path w="11049000" h="800100">
                  <a:moveTo>
                    <a:pt x="114300" y="0"/>
                  </a:moveTo>
                  <a:lnTo>
                    <a:pt x="10934700" y="0"/>
                  </a:lnTo>
                  <a:cubicBezTo>
                    <a:pt x="10997826" y="0"/>
                    <a:pt x="11049000" y="51174"/>
                    <a:pt x="11049000" y="114300"/>
                  </a:cubicBezTo>
                  <a:lnTo>
                    <a:pt x="11049000" y="685800"/>
                  </a:lnTo>
                  <a:cubicBezTo>
                    <a:pt x="11049000" y="748926"/>
                    <a:pt x="10997826" y="800100"/>
                    <a:pt x="10934700" y="800100"/>
                  </a:cubicBezTo>
                  <a:lnTo>
                    <a:pt x="114300" y="800100"/>
                  </a:lnTo>
                  <a:cubicBezTo>
                    <a:pt x="51174" y="800100"/>
                    <a:pt x="0" y="748926"/>
                    <a:pt x="0" y="685800"/>
                  </a:cubicBezTo>
                  <a:lnTo>
                    <a:pt x="0" y="114300"/>
                  </a:lnTo>
                  <a:cubicBezTo>
                    <a:pt x="0" y="51174"/>
                    <a:pt x="51174" y="0"/>
                    <a:pt x="114300" y="0"/>
                  </a:cubicBezTo>
                  <a:close/>
                </a:path>
              </a:pathLst>
            </a:custGeom>
            <a:gradFill>
              <a:gsLst>
                <a:gs pos="0">
                  <a:schemeClr val="accent6"/>
                </a:gs>
                <a:gs pos="100000">
                  <a:schemeClr val="lt2"/>
                </a:gs>
              </a:gsLst>
              <a:lin ang="0" scaled="1"/>
            </a:gradFill>
            <a:ln w="9525">
              <a:solidFill>
                <a:schemeClr val="accent4"/>
              </a:solidFill>
            </a:ln>
          </p:spPr>
        </p:sp>
        <p:sp>
          <p:nvSpPr>
            <p:cNvPr id="14" name="TextBox 14"/>
            <p:cNvSpPr txBox="1"/>
            <p:nvPr/>
          </p:nvSpPr>
          <p:spPr>
            <a:xfrm>
              <a:off x="829818" y="1526858"/>
              <a:ext cx="167269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12个月实测样本</a:t>
              </a:r>
            </a:p>
          </p:txBody>
        </p:sp>
        <p:sp>
          <p:nvSpPr>
            <p:cNvPr id="15" name="TextBox 15"/>
            <p:cNvSpPr txBox="1"/>
            <p:nvPr/>
          </p:nvSpPr>
          <p:spPr>
            <a:xfrm>
              <a:off x="830580" y="1809750"/>
              <a:ext cx="7695497"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以下结果来自同行业在 AWS / GCP / Azure 上部署同类 AI 营销工作台的实测数据，</a:t>
              </a:r>
            </a:p>
          </p:txBody>
        </p:sp>
        <p:sp>
          <p:nvSpPr>
            <p:cNvPr id="16" name="TextBox 16"/>
            <p:cNvSpPr txBox="1"/>
            <p:nvPr/>
          </p:nvSpPr>
          <p:spPr>
            <a:xfrm>
              <a:off x="830580" y="2057400"/>
              <a:ext cx="7514844"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验证数据整合、AI 分析、自动化执行与效果度量一体化后可直接兑现经营收益。</a:t>
              </a:r>
            </a:p>
          </p:txBody>
        </p:sp>
        <p:sp>
          <p:nvSpPr>
            <p:cNvPr id="17" name="Freeform 17"/>
            <p:cNvSpPr/>
            <p:nvPr/>
          </p:nvSpPr>
          <p:spPr>
            <a:xfrm>
              <a:off x="571500" y="2447925"/>
              <a:ext cx="3429000" cy="3381375"/>
            </a:xfrm>
            <a:custGeom>
              <a:avLst/>
              <a:gdLst/>
              <a:ahLst/>
              <a:cxnLst/>
              <a:rect l="l" t="t" r="r" b="b"/>
              <a:pathLst>
                <a:path w="3429000" h="3381375">
                  <a:moveTo>
                    <a:pt x="114300" y="0"/>
                  </a:moveTo>
                  <a:lnTo>
                    <a:pt x="3314700" y="0"/>
                  </a:lnTo>
                  <a:cubicBezTo>
                    <a:pt x="3377826" y="0"/>
                    <a:pt x="3429000" y="51174"/>
                    <a:pt x="3429000" y="114300"/>
                  </a:cubicBezTo>
                  <a:lnTo>
                    <a:pt x="3429000" y="3267075"/>
                  </a:lnTo>
                  <a:cubicBezTo>
                    <a:pt x="3429000" y="3330201"/>
                    <a:pt x="3377826" y="3381375"/>
                    <a:pt x="3314700" y="3381375"/>
                  </a:cubicBezTo>
                  <a:lnTo>
                    <a:pt x="114300" y="3381375"/>
                  </a:lnTo>
                  <a:cubicBezTo>
                    <a:pt x="51174" y="3381375"/>
                    <a:pt x="0" y="3330201"/>
                    <a:pt x="0" y="3267075"/>
                  </a:cubicBezTo>
                  <a:lnTo>
                    <a:pt x="0" y="114300"/>
                  </a:lnTo>
                  <a:cubicBezTo>
                    <a:pt x="0" y="51174"/>
                    <a:pt x="51174" y="0"/>
                    <a:pt x="114300" y="0"/>
                  </a:cubicBezTo>
                  <a:close/>
                </a:path>
              </a:pathLst>
            </a:custGeom>
            <a:solidFill>
              <a:schemeClr val="lt2"/>
            </a:solidFill>
            <a:ln w="14288">
              <a:solidFill>
                <a:schemeClr val="accent4"/>
              </a:solidFill>
            </a:ln>
          </p:spPr>
        </p:sp>
        <p:sp>
          <p:nvSpPr>
            <p:cNvPr id="18" name="Rectangle 18"/>
            <p:cNvSpPr/>
            <p:nvPr/>
          </p:nvSpPr>
          <p:spPr>
            <a:xfrm>
              <a:off x="571500" y="2447925"/>
              <a:ext cx="3429000" cy="76200"/>
            </a:xfrm>
            <a:prstGeom prst="rect">
              <a:avLst/>
            </a:prstGeom>
            <a:solidFill>
              <a:schemeClr val="accent2"/>
            </a:solidFill>
            <a:ln>
              <a:noFill/>
            </a:ln>
          </p:spPr>
        </p:sp>
        <p:sp>
          <p:nvSpPr>
            <p:cNvPr id="19" name="TextBox 19"/>
            <p:cNvSpPr txBox="1"/>
            <p:nvPr/>
          </p:nvSpPr>
          <p:spPr>
            <a:xfrm>
              <a:off x="832866" y="2753678"/>
              <a:ext cx="966521" cy="205359"/>
            </a:xfrm>
            <a:prstGeom prst="rect">
              <a:avLst/>
            </a:prstGeom>
            <a:noFill/>
            <a:ln>
              <a:noFill/>
            </a:ln>
          </p:spPr>
          <p:txBody>
            <a:bodyPr wrap="none" lIns="0" tIns="0" rIns="0" bIns="0" anchor="t" anchorCtr="0">
              <a:spAutoFit/>
            </a:bodyPr>
            <a:lstStyle/>
            <a:p>
              <a:pPr algn="l"/>
              <a:r>
                <a:rPr lang="en-US" sz="1050" dirty="0">
                  <a:solidFill>
                    <a:schemeClr val="accent2"/>
                  </a:solidFill>
                  <a:latin typeface="Consolas"/>
                  <a:ea typeface="Consolas"/>
                  <a:cs typeface="Consolas"/>
                </a:rPr>
                <a:t>CASE 01 / D2C</a:t>
              </a:r>
            </a:p>
          </p:txBody>
        </p:sp>
        <p:sp>
          <p:nvSpPr>
            <p:cNvPr id="20" name="TextBox 20"/>
            <p:cNvSpPr txBox="1"/>
            <p:nvPr/>
          </p:nvSpPr>
          <p:spPr>
            <a:xfrm>
              <a:off x="822960" y="3028950"/>
              <a:ext cx="110581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+32%</a:t>
              </a:r>
            </a:p>
          </p:txBody>
        </p:sp>
        <p:sp>
          <p:nvSpPr>
            <p:cNvPr id="21" name="TextBox 21"/>
            <p:cNvSpPr txBox="1"/>
            <p:nvPr/>
          </p:nvSpPr>
          <p:spPr>
            <a:xfrm>
              <a:off x="829056" y="3463290"/>
              <a:ext cx="205374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客户生命周期价值</a:t>
              </a:r>
            </a:p>
          </p:txBody>
        </p:sp>
        <p:sp>
          <p:nvSpPr>
            <p:cNvPr id="22" name="Line 22"/>
            <p:cNvSpPr/>
            <p:nvPr/>
          </p:nvSpPr>
          <p:spPr>
            <a:xfrm>
              <a:off x="838200" y="3905250"/>
              <a:ext cx="2895600" cy="9525"/>
            </a:xfrm>
            <a:custGeom>
              <a:avLst/>
              <a:gdLst/>
              <a:ahLst/>
              <a:cxnLst/>
              <a:rect l="l" t="t" r="r" b="b"/>
              <a:pathLst>
                <a:path w="2895600" h="9525">
                  <a:moveTo>
                    <a:pt x="0" y="0"/>
                  </a:moveTo>
                  <a:lnTo>
                    <a:pt x="2895600" y="0"/>
                  </a:lnTo>
                </a:path>
              </a:pathLst>
            </a:custGeom>
            <a:noFill/>
            <a:ln w="9525">
              <a:solidFill>
                <a:schemeClr val="accent4"/>
              </a:solidFill>
            </a:ln>
          </p:spPr>
        </p:sp>
        <p:sp>
          <p:nvSpPr>
            <p:cNvPr id="23" name="TextBox 23"/>
            <p:cNvSpPr txBox="1"/>
            <p:nvPr/>
          </p:nvSpPr>
          <p:spPr>
            <a:xfrm>
              <a:off x="830961" y="4075271"/>
              <a:ext cx="2124647"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整合线上线下行为数据，</a:t>
              </a:r>
            </a:p>
          </p:txBody>
        </p:sp>
        <p:sp>
          <p:nvSpPr>
            <p:cNvPr id="24" name="TextBox 24"/>
            <p:cNvSpPr txBox="1"/>
            <p:nvPr/>
          </p:nvSpPr>
          <p:spPr>
            <a:xfrm>
              <a:off x="830961" y="4341971"/>
              <a:ext cx="1929917"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用 AI 个性化推荐驱动</a:t>
              </a:r>
            </a:p>
          </p:txBody>
        </p:sp>
        <p:sp>
          <p:nvSpPr>
            <p:cNvPr id="25" name="TextBox 25"/>
            <p:cNvSpPr txBox="1"/>
            <p:nvPr/>
          </p:nvSpPr>
          <p:spPr>
            <a:xfrm>
              <a:off x="830961" y="4608671"/>
              <a:ext cx="2124647"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高价值人群复购与加购。</a:t>
              </a:r>
            </a:p>
          </p:txBody>
        </p:sp>
        <p:sp>
          <p:nvSpPr>
            <p:cNvPr id="26" name="TextBox 26"/>
            <p:cNvSpPr txBox="1"/>
            <p:nvPr/>
          </p:nvSpPr>
          <p:spPr>
            <a:xfrm>
              <a:off x="829818" y="5041582"/>
              <a:ext cx="2384040" cy="322707"/>
            </a:xfrm>
            <a:prstGeom prst="rect">
              <a:avLst/>
            </a:prstGeom>
            <a:noFill/>
            <a:ln>
              <a:noFill/>
            </a:ln>
          </p:spPr>
          <p:txBody>
            <a:bodyPr wrap="none" lIns="0" tIns="0" rIns="0" bIns="0" anchor="t" anchorCtr="0">
              <a:spAutoFit/>
            </a:bodyPr>
            <a:lstStyle/>
            <a:p>
              <a:pPr algn="l"/>
              <a:r>
                <a:rPr lang="zh-CN" sz="1650" b="1" dirty="0">
                  <a:solidFill>
                    <a:srgbClr val="2F855A"/>
                  </a:solidFill>
                  <a:latin typeface="+mn-lt"/>
                  <a:ea typeface="+mn-ea"/>
                  <a:cs typeface="+mn-cs"/>
                </a:rPr>
                <a:t>退货率下降 5 个百分点</a:t>
              </a:r>
            </a:p>
          </p:txBody>
        </p:sp>
        <p:sp>
          <p:nvSpPr>
            <p:cNvPr id="27" name="TextBox 27"/>
            <p:cNvSpPr txBox="1"/>
            <p:nvPr/>
          </p:nvSpPr>
          <p:spPr>
            <a:xfrm>
              <a:off x="832104" y="5394960"/>
              <a:ext cx="1603400"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6 个月内完成效果验证</a:t>
              </a:r>
            </a:p>
          </p:txBody>
        </p:sp>
        <p:sp>
          <p:nvSpPr>
            <p:cNvPr id="28" name="Freeform 28"/>
            <p:cNvSpPr/>
            <p:nvPr/>
          </p:nvSpPr>
          <p:spPr>
            <a:xfrm>
              <a:off x="4381500" y="2447925"/>
              <a:ext cx="3429000" cy="3381375"/>
            </a:xfrm>
            <a:custGeom>
              <a:avLst/>
              <a:gdLst/>
              <a:ahLst/>
              <a:cxnLst/>
              <a:rect l="l" t="t" r="r" b="b"/>
              <a:pathLst>
                <a:path w="3429000" h="3381375">
                  <a:moveTo>
                    <a:pt x="114300" y="0"/>
                  </a:moveTo>
                  <a:lnTo>
                    <a:pt x="3314700" y="0"/>
                  </a:lnTo>
                  <a:cubicBezTo>
                    <a:pt x="3377826" y="0"/>
                    <a:pt x="3429000" y="51174"/>
                    <a:pt x="3429000" y="114300"/>
                  </a:cubicBezTo>
                  <a:lnTo>
                    <a:pt x="3429000" y="3267075"/>
                  </a:lnTo>
                  <a:cubicBezTo>
                    <a:pt x="3429000" y="3330201"/>
                    <a:pt x="3377826" y="3381375"/>
                    <a:pt x="3314700" y="3381375"/>
                  </a:cubicBezTo>
                  <a:lnTo>
                    <a:pt x="114300" y="3381375"/>
                  </a:lnTo>
                  <a:cubicBezTo>
                    <a:pt x="51174" y="3381375"/>
                    <a:pt x="0" y="3330201"/>
                    <a:pt x="0" y="3267075"/>
                  </a:cubicBezTo>
                  <a:lnTo>
                    <a:pt x="0" y="114300"/>
                  </a:lnTo>
                  <a:cubicBezTo>
                    <a:pt x="0" y="51174"/>
                    <a:pt x="51174" y="0"/>
                    <a:pt x="114300" y="0"/>
                  </a:cubicBezTo>
                  <a:close/>
                </a:path>
              </a:pathLst>
            </a:custGeom>
            <a:solidFill>
              <a:schemeClr val="lt2"/>
            </a:solidFill>
            <a:ln w="14288">
              <a:solidFill>
                <a:schemeClr val="accent4"/>
              </a:solidFill>
            </a:ln>
          </p:spPr>
        </p:sp>
        <p:sp>
          <p:nvSpPr>
            <p:cNvPr id="29" name="Rectangle 29"/>
            <p:cNvSpPr/>
            <p:nvPr/>
          </p:nvSpPr>
          <p:spPr>
            <a:xfrm>
              <a:off x="4381500" y="2447925"/>
              <a:ext cx="3429000" cy="76200"/>
            </a:xfrm>
            <a:prstGeom prst="rect">
              <a:avLst/>
            </a:prstGeom>
            <a:solidFill>
              <a:schemeClr val="accent2"/>
            </a:solidFill>
            <a:ln>
              <a:noFill/>
            </a:ln>
          </p:spPr>
        </p:sp>
        <p:sp>
          <p:nvSpPr>
            <p:cNvPr id="30" name="TextBox 30"/>
            <p:cNvSpPr txBox="1"/>
            <p:nvPr/>
          </p:nvSpPr>
          <p:spPr>
            <a:xfrm>
              <a:off x="4642866" y="2753678"/>
              <a:ext cx="1257757" cy="205359"/>
            </a:xfrm>
            <a:prstGeom prst="rect">
              <a:avLst/>
            </a:prstGeom>
            <a:noFill/>
            <a:ln>
              <a:noFill/>
            </a:ln>
          </p:spPr>
          <p:txBody>
            <a:bodyPr wrap="none" lIns="0" tIns="0" rIns="0" bIns="0" anchor="t" anchorCtr="0">
              <a:spAutoFit/>
            </a:bodyPr>
            <a:lstStyle/>
            <a:p>
              <a:pPr algn="l"/>
              <a:r>
                <a:rPr lang="en-US" sz="1050" dirty="0">
                  <a:solidFill>
                    <a:schemeClr val="accent2"/>
                  </a:solidFill>
                  <a:latin typeface="Consolas"/>
                  <a:ea typeface="Consolas"/>
                  <a:cs typeface="Consolas"/>
                </a:rPr>
                <a:t>CASE 02 / FINANCE</a:t>
              </a:r>
            </a:p>
          </p:txBody>
        </p:sp>
        <p:sp>
          <p:nvSpPr>
            <p:cNvPr id="31" name="TextBox 31"/>
            <p:cNvSpPr txBox="1"/>
            <p:nvPr/>
          </p:nvSpPr>
          <p:spPr>
            <a:xfrm>
              <a:off x="4632960" y="3028950"/>
              <a:ext cx="236037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14天→4小时</a:t>
              </a:r>
            </a:p>
          </p:txBody>
        </p:sp>
        <p:sp>
          <p:nvSpPr>
            <p:cNvPr id="32" name="TextBox 32"/>
            <p:cNvSpPr txBox="1"/>
            <p:nvPr/>
          </p:nvSpPr>
          <p:spPr>
            <a:xfrm>
              <a:off x="4639056" y="34632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活动启动时间</a:t>
              </a:r>
            </a:p>
          </p:txBody>
        </p:sp>
        <p:sp>
          <p:nvSpPr>
            <p:cNvPr id="33" name="Line 33"/>
            <p:cNvSpPr/>
            <p:nvPr/>
          </p:nvSpPr>
          <p:spPr>
            <a:xfrm>
              <a:off x="4648200" y="3905250"/>
              <a:ext cx="2895600" cy="9525"/>
            </a:xfrm>
            <a:custGeom>
              <a:avLst/>
              <a:gdLst/>
              <a:ahLst/>
              <a:cxnLst/>
              <a:rect l="l" t="t" r="r" b="b"/>
              <a:pathLst>
                <a:path w="2895600" h="9525">
                  <a:moveTo>
                    <a:pt x="0" y="0"/>
                  </a:moveTo>
                  <a:lnTo>
                    <a:pt x="2895600" y="0"/>
                  </a:lnTo>
                </a:path>
              </a:pathLst>
            </a:custGeom>
            <a:noFill/>
            <a:ln w="9525">
              <a:solidFill>
                <a:schemeClr val="accent4"/>
              </a:solidFill>
            </a:ln>
          </p:spPr>
        </p:sp>
        <p:sp>
          <p:nvSpPr>
            <p:cNvPr id="34" name="TextBox 34"/>
            <p:cNvSpPr txBox="1"/>
            <p:nvPr/>
          </p:nvSpPr>
          <p:spPr>
            <a:xfrm>
              <a:off x="4640961" y="4075271"/>
              <a:ext cx="1932813"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自动化工作流引擎接入</a:t>
              </a:r>
            </a:p>
          </p:txBody>
        </p:sp>
        <p:sp>
          <p:nvSpPr>
            <p:cNvPr id="35" name="TextBox 35"/>
            <p:cNvSpPr txBox="1"/>
            <p:nvPr/>
          </p:nvSpPr>
          <p:spPr>
            <a:xfrm>
              <a:off x="4640961" y="4341971"/>
              <a:ext cx="1932813"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预训练模型与审批链，</a:t>
              </a:r>
            </a:p>
          </p:txBody>
        </p:sp>
        <p:sp>
          <p:nvSpPr>
            <p:cNvPr id="36" name="TextBox 36"/>
            <p:cNvSpPr txBox="1"/>
            <p:nvPr/>
          </p:nvSpPr>
          <p:spPr>
            <a:xfrm>
              <a:off x="4640961" y="4608671"/>
              <a:ext cx="2345255"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跨渠道活动上线提速 80%。</a:t>
              </a:r>
            </a:p>
          </p:txBody>
        </p:sp>
        <p:sp>
          <p:nvSpPr>
            <p:cNvPr id="37" name="TextBox 37"/>
            <p:cNvSpPr txBox="1"/>
            <p:nvPr/>
          </p:nvSpPr>
          <p:spPr>
            <a:xfrm>
              <a:off x="4639818" y="5041582"/>
              <a:ext cx="258228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合规审批仍保留在流程内</a:t>
              </a:r>
            </a:p>
          </p:txBody>
        </p:sp>
        <p:sp>
          <p:nvSpPr>
            <p:cNvPr id="38" name="TextBox 38"/>
            <p:cNvSpPr txBox="1"/>
            <p:nvPr/>
          </p:nvSpPr>
          <p:spPr>
            <a:xfrm>
              <a:off x="4642104" y="5394960"/>
              <a:ext cx="1627632"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实现分钟级编排与发布</a:t>
              </a:r>
            </a:p>
          </p:txBody>
        </p:sp>
        <p:sp>
          <p:nvSpPr>
            <p:cNvPr id="39" name="Freeform 39"/>
            <p:cNvSpPr/>
            <p:nvPr/>
          </p:nvSpPr>
          <p:spPr>
            <a:xfrm>
              <a:off x="8191500" y="2447925"/>
              <a:ext cx="3429000" cy="3381375"/>
            </a:xfrm>
            <a:custGeom>
              <a:avLst/>
              <a:gdLst/>
              <a:ahLst/>
              <a:cxnLst/>
              <a:rect l="l" t="t" r="r" b="b"/>
              <a:pathLst>
                <a:path w="3429000" h="3381375">
                  <a:moveTo>
                    <a:pt x="114300" y="0"/>
                  </a:moveTo>
                  <a:lnTo>
                    <a:pt x="3314700" y="0"/>
                  </a:lnTo>
                  <a:cubicBezTo>
                    <a:pt x="3377826" y="0"/>
                    <a:pt x="3429000" y="51174"/>
                    <a:pt x="3429000" y="114300"/>
                  </a:cubicBezTo>
                  <a:lnTo>
                    <a:pt x="3429000" y="3267075"/>
                  </a:lnTo>
                  <a:cubicBezTo>
                    <a:pt x="3429000" y="3330201"/>
                    <a:pt x="3377826" y="3381375"/>
                    <a:pt x="3314700" y="3381375"/>
                  </a:cubicBezTo>
                  <a:lnTo>
                    <a:pt x="114300" y="3381375"/>
                  </a:lnTo>
                  <a:cubicBezTo>
                    <a:pt x="51174" y="3381375"/>
                    <a:pt x="0" y="3330201"/>
                    <a:pt x="0" y="3267075"/>
                  </a:cubicBezTo>
                  <a:lnTo>
                    <a:pt x="0" y="114300"/>
                  </a:lnTo>
                  <a:cubicBezTo>
                    <a:pt x="0" y="51174"/>
                    <a:pt x="51174" y="0"/>
                    <a:pt x="114300" y="0"/>
                  </a:cubicBezTo>
                  <a:close/>
                </a:path>
              </a:pathLst>
            </a:custGeom>
            <a:solidFill>
              <a:schemeClr val="lt2"/>
            </a:solidFill>
            <a:ln w="14288">
              <a:solidFill>
                <a:schemeClr val="accent4"/>
              </a:solidFill>
            </a:ln>
          </p:spPr>
        </p:sp>
        <p:sp>
          <p:nvSpPr>
            <p:cNvPr id="40" name="Rectangle 40"/>
            <p:cNvSpPr/>
            <p:nvPr/>
          </p:nvSpPr>
          <p:spPr>
            <a:xfrm>
              <a:off x="8191500" y="2447925"/>
              <a:ext cx="3429000" cy="76200"/>
            </a:xfrm>
            <a:prstGeom prst="rect">
              <a:avLst/>
            </a:prstGeom>
            <a:solidFill>
              <a:schemeClr val="accent2"/>
            </a:solidFill>
            <a:ln>
              <a:noFill/>
            </a:ln>
          </p:spPr>
        </p:sp>
        <p:sp>
          <p:nvSpPr>
            <p:cNvPr id="41" name="TextBox 41"/>
            <p:cNvSpPr txBox="1"/>
            <p:nvPr/>
          </p:nvSpPr>
          <p:spPr>
            <a:xfrm>
              <a:off x="8452866" y="2753678"/>
              <a:ext cx="1339901" cy="205359"/>
            </a:xfrm>
            <a:prstGeom prst="rect">
              <a:avLst/>
            </a:prstGeom>
            <a:noFill/>
            <a:ln>
              <a:noFill/>
            </a:ln>
          </p:spPr>
          <p:txBody>
            <a:bodyPr wrap="none" lIns="0" tIns="0" rIns="0" bIns="0" anchor="t" anchorCtr="0">
              <a:spAutoFit/>
            </a:bodyPr>
            <a:lstStyle/>
            <a:p>
              <a:pPr algn="l"/>
              <a:r>
                <a:rPr lang="en-US" sz="1050" dirty="0">
                  <a:solidFill>
                    <a:schemeClr val="accent2"/>
                  </a:solidFill>
                  <a:latin typeface="Consolas"/>
                  <a:ea typeface="Consolas"/>
                  <a:cs typeface="Consolas"/>
                </a:rPr>
                <a:t>CASE 03 / B2B TECH</a:t>
              </a:r>
            </a:p>
          </p:txBody>
        </p:sp>
        <p:sp>
          <p:nvSpPr>
            <p:cNvPr id="42" name="TextBox 42"/>
            <p:cNvSpPr txBox="1"/>
            <p:nvPr/>
          </p:nvSpPr>
          <p:spPr>
            <a:xfrm>
              <a:off x="8442960" y="3028950"/>
              <a:ext cx="110581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-41%</a:t>
              </a:r>
            </a:p>
          </p:txBody>
        </p:sp>
        <p:sp>
          <p:nvSpPr>
            <p:cNvPr id="43" name="TextBox 43"/>
            <p:cNvSpPr txBox="1"/>
            <p:nvPr/>
          </p:nvSpPr>
          <p:spPr>
            <a:xfrm>
              <a:off x="8449056" y="3463290"/>
              <a:ext cx="1036015"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获客成本</a:t>
              </a:r>
            </a:p>
          </p:txBody>
        </p:sp>
        <p:sp>
          <p:nvSpPr>
            <p:cNvPr id="44" name="Line 44"/>
            <p:cNvSpPr/>
            <p:nvPr/>
          </p:nvSpPr>
          <p:spPr>
            <a:xfrm>
              <a:off x="8458200" y="3905250"/>
              <a:ext cx="2895600" cy="9525"/>
            </a:xfrm>
            <a:custGeom>
              <a:avLst/>
              <a:gdLst/>
              <a:ahLst/>
              <a:cxnLst/>
              <a:rect l="l" t="t" r="r" b="b"/>
              <a:pathLst>
                <a:path w="2895600" h="9525">
                  <a:moveTo>
                    <a:pt x="0" y="0"/>
                  </a:moveTo>
                  <a:lnTo>
                    <a:pt x="2895600" y="0"/>
                  </a:lnTo>
                </a:path>
              </a:pathLst>
            </a:custGeom>
            <a:noFill/>
            <a:ln w="9525">
              <a:solidFill>
                <a:schemeClr val="accent4"/>
              </a:solidFill>
            </a:ln>
          </p:spPr>
        </p:sp>
        <p:sp>
          <p:nvSpPr>
            <p:cNvPr id="45" name="TextBox 45"/>
            <p:cNvSpPr txBox="1"/>
            <p:nvPr/>
          </p:nvSpPr>
          <p:spPr>
            <a:xfrm>
              <a:off x="8450961" y="4075271"/>
              <a:ext cx="1808302"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打通意图数据、CRM</a:t>
              </a:r>
            </a:p>
          </p:txBody>
        </p:sp>
        <p:sp>
          <p:nvSpPr>
            <p:cNvPr id="46" name="TextBox 46"/>
            <p:cNvSpPr txBox="1"/>
            <p:nvPr/>
          </p:nvSpPr>
          <p:spPr>
            <a:xfrm>
              <a:off x="8450961" y="4341971"/>
              <a:ext cx="1932813"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与广告投放三方数据，</a:t>
              </a:r>
            </a:p>
          </p:txBody>
        </p:sp>
        <p:sp>
          <p:nvSpPr>
            <p:cNvPr id="47" name="TextBox 47"/>
            <p:cNvSpPr txBox="1"/>
            <p:nvPr/>
          </p:nvSpPr>
          <p:spPr>
            <a:xfrm>
              <a:off x="8450961" y="4608671"/>
              <a:ext cx="2882570" cy="278702"/>
            </a:xfrm>
            <a:prstGeom prst="rect">
              <a:avLst/>
            </a:prstGeom>
            <a:noFill/>
            <a:ln>
              <a:noFill/>
            </a:ln>
          </p:spPr>
          <p:txBody>
            <a:bodyPr wrap="none" lIns="0" tIns="0" rIns="0" bIns="0" anchor="t" anchorCtr="0">
              <a:spAutoFit/>
            </a:bodyPr>
            <a:lstStyle/>
            <a:p>
              <a:pPr algn="l"/>
              <a:r>
                <a:rPr lang="zh-CN" sz="1420" dirty="0">
                  <a:solidFill>
                    <a:schemeClr val="dk2"/>
                  </a:solidFill>
                  <a:latin typeface="+mn-lt"/>
                  <a:ea typeface="+mn-ea"/>
                  <a:cs typeface="+mn-cs"/>
                </a:rPr>
                <a:t>AI 动态分配预算到高意向渠道。</a:t>
              </a:r>
            </a:p>
          </p:txBody>
        </p:sp>
        <p:sp>
          <p:nvSpPr>
            <p:cNvPr id="48" name="TextBox 48"/>
            <p:cNvSpPr txBox="1"/>
            <p:nvPr/>
          </p:nvSpPr>
          <p:spPr>
            <a:xfrm>
              <a:off x="8449818" y="5041582"/>
              <a:ext cx="3048743" cy="322707"/>
            </a:xfrm>
            <a:prstGeom prst="rect">
              <a:avLst/>
            </a:prstGeom>
            <a:noFill/>
            <a:ln>
              <a:noFill/>
            </a:ln>
          </p:spPr>
          <p:txBody>
            <a:bodyPr wrap="none" lIns="0" tIns="0" rIns="0" bIns="0" anchor="t" anchorCtr="0">
              <a:spAutoFit/>
            </a:bodyPr>
            <a:lstStyle/>
            <a:p>
              <a:pPr algn="l"/>
              <a:r>
                <a:rPr lang="zh-CN" sz="1650" b="1" dirty="0">
                  <a:solidFill>
                    <a:srgbClr val="2F855A"/>
                  </a:solidFill>
                  <a:latin typeface="+mn-lt"/>
                  <a:ea typeface="+mn-ea"/>
                  <a:cs typeface="+mn-cs"/>
                </a:rPr>
                <a:t>转化率翻倍，前三季度超目标</a:t>
              </a:r>
            </a:p>
          </p:txBody>
        </p:sp>
        <p:sp>
          <p:nvSpPr>
            <p:cNvPr id="49" name="TextBox 49"/>
            <p:cNvSpPr txBox="1"/>
            <p:nvPr/>
          </p:nvSpPr>
          <p:spPr>
            <a:xfrm>
              <a:off x="8452104" y="5394960"/>
              <a:ext cx="1789176"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预算分配从周级变为日级</a:t>
              </a:r>
            </a:p>
          </p:txBody>
        </p:sp>
        <p:sp>
          <p:nvSpPr>
            <p:cNvPr id="50" name="Freeform 50"/>
            <p:cNvSpPr/>
            <p:nvPr/>
          </p:nvSpPr>
          <p:spPr>
            <a:xfrm>
              <a:off x="571500" y="6019800"/>
              <a:ext cx="11049000" cy="342900"/>
            </a:xfrm>
            <a:custGeom>
              <a:avLst/>
              <a:gdLst/>
              <a:ahLst/>
              <a:cxnLst/>
              <a:rect l="l" t="t" r="r" b="b"/>
              <a:pathLst>
                <a:path w="11049000" h="342900">
                  <a:moveTo>
                    <a:pt x="95250" y="0"/>
                  </a:moveTo>
                  <a:lnTo>
                    <a:pt x="10953750" y="0"/>
                  </a:lnTo>
                  <a:cubicBezTo>
                    <a:pt x="11006355" y="0"/>
                    <a:pt x="11049000" y="42645"/>
                    <a:pt x="11049000" y="95250"/>
                  </a:cubicBezTo>
                  <a:lnTo>
                    <a:pt x="11049000" y="247650"/>
                  </a:lnTo>
                  <a:cubicBezTo>
                    <a:pt x="11049000" y="300255"/>
                    <a:pt x="11006355" y="342900"/>
                    <a:pt x="10953750" y="342900"/>
                  </a:cubicBezTo>
                  <a:lnTo>
                    <a:pt x="95250" y="342900"/>
                  </a:lnTo>
                  <a:cubicBezTo>
                    <a:pt x="42645" y="342900"/>
                    <a:pt x="0" y="300255"/>
                    <a:pt x="0" y="247650"/>
                  </a:cubicBezTo>
                  <a:lnTo>
                    <a:pt x="0" y="95250"/>
                  </a:lnTo>
                  <a:cubicBezTo>
                    <a:pt x="0" y="42645"/>
                    <a:pt x="42645" y="0"/>
                    <a:pt x="95250" y="0"/>
                  </a:cubicBezTo>
                  <a:close/>
                </a:path>
              </a:pathLst>
            </a:custGeom>
            <a:solidFill>
              <a:schemeClr val="accent1"/>
            </a:solidFill>
            <a:ln>
              <a:noFill/>
            </a:ln>
          </p:spPr>
        </p:sp>
      </p:grpSp>
      <p:grpSp>
        <p:nvGrpSpPr>
          <p:cNvPr id="58" name="Group 58"/>
          <p:cNvGrpSpPr/>
          <p:nvPr/>
        </p:nvGrpSpPr>
        <p:grpSpPr>
          <a:xfrm>
            <a:off x="3695700" y="5143500"/>
            <a:ext cx="7410450" cy="876300"/>
            <a:chOff x="3695700" y="5143500"/>
            <a:chExt cx="7410450" cy="876300"/>
          </a:xfrm>
        </p:grpSpPr>
        <p:sp>
          <p:nvSpPr>
            <p:cNvPr id="52" name="Ellipse 52"/>
            <p:cNvSpPr/>
            <p:nvPr/>
          </p:nvSpPr>
          <p:spPr>
            <a:xfrm>
              <a:off x="3695700" y="5143500"/>
              <a:ext cx="114300" cy="114300"/>
            </a:xfrm>
            <a:prstGeom prst="ellipse">
              <a:avLst/>
            </a:prstGeom>
            <a:solidFill>
              <a:schemeClr val="accent2"/>
            </a:solidFill>
            <a:ln>
              <a:noFill/>
            </a:ln>
          </p:spPr>
        </p:sp>
        <p:sp>
          <p:nvSpPr>
            <p:cNvPr id="53" name="Line 53"/>
            <p:cNvSpPr/>
            <p:nvPr/>
          </p:nvSpPr>
          <p:spPr>
            <a:xfrm>
              <a:off x="3752850" y="5200650"/>
              <a:ext cx="342900" cy="819150"/>
            </a:xfrm>
            <a:custGeom>
              <a:avLst/>
              <a:gdLst/>
              <a:ahLst/>
              <a:cxnLst/>
              <a:rect l="l" t="t" r="r" b="b"/>
              <a:pathLst>
                <a:path w="342900" h="819150">
                  <a:moveTo>
                    <a:pt x="0" y="0"/>
                  </a:moveTo>
                  <a:lnTo>
                    <a:pt x="342900" y="819150"/>
                  </a:lnTo>
                </a:path>
              </a:pathLst>
            </a:custGeom>
            <a:noFill/>
            <a:ln w="19050">
              <a:solidFill>
                <a:schemeClr val="accent2"/>
              </a:solidFill>
            </a:ln>
          </p:spPr>
        </p:sp>
        <p:sp>
          <p:nvSpPr>
            <p:cNvPr id="54" name="Ellipse 54"/>
            <p:cNvSpPr/>
            <p:nvPr/>
          </p:nvSpPr>
          <p:spPr>
            <a:xfrm>
              <a:off x="7486650" y="5143500"/>
              <a:ext cx="114300" cy="114300"/>
            </a:xfrm>
            <a:prstGeom prst="ellipse">
              <a:avLst/>
            </a:prstGeom>
            <a:solidFill>
              <a:schemeClr val="accent2"/>
            </a:solidFill>
            <a:ln>
              <a:noFill/>
            </a:ln>
          </p:spPr>
        </p:sp>
        <p:sp>
          <p:nvSpPr>
            <p:cNvPr id="55" name="Line 55"/>
            <p:cNvSpPr/>
            <p:nvPr/>
          </p:nvSpPr>
          <p:spPr>
            <a:xfrm>
              <a:off x="7524750" y="5200650"/>
              <a:ext cx="19050" cy="819150"/>
            </a:xfrm>
            <a:custGeom>
              <a:avLst/>
              <a:gdLst/>
              <a:ahLst/>
              <a:cxnLst/>
              <a:rect l="l" t="t" r="r" b="b"/>
              <a:pathLst>
                <a:path w="19050" h="819150">
                  <a:moveTo>
                    <a:pt x="19050" y="0"/>
                  </a:moveTo>
                  <a:lnTo>
                    <a:pt x="0" y="819150"/>
                  </a:lnTo>
                </a:path>
              </a:pathLst>
            </a:custGeom>
            <a:noFill/>
            <a:ln w="19050">
              <a:solidFill>
                <a:schemeClr val="accent2"/>
              </a:solidFill>
            </a:ln>
          </p:spPr>
        </p:sp>
        <p:sp>
          <p:nvSpPr>
            <p:cNvPr id="56" name="Ellipse 56"/>
            <p:cNvSpPr/>
            <p:nvPr/>
          </p:nvSpPr>
          <p:spPr>
            <a:xfrm>
              <a:off x="10991850" y="5143500"/>
              <a:ext cx="114300" cy="114300"/>
            </a:xfrm>
            <a:prstGeom prst="ellipse">
              <a:avLst/>
            </a:prstGeom>
            <a:solidFill>
              <a:schemeClr val="accent2"/>
            </a:solidFill>
            <a:ln>
              <a:noFill/>
            </a:ln>
          </p:spPr>
        </p:sp>
        <p:sp>
          <p:nvSpPr>
            <p:cNvPr id="57" name="Line 57"/>
            <p:cNvSpPr/>
            <p:nvPr/>
          </p:nvSpPr>
          <p:spPr>
            <a:xfrm>
              <a:off x="10572750" y="5200650"/>
              <a:ext cx="476250" cy="819150"/>
            </a:xfrm>
            <a:custGeom>
              <a:avLst/>
              <a:gdLst/>
              <a:ahLst/>
              <a:cxnLst/>
              <a:rect l="l" t="t" r="r" b="b"/>
              <a:pathLst>
                <a:path w="476250" h="819150">
                  <a:moveTo>
                    <a:pt x="476250" y="0"/>
                  </a:moveTo>
                  <a:lnTo>
                    <a:pt x="0" y="819150"/>
                  </a:lnTo>
                </a:path>
              </a:pathLst>
            </a:custGeom>
            <a:noFill/>
            <a:ln w="19050">
              <a:solidFill>
                <a:schemeClr val="accent2"/>
              </a:solidFill>
            </a:ln>
          </p:spPr>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1047750"/>
            <a:ext cx="12954000" cy="8858250"/>
            <a:chOff x="0" y="-1047750"/>
            <a:chExt cx="12954000" cy="8858250"/>
          </a:xfrm>
        </p:grpSpPr>
        <p:sp>
          <p:nvSpPr>
            <p:cNvPr id="2" name="Rectangle 2"/>
            <p:cNvSpPr/>
            <p:nvPr/>
          </p:nvSpPr>
          <p:spPr>
            <a:xfrm>
              <a:off x="0" y="0"/>
              <a:ext cx="12192000" cy="6858000"/>
            </a:xfrm>
            <a:prstGeom prst="rect">
              <a:avLst/>
            </a:prstGeom>
            <a:solidFill>
              <a:schemeClr val="lt1"/>
            </a:solidFill>
            <a:ln>
              <a:noFill/>
            </a:ln>
          </p:spPr>
        </p:sp>
        <p:sp>
          <p:nvSpPr>
            <p:cNvPr id="3" name="Ellipse 3"/>
            <p:cNvSpPr/>
            <p:nvPr/>
          </p:nvSpPr>
          <p:spPr>
            <a:xfrm>
              <a:off x="8001000" y="-1047750"/>
              <a:ext cx="4191000" cy="4191000"/>
            </a:xfrm>
            <a:prstGeom prst="ellipse">
              <a:avLst/>
            </a:prstGeom>
            <a:solidFill>
              <a:schemeClr val="accent2">
                <a:alpha val="8000"/>
              </a:schemeClr>
            </a:solidFill>
            <a:ln>
              <a:noFill/>
            </a:ln>
          </p:spPr>
        </p:sp>
        <p:sp>
          <p:nvSpPr>
            <p:cNvPr id="4" name="Ellipse 4"/>
            <p:cNvSpPr/>
            <p:nvPr/>
          </p:nvSpPr>
          <p:spPr>
            <a:xfrm>
              <a:off x="9525000" y="4381500"/>
              <a:ext cx="3429000" cy="3429000"/>
            </a:xfrm>
            <a:prstGeom prst="ellipse">
              <a:avLst/>
            </a:prstGeom>
            <a:solidFill>
              <a:schemeClr val="accent3">
                <a:alpha val="6000"/>
              </a:schemeClr>
            </a:solidFill>
            <a:ln>
              <a:noFill/>
            </a:ln>
          </p:spPr>
        </p:sp>
        <p:sp>
          <p:nvSpPr>
            <p:cNvPr id="5" name="Line 5"/>
            <p:cNvSpPr/>
            <p:nvPr/>
          </p:nvSpPr>
          <p:spPr>
            <a:xfrm>
              <a:off x="571500" y="1162050"/>
              <a:ext cx="11049000" cy="9525"/>
            </a:xfrm>
            <a:custGeom>
              <a:avLst/>
              <a:gdLst/>
              <a:ahLst/>
              <a:cxnLst/>
              <a:rect l="l" t="t" r="r" b="b"/>
              <a:pathLst>
                <a:path w="11049000" h="9525">
                  <a:moveTo>
                    <a:pt x="0" y="0"/>
                  </a:moveTo>
                  <a:lnTo>
                    <a:pt x="11049000" y="0"/>
                  </a:lnTo>
                </a:path>
              </a:pathLst>
            </a:custGeom>
            <a:noFill/>
            <a:ln w="19050">
              <a:solidFill>
                <a:schemeClr val="accent2"/>
              </a:solidFill>
            </a:ln>
          </p:spPr>
        </p:sp>
        <p:sp>
          <p:nvSpPr>
            <p:cNvPr id="6" name="Line 6"/>
            <p:cNvSpPr/>
            <p:nvPr/>
          </p:nvSpPr>
          <p:spPr>
            <a:xfrm>
              <a:off x="571500" y="6324600"/>
              <a:ext cx="11049000" cy="9525"/>
            </a:xfrm>
            <a:custGeom>
              <a:avLst/>
              <a:gdLst/>
              <a:ahLst/>
              <a:cxnLst/>
              <a:rect l="l" t="t" r="r" b="b"/>
              <a:pathLst>
                <a:path w="11049000" h="9525">
                  <a:moveTo>
                    <a:pt x="0" y="0"/>
                  </a:moveTo>
                  <a:lnTo>
                    <a:pt x="11049000" y="0"/>
                  </a:lnTo>
                </a:path>
              </a:pathLst>
            </a:custGeom>
            <a:noFill/>
            <a:ln w="9525">
              <a:solidFill>
                <a:schemeClr val="accent4"/>
              </a:solidFill>
            </a:ln>
          </p:spPr>
        </p:sp>
      </p:grpSp>
      <p:grpSp>
        <p:nvGrpSpPr>
          <p:cNvPr id="12" name="Group 12"/>
          <p:cNvGrpSpPr/>
          <p:nvPr/>
        </p:nvGrpSpPr>
        <p:grpSpPr>
          <a:xfrm>
            <a:off x="557784" y="637699"/>
            <a:ext cx="11048429" cy="6045517"/>
            <a:chOff x="557784" y="637699"/>
            <a:chExt cx="11048429" cy="6045517"/>
          </a:xfrm>
        </p:grpSpPr>
        <p:sp>
          <p:nvSpPr>
            <p:cNvPr id="8" name="TextBox 8"/>
            <p:cNvSpPr txBox="1"/>
            <p:nvPr/>
          </p:nvSpPr>
          <p:spPr>
            <a:xfrm>
              <a:off x="566547" y="637699"/>
              <a:ext cx="1075639" cy="190690"/>
            </a:xfrm>
            <a:prstGeom prst="rect">
              <a:avLst/>
            </a:prstGeom>
            <a:noFill/>
            <a:ln>
              <a:noFill/>
            </a:ln>
          </p:spPr>
          <p:txBody>
            <a:bodyPr wrap="none" lIns="0" tIns="0" rIns="0" bIns="0" anchor="t" anchorCtr="0">
              <a:spAutoFit/>
            </a:bodyPr>
            <a:lstStyle/>
            <a:p>
              <a:pPr algn="l"/>
              <a:r>
                <a:rPr lang="en-US" sz="980" b="1" spc="135" dirty="0">
                  <a:solidFill>
                    <a:schemeClr val="accent2"/>
                  </a:solidFill>
                  <a:latin typeface="+mn-lt"/>
                  <a:ea typeface="+mn-ea"/>
                  <a:cs typeface="+mn-cs"/>
                </a:rPr>
                <a:t>SIGNALCOUNT</a:t>
              </a:r>
            </a:p>
          </p:txBody>
        </p:sp>
        <p:sp>
          <p:nvSpPr>
            <p:cNvPr id="9" name="TextBox 9"/>
            <p:cNvSpPr txBox="1"/>
            <p:nvPr/>
          </p:nvSpPr>
          <p:spPr>
            <a:xfrm>
              <a:off x="557784" y="775335"/>
              <a:ext cx="6116513" cy="528066"/>
            </a:xfrm>
            <a:prstGeom prst="rect">
              <a:avLst/>
            </a:prstGeom>
            <a:noFill/>
            <a:ln>
              <a:noFill/>
            </a:ln>
          </p:spPr>
          <p:txBody>
            <a:bodyPr wrap="none" lIns="0" tIns="0" rIns="0" bIns="0" anchor="t" anchorCtr="0">
              <a:spAutoFit/>
            </a:bodyPr>
            <a:lstStyle/>
            <a:p>
              <a:pPr algn="l"/>
              <a:r>
                <a:rPr lang="zh-CN" sz="2700" b="1" dirty="0">
                  <a:gradFill>
                    <a:gsLst>
                      <a:gs pos="0">
                        <a:schemeClr val="accent1"/>
                      </a:gs>
                      <a:gs pos="100000">
                        <a:schemeClr val="accent2"/>
                      </a:gs>
                    </a:gsLst>
                    <a:lin ang="2700000" scaled="1"/>
                  </a:gradFill>
                  <a:latin typeface="+mj-lt"/>
                  <a:ea typeface="+mj-ea"/>
                  <a:cs typeface="+mj-cs"/>
                </a:rPr>
                <a:t>保守财务模型：18个月的投资逻辑</a:t>
              </a:r>
            </a:p>
          </p:txBody>
        </p:sp>
        <p:sp>
          <p:nvSpPr>
            <p:cNvPr id="10" name="TextBox 10"/>
            <p:cNvSpPr txBox="1"/>
            <p:nvPr/>
          </p:nvSpPr>
          <p:spPr>
            <a:xfrm>
              <a:off x="566738" y="6521291"/>
              <a:ext cx="172280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企业 AI 营销工作台 · 面向管理层</a:t>
              </a:r>
            </a:p>
          </p:txBody>
        </p:sp>
        <p:sp>
          <p:nvSpPr>
            <p:cNvPr id="11" name="TextBox 11"/>
            <p:cNvSpPr txBox="1"/>
            <p:nvPr/>
          </p:nvSpPr>
          <p:spPr>
            <a:xfrm>
              <a:off x="11474520" y="6521291"/>
              <a:ext cx="131693"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06</a:t>
              </a:r>
            </a:p>
          </p:txBody>
        </p:sp>
      </p:grpSp>
      <p:grpSp>
        <p:nvGrpSpPr>
          <p:cNvPr id="50" name="Group 50"/>
          <p:cNvGrpSpPr/>
          <p:nvPr/>
        </p:nvGrpSpPr>
        <p:grpSpPr>
          <a:xfrm>
            <a:off x="563880" y="1381125"/>
            <a:ext cx="11056620" cy="4547426"/>
            <a:chOff x="563880" y="1381125"/>
            <a:chExt cx="11056620" cy="4547426"/>
          </a:xfrm>
        </p:grpSpPr>
        <p:sp>
          <p:nvSpPr>
            <p:cNvPr id="13" name="TextBox 13"/>
            <p:cNvSpPr txBox="1"/>
            <p:nvPr/>
          </p:nvSpPr>
          <p:spPr>
            <a:xfrm>
              <a:off x="563880" y="1381125"/>
              <a:ext cx="5507736"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基于中等规模企业（年营收5-20亿人民币）的典型部署场景，</a:t>
              </a:r>
            </a:p>
          </p:txBody>
        </p:sp>
        <p:sp>
          <p:nvSpPr>
            <p:cNvPr id="14" name="TextBox 14"/>
            <p:cNvSpPr txBox="1"/>
            <p:nvPr/>
          </p:nvSpPr>
          <p:spPr>
            <a:xfrm>
              <a:off x="563880" y="1647825"/>
              <a:ext cx="1428750"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不含战略折扣。</a:t>
              </a:r>
            </a:p>
          </p:txBody>
        </p:sp>
        <p:sp>
          <p:nvSpPr>
            <p:cNvPr id="15" name="Freeform 15"/>
            <p:cNvSpPr/>
            <p:nvPr/>
          </p:nvSpPr>
          <p:spPr>
            <a:xfrm>
              <a:off x="571500" y="1962150"/>
              <a:ext cx="5334000" cy="2000250"/>
            </a:xfrm>
            <a:custGeom>
              <a:avLst/>
              <a:gdLst/>
              <a:ahLst/>
              <a:cxnLst/>
              <a:rect l="l" t="t" r="r" b="b"/>
              <a:pathLst>
                <a:path w="5334000" h="2000250">
                  <a:moveTo>
                    <a:pt x="114300" y="0"/>
                  </a:moveTo>
                  <a:lnTo>
                    <a:pt x="5219700" y="0"/>
                  </a:lnTo>
                  <a:cubicBezTo>
                    <a:pt x="5282826" y="0"/>
                    <a:pt x="5334000" y="51174"/>
                    <a:pt x="5334000" y="114300"/>
                  </a:cubicBezTo>
                  <a:lnTo>
                    <a:pt x="5334000" y="1885950"/>
                  </a:lnTo>
                  <a:cubicBezTo>
                    <a:pt x="5334000" y="1949076"/>
                    <a:pt x="5282826" y="2000250"/>
                    <a:pt x="5219700" y="2000250"/>
                  </a:cubicBezTo>
                  <a:lnTo>
                    <a:pt x="114300" y="2000250"/>
                  </a:lnTo>
                  <a:cubicBezTo>
                    <a:pt x="51174" y="2000250"/>
                    <a:pt x="0" y="1949076"/>
                    <a:pt x="0" y="1885950"/>
                  </a:cubicBezTo>
                  <a:lnTo>
                    <a:pt x="0" y="114300"/>
                  </a:lnTo>
                  <a:cubicBezTo>
                    <a:pt x="0" y="51174"/>
                    <a:pt x="51174" y="0"/>
                    <a:pt x="114300" y="0"/>
                  </a:cubicBezTo>
                  <a:close/>
                </a:path>
              </a:pathLst>
            </a:custGeom>
            <a:solidFill>
              <a:schemeClr val="lt2"/>
            </a:solidFill>
            <a:ln w="9525">
              <a:solidFill>
                <a:schemeClr val="accent4"/>
              </a:solidFill>
            </a:ln>
          </p:spPr>
        </p:sp>
        <p:sp>
          <p:nvSpPr>
            <p:cNvPr id="16" name="Freeform 16"/>
            <p:cNvSpPr/>
            <p:nvPr/>
          </p:nvSpPr>
          <p:spPr>
            <a:xfrm>
              <a:off x="6286500" y="1962150"/>
              <a:ext cx="5334000" cy="2000250"/>
            </a:xfrm>
            <a:custGeom>
              <a:avLst/>
              <a:gdLst/>
              <a:ahLst/>
              <a:cxnLst/>
              <a:rect l="l" t="t" r="r" b="b"/>
              <a:pathLst>
                <a:path w="5334000" h="2000250">
                  <a:moveTo>
                    <a:pt x="114300" y="0"/>
                  </a:moveTo>
                  <a:lnTo>
                    <a:pt x="5219700" y="0"/>
                  </a:lnTo>
                  <a:cubicBezTo>
                    <a:pt x="5282826" y="0"/>
                    <a:pt x="5334000" y="51174"/>
                    <a:pt x="5334000" y="114300"/>
                  </a:cubicBezTo>
                  <a:lnTo>
                    <a:pt x="5334000" y="1885950"/>
                  </a:lnTo>
                  <a:cubicBezTo>
                    <a:pt x="5334000" y="1949076"/>
                    <a:pt x="5282826" y="2000250"/>
                    <a:pt x="5219700" y="2000250"/>
                  </a:cubicBezTo>
                  <a:lnTo>
                    <a:pt x="114300" y="2000250"/>
                  </a:lnTo>
                  <a:cubicBezTo>
                    <a:pt x="51174" y="2000250"/>
                    <a:pt x="0" y="1949076"/>
                    <a:pt x="0" y="1885950"/>
                  </a:cubicBezTo>
                  <a:lnTo>
                    <a:pt x="0" y="114300"/>
                  </a:lnTo>
                  <a:cubicBezTo>
                    <a:pt x="0" y="51174"/>
                    <a:pt x="51174" y="0"/>
                    <a:pt x="114300" y="0"/>
                  </a:cubicBezTo>
                  <a:close/>
                </a:path>
              </a:pathLst>
            </a:custGeom>
            <a:solidFill>
              <a:schemeClr val="lt2"/>
            </a:solidFill>
            <a:ln w="9525">
              <a:solidFill>
                <a:schemeClr val="accent4"/>
              </a:solidFill>
            </a:ln>
          </p:spPr>
        </p:sp>
        <p:sp>
          <p:nvSpPr>
            <p:cNvPr id="17" name="Freeform 17"/>
            <p:cNvSpPr/>
            <p:nvPr/>
          </p:nvSpPr>
          <p:spPr>
            <a:xfrm>
              <a:off x="571500" y="4229100"/>
              <a:ext cx="5334000" cy="1619250"/>
            </a:xfrm>
            <a:custGeom>
              <a:avLst/>
              <a:gdLst/>
              <a:ahLst/>
              <a:cxnLst/>
              <a:rect l="l" t="t" r="r" b="b"/>
              <a:pathLst>
                <a:path w="5334000" h="1619250">
                  <a:moveTo>
                    <a:pt x="114300" y="0"/>
                  </a:moveTo>
                  <a:lnTo>
                    <a:pt x="5219700" y="0"/>
                  </a:lnTo>
                  <a:cubicBezTo>
                    <a:pt x="5282826" y="0"/>
                    <a:pt x="5334000" y="51174"/>
                    <a:pt x="5334000" y="114300"/>
                  </a:cubicBezTo>
                  <a:lnTo>
                    <a:pt x="5334000" y="1504950"/>
                  </a:lnTo>
                  <a:cubicBezTo>
                    <a:pt x="5334000" y="1568076"/>
                    <a:pt x="5282826" y="1619250"/>
                    <a:pt x="5219700" y="1619250"/>
                  </a:cubicBezTo>
                  <a:lnTo>
                    <a:pt x="114300" y="1619250"/>
                  </a:lnTo>
                  <a:cubicBezTo>
                    <a:pt x="51174" y="1619250"/>
                    <a:pt x="0" y="1568076"/>
                    <a:pt x="0" y="1504950"/>
                  </a:cubicBezTo>
                  <a:lnTo>
                    <a:pt x="0" y="114300"/>
                  </a:lnTo>
                  <a:cubicBezTo>
                    <a:pt x="0" y="51174"/>
                    <a:pt x="51174" y="0"/>
                    <a:pt x="114300" y="0"/>
                  </a:cubicBezTo>
                  <a:close/>
                </a:path>
              </a:pathLst>
            </a:custGeom>
            <a:solidFill>
              <a:schemeClr val="lt2"/>
            </a:solidFill>
            <a:ln w="9525">
              <a:solidFill>
                <a:schemeClr val="accent4"/>
              </a:solidFill>
            </a:ln>
          </p:spPr>
        </p:sp>
        <p:sp>
          <p:nvSpPr>
            <p:cNvPr id="18" name="Freeform 18"/>
            <p:cNvSpPr/>
            <p:nvPr/>
          </p:nvSpPr>
          <p:spPr>
            <a:xfrm>
              <a:off x="6286500" y="4229100"/>
              <a:ext cx="5334000" cy="1619250"/>
            </a:xfrm>
            <a:custGeom>
              <a:avLst/>
              <a:gdLst/>
              <a:ahLst/>
              <a:cxnLst/>
              <a:rect l="l" t="t" r="r" b="b"/>
              <a:pathLst>
                <a:path w="5334000" h="1619250">
                  <a:moveTo>
                    <a:pt x="114300" y="0"/>
                  </a:moveTo>
                  <a:lnTo>
                    <a:pt x="5219700" y="0"/>
                  </a:lnTo>
                  <a:cubicBezTo>
                    <a:pt x="5282826" y="0"/>
                    <a:pt x="5334000" y="51174"/>
                    <a:pt x="5334000" y="114300"/>
                  </a:cubicBezTo>
                  <a:lnTo>
                    <a:pt x="5334000" y="1504950"/>
                  </a:lnTo>
                  <a:cubicBezTo>
                    <a:pt x="5334000" y="1568076"/>
                    <a:pt x="5282826" y="1619250"/>
                    <a:pt x="5219700" y="1619250"/>
                  </a:cubicBezTo>
                  <a:lnTo>
                    <a:pt x="114300" y="1619250"/>
                  </a:lnTo>
                  <a:cubicBezTo>
                    <a:pt x="51174" y="1619250"/>
                    <a:pt x="0" y="1568076"/>
                    <a:pt x="0" y="1504950"/>
                  </a:cubicBezTo>
                  <a:lnTo>
                    <a:pt x="0" y="114300"/>
                  </a:lnTo>
                  <a:cubicBezTo>
                    <a:pt x="0" y="51174"/>
                    <a:pt x="51174" y="0"/>
                    <a:pt x="114300" y="0"/>
                  </a:cubicBezTo>
                  <a:close/>
                </a:path>
              </a:pathLst>
            </a:custGeom>
            <a:solidFill>
              <a:schemeClr val="lt2"/>
            </a:solidFill>
            <a:ln w="9525">
              <a:solidFill>
                <a:schemeClr val="accent4"/>
              </a:solidFill>
            </a:ln>
          </p:spPr>
        </p:sp>
        <p:sp>
          <p:nvSpPr>
            <p:cNvPr id="19" name="Freeform 19"/>
            <p:cNvSpPr/>
            <p:nvPr/>
          </p:nvSpPr>
          <p:spPr>
            <a:xfrm>
              <a:off x="571500" y="1962150"/>
              <a:ext cx="5334000" cy="76200"/>
            </a:xfrm>
            <a:custGeom>
              <a:avLst/>
              <a:gdLst/>
              <a:ahLst/>
              <a:cxnLst/>
              <a:rect l="l" t="t" r="r" b="b"/>
              <a:pathLst>
                <a:path w="5334000" h="76200">
                  <a:moveTo>
                    <a:pt x="38100" y="0"/>
                  </a:moveTo>
                  <a:lnTo>
                    <a:pt x="5295900" y="0"/>
                  </a:lnTo>
                  <a:cubicBezTo>
                    <a:pt x="5316942" y="0"/>
                    <a:pt x="5334000" y="17058"/>
                    <a:pt x="5334000" y="38100"/>
                  </a:cubicBezTo>
                  <a:lnTo>
                    <a:pt x="5334000" y="38100"/>
                  </a:lnTo>
                  <a:cubicBezTo>
                    <a:pt x="5334000" y="59142"/>
                    <a:pt x="5316942" y="76200"/>
                    <a:pt x="5295900" y="76200"/>
                  </a:cubicBezTo>
                  <a:lnTo>
                    <a:pt x="38100" y="76200"/>
                  </a:lnTo>
                  <a:cubicBezTo>
                    <a:pt x="17058" y="76200"/>
                    <a:pt x="0" y="59142"/>
                    <a:pt x="0" y="38100"/>
                  </a:cubicBezTo>
                  <a:lnTo>
                    <a:pt x="0" y="38100"/>
                  </a:lnTo>
                  <a:cubicBezTo>
                    <a:pt x="0" y="17058"/>
                    <a:pt x="17058" y="0"/>
                    <a:pt x="38100" y="0"/>
                  </a:cubicBezTo>
                  <a:close/>
                </a:path>
              </a:pathLst>
            </a:custGeom>
            <a:solidFill>
              <a:schemeClr val="accent2"/>
            </a:solidFill>
            <a:ln>
              <a:noFill/>
            </a:ln>
          </p:spPr>
        </p:sp>
        <p:sp>
          <p:nvSpPr>
            <p:cNvPr id="20" name="Freeform 20"/>
            <p:cNvSpPr/>
            <p:nvPr/>
          </p:nvSpPr>
          <p:spPr>
            <a:xfrm>
              <a:off x="6286500" y="1962150"/>
              <a:ext cx="5334000" cy="76200"/>
            </a:xfrm>
            <a:custGeom>
              <a:avLst/>
              <a:gdLst/>
              <a:ahLst/>
              <a:cxnLst/>
              <a:rect l="l" t="t" r="r" b="b"/>
              <a:pathLst>
                <a:path w="5334000" h="76200">
                  <a:moveTo>
                    <a:pt x="38100" y="0"/>
                  </a:moveTo>
                  <a:lnTo>
                    <a:pt x="5295900" y="0"/>
                  </a:lnTo>
                  <a:cubicBezTo>
                    <a:pt x="5316942" y="0"/>
                    <a:pt x="5334000" y="17058"/>
                    <a:pt x="5334000" y="38100"/>
                  </a:cubicBezTo>
                  <a:lnTo>
                    <a:pt x="5334000" y="38100"/>
                  </a:lnTo>
                  <a:cubicBezTo>
                    <a:pt x="5334000" y="59142"/>
                    <a:pt x="5316942" y="76200"/>
                    <a:pt x="5295900" y="76200"/>
                  </a:cubicBezTo>
                  <a:lnTo>
                    <a:pt x="38100" y="76200"/>
                  </a:lnTo>
                  <a:cubicBezTo>
                    <a:pt x="17058" y="76200"/>
                    <a:pt x="0" y="59142"/>
                    <a:pt x="0" y="38100"/>
                  </a:cubicBezTo>
                  <a:lnTo>
                    <a:pt x="0" y="38100"/>
                  </a:lnTo>
                  <a:cubicBezTo>
                    <a:pt x="0" y="17058"/>
                    <a:pt x="17058" y="0"/>
                    <a:pt x="38100" y="0"/>
                  </a:cubicBezTo>
                  <a:close/>
                </a:path>
              </a:pathLst>
            </a:custGeom>
            <a:solidFill>
              <a:schemeClr val="accent2"/>
            </a:solidFill>
            <a:ln>
              <a:noFill/>
            </a:ln>
          </p:spPr>
        </p:sp>
        <p:sp>
          <p:nvSpPr>
            <p:cNvPr id="21" name="Freeform 21"/>
            <p:cNvSpPr/>
            <p:nvPr/>
          </p:nvSpPr>
          <p:spPr>
            <a:xfrm>
              <a:off x="571500" y="4229100"/>
              <a:ext cx="5334000" cy="76200"/>
            </a:xfrm>
            <a:custGeom>
              <a:avLst/>
              <a:gdLst/>
              <a:ahLst/>
              <a:cxnLst/>
              <a:rect l="l" t="t" r="r" b="b"/>
              <a:pathLst>
                <a:path w="5334000" h="76200">
                  <a:moveTo>
                    <a:pt x="38100" y="0"/>
                  </a:moveTo>
                  <a:lnTo>
                    <a:pt x="5295900" y="0"/>
                  </a:lnTo>
                  <a:cubicBezTo>
                    <a:pt x="5316942" y="0"/>
                    <a:pt x="5334000" y="17058"/>
                    <a:pt x="5334000" y="38100"/>
                  </a:cubicBezTo>
                  <a:lnTo>
                    <a:pt x="5334000" y="38100"/>
                  </a:lnTo>
                  <a:cubicBezTo>
                    <a:pt x="5334000" y="59142"/>
                    <a:pt x="5316942" y="76200"/>
                    <a:pt x="5295900" y="76200"/>
                  </a:cubicBezTo>
                  <a:lnTo>
                    <a:pt x="38100" y="76200"/>
                  </a:lnTo>
                  <a:cubicBezTo>
                    <a:pt x="17058" y="76200"/>
                    <a:pt x="0" y="59142"/>
                    <a:pt x="0" y="38100"/>
                  </a:cubicBezTo>
                  <a:lnTo>
                    <a:pt x="0" y="38100"/>
                  </a:lnTo>
                  <a:cubicBezTo>
                    <a:pt x="0" y="17058"/>
                    <a:pt x="17058" y="0"/>
                    <a:pt x="38100" y="0"/>
                  </a:cubicBezTo>
                  <a:close/>
                </a:path>
              </a:pathLst>
            </a:custGeom>
            <a:solidFill>
              <a:schemeClr val="accent3"/>
            </a:solidFill>
            <a:ln>
              <a:noFill/>
            </a:ln>
          </p:spPr>
        </p:sp>
        <p:sp>
          <p:nvSpPr>
            <p:cNvPr id="22" name="Freeform 22"/>
            <p:cNvSpPr/>
            <p:nvPr/>
          </p:nvSpPr>
          <p:spPr>
            <a:xfrm>
              <a:off x="6286500" y="4229100"/>
              <a:ext cx="5334000" cy="76200"/>
            </a:xfrm>
            <a:custGeom>
              <a:avLst/>
              <a:gdLst/>
              <a:ahLst/>
              <a:cxnLst/>
              <a:rect l="l" t="t" r="r" b="b"/>
              <a:pathLst>
                <a:path w="5334000" h="76200">
                  <a:moveTo>
                    <a:pt x="38100" y="0"/>
                  </a:moveTo>
                  <a:lnTo>
                    <a:pt x="5295900" y="0"/>
                  </a:lnTo>
                  <a:cubicBezTo>
                    <a:pt x="5316942" y="0"/>
                    <a:pt x="5334000" y="17058"/>
                    <a:pt x="5334000" y="38100"/>
                  </a:cubicBezTo>
                  <a:lnTo>
                    <a:pt x="5334000" y="38100"/>
                  </a:lnTo>
                  <a:cubicBezTo>
                    <a:pt x="5334000" y="59142"/>
                    <a:pt x="5316942" y="76200"/>
                    <a:pt x="5295900" y="76200"/>
                  </a:cubicBezTo>
                  <a:lnTo>
                    <a:pt x="38100" y="76200"/>
                  </a:lnTo>
                  <a:cubicBezTo>
                    <a:pt x="17058" y="76200"/>
                    <a:pt x="0" y="59142"/>
                    <a:pt x="0" y="38100"/>
                  </a:cubicBezTo>
                  <a:lnTo>
                    <a:pt x="0" y="38100"/>
                  </a:lnTo>
                  <a:cubicBezTo>
                    <a:pt x="0" y="17058"/>
                    <a:pt x="17058" y="0"/>
                    <a:pt x="38100" y="0"/>
                  </a:cubicBezTo>
                  <a:close/>
                </a:path>
              </a:pathLst>
            </a:custGeom>
            <a:solidFill>
              <a:schemeClr val="accent3"/>
            </a:solidFill>
            <a:ln>
              <a:noFill/>
            </a:ln>
          </p:spPr>
        </p:sp>
        <p:sp>
          <p:nvSpPr>
            <p:cNvPr id="23" name="TextBox 23"/>
            <p:cNvSpPr txBox="1"/>
            <p:nvPr/>
          </p:nvSpPr>
          <p:spPr>
            <a:xfrm>
              <a:off x="870966" y="2306002"/>
              <a:ext cx="793147" cy="205359"/>
            </a:xfrm>
            <a:prstGeom prst="rect">
              <a:avLst/>
            </a:prstGeom>
            <a:noFill/>
            <a:ln>
              <a:noFill/>
            </a:ln>
          </p:spPr>
          <p:txBody>
            <a:bodyPr wrap="none" lIns="0" tIns="0" rIns="0" bIns="0" anchor="t" anchorCtr="0">
              <a:spAutoFit/>
            </a:bodyPr>
            <a:lstStyle/>
            <a:p>
              <a:pPr algn="l"/>
              <a:r>
                <a:rPr lang="zh-CN" sz="1050" b="1" spc="75" dirty="0">
                  <a:solidFill>
                    <a:schemeClr val="dk2"/>
                  </a:solidFill>
                  <a:latin typeface="+mn-lt"/>
                  <a:ea typeface="+mn-ea"/>
                  <a:cs typeface="+mn-cs"/>
                </a:rPr>
                <a:t>投资回收期</a:t>
              </a:r>
            </a:p>
          </p:txBody>
        </p:sp>
        <p:sp>
          <p:nvSpPr>
            <p:cNvPr id="24" name="TextBox 24"/>
            <p:cNvSpPr txBox="1"/>
            <p:nvPr/>
          </p:nvSpPr>
          <p:spPr>
            <a:xfrm>
              <a:off x="858012" y="2678430"/>
              <a:ext cx="2160361" cy="704088"/>
            </a:xfrm>
            <a:prstGeom prst="rect">
              <a:avLst/>
            </a:prstGeom>
            <a:noFill/>
            <a:ln>
              <a:noFill/>
            </a:ln>
          </p:spPr>
          <p:txBody>
            <a:bodyPr wrap="none" lIns="0" tIns="0" rIns="0" bIns="0" anchor="t" anchorCtr="0">
              <a:spAutoFit/>
            </a:bodyPr>
            <a:lstStyle/>
            <a:p>
              <a:pPr algn="l"/>
              <a:r>
                <a:rPr lang="zh-CN" sz="3600" b="1" dirty="0">
                  <a:solidFill>
                    <a:schemeClr val="accent1"/>
                  </a:solidFill>
                  <a:latin typeface="+mj-lt"/>
                  <a:ea typeface="+mj-ea"/>
                  <a:cs typeface="+mj-cs"/>
                </a:rPr>
                <a:t>&lt; 12个月</a:t>
              </a:r>
            </a:p>
          </p:txBody>
        </p:sp>
        <p:sp>
          <p:nvSpPr>
            <p:cNvPr id="25" name="TextBox 25"/>
            <p:cNvSpPr txBox="1"/>
            <p:nvPr/>
          </p:nvSpPr>
          <p:spPr>
            <a:xfrm>
              <a:off x="869442" y="3283268"/>
              <a:ext cx="2657989"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含3个月数据整合与模型冷启动，</a:t>
              </a:r>
            </a:p>
          </p:txBody>
        </p:sp>
        <p:sp>
          <p:nvSpPr>
            <p:cNvPr id="26" name="TextBox 26"/>
            <p:cNvSpPr txBox="1"/>
            <p:nvPr/>
          </p:nvSpPr>
          <p:spPr>
            <a:xfrm>
              <a:off x="869442" y="3511868"/>
              <a:ext cx="2145182"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基于类似部署的 IRR≥35%</a:t>
              </a:r>
            </a:p>
          </p:txBody>
        </p:sp>
        <p:sp>
          <p:nvSpPr>
            <p:cNvPr id="27" name="Freeform 27"/>
            <p:cNvSpPr/>
            <p:nvPr/>
          </p:nvSpPr>
          <p:spPr>
            <a:xfrm>
              <a:off x="5143500" y="2495550"/>
              <a:ext cx="285750" cy="742950"/>
            </a:xfrm>
            <a:custGeom>
              <a:avLst/>
              <a:gdLst/>
              <a:ahLst/>
              <a:cxnLst/>
              <a:rect l="l" t="t" r="r" b="b"/>
              <a:pathLst>
                <a:path w="285750" h="742950">
                  <a:moveTo>
                    <a:pt x="0" y="0"/>
                  </a:moveTo>
                  <a:lnTo>
                    <a:pt x="285750" y="0"/>
                  </a:lnTo>
                  <a:lnTo>
                    <a:pt x="285750" y="742950"/>
                  </a:lnTo>
                </a:path>
              </a:pathLst>
            </a:custGeom>
            <a:noFill/>
            <a:ln w="19050">
              <a:solidFill>
                <a:schemeClr val="accent2"/>
              </a:solidFill>
            </a:ln>
          </p:spPr>
        </p:sp>
        <p:sp>
          <p:nvSpPr>
            <p:cNvPr id="28" name="Ellipse 28"/>
            <p:cNvSpPr/>
            <p:nvPr/>
          </p:nvSpPr>
          <p:spPr>
            <a:xfrm>
              <a:off x="5372100" y="3181350"/>
              <a:ext cx="114300" cy="114300"/>
            </a:xfrm>
            <a:prstGeom prst="ellipse">
              <a:avLst/>
            </a:prstGeom>
            <a:solidFill>
              <a:schemeClr val="accent2"/>
            </a:solidFill>
            <a:ln>
              <a:noFill/>
            </a:ln>
          </p:spPr>
        </p:sp>
        <p:sp>
          <p:nvSpPr>
            <p:cNvPr id="29" name="TextBox 29"/>
            <p:cNvSpPr txBox="1"/>
            <p:nvPr/>
          </p:nvSpPr>
          <p:spPr>
            <a:xfrm>
              <a:off x="4947666" y="2267902"/>
              <a:ext cx="604342"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现金回正</a:t>
              </a:r>
            </a:p>
          </p:txBody>
        </p:sp>
        <p:sp>
          <p:nvSpPr>
            <p:cNvPr id="30" name="TextBox 30"/>
            <p:cNvSpPr txBox="1"/>
            <p:nvPr/>
          </p:nvSpPr>
          <p:spPr>
            <a:xfrm>
              <a:off x="6585966" y="2306002"/>
              <a:ext cx="1110177" cy="205359"/>
            </a:xfrm>
            <a:prstGeom prst="rect">
              <a:avLst/>
            </a:prstGeom>
            <a:noFill/>
            <a:ln>
              <a:noFill/>
            </a:ln>
          </p:spPr>
          <p:txBody>
            <a:bodyPr wrap="none" lIns="0" tIns="0" rIns="0" bIns="0" anchor="t" anchorCtr="0">
              <a:spAutoFit/>
            </a:bodyPr>
            <a:lstStyle/>
            <a:p>
              <a:pPr algn="l"/>
              <a:r>
                <a:rPr lang="zh-CN" sz="1050" b="1" spc="75" dirty="0">
                  <a:solidFill>
                    <a:schemeClr val="dk2"/>
                  </a:solidFill>
                  <a:latin typeface="+mn-lt"/>
                  <a:ea typeface="+mn-ea"/>
                  <a:cs typeface="+mn-cs"/>
                </a:rPr>
                <a:t>首年总拥有成本</a:t>
              </a:r>
            </a:p>
          </p:txBody>
        </p:sp>
        <p:sp>
          <p:nvSpPr>
            <p:cNvPr id="31" name="TextBox 31"/>
            <p:cNvSpPr txBox="1"/>
            <p:nvPr/>
          </p:nvSpPr>
          <p:spPr>
            <a:xfrm>
              <a:off x="6573774" y="2694622"/>
              <a:ext cx="2534084" cy="674751"/>
            </a:xfrm>
            <a:prstGeom prst="rect">
              <a:avLst/>
            </a:prstGeom>
            <a:noFill/>
            <a:ln>
              <a:noFill/>
            </a:ln>
          </p:spPr>
          <p:txBody>
            <a:bodyPr wrap="none" lIns="0" tIns="0" rIns="0" bIns="0" anchor="t" anchorCtr="0">
              <a:spAutoFit/>
            </a:bodyPr>
            <a:lstStyle/>
            <a:p>
              <a:pPr algn="l"/>
              <a:r>
                <a:rPr lang="zh-CN" sz="3450" b="1" dirty="0">
                  <a:solidFill>
                    <a:schemeClr val="accent1"/>
                  </a:solidFill>
                  <a:latin typeface="+mj-lt"/>
                  <a:ea typeface="+mj-ea"/>
                  <a:cs typeface="+mj-cs"/>
                </a:rPr>
                <a:t>180-240万</a:t>
              </a:r>
            </a:p>
          </p:txBody>
        </p:sp>
        <p:sp>
          <p:nvSpPr>
            <p:cNvPr id="32" name="TextBox 32"/>
            <p:cNvSpPr txBox="1"/>
            <p:nvPr/>
          </p:nvSpPr>
          <p:spPr>
            <a:xfrm>
              <a:off x="6584442" y="3283268"/>
              <a:ext cx="2376297"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含平台许可、初始数据工程和</a:t>
              </a:r>
            </a:p>
          </p:txBody>
        </p:sp>
        <p:sp>
          <p:nvSpPr>
            <p:cNvPr id="33" name="TextBox 33"/>
            <p:cNvSpPr txBox="1"/>
            <p:nvPr/>
          </p:nvSpPr>
          <p:spPr>
            <a:xfrm>
              <a:off x="6584442" y="3511868"/>
              <a:ext cx="2530773"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一次模型定制；后续年费降30%</a:t>
              </a:r>
            </a:p>
          </p:txBody>
        </p:sp>
        <p:sp>
          <p:nvSpPr>
            <p:cNvPr id="34" name="Freeform 34"/>
            <p:cNvSpPr/>
            <p:nvPr/>
          </p:nvSpPr>
          <p:spPr>
            <a:xfrm>
              <a:off x="10877550" y="2495550"/>
              <a:ext cx="381000" cy="9525"/>
            </a:xfrm>
            <a:custGeom>
              <a:avLst/>
              <a:gdLst/>
              <a:ahLst/>
              <a:cxnLst/>
              <a:rect l="l" t="t" r="r" b="b"/>
              <a:pathLst>
                <a:path w="381000" h="9525">
                  <a:moveTo>
                    <a:pt x="0" y="0"/>
                  </a:moveTo>
                  <a:lnTo>
                    <a:pt x="381000" y="0"/>
                  </a:lnTo>
                </a:path>
              </a:pathLst>
            </a:custGeom>
            <a:noFill/>
            <a:ln w="19050">
              <a:solidFill>
                <a:schemeClr val="accent2"/>
              </a:solidFill>
            </a:ln>
          </p:spPr>
        </p:sp>
        <p:sp>
          <p:nvSpPr>
            <p:cNvPr id="35" name="Freeform 35"/>
            <p:cNvSpPr/>
            <p:nvPr/>
          </p:nvSpPr>
          <p:spPr>
            <a:xfrm>
              <a:off x="11125200" y="2362200"/>
              <a:ext cx="133350" cy="266700"/>
            </a:xfrm>
            <a:custGeom>
              <a:avLst/>
              <a:gdLst/>
              <a:ahLst/>
              <a:cxnLst/>
              <a:rect l="l" t="t" r="r" b="b"/>
              <a:pathLst>
                <a:path w="133350" h="266700">
                  <a:moveTo>
                    <a:pt x="0" y="0"/>
                  </a:moveTo>
                  <a:lnTo>
                    <a:pt x="133350" y="133350"/>
                  </a:lnTo>
                  <a:lnTo>
                    <a:pt x="0" y="266700"/>
                  </a:lnTo>
                </a:path>
              </a:pathLst>
            </a:custGeom>
            <a:noFill/>
            <a:ln w="19050">
              <a:solidFill>
                <a:schemeClr val="accent2"/>
              </a:solidFill>
            </a:ln>
          </p:spPr>
        </p:sp>
        <p:sp>
          <p:nvSpPr>
            <p:cNvPr id="36" name="TextBox 36"/>
            <p:cNvSpPr txBox="1"/>
            <p:nvPr/>
          </p:nvSpPr>
          <p:spPr>
            <a:xfrm>
              <a:off x="9843516" y="2267902"/>
              <a:ext cx="901179"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后续运营更轻</a:t>
              </a:r>
            </a:p>
          </p:txBody>
        </p:sp>
        <p:sp>
          <p:nvSpPr>
            <p:cNvPr id="37" name="TextBox 37"/>
            <p:cNvSpPr txBox="1"/>
            <p:nvPr/>
          </p:nvSpPr>
          <p:spPr>
            <a:xfrm>
              <a:off x="870966" y="4572952"/>
              <a:ext cx="1110177" cy="205359"/>
            </a:xfrm>
            <a:prstGeom prst="rect">
              <a:avLst/>
            </a:prstGeom>
            <a:noFill/>
            <a:ln>
              <a:noFill/>
            </a:ln>
          </p:spPr>
          <p:txBody>
            <a:bodyPr wrap="none" lIns="0" tIns="0" rIns="0" bIns="0" anchor="t" anchorCtr="0">
              <a:spAutoFit/>
            </a:bodyPr>
            <a:lstStyle/>
            <a:p>
              <a:pPr algn="l"/>
              <a:r>
                <a:rPr lang="zh-CN" sz="1050" b="1" spc="75" dirty="0">
                  <a:solidFill>
                    <a:schemeClr val="dk2"/>
                  </a:solidFill>
                  <a:latin typeface="+mn-lt"/>
                  <a:ea typeface="+mn-ea"/>
                  <a:cs typeface="+mn-cs"/>
                </a:rPr>
                <a:t>数据合规通过率</a:t>
              </a:r>
            </a:p>
          </p:txBody>
        </p:sp>
        <p:sp>
          <p:nvSpPr>
            <p:cNvPr id="38" name="TextBox 38"/>
            <p:cNvSpPr txBox="1"/>
            <p:nvPr/>
          </p:nvSpPr>
          <p:spPr>
            <a:xfrm>
              <a:off x="859536" y="4901565"/>
              <a:ext cx="1216396" cy="645414"/>
            </a:xfrm>
            <a:prstGeom prst="rect">
              <a:avLst/>
            </a:prstGeom>
            <a:noFill/>
            <a:ln>
              <a:noFill/>
            </a:ln>
          </p:spPr>
          <p:txBody>
            <a:bodyPr wrap="none" lIns="0" tIns="0" rIns="0" bIns="0" anchor="t" anchorCtr="0">
              <a:spAutoFit/>
            </a:bodyPr>
            <a:lstStyle/>
            <a:p>
              <a:pPr algn="l"/>
              <a:r>
                <a:rPr lang="en-US" sz="3300" b="1" dirty="0">
                  <a:solidFill>
                    <a:srgbClr val="2F855A"/>
                  </a:solidFill>
                  <a:latin typeface="+mj-lt"/>
                  <a:ea typeface="+mj-ea"/>
                  <a:cs typeface="+mj-cs"/>
                </a:rPr>
                <a:t>98%+</a:t>
              </a:r>
            </a:p>
          </p:txBody>
        </p:sp>
        <p:sp>
          <p:nvSpPr>
            <p:cNvPr id="39" name="TextBox 39"/>
            <p:cNvSpPr txBox="1"/>
            <p:nvPr/>
          </p:nvSpPr>
          <p:spPr>
            <a:xfrm>
              <a:off x="2259330" y="5095875"/>
              <a:ext cx="14287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审计项一次通过</a:t>
              </a:r>
            </a:p>
          </p:txBody>
        </p:sp>
        <p:sp>
          <p:nvSpPr>
            <p:cNvPr id="40" name="TextBox 40"/>
            <p:cNvSpPr txBox="1"/>
            <p:nvPr/>
          </p:nvSpPr>
          <p:spPr>
            <a:xfrm>
              <a:off x="869442" y="5435918"/>
              <a:ext cx="2375611"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内置 GDPR/PIPL 处理模板，</a:t>
              </a:r>
            </a:p>
          </p:txBody>
        </p:sp>
        <p:sp>
          <p:nvSpPr>
            <p:cNvPr id="41" name="TextBox 41"/>
            <p:cNvSpPr txBox="1"/>
            <p:nvPr/>
          </p:nvSpPr>
          <p:spPr>
            <a:xfrm>
              <a:off x="869442" y="5664518"/>
              <a:ext cx="1831086"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由已验证审计记录支撑</a:t>
              </a:r>
            </a:p>
          </p:txBody>
        </p:sp>
        <p:sp>
          <p:nvSpPr>
            <p:cNvPr id="42" name="Ellipse 42"/>
            <p:cNvSpPr/>
            <p:nvPr/>
          </p:nvSpPr>
          <p:spPr>
            <a:xfrm>
              <a:off x="4914900" y="4800600"/>
              <a:ext cx="495300" cy="495300"/>
            </a:xfrm>
            <a:prstGeom prst="ellipse">
              <a:avLst/>
            </a:prstGeom>
            <a:solidFill>
              <a:schemeClr val="accent6"/>
            </a:solidFill>
            <a:ln w="9525">
              <a:solidFill>
                <a:schemeClr val="accent3"/>
              </a:solidFill>
            </a:ln>
          </p:spPr>
        </p:sp>
        <p:sp>
          <p:nvSpPr>
            <p:cNvPr id="43" name="Freeform 43"/>
            <p:cNvSpPr/>
            <p:nvPr/>
          </p:nvSpPr>
          <p:spPr>
            <a:xfrm>
              <a:off x="5048250" y="4953000"/>
              <a:ext cx="247650" cy="190500"/>
            </a:xfrm>
            <a:custGeom>
              <a:avLst/>
              <a:gdLst/>
              <a:ahLst/>
              <a:cxnLst/>
              <a:rect l="l" t="t" r="r" b="b"/>
              <a:pathLst>
                <a:path w="247650" h="190500">
                  <a:moveTo>
                    <a:pt x="0" y="95250"/>
                  </a:moveTo>
                  <a:lnTo>
                    <a:pt x="95250" y="190500"/>
                  </a:lnTo>
                  <a:lnTo>
                    <a:pt x="247650" y="0"/>
                  </a:lnTo>
                </a:path>
              </a:pathLst>
            </a:custGeom>
            <a:noFill/>
            <a:ln w="28575" cap="rnd">
              <a:solidFill>
                <a:schemeClr val="accent2"/>
              </a:solidFill>
              <a:round/>
            </a:ln>
          </p:spPr>
        </p:sp>
        <p:sp>
          <p:nvSpPr>
            <p:cNvPr id="44" name="TextBox 44"/>
            <p:cNvSpPr txBox="1"/>
            <p:nvPr/>
          </p:nvSpPr>
          <p:spPr>
            <a:xfrm>
              <a:off x="6585966" y="4572952"/>
              <a:ext cx="951662" cy="205359"/>
            </a:xfrm>
            <a:prstGeom prst="rect">
              <a:avLst/>
            </a:prstGeom>
            <a:noFill/>
            <a:ln>
              <a:noFill/>
            </a:ln>
          </p:spPr>
          <p:txBody>
            <a:bodyPr wrap="none" lIns="0" tIns="0" rIns="0" bIns="0" anchor="t" anchorCtr="0">
              <a:spAutoFit/>
            </a:bodyPr>
            <a:lstStyle/>
            <a:p>
              <a:pPr algn="l"/>
              <a:r>
                <a:rPr lang="zh-CN" sz="1050" b="1" spc="75" dirty="0">
                  <a:solidFill>
                    <a:schemeClr val="dk2"/>
                  </a:solidFill>
                  <a:latin typeface="+mn-lt"/>
                  <a:ea typeface="+mn-ea"/>
                  <a:cs typeface="+mn-cs"/>
                </a:rPr>
                <a:t>团队学习成本</a:t>
              </a:r>
            </a:p>
          </p:txBody>
        </p:sp>
        <p:sp>
          <p:nvSpPr>
            <p:cNvPr id="45" name="TextBox 45"/>
            <p:cNvSpPr txBox="1"/>
            <p:nvPr/>
          </p:nvSpPr>
          <p:spPr>
            <a:xfrm>
              <a:off x="6574536" y="4901565"/>
              <a:ext cx="1709257" cy="645414"/>
            </a:xfrm>
            <a:prstGeom prst="rect">
              <a:avLst/>
            </a:prstGeom>
            <a:noFill/>
            <a:ln>
              <a:noFill/>
            </a:ln>
          </p:spPr>
          <p:txBody>
            <a:bodyPr wrap="none" lIns="0" tIns="0" rIns="0" bIns="0" anchor="t" anchorCtr="0">
              <a:spAutoFit/>
            </a:bodyPr>
            <a:lstStyle/>
            <a:p>
              <a:pPr algn="l"/>
              <a:r>
                <a:rPr lang="zh-CN" sz="3300" b="1" dirty="0">
                  <a:solidFill>
                    <a:schemeClr val="accent1"/>
                  </a:solidFill>
                  <a:latin typeface="+mj-lt"/>
                  <a:ea typeface="+mj-ea"/>
                  <a:cs typeface="+mj-cs"/>
                </a:rPr>
                <a:t>≤ 3人月</a:t>
              </a:r>
            </a:p>
          </p:txBody>
        </p:sp>
        <p:sp>
          <p:nvSpPr>
            <p:cNvPr id="46" name="TextBox 46"/>
            <p:cNvSpPr txBox="1"/>
            <p:nvPr/>
          </p:nvSpPr>
          <p:spPr>
            <a:xfrm>
              <a:off x="6584442" y="5435918"/>
              <a:ext cx="1831086"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营销运营岗无需编码，</a:t>
              </a:r>
            </a:p>
          </p:txBody>
        </p:sp>
        <p:sp>
          <p:nvSpPr>
            <p:cNvPr id="47" name="TextBox 47"/>
            <p:cNvSpPr txBox="1"/>
            <p:nvPr/>
          </p:nvSpPr>
          <p:spPr>
            <a:xfrm>
              <a:off x="6584442" y="5664518"/>
              <a:ext cx="2596439"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模型调优由供应商 AI 团队承担</a:t>
              </a:r>
            </a:p>
          </p:txBody>
        </p:sp>
        <p:sp>
          <p:nvSpPr>
            <p:cNvPr id="48" name="Freeform 48"/>
            <p:cNvSpPr/>
            <p:nvPr/>
          </p:nvSpPr>
          <p:spPr>
            <a:xfrm>
              <a:off x="10287000" y="4876800"/>
              <a:ext cx="1009650" cy="304800"/>
            </a:xfrm>
            <a:custGeom>
              <a:avLst/>
              <a:gdLst/>
              <a:ahLst/>
              <a:cxnLst/>
              <a:rect l="l" t="t" r="r" b="b"/>
              <a:pathLst>
                <a:path w="1009650" h="304800">
                  <a:moveTo>
                    <a:pt x="152400" y="0"/>
                  </a:moveTo>
                  <a:lnTo>
                    <a:pt x="857250" y="0"/>
                  </a:lnTo>
                  <a:cubicBezTo>
                    <a:pt x="941418" y="0"/>
                    <a:pt x="1009650" y="68232"/>
                    <a:pt x="1009650" y="152400"/>
                  </a:cubicBezTo>
                  <a:lnTo>
                    <a:pt x="1009650" y="152400"/>
                  </a:lnTo>
                  <a:cubicBezTo>
                    <a:pt x="1009650" y="236568"/>
                    <a:pt x="941418" y="304800"/>
                    <a:pt x="857250" y="304800"/>
                  </a:cubicBezTo>
                  <a:lnTo>
                    <a:pt x="152400" y="304800"/>
                  </a:lnTo>
                  <a:cubicBezTo>
                    <a:pt x="68232" y="304800"/>
                    <a:pt x="0" y="236568"/>
                    <a:pt x="0" y="152400"/>
                  </a:cubicBezTo>
                  <a:lnTo>
                    <a:pt x="0" y="152400"/>
                  </a:lnTo>
                  <a:cubicBezTo>
                    <a:pt x="0" y="68232"/>
                    <a:pt x="68232" y="0"/>
                    <a:pt x="152400" y="0"/>
                  </a:cubicBezTo>
                  <a:close/>
                </a:path>
              </a:pathLst>
            </a:custGeom>
            <a:solidFill>
              <a:schemeClr val="accent6"/>
            </a:solidFill>
            <a:ln>
              <a:noFill/>
            </a:ln>
          </p:spPr>
        </p:sp>
        <p:sp>
          <p:nvSpPr>
            <p:cNvPr id="49" name="TextBox 49"/>
            <p:cNvSpPr txBox="1"/>
            <p:nvPr/>
          </p:nvSpPr>
          <p:spPr>
            <a:xfrm>
              <a:off x="10489654" y="4963478"/>
              <a:ext cx="604342" cy="205359"/>
            </a:xfrm>
            <a:prstGeom prst="rect">
              <a:avLst/>
            </a:prstGeom>
            <a:noFill/>
            <a:ln>
              <a:noFill/>
            </a:ln>
          </p:spPr>
          <p:txBody>
            <a:bodyPr wrap="none" lIns="0" tIns="0" rIns="0" bIns="0" anchor="t" anchorCtr="0">
              <a:spAutoFit/>
            </a:bodyPr>
            <a:lstStyle/>
            <a:p>
              <a:pPr algn="ctr"/>
              <a:r>
                <a:rPr lang="zh-CN" sz="1050" b="1" dirty="0">
                  <a:solidFill>
                    <a:schemeClr val="accent2"/>
                  </a:solidFill>
                  <a:latin typeface="+mn-lt"/>
                  <a:ea typeface="+mn-ea"/>
                  <a:cs typeface="+mn-cs"/>
                </a:rPr>
                <a:t>轻量上手</a:t>
              </a:r>
            </a:p>
          </p:txBody>
        </p:sp>
      </p:grpSp>
      <p:grpSp>
        <p:nvGrpSpPr>
          <p:cNvPr id="52" name="Group 52"/>
          <p:cNvGrpSpPr/>
          <p:nvPr/>
        </p:nvGrpSpPr>
        <p:grpSpPr>
          <a:xfrm>
            <a:off x="571500" y="5981700"/>
            <a:ext cx="11049000" cy="228600"/>
            <a:chOff x="571500" y="5981700"/>
            <a:chExt cx="11049000" cy="228600"/>
          </a:xfrm>
        </p:grpSpPr>
        <p:sp>
          <p:nvSpPr>
            <p:cNvPr id="51" name="Freeform 51"/>
            <p:cNvSpPr/>
            <p:nvPr/>
          </p:nvSpPr>
          <p:spPr>
            <a:xfrm>
              <a:off x="571500" y="5981700"/>
              <a:ext cx="11049000" cy="228600"/>
            </a:xfrm>
            <a:custGeom>
              <a:avLst/>
              <a:gdLst/>
              <a:ahLst/>
              <a:cxnLst/>
              <a:rect l="l" t="t" r="r" b="b"/>
              <a:pathLst>
                <a:path w="11049000" h="228600">
                  <a:moveTo>
                    <a:pt x="114300" y="0"/>
                  </a:moveTo>
                  <a:lnTo>
                    <a:pt x="10934700" y="0"/>
                  </a:lnTo>
                  <a:cubicBezTo>
                    <a:pt x="10997826" y="0"/>
                    <a:pt x="11049000" y="51174"/>
                    <a:pt x="11049000" y="114300"/>
                  </a:cubicBezTo>
                  <a:lnTo>
                    <a:pt x="11049000" y="114300"/>
                  </a:lnTo>
                  <a:cubicBezTo>
                    <a:pt x="11049000" y="177426"/>
                    <a:pt x="10997826" y="228600"/>
                    <a:pt x="10934700" y="228600"/>
                  </a:cubicBezTo>
                  <a:lnTo>
                    <a:pt x="114300" y="228600"/>
                  </a:lnTo>
                  <a:cubicBezTo>
                    <a:pt x="51174" y="228600"/>
                    <a:pt x="0" y="177426"/>
                    <a:pt x="0" y="114300"/>
                  </a:cubicBezTo>
                  <a:lnTo>
                    <a:pt x="0" y="114300"/>
                  </a:lnTo>
                  <a:cubicBezTo>
                    <a:pt x="0" y="51174"/>
                    <a:pt x="51174" y="0"/>
                    <a:pt x="114300" y="0"/>
                  </a:cubicBezTo>
                  <a:close/>
                </a:path>
              </a:pathLst>
            </a:custGeom>
            <a:solidFill>
              <a:schemeClr val="lt2"/>
            </a:solidFill>
            <a:ln>
              <a:noFill/>
            </a:ln>
          </p:spPr>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6858000"/>
            </a:xfrm>
            <a:prstGeom prst="rect">
              <a:avLst/>
            </a:prstGeom>
            <a:gradFill>
              <a:gsLst>
                <a:gs pos="0">
                  <a:schemeClr val="accent2">
                    <a:alpha val="12000"/>
                  </a:schemeClr>
                </a:gs>
                <a:gs pos="100000">
                  <a:schemeClr val="accent2">
                    <a:alpha val="0"/>
                  </a:schemeClr>
                </a:gs>
              </a:gsLst>
              <a:path path="circle">
                <a:fillToRect l="50000" t="50000" r="50000" b="50000"/>
              </a:path>
            </a:gradFill>
            <a:ln>
              <a:noFill/>
            </a:ln>
          </p:spPr>
        </p:sp>
        <p:sp>
          <p:nvSpPr>
            <p:cNvPr id="4" name="Line 4"/>
            <p:cNvSpPr/>
            <p:nvPr/>
          </p:nvSpPr>
          <p:spPr>
            <a:xfrm>
              <a:off x="571500" y="914400"/>
              <a:ext cx="11049000" cy="9525"/>
            </a:xfrm>
            <a:custGeom>
              <a:avLst/>
              <a:gdLst/>
              <a:ahLst/>
              <a:cxnLst/>
              <a:rect l="l" t="t" r="r" b="b"/>
              <a:pathLst>
                <a:path w="11049000" h="9525">
                  <a:moveTo>
                    <a:pt x="0" y="0"/>
                  </a:moveTo>
                  <a:lnTo>
                    <a:pt x="11049000" y="0"/>
                  </a:lnTo>
                </a:path>
              </a:pathLst>
            </a:custGeom>
            <a:noFill/>
            <a:ln w="19050">
              <a:solidFill>
                <a:schemeClr val="accent2"/>
              </a:solidFill>
            </a:ln>
          </p:spPr>
        </p:sp>
        <p:sp>
          <p:nvSpPr>
            <p:cNvPr id="5" name="Line 5"/>
            <p:cNvSpPr/>
            <p:nvPr/>
          </p:nvSpPr>
          <p:spPr>
            <a:xfrm>
              <a:off x="571500" y="6419850"/>
              <a:ext cx="11049000" cy="9525"/>
            </a:xfrm>
            <a:custGeom>
              <a:avLst/>
              <a:gdLst/>
              <a:ahLst/>
              <a:cxnLst/>
              <a:rect l="l" t="t" r="r" b="b"/>
              <a:pathLst>
                <a:path w="11049000" h="9525">
                  <a:moveTo>
                    <a:pt x="0" y="0"/>
                  </a:moveTo>
                  <a:lnTo>
                    <a:pt x="11049000" y="0"/>
                  </a:lnTo>
                </a:path>
              </a:pathLst>
            </a:custGeom>
            <a:noFill/>
            <a:ln w="9525">
              <a:solidFill>
                <a:schemeClr val="accent4"/>
              </a:solidFill>
            </a:ln>
          </p:spPr>
        </p:sp>
        <p:sp>
          <p:nvSpPr>
            <p:cNvPr id="6" name="Line 6"/>
            <p:cNvSpPr/>
            <p:nvPr/>
          </p:nvSpPr>
          <p:spPr>
            <a:xfrm>
              <a:off x="7905750" y="1143000"/>
              <a:ext cx="9525" cy="4953000"/>
            </a:xfrm>
            <a:custGeom>
              <a:avLst/>
              <a:gdLst/>
              <a:ahLst/>
              <a:cxnLst/>
              <a:rect l="l" t="t" r="r" b="b"/>
              <a:pathLst>
                <a:path w="9525" h="4953000">
                  <a:moveTo>
                    <a:pt x="0" y="0"/>
                  </a:moveTo>
                  <a:lnTo>
                    <a:pt x="0" y="4953000"/>
                  </a:lnTo>
                </a:path>
              </a:pathLst>
            </a:custGeom>
            <a:noFill/>
            <a:ln w="9525">
              <a:solidFill>
                <a:schemeClr val="accent4"/>
              </a:solidFill>
            </a:ln>
          </p:spPr>
        </p:sp>
      </p:grpSp>
      <p:grpSp>
        <p:nvGrpSpPr>
          <p:cNvPr id="12" name="Group 12"/>
          <p:cNvGrpSpPr/>
          <p:nvPr/>
        </p:nvGrpSpPr>
        <p:grpSpPr>
          <a:xfrm>
            <a:off x="557784" y="343852"/>
            <a:ext cx="10743628" cy="6396514"/>
            <a:chOff x="557784" y="343852"/>
            <a:chExt cx="10743628" cy="6396514"/>
          </a:xfrm>
        </p:grpSpPr>
        <p:sp>
          <p:nvSpPr>
            <p:cNvPr id="8" name="TextBox 8"/>
            <p:cNvSpPr txBox="1"/>
            <p:nvPr/>
          </p:nvSpPr>
          <p:spPr>
            <a:xfrm>
              <a:off x="566166" y="343852"/>
              <a:ext cx="865175" cy="205359"/>
            </a:xfrm>
            <a:prstGeom prst="rect">
              <a:avLst/>
            </a:prstGeom>
            <a:noFill/>
            <a:ln>
              <a:noFill/>
            </a:ln>
          </p:spPr>
          <p:txBody>
            <a:bodyPr wrap="none" lIns="0" tIns="0" rIns="0" bIns="0" anchor="t" anchorCtr="0">
              <a:spAutoFit/>
            </a:bodyPr>
            <a:lstStyle/>
            <a:p>
              <a:pPr algn="l"/>
              <a:r>
                <a:rPr lang="en-US" sz="1050" spc="75" dirty="0">
                  <a:solidFill>
                    <a:schemeClr val="accent2"/>
                  </a:solidFill>
                  <a:latin typeface="Consolas"/>
                  <a:ea typeface="Consolas"/>
                  <a:cs typeface="Consolas"/>
                </a:rPr>
                <a:t>SPREADMAP</a:t>
              </a:r>
            </a:p>
          </p:txBody>
        </p:sp>
        <p:sp>
          <p:nvSpPr>
            <p:cNvPr id="9" name="TextBox 9"/>
            <p:cNvSpPr txBox="1"/>
            <p:nvPr/>
          </p:nvSpPr>
          <p:spPr>
            <a:xfrm>
              <a:off x="557784" y="508635"/>
              <a:ext cx="5713263" cy="528066"/>
            </a:xfrm>
            <a:prstGeom prst="rect">
              <a:avLst/>
            </a:prstGeom>
            <a:noFill/>
            <a:ln>
              <a:noFill/>
            </a:ln>
          </p:spPr>
          <p:txBody>
            <a:bodyPr wrap="none" lIns="0" tIns="0" rIns="0" bIns="0" anchor="t" anchorCtr="0">
              <a:spAutoFit/>
            </a:bodyPr>
            <a:lstStyle/>
            <a:p>
              <a:pPr algn="l"/>
              <a:r>
                <a:rPr lang="zh-CN" sz="2700" b="1" dirty="0">
                  <a:gradFill>
                    <a:gsLst>
                      <a:gs pos="0">
                        <a:schemeClr val="accent1"/>
                      </a:gs>
                      <a:gs pos="100000">
                        <a:schemeClr val="accent2"/>
                      </a:gs>
                    </a:gsLst>
                    <a:lin ang="2700000" scaled="1"/>
                  </a:gradFill>
                  <a:latin typeface="+mj-lt"/>
                  <a:ea typeface="+mj-ea"/>
                  <a:cs typeface="+mj-cs"/>
                </a:rPr>
                <a:t>部署前vs部署后：关键效率指标</a:t>
              </a:r>
            </a:p>
          </p:txBody>
        </p:sp>
        <p:sp>
          <p:nvSpPr>
            <p:cNvPr id="10" name="TextBox 10"/>
            <p:cNvSpPr txBox="1"/>
            <p:nvPr/>
          </p:nvSpPr>
          <p:spPr>
            <a:xfrm>
              <a:off x="566738" y="6578441"/>
              <a:ext cx="1265149"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企业 AI 营销工作台 · 07</a:t>
              </a:r>
            </a:p>
          </p:txBody>
        </p:sp>
        <p:sp>
          <p:nvSpPr>
            <p:cNvPr id="11" name="TextBox 11"/>
            <p:cNvSpPr txBox="1"/>
            <p:nvPr/>
          </p:nvSpPr>
          <p:spPr>
            <a:xfrm>
              <a:off x="10464479" y="6578441"/>
              <a:ext cx="836933"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product-launch</a:t>
              </a:r>
            </a:p>
          </p:txBody>
        </p:sp>
      </p:grpSp>
      <p:grpSp>
        <p:nvGrpSpPr>
          <p:cNvPr id="77" name="Group 77"/>
          <p:cNvGrpSpPr/>
          <p:nvPr/>
        </p:nvGrpSpPr>
        <p:grpSpPr>
          <a:xfrm>
            <a:off x="564642" y="1073468"/>
            <a:ext cx="11288573" cy="5387530"/>
            <a:chOff x="564642" y="1073468"/>
            <a:chExt cx="11288573" cy="5387530"/>
          </a:xfrm>
        </p:grpSpPr>
        <p:sp>
          <p:nvSpPr>
            <p:cNvPr id="13" name="TextBox 13"/>
            <p:cNvSpPr txBox="1"/>
            <p:nvPr/>
          </p:nvSpPr>
          <p:spPr>
            <a:xfrm>
              <a:off x="564642" y="1073468"/>
              <a:ext cx="6744157" cy="264033"/>
            </a:xfrm>
            <a:prstGeom prst="rect">
              <a:avLst/>
            </a:prstGeom>
            <a:noFill/>
            <a:ln>
              <a:noFill/>
            </a:ln>
          </p:spPr>
          <p:txBody>
            <a:bodyPr wrap="none" lIns="0" tIns="0" rIns="0" bIns="0" anchor="t" anchorCtr="0">
              <a:spAutoFit/>
            </a:bodyPr>
            <a:lstStyle/>
            <a:p>
              <a:pPr algn="l"/>
              <a:r>
                <a:rPr lang="zh-CN" sz="1350" dirty="0">
                  <a:solidFill>
                    <a:schemeClr val="dk2"/>
                  </a:solidFill>
                  <a:latin typeface="+mn-lt"/>
                  <a:ea typeface="+mn-ea"/>
                  <a:cs typeface="+mn-cs"/>
                </a:rPr>
                <a:t>数据来自10家同规模企业部署同类AI工作台的平均表现，基线为部署前12个月。</a:t>
              </a:r>
            </a:p>
          </p:txBody>
        </p:sp>
        <p:sp>
          <p:nvSpPr>
            <p:cNvPr id="14" name="Freeform 14"/>
            <p:cNvSpPr/>
            <p:nvPr/>
          </p:nvSpPr>
          <p:spPr>
            <a:xfrm>
              <a:off x="571500" y="1543050"/>
              <a:ext cx="7067550" cy="4381500"/>
            </a:xfrm>
            <a:custGeom>
              <a:avLst/>
              <a:gdLst/>
              <a:ahLst/>
              <a:cxnLst/>
              <a:rect l="l" t="t" r="r" b="b"/>
              <a:pathLst>
                <a:path w="7067550" h="4381500">
                  <a:moveTo>
                    <a:pt x="114300" y="0"/>
                  </a:moveTo>
                  <a:lnTo>
                    <a:pt x="6953250" y="0"/>
                  </a:lnTo>
                  <a:cubicBezTo>
                    <a:pt x="7016376" y="0"/>
                    <a:pt x="7067550" y="51174"/>
                    <a:pt x="7067550" y="114300"/>
                  </a:cubicBezTo>
                  <a:lnTo>
                    <a:pt x="7067550" y="4267200"/>
                  </a:lnTo>
                  <a:cubicBezTo>
                    <a:pt x="7067550" y="4330326"/>
                    <a:pt x="7016376" y="4381500"/>
                    <a:pt x="6953250" y="4381500"/>
                  </a:cubicBezTo>
                  <a:lnTo>
                    <a:pt x="114300" y="4381500"/>
                  </a:lnTo>
                  <a:cubicBezTo>
                    <a:pt x="51174" y="4381500"/>
                    <a:pt x="0" y="4330326"/>
                    <a:pt x="0" y="4267200"/>
                  </a:cubicBezTo>
                  <a:lnTo>
                    <a:pt x="0" y="114300"/>
                  </a:lnTo>
                  <a:cubicBezTo>
                    <a:pt x="0" y="51174"/>
                    <a:pt x="51174" y="0"/>
                    <a:pt x="114300" y="0"/>
                  </a:cubicBezTo>
                  <a:close/>
                </a:path>
              </a:pathLst>
            </a:custGeom>
            <a:solidFill>
              <a:schemeClr val="lt2"/>
            </a:solidFill>
            <a:ln w="9525">
              <a:solidFill>
                <a:schemeClr val="accent4"/>
              </a:solidFill>
            </a:ln>
          </p:spPr>
        </p:sp>
        <p:sp>
          <p:nvSpPr>
            <p:cNvPr id="15" name="Freeform 15"/>
            <p:cNvSpPr/>
            <p:nvPr/>
          </p:nvSpPr>
          <p:spPr>
            <a:xfrm>
              <a:off x="800100" y="1790700"/>
              <a:ext cx="6610350" cy="3905250"/>
            </a:xfrm>
            <a:custGeom>
              <a:avLst/>
              <a:gdLst/>
              <a:ahLst/>
              <a:cxnLst/>
              <a:rect l="l" t="t" r="r" b="b"/>
              <a:pathLst>
                <a:path w="6610350" h="3905250">
                  <a:moveTo>
                    <a:pt x="95250" y="0"/>
                  </a:moveTo>
                  <a:lnTo>
                    <a:pt x="6515100" y="0"/>
                  </a:lnTo>
                  <a:cubicBezTo>
                    <a:pt x="6567705" y="0"/>
                    <a:pt x="6610350" y="42645"/>
                    <a:pt x="6610350" y="95250"/>
                  </a:cubicBezTo>
                  <a:lnTo>
                    <a:pt x="6610350" y="3810000"/>
                  </a:lnTo>
                  <a:cubicBezTo>
                    <a:pt x="6610350" y="3862605"/>
                    <a:pt x="6567705" y="3905250"/>
                    <a:pt x="6515100" y="3905250"/>
                  </a:cubicBezTo>
                  <a:lnTo>
                    <a:pt x="95250" y="3905250"/>
                  </a:lnTo>
                  <a:cubicBezTo>
                    <a:pt x="42645" y="3905250"/>
                    <a:pt x="0" y="3862605"/>
                    <a:pt x="0" y="3810000"/>
                  </a:cubicBezTo>
                  <a:lnTo>
                    <a:pt x="0" y="95250"/>
                  </a:lnTo>
                  <a:cubicBezTo>
                    <a:pt x="0" y="42645"/>
                    <a:pt x="42645" y="0"/>
                    <a:pt x="95250" y="0"/>
                  </a:cubicBezTo>
                  <a:close/>
                </a:path>
              </a:pathLst>
            </a:custGeom>
            <a:solidFill>
              <a:schemeClr val="lt1"/>
            </a:solidFill>
            <a:ln w="9525">
              <a:solidFill>
                <a:schemeClr val="accent4"/>
              </a:solidFill>
            </a:ln>
          </p:spPr>
        </p:sp>
        <p:sp>
          <p:nvSpPr>
            <p:cNvPr id="16" name="Line 16"/>
            <p:cNvSpPr/>
            <p:nvPr/>
          </p:nvSpPr>
          <p:spPr>
            <a:xfrm>
              <a:off x="1371600" y="2038350"/>
              <a:ext cx="9525" cy="3333750"/>
            </a:xfrm>
            <a:custGeom>
              <a:avLst/>
              <a:gdLst/>
              <a:ahLst/>
              <a:cxnLst/>
              <a:rect l="l" t="t" r="r" b="b"/>
              <a:pathLst>
                <a:path w="9525" h="3333750">
                  <a:moveTo>
                    <a:pt x="0" y="0"/>
                  </a:moveTo>
                  <a:lnTo>
                    <a:pt x="0" y="3333750"/>
                  </a:lnTo>
                </a:path>
              </a:pathLst>
            </a:custGeom>
            <a:noFill/>
            <a:ln w="9525">
              <a:solidFill>
                <a:schemeClr val="accent4"/>
              </a:solidFill>
            </a:ln>
          </p:spPr>
        </p:sp>
        <p:sp>
          <p:nvSpPr>
            <p:cNvPr id="17" name="Line 17"/>
            <p:cNvSpPr/>
            <p:nvPr/>
          </p:nvSpPr>
          <p:spPr>
            <a:xfrm>
              <a:off x="1371600" y="5372100"/>
              <a:ext cx="5638800" cy="9525"/>
            </a:xfrm>
            <a:custGeom>
              <a:avLst/>
              <a:gdLst/>
              <a:ahLst/>
              <a:cxnLst/>
              <a:rect l="l" t="t" r="r" b="b"/>
              <a:pathLst>
                <a:path w="5638800" h="9525">
                  <a:moveTo>
                    <a:pt x="0" y="0"/>
                  </a:moveTo>
                  <a:lnTo>
                    <a:pt x="5638800" y="0"/>
                  </a:lnTo>
                </a:path>
              </a:pathLst>
            </a:custGeom>
            <a:noFill/>
            <a:ln w="14288">
              <a:solidFill>
                <a:schemeClr val="accent1"/>
              </a:solidFill>
            </a:ln>
          </p:spPr>
        </p:sp>
        <p:sp>
          <p:nvSpPr>
            <p:cNvPr id="18" name="Line 18"/>
            <p:cNvSpPr/>
            <p:nvPr/>
          </p:nvSpPr>
          <p:spPr>
            <a:xfrm>
              <a:off x="1371600" y="4705350"/>
              <a:ext cx="5638800" cy="9525"/>
            </a:xfrm>
            <a:custGeom>
              <a:avLst/>
              <a:gdLst/>
              <a:ahLst/>
              <a:cxnLst/>
              <a:rect l="l" t="t" r="r" b="b"/>
              <a:pathLst>
                <a:path w="5638800" h="9525">
                  <a:moveTo>
                    <a:pt x="0" y="0"/>
                  </a:moveTo>
                  <a:lnTo>
                    <a:pt x="5638800" y="0"/>
                  </a:lnTo>
                </a:path>
              </a:pathLst>
            </a:custGeom>
            <a:noFill/>
            <a:ln w="9525">
              <a:solidFill>
                <a:schemeClr val="accent4"/>
              </a:solidFill>
            </a:ln>
          </p:spPr>
        </p:sp>
        <p:sp>
          <p:nvSpPr>
            <p:cNvPr id="19" name="Line 19"/>
            <p:cNvSpPr/>
            <p:nvPr/>
          </p:nvSpPr>
          <p:spPr>
            <a:xfrm>
              <a:off x="1371600" y="4038600"/>
              <a:ext cx="5638800" cy="9525"/>
            </a:xfrm>
            <a:custGeom>
              <a:avLst/>
              <a:gdLst/>
              <a:ahLst/>
              <a:cxnLst/>
              <a:rect l="l" t="t" r="r" b="b"/>
              <a:pathLst>
                <a:path w="5638800" h="9525">
                  <a:moveTo>
                    <a:pt x="0" y="0"/>
                  </a:moveTo>
                  <a:lnTo>
                    <a:pt x="5638800" y="0"/>
                  </a:lnTo>
                </a:path>
              </a:pathLst>
            </a:custGeom>
            <a:noFill/>
            <a:ln w="9525">
              <a:solidFill>
                <a:schemeClr val="accent4"/>
              </a:solidFill>
            </a:ln>
          </p:spPr>
        </p:sp>
        <p:sp>
          <p:nvSpPr>
            <p:cNvPr id="20" name="Line 20"/>
            <p:cNvSpPr/>
            <p:nvPr/>
          </p:nvSpPr>
          <p:spPr>
            <a:xfrm>
              <a:off x="1371600" y="3371850"/>
              <a:ext cx="5638800" cy="9525"/>
            </a:xfrm>
            <a:custGeom>
              <a:avLst/>
              <a:gdLst/>
              <a:ahLst/>
              <a:cxnLst/>
              <a:rect l="l" t="t" r="r" b="b"/>
              <a:pathLst>
                <a:path w="5638800" h="9525">
                  <a:moveTo>
                    <a:pt x="0" y="0"/>
                  </a:moveTo>
                  <a:lnTo>
                    <a:pt x="5638800" y="0"/>
                  </a:lnTo>
                </a:path>
              </a:pathLst>
            </a:custGeom>
            <a:noFill/>
            <a:ln w="9525">
              <a:solidFill>
                <a:schemeClr val="accent4"/>
              </a:solidFill>
            </a:ln>
          </p:spPr>
        </p:sp>
        <p:sp>
          <p:nvSpPr>
            <p:cNvPr id="21" name="Line 21"/>
            <p:cNvSpPr/>
            <p:nvPr/>
          </p:nvSpPr>
          <p:spPr>
            <a:xfrm>
              <a:off x="1371600" y="2705100"/>
              <a:ext cx="5638800" cy="9525"/>
            </a:xfrm>
            <a:custGeom>
              <a:avLst/>
              <a:gdLst/>
              <a:ahLst/>
              <a:cxnLst/>
              <a:rect l="l" t="t" r="r" b="b"/>
              <a:pathLst>
                <a:path w="5638800" h="9525">
                  <a:moveTo>
                    <a:pt x="0" y="0"/>
                  </a:moveTo>
                  <a:lnTo>
                    <a:pt x="5638800" y="0"/>
                  </a:lnTo>
                </a:path>
              </a:pathLst>
            </a:custGeom>
            <a:noFill/>
            <a:ln w="9525">
              <a:solidFill>
                <a:schemeClr val="accent4"/>
              </a:solidFill>
            </a:ln>
          </p:spPr>
        </p:sp>
        <p:sp>
          <p:nvSpPr>
            <p:cNvPr id="22" name="Line 22"/>
            <p:cNvSpPr/>
            <p:nvPr/>
          </p:nvSpPr>
          <p:spPr>
            <a:xfrm>
              <a:off x="1371600" y="2038350"/>
              <a:ext cx="5638800" cy="9525"/>
            </a:xfrm>
            <a:custGeom>
              <a:avLst/>
              <a:gdLst/>
              <a:ahLst/>
              <a:cxnLst/>
              <a:rect l="l" t="t" r="r" b="b"/>
              <a:pathLst>
                <a:path w="5638800" h="9525">
                  <a:moveTo>
                    <a:pt x="0" y="0"/>
                  </a:moveTo>
                  <a:lnTo>
                    <a:pt x="5638800" y="0"/>
                  </a:lnTo>
                </a:path>
              </a:pathLst>
            </a:custGeom>
            <a:noFill/>
            <a:ln w="9525">
              <a:solidFill>
                <a:schemeClr val="accent4"/>
              </a:solidFill>
            </a:ln>
          </p:spPr>
        </p:sp>
        <p:sp>
          <p:nvSpPr>
            <p:cNvPr id="23" name="TextBox 23"/>
            <p:cNvSpPr txBox="1"/>
            <p:nvPr/>
          </p:nvSpPr>
          <p:spPr>
            <a:xfrm>
              <a:off x="1185901" y="5322570"/>
              <a:ext cx="76162"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Consolas"/>
                  <a:ea typeface="Consolas"/>
                  <a:cs typeface="Consolas"/>
                </a:rPr>
                <a:t>0</a:t>
              </a:r>
            </a:p>
          </p:txBody>
        </p:sp>
        <p:sp>
          <p:nvSpPr>
            <p:cNvPr id="24" name="TextBox 24"/>
            <p:cNvSpPr txBox="1"/>
            <p:nvPr/>
          </p:nvSpPr>
          <p:spPr>
            <a:xfrm>
              <a:off x="1119264" y="4655820"/>
              <a:ext cx="142799"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Consolas"/>
                  <a:ea typeface="Consolas"/>
                  <a:cs typeface="Consolas"/>
                </a:rPr>
                <a:t>20</a:t>
              </a:r>
            </a:p>
          </p:txBody>
        </p:sp>
        <p:sp>
          <p:nvSpPr>
            <p:cNvPr id="25" name="TextBox 25"/>
            <p:cNvSpPr txBox="1"/>
            <p:nvPr/>
          </p:nvSpPr>
          <p:spPr>
            <a:xfrm>
              <a:off x="1119264" y="3989070"/>
              <a:ext cx="142799"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Consolas"/>
                  <a:ea typeface="Consolas"/>
                  <a:cs typeface="Consolas"/>
                </a:rPr>
                <a:t>40</a:t>
              </a:r>
            </a:p>
          </p:txBody>
        </p:sp>
        <p:sp>
          <p:nvSpPr>
            <p:cNvPr id="26" name="TextBox 26"/>
            <p:cNvSpPr txBox="1"/>
            <p:nvPr/>
          </p:nvSpPr>
          <p:spPr>
            <a:xfrm>
              <a:off x="1119264" y="3322320"/>
              <a:ext cx="142799"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Consolas"/>
                  <a:ea typeface="Consolas"/>
                  <a:cs typeface="Consolas"/>
                </a:rPr>
                <a:t>60</a:t>
              </a:r>
            </a:p>
          </p:txBody>
        </p:sp>
        <p:sp>
          <p:nvSpPr>
            <p:cNvPr id="27" name="TextBox 27"/>
            <p:cNvSpPr txBox="1"/>
            <p:nvPr/>
          </p:nvSpPr>
          <p:spPr>
            <a:xfrm>
              <a:off x="1119264" y="2655570"/>
              <a:ext cx="142799"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Consolas"/>
                  <a:ea typeface="Consolas"/>
                  <a:cs typeface="Consolas"/>
                </a:rPr>
                <a:t>80</a:t>
              </a:r>
            </a:p>
          </p:txBody>
        </p:sp>
        <p:sp>
          <p:nvSpPr>
            <p:cNvPr id="28" name="TextBox 28"/>
            <p:cNvSpPr txBox="1"/>
            <p:nvPr/>
          </p:nvSpPr>
          <p:spPr>
            <a:xfrm>
              <a:off x="1052627" y="1988820"/>
              <a:ext cx="209436"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Consolas"/>
                  <a:ea typeface="Consolas"/>
                  <a:cs typeface="Consolas"/>
                </a:rPr>
                <a:t>100</a:t>
              </a:r>
            </a:p>
          </p:txBody>
        </p:sp>
        <p:sp>
          <p:nvSpPr>
            <p:cNvPr id="29" name="TextBox 29"/>
            <p:cNvSpPr txBox="1"/>
            <p:nvPr/>
          </p:nvSpPr>
          <p:spPr>
            <a:xfrm>
              <a:off x="1805940" y="5479256"/>
              <a:ext cx="617220" cy="220028"/>
            </a:xfrm>
            <a:prstGeom prst="rect">
              <a:avLst/>
            </a:prstGeom>
            <a:noFill/>
            <a:ln>
              <a:noFill/>
            </a:ln>
          </p:spPr>
          <p:txBody>
            <a:bodyPr wrap="none" lIns="0" tIns="0" rIns="0" bIns="0" anchor="t" anchorCtr="0">
              <a:spAutoFit/>
            </a:bodyPr>
            <a:lstStyle/>
            <a:p>
              <a:pPr algn="ctr"/>
              <a:r>
                <a:rPr lang="zh-CN" sz="1120" dirty="0">
                  <a:solidFill>
                    <a:schemeClr val="dk2"/>
                  </a:solidFill>
                  <a:latin typeface="+mn-lt"/>
                  <a:ea typeface="+mn-ea"/>
                  <a:cs typeface="+mn-cs"/>
                </a:rPr>
                <a:t>数据整合</a:t>
              </a:r>
            </a:p>
          </p:txBody>
        </p:sp>
        <p:sp>
          <p:nvSpPr>
            <p:cNvPr id="30" name="TextBox 30"/>
            <p:cNvSpPr txBox="1"/>
            <p:nvPr/>
          </p:nvSpPr>
          <p:spPr>
            <a:xfrm>
              <a:off x="3309556" y="5479256"/>
              <a:ext cx="467487" cy="220028"/>
            </a:xfrm>
            <a:prstGeom prst="rect">
              <a:avLst/>
            </a:prstGeom>
            <a:noFill/>
            <a:ln>
              <a:noFill/>
            </a:ln>
          </p:spPr>
          <p:txBody>
            <a:bodyPr wrap="none" lIns="0" tIns="0" rIns="0" bIns="0" anchor="t" anchorCtr="0">
              <a:spAutoFit/>
            </a:bodyPr>
            <a:lstStyle/>
            <a:p>
              <a:pPr algn="ctr"/>
              <a:r>
                <a:rPr lang="zh-CN" sz="1120" dirty="0">
                  <a:solidFill>
                    <a:schemeClr val="dk2"/>
                  </a:solidFill>
                  <a:latin typeface="+mn-lt"/>
                  <a:ea typeface="+mn-ea"/>
                  <a:cs typeface="+mn-cs"/>
                </a:rPr>
                <a:t>AI分析</a:t>
              </a:r>
            </a:p>
          </p:txBody>
        </p:sp>
        <p:sp>
          <p:nvSpPr>
            <p:cNvPr id="31" name="TextBox 31"/>
            <p:cNvSpPr txBox="1"/>
            <p:nvPr/>
          </p:nvSpPr>
          <p:spPr>
            <a:xfrm>
              <a:off x="4587716" y="5479256"/>
              <a:ext cx="768668" cy="220028"/>
            </a:xfrm>
            <a:prstGeom prst="rect">
              <a:avLst/>
            </a:prstGeom>
            <a:noFill/>
            <a:ln>
              <a:noFill/>
            </a:ln>
          </p:spPr>
          <p:txBody>
            <a:bodyPr wrap="none" lIns="0" tIns="0" rIns="0" bIns="0" anchor="t" anchorCtr="0">
              <a:spAutoFit/>
            </a:bodyPr>
            <a:lstStyle/>
            <a:p>
              <a:pPr algn="ctr"/>
              <a:r>
                <a:rPr lang="zh-CN" sz="1120" dirty="0">
                  <a:solidFill>
                    <a:schemeClr val="dk2"/>
                  </a:solidFill>
                  <a:latin typeface="+mn-lt"/>
                  <a:ea typeface="+mn-ea"/>
                  <a:cs typeface="+mn-cs"/>
                </a:rPr>
                <a:t>自动化执行</a:t>
              </a:r>
            </a:p>
          </p:txBody>
        </p:sp>
        <p:sp>
          <p:nvSpPr>
            <p:cNvPr id="32" name="TextBox 32"/>
            <p:cNvSpPr txBox="1"/>
            <p:nvPr/>
          </p:nvSpPr>
          <p:spPr>
            <a:xfrm>
              <a:off x="6092190" y="5479256"/>
              <a:ext cx="617220" cy="220028"/>
            </a:xfrm>
            <a:prstGeom prst="rect">
              <a:avLst/>
            </a:prstGeom>
            <a:noFill/>
            <a:ln>
              <a:noFill/>
            </a:ln>
          </p:spPr>
          <p:txBody>
            <a:bodyPr wrap="none" lIns="0" tIns="0" rIns="0" bIns="0" anchor="t" anchorCtr="0">
              <a:spAutoFit/>
            </a:bodyPr>
            <a:lstStyle/>
            <a:p>
              <a:pPr algn="ctr"/>
              <a:r>
                <a:rPr lang="zh-CN" sz="1120" dirty="0">
                  <a:solidFill>
                    <a:schemeClr val="dk2"/>
                  </a:solidFill>
                  <a:latin typeface="+mn-lt"/>
                  <a:ea typeface="+mn-ea"/>
                  <a:cs typeface="+mn-cs"/>
                </a:rPr>
                <a:t>效果度量</a:t>
              </a:r>
            </a:p>
          </p:txBody>
        </p:sp>
        <p:sp>
          <p:nvSpPr>
            <p:cNvPr id="33" name="Line 33"/>
            <p:cNvSpPr/>
            <p:nvPr/>
          </p:nvSpPr>
          <p:spPr>
            <a:xfrm flipV="1">
              <a:off x="2114550" y="4572000"/>
              <a:ext cx="1428750" cy="66675"/>
            </a:xfrm>
            <a:prstGeom prst="line">
              <a:avLst/>
            </a:prstGeom>
            <a:noFill/>
            <a:ln w="38100">
              <a:solidFill>
                <a:schemeClr val="accent2"/>
              </a:solidFill>
              <a:tailEnd type="triangle" w="lg" len="lg"/>
            </a:ln>
          </p:spPr>
        </p:sp>
        <p:sp>
          <p:nvSpPr>
            <p:cNvPr id="34" name="Line 34"/>
            <p:cNvSpPr/>
            <p:nvPr/>
          </p:nvSpPr>
          <p:spPr>
            <a:xfrm>
              <a:off x="3543300" y="4572000"/>
              <a:ext cx="1428750" cy="1000125"/>
            </a:xfrm>
            <a:prstGeom prst="line">
              <a:avLst/>
            </a:prstGeom>
            <a:noFill/>
            <a:ln w="38100">
              <a:solidFill>
                <a:schemeClr val="accent2"/>
              </a:solidFill>
              <a:tailEnd type="triangle" w="lg" len="lg"/>
            </a:ln>
          </p:spPr>
        </p:sp>
        <p:sp>
          <p:nvSpPr>
            <p:cNvPr id="35" name="Line 35"/>
            <p:cNvSpPr/>
            <p:nvPr/>
          </p:nvSpPr>
          <p:spPr>
            <a:xfrm>
              <a:off x="4972050" y="5572125"/>
              <a:ext cx="1428750" cy="466725"/>
            </a:xfrm>
            <a:prstGeom prst="line">
              <a:avLst/>
            </a:prstGeom>
            <a:noFill/>
            <a:ln w="38100">
              <a:solidFill>
                <a:schemeClr val="accent2"/>
              </a:solidFill>
              <a:tailEnd type="triangle" w="lg" len="lg"/>
            </a:ln>
          </p:spPr>
        </p:sp>
        <p:sp>
          <p:nvSpPr>
            <p:cNvPr id="36" name="Ellipse 36"/>
            <p:cNvSpPr/>
            <p:nvPr/>
          </p:nvSpPr>
          <p:spPr>
            <a:xfrm>
              <a:off x="2038350" y="4562475"/>
              <a:ext cx="152400" cy="152400"/>
            </a:xfrm>
            <a:prstGeom prst="ellipse">
              <a:avLst/>
            </a:prstGeom>
            <a:solidFill>
              <a:schemeClr val="accent2"/>
            </a:solidFill>
            <a:ln>
              <a:noFill/>
            </a:ln>
          </p:spPr>
        </p:sp>
        <p:sp>
          <p:nvSpPr>
            <p:cNvPr id="37" name="Ellipse 37"/>
            <p:cNvSpPr/>
            <p:nvPr/>
          </p:nvSpPr>
          <p:spPr>
            <a:xfrm>
              <a:off x="3467100" y="4495800"/>
              <a:ext cx="152400" cy="152400"/>
            </a:xfrm>
            <a:prstGeom prst="ellipse">
              <a:avLst/>
            </a:prstGeom>
            <a:solidFill>
              <a:schemeClr val="accent2"/>
            </a:solidFill>
            <a:ln>
              <a:noFill/>
            </a:ln>
          </p:spPr>
        </p:sp>
        <p:sp>
          <p:nvSpPr>
            <p:cNvPr id="38" name="Ellipse 38"/>
            <p:cNvSpPr/>
            <p:nvPr/>
          </p:nvSpPr>
          <p:spPr>
            <a:xfrm>
              <a:off x="4895850" y="5495925"/>
              <a:ext cx="152400" cy="152400"/>
            </a:xfrm>
            <a:prstGeom prst="ellipse">
              <a:avLst/>
            </a:prstGeom>
            <a:solidFill>
              <a:schemeClr val="accent2"/>
            </a:solidFill>
            <a:ln>
              <a:noFill/>
            </a:ln>
          </p:spPr>
        </p:sp>
        <p:sp>
          <p:nvSpPr>
            <p:cNvPr id="39" name="Ellipse 39"/>
            <p:cNvSpPr/>
            <p:nvPr/>
          </p:nvSpPr>
          <p:spPr>
            <a:xfrm>
              <a:off x="6324600" y="5962650"/>
              <a:ext cx="152400" cy="152400"/>
            </a:xfrm>
            <a:prstGeom prst="ellipse">
              <a:avLst/>
            </a:prstGeom>
            <a:solidFill>
              <a:schemeClr val="accent2"/>
            </a:solidFill>
            <a:ln>
              <a:noFill/>
            </a:ln>
          </p:spPr>
        </p:sp>
        <p:sp>
          <p:nvSpPr>
            <p:cNvPr id="40" name="Freeform 40"/>
            <p:cNvSpPr/>
            <p:nvPr/>
          </p:nvSpPr>
          <p:spPr>
            <a:xfrm>
              <a:off x="1809750" y="4638675"/>
              <a:ext cx="609600" cy="733425"/>
            </a:xfrm>
            <a:custGeom>
              <a:avLst/>
              <a:gdLst/>
              <a:ahLst/>
              <a:cxnLst/>
              <a:rect l="l" t="t" r="r" b="b"/>
              <a:pathLst>
                <a:path w="609600" h="733425">
                  <a:moveTo>
                    <a:pt x="95250" y="0"/>
                  </a:moveTo>
                  <a:lnTo>
                    <a:pt x="514350" y="0"/>
                  </a:lnTo>
                  <a:cubicBezTo>
                    <a:pt x="566955" y="0"/>
                    <a:pt x="609600" y="42645"/>
                    <a:pt x="609600" y="95250"/>
                  </a:cubicBezTo>
                  <a:lnTo>
                    <a:pt x="609600" y="638175"/>
                  </a:lnTo>
                  <a:cubicBezTo>
                    <a:pt x="609600" y="690780"/>
                    <a:pt x="566955" y="733425"/>
                    <a:pt x="514350" y="733425"/>
                  </a:cubicBezTo>
                  <a:lnTo>
                    <a:pt x="95250" y="733425"/>
                  </a:lnTo>
                  <a:cubicBezTo>
                    <a:pt x="42645" y="733425"/>
                    <a:pt x="0" y="690780"/>
                    <a:pt x="0" y="638175"/>
                  </a:cubicBezTo>
                  <a:lnTo>
                    <a:pt x="0" y="95250"/>
                  </a:lnTo>
                  <a:cubicBezTo>
                    <a:pt x="0" y="42645"/>
                    <a:pt x="42645" y="0"/>
                    <a:pt x="95250" y="0"/>
                  </a:cubicBezTo>
                  <a:close/>
                </a:path>
              </a:pathLst>
            </a:custGeom>
            <a:solidFill>
              <a:schemeClr val="accent6"/>
            </a:solidFill>
            <a:ln w="9525">
              <a:solidFill>
                <a:schemeClr val="accent2"/>
              </a:solidFill>
            </a:ln>
          </p:spPr>
        </p:sp>
        <p:sp>
          <p:nvSpPr>
            <p:cNvPr id="41" name="Freeform 41"/>
            <p:cNvSpPr/>
            <p:nvPr/>
          </p:nvSpPr>
          <p:spPr>
            <a:xfrm>
              <a:off x="3238500" y="4572000"/>
              <a:ext cx="609600" cy="800100"/>
            </a:xfrm>
            <a:custGeom>
              <a:avLst/>
              <a:gdLst/>
              <a:ahLst/>
              <a:cxnLst/>
              <a:rect l="l" t="t" r="r" b="b"/>
              <a:pathLst>
                <a:path w="609600" h="800100">
                  <a:moveTo>
                    <a:pt x="95250" y="0"/>
                  </a:moveTo>
                  <a:lnTo>
                    <a:pt x="514350" y="0"/>
                  </a:lnTo>
                  <a:cubicBezTo>
                    <a:pt x="566955" y="0"/>
                    <a:pt x="609600" y="42645"/>
                    <a:pt x="609600" y="95250"/>
                  </a:cubicBezTo>
                  <a:lnTo>
                    <a:pt x="609600" y="704850"/>
                  </a:lnTo>
                  <a:cubicBezTo>
                    <a:pt x="609600" y="757455"/>
                    <a:pt x="566955" y="800100"/>
                    <a:pt x="514350" y="800100"/>
                  </a:cubicBezTo>
                  <a:lnTo>
                    <a:pt x="95250" y="800100"/>
                  </a:lnTo>
                  <a:cubicBezTo>
                    <a:pt x="42645" y="800100"/>
                    <a:pt x="0" y="757455"/>
                    <a:pt x="0" y="704850"/>
                  </a:cubicBezTo>
                  <a:lnTo>
                    <a:pt x="0" y="95250"/>
                  </a:lnTo>
                  <a:cubicBezTo>
                    <a:pt x="0" y="42645"/>
                    <a:pt x="42645" y="0"/>
                    <a:pt x="95250" y="0"/>
                  </a:cubicBezTo>
                  <a:close/>
                </a:path>
              </a:pathLst>
            </a:custGeom>
            <a:solidFill>
              <a:schemeClr val="accent6"/>
            </a:solidFill>
            <a:ln w="9525">
              <a:solidFill>
                <a:schemeClr val="accent2"/>
              </a:solidFill>
            </a:ln>
          </p:spPr>
        </p:sp>
        <p:sp>
          <p:nvSpPr>
            <p:cNvPr id="42" name="Freeform 42"/>
            <p:cNvSpPr/>
            <p:nvPr/>
          </p:nvSpPr>
          <p:spPr>
            <a:xfrm>
              <a:off x="4667250" y="5572125"/>
              <a:ext cx="609600" cy="466725"/>
            </a:xfrm>
            <a:custGeom>
              <a:avLst/>
              <a:gdLst/>
              <a:ahLst/>
              <a:cxnLst/>
              <a:rect l="l" t="t" r="r" b="b"/>
              <a:pathLst>
                <a:path w="609600" h="466725">
                  <a:moveTo>
                    <a:pt x="95250" y="0"/>
                  </a:moveTo>
                  <a:lnTo>
                    <a:pt x="514350" y="0"/>
                  </a:lnTo>
                  <a:cubicBezTo>
                    <a:pt x="566955" y="0"/>
                    <a:pt x="609600" y="42645"/>
                    <a:pt x="609600" y="95250"/>
                  </a:cubicBezTo>
                  <a:lnTo>
                    <a:pt x="609600" y="371475"/>
                  </a:lnTo>
                  <a:cubicBezTo>
                    <a:pt x="609600" y="424080"/>
                    <a:pt x="566955" y="466725"/>
                    <a:pt x="514350" y="466725"/>
                  </a:cubicBezTo>
                  <a:lnTo>
                    <a:pt x="95250" y="466725"/>
                  </a:lnTo>
                  <a:cubicBezTo>
                    <a:pt x="42645" y="466725"/>
                    <a:pt x="0" y="424080"/>
                    <a:pt x="0" y="371475"/>
                  </a:cubicBezTo>
                  <a:lnTo>
                    <a:pt x="0" y="95250"/>
                  </a:lnTo>
                  <a:cubicBezTo>
                    <a:pt x="0" y="42645"/>
                    <a:pt x="42645" y="0"/>
                    <a:pt x="95250" y="0"/>
                  </a:cubicBezTo>
                  <a:close/>
                </a:path>
              </a:pathLst>
            </a:custGeom>
            <a:solidFill>
              <a:schemeClr val="accent6"/>
            </a:solidFill>
            <a:ln w="9525">
              <a:solidFill>
                <a:schemeClr val="accent2"/>
              </a:solidFill>
            </a:ln>
          </p:spPr>
        </p:sp>
        <p:sp>
          <p:nvSpPr>
            <p:cNvPr id="43" name="Freeform 43"/>
            <p:cNvSpPr/>
            <p:nvPr/>
          </p:nvSpPr>
          <p:spPr>
            <a:xfrm>
              <a:off x="6096000" y="6038850"/>
              <a:ext cx="609600" cy="333375"/>
            </a:xfrm>
            <a:custGeom>
              <a:avLst/>
              <a:gdLst/>
              <a:ahLst/>
              <a:cxnLst/>
              <a:rect l="l" t="t" r="r" b="b"/>
              <a:pathLst>
                <a:path w="609600" h="333375">
                  <a:moveTo>
                    <a:pt x="95250" y="0"/>
                  </a:moveTo>
                  <a:lnTo>
                    <a:pt x="514350" y="0"/>
                  </a:lnTo>
                  <a:cubicBezTo>
                    <a:pt x="566955" y="0"/>
                    <a:pt x="609600" y="42645"/>
                    <a:pt x="609600" y="95250"/>
                  </a:cubicBezTo>
                  <a:lnTo>
                    <a:pt x="609600" y="238125"/>
                  </a:lnTo>
                  <a:cubicBezTo>
                    <a:pt x="609600" y="290730"/>
                    <a:pt x="566955" y="333375"/>
                    <a:pt x="514350" y="333375"/>
                  </a:cubicBezTo>
                  <a:lnTo>
                    <a:pt x="95250" y="333375"/>
                  </a:lnTo>
                  <a:cubicBezTo>
                    <a:pt x="42645" y="333375"/>
                    <a:pt x="0" y="290730"/>
                    <a:pt x="0" y="238125"/>
                  </a:cubicBezTo>
                  <a:lnTo>
                    <a:pt x="0" y="95250"/>
                  </a:lnTo>
                  <a:cubicBezTo>
                    <a:pt x="0" y="42645"/>
                    <a:pt x="42645" y="0"/>
                    <a:pt x="95250" y="0"/>
                  </a:cubicBezTo>
                  <a:close/>
                </a:path>
              </a:pathLst>
            </a:custGeom>
            <a:solidFill>
              <a:schemeClr val="accent6"/>
            </a:solidFill>
            <a:ln w="9525">
              <a:solidFill>
                <a:schemeClr val="accent2"/>
              </a:solidFill>
            </a:ln>
          </p:spPr>
        </p:sp>
        <p:sp>
          <p:nvSpPr>
            <p:cNvPr id="44" name="TextBox 44"/>
            <p:cNvSpPr txBox="1"/>
            <p:nvPr/>
          </p:nvSpPr>
          <p:spPr>
            <a:xfrm>
              <a:off x="1905213" y="4827270"/>
              <a:ext cx="418673" cy="469392"/>
            </a:xfrm>
            <a:prstGeom prst="rect">
              <a:avLst/>
            </a:prstGeom>
            <a:noFill/>
            <a:ln>
              <a:noFill/>
            </a:ln>
          </p:spPr>
          <p:txBody>
            <a:bodyPr wrap="none" lIns="0" tIns="0" rIns="0" bIns="0" anchor="t" anchorCtr="0">
              <a:spAutoFit/>
            </a:bodyPr>
            <a:lstStyle/>
            <a:p>
              <a:pPr algn="ctr"/>
              <a:r>
                <a:rPr lang="en-US" sz="2400" b="1" dirty="0">
                  <a:solidFill>
                    <a:schemeClr val="accent1"/>
                  </a:solidFill>
                  <a:latin typeface="+mj-lt"/>
                  <a:ea typeface="+mj-ea"/>
                  <a:cs typeface="+mj-cs"/>
                </a:rPr>
                <a:t>88</a:t>
              </a:r>
            </a:p>
          </p:txBody>
        </p:sp>
        <p:sp>
          <p:nvSpPr>
            <p:cNvPr id="45" name="TextBox 45"/>
            <p:cNvSpPr txBox="1"/>
            <p:nvPr/>
          </p:nvSpPr>
          <p:spPr>
            <a:xfrm>
              <a:off x="3333963" y="4760595"/>
              <a:ext cx="418673" cy="469392"/>
            </a:xfrm>
            <a:prstGeom prst="rect">
              <a:avLst/>
            </a:prstGeom>
            <a:noFill/>
            <a:ln>
              <a:noFill/>
            </a:ln>
          </p:spPr>
          <p:txBody>
            <a:bodyPr wrap="none" lIns="0" tIns="0" rIns="0" bIns="0" anchor="t" anchorCtr="0">
              <a:spAutoFit/>
            </a:bodyPr>
            <a:lstStyle/>
            <a:p>
              <a:pPr algn="ctr"/>
              <a:r>
                <a:rPr lang="en-US" sz="2400" b="1" dirty="0">
                  <a:solidFill>
                    <a:schemeClr val="accent1"/>
                  </a:solidFill>
                  <a:latin typeface="+mj-lt"/>
                  <a:ea typeface="+mj-ea"/>
                  <a:cs typeface="+mj-cs"/>
                </a:rPr>
                <a:t>90</a:t>
              </a:r>
            </a:p>
          </p:txBody>
        </p:sp>
        <p:sp>
          <p:nvSpPr>
            <p:cNvPr id="46" name="TextBox 46"/>
            <p:cNvSpPr txBox="1"/>
            <p:nvPr/>
          </p:nvSpPr>
          <p:spPr>
            <a:xfrm>
              <a:off x="4762713" y="5608320"/>
              <a:ext cx="418673" cy="469392"/>
            </a:xfrm>
            <a:prstGeom prst="rect">
              <a:avLst/>
            </a:prstGeom>
            <a:noFill/>
            <a:ln>
              <a:noFill/>
            </a:ln>
          </p:spPr>
          <p:txBody>
            <a:bodyPr wrap="none" lIns="0" tIns="0" rIns="0" bIns="0" anchor="t" anchorCtr="0">
              <a:spAutoFit/>
            </a:bodyPr>
            <a:lstStyle/>
            <a:p>
              <a:pPr algn="ctr"/>
              <a:r>
                <a:rPr lang="en-US" sz="2400" b="1" dirty="0">
                  <a:solidFill>
                    <a:schemeClr val="accent1"/>
                  </a:solidFill>
                  <a:latin typeface="+mj-lt"/>
                  <a:ea typeface="+mj-ea"/>
                  <a:cs typeface="+mj-cs"/>
                </a:rPr>
                <a:t>60</a:t>
              </a:r>
            </a:p>
          </p:txBody>
        </p:sp>
        <p:sp>
          <p:nvSpPr>
            <p:cNvPr id="47" name="TextBox 47"/>
            <p:cNvSpPr txBox="1"/>
            <p:nvPr/>
          </p:nvSpPr>
          <p:spPr>
            <a:xfrm>
              <a:off x="6217630" y="6050280"/>
              <a:ext cx="366339"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j-lt"/>
                  <a:ea typeface="+mj-ea"/>
                  <a:cs typeface="+mj-cs"/>
                </a:rPr>
                <a:t>46</a:t>
              </a:r>
            </a:p>
          </p:txBody>
        </p:sp>
        <p:sp>
          <p:nvSpPr>
            <p:cNvPr id="48" name="TextBox 48"/>
            <p:cNvSpPr txBox="1"/>
            <p:nvPr/>
          </p:nvSpPr>
          <p:spPr>
            <a:xfrm rot="-5400000">
              <a:off x="571786" y="1830991"/>
              <a:ext cx="857631"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部署后改善指数</a:t>
              </a:r>
            </a:p>
          </p:txBody>
        </p:sp>
        <p:sp>
          <p:nvSpPr>
            <p:cNvPr id="49" name="Freeform 49"/>
            <p:cNvSpPr/>
            <p:nvPr/>
          </p:nvSpPr>
          <p:spPr>
            <a:xfrm>
              <a:off x="8153400" y="1543050"/>
              <a:ext cx="3467100" cy="1066800"/>
            </a:xfrm>
            <a:custGeom>
              <a:avLst/>
              <a:gdLst/>
              <a:ahLst/>
              <a:cxnLst/>
              <a:rect l="l" t="t" r="r" b="b"/>
              <a:pathLst>
                <a:path w="3467100" h="1066800">
                  <a:moveTo>
                    <a:pt x="114300" y="0"/>
                  </a:moveTo>
                  <a:lnTo>
                    <a:pt x="3352800" y="0"/>
                  </a:lnTo>
                  <a:cubicBezTo>
                    <a:pt x="3415926" y="0"/>
                    <a:pt x="3467100" y="51174"/>
                    <a:pt x="3467100" y="114300"/>
                  </a:cubicBezTo>
                  <a:lnTo>
                    <a:pt x="3467100" y="952500"/>
                  </a:lnTo>
                  <a:cubicBezTo>
                    <a:pt x="3467100" y="1015626"/>
                    <a:pt x="3415926" y="1066800"/>
                    <a:pt x="3352800" y="1066800"/>
                  </a:cubicBezTo>
                  <a:lnTo>
                    <a:pt x="114300" y="1066800"/>
                  </a:lnTo>
                  <a:cubicBezTo>
                    <a:pt x="51174" y="1066800"/>
                    <a:pt x="0" y="1015626"/>
                    <a:pt x="0" y="952500"/>
                  </a:cubicBezTo>
                  <a:lnTo>
                    <a:pt x="0" y="114300"/>
                  </a:lnTo>
                  <a:cubicBezTo>
                    <a:pt x="0" y="51174"/>
                    <a:pt x="51174" y="0"/>
                    <a:pt x="114300" y="0"/>
                  </a:cubicBezTo>
                  <a:close/>
                </a:path>
              </a:pathLst>
            </a:custGeom>
            <a:solidFill>
              <a:schemeClr val="lt2"/>
            </a:solidFill>
            <a:ln w="9525">
              <a:solidFill>
                <a:schemeClr val="accent4"/>
              </a:solidFill>
            </a:ln>
          </p:spPr>
        </p:sp>
        <p:sp>
          <p:nvSpPr>
            <p:cNvPr id="50" name="Freeform 50"/>
            <p:cNvSpPr/>
            <p:nvPr/>
          </p:nvSpPr>
          <p:spPr>
            <a:xfrm>
              <a:off x="8153400" y="2724150"/>
              <a:ext cx="3467100" cy="1066800"/>
            </a:xfrm>
            <a:custGeom>
              <a:avLst/>
              <a:gdLst/>
              <a:ahLst/>
              <a:cxnLst/>
              <a:rect l="l" t="t" r="r" b="b"/>
              <a:pathLst>
                <a:path w="3467100" h="1066800">
                  <a:moveTo>
                    <a:pt x="114300" y="0"/>
                  </a:moveTo>
                  <a:lnTo>
                    <a:pt x="3352800" y="0"/>
                  </a:lnTo>
                  <a:cubicBezTo>
                    <a:pt x="3415926" y="0"/>
                    <a:pt x="3467100" y="51174"/>
                    <a:pt x="3467100" y="114300"/>
                  </a:cubicBezTo>
                  <a:lnTo>
                    <a:pt x="3467100" y="952500"/>
                  </a:lnTo>
                  <a:cubicBezTo>
                    <a:pt x="3467100" y="1015626"/>
                    <a:pt x="3415926" y="1066800"/>
                    <a:pt x="3352800" y="1066800"/>
                  </a:cubicBezTo>
                  <a:lnTo>
                    <a:pt x="114300" y="1066800"/>
                  </a:lnTo>
                  <a:cubicBezTo>
                    <a:pt x="51174" y="1066800"/>
                    <a:pt x="0" y="1015626"/>
                    <a:pt x="0" y="952500"/>
                  </a:cubicBezTo>
                  <a:lnTo>
                    <a:pt x="0" y="114300"/>
                  </a:lnTo>
                  <a:cubicBezTo>
                    <a:pt x="0" y="51174"/>
                    <a:pt x="51174" y="0"/>
                    <a:pt x="114300" y="0"/>
                  </a:cubicBezTo>
                  <a:close/>
                </a:path>
              </a:pathLst>
            </a:custGeom>
            <a:solidFill>
              <a:schemeClr val="lt2"/>
            </a:solidFill>
            <a:ln w="9525">
              <a:solidFill>
                <a:schemeClr val="accent4"/>
              </a:solidFill>
            </a:ln>
          </p:spPr>
        </p:sp>
        <p:sp>
          <p:nvSpPr>
            <p:cNvPr id="51" name="Freeform 51"/>
            <p:cNvSpPr/>
            <p:nvPr/>
          </p:nvSpPr>
          <p:spPr>
            <a:xfrm>
              <a:off x="8153400" y="3905250"/>
              <a:ext cx="3467100" cy="1066800"/>
            </a:xfrm>
            <a:custGeom>
              <a:avLst/>
              <a:gdLst/>
              <a:ahLst/>
              <a:cxnLst/>
              <a:rect l="l" t="t" r="r" b="b"/>
              <a:pathLst>
                <a:path w="3467100" h="1066800">
                  <a:moveTo>
                    <a:pt x="114300" y="0"/>
                  </a:moveTo>
                  <a:lnTo>
                    <a:pt x="3352800" y="0"/>
                  </a:lnTo>
                  <a:cubicBezTo>
                    <a:pt x="3415926" y="0"/>
                    <a:pt x="3467100" y="51174"/>
                    <a:pt x="3467100" y="114300"/>
                  </a:cubicBezTo>
                  <a:lnTo>
                    <a:pt x="3467100" y="952500"/>
                  </a:lnTo>
                  <a:cubicBezTo>
                    <a:pt x="3467100" y="1015626"/>
                    <a:pt x="3415926" y="1066800"/>
                    <a:pt x="3352800" y="1066800"/>
                  </a:cubicBezTo>
                  <a:lnTo>
                    <a:pt x="114300" y="1066800"/>
                  </a:lnTo>
                  <a:cubicBezTo>
                    <a:pt x="51174" y="1066800"/>
                    <a:pt x="0" y="1015626"/>
                    <a:pt x="0" y="952500"/>
                  </a:cubicBezTo>
                  <a:lnTo>
                    <a:pt x="0" y="114300"/>
                  </a:lnTo>
                  <a:cubicBezTo>
                    <a:pt x="0" y="51174"/>
                    <a:pt x="51174" y="0"/>
                    <a:pt x="114300" y="0"/>
                  </a:cubicBezTo>
                  <a:close/>
                </a:path>
              </a:pathLst>
            </a:custGeom>
            <a:solidFill>
              <a:schemeClr val="lt2"/>
            </a:solidFill>
            <a:ln w="9525">
              <a:solidFill>
                <a:schemeClr val="accent4"/>
              </a:solidFill>
            </a:ln>
          </p:spPr>
        </p:sp>
        <p:sp>
          <p:nvSpPr>
            <p:cNvPr id="52" name="Freeform 52"/>
            <p:cNvSpPr/>
            <p:nvPr/>
          </p:nvSpPr>
          <p:spPr>
            <a:xfrm>
              <a:off x="8153400" y="5086350"/>
              <a:ext cx="3467100" cy="838200"/>
            </a:xfrm>
            <a:custGeom>
              <a:avLst/>
              <a:gdLst/>
              <a:ahLst/>
              <a:cxnLst/>
              <a:rect l="l" t="t" r="r" b="b"/>
              <a:pathLst>
                <a:path w="3467100" h="838200">
                  <a:moveTo>
                    <a:pt x="114300" y="0"/>
                  </a:moveTo>
                  <a:lnTo>
                    <a:pt x="3352800" y="0"/>
                  </a:lnTo>
                  <a:cubicBezTo>
                    <a:pt x="3415926" y="0"/>
                    <a:pt x="3467100" y="51174"/>
                    <a:pt x="3467100" y="114300"/>
                  </a:cubicBezTo>
                  <a:lnTo>
                    <a:pt x="3467100" y="723900"/>
                  </a:lnTo>
                  <a:cubicBezTo>
                    <a:pt x="3467100" y="787026"/>
                    <a:pt x="3415926" y="838200"/>
                    <a:pt x="3352800" y="838200"/>
                  </a:cubicBezTo>
                  <a:lnTo>
                    <a:pt x="114300" y="838200"/>
                  </a:lnTo>
                  <a:cubicBezTo>
                    <a:pt x="51174" y="838200"/>
                    <a:pt x="0" y="787026"/>
                    <a:pt x="0" y="723900"/>
                  </a:cubicBezTo>
                  <a:lnTo>
                    <a:pt x="0" y="114300"/>
                  </a:lnTo>
                  <a:cubicBezTo>
                    <a:pt x="0" y="51174"/>
                    <a:pt x="51174" y="0"/>
                    <a:pt x="114300" y="0"/>
                  </a:cubicBezTo>
                  <a:close/>
                </a:path>
              </a:pathLst>
            </a:custGeom>
            <a:solidFill>
              <a:schemeClr val="lt2"/>
            </a:solidFill>
            <a:ln w="9525">
              <a:solidFill>
                <a:schemeClr val="accent4"/>
              </a:solidFill>
            </a:ln>
          </p:spPr>
        </p:sp>
        <p:sp>
          <p:nvSpPr>
            <p:cNvPr id="53" name="Ellipse 53"/>
            <p:cNvSpPr/>
            <p:nvPr/>
          </p:nvSpPr>
          <p:spPr>
            <a:xfrm>
              <a:off x="8324850" y="1771650"/>
              <a:ext cx="190500" cy="190500"/>
            </a:xfrm>
            <a:prstGeom prst="ellipse">
              <a:avLst/>
            </a:prstGeom>
            <a:solidFill>
              <a:schemeClr val="accent2"/>
            </a:solidFill>
            <a:ln>
              <a:noFill/>
            </a:ln>
          </p:spPr>
        </p:sp>
        <p:sp>
          <p:nvSpPr>
            <p:cNvPr id="54" name="TextBox 54"/>
            <p:cNvSpPr txBox="1"/>
            <p:nvPr/>
          </p:nvSpPr>
          <p:spPr>
            <a:xfrm>
              <a:off x="8378373" y="1817370"/>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Consolas"/>
                  <a:ea typeface="Consolas"/>
                  <a:cs typeface="Consolas"/>
                </a:rPr>
                <a:t>A</a:t>
              </a:r>
            </a:p>
          </p:txBody>
        </p:sp>
        <p:sp>
          <p:nvSpPr>
            <p:cNvPr id="55" name="TextBox 55"/>
            <p:cNvSpPr txBox="1"/>
            <p:nvPr/>
          </p:nvSpPr>
          <p:spPr>
            <a:xfrm>
              <a:off x="8621268" y="1688782"/>
              <a:ext cx="100248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j-lt"/>
                  <a:ea typeface="+mj-ea"/>
                  <a:cs typeface="+mj-cs"/>
                </a:rPr>
                <a:t>数据整合</a:t>
              </a:r>
            </a:p>
          </p:txBody>
        </p:sp>
        <p:sp>
          <p:nvSpPr>
            <p:cNvPr id="56" name="TextBox 56"/>
            <p:cNvSpPr txBox="1"/>
            <p:nvPr/>
          </p:nvSpPr>
          <p:spPr>
            <a:xfrm>
              <a:off x="8623554" y="2004060"/>
              <a:ext cx="3229661"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从仅依赖CRM和官网，扩展至全渠道事件、</a:t>
              </a:r>
            </a:p>
          </p:txBody>
        </p:sp>
        <p:sp>
          <p:nvSpPr>
            <p:cNvPr id="57" name="TextBox 57"/>
            <p:cNvSpPr txBox="1"/>
            <p:nvPr/>
          </p:nvSpPr>
          <p:spPr>
            <a:xfrm>
              <a:off x="8623554" y="2213610"/>
              <a:ext cx="1420368"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社交媒体和IoT触点</a:t>
              </a:r>
            </a:p>
          </p:txBody>
        </p:sp>
        <p:sp>
          <p:nvSpPr>
            <p:cNvPr id="58" name="Ellipse 58"/>
            <p:cNvSpPr/>
            <p:nvPr/>
          </p:nvSpPr>
          <p:spPr>
            <a:xfrm>
              <a:off x="8324850" y="2952750"/>
              <a:ext cx="190500" cy="190500"/>
            </a:xfrm>
            <a:prstGeom prst="ellipse">
              <a:avLst/>
            </a:prstGeom>
            <a:solidFill>
              <a:schemeClr val="accent2"/>
            </a:solidFill>
            <a:ln>
              <a:noFill/>
            </a:ln>
          </p:spPr>
        </p:sp>
        <p:sp>
          <p:nvSpPr>
            <p:cNvPr id="59" name="TextBox 59"/>
            <p:cNvSpPr txBox="1"/>
            <p:nvPr/>
          </p:nvSpPr>
          <p:spPr>
            <a:xfrm>
              <a:off x="8378373" y="2998470"/>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Consolas"/>
                  <a:ea typeface="Consolas"/>
                  <a:cs typeface="Consolas"/>
                </a:rPr>
                <a:t>B</a:t>
              </a:r>
            </a:p>
          </p:txBody>
        </p:sp>
        <p:sp>
          <p:nvSpPr>
            <p:cNvPr id="60" name="TextBox 60"/>
            <p:cNvSpPr txBox="1"/>
            <p:nvPr/>
          </p:nvSpPr>
          <p:spPr>
            <a:xfrm>
              <a:off x="8621268" y="2869882"/>
              <a:ext cx="86959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j-lt"/>
                  <a:ea typeface="+mj-ea"/>
                  <a:cs typeface="+mj-cs"/>
                </a:rPr>
                <a:t>AI分析</a:t>
              </a:r>
            </a:p>
          </p:txBody>
        </p:sp>
        <p:sp>
          <p:nvSpPr>
            <p:cNvPr id="61" name="TextBox 61"/>
            <p:cNvSpPr txBox="1"/>
            <p:nvPr/>
          </p:nvSpPr>
          <p:spPr>
            <a:xfrm>
              <a:off x="8623554" y="3185160"/>
              <a:ext cx="2273808"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从简单规则转向深度学习模型，</a:t>
              </a:r>
            </a:p>
          </p:txBody>
        </p:sp>
        <p:sp>
          <p:nvSpPr>
            <p:cNvPr id="62" name="TextBox 62"/>
            <p:cNvSpPr txBox="1"/>
            <p:nvPr/>
          </p:nvSpPr>
          <p:spPr>
            <a:xfrm>
              <a:off x="8623554" y="3394710"/>
              <a:ext cx="2176882"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冷启动后3个月稳定在90%以上</a:t>
              </a:r>
            </a:p>
          </p:txBody>
        </p:sp>
        <p:sp>
          <p:nvSpPr>
            <p:cNvPr id="63" name="Ellipse 63"/>
            <p:cNvSpPr/>
            <p:nvPr/>
          </p:nvSpPr>
          <p:spPr>
            <a:xfrm>
              <a:off x="8324850" y="4133850"/>
              <a:ext cx="190500" cy="190500"/>
            </a:xfrm>
            <a:prstGeom prst="ellipse">
              <a:avLst/>
            </a:prstGeom>
            <a:solidFill>
              <a:schemeClr val="accent2"/>
            </a:solidFill>
            <a:ln>
              <a:noFill/>
            </a:ln>
          </p:spPr>
        </p:sp>
        <p:sp>
          <p:nvSpPr>
            <p:cNvPr id="64" name="TextBox 64"/>
            <p:cNvSpPr txBox="1"/>
            <p:nvPr/>
          </p:nvSpPr>
          <p:spPr>
            <a:xfrm>
              <a:off x="8378373" y="4179570"/>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Consolas"/>
                  <a:ea typeface="Consolas"/>
                  <a:cs typeface="Consolas"/>
                </a:rPr>
                <a:t>C</a:t>
              </a:r>
            </a:p>
          </p:txBody>
        </p:sp>
        <p:sp>
          <p:nvSpPr>
            <p:cNvPr id="65" name="TextBox 65"/>
            <p:cNvSpPr txBox="1"/>
            <p:nvPr/>
          </p:nvSpPr>
          <p:spPr>
            <a:xfrm>
              <a:off x="8621268" y="4050982"/>
              <a:ext cx="124891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j-lt"/>
                  <a:ea typeface="+mj-ea"/>
                  <a:cs typeface="+mj-cs"/>
                </a:rPr>
                <a:t>自动化执行</a:t>
              </a:r>
            </a:p>
          </p:txBody>
        </p:sp>
        <p:sp>
          <p:nvSpPr>
            <p:cNvPr id="66" name="TextBox 66"/>
            <p:cNvSpPr txBox="1"/>
            <p:nvPr/>
          </p:nvSpPr>
          <p:spPr>
            <a:xfrm>
              <a:off x="8623554" y="4366260"/>
              <a:ext cx="3081528"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从绝大部分手工操作到系统自动处理触发、</a:t>
              </a:r>
            </a:p>
          </p:txBody>
        </p:sp>
        <p:sp>
          <p:nvSpPr>
            <p:cNvPr id="67" name="TextBox 67"/>
            <p:cNvSpPr txBox="1"/>
            <p:nvPr/>
          </p:nvSpPr>
          <p:spPr>
            <a:xfrm>
              <a:off x="8623554" y="4575810"/>
              <a:ext cx="1659331"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A/B测试和预算重分配</a:t>
              </a:r>
            </a:p>
          </p:txBody>
        </p:sp>
        <p:sp>
          <p:nvSpPr>
            <p:cNvPr id="68" name="Ellipse 68"/>
            <p:cNvSpPr/>
            <p:nvPr/>
          </p:nvSpPr>
          <p:spPr>
            <a:xfrm>
              <a:off x="8324850" y="5314950"/>
              <a:ext cx="190500" cy="190500"/>
            </a:xfrm>
            <a:prstGeom prst="ellipse">
              <a:avLst/>
            </a:prstGeom>
            <a:solidFill>
              <a:schemeClr val="accent2"/>
            </a:solidFill>
            <a:ln>
              <a:noFill/>
            </a:ln>
          </p:spPr>
        </p:sp>
        <p:sp>
          <p:nvSpPr>
            <p:cNvPr id="69" name="TextBox 69"/>
            <p:cNvSpPr txBox="1"/>
            <p:nvPr/>
          </p:nvSpPr>
          <p:spPr>
            <a:xfrm>
              <a:off x="8378373" y="5360670"/>
              <a:ext cx="83454"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Consolas"/>
                  <a:ea typeface="Consolas"/>
                  <a:cs typeface="Consolas"/>
                </a:rPr>
                <a:t>D</a:t>
              </a:r>
            </a:p>
          </p:txBody>
        </p:sp>
        <p:sp>
          <p:nvSpPr>
            <p:cNvPr id="70" name="TextBox 70"/>
            <p:cNvSpPr txBox="1"/>
            <p:nvPr/>
          </p:nvSpPr>
          <p:spPr>
            <a:xfrm>
              <a:off x="8621268" y="5232082"/>
              <a:ext cx="100248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j-lt"/>
                  <a:ea typeface="+mj-ea"/>
                  <a:cs typeface="+mj-cs"/>
                </a:rPr>
                <a:t>效果度量</a:t>
              </a:r>
            </a:p>
          </p:txBody>
        </p:sp>
        <p:sp>
          <p:nvSpPr>
            <p:cNvPr id="71" name="TextBox 71"/>
            <p:cNvSpPr txBox="1"/>
            <p:nvPr/>
          </p:nvSpPr>
          <p:spPr>
            <a:xfrm>
              <a:off x="8623554" y="5547360"/>
              <a:ext cx="3229661"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从月度BI报告转为实时仪表盘，模型更新后</a:t>
              </a:r>
            </a:p>
          </p:txBody>
        </p:sp>
        <p:sp>
          <p:nvSpPr>
            <p:cNvPr id="72" name="TextBox 72"/>
            <p:cNvSpPr txBox="1"/>
            <p:nvPr/>
          </p:nvSpPr>
          <p:spPr>
            <a:xfrm>
              <a:off x="8623554" y="5756910"/>
              <a:ext cx="1627632" cy="234696"/>
            </a:xfrm>
            <a:prstGeom prst="rect">
              <a:avLst/>
            </a:prstGeom>
            <a:noFill/>
            <a:ln>
              <a:noFill/>
            </a:ln>
          </p:spPr>
          <p:txBody>
            <a:bodyPr wrap="none" lIns="0" tIns="0" rIns="0" bIns="0" anchor="t" anchorCtr="0">
              <a:spAutoFit/>
            </a:bodyPr>
            <a:lstStyle/>
            <a:p>
              <a:pPr algn="l"/>
              <a:r>
                <a:rPr lang="zh-CN" sz="1200" dirty="0">
                  <a:solidFill>
                    <a:schemeClr val="dk2"/>
                  </a:solidFill>
                  <a:latin typeface="+mn-lt"/>
                  <a:ea typeface="+mn-ea"/>
                  <a:cs typeface="+mn-cs"/>
                </a:rPr>
                <a:t>立即反映在效果指标中</a:t>
              </a:r>
            </a:p>
          </p:txBody>
        </p:sp>
        <p:sp>
          <p:nvSpPr>
            <p:cNvPr id="73" name="Line 73"/>
            <p:cNvSpPr/>
            <p:nvPr/>
          </p:nvSpPr>
          <p:spPr>
            <a:xfrm>
              <a:off x="6705600" y="2076450"/>
              <a:ext cx="1295400" cy="2562225"/>
            </a:xfrm>
            <a:custGeom>
              <a:avLst/>
              <a:gdLst/>
              <a:ahLst/>
              <a:cxnLst/>
              <a:rect l="l" t="t" r="r" b="b"/>
              <a:pathLst>
                <a:path w="1295400" h="2562225">
                  <a:moveTo>
                    <a:pt x="0" y="2562225"/>
                  </a:moveTo>
                  <a:lnTo>
                    <a:pt x="1295400" y="0"/>
                  </a:lnTo>
                </a:path>
              </a:pathLst>
            </a:custGeom>
            <a:noFill/>
            <a:ln w="14288">
              <a:solidFill>
                <a:schemeClr val="accent3"/>
              </a:solidFill>
              <a:prstDash val="dash"/>
            </a:ln>
          </p:spPr>
        </p:sp>
        <p:sp>
          <p:nvSpPr>
            <p:cNvPr id="74" name="Line 74"/>
            <p:cNvSpPr/>
            <p:nvPr/>
          </p:nvSpPr>
          <p:spPr>
            <a:xfrm>
              <a:off x="6705600" y="3257550"/>
              <a:ext cx="1295400" cy="1314450"/>
            </a:xfrm>
            <a:custGeom>
              <a:avLst/>
              <a:gdLst/>
              <a:ahLst/>
              <a:cxnLst/>
              <a:rect l="l" t="t" r="r" b="b"/>
              <a:pathLst>
                <a:path w="1295400" h="1314450">
                  <a:moveTo>
                    <a:pt x="0" y="1314450"/>
                  </a:moveTo>
                  <a:lnTo>
                    <a:pt x="1295400" y="0"/>
                  </a:lnTo>
                </a:path>
              </a:pathLst>
            </a:custGeom>
            <a:noFill/>
            <a:ln w="14288">
              <a:solidFill>
                <a:schemeClr val="accent3"/>
              </a:solidFill>
              <a:prstDash val="dash"/>
            </a:ln>
          </p:spPr>
        </p:sp>
        <p:sp>
          <p:nvSpPr>
            <p:cNvPr id="75" name="Line 75"/>
            <p:cNvSpPr/>
            <p:nvPr/>
          </p:nvSpPr>
          <p:spPr>
            <a:xfrm>
              <a:off x="5276850" y="4438650"/>
              <a:ext cx="2724150" cy="1133475"/>
            </a:xfrm>
            <a:custGeom>
              <a:avLst/>
              <a:gdLst/>
              <a:ahLst/>
              <a:cxnLst/>
              <a:rect l="l" t="t" r="r" b="b"/>
              <a:pathLst>
                <a:path w="2724150" h="1133475">
                  <a:moveTo>
                    <a:pt x="0" y="1133475"/>
                  </a:moveTo>
                  <a:lnTo>
                    <a:pt x="2724150" y="0"/>
                  </a:lnTo>
                </a:path>
              </a:pathLst>
            </a:custGeom>
            <a:noFill/>
            <a:ln w="14288">
              <a:solidFill>
                <a:schemeClr val="accent3"/>
              </a:solidFill>
              <a:prstDash val="dash"/>
            </a:ln>
          </p:spPr>
        </p:sp>
        <p:sp>
          <p:nvSpPr>
            <p:cNvPr id="76" name="Line 76"/>
            <p:cNvSpPr/>
            <p:nvPr/>
          </p:nvSpPr>
          <p:spPr>
            <a:xfrm>
              <a:off x="6705600" y="5486400"/>
              <a:ext cx="1295400" cy="552450"/>
            </a:xfrm>
            <a:custGeom>
              <a:avLst/>
              <a:gdLst/>
              <a:ahLst/>
              <a:cxnLst/>
              <a:rect l="l" t="t" r="r" b="b"/>
              <a:pathLst>
                <a:path w="1295400" h="552450">
                  <a:moveTo>
                    <a:pt x="0" y="552450"/>
                  </a:moveTo>
                  <a:lnTo>
                    <a:pt x="1295400" y="0"/>
                  </a:lnTo>
                </a:path>
              </a:pathLst>
            </a:custGeom>
            <a:noFill/>
            <a:ln w="14288">
              <a:solidFill>
                <a:schemeClr val="accent3"/>
              </a:solidFill>
              <a:prstDash val="dash"/>
            </a:ln>
          </p:spPr>
        </p:sp>
      </p:grpSp>
      <p:grpSp>
        <p:nvGrpSpPr>
          <p:cNvPr id="82" name="Group 82"/>
          <p:cNvGrpSpPr/>
          <p:nvPr/>
        </p:nvGrpSpPr>
        <p:grpSpPr>
          <a:xfrm>
            <a:off x="800100" y="1390650"/>
            <a:ext cx="6691693" cy="552450"/>
            <a:chOff x="800100" y="1390650"/>
            <a:chExt cx="6691693" cy="552450"/>
          </a:xfrm>
        </p:grpSpPr>
        <p:sp>
          <p:nvSpPr>
            <p:cNvPr id="78" name="Freeform 78"/>
            <p:cNvSpPr/>
            <p:nvPr/>
          </p:nvSpPr>
          <p:spPr>
            <a:xfrm>
              <a:off x="800100" y="1390650"/>
              <a:ext cx="1238250" cy="247650"/>
            </a:xfrm>
            <a:custGeom>
              <a:avLst/>
              <a:gdLst/>
              <a:ahLst/>
              <a:cxnLst/>
              <a:rect l="l" t="t" r="r" b="b"/>
              <a:pathLst>
                <a:path w="1238250" h="247650">
                  <a:moveTo>
                    <a:pt x="123825" y="0"/>
                  </a:moveTo>
                  <a:lnTo>
                    <a:pt x="1114425" y="0"/>
                  </a:lnTo>
                  <a:cubicBezTo>
                    <a:pt x="1182812" y="0"/>
                    <a:pt x="1238250" y="55438"/>
                    <a:pt x="1238250" y="123825"/>
                  </a:cubicBezTo>
                  <a:lnTo>
                    <a:pt x="1238250" y="123825"/>
                  </a:lnTo>
                  <a:cubicBezTo>
                    <a:pt x="1238250" y="192212"/>
                    <a:pt x="1182812" y="247650"/>
                    <a:pt x="1114425" y="247650"/>
                  </a:cubicBezTo>
                  <a:lnTo>
                    <a:pt x="123825" y="247650"/>
                  </a:lnTo>
                  <a:cubicBezTo>
                    <a:pt x="55438" y="247650"/>
                    <a:pt x="0" y="192212"/>
                    <a:pt x="0" y="123825"/>
                  </a:cubicBezTo>
                  <a:lnTo>
                    <a:pt x="0" y="123825"/>
                  </a:lnTo>
                  <a:cubicBezTo>
                    <a:pt x="0" y="55438"/>
                    <a:pt x="55438" y="0"/>
                    <a:pt x="123825" y="0"/>
                  </a:cubicBezTo>
                  <a:close/>
                </a:path>
              </a:pathLst>
            </a:custGeom>
            <a:solidFill>
              <a:schemeClr val="lt1"/>
            </a:solidFill>
            <a:ln w="9525">
              <a:solidFill>
                <a:schemeClr val="accent4"/>
              </a:solidFill>
            </a:ln>
          </p:spPr>
        </p:sp>
        <p:sp>
          <p:nvSpPr>
            <p:cNvPr id="79" name="TextBox 79"/>
            <p:cNvSpPr txBox="1"/>
            <p:nvPr/>
          </p:nvSpPr>
          <p:spPr>
            <a:xfrm>
              <a:off x="978294" y="1464945"/>
              <a:ext cx="881863" cy="176212"/>
            </a:xfrm>
            <a:prstGeom prst="rect">
              <a:avLst/>
            </a:prstGeom>
            <a:noFill/>
            <a:ln>
              <a:noFill/>
            </a:ln>
          </p:spPr>
          <p:txBody>
            <a:bodyPr wrap="none" lIns="0" tIns="0" rIns="0" bIns="0" anchor="t" anchorCtr="0">
              <a:spAutoFit/>
            </a:bodyPr>
            <a:lstStyle/>
            <a:p>
              <a:pPr algn="ctr"/>
              <a:r>
                <a:rPr lang="en-US" sz="900" dirty="0">
                  <a:solidFill>
                    <a:schemeClr val="accent2"/>
                  </a:solidFill>
                  <a:latin typeface="Consolas"/>
                  <a:ea typeface="Consolas"/>
                  <a:cs typeface="Consolas"/>
                </a:rPr>
                <a:t>before → after</a:t>
              </a:r>
            </a:p>
          </p:txBody>
        </p:sp>
        <p:sp>
          <p:nvSpPr>
            <p:cNvPr id="80" name="Freeform 80"/>
            <p:cNvSpPr/>
            <p:nvPr/>
          </p:nvSpPr>
          <p:spPr>
            <a:xfrm>
              <a:off x="5372100" y="1676400"/>
              <a:ext cx="1866900" cy="266700"/>
            </a:xfrm>
            <a:custGeom>
              <a:avLst/>
              <a:gdLst/>
              <a:ahLst/>
              <a:cxnLst/>
              <a:rect l="l" t="t" r="r" b="b"/>
              <a:pathLst>
                <a:path w="1866900" h="266700">
                  <a:moveTo>
                    <a:pt x="133350" y="0"/>
                  </a:moveTo>
                  <a:lnTo>
                    <a:pt x="1733550" y="0"/>
                  </a:lnTo>
                  <a:cubicBezTo>
                    <a:pt x="1807197" y="0"/>
                    <a:pt x="1866900" y="59703"/>
                    <a:pt x="1866900" y="133350"/>
                  </a:cubicBezTo>
                  <a:lnTo>
                    <a:pt x="1866900" y="133350"/>
                  </a:lnTo>
                  <a:cubicBezTo>
                    <a:pt x="1866900" y="206997"/>
                    <a:pt x="1807197" y="266700"/>
                    <a:pt x="1733550" y="266700"/>
                  </a:cubicBezTo>
                  <a:lnTo>
                    <a:pt x="133350" y="266700"/>
                  </a:lnTo>
                  <a:cubicBezTo>
                    <a:pt x="59703" y="266700"/>
                    <a:pt x="0" y="206997"/>
                    <a:pt x="0" y="133350"/>
                  </a:cubicBezTo>
                  <a:lnTo>
                    <a:pt x="0" y="133350"/>
                  </a:lnTo>
                  <a:cubicBezTo>
                    <a:pt x="0" y="59703"/>
                    <a:pt x="59703" y="0"/>
                    <a:pt x="133350" y="0"/>
                  </a:cubicBezTo>
                  <a:close/>
                </a:path>
              </a:pathLst>
            </a:custGeom>
            <a:solidFill>
              <a:schemeClr val="accent6"/>
            </a:solidFill>
            <a:ln w="9525">
              <a:solidFill>
                <a:schemeClr val="accent4"/>
              </a:solidFill>
            </a:ln>
          </p:spPr>
        </p:sp>
        <p:sp>
          <p:nvSpPr>
            <p:cNvPr id="81" name="TextBox 81"/>
            <p:cNvSpPr txBox="1"/>
            <p:nvPr/>
          </p:nvSpPr>
          <p:spPr>
            <a:xfrm>
              <a:off x="5119306" y="1752124"/>
              <a:ext cx="2372487" cy="190690"/>
            </a:xfrm>
            <a:prstGeom prst="rect">
              <a:avLst/>
            </a:prstGeom>
            <a:noFill/>
            <a:ln>
              <a:noFill/>
            </a:ln>
          </p:spPr>
          <p:txBody>
            <a:bodyPr wrap="none" lIns="0" tIns="0" rIns="0" bIns="0" anchor="t" anchorCtr="0">
              <a:spAutoFit/>
            </a:bodyPr>
            <a:lstStyle/>
            <a:p>
              <a:pPr algn="ctr"/>
              <a:r>
                <a:rPr lang="zh-CN" sz="980" dirty="0">
                  <a:solidFill>
                    <a:schemeClr val="accent1"/>
                  </a:solidFill>
                  <a:latin typeface="+mn-lt"/>
                  <a:ea typeface="+mn-ea"/>
                  <a:cs typeface="+mn-cs"/>
                </a:rPr>
                <a:t>提升值越高，表示部署后效率跃迁越明显</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6858000"/>
            </a:xfrm>
            <a:prstGeom prst="rect">
              <a:avLst/>
            </a:prstGeom>
            <a:gradFill>
              <a:gsLst>
                <a:gs pos="0">
                  <a:schemeClr val="accent2">
                    <a:alpha val="12000"/>
                  </a:schemeClr>
                </a:gs>
                <a:gs pos="100000">
                  <a:schemeClr val="accent2">
                    <a:alpha val="0"/>
                  </a:schemeClr>
                </a:gs>
              </a:gsLst>
              <a:path path="circle">
                <a:fillToRect l="50000" t="50000" r="50000" b="50000"/>
              </a:path>
            </a:gradFill>
            <a:ln>
              <a:noFill/>
            </a:ln>
          </p:spPr>
        </p:sp>
        <p:sp>
          <p:nvSpPr>
            <p:cNvPr id="4" name="Freeform 4"/>
            <p:cNvSpPr/>
            <p:nvPr/>
          </p:nvSpPr>
          <p:spPr>
            <a:xfrm>
              <a:off x="571500" y="838200"/>
              <a:ext cx="11049000" cy="9525"/>
            </a:xfrm>
            <a:custGeom>
              <a:avLst/>
              <a:gdLst/>
              <a:ahLst/>
              <a:cxnLst/>
              <a:rect l="l" t="t" r="r" b="b"/>
              <a:pathLst>
                <a:path w="11049000" h="9525">
                  <a:moveTo>
                    <a:pt x="0" y="0"/>
                  </a:moveTo>
                  <a:lnTo>
                    <a:pt x="11049000" y="0"/>
                  </a:lnTo>
                </a:path>
              </a:pathLst>
            </a:custGeom>
            <a:solidFill>
              <a:srgbClr val="000000"/>
            </a:solidFill>
            <a:ln w="19050">
              <a:solidFill>
                <a:schemeClr val="accent2"/>
              </a:solidFill>
            </a:ln>
          </p:spPr>
        </p:sp>
        <p:sp>
          <p:nvSpPr>
            <p:cNvPr id="5" name="Freeform 5"/>
            <p:cNvSpPr/>
            <p:nvPr/>
          </p:nvSpPr>
          <p:spPr>
            <a:xfrm>
              <a:off x="571500" y="6210300"/>
              <a:ext cx="11049000" cy="9525"/>
            </a:xfrm>
            <a:custGeom>
              <a:avLst/>
              <a:gdLst/>
              <a:ahLst/>
              <a:cxnLst/>
              <a:rect l="l" t="t" r="r" b="b"/>
              <a:pathLst>
                <a:path w="11049000" h="9525">
                  <a:moveTo>
                    <a:pt x="0" y="0"/>
                  </a:moveTo>
                  <a:lnTo>
                    <a:pt x="11049000" y="0"/>
                  </a:lnTo>
                </a:path>
              </a:pathLst>
            </a:custGeom>
            <a:solidFill>
              <a:srgbClr val="000000"/>
            </a:solidFill>
            <a:ln w="9525">
              <a:solidFill>
                <a:schemeClr val="accent4"/>
              </a:solidFill>
            </a:ln>
          </p:spPr>
        </p:sp>
        <p:sp>
          <p:nvSpPr>
            <p:cNvPr id="6" name="Line 6"/>
            <p:cNvSpPr/>
            <p:nvPr/>
          </p:nvSpPr>
          <p:spPr>
            <a:xfrm>
              <a:off x="571500" y="0"/>
              <a:ext cx="9525" cy="6858000"/>
            </a:xfrm>
            <a:custGeom>
              <a:avLst/>
              <a:gdLst/>
              <a:ahLst/>
              <a:cxnLst/>
              <a:rect l="l" t="t" r="r" b="b"/>
              <a:pathLst>
                <a:path w="9525" h="6858000">
                  <a:moveTo>
                    <a:pt x="0" y="0"/>
                  </a:moveTo>
                  <a:lnTo>
                    <a:pt x="0" y="6858000"/>
                  </a:lnTo>
                </a:path>
              </a:pathLst>
            </a:custGeom>
            <a:noFill/>
            <a:ln w="9525">
              <a:solidFill>
                <a:schemeClr val="accent4">
                  <a:alpha val="22000"/>
                </a:schemeClr>
              </a:solidFill>
            </a:ln>
          </p:spPr>
        </p:sp>
        <p:sp>
          <p:nvSpPr>
            <p:cNvPr id="7" name="Line 7"/>
            <p:cNvSpPr/>
            <p:nvPr/>
          </p:nvSpPr>
          <p:spPr>
            <a:xfrm>
              <a:off x="11620500" y="0"/>
              <a:ext cx="9525" cy="6858000"/>
            </a:xfrm>
            <a:custGeom>
              <a:avLst/>
              <a:gdLst/>
              <a:ahLst/>
              <a:cxnLst/>
              <a:rect l="l" t="t" r="r" b="b"/>
              <a:pathLst>
                <a:path w="9525" h="6858000">
                  <a:moveTo>
                    <a:pt x="0" y="0"/>
                  </a:moveTo>
                  <a:lnTo>
                    <a:pt x="0" y="6858000"/>
                  </a:lnTo>
                </a:path>
              </a:pathLst>
            </a:custGeom>
            <a:noFill/>
            <a:ln w="9525">
              <a:solidFill>
                <a:schemeClr val="accent4">
                  <a:alpha val="22000"/>
                </a:schemeClr>
              </a:solidFill>
            </a:ln>
          </p:spPr>
        </p:sp>
        <p:sp>
          <p:nvSpPr>
            <p:cNvPr id="8" name="Line 8"/>
            <p:cNvSpPr/>
            <p:nvPr/>
          </p:nvSpPr>
          <p:spPr>
            <a:xfrm>
              <a:off x="0" y="47625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sp>
          <p:nvSpPr>
            <p:cNvPr id="9" name="Line 9"/>
            <p:cNvSpPr/>
            <p:nvPr/>
          </p:nvSpPr>
          <p:spPr>
            <a:xfrm>
              <a:off x="0" y="6381750"/>
              <a:ext cx="12192000" cy="9525"/>
            </a:xfrm>
            <a:custGeom>
              <a:avLst/>
              <a:gdLst/>
              <a:ahLst/>
              <a:cxnLst/>
              <a:rect l="l" t="t" r="r" b="b"/>
              <a:pathLst>
                <a:path w="12192000" h="9525">
                  <a:moveTo>
                    <a:pt x="0" y="0"/>
                  </a:moveTo>
                  <a:lnTo>
                    <a:pt x="12192000" y="0"/>
                  </a:lnTo>
                </a:path>
              </a:pathLst>
            </a:custGeom>
            <a:noFill/>
            <a:ln w="9525">
              <a:solidFill>
                <a:schemeClr val="accent4">
                  <a:alpha val="18000"/>
                </a:schemeClr>
              </a:solidFill>
            </a:ln>
          </p:spPr>
        </p:sp>
      </p:grpSp>
      <p:grpSp>
        <p:nvGrpSpPr>
          <p:cNvPr id="15" name="Group 15"/>
          <p:cNvGrpSpPr/>
          <p:nvPr/>
        </p:nvGrpSpPr>
        <p:grpSpPr>
          <a:xfrm>
            <a:off x="566738" y="264795"/>
            <a:ext cx="11058525" cy="6323171"/>
            <a:chOff x="566738" y="264795"/>
            <a:chExt cx="11058525" cy="6323171"/>
          </a:xfrm>
        </p:grpSpPr>
        <p:sp>
          <p:nvSpPr>
            <p:cNvPr id="11" name="TextBox 11"/>
            <p:cNvSpPr txBox="1"/>
            <p:nvPr/>
          </p:nvSpPr>
          <p:spPr>
            <a:xfrm>
              <a:off x="566738" y="264795"/>
              <a:ext cx="494157"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推进序列</a:t>
              </a:r>
            </a:p>
          </p:txBody>
        </p:sp>
        <p:sp>
          <p:nvSpPr>
            <p:cNvPr id="12" name="TextBox 12"/>
            <p:cNvSpPr txBox="1"/>
            <p:nvPr/>
          </p:nvSpPr>
          <p:spPr>
            <a:xfrm>
              <a:off x="10534002" y="264795"/>
              <a:ext cx="1091260" cy="176212"/>
            </a:xfrm>
            <a:prstGeom prst="rect">
              <a:avLst/>
            </a:prstGeom>
            <a:noFill/>
            <a:ln>
              <a:noFill/>
            </a:ln>
          </p:spPr>
          <p:txBody>
            <a:bodyPr wrap="none" lIns="0" tIns="0" rIns="0" bIns="0" anchor="t" anchorCtr="0">
              <a:spAutoFit/>
            </a:bodyPr>
            <a:lstStyle/>
            <a:p>
              <a:pPr algn="r"/>
              <a:r>
                <a:rPr lang="zh-CN" sz="900" dirty="0">
                  <a:solidFill>
                    <a:schemeClr val="accent5"/>
                  </a:solidFill>
                  <a:latin typeface="+mn-lt"/>
                  <a:ea typeface="+mn-ea"/>
                  <a:cs typeface="+mn-cs"/>
                </a:rPr>
                <a:t>企业 AI 营销工作台</a:t>
              </a:r>
            </a:p>
          </p:txBody>
        </p:sp>
        <p:sp>
          <p:nvSpPr>
            <p:cNvPr id="13" name="TextBox 13"/>
            <p:cNvSpPr txBox="1"/>
            <p:nvPr/>
          </p:nvSpPr>
          <p:spPr>
            <a:xfrm>
              <a:off x="566738" y="6426041"/>
              <a:ext cx="2270779"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面向企业管理层的 SaaS 营销工作台落地路径</a:t>
              </a:r>
            </a:p>
          </p:txBody>
        </p:sp>
        <p:sp>
          <p:nvSpPr>
            <p:cNvPr id="14" name="TextBox 14"/>
            <p:cNvSpPr txBox="1"/>
            <p:nvPr/>
          </p:nvSpPr>
          <p:spPr>
            <a:xfrm>
              <a:off x="11493570" y="6426041"/>
              <a:ext cx="131693"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08</a:t>
              </a:r>
            </a:p>
          </p:txBody>
        </p:sp>
      </p:grpSp>
      <p:grpSp>
        <p:nvGrpSpPr>
          <p:cNvPr id="55" name="Group 55"/>
          <p:cNvGrpSpPr/>
          <p:nvPr/>
        </p:nvGrpSpPr>
        <p:grpSpPr>
          <a:xfrm>
            <a:off x="557784" y="1061085"/>
            <a:ext cx="11062716" cy="4749165"/>
            <a:chOff x="557784" y="1061085"/>
            <a:chExt cx="11062716" cy="4749165"/>
          </a:xfrm>
        </p:grpSpPr>
        <p:sp>
          <p:nvSpPr>
            <p:cNvPr id="16" name="TextBox 16"/>
            <p:cNvSpPr txBox="1"/>
            <p:nvPr/>
          </p:nvSpPr>
          <p:spPr>
            <a:xfrm>
              <a:off x="557784" y="1061085"/>
              <a:ext cx="6923014" cy="528066"/>
            </a:xfrm>
            <a:prstGeom prst="rect">
              <a:avLst/>
            </a:prstGeom>
            <a:noFill/>
            <a:ln>
              <a:noFill/>
            </a:ln>
          </p:spPr>
          <p:txBody>
            <a:bodyPr wrap="none" lIns="0" tIns="0" rIns="0" bIns="0" anchor="t" anchorCtr="0">
              <a:spAutoFit/>
            </a:bodyPr>
            <a:lstStyle/>
            <a:p>
              <a:pPr algn="l"/>
              <a:r>
                <a:rPr lang="zh-CN" sz="2700" b="1" dirty="0">
                  <a:gradFill>
                    <a:gsLst>
                      <a:gs pos="0">
                        <a:schemeClr val="accent1"/>
                      </a:gs>
                      <a:gs pos="100000">
                        <a:schemeClr val="accent2"/>
                      </a:gs>
                    </a:gsLst>
                    <a:lin ang="2700000" scaled="1"/>
                  </a:gradFill>
                  <a:latin typeface="+mj-lt"/>
                  <a:ea typeface="+mj-ea"/>
                  <a:cs typeface="+mj-cs"/>
                </a:rPr>
                <a:t>接下来90天：从决策到第一个增长循环</a:t>
              </a:r>
            </a:p>
          </p:txBody>
        </p:sp>
        <p:sp>
          <p:nvSpPr>
            <p:cNvPr id="17" name="TextBox 17"/>
            <p:cNvSpPr txBox="1"/>
            <p:nvPr/>
          </p:nvSpPr>
          <p:spPr>
            <a:xfrm>
              <a:off x="563880" y="1571625"/>
              <a:ext cx="6477000" cy="293370"/>
            </a:xfrm>
            <a:prstGeom prst="rect">
              <a:avLst/>
            </a:prstGeom>
            <a:noFill/>
            <a:ln>
              <a:noFill/>
            </a:ln>
          </p:spPr>
          <p:txBody>
            <a:bodyPr wrap="none" lIns="0" tIns="0" rIns="0" bIns="0" anchor="t" anchorCtr="0">
              <a:spAutoFit/>
            </a:bodyPr>
            <a:lstStyle/>
            <a:p>
              <a:pPr algn="l"/>
              <a:r>
                <a:rPr lang="zh-CN" sz="1500" dirty="0">
                  <a:solidFill>
                    <a:schemeClr val="dk2"/>
                  </a:solidFill>
                  <a:latin typeface="+mn-lt"/>
                  <a:ea typeface="+mn-ea"/>
                  <a:cs typeface="+mn-cs"/>
                </a:rPr>
                <a:t>所有列出的动作都已有可签约的供应商、内部团队模板和合规预审路径。</a:t>
              </a:r>
            </a:p>
          </p:txBody>
        </p:sp>
        <p:sp>
          <p:nvSpPr>
            <p:cNvPr id="18" name="Freeform 18"/>
            <p:cNvSpPr/>
            <p:nvPr/>
          </p:nvSpPr>
          <p:spPr>
            <a:xfrm>
              <a:off x="571500" y="2133600"/>
              <a:ext cx="11049000" cy="704850"/>
            </a:xfrm>
            <a:custGeom>
              <a:avLst/>
              <a:gdLst/>
              <a:ahLst/>
              <a:cxnLst/>
              <a:rect l="l" t="t" r="r" b="b"/>
              <a:pathLst>
                <a:path w="11049000" h="704850">
                  <a:moveTo>
                    <a:pt x="114300" y="0"/>
                  </a:moveTo>
                  <a:lnTo>
                    <a:pt x="10934700" y="0"/>
                  </a:lnTo>
                  <a:cubicBezTo>
                    <a:pt x="10997826" y="0"/>
                    <a:pt x="11049000" y="51174"/>
                    <a:pt x="11049000" y="114300"/>
                  </a:cubicBezTo>
                  <a:lnTo>
                    <a:pt x="11049000" y="590550"/>
                  </a:lnTo>
                  <a:cubicBezTo>
                    <a:pt x="11049000" y="653676"/>
                    <a:pt x="10997826" y="704850"/>
                    <a:pt x="10934700" y="704850"/>
                  </a:cubicBezTo>
                  <a:lnTo>
                    <a:pt x="114300" y="704850"/>
                  </a:lnTo>
                  <a:cubicBezTo>
                    <a:pt x="51174" y="704850"/>
                    <a:pt x="0" y="653676"/>
                    <a:pt x="0" y="590550"/>
                  </a:cubicBezTo>
                  <a:lnTo>
                    <a:pt x="0" y="114300"/>
                  </a:lnTo>
                  <a:cubicBezTo>
                    <a:pt x="0" y="51174"/>
                    <a:pt x="51174" y="0"/>
                    <a:pt x="114300" y="0"/>
                  </a:cubicBezTo>
                  <a:close/>
                </a:path>
              </a:pathLst>
            </a:custGeom>
            <a:solidFill>
              <a:schemeClr val="accent6"/>
            </a:solidFill>
            <a:ln w="9525">
              <a:solidFill>
                <a:schemeClr val="accent4"/>
              </a:solidFill>
            </a:ln>
          </p:spPr>
        </p:sp>
        <p:sp>
          <p:nvSpPr>
            <p:cNvPr id="19" name="TextBox 19"/>
            <p:cNvSpPr txBox="1"/>
            <p:nvPr/>
          </p:nvSpPr>
          <p:spPr>
            <a:xfrm>
              <a:off x="851916" y="2296478"/>
              <a:ext cx="619184"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90天目标</a:t>
              </a:r>
            </a:p>
          </p:txBody>
        </p:sp>
        <p:sp>
          <p:nvSpPr>
            <p:cNvPr id="20" name="TextBox 20"/>
            <p:cNvSpPr txBox="1"/>
            <p:nvPr/>
          </p:nvSpPr>
          <p:spPr>
            <a:xfrm>
              <a:off x="848868" y="2488882"/>
              <a:ext cx="8383090"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完成预算决策 → 打通关键数据 → 上线首个 AI 增长用例并产出第一次 ROI 评估</a:t>
              </a:r>
            </a:p>
          </p:txBody>
        </p:sp>
        <p:sp>
          <p:nvSpPr>
            <p:cNvPr id="21" name="Line 21"/>
            <p:cNvSpPr/>
            <p:nvPr/>
          </p:nvSpPr>
          <p:spPr>
            <a:xfrm>
              <a:off x="1619250" y="4191000"/>
              <a:ext cx="8953500" cy="1"/>
            </a:xfrm>
            <a:prstGeom prst="line">
              <a:avLst/>
            </a:prstGeom>
            <a:noFill/>
            <a:ln w="38100">
              <a:solidFill>
                <a:schemeClr val="accent2"/>
              </a:solidFill>
              <a:tailEnd type="triangle" w="lg" len="lg"/>
            </a:ln>
          </p:spPr>
        </p:sp>
        <p:sp>
          <p:nvSpPr>
            <p:cNvPr id="22" name="Ellipse 22"/>
            <p:cNvSpPr/>
            <p:nvPr/>
          </p:nvSpPr>
          <p:spPr>
            <a:xfrm>
              <a:off x="2305050" y="4019550"/>
              <a:ext cx="342900" cy="342900"/>
            </a:xfrm>
            <a:prstGeom prst="ellipse">
              <a:avLst/>
            </a:prstGeom>
            <a:solidFill>
              <a:schemeClr val="lt1"/>
            </a:solidFill>
            <a:ln w="38100">
              <a:solidFill>
                <a:schemeClr val="accent2"/>
              </a:solidFill>
            </a:ln>
          </p:spPr>
        </p:sp>
        <p:sp>
          <p:nvSpPr>
            <p:cNvPr id="23" name="Ellipse 23"/>
            <p:cNvSpPr/>
            <p:nvPr/>
          </p:nvSpPr>
          <p:spPr>
            <a:xfrm>
              <a:off x="5924550" y="4019550"/>
              <a:ext cx="342900" cy="342900"/>
            </a:xfrm>
            <a:prstGeom prst="ellipse">
              <a:avLst/>
            </a:prstGeom>
            <a:solidFill>
              <a:schemeClr val="lt1"/>
            </a:solidFill>
            <a:ln w="38100">
              <a:solidFill>
                <a:schemeClr val="accent2"/>
              </a:solidFill>
            </a:ln>
          </p:spPr>
        </p:sp>
        <p:sp>
          <p:nvSpPr>
            <p:cNvPr id="24" name="Ellipse 24"/>
            <p:cNvSpPr/>
            <p:nvPr/>
          </p:nvSpPr>
          <p:spPr>
            <a:xfrm>
              <a:off x="9448800" y="4019550"/>
              <a:ext cx="342900" cy="342900"/>
            </a:xfrm>
            <a:prstGeom prst="ellipse">
              <a:avLst/>
            </a:prstGeom>
            <a:solidFill>
              <a:schemeClr val="lt1"/>
            </a:solidFill>
            <a:ln w="38100">
              <a:solidFill>
                <a:schemeClr val="accent2"/>
              </a:solidFill>
            </a:ln>
          </p:spPr>
        </p:sp>
        <p:sp>
          <p:nvSpPr>
            <p:cNvPr id="25" name="Freeform 25"/>
            <p:cNvSpPr/>
            <p:nvPr/>
          </p:nvSpPr>
          <p:spPr>
            <a:xfrm>
              <a:off x="1047750" y="3067050"/>
              <a:ext cx="2857500" cy="933450"/>
            </a:xfrm>
            <a:custGeom>
              <a:avLst/>
              <a:gdLst/>
              <a:ahLst/>
              <a:cxnLst/>
              <a:rect l="l" t="t" r="r" b="b"/>
              <a:pathLst>
                <a:path w="2857500" h="933450">
                  <a:moveTo>
                    <a:pt x="114300" y="0"/>
                  </a:moveTo>
                  <a:lnTo>
                    <a:pt x="2743200" y="0"/>
                  </a:lnTo>
                  <a:cubicBezTo>
                    <a:pt x="2806326" y="0"/>
                    <a:pt x="2857500" y="51174"/>
                    <a:pt x="2857500" y="114300"/>
                  </a:cubicBezTo>
                  <a:lnTo>
                    <a:pt x="2857500" y="819150"/>
                  </a:lnTo>
                  <a:cubicBezTo>
                    <a:pt x="2857500" y="882276"/>
                    <a:pt x="2806326" y="933450"/>
                    <a:pt x="2743200" y="933450"/>
                  </a:cubicBezTo>
                  <a:lnTo>
                    <a:pt x="114300" y="933450"/>
                  </a:lnTo>
                  <a:cubicBezTo>
                    <a:pt x="51174" y="933450"/>
                    <a:pt x="0" y="882276"/>
                    <a:pt x="0" y="819150"/>
                  </a:cubicBezTo>
                  <a:lnTo>
                    <a:pt x="0" y="114300"/>
                  </a:lnTo>
                  <a:cubicBezTo>
                    <a:pt x="0" y="51174"/>
                    <a:pt x="51174" y="0"/>
                    <a:pt x="114300" y="0"/>
                  </a:cubicBezTo>
                  <a:close/>
                </a:path>
              </a:pathLst>
            </a:custGeom>
            <a:solidFill>
              <a:schemeClr val="lt2"/>
            </a:solidFill>
            <a:ln w="14288">
              <a:solidFill>
                <a:schemeClr val="accent4"/>
              </a:solidFill>
            </a:ln>
          </p:spPr>
        </p:sp>
        <p:sp>
          <p:nvSpPr>
            <p:cNvPr id="26" name="TextBox 26"/>
            <p:cNvSpPr txBox="1"/>
            <p:nvPr/>
          </p:nvSpPr>
          <p:spPr>
            <a:xfrm>
              <a:off x="1271016" y="3239452"/>
              <a:ext cx="552396"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第1-2周</a:t>
              </a:r>
            </a:p>
          </p:txBody>
        </p:sp>
        <p:sp>
          <p:nvSpPr>
            <p:cNvPr id="27" name="TextBox 27"/>
            <p:cNvSpPr txBox="1"/>
            <p:nvPr/>
          </p:nvSpPr>
          <p:spPr>
            <a:xfrm>
              <a:off x="1266444" y="3428048"/>
              <a:ext cx="1475994"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j-lt"/>
                  <a:ea typeface="+mj-ea"/>
                  <a:cs typeface="+mj-cs"/>
                </a:rPr>
                <a:t>决策与立项</a:t>
              </a:r>
            </a:p>
          </p:txBody>
        </p:sp>
        <p:sp>
          <p:nvSpPr>
            <p:cNvPr id="28" name="TextBox 28"/>
            <p:cNvSpPr txBox="1"/>
            <p:nvPr/>
          </p:nvSpPr>
          <p:spPr>
            <a:xfrm>
              <a:off x="1269492" y="3702368"/>
              <a:ext cx="20011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批准预算与 SOW，确定</a:t>
              </a:r>
            </a:p>
          </p:txBody>
        </p:sp>
        <p:sp>
          <p:nvSpPr>
            <p:cNvPr id="29" name="TextBox 29"/>
            <p:cNvSpPr txBox="1"/>
            <p:nvPr/>
          </p:nvSpPr>
          <p:spPr>
            <a:xfrm>
              <a:off x="1269492" y="3921442"/>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项目经理和业务负责人</a:t>
              </a:r>
            </a:p>
          </p:txBody>
        </p:sp>
        <p:sp>
          <p:nvSpPr>
            <p:cNvPr id="30" name="Freeform 30"/>
            <p:cNvSpPr/>
            <p:nvPr/>
          </p:nvSpPr>
          <p:spPr>
            <a:xfrm>
              <a:off x="4667250" y="3067050"/>
              <a:ext cx="2857500" cy="933450"/>
            </a:xfrm>
            <a:custGeom>
              <a:avLst/>
              <a:gdLst/>
              <a:ahLst/>
              <a:cxnLst/>
              <a:rect l="l" t="t" r="r" b="b"/>
              <a:pathLst>
                <a:path w="2857500" h="933450">
                  <a:moveTo>
                    <a:pt x="114300" y="0"/>
                  </a:moveTo>
                  <a:lnTo>
                    <a:pt x="2743200" y="0"/>
                  </a:lnTo>
                  <a:cubicBezTo>
                    <a:pt x="2806326" y="0"/>
                    <a:pt x="2857500" y="51174"/>
                    <a:pt x="2857500" y="114300"/>
                  </a:cubicBezTo>
                  <a:lnTo>
                    <a:pt x="2857500" y="819150"/>
                  </a:lnTo>
                  <a:cubicBezTo>
                    <a:pt x="2857500" y="882276"/>
                    <a:pt x="2806326" y="933450"/>
                    <a:pt x="2743200" y="933450"/>
                  </a:cubicBezTo>
                  <a:lnTo>
                    <a:pt x="114300" y="933450"/>
                  </a:lnTo>
                  <a:cubicBezTo>
                    <a:pt x="51174" y="933450"/>
                    <a:pt x="0" y="882276"/>
                    <a:pt x="0" y="819150"/>
                  </a:cubicBezTo>
                  <a:lnTo>
                    <a:pt x="0" y="114300"/>
                  </a:lnTo>
                  <a:cubicBezTo>
                    <a:pt x="0" y="51174"/>
                    <a:pt x="51174" y="0"/>
                    <a:pt x="114300" y="0"/>
                  </a:cubicBezTo>
                  <a:close/>
                </a:path>
              </a:pathLst>
            </a:custGeom>
            <a:solidFill>
              <a:schemeClr val="lt2"/>
            </a:solidFill>
            <a:ln w="14288">
              <a:solidFill>
                <a:schemeClr val="accent4"/>
              </a:solidFill>
            </a:ln>
          </p:spPr>
        </p:sp>
        <p:sp>
          <p:nvSpPr>
            <p:cNvPr id="31" name="TextBox 31"/>
            <p:cNvSpPr txBox="1"/>
            <p:nvPr/>
          </p:nvSpPr>
          <p:spPr>
            <a:xfrm>
              <a:off x="4890516" y="3239452"/>
              <a:ext cx="552396"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第3-6周</a:t>
              </a:r>
            </a:p>
          </p:txBody>
        </p:sp>
        <p:sp>
          <p:nvSpPr>
            <p:cNvPr id="32" name="TextBox 32"/>
            <p:cNvSpPr txBox="1"/>
            <p:nvPr/>
          </p:nvSpPr>
          <p:spPr>
            <a:xfrm>
              <a:off x="4885944" y="3428048"/>
              <a:ext cx="1475994"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j-lt"/>
                  <a:ea typeface="+mj-ea"/>
                  <a:cs typeface="+mj-cs"/>
                </a:rPr>
                <a:t>环境与数据</a:t>
              </a:r>
            </a:p>
          </p:txBody>
        </p:sp>
        <p:sp>
          <p:nvSpPr>
            <p:cNvPr id="33" name="TextBox 33"/>
            <p:cNvSpPr txBox="1"/>
            <p:nvPr/>
          </p:nvSpPr>
          <p:spPr>
            <a:xfrm>
              <a:off x="4888992" y="3702368"/>
              <a:ext cx="237629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部署环境，映射关键数据源，</a:t>
              </a:r>
            </a:p>
          </p:txBody>
        </p:sp>
        <p:sp>
          <p:nvSpPr>
            <p:cNvPr id="34" name="TextBox 34"/>
            <p:cNvSpPr txBox="1"/>
            <p:nvPr/>
          </p:nvSpPr>
          <p:spPr>
            <a:xfrm>
              <a:off x="4888992" y="3921442"/>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输出数据质量基线报告</a:t>
              </a:r>
            </a:p>
          </p:txBody>
        </p:sp>
        <p:sp>
          <p:nvSpPr>
            <p:cNvPr id="35" name="Freeform 35"/>
            <p:cNvSpPr/>
            <p:nvPr/>
          </p:nvSpPr>
          <p:spPr>
            <a:xfrm>
              <a:off x="8191500" y="3067050"/>
              <a:ext cx="2857500" cy="933450"/>
            </a:xfrm>
            <a:custGeom>
              <a:avLst/>
              <a:gdLst/>
              <a:ahLst/>
              <a:cxnLst/>
              <a:rect l="l" t="t" r="r" b="b"/>
              <a:pathLst>
                <a:path w="2857500" h="933450">
                  <a:moveTo>
                    <a:pt x="114300" y="0"/>
                  </a:moveTo>
                  <a:lnTo>
                    <a:pt x="2743200" y="0"/>
                  </a:lnTo>
                  <a:cubicBezTo>
                    <a:pt x="2806326" y="0"/>
                    <a:pt x="2857500" y="51174"/>
                    <a:pt x="2857500" y="114300"/>
                  </a:cubicBezTo>
                  <a:lnTo>
                    <a:pt x="2857500" y="819150"/>
                  </a:lnTo>
                  <a:cubicBezTo>
                    <a:pt x="2857500" y="882276"/>
                    <a:pt x="2806326" y="933450"/>
                    <a:pt x="2743200" y="933450"/>
                  </a:cubicBezTo>
                  <a:lnTo>
                    <a:pt x="114300" y="933450"/>
                  </a:lnTo>
                  <a:cubicBezTo>
                    <a:pt x="51174" y="933450"/>
                    <a:pt x="0" y="882276"/>
                    <a:pt x="0" y="819150"/>
                  </a:cubicBezTo>
                  <a:lnTo>
                    <a:pt x="0" y="114300"/>
                  </a:lnTo>
                  <a:cubicBezTo>
                    <a:pt x="0" y="51174"/>
                    <a:pt x="51174" y="0"/>
                    <a:pt x="114300" y="0"/>
                  </a:cubicBezTo>
                  <a:close/>
                </a:path>
              </a:pathLst>
            </a:custGeom>
            <a:solidFill>
              <a:schemeClr val="lt2"/>
            </a:solidFill>
            <a:ln w="14288">
              <a:solidFill>
                <a:schemeClr val="accent4"/>
              </a:solidFill>
            </a:ln>
          </p:spPr>
        </p:sp>
        <p:sp>
          <p:nvSpPr>
            <p:cNvPr id="36" name="TextBox 36"/>
            <p:cNvSpPr txBox="1"/>
            <p:nvPr/>
          </p:nvSpPr>
          <p:spPr>
            <a:xfrm>
              <a:off x="8414766" y="3239452"/>
              <a:ext cx="634026"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第7-12周</a:t>
              </a:r>
            </a:p>
          </p:txBody>
        </p:sp>
        <p:sp>
          <p:nvSpPr>
            <p:cNvPr id="37" name="TextBox 37"/>
            <p:cNvSpPr txBox="1"/>
            <p:nvPr/>
          </p:nvSpPr>
          <p:spPr>
            <a:xfrm>
              <a:off x="8410194" y="3428048"/>
              <a:ext cx="1475994"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j-lt"/>
                  <a:ea typeface="+mj-ea"/>
                  <a:cs typeface="+mj-cs"/>
                </a:rPr>
                <a:t>上线与验证</a:t>
              </a:r>
            </a:p>
          </p:txBody>
        </p:sp>
        <p:sp>
          <p:nvSpPr>
            <p:cNvPr id="38" name="TextBox 38"/>
            <p:cNvSpPr txBox="1"/>
            <p:nvPr/>
          </p:nvSpPr>
          <p:spPr>
            <a:xfrm>
              <a:off x="8413242" y="3702368"/>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客户流失预警上线 A/B 测试，</a:t>
              </a:r>
            </a:p>
          </p:txBody>
        </p:sp>
        <p:sp>
          <p:nvSpPr>
            <p:cNvPr id="39" name="TextBox 39"/>
            <p:cNvSpPr txBox="1"/>
            <p:nvPr/>
          </p:nvSpPr>
          <p:spPr>
            <a:xfrm>
              <a:off x="8413242" y="3921442"/>
              <a:ext cx="17803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交付第一次 ROI 评估</a:t>
              </a:r>
            </a:p>
          </p:txBody>
        </p:sp>
        <p:sp>
          <p:nvSpPr>
            <p:cNvPr id="40" name="Freeform 40"/>
            <p:cNvSpPr/>
            <p:nvPr/>
          </p:nvSpPr>
          <p:spPr>
            <a:xfrm>
              <a:off x="857250" y="4819650"/>
              <a:ext cx="3238500" cy="990600"/>
            </a:xfrm>
            <a:custGeom>
              <a:avLst/>
              <a:gdLst/>
              <a:ahLst/>
              <a:cxnLst/>
              <a:rect l="l" t="t" r="r" b="b"/>
              <a:pathLst>
                <a:path w="3238500" h="990600">
                  <a:moveTo>
                    <a:pt x="114300" y="0"/>
                  </a:moveTo>
                  <a:lnTo>
                    <a:pt x="3124200" y="0"/>
                  </a:lnTo>
                  <a:cubicBezTo>
                    <a:pt x="3187326" y="0"/>
                    <a:pt x="3238500" y="51174"/>
                    <a:pt x="3238500" y="114300"/>
                  </a:cubicBezTo>
                  <a:lnTo>
                    <a:pt x="3238500" y="876300"/>
                  </a:lnTo>
                  <a:cubicBezTo>
                    <a:pt x="3238500" y="939426"/>
                    <a:pt x="3187326" y="990600"/>
                    <a:pt x="3124200" y="990600"/>
                  </a:cubicBezTo>
                  <a:lnTo>
                    <a:pt x="114300" y="990600"/>
                  </a:lnTo>
                  <a:cubicBezTo>
                    <a:pt x="51174" y="990600"/>
                    <a:pt x="0" y="939426"/>
                    <a:pt x="0" y="876300"/>
                  </a:cubicBezTo>
                  <a:lnTo>
                    <a:pt x="0" y="114300"/>
                  </a:lnTo>
                  <a:cubicBezTo>
                    <a:pt x="0" y="51174"/>
                    <a:pt x="51174" y="0"/>
                    <a:pt x="114300" y="0"/>
                  </a:cubicBezTo>
                  <a:close/>
                </a:path>
              </a:pathLst>
            </a:custGeom>
            <a:solidFill>
              <a:schemeClr val="lt1"/>
            </a:solidFill>
            <a:ln w="14288">
              <a:solidFill>
                <a:schemeClr val="accent4"/>
              </a:solidFill>
            </a:ln>
          </p:spPr>
        </p:sp>
        <p:sp>
          <p:nvSpPr>
            <p:cNvPr id="41" name="TextBox 41"/>
            <p:cNvSpPr txBox="1"/>
            <p:nvPr/>
          </p:nvSpPr>
          <p:spPr>
            <a:xfrm>
              <a:off x="1077468" y="4927282"/>
              <a:ext cx="121195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j-lt"/>
                  <a:ea typeface="+mj-ea"/>
                  <a:cs typeface="+mj-cs"/>
                </a:rPr>
                <a:t>关键节点 1</a:t>
              </a:r>
            </a:p>
          </p:txBody>
        </p:sp>
        <p:sp>
          <p:nvSpPr>
            <p:cNvPr id="42" name="TextBox 42"/>
            <p:cNvSpPr txBox="1"/>
            <p:nvPr/>
          </p:nvSpPr>
          <p:spPr>
            <a:xfrm>
              <a:off x="1078992" y="5245418"/>
              <a:ext cx="219318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董事会批准预算与 SOW，</a:t>
              </a:r>
            </a:p>
          </p:txBody>
        </p:sp>
        <p:sp>
          <p:nvSpPr>
            <p:cNvPr id="43" name="TextBox 43"/>
            <p:cNvSpPr txBox="1"/>
            <p:nvPr/>
          </p:nvSpPr>
          <p:spPr>
            <a:xfrm>
              <a:off x="1078992" y="5464492"/>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任命内部项目经理和业务负责人</a:t>
              </a:r>
            </a:p>
          </p:txBody>
        </p:sp>
        <p:sp>
          <p:nvSpPr>
            <p:cNvPr id="44" name="Freeform 44"/>
            <p:cNvSpPr/>
            <p:nvPr/>
          </p:nvSpPr>
          <p:spPr>
            <a:xfrm>
              <a:off x="4476750" y="4819650"/>
              <a:ext cx="3238500" cy="990600"/>
            </a:xfrm>
            <a:custGeom>
              <a:avLst/>
              <a:gdLst/>
              <a:ahLst/>
              <a:cxnLst/>
              <a:rect l="l" t="t" r="r" b="b"/>
              <a:pathLst>
                <a:path w="3238500" h="990600">
                  <a:moveTo>
                    <a:pt x="114300" y="0"/>
                  </a:moveTo>
                  <a:lnTo>
                    <a:pt x="3124200" y="0"/>
                  </a:lnTo>
                  <a:cubicBezTo>
                    <a:pt x="3187326" y="0"/>
                    <a:pt x="3238500" y="51174"/>
                    <a:pt x="3238500" y="114300"/>
                  </a:cubicBezTo>
                  <a:lnTo>
                    <a:pt x="3238500" y="876300"/>
                  </a:lnTo>
                  <a:cubicBezTo>
                    <a:pt x="3238500" y="939426"/>
                    <a:pt x="3187326" y="990600"/>
                    <a:pt x="3124200" y="990600"/>
                  </a:cubicBezTo>
                  <a:lnTo>
                    <a:pt x="114300" y="990600"/>
                  </a:lnTo>
                  <a:cubicBezTo>
                    <a:pt x="51174" y="990600"/>
                    <a:pt x="0" y="939426"/>
                    <a:pt x="0" y="876300"/>
                  </a:cubicBezTo>
                  <a:lnTo>
                    <a:pt x="0" y="114300"/>
                  </a:lnTo>
                  <a:cubicBezTo>
                    <a:pt x="0" y="51174"/>
                    <a:pt x="51174" y="0"/>
                    <a:pt x="114300" y="0"/>
                  </a:cubicBezTo>
                  <a:close/>
                </a:path>
              </a:pathLst>
            </a:custGeom>
            <a:solidFill>
              <a:schemeClr val="lt1"/>
            </a:solidFill>
            <a:ln w="14288">
              <a:solidFill>
                <a:schemeClr val="accent4"/>
              </a:solidFill>
            </a:ln>
          </p:spPr>
        </p:sp>
        <p:sp>
          <p:nvSpPr>
            <p:cNvPr id="45" name="TextBox 45"/>
            <p:cNvSpPr txBox="1"/>
            <p:nvPr/>
          </p:nvSpPr>
          <p:spPr>
            <a:xfrm>
              <a:off x="4696968" y="4927282"/>
              <a:ext cx="121195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j-lt"/>
                  <a:ea typeface="+mj-ea"/>
                  <a:cs typeface="+mj-cs"/>
                </a:rPr>
                <a:t>关键节点 2</a:t>
              </a:r>
            </a:p>
          </p:txBody>
        </p:sp>
        <p:sp>
          <p:nvSpPr>
            <p:cNvPr id="46" name="TextBox 46"/>
            <p:cNvSpPr txBox="1"/>
            <p:nvPr/>
          </p:nvSpPr>
          <p:spPr>
            <a:xfrm>
              <a:off x="4698492" y="524541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供应商部署环境，映射关键</a:t>
              </a:r>
            </a:p>
          </p:txBody>
        </p:sp>
        <p:sp>
          <p:nvSpPr>
            <p:cNvPr id="47" name="TextBox 47"/>
            <p:cNvSpPr txBox="1"/>
            <p:nvPr/>
          </p:nvSpPr>
          <p:spPr>
            <a:xfrm>
              <a:off x="4698492" y="5464492"/>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数据源并出具质量基线报告</a:t>
              </a:r>
            </a:p>
          </p:txBody>
        </p:sp>
        <p:sp>
          <p:nvSpPr>
            <p:cNvPr id="48" name="Freeform 48"/>
            <p:cNvSpPr/>
            <p:nvPr/>
          </p:nvSpPr>
          <p:spPr>
            <a:xfrm>
              <a:off x="8096250" y="4819650"/>
              <a:ext cx="3238500" cy="990600"/>
            </a:xfrm>
            <a:custGeom>
              <a:avLst/>
              <a:gdLst/>
              <a:ahLst/>
              <a:cxnLst/>
              <a:rect l="l" t="t" r="r" b="b"/>
              <a:pathLst>
                <a:path w="3238500" h="990600">
                  <a:moveTo>
                    <a:pt x="114300" y="0"/>
                  </a:moveTo>
                  <a:lnTo>
                    <a:pt x="3124200" y="0"/>
                  </a:lnTo>
                  <a:cubicBezTo>
                    <a:pt x="3187326" y="0"/>
                    <a:pt x="3238500" y="51174"/>
                    <a:pt x="3238500" y="114300"/>
                  </a:cubicBezTo>
                  <a:lnTo>
                    <a:pt x="3238500" y="876300"/>
                  </a:lnTo>
                  <a:cubicBezTo>
                    <a:pt x="3238500" y="939426"/>
                    <a:pt x="3187326" y="990600"/>
                    <a:pt x="3124200" y="990600"/>
                  </a:cubicBezTo>
                  <a:lnTo>
                    <a:pt x="114300" y="990600"/>
                  </a:lnTo>
                  <a:cubicBezTo>
                    <a:pt x="51174" y="990600"/>
                    <a:pt x="0" y="939426"/>
                    <a:pt x="0" y="876300"/>
                  </a:cubicBezTo>
                  <a:lnTo>
                    <a:pt x="0" y="114300"/>
                  </a:lnTo>
                  <a:cubicBezTo>
                    <a:pt x="0" y="51174"/>
                    <a:pt x="51174" y="0"/>
                    <a:pt x="114300" y="0"/>
                  </a:cubicBezTo>
                  <a:close/>
                </a:path>
              </a:pathLst>
            </a:custGeom>
            <a:solidFill>
              <a:schemeClr val="lt1"/>
            </a:solidFill>
            <a:ln w="14288">
              <a:solidFill>
                <a:schemeClr val="accent4"/>
              </a:solidFill>
            </a:ln>
          </p:spPr>
        </p:sp>
        <p:sp>
          <p:nvSpPr>
            <p:cNvPr id="49" name="TextBox 49"/>
            <p:cNvSpPr txBox="1"/>
            <p:nvPr/>
          </p:nvSpPr>
          <p:spPr>
            <a:xfrm>
              <a:off x="8316468" y="4927282"/>
              <a:ext cx="121195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j-lt"/>
                  <a:ea typeface="+mj-ea"/>
                  <a:cs typeface="+mj-cs"/>
                </a:rPr>
                <a:t>关键节点 3</a:t>
              </a:r>
            </a:p>
          </p:txBody>
        </p:sp>
        <p:sp>
          <p:nvSpPr>
            <p:cNvPr id="50" name="TextBox 50"/>
            <p:cNvSpPr txBox="1"/>
            <p:nvPr/>
          </p:nvSpPr>
          <p:spPr>
            <a:xfrm>
              <a:off x="8317992" y="5245418"/>
              <a:ext cx="245242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首个 AI 模型上线 A/B 测试，</a:t>
              </a:r>
            </a:p>
          </p:txBody>
        </p:sp>
        <p:sp>
          <p:nvSpPr>
            <p:cNvPr id="51" name="TextBox 51"/>
            <p:cNvSpPr txBox="1"/>
            <p:nvPr/>
          </p:nvSpPr>
          <p:spPr>
            <a:xfrm>
              <a:off x="8317992" y="5464492"/>
              <a:ext cx="235640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形成第一次可审计 ROI 结果</a:t>
              </a:r>
            </a:p>
          </p:txBody>
        </p:sp>
        <p:sp>
          <p:nvSpPr>
            <p:cNvPr id="52" name="TextBox 52"/>
            <p:cNvSpPr txBox="1"/>
            <p:nvPr/>
          </p:nvSpPr>
          <p:spPr>
            <a:xfrm>
              <a:off x="2430351" y="4144328"/>
              <a:ext cx="9229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mn-lt"/>
                  <a:ea typeface="+mn-ea"/>
                  <a:cs typeface="+mn-cs"/>
                </a:rPr>
                <a:t>1</a:t>
              </a:r>
            </a:p>
          </p:txBody>
        </p:sp>
        <p:sp>
          <p:nvSpPr>
            <p:cNvPr id="53" name="TextBox 53"/>
            <p:cNvSpPr txBox="1"/>
            <p:nvPr/>
          </p:nvSpPr>
          <p:spPr>
            <a:xfrm>
              <a:off x="6049851" y="4144328"/>
              <a:ext cx="9229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mn-lt"/>
                  <a:ea typeface="+mn-ea"/>
                  <a:cs typeface="+mn-cs"/>
                </a:rPr>
                <a:t>2</a:t>
              </a:r>
            </a:p>
          </p:txBody>
        </p:sp>
        <p:sp>
          <p:nvSpPr>
            <p:cNvPr id="54" name="TextBox 54"/>
            <p:cNvSpPr txBox="1"/>
            <p:nvPr/>
          </p:nvSpPr>
          <p:spPr>
            <a:xfrm>
              <a:off x="9574101" y="4144328"/>
              <a:ext cx="92298" cy="205359"/>
            </a:xfrm>
            <a:prstGeom prst="rect">
              <a:avLst/>
            </a:prstGeom>
            <a:noFill/>
            <a:ln>
              <a:noFill/>
            </a:ln>
          </p:spPr>
          <p:txBody>
            <a:bodyPr wrap="none" lIns="0" tIns="0" rIns="0" bIns="0" anchor="t" anchorCtr="0">
              <a:spAutoFit/>
            </a:bodyPr>
            <a:lstStyle/>
            <a:p>
              <a:pPr algn="ctr"/>
              <a:r>
                <a:rPr lang="en-US" sz="1050" b="1" dirty="0">
                  <a:solidFill>
                    <a:schemeClr val="accent2"/>
                  </a:solidFill>
                  <a:latin typeface="+mn-lt"/>
                  <a:ea typeface="+mn-ea"/>
                  <a:cs typeface="+mn-cs"/>
                </a:rPr>
                <a:t>3</a:t>
              </a:r>
            </a:p>
          </p:txBody>
        </p:sp>
      </p:grpSp>
      <p:grpSp>
        <p:nvGrpSpPr>
          <p:cNvPr id="58" name="Group 58"/>
          <p:cNvGrpSpPr/>
          <p:nvPr/>
        </p:nvGrpSpPr>
        <p:grpSpPr>
          <a:xfrm>
            <a:off x="1613916" y="4344352"/>
            <a:ext cx="8964168" cy="205359"/>
            <a:chOff x="1613916" y="4344352"/>
            <a:chExt cx="8964168" cy="205359"/>
          </a:xfrm>
        </p:grpSpPr>
        <p:sp>
          <p:nvSpPr>
            <p:cNvPr id="56" name="TextBox 56"/>
            <p:cNvSpPr txBox="1"/>
            <p:nvPr/>
          </p:nvSpPr>
          <p:spPr>
            <a:xfrm>
              <a:off x="9436608" y="4344352"/>
              <a:ext cx="1141476" cy="205359"/>
            </a:xfrm>
            <a:prstGeom prst="rect">
              <a:avLst/>
            </a:prstGeom>
            <a:noFill/>
            <a:ln>
              <a:noFill/>
            </a:ln>
          </p:spPr>
          <p:txBody>
            <a:bodyPr wrap="none" lIns="0" tIns="0" rIns="0" bIns="0" anchor="t" anchorCtr="0">
              <a:spAutoFit/>
            </a:bodyPr>
            <a:lstStyle/>
            <a:p>
              <a:pPr algn="r"/>
              <a:r>
                <a:rPr lang="zh-CN" sz="1050" dirty="0">
                  <a:solidFill>
                    <a:schemeClr val="dk2"/>
                  </a:solidFill>
                  <a:latin typeface="+mn-lt"/>
                  <a:ea typeface="+mn-ea"/>
                  <a:cs typeface="+mn-cs"/>
                </a:rPr>
                <a:t>首个增长循环形成</a:t>
              </a:r>
            </a:p>
          </p:txBody>
        </p:sp>
        <p:sp>
          <p:nvSpPr>
            <p:cNvPr id="57" name="TextBox 57"/>
            <p:cNvSpPr txBox="1"/>
            <p:nvPr/>
          </p:nvSpPr>
          <p:spPr>
            <a:xfrm>
              <a:off x="1613916" y="4344352"/>
              <a:ext cx="576072" cy="205359"/>
            </a:xfrm>
            <a:prstGeom prst="rect">
              <a:avLst/>
            </a:prstGeom>
            <a:noFill/>
            <a:ln>
              <a:noFill/>
            </a:ln>
          </p:spPr>
          <p:txBody>
            <a:bodyPr wrap="none" lIns="0" tIns="0" rIns="0" bIns="0" anchor="t" anchorCtr="0">
              <a:spAutoFit/>
            </a:bodyPr>
            <a:lstStyle/>
            <a:p>
              <a:pPr algn="l"/>
              <a:r>
                <a:rPr lang="zh-CN" sz="1050" dirty="0">
                  <a:solidFill>
                    <a:schemeClr val="dk2"/>
                  </a:solidFill>
                  <a:latin typeface="+mn-lt"/>
                  <a:ea typeface="+mn-ea"/>
                  <a:cs typeface="+mn-cs"/>
                </a:rPr>
                <a:t>项目启动</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PPT Master">
      <a:dk1>
        <a:srgbClr val="1A202C"/>
      </a:dk1>
      <a:lt1>
        <a:srgbClr val="FFFFFF"/>
      </a:lt1>
      <a:dk2>
        <a:srgbClr val="4A5568"/>
      </a:dk2>
      <a:lt2>
        <a:srgbClr val="F5F7FA"/>
      </a:lt2>
      <a:accent1>
        <a:srgbClr val="1A365D"/>
      </a:accent1>
      <a:accent2>
        <a:srgbClr val="3182CE"/>
      </a:accent2>
      <a:accent3>
        <a:srgbClr val="63B3ED"/>
      </a:accent3>
      <a:accent4>
        <a:srgbClr val="E2E8F0"/>
      </a:accent4>
      <a:accent5>
        <a:srgbClr val="A0AEC0"/>
      </a:accent5>
      <a:accent6>
        <a:srgbClr val="EBF4FB"/>
      </a:accent6>
      <a:hlink>
        <a:srgbClr val="3182CE"/>
      </a:hlink>
      <a:folHlink>
        <a:srgbClr val="63B3ED"/>
      </a:folHlink>
    </a:clrScheme>
    <a:fontScheme name="PPT Master">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A202C"/>
      </a:dk1>
      <a:lt1>
        <a:srgbClr val="FFFFFF"/>
      </a:lt1>
      <a:dk2>
        <a:srgbClr val="4A5568"/>
      </a:dk2>
      <a:lt2>
        <a:srgbClr val="F5F7FA"/>
      </a:lt2>
      <a:accent1>
        <a:srgbClr val="1A365D"/>
      </a:accent1>
      <a:accent2>
        <a:srgbClr val="3182CE"/>
      </a:accent2>
      <a:accent3>
        <a:srgbClr val="63B3ED"/>
      </a:accent3>
      <a:accent4>
        <a:srgbClr val="E2E8F0"/>
      </a:accent4>
      <a:accent5>
        <a:srgbClr val="A0AEC0"/>
      </a:accent5>
      <a:accent6>
        <a:srgbClr val="EBF4FB"/>
      </a:accent6>
      <a:hlink>
        <a:srgbClr val="3182CE"/>
      </a:hlink>
      <a:folHlink>
        <a:srgbClr val="63B3ED"/>
      </a:folHlink>
    </a:clrScheme>
    <a:fontScheme name="PPT Master">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2026-07-10T23:36:53Z</dcterms:created>
  <dcterms:modified xsi:type="dcterms:W3CDTF">2026-07-10T23:36:53Z</dcterms:modified>
  <cp:category/>
  <cp:contentStatus/>
</cp:coreProperties>
</file>