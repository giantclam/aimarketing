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企业AI营销工作台</a:t>
            </a:r>
          </a:p>
          <a:p>
            <a:endParaRPr lang="en-US" dirty="0"/>
          </a:p>
          <a:p>
            <a:r>
              <a:rPr lang="zh-CN" dirty="0"/>
              <a:t>面向管理层，明确SaaS方案如何通过数据整合、AI分析、自动化执行与效果度量，实现营销ROI的确定性增长。</a:t>
            </a:r>
          </a:p>
          <a:p>
            <a:endParaRPr lang="en-US" dirty="0"/>
          </a:p>
          <a:p>
            <a:r>
              <a:rPr lang="zh-CN" dirty="0"/>
              <a:t>• 企业AI营销工作台</a:t>
            </a:r>
          </a:p>
          <a:p>
            <a:r>
              <a:rPr lang="zh-CN" dirty="0"/>
              <a:t>• 现状概览</a:t>
            </a:r>
          </a:p>
          <a:p>
            <a:r>
              <a:rPr lang="zh-CN" dirty="0"/>
              <a:t>• 核心风险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决策简报纲要</a:t>
            </a:r>
          </a:p>
          <a:p>
            <a:endParaRPr lang="en-US" dirty="0"/>
          </a:p>
          <a:p>
            <a:r>
              <a:rPr lang="zh-CN" dirty="0"/>
              <a:t>本次简报聚焦五大决策域：数据基础、AI分析能力、执行自动化、效果闭环，以及风险与落地路径。</a:t>
            </a:r>
          </a:p>
          <a:p>
            <a:endParaRPr lang="en-US" dirty="0"/>
          </a:p>
          <a:p>
            <a:r>
              <a:rPr lang="zh-CN" dirty="0"/>
              <a:t>• 将多渠道、多平台数据统一为实时可用的营销视图，消除人工拼表与延迟</a:t>
            </a:r>
          </a:p>
          <a:p>
            <a:r>
              <a:rPr lang="zh-CN" dirty="0"/>
              <a:t>• 用自研模型替代BI看板，直接输出可执行的投放策略与受众分群</a:t>
            </a:r>
          </a:p>
          <a:p>
            <a:r>
              <a:rPr lang="zh-CN" dirty="0"/>
              <a:t>• 策略一键下发，跨渠道自动编排，将小时级的响应压缩到分钟级</a:t>
            </a:r>
          </a:p>
          <a:p>
            <a:r>
              <a:rPr lang="zh-CN" dirty="0"/>
              <a:t>• 实时归因与预算再分配，将营销投入从“费用”转变为可度量的投资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核心结论：AI营销工作台是企业增长新引擎</a:t>
            </a:r>
          </a:p>
          <a:p>
            <a:endParaRPr lang="en-US" dirty="0"/>
          </a:p>
          <a:p>
            <a:r>
              <a:rPr lang="zh-CN" dirty="0"/>
              <a:t>最早采用AI营销工作台的企业正在将营销从成本中心转变为增长驱动器，获取难以复制的先发优势。</a:t>
            </a:r>
          </a:p>
          <a:p>
            <a:endParaRPr lang="en-US" dirty="0"/>
          </a:p>
          <a:p>
            <a:r>
              <a:rPr lang="zh-CN" dirty="0"/>
              <a:t>• 将数据整合与AI分析嵌入决策链，转化率平均提升30-50%，而非个位数优化</a:t>
            </a:r>
          </a:p>
          <a:p>
            <a:r>
              <a:rPr lang="zh-CN" dirty="0"/>
              <a:t>• 自动化执行释放团队生产力40%，使高价值人员转向策略而非操作</a:t>
            </a:r>
          </a:p>
          <a:p>
            <a:r>
              <a:rPr lang="zh-CN" dirty="0"/>
              <a:t>• 实时闭环归因让预算浪费减少25%以上，每一笔投入都有可追溯的产出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传统营销栈vs.AI营销工作台</a:t>
            </a:r>
          </a:p>
          <a:p>
            <a:endParaRPr lang="en-US" dirty="0"/>
          </a:p>
          <a:p>
            <a:r>
              <a:rPr lang="zh-CN" dirty="0"/>
              <a:t>当前营销技术栈依赖人工和碎片化系统；AI工作台将四个模块整合为单一闭环，从根本上改变速度与精度。</a:t>
            </a:r>
          </a:p>
          <a:p>
            <a:endParaRPr lang="en-US" dirty="0"/>
          </a:p>
          <a:p>
            <a:r>
              <a:rPr lang="zh-CN" dirty="0"/>
              <a:t>• 多渠道数据沉淀在各自系统，分析依赖BI团队，投放执行需跨平台手动配置，归因滞后3-7天</a:t>
            </a:r>
          </a:p>
          <a:p>
            <a:r>
              <a:rPr lang="zh-CN" dirty="0"/>
              <a:t>• 实时ETL统一数据湖，AI模型自动输出策略与受众，跨渠道一键自动编排，分钟级归因与再优化</a:t>
            </a:r>
          </a:p>
          <a:p>
            <a:r>
              <a:rPr lang="zh-CN" dirty="0"/>
              <a:t>• 关键变量对比</a:t>
            </a:r>
          </a:p>
          <a:p>
            <a:r>
              <a:rPr lang="zh-CN" dirty="0"/>
              <a:t>• 不同路径影响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成效验证：早期客户数据</a:t>
            </a:r>
          </a:p>
          <a:p>
            <a:endParaRPr lang="en-US" dirty="0"/>
          </a:p>
          <a:p>
            <a:r>
              <a:rPr lang="zh-CN" dirty="0"/>
              <a:t>不依赖长篇报告，仅通过三个可验证的指标展示AI营销工作台的直接业务影响。</a:t>
            </a:r>
          </a:p>
          <a:p>
            <a:endParaRPr lang="en-US" dirty="0"/>
          </a:p>
          <a:p>
            <a:r>
              <a:rPr lang="zh-CN" dirty="0"/>
              <a:t>• 某消费品品牌接入工作台后，三个月内全渠道归因转化率由2.1%升至2.85%</a:t>
            </a:r>
          </a:p>
          <a:p>
            <a:r>
              <a:rPr lang="zh-CN" dirty="0"/>
              <a:t>• 自动化执行与数据整合替代了3个重复性FTEs，人力成本节约同时降低操作错误率</a:t>
            </a:r>
          </a:p>
          <a:p>
            <a:r>
              <a:rPr lang="zh-CN" dirty="0"/>
              <a:t>• 标准SaaS部署+预置连接器，客户在6周内完成数据接入并看到首次AI推荐作用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投资价值量化</a:t>
            </a:r>
          </a:p>
          <a:p>
            <a:endParaRPr lang="en-US" dirty="0"/>
          </a:p>
          <a:p>
            <a:r>
              <a:rPr lang="zh-CN" dirty="0"/>
              <a:t>基于早期部署数据和行业基准，AI营销工作台可在一年内产生显著可量化的回报。</a:t>
            </a:r>
          </a:p>
          <a:p>
            <a:endParaRPr lang="en-US" dirty="0"/>
          </a:p>
          <a:p>
            <a:r>
              <a:rPr lang="zh-CN" dirty="0"/>
              <a:t>• 平均转化率提升</a:t>
            </a:r>
          </a:p>
          <a:p>
            <a:r>
              <a:rPr lang="zh-CN" dirty="0"/>
              <a:t>• 营销活动上线速度</a:t>
            </a:r>
          </a:p>
          <a:p>
            <a:r>
              <a:rPr lang="zh-CN" dirty="0"/>
              <a:t>• 人工成本节约</a:t>
            </a:r>
          </a:p>
          <a:p>
            <a:r>
              <a:rPr lang="zh-CN" dirty="0"/>
              <a:t>• 投资回收期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各模块对效率的贡献权重</a:t>
            </a:r>
          </a:p>
          <a:p>
            <a:endParaRPr lang="en-US" dirty="0"/>
          </a:p>
          <a:p>
            <a:r>
              <a:rPr lang="zh-CN" dirty="0"/>
              <a:t>AI分析环节贡献最大效率增益，数据整合是基础使能器，自动化执行与效果度量将价值固化。</a:t>
            </a:r>
          </a:p>
          <a:p>
            <a:endParaRPr lang="en-US" dirty="0"/>
          </a:p>
          <a:p>
            <a:r>
              <a:rPr lang="zh-CN" dirty="0"/>
              <a:t>• 通过统一数据底座减少数据准备时间，为AI提供高质量输入</a:t>
            </a:r>
          </a:p>
          <a:p>
            <a:r>
              <a:rPr lang="zh-CN" dirty="0"/>
              <a:t>• 预测模型和推荐引擎直接替代人工分析，贡献最大决策效率提升</a:t>
            </a:r>
          </a:p>
          <a:p>
            <a:r>
              <a:rPr lang="zh-CN" dirty="0"/>
              <a:t>• 减少从策略到执行的人为延迟与错误，提升响应速度</a:t>
            </a:r>
          </a:p>
          <a:p>
            <a:r>
              <a:rPr lang="zh-CN" dirty="0"/>
              <a:t>• 实时归因与预算优化，确保前三个模块的产出转化为可追踪的ROI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下一步：两阶段启动建议</a:t>
            </a:r>
          </a:p>
          <a:p>
            <a:endParaRPr lang="en-US" dirty="0"/>
          </a:p>
          <a:p>
            <a:r>
              <a:rPr lang="zh-CN" dirty="0"/>
              <a:t>建议按两阶段推进，控制初期风险并快速验证价值，为全面推广提供决策依据。</a:t>
            </a:r>
          </a:p>
          <a:p>
            <a:endParaRPr lang="en-US" dirty="0"/>
          </a:p>
          <a:p>
            <a:r>
              <a:rPr lang="zh-CN" dirty="0"/>
              <a:t>• 选择一个核心渠道与业务单元，完成数据接入与基础AI模型配置，目标在6周内产生首个归因闭环并展示初步ROI</a:t>
            </a:r>
          </a:p>
          <a:p>
            <a:r>
              <a:rPr lang="zh-CN" dirty="0"/>
              <a:t>• 基于PoC成功的ROI数据，将工作台扩展至全渠道并嵌入营销决策流程，同步配套轻量组织培训与变更管理</a:t>
            </a:r>
          </a:p>
          <a:p>
            <a:r>
              <a:rPr lang="zh-CN" dirty="0"/>
              <a:t>• 收束判断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5964d0aa44935984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4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rcRect l="20312" t="0" r="20312" b="0"/>
            <a:stretch>
              <a:fillRect/>
            </a:stretch>
          </p:blipFill>
          <p:spPr>
            <a:xfrm>
              <a:off x="4953000" y="0"/>
              <a:ext cx="7239000" cy="6858000"/>
            </a:xfrm>
            <a:prstGeom prst="rect">
              <a:avLst/>
            </a:prstGeom>
          </p:spPr>
        </p:pic>
        <p:sp>
          <p:nvSpPr>
            <p:cNvPr id="5" name="Rectangle 5"/>
            <p:cNvSpPr/>
            <p:nvPr/>
          </p:nvSpPr>
          <p:spPr>
            <a:xfrm>
              <a:off x="0" y="0"/>
              <a:ext cx="7810500" cy="68580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55000">
                  <a:schemeClr val="lt1">
                    <a:alpha val="96000"/>
                  </a:schemeClr>
                </a:gs>
                <a:gs pos="100000">
                  <a:schemeClr val="lt1">
                    <a:alpha val="6800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>
                <a:alpha val="2000"/>
              </a:schemeClr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571500" y="11049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71500" y="6191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858250" y="723900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9525">
              <a:solidFill>
                <a:schemeClr val="accent1">
                  <a:alpha val="14000"/>
                </a:scheme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858250" y="914400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858250" y="1104900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9525">
              <a:solidFill>
                <a:schemeClr val="accent1">
                  <a:alpha val="6000"/>
                </a:schemeClr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65404" y="708660"/>
            <a:ext cx="11923572" cy="5841206"/>
            <a:chOff x="565404" y="708660"/>
            <a:chExt cx="11923572" cy="5841206"/>
          </a:xfrm>
        </p:grpSpPr>
        <p:sp>
          <p:nvSpPr>
            <p:cNvPr id="13" name="TextBox 13"/>
            <p:cNvSpPr txBox="1"/>
            <p:nvPr/>
          </p:nvSpPr>
          <p:spPr>
            <a:xfrm>
              <a:off x="565404" y="708660"/>
              <a:ext cx="942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1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GRIDBRIEF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6738" y="63879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67988" y="6387941"/>
              <a:ext cx="19209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Enterprise AI Marketing Workspace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52450" y="1367790"/>
            <a:ext cx="10668000" cy="4366260"/>
            <a:chOff x="552450" y="1367790"/>
            <a:chExt cx="10668000" cy="4366260"/>
          </a:xfrm>
        </p:grpSpPr>
        <p:sp>
          <p:nvSpPr>
            <p:cNvPr id="17" name="TextBox 17"/>
            <p:cNvSpPr txBox="1"/>
            <p:nvPr/>
          </p:nvSpPr>
          <p:spPr>
            <a:xfrm>
              <a:off x="552450" y="1367790"/>
              <a:ext cx="692341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spc="38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企业AI营销工作台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1406" y="2282190"/>
              <a:ext cx="33671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面向管理层的 SaaS 增长中枢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3880" y="2924175"/>
              <a:ext cx="46771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通过数据整合、AI分析、自动化执行与效果度量，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3880" y="3228975"/>
              <a:ext cx="62453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将分散营销动作沉淀为可追踪、可优化、可复制的 ROI 增长机制。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571500" y="4095750"/>
              <a:ext cx="4762500" cy="819150"/>
            </a:xfrm>
            <a:custGeom>
              <a:avLst/>
              <a:gdLst/>
              <a:ahLst/>
              <a:cxnLst/>
              <a:rect l="l" t="t" r="r" b="b"/>
              <a:pathLst>
                <a:path w="4762500" h="819150">
                  <a:moveTo>
                    <a:pt x="114300" y="0"/>
                  </a:moveTo>
                  <a:lnTo>
                    <a:pt x="4648200" y="0"/>
                  </a:lnTo>
                  <a:cubicBezTo>
                    <a:pt x="4711326" y="0"/>
                    <a:pt x="4762500" y="51174"/>
                    <a:pt x="4762500" y="114300"/>
                  </a:cubicBezTo>
                  <a:lnTo>
                    <a:pt x="4762500" y="704850"/>
                  </a:lnTo>
                  <a:cubicBezTo>
                    <a:pt x="4762500" y="767976"/>
                    <a:pt x="4711326" y="819150"/>
                    <a:pt x="4648200" y="819150"/>
                  </a:cubicBezTo>
                  <a:lnTo>
                    <a:pt x="114300" y="819150"/>
                  </a:lnTo>
                  <a:cubicBezTo>
                    <a:pt x="51174" y="819150"/>
                    <a:pt x="0" y="767976"/>
                    <a:pt x="0" y="7048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828675" y="430530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40892" y="42643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2066925" y="430530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279142" y="4264342"/>
              <a:ext cx="588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AI分析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3152775" y="430530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364992" y="4264342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4619625" y="430530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831842" y="42643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0585" y="4583906"/>
              <a:ext cx="33432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统一客户、渠道与投放数据，形成闭环运营工作台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571500" y="5219700"/>
              <a:ext cx="2476500" cy="514350"/>
            </a:xfrm>
            <a:custGeom>
              <a:avLst/>
              <a:gdLst/>
              <a:ahLst/>
              <a:cxnLst/>
              <a:rect l="l" t="t" r="r" b="b"/>
              <a:pathLst>
                <a:path w="2476500" h="514350">
                  <a:moveTo>
                    <a:pt x="257175" y="0"/>
                  </a:moveTo>
                  <a:lnTo>
                    <a:pt x="2219325" y="0"/>
                  </a:lnTo>
                  <a:cubicBezTo>
                    <a:pt x="2361359" y="0"/>
                    <a:pt x="2476500" y="115141"/>
                    <a:pt x="2476500" y="257175"/>
                  </a:cubicBezTo>
                  <a:lnTo>
                    <a:pt x="2476500" y="257175"/>
                  </a:lnTo>
                  <a:cubicBezTo>
                    <a:pt x="2476500" y="399209"/>
                    <a:pt x="2361359" y="514350"/>
                    <a:pt x="2219325" y="514350"/>
                  </a:cubicBezTo>
                  <a:lnTo>
                    <a:pt x="257175" y="514350"/>
                  </a:lnTo>
                  <a:cubicBezTo>
                    <a:pt x="115141" y="514350"/>
                    <a:pt x="0" y="399209"/>
                    <a:pt x="0" y="257175"/>
                  </a:cubicBezTo>
                  <a:lnTo>
                    <a:pt x="0" y="257175"/>
                  </a:lnTo>
                  <a:cubicBezTo>
                    <a:pt x="0" y="115141"/>
                    <a:pt x="115141" y="0"/>
                    <a:pt x="257175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4185" y="539781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产品发布场景演示稿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8248650" y="1466850"/>
              <a:ext cx="2971800" cy="3714750"/>
            </a:xfrm>
            <a:custGeom>
              <a:avLst/>
              <a:gdLst/>
              <a:ahLst/>
              <a:cxnLst/>
              <a:rect l="l" t="t" r="r" b="b"/>
              <a:pathLst>
                <a:path w="2971800" h="3714750">
                  <a:moveTo>
                    <a:pt x="133350" y="0"/>
                  </a:moveTo>
                  <a:lnTo>
                    <a:pt x="2838450" y="0"/>
                  </a:lnTo>
                  <a:cubicBezTo>
                    <a:pt x="2912097" y="0"/>
                    <a:pt x="2971800" y="59703"/>
                    <a:pt x="2971800" y="133350"/>
                  </a:cubicBezTo>
                  <a:lnTo>
                    <a:pt x="2971800" y="3581400"/>
                  </a:lnTo>
                  <a:cubicBezTo>
                    <a:pt x="2971800" y="3655047"/>
                    <a:pt x="2912097" y="3714750"/>
                    <a:pt x="2838450" y="3714750"/>
                  </a:cubicBezTo>
                  <a:lnTo>
                    <a:pt x="133350" y="3714750"/>
                  </a:lnTo>
                  <a:cubicBezTo>
                    <a:pt x="59703" y="3714750"/>
                    <a:pt x="0" y="3655047"/>
                    <a:pt x="0" y="3581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>
                <a:alpha val="86000"/>
              </a:schemeClr>
            </a:solidFill>
            <a:ln w="9525">
              <a:solidFill>
                <a:schemeClr val="accent4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526018" y="1688782"/>
              <a:ext cx="1002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视觉主轴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534400" y="2019300"/>
              <a:ext cx="2400300" cy="9525"/>
            </a:xfrm>
            <a:custGeom>
              <a:avLst/>
              <a:gdLst/>
              <a:ahLst/>
              <a:cxnLst/>
              <a:rect l="l" t="t" r="r" b="b"/>
              <a:pathLst>
                <a:path w="2400300" h="9525">
                  <a:moveTo>
                    <a:pt x="0" y="0"/>
                  </a:moveTo>
                  <a:lnTo>
                    <a:pt x="24003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8715375" y="23907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003030" y="2362200"/>
              <a:ext cx="1773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企业AI营销工作台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8782050" y="253365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439150" y="3067050"/>
              <a:ext cx="2590800" cy="571500"/>
            </a:xfrm>
            <a:custGeom>
              <a:avLst/>
              <a:gdLst/>
              <a:ahLst/>
              <a:cxnLst/>
              <a:rect l="l" t="t" r="r" b="b"/>
              <a:pathLst>
                <a:path w="2590800" h="571500">
                  <a:moveTo>
                    <a:pt x="95250" y="0"/>
                  </a:moveTo>
                  <a:lnTo>
                    <a:pt x="2495550" y="0"/>
                  </a:lnTo>
                  <a:cubicBezTo>
                    <a:pt x="2548155" y="0"/>
                    <a:pt x="2590800" y="42645"/>
                    <a:pt x="2590800" y="95250"/>
                  </a:cubicBezTo>
                  <a:lnTo>
                    <a:pt x="2590800" y="476250"/>
                  </a:lnTo>
                  <a:cubicBezTo>
                    <a:pt x="2590800" y="528855"/>
                    <a:pt x="2548155" y="571500"/>
                    <a:pt x="2495550" y="571500"/>
                  </a:cubicBezTo>
                  <a:lnTo>
                    <a:pt x="95250" y="571500"/>
                  </a:lnTo>
                  <a:cubicBezTo>
                    <a:pt x="42645" y="571500"/>
                    <a:pt x="0" y="528855"/>
                    <a:pt x="0" y="476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324461" y="3265646"/>
              <a:ext cx="8201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现状概览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9734550" y="363855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439150" y="4095750"/>
              <a:ext cx="2590800" cy="704850"/>
            </a:xfrm>
            <a:custGeom>
              <a:avLst/>
              <a:gdLst/>
              <a:ahLst/>
              <a:cxnLst/>
              <a:rect l="l" t="t" r="r" b="b"/>
              <a:pathLst>
                <a:path w="2590800" h="704850">
                  <a:moveTo>
                    <a:pt x="95250" y="0"/>
                  </a:moveTo>
                  <a:lnTo>
                    <a:pt x="2495550" y="0"/>
                  </a:lnTo>
                  <a:cubicBezTo>
                    <a:pt x="2548155" y="0"/>
                    <a:pt x="2590800" y="42645"/>
                    <a:pt x="2590800" y="95250"/>
                  </a:cubicBezTo>
                  <a:lnTo>
                    <a:pt x="2590800" y="609600"/>
                  </a:lnTo>
                  <a:cubicBezTo>
                    <a:pt x="2590800" y="662205"/>
                    <a:pt x="2548155" y="704850"/>
                    <a:pt x="2495550" y="704850"/>
                  </a:cubicBezTo>
                  <a:lnTo>
                    <a:pt x="95250" y="704850"/>
                  </a:lnTo>
                  <a:cubicBezTo>
                    <a:pt x="42645" y="704850"/>
                    <a:pt x="0" y="662205"/>
                    <a:pt x="0" y="6096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324461" y="4237196"/>
              <a:ext cx="8201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核心风险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669084" y="4525328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数据割裂、决策滞后、执行不可控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753350" y="5619750"/>
            <a:ext cx="3681413" cy="244316"/>
            <a:chOff x="7753350" y="5619750"/>
            <a:chExt cx="3681413" cy="244316"/>
          </a:xfrm>
        </p:grpSpPr>
        <p:sp>
          <p:nvSpPr>
            <p:cNvPr id="46" name="Line 46"/>
            <p:cNvSpPr/>
            <p:nvPr/>
          </p:nvSpPr>
          <p:spPr>
            <a:xfrm>
              <a:off x="7753350" y="5619750"/>
              <a:ext cx="3676650" cy="9525"/>
            </a:xfrm>
            <a:custGeom>
              <a:avLst/>
              <a:gdLst/>
              <a:ahLst/>
              <a:cxnLst/>
              <a:rect l="l" t="t" r="r" b="b"/>
              <a:pathLst>
                <a:path w="3676650" h="9525">
                  <a:moveTo>
                    <a:pt x="0" y="0"/>
                  </a:moveTo>
                  <a:lnTo>
                    <a:pt x="3676650" y="0"/>
                  </a:lnTo>
                </a:path>
              </a:pathLst>
            </a:custGeom>
            <a:noFill/>
            <a:ln w="9525">
              <a:solidFill>
                <a:schemeClr val="accent1">
                  <a:alpha val="16000"/>
                </a:schemeClr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741294" y="5702141"/>
              <a:ext cx="169346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BLUEPRINT × COOL-CORPORATE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1620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4762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63817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57784" y="686752"/>
            <a:ext cx="11067479" cy="5958364"/>
            <a:chOff x="557784" y="686752"/>
            <a:chExt cx="11067479" cy="5958364"/>
          </a:xfrm>
        </p:grpSpPr>
        <p:sp>
          <p:nvSpPr>
            <p:cNvPr id="9" name="TextBox 9"/>
            <p:cNvSpPr txBox="1"/>
            <p:nvPr/>
          </p:nvSpPr>
          <p:spPr>
            <a:xfrm>
              <a:off x="566166" y="686752"/>
              <a:ext cx="6063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模块目录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7784" y="965835"/>
              <a:ext cx="24469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决策简报纲要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71500" y="1466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63880" y="1704975"/>
              <a:ext cx="72374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本次简报聚焦五大决策域：数据基础、AI分析能力、执行自动化、效果闭环，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3880" y="19716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以及风险与落地路径。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6738" y="64831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493570" y="64831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71500" y="2266950"/>
            <a:ext cx="11049000" cy="3905250"/>
            <a:chOff x="571500" y="2266950"/>
            <a:chExt cx="11049000" cy="3905250"/>
          </a:xfrm>
        </p:grpSpPr>
        <p:sp>
          <p:nvSpPr>
            <p:cNvPr id="17" name="Freeform 17"/>
            <p:cNvSpPr/>
            <p:nvPr/>
          </p:nvSpPr>
          <p:spPr>
            <a:xfrm>
              <a:off x="571500" y="2266950"/>
              <a:ext cx="11049000" cy="3905250"/>
            </a:xfrm>
            <a:custGeom>
              <a:avLst/>
              <a:gdLst/>
              <a:ahLst/>
              <a:cxnLst/>
              <a:rect l="l" t="t" r="r" b="b"/>
              <a:pathLst>
                <a:path w="11049000" h="3905250">
                  <a:moveTo>
                    <a:pt x="133350" y="0"/>
                  </a:moveTo>
                  <a:lnTo>
                    <a:pt x="10915650" y="0"/>
                  </a:lnTo>
                  <a:cubicBezTo>
                    <a:pt x="10989297" y="0"/>
                    <a:pt x="11049000" y="59703"/>
                    <a:pt x="11049000" y="133350"/>
                  </a:cubicBezTo>
                  <a:lnTo>
                    <a:pt x="11049000" y="3771900"/>
                  </a:lnTo>
                  <a:cubicBezTo>
                    <a:pt x="11049000" y="3845547"/>
                    <a:pt x="10989297" y="3905250"/>
                    <a:pt x="10915650" y="3905250"/>
                  </a:cubicBezTo>
                  <a:lnTo>
                    <a:pt x="133350" y="3905250"/>
                  </a:lnTo>
                  <a:cubicBezTo>
                    <a:pt x="59703" y="3905250"/>
                    <a:pt x="0" y="3845547"/>
                    <a:pt x="0" y="37719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571625" y="2781300"/>
              <a:ext cx="9525" cy="2876550"/>
            </a:xfrm>
            <a:custGeom>
              <a:avLst/>
              <a:gdLst/>
              <a:ahLst/>
              <a:cxnLst/>
              <a:rect l="l" t="t" r="r" b="b"/>
              <a:pathLst>
                <a:path w="9525" h="2876550">
                  <a:moveTo>
                    <a:pt x="0" y="0"/>
                  </a:moveTo>
                  <a:lnTo>
                    <a:pt x="0" y="28765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514475" y="272415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514475" y="34480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514475" y="41719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514475" y="48958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514475" y="560070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1628775" y="2781300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cubicBezTo>
                    <a:pt x="371475" y="0"/>
                    <a:pt x="371475" y="0"/>
                    <a:pt x="714375" y="0"/>
                  </a:cubicBez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628775" y="3505200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cubicBezTo>
                    <a:pt x="371475" y="0"/>
                    <a:pt x="371475" y="0"/>
                    <a:pt x="714375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628775" y="4229100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cubicBezTo>
                    <a:pt x="371475" y="0"/>
                    <a:pt x="371475" y="0"/>
                    <a:pt x="714375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628775" y="4953000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cubicBezTo>
                    <a:pt x="371475" y="0"/>
                    <a:pt x="371475" y="0"/>
                    <a:pt x="714375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628775" y="5657850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cubicBezTo>
                    <a:pt x="371475" y="0"/>
                    <a:pt x="371475" y="0"/>
                    <a:pt x="714375" y="0"/>
                  </a:cubicBez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2343150" y="2457450"/>
              <a:ext cx="8610600" cy="647700"/>
            </a:xfrm>
            <a:custGeom>
              <a:avLst/>
              <a:gdLst/>
              <a:ahLst/>
              <a:cxnLst/>
              <a:rect l="l" t="t" r="r" b="b"/>
              <a:pathLst>
                <a:path w="8610600" h="647700">
                  <a:moveTo>
                    <a:pt x="114300" y="0"/>
                  </a:moveTo>
                  <a:lnTo>
                    <a:pt x="8496300" y="0"/>
                  </a:lnTo>
                  <a:cubicBezTo>
                    <a:pt x="8559426" y="0"/>
                    <a:pt x="8610600" y="51174"/>
                    <a:pt x="8610600" y="114300"/>
                  </a:cubicBezTo>
                  <a:lnTo>
                    <a:pt x="8610600" y="533400"/>
                  </a:lnTo>
                  <a:cubicBezTo>
                    <a:pt x="8610600" y="596526"/>
                    <a:pt x="8559426" y="647700"/>
                    <a:pt x="8496300" y="647700"/>
                  </a:cubicBezTo>
                  <a:lnTo>
                    <a:pt x="114300" y="647700"/>
                  </a:lnTo>
                  <a:cubicBezTo>
                    <a:pt x="51174" y="647700"/>
                    <a:pt x="0" y="596526"/>
                    <a:pt x="0" y="5334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2343150" y="3181350"/>
              <a:ext cx="8610600" cy="647700"/>
            </a:xfrm>
            <a:custGeom>
              <a:avLst/>
              <a:gdLst/>
              <a:ahLst/>
              <a:cxnLst/>
              <a:rect l="l" t="t" r="r" b="b"/>
              <a:pathLst>
                <a:path w="8610600" h="647700">
                  <a:moveTo>
                    <a:pt x="114300" y="0"/>
                  </a:moveTo>
                  <a:lnTo>
                    <a:pt x="8496300" y="0"/>
                  </a:lnTo>
                  <a:cubicBezTo>
                    <a:pt x="8559426" y="0"/>
                    <a:pt x="8610600" y="51174"/>
                    <a:pt x="8610600" y="114300"/>
                  </a:cubicBezTo>
                  <a:lnTo>
                    <a:pt x="8610600" y="533400"/>
                  </a:lnTo>
                  <a:cubicBezTo>
                    <a:pt x="8610600" y="596526"/>
                    <a:pt x="8559426" y="647700"/>
                    <a:pt x="8496300" y="647700"/>
                  </a:cubicBezTo>
                  <a:lnTo>
                    <a:pt x="114300" y="647700"/>
                  </a:lnTo>
                  <a:cubicBezTo>
                    <a:pt x="51174" y="647700"/>
                    <a:pt x="0" y="596526"/>
                    <a:pt x="0" y="5334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2343150" y="3905250"/>
              <a:ext cx="8610600" cy="647700"/>
            </a:xfrm>
            <a:custGeom>
              <a:avLst/>
              <a:gdLst/>
              <a:ahLst/>
              <a:cxnLst/>
              <a:rect l="l" t="t" r="r" b="b"/>
              <a:pathLst>
                <a:path w="8610600" h="647700">
                  <a:moveTo>
                    <a:pt x="114300" y="0"/>
                  </a:moveTo>
                  <a:lnTo>
                    <a:pt x="8496300" y="0"/>
                  </a:lnTo>
                  <a:cubicBezTo>
                    <a:pt x="8559426" y="0"/>
                    <a:pt x="8610600" y="51174"/>
                    <a:pt x="8610600" y="114300"/>
                  </a:cubicBezTo>
                  <a:lnTo>
                    <a:pt x="8610600" y="533400"/>
                  </a:lnTo>
                  <a:cubicBezTo>
                    <a:pt x="8610600" y="596526"/>
                    <a:pt x="8559426" y="647700"/>
                    <a:pt x="8496300" y="647700"/>
                  </a:cubicBezTo>
                  <a:lnTo>
                    <a:pt x="114300" y="647700"/>
                  </a:lnTo>
                  <a:cubicBezTo>
                    <a:pt x="51174" y="647700"/>
                    <a:pt x="0" y="596526"/>
                    <a:pt x="0" y="5334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2343150" y="4629150"/>
              <a:ext cx="8610600" cy="647700"/>
            </a:xfrm>
            <a:custGeom>
              <a:avLst/>
              <a:gdLst/>
              <a:ahLst/>
              <a:cxnLst/>
              <a:rect l="l" t="t" r="r" b="b"/>
              <a:pathLst>
                <a:path w="8610600" h="647700">
                  <a:moveTo>
                    <a:pt x="114300" y="0"/>
                  </a:moveTo>
                  <a:lnTo>
                    <a:pt x="8496300" y="0"/>
                  </a:lnTo>
                  <a:cubicBezTo>
                    <a:pt x="8559426" y="0"/>
                    <a:pt x="8610600" y="51174"/>
                    <a:pt x="8610600" y="114300"/>
                  </a:cubicBezTo>
                  <a:lnTo>
                    <a:pt x="8610600" y="533400"/>
                  </a:lnTo>
                  <a:cubicBezTo>
                    <a:pt x="8610600" y="596526"/>
                    <a:pt x="8559426" y="647700"/>
                    <a:pt x="8496300" y="647700"/>
                  </a:cubicBezTo>
                  <a:lnTo>
                    <a:pt x="114300" y="647700"/>
                  </a:lnTo>
                  <a:cubicBezTo>
                    <a:pt x="51174" y="647700"/>
                    <a:pt x="0" y="596526"/>
                    <a:pt x="0" y="5334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2343150" y="5334000"/>
              <a:ext cx="8610600" cy="647700"/>
            </a:xfrm>
            <a:custGeom>
              <a:avLst/>
              <a:gdLst/>
              <a:ahLst/>
              <a:cxnLst/>
              <a:rect l="l" t="t" r="r" b="b"/>
              <a:pathLst>
                <a:path w="8610600" h="647700">
                  <a:moveTo>
                    <a:pt x="114300" y="0"/>
                  </a:moveTo>
                  <a:lnTo>
                    <a:pt x="8496300" y="0"/>
                  </a:lnTo>
                  <a:cubicBezTo>
                    <a:pt x="8559426" y="0"/>
                    <a:pt x="8610600" y="51174"/>
                    <a:pt x="8610600" y="114300"/>
                  </a:cubicBezTo>
                  <a:lnTo>
                    <a:pt x="8610600" y="533400"/>
                  </a:lnTo>
                  <a:cubicBezTo>
                    <a:pt x="8610600" y="596526"/>
                    <a:pt x="8559426" y="647700"/>
                    <a:pt x="8496300" y="647700"/>
                  </a:cubicBezTo>
                  <a:lnTo>
                    <a:pt x="114300" y="647700"/>
                  </a:lnTo>
                  <a:cubicBezTo>
                    <a:pt x="51174" y="647700"/>
                    <a:pt x="0" y="596526"/>
                    <a:pt x="0" y="5334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2552700" y="2619375"/>
              <a:ext cx="666750" cy="323850"/>
            </a:xfrm>
            <a:custGeom>
              <a:avLst/>
              <a:gdLst/>
              <a:ahLst/>
              <a:cxnLst/>
              <a:rect l="l" t="t" r="r" b="b"/>
              <a:pathLst>
                <a:path w="666750" h="323850">
                  <a:moveTo>
                    <a:pt x="161925" y="0"/>
                  </a:moveTo>
                  <a:lnTo>
                    <a:pt x="504825" y="0"/>
                  </a:lnTo>
                  <a:cubicBezTo>
                    <a:pt x="594254" y="0"/>
                    <a:pt x="666750" y="72496"/>
                    <a:pt x="666750" y="161925"/>
                  </a:cubicBezTo>
                  <a:lnTo>
                    <a:pt x="666750" y="161925"/>
                  </a:lnTo>
                  <a:cubicBezTo>
                    <a:pt x="666750" y="251354"/>
                    <a:pt x="594254" y="323850"/>
                    <a:pt x="50482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2552700" y="3343275"/>
              <a:ext cx="666750" cy="323850"/>
            </a:xfrm>
            <a:custGeom>
              <a:avLst/>
              <a:gdLst/>
              <a:ahLst/>
              <a:cxnLst/>
              <a:rect l="l" t="t" r="r" b="b"/>
              <a:pathLst>
                <a:path w="666750" h="323850">
                  <a:moveTo>
                    <a:pt x="161925" y="0"/>
                  </a:moveTo>
                  <a:lnTo>
                    <a:pt x="504825" y="0"/>
                  </a:lnTo>
                  <a:cubicBezTo>
                    <a:pt x="594254" y="0"/>
                    <a:pt x="666750" y="72496"/>
                    <a:pt x="666750" y="161925"/>
                  </a:cubicBezTo>
                  <a:lnTo>
                    <a:pt x="666750" y="161925"/>
                  </a:lnTo>
                  <a:cubicBezTo>
                    <a:pt x="666750" y="251354"/>
                    <a:pt x="594254" y="323850"/>
                    <a:pt x="50482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2552700" y="4067175"/>
              <a:ext cx="666750" cy="323850"/>
            </a:xfrm>
            <a:custGeom>
              <a:avLst/>
              <a:gdLst/>
              <a:ahLst/>
              <a:cxnLst/>
              <a:rect l="l" t="t" r="r" b="b"/>
              <a:pathLst>
                <a:path w="666750" h="323850">
                  <a:moveTo>
                    <a:pt x="161925" y="0"/>
                  </a:moveTo>
                  <a:lnTo>
                    <a:pt x="504825" y="0"/>
                  </a:lnTo>
                  <a:cubicBezTo>
                    <a:pt x="594254" y="0"/>
                    <a:pt x="666750" y="72496"/>
                    <a:pt x="666750" y="161925"/>
                  </a:cubicBezTo>
                  <a:lnTo>
                    <a:pt x="666750" y="161925"/>
                  </a:lnTo>
                  <a:cubicBezTo>
                    <a:pt x="666750" y="251354"/>
                    <a:pt x="594254" y="323850"/>
                    <a:pt x="50482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2552700" y="4791075"/>
              <a:ext cx="666750" cy="323850"/>
            </a:xfrm>
            <a:custGeom>
              <a:avLst/>
              <a:gdLst/>
              <a:ahLst/>
              <a:cxnLst/>
              <a:rect l="l" t="t" r="r" b="b"/>
              <a:pathLst>
                <a:path w="666750" h="323850">
                  <a:moveTo>
                    <a:pt x="161925" y="0"/>
                  </a:moveTo>
                  <a:lnTo>
                    <a:pt x="504825" y="0"/>
                  </a:lnTo>
                  <a:cubicBezTo>
                    <a:pt x="594254" y="0"/>
                    <a:pt x="666750" y="72496"/>
                    <a:pt x="666750" y="161925"/>
                  </a:cubicBezTo>
                  <a:lnTo>
                    <a:pt x="666750" y="161925"/>
                  </a:lnTo>
                  <a:cubicBezTo>
                    <a:pt x="666750" y="251354"/>
                    <a:pt x="594254" y="323850"/>
                    <a:pt x="50482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2552700" y="5495925"/>
              <a:ext cx="666750" cy="323850"/>
            </a:xfrm>
            <a:custGeom>
              <a:avLst/>
              <a:gdLst/>
              <a:ahLst/>
              <a:cxnLst/>
              <a:rect l="l" t="t" r="r" b="b"/>
              <a:pathLst>
                <a:path w="666750" h="323850">
                  <a:moveTo>
                    <a:pt x="161925" y="0"/>
                  </a:moveTo>
                  <a:lnTo>
                    <a:pt x="504825" y="0"/>
                  </a:lnTo>
                  <a:cubicBezTo>
                    <a:pt x="594254" y="0"/>
                    <a:pt x="666750" y="72496"/>
                    <a:pt x="666750" y="161925"/>
                  </a:cubicBezTo>
                  <a:lnTo>
                    <a:pt x="666750" y="161925"/>
                  </a:lnTo>
                  <a:cubicBezTo>
                    <a:pt x="666750" y="251354"/>
                    <a:pt x="594254" y="323850"/>
                    <a:pt x="50482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774264" y="26927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774264" y="34166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774264" y="41405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774264" y="48644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774264" y="55692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438906" y="2577465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数据基础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441954" y="2851785"/>
              <a:ext cx="5181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将多渠道、多平台数据统一为实时可用的营销视图，消除人工拼表与延迟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438906" y="3301365"/>
              <a:ext cx="16015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AI分析能力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441954" y="3575685"/>
              <a:ext cx="47658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用自研模型替代BI看板，直接输出可执行的投放策略与受众分群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438906" y="4025265"/>
              <a:ext cx="13624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执行自动化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441954" y="4299585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策略一键下发，跨渠道自动编排，将小时级响应压缩到分钟级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438906" y="4749165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效果闭环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441954" y="5023485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实时归因与预算再分配，将营销投入转变为可度量的投资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438906" y="5454015"/>
              <a:ext cx="19001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风险与落地路径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441954" y="5728335"/>
              <a:ext cx="47658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试点规模、IT架构适配、组织变革风险及推荐的两阶段推进节奏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10287000" y="27813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10287000" y="35052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10287000" y="42291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10287000" y="49530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10287000" y="56578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10668000" y="2705100"/>
              <a:ext cx="152400" cy="1524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10668000" y="3429000"/>
              <a:ext cx="152400" cy="1524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10668000" y="4152900"/>
              <a:ext cx="152400" cy="1524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10668000" y="4876800"/>
              <a:ext cx="152400" cy="1524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10668000" y="5581650"/>
              <a:ext cx="152400" cy="1524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8858250" y="2400300"/>
              <a:ext cx="2095500" cy="419100"/>
            </a:xfrm>
            <a:custGeom>
              <a:avLst/>
              <a:gdLst/>
              <a:ahLst/>
              <a:cxnLst/>
              <a:rect l="l" t="t" r="r" b="b"/>
              <a:pathLst>
                <a:path w="2095500" h="4191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323850"/>
                  </a:lnTo>
                  <a:cubicBezTo>
                    <a:pt x="2095500" y="376455"/>
                    <a:pt x="2052855" y="419100"/>
                    <a:pt x="2000250" y="419100"/>
                  </a:cubicBezTo>
                  <a:lnTo>
                    <a:pt x="95250" y="419100"/>
                  </a:lnTo>
                  <a:cubicBezTo>
                    <a:pt x="42645" y="419100"/>
                    <a:pt x="0" y="376455"/>
                    <a:pt x="0" y="3238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051798" y="2537460"/>
              <a:ext cx="17084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从基础能力到落地治理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71500" y="5886450"/>
            <a:ext cx="11049000" cy="285750"/>
            <a:chOff x="571500" y="5886450"/>
            <a:chExt cx="11049000" cy="285750"/>
          </a:xfrm>
        </p:grpSpPr>
        <p:sp>
          <p:nvSpPr>
            <p:cNvPr id="67" name="Freeform 67"/>
            <p:cNvSpPr/>
            <p:nvPr/>
          </p:nvSpPr>
          <p:spPr>
            <a:xfrm>
              <a:off x="571500" y="5886450"/>
              <a:ext cx="11049000" cy="285750"/>
            </a:xfrm>
            <a:custGeom>
              <a:avLst/>
              <a:gdLst/>
              <a:ahLst/>
              <a:cxnLst/>
              <a:rect l="l" t="t" r="r" b="b"/>
              <a:pathLst>
                <a:path w="11049000" h="285750">
                  <a:moveTo>
                    <a:pt x="76200" y="0"/>
                  </a:moveTo>
                  <a:lnTo>
                    <a:pt x="10972800" y="0"/>
                  </a:lnTo>
                  <a:cubicBezTo>
                    <a:pt x="11014884" y="0"/>
                    <a:pt x="11049000" y="34116"/>
                    <a:pt x="11049000" y="76200"/>
                  </a:cubicBezTo>
                  <a:lnTo>
                    <a:pt x="11049000" y="209550"/>
                  </a:lnTo>
                  <a:cubicBezTo>
                    <a:pt x="11049000" y="251634"/>
                    <a:pt x="11014884" y="285750"/>
                    <a:pt x="10972800" y="285750"/>
                  </a:cubicBezTo>
                  <a:lnTo>
                    <a:pt x="76200" y="285750"/>
                  </a:lnTo>
                  <a:cubicBezTo>
                    <a:pt x="34116" y="285750"/>
                    <a:pt x="0" y="251634"/>
                    <a:pt x="0" y="20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75716" y="5963602"/>
              <a:ext cx="63714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简报推进逻辑：先搭数据底座，再形成智能决策，随后实现自动执行与效果回传，最后评估落地风险。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4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106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571500" y="914400"/>
              <a:ext cx="1638300" cy="9525"/>
            </a:xfrm>
            <a:custGeom>
              <a:avLst/>
              <a:gdLst/>
              <a:ahLst/>
              <a:cxnLst/>
              <a:rect l="l" t="t" r="r" b="b"/>
              <a:pathLst>
                <a:path w="1638300" h="9525">
                  <a:moveTo>
                    <a:pt x="0" y="0"/>
                  </a:moveTo>
                  <a:lnTo>
                    <a:pt x="16383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571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F5F7FA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11620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F5F7F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0" y="6286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F5F7FA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0039350" y="1123950"/>
              <a:ext cx="76200" cy="76200"/>
            </a:xfrm>
            <a:prstGeom prst="ellipse">
              <a:avLst/>
            </a:prstGeom>
            <a:solidFill>
              <a:schemeClr val="accent3">
                <a:alpha val="90000"/>
              </a:scheme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0248900" y="1123950"/>
              <a:ext cx="76200" cy="76200"/>
            </a:xfrm>
            <a:prstGeom prst="ellipse">
              <a:avLst/>
            </a:prstGeom>
            <a:solidFill>
              <a:schemeClr val="accent2">
                <a:alpha val="55000"/>
              </a:scheme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0458450" y="1123950"/>
              <a:ext cx="76200" cy="76200"/>
            </a:xfrm>
            <a:prstGeom prst="ellipse">
              <a:avLst/>
            </a:prstGeom>
            <a:solidFill>
              <a:schemeClr val="accent1">
                <a:alpha val="18000"/>
              </a:schemeClr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66166" y="401002"/>
            <a:ext cx="11059096" cy="6244114"/>
            <a:chOff x="566166" y="401002"/>
            <a:chExt cx="11059096" cy="6244114"/>
          </a:xfrm>
        </p:grpSpPr>
        <p:sp>
          <p:nvSpPr>
            <p:cNvPr id="13" name="TextBox 13"/>
            <p:cNvSpPr txBox="1"/>
            <p:nvPr/>
          </p:nvSpPr>
          <p:spPr>
            <a:xfrm>
              <a:off x="566166" y="4010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关键判断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6738" y="6483191"/>
              <a:ext cx="1917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/ product-launch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243681" y="648319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03 / 08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57784" y="584835"/>
            <a:ext cx="11289782" cy="5673471"/>
            <a:chOff x="557784" y="584835"/>
            <a:chExt cx="11289782" cy="5673471"/>
          </a:xfrm>
        </p:grpSpPr>
        <p:sp>
          <p:nvSpPr>
            <p:cNvPr id="17" name="TextBox 17"/>
            <p:cNvSpPr txBox="1"/>
            <p:nvPr/>
          </p:nvSpPr>
          <p:spPr>
            <a:xfrm>
              <a:off x="557784" y="584835"/>
              <a:ext cx="925754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核心结论：AI营销工作台是企业增长新引擎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571500" y="1428750"/>
              <a:ext cx="7239000" cy="4267200"/>
            </a:xfrm>
            <a:custGeom>
              <a:avLst/>
              <a:gdLst/>
              <a:ahLst/>
              <a:cxnLst/>
              <a:rect l="l" t="t" r="r" b="b"/>
              <a:pathLst>
                <a:path w="7239000" h="4267200">
                  <a:moveTo>
                    <a:pt x="152400" y="0"/>
                  </a:moveTo>
                  <a:lnTo>
                    <a:pt x="7086600" y="0"/>
                  </a:lnTo>
                  <a:cubicBezTo>
                    <a:pt x="7170768" y="0"/>
                    <a:pt x="7239000" y="68232"/>
                    <a:pt x="7239000" y="152400"/>
                  </a:cubicBezTo>
                  <a:lnTo>
                    <a:pt x="7239000" y="4114800"/>
                  </a:lnTo>
                  <a:cubicBezTo>
                    <a:pt x="7239000" y="4198968"/>
                    <a:pt x="7170768" y="4267200"/>
                    <a:pt x="7086600" y="4267200"/>
                  </a:cubicBezTo>
                  <a:lnTo>
                    <a:pt x="152400" y="4267200"/>
                  </a:lnTo>
                  <a:cubicBezTo>
                    <a:pt x="68232" y="4267200"/>
                    <a:pt x="0" y="4198968"/>
                    <a:pt x="0" y="41148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71500" y="1428750"/>
              <a:ext cx="95250" cy="4267200"/>
            </a:xfrm>
            <a:custGeom>
              <a:avLst/>
              <a:gdLst/>
              <a:ahLst/>
              <a:cxnLst/>
              <a:rect l="l" t="t" r="r" b="b"/>
              <a:pathLst>
                <a:path w="95250" h="4267200">
                  <a:moveTo>
                    <a:pt x="47625" y="0"/>
                  </a:moveTo>
                  <a:lnTo>
                    <a:pt x="47625" y="0"/>
                  </a:lnTo>
                  <a:cubicBezTo>
                    <a:pt x="73928" y="0"/>
                    <a:pt x="95250" y="21322"/>
                    <a:pt x="95250" y="47625"/>
                  </a:cubicBezTo>
                  <a:lnTo>
                    <a:pt x="95250" y="4219575"/>
                  </a:lnTo>
                  <a:cubicBezTo>
                    <a:pt x="95250" y="4245878"/>
                    <a:pt x="73928" y="4267200"/>
                    <a:pt x="47625" y="4267200"/>
                  </a:cubicBezTo>
                  <a:lnTo>
                    <a:pt x="47625" y="4267200"/>
                  </a:lnTo>
                  <a:cubicBezTo>
                    <a:pt x="21322" y="4267200"/>
                    <a:pt x="0" y="4245878"/>
                    <a:pt x="0" y="421957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61644" y="1884998"/>
              <a:ext cx="351464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先发企业正在重构营销职能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60882" y="2383155"/>
              <a:ext cx="656071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最早采用AI营销工作台的企业正在将营销从成本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60882" y="2783205"/>
              <a:ext cx="68485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中心转变为增长驱动器，获取难以复制的先发优势。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971550" y="3543300"/>
              <a:ext cx="2895600" cy="1600200"/>
            </a:xfrm>
            <a:custGeom>
              <a:avLst/>
              <a:gdLst/>
              <a:ahLst/>
              <a:cxnLst/>
              <a:rect l="l" t="t" r="r" b="b"/>
              <a:pathLst>
                <a:path w="2895600" h="1600200">
                  <a:moveTo>
                    <a:pt x="133350" y="0"/>
                  </a:moveTo>
                  <a:lnTo>
                    <a:pt x="2762250" y="0"/>
                  </a:lnTo>
                  <a:cubicBezTo>
                    <a:pt x="2835897" y="0"/>
                    <a:pt x="2895600" y="59703"/>
                    <a:pt x="2895600" y="133350"/>
                  </a:cubicBezTo>
                  <a:lnTo>
                    <a:pt x="2895600" y="1466850"/>
                  </a:lnTo>
                  <a:cubicBezTo>
                    <a:pt x="2895600" y="1540497"/>
                    <a:pt x="2835897" y="1600200"/>
                    <a:pt x="2762250" y="1600200"/>
                  </a:cubicBezTo>
                  <a:lnTo>
                    <a:pt x="133350" y="1600200"/>
                  </a:lnTo>
                  <a:cubicBezTo>
                    <a:pt x="59703" y="1600200"/>
                    <a:pt x="0" y="1540497"/>
                    <a:pt x="0" y="14668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11430">
              <a:solidFill>
                <a:schemeClr val="accent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84910" y="3619500"/>
              <a:ext cx="159867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30–50%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94054" y="40995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转化率提升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92530" y="4429125"/>
              <a:ext cx="27569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将数据整合与AI分析直接嵌入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92530" y="46958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决策链，而非做个位数优化。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4114800" y="3543300"/>
              <a:ext cx="3314700" cy="1600200"/>
            </a:xfrm>
            <a:custGeom>
              <a:avLst/>
              <a:gdLst/>
              <a:ahLst/>
              <a:cxnLst/>
              <a:rect l="l" t="t" r="r" b="b"/>
              <a:pathLst>
                <a:path w="3314700" h="1600200">
                  <a:moveTo>
                    <a:pt x="133350" y="0"/>
                  </a:moveTo>
                  <a:lnTo>
                    <a:pt x="3181350" y="0"/>
                  </a:lnTo>
                  <a:cubicBezTo>
                    <a:pt x="3254997" y="0"/>
                    <a:pt x="3314700" y="59703"/>
                    <a:pt x="3314700" y="133350"/>
                  </a:cubicBezTo>
                  <a:lnTo>
                    <a:pt x="3314700" y="1466850"/>
                  </a:lnTo>
                  <a:cubicBezTo>
                    <a:pt x="3314700" y="1540497"/>
                    <a:pt x="3254997" y="1600200"/>
                    <a:pt x="3181350" y="1600200"/>
                  </a:cubicBezTo>
                  <a:lnTo>
                    <a:pt x="133350" y="1600200"/>
                  </a:lnTo>
                  <a:cubicBezTo>
                    <a:pt x="59703" y="1600200"/>
                    <a:pt x="0" y="1540497"/>
                    <a:pt x="0" y="14668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11430">
              <a:solidFill>
                <a:schemeClr val="accent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328160" y="3619500"/>
              <a:ext cx="110581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25%+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37304" y="40995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预算浪费减少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35780" y="44291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实时闭环归因让每一笔投入都能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35780" y="46958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追溯到可验证的业务产出。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8191500" y="1428750"/>
              <a:ext cx="3429000" cy="4267200"/>
            </a:xfrm>
            <a:custGeom>
              <a:avLst/>
              <a:gdLst/>
              <a:ahLst/>
              <a:cxnLst/>
              <a:rect l="l" t="t" r="r" b="b"/>
              <a:pathLst>
                <a:path w="3429000" h="4267200">
                  <a:moveTo>
                    <a:pt x="152400" y="0"/>
                  </a:moveTo>
                  <a:lnTo>
                    <a:pt x="3276600" y="0"/>
                  </a:lnTo>
                  <a:cubicBezTo>
                    <a:pt x="3360768" y="0"/>
                    <a:pt x="3429000" y="68232"/>
                    <a:pt x="3429000" y="152400"/>
                  </a:cubicBezTo>
                  <a:lnTo>
                    <a:pt x="3429000" y="4114800"/>
                  </a:lnTo>
                  <a:cubicBezTo>
                    <a:pt x="3429000" y="4198968"/>
                    <a:pt x="3360768" y="4267200"/>
                    <a:pt x="3276600" y="4267200"/>
                  </a:cubicBezTo>
                  <a:lnTo>
                    <a:pt x="152400" y="4267200"/>
                  </a:lnTo>
                  <a:cubicBezTo>
                    <a:pt x="68232" y="4267200"/>
                    <a:pt x="0" y="4198968"/>
                    <a:pt x="0" y="41148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487156" y="1691640"/>
              <a:ext cx="29754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经营层应关注的三项变化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8496300" y="2171700"/>
              <a:ext cx="2819400" cy="876300"/>
            </a:xfrm>
            <a:custGeom>
              <a:avLst/>
              <a:gdLst/>
              <a:ahLst/>
              <a:cxnLst/>
              <a:rect l="l" t="t" r="r" b="b"/>
              <a:pathLst>
                <a:path w="2819400" h="876300">
                  <a:moveTo>
                    <a:pt x="114300" y="0"/>
                  </a:moveTo>
                  <a:lnTo>
                    <a:pt x="2705100" y="0"/>
                  </a:lnTo>
                  <a:cubicBezTo>
                    <a:pt x="2768226" y="0"/>
                    <a:pt x="2819400" y="51174"/>
                    <a:pt x="2819400" y="114300"/>
                  </a:cubicBezTo>
                  <a:lnTo>
                    <a:pt x="2819400" y="762000"/>
                  </a:lnTo>
                  <a:cubicBezTo>
                    <a:pt x="2819400" y="825126"/>
                    <a:pt x="2768226" y="876300"/>
                    <a:pt x="2705100" y="876300"/>
                  </a:cubicBezTo>
                  <a:lnTo>
                    <a:pt x="114300" y="876300"/>
                  </a:lnTo>
                  <a:cubicBezTo>
                    <a:pt x="51174" y="876300"/>
                    <a:pt x="0" y="825126"/>
                    <a:pt x="0" y="762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8667750" y="236220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23253" y="240792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84361" y="2303621"/>
              <a:ext cx="28217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数据整合与AI分析嵌入决策链，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84361" y="2551271"/>
              <a:ext cx="2220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转化率平均提升30-50%。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8496300" y="3219450"/>
              <a:ext cx="2819400" cy="876300"/>
            </a:xfrm>
            <a:custGeom>
              <a:avLst/>
              <a:gdLst/>
              <a:ahLst/>
              <a:cxnLst/>
              <a:rect l="l" t="t" r="r" b="b"/>
              <a:pathLst>
                <a:path w="2819400" h="876300">
                  <a:moveTo>
                    <a:pt x="114300" y="0"/>
                  </a:moveTo>
                  <a:lnTo>
                    <a:pt x="2705100" y="0"/>
                  </a:lnTo>
                  <a:cubicBezTo>
                    <a:pt x="2768226" y="0"/>
                    <a:pt x="2819400" y="51174"/>
                    <a:pt x="2819400" y="114300"/>
                  </a:cubicBezTo>
                  <a:lnTo>
                    <a:pt x="2819400" y="762000"/>
                  </a:lnTo>
                  <a:cubicBezTo>
                    <a:pt x="2819400" y="825126"/>
                    <a:pt x="2768226" y="876300"/>
                    <a:pt x="2705100" y="876300"/>
                  </a:cubicBezTo>
                  <a:lnTo>
                    <a:pt x="114300" y="876300"/>
                  </a:lnTo>
                  <a:cubicBezTo>
                    <a:pt x="51174" y="876300"/>
                    <a:pt x="0" y="825126"/>
                    <a:pt x="0" y="762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8667750" y="340995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723253" y="34556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84361" y="3351371"/>
              <a:ext cx="2863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自动化执行释放团队生产力40%，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84361" y="3599021"/>
              <a:ext cx="23164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高价值人员回到策略岗位。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8496300" y="4267200"/>
              <a:ext cx="2819400" cy="876300"/>
            </a:xfrm>
            <a:custGeom>
              <a:avLst/>
              <a:gdLst/>
              <a:ahLst/>
              <a:cxnLst/>
              <a:rect l="l" t="t" r="r" b="b"/>
              <a:pathLst>
                <a:path w="2819400" h="876300">
                  <a:moveTo>
                    <a:pt x="114300" y="0"/>
                  </a:moveTo>
                  <a:lnTo>
                    <a:pt x="2705100" y="0"/>
                  </a:lnTo>
                  <a:cubicBezTo>
                    <a:pt x="2768226" y="0"/>
                    <a:pt x="2819400" y="51174"/>
                    <a:pt x="2819400" y="114300"/>
                  </a:cubicBezTo>
                  <a:lnTo>
                    <a:pt x="2819400" y="762000"/>
                  </a:lnTo>
                  <a:cubicBezTo>
                    <a:pt x="2819400" y="825126"/>
                    <a:pt x="2768226" y="876300"/>
                    <a:pt x="2705100" y="876300"/>
                  </a:cubicBezTo>
                  <a:lnTo>
                    <a:pt x="114300" y="876300"/>
                  </a:lnTo>
                  <a:cubicBezTo>
                    <a:pt x="51174" y="876300"/>
                    <a:pt x="0" y="825126"/>
                    <a:pt x="0" y="762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8667750" y="4457700"/>
              <a:ext cx="190500" cy="190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723253" y="450342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984361" y="4399121"/>
              <a:ext cx="25083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实时闭环归因让预算浪费减少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984361" y="4646771"/>
              <a:ext cx="24795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25%以上，投入产出可追溯。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8191500" y="230505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8191500" y="539115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8877300" y="5676900"/>
              <a:ext cx="2095500" cy="152400"/>
            </a:xfrm>
            <a:custGeom>
              <a:avLst/>
              <a:gdLst/>
              <a:ahLst/>
              <a:cxnLst/>
              <a:rect l="l" t="t" r="r" b="b"/>
              <a:pathLst>
                <a:path w="2095500" h="152400">
                  <a:moveTo>
                    <a:pt x="0" y="152400"/>
                  </a:moveTo>
                  <a:cubicBezTo>
                    <a:pt x="666750" y="0"/>
                    <a:pt x="1409700" y="0"/>
                    <a:pt x="2095500" y="15240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9029700" y="5638800"/>
              <a:ext cx="304800" cy="152400"/>
            </a:xfrm>
            <a:custGeom>
              <a:avLst/>
              <a:gdLst/>
              <a:ahLst/>
              <a:cxnLst/>
              <a:rect l="l" t="t" r="r" b="b"/>
              <a:pathLst>
                <a:path w="304800" h="152400">
                  <a:moveTo>
                    <a:pt x="0" y="152400"/>
                  </a:moveTo>
                  <a:lnTo>
                    <a:pt x="152400" y="0"/>
                  </a:lnTo>
                  <a:lnTo>
                    <a:pt x="304800" y="15240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  <a:round/>
            </a:ln>
          </p:spPr>
        </p:sp>
        <p:sp>
          <p:nvSpPr>
            <p:cNvPr id="54" name="Freeform 54"/>
            <p:cNvSpPr/>
            <p:nvPr/>
          </p:nvSpPr>
          <p:spPr>
            <a:xfrm>
              <a:off x="10172700" y="5791200"/>
              <a:ext cx="304800" cy="152400"/>
            </a:xfrm>
            <a:custGeom>
              <a:avLst/>
              <a:gdLst/>
              <a:ahLst/>
              <a:cxnLst/>
              <a:rect l="l" t="t" r="r" b="b"/>
              <a:pathLst>
                <a:path w="304800" h="152400">
                  <a:moveTo>
                    <a:pt x="0" y="152400"/>
                  </a:moveTo>
                  <a:lnTo>
                    <a:pt x="152400" y="0"/>
                  </a:lnTo>
                  <a:lnTo>
                    <a:pt x="304800" y="15240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490204" y="6023610"/>
              <a:ext cx="31138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结论不是“工具升级”，而是“增长系统升级”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848850" y="685800"/>
            <a:ext cx="1771650" cy="266700"/>
            <a:chOff x="9848850" y="685800"/>
            <a:chExt cx="1771650" cy="266700"/>
          </a:xfrm>
        </p:grpSpPr>
        <p:sp>
          <p:nvSpPr>
            <p:cNvPr id="57" name="Freeform 57"/>
            <p:cNvSpPr/>
            <p:nvPr/>
          </p:nvSpPr>
          <p:spPr>
            <a:xfrm>
              <a:off x="9848850" y="685800"/>
              <a:ext cx="1771650" cy="266700"/>
            </a:xfrm>
            <a:custGeom>
              <a:avLst/>
              <a:gdLst/>
              <a:ahLst/>
              <a:cxnLst/>
              <a:rect l="l" t="t" r="r" b="b"/>
              <a:pathLst>
                <a:path w="1771650" h="266700">
                  <a:moveTo>
                    <a:pt x="133350" y="0"/>
                  </a:moveTo>
                  <a:lnTo>
                    <a:pt x="1638300" y="0"/>
                  </a:lnTo>
                  <a:cubicBezTo>
                    <a:pt x="1711947" y="0"/>
                    <a:pt x="1771650" y="59703"/>
                    <a:pt x="1771650" y="133350"/>
                  </a:cubicBezTo>
                  <a:lnTo>
                    <a:pt x="1771650" y="133350"/>
                  </a:lnTo>
                  <a:cubicBezTo>
                    <a:pt x="1771650" y="206997"/>
                    <a:pt x="1711947" y="266700"/>
                    <a:pt x="163830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095243" y="761524"/>
              <a:ext cx="12788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INSIGHT / EXEC VIEW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1620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57784" y="343852"/>
            <a:ext cx="11067479" cy="6272689"/>
            <a:chOff x="557784" y="343852"/>
            <a:chExt cx="11067479" cy="6272689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3438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系统比较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584835"/>
              <a:ext cx="560813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传统营销栈vs.AI营销工作台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10287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6738" y="6454616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493570" y="6454616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63880" y="1285875"/>
            <a:ext cx="11056620" cy="5095875"/>
            <a:chOff x="563880" y="1285875"/>
            <a:chExt cx="11056620" cy="5095875"/>
          </a:xfrm>
        </p:grpSpPr>
        <p:sp>
          <p:nvSpPr>
            <p:cNvPr id="14" name="TextBox 14"/>
            <p:cNvSpPr txBox="1"/>
            <p:nvPr/>
          </p:nvSpPr>
          <p:spPr>
            <a:xfrm>
              <a:off x="563880" y="1285875"/>
              <a:ext cx="74508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当前营销技术栈依赖人工和碎片化系统；AI工作台将四个模块整合为单一闭环，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3880" y="15525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从根本上改变速度与精度。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71500" y="1885950"/>
              <a:ext cx="5191125" cy="3695700"/>
            </a:xfrm>
            <a:custGeom>
              <a:avLst/>
              <a:gdLst/>
              <a:ahLst/>
              <a:cxnLst/>
              <a:rect l="l" t="t" r="r" b="b"/>
              <a:pathLst>
                <a:path w="5191125" h="3695700">
                  <a:moveTo>
                    <a:pt x="114300" y="0"/>
                  </a:moveTo>
                  <a:lnTo>
                    <a:pt x="5076825" y="0"/>
                  </a:lnTo>
                  <a:cubicBezTo>
                    <a:pt x="5139951" y="0"/>
                    <a:pt x="5191125" y="51174"/>
                    <a:pt x="5191125" y="114300"/>
                  </a:cubicBezTo>
                  <a:lnTo>
                    <a:pt x="5191125" y="3581400"/>
                  </a:lnTo>
                  <a:cubicBezTo>
                    <a:pt x="5191125" y="3644526"/>
                    <a:pt x="5139951" y="3695700"/>
                    <a:pt x="5076825" y="3695700"/>
                  </a:cubicBezTo>
                  <a:lnTo>
                    <a:pt x="114300" y="3695700"/>
                  </a:lnTo>
                  <a:cubicBezTo>
                    <a:pt x="51174" y="3695700"/>
                    <a:pt x="0" y="3644526"/>
                    <a:pt x="0" y="35814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6429375" y="1885950"/>
              <a:ext cx="5191125" cy="3695700"/>
            </a:xfrm>
            <a:custGeom>
              <a:avLst/>
              <a:gdLst/>
              <a:ahLst/>
              <a:cxnLst/>
              <a:rect l="l" t="t" r="r" b="b"/>
              <a:pathLst>
                <a:path w="5191125" h="3695700">
                  <a:moveTo>
                    <a:pt x="114300" y="0"/>
                  </a:moveTo>
                  <a:lnTo>
                    <a:pt x="5076825" y="0"/>
                  </a:lnTo>
                  <a:cubicBezTo>
                    <a:pt x="5139951" y="0"/>
                    <a:pt x="5191125" y="51174"/>
                    <a:pt x="5191125" y="114300"/>
                  </a:cubicBezTo>
                  <a:lnTo>
                    <a:pt x="5191125" y="3581400"/>
                  </a:lnTo>
                  <a:cubicBezTo>
                    <a:pt x="5191125" y="3644526"/>
                    <a:pt x="5139951" y="3695700"/>
                    <a:pt x="5076825" y="3695700"/>
                  </a:cubicBezTo>
                  <a:lnTo>
                    <a:pt x="114300" y="3695700"/>
                  </a:lnTo>
                  <a:cubicBezTo>
                    <a:pt x="51174" y="3695700"/>
                    <a:pt x="0" y="3644526"/>
                    <a:pt x="0" y="35814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71500" y="1885950"/>
              <a:ext cx="5191125" cy="514350"/>
            </a:xfrm>
            <a:custGeom>
              <a:avLst/>
              <a:gdLst/>
              <a:ahLst/>
              <a:cxnLst/>
              <a:rect l="l" t="t" r="r" b="b"/>
              <a:pathLst>
                <a:path w="5191125" h="514350">
                  <a:moveTo>
                    <a:pt x="114300" y="0"/>
                  </a:moveTo>
                  <a:lnTo>
                    <a:pt x="5076825" y="0"/>
                  </a:lnTo>
                  <a:cubicBezTo>
                    <a:pt x="5139951" y="0"/>
                    <a:pt x="5191125" y="51174"/>
                    <a:pt x="5191125" y="114300"/>
                  </a:cubicBezTo>
                  <a:lnTo>
                    <a:pt x="5191125" y="400050"/>
                  </a:lnTo>
                  <a:cubicBezTo>
                    <a:pt x="5191125" y="463176"/>
                    <a:pt x="5139951" y="514350"/>
                    <a:pt x="5076825" y="514350"/>
                  </a:cubicBezTo>
                  <a:lnTo>
                    <a:pt x="114300" y="514350"/>
                  </a:lnTo>
                  <a:cubicBezTo>
                    <a:pt x="51174" y="514350"/>
                    <a:pt x="0" y="463176"/>
                    <a:pt x="0" y="4000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6429375" y="1885950"/>
              <a:ext cx="5191125" cy="514350"/>
            </a:xfrm>
            <a:custGeom>
              <a:avLst/>
              <a:gdLst/>
              <a:ahLst/>
              <a:cxnLst/>
              <a:rect l="l" t="t" r="r" b="b"/>
              <a:pathLst>
                <a:path w="5191125" h="514350">
                  <a:moveTo>
                    <a:pt x="114300" y="0"/>
                  </a:moveTo>
                  <a:lnTo>
                    <a:pt x="5076825" y="0"/>
                  </a:lnTo>
                  <a:cubicBezTo>
                    <a:pt x="5139951" y="0"/>
                    <a:pt x="5191125" y="51174"/>
                    <a:pt x="5191125" y="114300"/>
                  </a:cubicBezTo>
                  <a:lnTo>
                    <a:pt x="5191125" y="400050"/>
                  </a:lnTo>
                  <a:cubicBezTo>
                    <a:pt x="5191125" y="463176"/>
                    <a:pt x="5139951" y="514350"/>
                    <a:pt x="5076825" y="514350"/>
                  </a:cubicBezTo>
                  <a:lnTo>
                    <a:pt x="114300" y="514350"/>
                  </a:lnTo>
                  <a:cubicBezTo>
                    <a:pt x="51174" y="514350"/>
                    <a:pt x="0" y="463176"/>
                    <a:pt x="0" y="4000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8294" y="1999298"/>
              <a:ext cx="205846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传统营销技术栈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86169" y="1999298"/>
              <a:ext cx="219472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AI 营销工作台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2104" y="242316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数据孤岛 · 人工分析 · 手动执行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89979" y="2423160"/>
              <a:ext cx="25981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统一数据 · AI驱动决策 · 自动闭环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029325" y="1885950"/>
              <a:ext cx="9525" cy="3695700"/>
            </a:xfrm>
            <a:custGeom>
              <a:avLst/>
              <a:gdLst/>
              <a:ahLst/>
              <a:cxnLst/>
              <a:rect l="l" t="t" r="r" b="b"/>
              <a:pathLst>
                <a:path w="9525" h="3695700">
                  <a:moveTo>
                    <a:pt x="0" y="0"/>
                  </a:moveTo>
                  <a:lnTo>
                    <a:pt x="0" y="36957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99541" y="30013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04416" y="30013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09291" y="30013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14166" y="30013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942975" y="2867025"/>
              <a:ext cx="171450" cy="1714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A0AEC0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1847850" y="2867025"/>
              <a:ext cx="171450" cy="1714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A0AEC0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2752725" y="2867025"/>
              <a:ext cx="171450" cy="1714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A0AEC0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3657600" y="2867025"/>
              <a:ext cx="171450" cy="1714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A0AEC0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1114425" y="2952750"/>
              <a:ext cx="733425" cy="9525"/>
            </a:xfrm>
            <a:custGeom>
              <a:avLst/>
              <a:gdLst/>
              <a:ahLst/>
              <a:cxnLst/>
              <a:rect l="l" t="t" r="r" b="b"/>
              <a:pathLst>
                <a:path w="733425" h="9525">
                  <a:moveTo>
                    <a:pt x="0" y="0"/>
                  </a:moveTo>
                  <a:lnTo>
                    <a:pt x="733425" y="0"/>
                  </a:lnTo>
                </a:path>
              </a:pathLst>
            </a:custGeom>
            <a:noFill/>
            <a:ln w="19050">
              <a:solidFill>
                <a:srgbClr val="CBD5E0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2019300" y="2952750"/>
              <a:ext cx="733425" cy="9525"/>
            </a:xfrm>
            <a:custGeom>
              <a:avLst/>
              <a:gdLst/>
              <a:ahLst/>
              <a:cxnLst/>
              <a:rect l="l" t="t" r="r" b="b"/>
              <a:pathLst>
                <a:path w="733425" h="9525">
                  <a:moveTo>
                    <a:pt x="0" y="0"/>
                  </a:moveTo>
                  <a:lnTo>
                    <a:pt x="733425" y="0"/>
                  </a:lnTo>
                </a:path>
              </a:pathLst>
            </a:custGeom>
            <a:noFill/>
            <a:ln w="19050">
              <a:solidFill>
                <a:srgbClr val="CBD5E0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2924175" y="2952750"/>
              <a:ext cx="733425" cy="9525"/>
            </a:xfrm>
            <a:custGeom>
              <a:avLst/>
              <a:gdLst/>
              <a:ahLst/>
              <a:cxnLst/>
              <a:rect l="l" t="t" r="r" b="b"/>
              <a:pathLst>
                <a:path w="733425" h="9525">
                  <a:moveTo>
                    <a:pt x="0" y="0"/>
                  </a:moveTo>
                  <a:lnTo>
                    <a:pt x="733425" y="0"/>
                  </a:lnTo>
                </a:path>
              </a:pathLst>
            </a:custGeom>
            <a:noFill/>
            <a:ln w="19050">
              <a:solidFill>
                <a:srgbClr val="CBD5E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57416" y="30013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62291" y="30013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67166" y="30013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72041" y="30013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800850" y="2867025"/>
              <a:ext cx="171450" cy="1714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7705725" y="2867025"/>
              <a:ext cx="171450" cy="1714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8610600" y="2867025"/>
              <a:ext cx="171450" cy="1714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9515475" y="2867025"/>
              <a:ext cx="171450" cy="1714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6972300" y="2952750"/>
              <a:ext cx="733425" cy="9525"/>
            </a:xfrm>
            <a:custGeom>
              <a:avLst/>
              <a:gdLst/>
              <a:ahLst/>
              <a:cxnLst/>
              <a:rect l="l" t="t" r="r" b="b"/>
              <a:pathLst>
                <a:path w="733425" h="9525">
                  <a:moveTo>
                    <a:pt x="0" y="0"/>
                  </a:moveTo>
                  <a:lnTo>
                    <a:pt x="733425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7877175" y="2952750"/>
              <a:ext cx="733425" cy="9525"/>
            </a:xfrm>
            <a:custGeom>
              <a:avLst/>
              <a:gdLst/>
              <a:ahLst/>
              <a:cxnLst/>
              <a:rect l="l" t="t" r="r" b="b"/>
              <a:pathLst>
                <a:path w="733425" h="9525">
                  <a:moveTo>
                    <a:pt x="0" y="0"/>
                  </a:moveTo>
                  <a:lnTo>
                    <a:pt x="733425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8782050" y="2952750"/>
              <a:ext cx="733425" cy="9525"/>
            </a:xfrm>
            <a:custGeom>
              <a:avLst/>
              <a:gdLst/>
              <a:ahLst/>
              <a:cxnLst/>
              <a:rect l="l" t="t" r="r" b="b"/>
              <a:pathLst>
                <a:path w="733425" h="9525">
                  <a:moveTo>
                    <a:pt x="0" y="0"/>
                  </a:moveTo>
                  <a:lnTo>
                    <a:pt x="733425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838200" y="3295650"/>
              <a:ext cx="4657725" cy="600075"/>
            </a:xfrm>
            <a:custGeom>
              <a:avLst/>
              <a:gdLst/>
              <a:ahLst/>
              <a:cxnLst/>
              <a:rect l="l" t="t" r="r" b="b"/>
              <a:pathLst>
                <a:path w="4657725" h="600075">
                  <a:moveTo>
                    <a:pt x="76200" y="0"/>
                  </a:moveTo>
                  <a:lnTo>
                    <a:pt x="4581525" y="0"/>
                  </a:lnTo>
                  <a:cubicBezTo>
                    <a:pt x="4623609" y="0"/>
                    <a:pt x="4657725" y="34116"/>
                    <a:pt x="4657725" y="76200"/>
                  </a:cubicBezTo>
                  <a:lnTo>
                    <a:pt x="4657725" y="523875"/>
                  </a:lnTo>
                  <a:cubicBezTo>
                    <a:pt x="4657725" y="565959"/>
                    <a:pt x="4623609" y="600075"/>
                    <a:pt x="4581525" y="600075"/>
                  </a:cubicBezTo>
                  <a:lnTo>
                    <a:pt x="76200" y="600075"/>
                  </a:lnTo>
                  <a:cubicBezTo>
                    <a:pt x="34116" y="600075"/>
                    <a:pt x="0" y="565959"/>
                    <a:pt x="0" y="52387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6696075" y="3295650"/>
              <a:ext cx="4657725" cy="600075"/>
            </a:xfrm>
            <a:custGeom>
              <a:avLst/>
              <a:gdLst/>
              <a:ahLst/>
              <a:cxnLst/>
              <a:rect l="l" t="t" r="r" b="b"/>
              <a:pathLst>
                <a:path w="4657725" h="600075">
                  <a:moveTo>
                    <a:pt x="76200" y="0"/>
                  </a:moveTo>
                  <a:lnTo>
                    <a:pt x="4581525" y="0"/>
                  </a:lnTo>
                  <a:cubicBezTo>
                    <a:pt x="4623609" y="0"/>
                    <a:pt x="4657725" y="34116"/>
                    <a:pt x="4657725" y="76200"/>
                  </a:cubicBezTo>
                  <a:lnTo>
                    <a:pt x="4657725" y="523875"/>
                  </a:lnTo>
                  <a:cubicBezTo>
                    <a:pt x="4657725" y="565959"/>
                    <a:pt x="4623609" y="600075"/>
                    <a:pt x="4581525" y="600075"/>
                  </a:cubicBezTo>
                  <a:lnTo>
                    <a:pt x="76200" y="600075"/>
                  </a:lnTo>
                  <a:cubicBezTo>
                    <a:pt x="34116" y="600075"/>
                    <a:pt x="0" y="565959"/>
                    <a:pt x="0" y="52387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D6E8F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21842" y="33975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22604" y="3651885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多渠道数据沉淀在各自系统，口径难统一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79717" y="33975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80479" y="3651885"/>
              <a:ext cx="3024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实时ETL统一数据湖，形成单一营销视图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838200" y="4000500"/>
              <a:ext cx="4657725" cy="600075"/>
            </a:xfrm>
            <a:custGeom>
              <a:avLst/>
              <a:gdLst/>
              <a:ahLst/>
              <a:cxnLst/>
              <a:rect l="l" t="t" r="r" b="b"/>
              <a:pathLst>
                <a:path w="4657725" h="600075">
                  <a:moveTo>
                    <a:pt x="76200" y="0"/>
                  </a:moveTo>
                  <a:lnTo>
                    <a:pt x="4581525" y="0"/>
                  </a:lnTo>
                  <a:cubicBezTo>
                    <a:pt x="4623609" y="0"/>
                    <a:pt x="4657725" y="34116"/>
                    <a:pt x="4657725" y="76200"/>
                  </a:cubicBezTo>
                  <a:lnTo>
                    <a:pt x="4657725" y="523875"/>
                  </a:lnTo>
                  <a:cubicBezTo>
                    <a:pt x="4657725" y="565959"/>
                    <a:pt x="4623609" y="600075"/>
                    <a:pt x="4581525" y="600075"/>
                  </a:cubicBezTo>
                  <a:lnTo>
                    <a:pt x="76200" y="600075"/>
                  </a:lnTo>
                  <a:cubicBezTo>
                    <a:pt x="34116" y="600075"/>
                    <a:pt x="0" y="565959"/>
                    <a:pt x="0" y="52387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6696075" y="4000500"/>
              <a:ext cx="4657725" cy="600075"/>
            </a:xfrm>
            <a:custGeom>
              <a:avLst/>
              <a:gdLst/>
              <a:ahLst/>
              <a:cxnLst/>
              <a:rect l="l" t="t" r="r" b="b"/>
              <a:pathLst>
                <a:path w="4657725" h="600075">
                  <a:moveTo>
                    <a:pt x="76200" y="0"/>
                  </a:moveTo>
                  <a:lnTo>
                    <a:pt x="4581525" y="0"/>
                  </a:lnTo>
                  <a:cubicBezTo>
                    <a:pt x="4623609" y="0"/>
                    <a:pt x="4657725" y="34116"/>
                    <a:pt x="4657725" y="76200"/>
                  </a:cubicBezTo>
                  <a:lnTo>
                    <a:pt x="4657725" y="523875"/>
                  </a:lnTo>
                  <a:cubicBezTo>
                    <a:pt x="4657725" y="565959"/>
                    <a:pt x="4623609" y="600075"/>
                    <a:pt x="4581525" y="600075"/>
                  </a:cubicBezTo>
                  <a:lnTo>
                    <a:pt x="76200" y="600075"/>
                  </a:lnTo>
                  <a:cubicBezTo>
                    <a:pt x="34116" y="600075"/>
                    <a:pt x="0" y="565959"/>
                    <a:pt x="0" y="52387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D6E8F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21842" y="4102418"/>
              <a:ext cx="648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分析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22604" y="4356735"/>
              <a:ext cx="28882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分析依赖BI团队，洞察输出滞后且分散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79717" y="4102418"/>
              <a:ext cx="648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分析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80479" y="4356735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模型自动输出策略、受众与预算建议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838200" y="4705350"/>
              <a:ext cx="4657725" cy="600075"/>
            </a:xfrm>
            <a:custGeom>
              <a:avLst/>
              <a:gdLst/>
              <a:ahLst/>
              <a:cxnLst/>
              <a:rect l="l" t="t" r="r" b="b"/>
              <a:pathLst>
                <a:path w="4657725" h="600075">
                  <a:moveTo>
                    <a:pt x="76200" y="0"/>
                  </a:moveTo>
                  <a:lnTo>
                    <a:pt x="4581525" y="0"/>
                  </a:lnTo>
                  <a:cubicBezTo>
                    <a:pt x="4623609" y="0"/>
                    <a:pt x="4657725" y="34116"/>
                    <a:pt x="4657725" y="76200"/>
                  </a:cubicBezTo>
                  <a:lnTo>
                    <a:pt x="4657725" y="523875"/>
                  </a:lnTo>
                  <a:cubicBezTo>
                    <a:pt x="4657725" y="565959"/>
                    <a:pt x="4623609" y="600075"/>
                    <a:pt x="4581525" y="600075"/>
                  </a:cubicBezTo>
                  <a:lnTo>
                    <a:pt x="76200" y="600075"/>
                  </a:lnTo>
                  <a:cubicBezTo>
                    <a:pt x="34116" y="600075"/>
                    <a:pt x="0" y="565959"/>
                    <a:pt x="0" y="52387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6696075" y="4705350"/>
              <a:ext cx="4657725" cy="600075"/>
            </a:xfrm>
            <a:custGeom>
              <a:avLst/>
              <a:gdLst/>
              <a:ahLst/>
              <a:cxnLst/>
              <a:rect l="l" t="t" r="r" b="b"/>
              <a:pathLst>
                <a:path w="4657725" h="600075">
                  <a:moveTo>
                    <a:pt x="76200" y="0"/>
                  </a:moveTo>
                  <a:lnTo>
                    <a:pt x="4581525" y="0"/>
                  </a:lnTo>
                  <a:cubicBezTo>
                    <a:pt x="4623609" y="0"/>
                    <a:pt x="4657725" y="34116"/>
                    <a:pt x="4657725" y="76200"/>
                  </a:cubicBezTo>
                  <a:lnTo>
                    <a:pt x="4657725" y="523875"/>
                  </a:lnTo>
                  <a:cubicBezTo>
                    <a:pt x="4657725" y="565959"/>
                    <a:pt x="4623609" y="600075"/>
                    <a:pt x="4581525" y="600075"/>
                  </a:cubicBezTo>
                  <a:lnTo>
                    <a:pt x="76200" y="600075"/>
                  </a:lnTo>
                  <a:cubicBezTo>
                    <a:pt x="34116" y="600075"/>
                    <a:pt x="0" y="565959"/>
                    <a:pt x="0" y="52387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D6E8F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21842" y="48072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22604" y="5061585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跨平台手动配置投放，协同链路冗长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79717" y="48072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880479" y="5061585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跨渠道一键编排，规则与模型协同执行</a:t>
              </a:r>
            </a:p>
          </p:txBody>
        </p:sp>
        <p:sp>
          <p:nvSpPr>
            <p:cNvPr id="65" name="Freeform 65"/>
            <p:cNvSpPr/>
            <p:nvPr/>
          </p:nvSpPr>
          <p:spPr>
            <a:xfrm>
              <a:off x="838200" y="5410200"/>
              <a:ext cx="4657725" cy="600075"/>
            </a:xfrm>
            <a:custGeom>
              <a:avLst/>
              <a:gdLst/>
              <a:ahLst/>
              <a:cxnLst/>
              <a:rect l="l" t="t" r="r" b="b"/>
              <a:pathLst>
                <a:path w="4657725" h="600075">
                  <a:moveTo>
                    <a:pt x="76200" y="0"/>
                  </a:moveTo>
                  <a:lnTo>
                    <a:pt x="4581525" y="0"/>
                  </a:lnTo>
                  <a:cubicBezTo>
                    <a:pt x="4623609" y="0"/>
                    <a:pt x="4657725" y="34116"/>
                    <a:pt x="4657725" y="76200"/>
                  </a:cubicBezTo>
                  <a:lnTo>
                    <a:pt x="4657725" y="523875"/>
                  </a:lnTo>
                  <a:cubicBezTo>
                    <a:pt x="4657725" y="565959"/>
                    <a:pt x="4623609" y="600075"/>
                    <a:pt x="4581525" y="600075"/>
                  </a:cubicBezTo>
                  <a:lnTo>
                    <a:pt x="76200" y="600075"/>
                  </a:lnTo>
                  <a:cubicBezTo>
                    <a:pt x="34116" y="600075"/>
                    <a:pt x="0" y="565959"/>
                    <a:pt x="0" y="52387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6696075" y="5410200"/>
              <a:ext cx="4657725" cy="600075"/>
            </a:xfrm>
            <a:custGeom>
              <a:avLst/>
              <a:gdLst/>
              <a:ahLst/>
              <a:cxnLst/>
              <a:rect l="l" t="t" r="r" b="b"/>
              <a:pathLst>
                <a:path w="4657725" h="600075">
                  <a:moveTo>
                    <a:pt x="76200" y="0"/>
                  </a:moveTo>
                  <a:lnTo>
                    <a:pt x="4581525" y="0"/>
                  </a:lnTo>
                  <a:cubicBezTo>
                    <a:pt x="4623609" y="0"/>
                    <a:pt x="4657725" y="34116"/>
                    <a:pt x="4657725" y="76200"/>
                  </a:cubicBezTo>
                  <a:lnTo>
                    <a:pt x="4657725" y="523875"/>
                  </a:lnTo>
                  <a:cubicBezTo>
                    <a:pt x="4657725" y="565959"/>
                    <a:pt x="4623609" y="600075"/>
                    <a:pt x="4581525" y="600075"/>
                  </a:cubicBezTo>
                  <a:lnTo>
                    <a:pt x="76200" y="600075"/>
                  </a:lnTo>
                  <a:cubicBezTo>
                    <a:pt x="34116" y="600075"/>
                    <a:pt x="0" y="565959"/>
                    <a:pt x="0" y="52387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D6E8FA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21842" y="55121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22604" y="5766435"/>
              <a:ext cx="28634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归因滞后3–7天，优化动作无法实时闭环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879717" y="55121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880479" y="5766435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分钟级归因与再优化，持续自我修正</a:t>
              </a:r>
            </a:p>
          </p:txBody>
        </p:sp>
        <p:sp>
          <p:nvSpPr>
            <p:cNvPr id="71" name="Freeform 71"/>
            <p:cNvSpPr/>
            <p:nvPr/>
          </p:nvSpPr>
          <p:spPr>
            <a:xfrm>
              <a:off x="5048250" y="3276600"/>
              <a:ext cx="1143000" cy="2743200"/>
            </a:xfrm>
            <a:custGeom>
              <a:avLst/>
              <a:gdLst/>
              <a:ahLst/>
              <a:cxnLst/>
              <a:rect l="l" t="t" r="r" b="b"/>
              <a:pathLst>
                <a:path w="1143000" h="2743200">
                  <a:moveTo>
                    <a:pt x="95250" y="0"/>
                  </a:moveTo>
                  <a:lnTo>
                    <a:pt x="1047750" y="0"/>
                  </a:lnTo>
                  <a:cubicBezTo>
                    <a:pt x="1100355" y="0"/>
                    <a:pt x="1143000" y="42645"/>
                    <a:pt x="1143000" y="95250"/>
                  </a:cubicBezTo>
                  <a:lnTo>
                    <a:pt x="1143000" y="2647950"/>
                  </a:lnTo>
                  <a:cubicBezTo>
                    <a:pt x="1143000" y="2700555"/>
                    <a:pt x="1100355" y="2743200"/>
                    <a:pt x="1047750" y="2743200"/>
                  </a:cubicBezTo>
                  <a:lnTo>
                    <a:pt x="95250" y="2743200"/>
                  </a:lnTo>
                  <a:cubicBezTo>
                    <a:pt x="42645" y="2743200"/>
                    <a:pt x="0" y="2700555"/>
                    <a:pt x="0" y="2647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331714" y="34109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关键变量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5219700" y="3886200"/>
              <a:ext cx="800100" cy="9525"/>
            </a:xfrm>
            <a:custGeom>
              <a:avLst/>
              <a:gdLst/>
              <a:ahLst/>
              <a:cxnLst/>
              <a:rect l="l" t="t" r="r" b="b"/>
              <a:pathLst>
                <a:path w="800100" h="9525">
                  <a:moveTo>
                    <a:pt x="0" y="0"/>
                  </a:moveTo>
                  <a:lnTo>
                    <a:pt x="8001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4" name="Line 74"/>
            <p:cNvSpPr/>
            <p:nvPr/>
          </p:nvSpPr>
          <p:spPr>
            <a:xfrm>
              <a:off x="5219700" y="4591050"/>
              <a:ext cx="800100" cy="9525"/>
            </a:xfrm>
            <a:custGeom>
              <a:avLst/>
              <a:gdLst/>
              <a:ahLst/>
              <a:cxnLst/>
              <a:rect l="l" t="t" r="r" b="b"/>
              <a:pathLst>
                <a:path w="800100" h="9525">
                  <a:moveTo>
                    <a:pt x="0" y="0"/>
                  </a:moveTo>
                  <a:lnTo>
                    <a:pt x="8001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5" name="Line 75"/>
            <p:cNvSpPr/>
            <p:nvPr/>
          </p:nvSpPr>
          <p:spPr>
            <a:xfrm>
              <a:off x="5219700" y="5295900"/>
              <a:ext cx="800100" cy="9525"/>
            </a:xfrm>
            <a:custGeom>
              <a:avLst/>
              <a:gdLst/>
              <a:ahLst/>
              <a:cxnLst/>
              <a:rect l="l" t="t" r="r" b="b"/>
              <a:pathLst>
                <a:path w="800100" h="9525">
                  <a:moveTo>
                    <a:pt x="0" y="0"/>
                  </a:moveTo>
                  <a:lnTo>
                    <a:pt x="8001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5444033" y="36042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5444033" y="430911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决策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444033" y="50139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444033" y="571881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反馈</a:t>
              </a:r>
            </a:p>
          </p:txBody>
        </p:sp>
        <p:sp>
          <p:nvSpPr>
            <p:cNvPr id="80" name="Freeform 80"/>
            <p:cNvSpPr/>
            <p:nvPr/>
          </p:nvSpPr>
          <p:spPr>
            <a:xfrm>
              <a:off x="571500" y="5848350"/>
              <a:ext cx="11049000" cy="533400"/>
            </a:xfrm>
            <a:custGeom>
              <a:avLst/>
              <a:gdLst/>
              <a:ahLst/>
              <a:cxnLst/>
              <a:rect l="l" t="t" r="r" b="b"/>
              <a:pathLst>
                <a:path w="11049000" h="533400">
                  <a:moveTo>
                    <a:pt x="95250" y="0"/>
                  </a:moveTo>
                  <a:lnTo>
                    <a:pt x="10953750" y="0"/>
                  </a:lnTo>
                  <a:cubicBezTo>
                    <a:pt x="11006355" y="0"/>
                    <a:pt x="11049000" y="42645"/>
                    <a:pt x="11049000" y="95250"/>
                  </a:cubicBezTo>
                  <a:lnTo>
                    <a:pt x="11049000" y="438150"/>
                  </a:lnTo>
                  <a:cubicBezTo>
                    <a:pt x="11049000" y="490755"/>
                    <a:pt x="11006355" y="533400"/>
                    <a:pt x="10953750" y="533400"/>
                  </a:cubicBezTo>
                  <a:lnTo>
                    <a:pt x="95250" y="533400"/>
                  </a:lnTo>
                  <a:cubicBezTo>
                    <a:pt x="42645" y="533400"/>
                    <a:pt x="0" y="490755"/>
                    <a:pt x="0" y="438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93242" y="6026468"/>
              <a:ext cx="100277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不同路径影响：</a:t>
              </a: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传统栈以“系统串联 + 人工补位”推进，AI工作台以“统一底座 + 模型驱动 + 自动回流”形成增长闭环。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5781675" y="2919412"/>
            <a:ext cx="652462" cy="2886075"/>
            <a:chOff x="5781675" y="2919412"/>
            <a:chExt cx="652462" cy="2886075"/>
          </a:xfrm>
        </p:grpSpPr>
        <p:sp>
          <p:nvSpPr>
            <p:cNvPr id="83" name="Freeform 83"/>
            <p:cNvSpPr/>
            <p:nvPr/>
          </p:nvSpPr>
          <p:spPr>
            <a:xfrm>
              <a:off x="5781675" y="295275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cubicBezTo>
                    <a:pt x="200025" y="0"/>
                    <a:pt x="419100" y="0"/>
                    <a:pt x="619125" y="0"/>
                  </a:cubicBez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5781675" y="36576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cubicBezTo>
                    <a:pt x="200025" y="0"/>
                    <a:pt x="419100" y="0"/>
                    <a:pt x="619125" y="0"/>
                  </a:cubicBez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85" name="Freeform 85"/>
            <p:cNvSpPr/>
            <p:nvPr/>
          </p:nvSpPr>
          <p:spPr>
            <a:xfrm>
              <a:off x="5781675" y="436245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cubicBezTo>
                    <a:pt x="200025" y="0"/>
                    <a:pt x="419100" y="0"/>
                    <a:pt x="619125" y="0"/>
                  </a:cubicBez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86" name="Freeform 86"/>
            <p:cNvSpPr/>
            <p:nvPr/>
          </p:nvSpPr>
          <p:spPr>
            <a:xfrm>
              <a:off x="5781675" y="50673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cubicBezTo>
                    <a:pt x="200025" y="0"/>
                    <a:pt x="419100" y="0"/>
                    <a:pt x="619125" y="0"/>
                  </a:cubicBez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5781675" y="577215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cubicBezTo>
                    <a:pt x="200025" y="0"/>
                    <a:pt x="419100" y="0"/>
                    <a:pt x="619125" y="0"/>
                  </a:cubicBez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88" name="Ellipse 88"/>
            <p:cNvSpPr/>
            <p:nvPr/>
          </p:nvSpPr>
          <p:spPr>
            <a:xfrm>
              <a:off x="6367462" y="2919412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6367462" y="3624262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0" name="Ellipse 90"/>
            <p:cNvSpPr/>
            <p:nvPr/>
          </p:nvSpPr>
          <p:spPr>
            <a:xfrm>
              <a:off x="6367462" y="4329112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1" name="Ellipse 91"/>
            <p:cNvSpPr/>
            <p:nvPr/>
          </p:nvSpPr>
          <p:spPr>
            <a:xfrm>
              <a:off x="6367462" y="5033962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2" name="Ellipse 92"/>
            <p:cNvSpPr/>
            <p:nvPr/>
          </p:nvSpPr>
          <p:spPr>
            <a:xfrm>
              <a:off x="6367462" y="5738812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914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12573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63246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66547" y="580549"/>
            <a:ext cx="11058715" cy="6064567"/>
            <a:chOff x="566547" y="580549"/>
            <a:chExt cx="11058715" cy="6064567"/>
          </a:xfrm>
        </p:grpSpPr>
        <p:sp>
          <p:nvSpPr>
            <p:cNvPr id="8" name="TextBox 8"/>
            <p:cNvSpPr txBox="1"/>
            <p:nvPr/>
          </p:nvSpPr>
          <p:spPr>
            <a:xfrm>
              <a:off x="566547" y="580549"/>
              <a:ext cx="8452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PROOFGRID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243681" y="648319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08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738" y="6483191"/>
              <a:ext cx="1917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product-launch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57784" y="1384935"/>
            <a:ext cx="11062716" cy="4711065"/>
            <a:chOff x="557784" y="1384935"/>
            <a:chExt cx="11062716" cy="4711065"/>
          </a:xfrm>
        </p:grpSpPr>
        <p:sp>
          <p:nvSpPr>
            <p:cNvPr id="12" name="TextBox 12"/>
            <p:cNvSpPr txBox="1"/>
            <p:nvPr/>
          </p:nvSpPr>
          <p:spPr>
            <a:xfrm>
              <a:off x="557784" y="1384935"/>
              <a:ext cx="44631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成效验证：早期客户数据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3880" y="1876425"/>
              <a:ext cx="60853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不依赖长篇报告，仅通过三个可验证的指标展示 AI 营销工作台的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3880" y="21431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直接业务影响。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71500" y="2381250"/>
              <a:ext cx="11049000" cy="3714750"/>
            </a:xfrm>
            <a:custGeom>
              <a:avLst/>
              <a:gdLst/>
              <a:ahLst/>
              <a:cxnLst/>
              <a:rect l="l" t="t" r="r" b="b"/>
              <a:pathLst>
                <a:path w="11049000" h="3714750">
                  <a:moveTo>
                    <a:pt x="133350" y="0"/>
                  </a:moveTo>
                  <a:lnTo>
                    <a:pt x="10915650" y="0"/>
                  </a:lnTo>
                  <a:cubicBezTo>
                    <a:pt x="10989297" y="0"/>
                    <a:pt x="11049000" y="59703"/>
                    <a:pt x="11049000" y="133350"/>
                  </a:cubicBezTo>
                  <a:lnTo>
                    <a:pt x="11049000" y="3581400"/>
                  </a:lnTo>
                  <a:cubicBezTo>
                    <a:pt x="11049000" y="3655047"/>
                    <a:pt x="10989297" y="3714750"/>
                    <a:pt x="10915650" y="3714750"/>
                  </a:cubicBezTo>
                  <a:lnTo>
                    <a:pt x="133350" y="3714750"/>
                  </a:lnTo>
                  <a:cubicBezTo>
                    <a:pt x="59703" y="3714750"/>
                    <a:pt x="0" y="3655047"/>
                    <a:pt x="0" y="3581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800100" y="2609850"/>
              <a:ext cx="3352800" cy="3257550"/>
            </a:xfrm>
            <a:custGeom>
              <a:avLst/>
              <a:gdLst/>
              <a:ahLst/>
              <a:cxnLst/>
              <a:rect l="l" t="t" r="r" b="b"/>
              <a:pathLst>
                <a:path w="3352800" h="3257550">
                  <a:moveTo>
                    <a:pt x="114300" y="0"/>
                  </a:moveTo>
                  <a:lnTo>
                    <a:pt x="3238500" y="0"/>
                  </a:lnTo>
                  <a:cubicBezTo>
                    <a:pt x="3301626" y="0"/>
                    <a:pt x="3352800" y="51174"/>
                    <a:pt x="3352800" y="114300"/>
                  </a:cubicBezTo>
                  <a:lnTo>
                    <a:pt x="3352800" y="3143250"/>
                  </a:lnTo>
                  <a:cubicBezTo>
                    <a:pt x="3352800" y="3206376"/>
                    <a:pt x="3301626" y="3257550"/>
                    <a:pt x="3238500" y="3257550"/>
                  </a:cubicBezTo>
                  <a:lnTo>
                    <a:pt x="114300" y="3257550"/>
                  </a:lnTo>
                  <a:cubicBezTo>
                    <a:pt x="51174" y="3257550"/>
                    <a:pt x="0" y="3206376"/>
                    <a:pt x="0" y="3143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419600" y="2609850"/>
              <a:ext cx="3352800" cy="3257550"/>
            </a:xfrm>
            <a:custGeom>
              <a:avLst/>
              <a:gdLst/>
              <a:ahLst/>
              <a:cxnLst/>
              <a:rect l="l" t="t" r="r" b="b"/>
              <a:pathLst>
                <a:path w="3352800" h="3257550">
                  <a:moveTo>
                    <a:pt x="114300" y="0"/>
                  </a:moveTo>
                  <a:lnTo>
                    <a:pt x="3238500" y="0"/>
                  </a:lnTo>
                  <a:cubicBezTo>
                    <a:pt x="3301626" y="0"/>
                    <a:pt x="3352800" y="51174"/>
                    <a:pt x="3352800" y="114300"/>
                  </a:cubicBezTo>
                  <a:lnTo>
                    <a:pt x="3352800" y="3143250"/>
                  </a:lnTo>
                  <a:cubicBezTo>
                    <a:pt x="3352800" y="3206376"/>
                    <a:pt x="3301626" y="3257550"/>
                    <a:pt x="3238500" y="3257550"/>
                  </a:cubicBezTo>
                  <a:lnTo>
                    <a:pt x="114300" y="3257550"/>
                  </a:lnTo>
                  <a:cubicBezTo>
                    <a:pt x="51174" y="3257550"/>
                    <a:pt x="0" y="3206376"/>
                    <a:pt x="0" y="3143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039100" y="2609850"/>
              <a:ext cx="3352800" cy="3257550"/>
            </a:xfrm>
            <a:custGeom>
              <a:avLst/>
              <a:gdLst/>
              <a:ahLst/>
              <a:cxnLst/>
              <a:rect l="l" t="t" r="r" b="b"/>
              <a:pathLst>
                <a:path w="3352800" h="3257550">
                  <a:moveTo>
                    <a:pt x="114300" y="0"/>
                  </a:moveTo>
                  <a:lnTo>
                    <a:pt x="3238500" y="0"/>
                  </a:lnTo>
                  <a:cubicBezTo>
                    <a:pt x="3301626" y="0"/>
                    <a:pt x="3352800" y="51174"/>
                    <a:pt x="3352800" y="114300"/>
                  </a:cubicBezTo>
                  <a:lnTo>
                    <a:pt x="3352800" y="3143250"/>
                  </a:lnTo>
                  <a:cubicBezTo>
                    <a:pt x="3352800" y="3206376"/>
                    <a:pt x="3301626" y="3257550"/>
                    <a:pt x="3238500" y="3257550"/>
                  </a:cubicBezTo>
                  <a:lnTo>
                    <a:pt x="114300" y="3257550"/>
                  </a:lnTo>
                  <a:cubicBezTo>
                    <a:pt x="51174" y="3257550"/>
                    <a:pt x="0" y="3206376"/>
                    <a:pt x="0" y="3143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2476500" y="2781300"/>
              <a:ext cx="9525" cy="2914650"/>
            </a:xfrm>
            <a:custGeom>
              <a:avLst/>
              <a:gdLst/>
              <a:ahLst/>
              <a:cxnLst/>
              <a:rect l="l" t="t" r="r" b="b"/>
              <a:pathLst>
                <a:path w="9525" h="2914650">
                  <a:moveTo>
                    <a:pt x="0" y="0"/>
                  </a:moveTo>
                  <a:lnTo>
                    <a:pt x="0" y="29146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6096000" y="2781300"/>
              <a:ext cx="9525" cy="2914650"/>
            </a:xfrm>
            <a:custGeom>
              <a:avLst/>
              <a:gdLst/>
              <a:ahLst/>
              <a:cxnLst/>
              <a:rect l="l" t="t" r="r" b="b"/>
              <a:pathLst>
                <a:path w="9525" h="2914650">
                  <a:moveTo>
                    <a:pt x="0" y="0"/>
                  </a:moveTo>
                  <a:lnTo>
                    <a:pt x="0" y="29146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9715500" y="2781300"/>
              <a:ext cx="9525" cy="2914650"/>
            </a:xfrm>
            <a:custGeom>
              <a:avLst/>
              <a:gdLst/>
              <a:ahLst/>
              <a:cxnLst/>
              <a:rect l="l" t="t" r="r" b="b"/>
              <a:pathLst>
                <a:path w="9525" h="2914650">
                  <a:moveTo>
                    <a:pt x="0" y="0"/>
                  </a:moveTo>
                  <a:lnTo>
                    <a:pt x="0" y="29146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23938" y="2874645"/>
              <a:ext cx="1549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9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43438" y="2874645"/>
              <a:ext cx="1549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9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62938" y="2874645"/>
              <a:ext cx="1549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9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18794" y="3085148"/>
              <a:ext cx="21021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转化率提升 35%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38294" y="3085148"/>
              <a:ext cx="297586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营销运营成本下降 40%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57794" y="3085148"/>
              <a:ext cx="26846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从启动到见效仅 6 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22604" y="35280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消费品品牌案例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42104" y="35280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自动化执行与数据整合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61604" y="3528060"/>
              <a:ext cx="14740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标准 SaaS 部署路径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11936" y="3815715"/>
              <a:ext cx="323712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2F855A"/>
                  </a:solidFill>
                  <a:latin typeface="+mj-lt"/>
                  <a:ea typeface="+mj-ea"/>
                  <a:cs typeface="+mj-cs"/>
                </a:rPr>
                <a:t>2.1% → 2.85%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31436" y="3815715"/>
              <a:ext cx="521033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3 FTE → 自动化替代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50936" y="3815715"/>
              <a:ext cx="220211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42 天落地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1028700" y="440055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4648200" y="440055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8267700" y="440055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21842" y="456914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某消费品品牌接入工作台后，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21842" y="481679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三个月内全渠道归因转化率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1842" y="5064442"/>
              <a:ext cx="18765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 2.1% 升至 2.85%。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41342" y="456914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自动化执行与数据整合替代了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41342" y="4816792"/>
              <a:ext cx="29218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 个重复性 FTEs，人力成本节约，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641342" y="5064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同时降低操作错误率。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60842" y="4569142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预置连接器与标准交付流程使客户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60842" y="4816792"/>
              <a:ext cx="25852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 6 周内完成数据接入，并看到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60842" y="5064442"/>
              <a:ext cx="20203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首次 AI 推荐开始生效。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1028700" y="5334000"/>
              <a:ext cx="1238250" cy="266700"/>
            </a:xfrm>
            <a:custGeom>
              <a:avLst/>
              <a:gdLst/>
              <a:ahLst/>
              <a:cxnLst/>
              <a:rect l="l" t="t" r="r" b="b"/>
              <a:pathLst>
                <a:path w="1238250" h="266700">
                  <a:moveTo>
                    <a:pt x="133350" y="0"/>
                  </a:moveTo>
                  <a:lnTo>
                    <a:pt x="1104900" y="0"/>
                  </a:lnTo>
                  <a:cubicBezTo>
                    <a:pt x="1178547" y="0"/>
                    <a:pt x="1238250" y="59703"/>
                    <a:pt x="1238250" y="133350"/>
                  </a:cubicBezTo>
                  <a:lnTo>
                    <a:pt x="1238250" y="133350"/>
                  </a:lnTo>
                  <a:cubicBezTo>
                    <a:pt x="1238250" y="206997"/>
                    <a:pt x="1178547" y="266700"/>
                    <a:pt x="110490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4648200" y="5334000"/>
              <a:ext cx="1295400" cy="266700"/>
            </a:xfrm>
            <a:custGeom>
              <a:avLst/>
              <a:gdLst/>
              <a:ahLst/>
              <a:cxnLst/>
              <a:rect l="l" t="t" r="r" b="b"/>
              <a:pathLst>
                <a:path w="1295400" h="266700">
                  <a:moveTo>
                    <a:pt x="133350" y="0"/>
                  </a:moveTo>
                  <a:lnTo>
                    <a:pt x="1162050" y="0"/>
                  </a:lnTo>
                  <a:cubicBezTo>
                    <a:pt x="1235697" y="0"/>
                    <a:pt x="1295400" y="59703"/>
                    <a:pt x="1295400" y="133350"/>
                  </a:cubicBezTo>
                  <a:lnTo>
                    <a:pt x="1295400" y="133350"/>
                  </a:lnTo>
                  <a:cubicBezTo>
                    <a:pt x="1295400" y="206997"/>
                    <a:pt x="1235697" y="266700"/>
                    <a:pt x="11620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8267700" y="5334000"/>
              <a:ext cx="1143000" cy="266700"/>
            </a:xfrm>
            <a:custGeom>
              <a:avLst/>
              <a:gdLst/>
              <a:ahLst/>
              <a:cxnLst/>
              <a:rect l="l" t="t" r="r" b="b"/>
              <a:pathLst>
                <a:path w="1143000" h="266700">
                  <a:moveTo>
                    <a:pt x="133350" y="0"/>
                  </a:moveTo>
                  <a:lnTo>
                    <a:pt x="1009650" y="0"/>
                  </a:lnTo>
                  <a:cubicBezTo>
                    <a:pt x="1083297" y="0"/>
                    <a:pt x="1143000" y="59703"/>
                    <a:pt x="1143000" y="133350"/>
                  </a:cubicBezTo>
                  <a:lnTo>
                    <a:pt x="1143000" y="133350"/>
                  </a:lnTo>
                  <a:cubicBezTo>
                    <a:pt x="1143000" y="206997"/>
                    <a:pt x="1083297" y="266700"/>
                    <a:pt x="1009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197235" y="540162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归因转化提升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845310" y="540162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替代重复操作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88610" y="540162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快速价值实现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1285875" y="3429000"/>
              <a:ext cx="1809750" cy="714375"/>
            </a:xfrm>
            <a:custGeom>
              <a:avLst/>
              <a:gdLst/>
              <a:ahLst/>
              <a:cxnLst/>
              <a:rect l="l" t="t" r="r" b="b"/>
              <a:pathLst>
                <a:path w="1809750" h="714375">
                  <a:moveTo>
                    <a:pt x="0" y="714375"/>
                  </a:moveTo>
                  <a:lnTo>
                    <a:pt x="285750" y="428625"/>
                  </a:lnTo>
                  <a:lnTo>
                    <a:pt x="571500" y="600075"/>
                  </a:lnTo>
                  <a:lnTo>
                    <a:pt x="904875" y="247650"/>
                  </a:lnTo>
                  <a:lnTo>
                    <a:pt x="1190625" y="333375"/>
                  </a:lnTo>
                  <a:lnTo>
                    <a:pt x="1524000" y="0"/>
                  </a:lnTo>
                  <a:lnTo>
                    <a:pt x="1809750" y="95250"/>
                  </a:lnTo>
                </a:path>
              </a:pathLst>
            </a:custGeom>
            <a:noFill/>
            <a:ln w="28575">
              <a:solidFill>
                <a:srgbClr val="2F855A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1247775" y="4105275"/>
              <a:ext cx="76200" cy="76200"/>
            </a:xfrm>
            <a:prstGeom prst="ellipse">
              <a:avLst/>
            </a:prstGeom>
            <a:solidFill>
              <a:srgbClr val="2F855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1533525" y="3819525"/>
              <a:ext cx="76200" cy="76200"/>
            </a:xfrm>
            <a:prstGeom prst="ellipse">
              <a:avLst/>
            </a:prstGeom>
            <a:solidFill>
              <a:srgbClr val="2F855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1819275" y="3990975"/>
              <a:ext cx="76200" cy="76200"/>
            </a:xfrm>
            <a:prstGeom prst="ellipse">
              <a:avLst/>
            </a:prstGeom>
            <a:solidFill>
              <a:srgbClr val="2F855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2152650" y="3638550"/>
              <a:ext cx="76200" cy="76200"/>
            </a:xfrm>
            <a:prstGeom prst="ellipse">
              <a:avLst/>
            </a:prstGeom>
            <a:solidFill>
              <a:srgbClr val="2F855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2438400" y="3724275"/>
              <a:ext cx="76200" cy="76200"/>
            </a:xfrm>
            <a:prstGeom prst="ellipse">
              <a:avLst/>
            </a:prstGeom>
            <a:solidFill>
              <a:srgbClr val="2F855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2771775" y="3390900"/>
              <a:ext cx="76200" cy="76200"/>
            </a:xfrm>
            <a:prstGeom prst="ellipse">
              <a:avLst/>
            </a:prstGeom>
            <a:solidFill>
              <a:srgbClr val="2F855A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3057525" y="3486150"/>
              <a:ext cx="76200" cy="76200"/>
            </a:xfrm>
            <a:prstGeom prst="ellipse">
              <a:avLst/>
            </a:prstGeom>
            <a:solidFill>
              <a:srgbClr val="2F855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4905375" y="3857625"/>
              <a:ext cx="247650" cy="3238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248275" y="3714750"/>
              <a:ext cx="247650" cy="4667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591175" y="3543300"/>
              <a:ext cx="247650" cy="6381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934075" y="3314700"/>
              <a:ext cx="247650" cy="8667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276975" y="3162300"/>
              <a:ext cx="247650" cy="1019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619875" y="3429000"/>
              <a:ext cx="247650" cy="7524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8515350" y="37719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9001125" y="37719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9486900" y="37719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9972675" y="37719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10458450" y="37719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1" name="Line 71"/>
            <p:cNvSpPr/>
            <p:nvPr/>
          </p:nvSpPr>
          <p:spPr>
            <a:xfrm>
              <a:off x="8667750" y="3848100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72" name="Line 72"/>
            <p:cNvSpPr/>
            <p:nvPr/>
          </p:nvSpPr>
          <p:spPr>
            <a:xfrm>
              <a:off x="9153525" y="3848100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73" name="Line 73"/>
            <p:cNvSpPr/>
            <p:nvPr/>
          </p:nvSpPr>
          <p:spPr>
            <a:xfrm>
              <a:off x="9639300" y="3848100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74" name="Line 74"/>
            <p:cNvSpPr/>
            <p:nvPr/>
          </p:nvSpPr>
          <p:spPr>
            <a:xfrm>
              <a:off x="10125075" y="3848100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548747" y="3990499"/>
              <a:ext cx="4364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week 6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71500" y="5848350"/>
            <a:ext cx="11049000" cy="323850"/>
            <a:chOff x="571500" y="5848350"/>
            <a:chExt cx="11049000" cy="323850"/>
          </a:xfrm>
        </p:grpSpPr>
        <p:sp>
          <p:nvSpPr>
            <p:cNvPr id="77" name="Freeform 77"/>
            <p:cNvSpPr/>
            <p:nvPr/>
          </p:nvSpPr>
          <p:spPr>
            <a:xfrm>
              <a:off x="571500" y="5848350"/>
              <a:ext cx="11049000" cy="323850"/>
            </a:xfrm>
            <a:custGeom>
              <a:avLst/>
              <a:gdLst/>
              <a:ahLst/>
              <a:cxnLst/>
              <a:rect l="l" t="t" r="r" b="b"/>
              <a:pathLst>
                <a:path w="11049000" h="323850">
                  <a:moveTo>
                    <a:pt x="76200" y="0"/>
                  </a:moveTo>
                  <a:lnTo>
                    <a:pt x="10972800" y="0"/>
                  </a:lnTo>
                  <a:cubicBezTo>
                    <a:pt x="11014884" y="0"/>
                    <a:pt x="11049000" y="34116"/>
                    <a:pt x="11049000" y="76200"/>
                  </a:cubicBezTo>
                  <a:lnTo>
                    <a:pt x="11049000" y="247650"/>
                  </a:lnTo>
                  <a:cubicBezTo>
                    <a:pt x="11049000" y="289734"/>
                    <a:pt x="11014884" y="323850"/>
                    <a:pt x="1097280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94004" y="59283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5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9334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1238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096000" y="1619250"/>
              <a:ext cx="9525" cy="4476750"/>
            </a:xfrm>
            <a:custGeom>
              <a:avLst/>
              <a:gdLst/>
              <a:ahLst/>
              <a:cxnLst/>
              <a:rect l="l" t="t" r="r" b="b"/>
              <a:pathLst>
                <a:path w="9525" h="4476750">
                  <a:moveTo>
                    <a:pt x="0" y="0"/>
                  </a:moveTo>
                  <a:lnTo>
                    <a:pt x="0" y="44767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57784" y="390049"/>
            <a:ext cx="11067479" cy="6255067"/>
            <a:chOff x="557784" y="390049"/>
            <a:chExt cx="11067479" cy="6255067"/>
          </a:xfrm>
        </p:grpSpPr>
        <p:sp>
          <p:nvSpPr>
            <p:cNvPr id="8" name="TextBox 8"/>
            <p:cNvSpPr txBox="1"/>
            <p:nvPr/>
          </p:nvSpPr>
          <p:spPr>
            <a:xfrm>
              <a:off x="566547" y="390049"/>
              <a:ext cx="9913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05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SIGNALCOUNT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584835"/>
              <a:ext cx="24469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投资价值量化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738" y="6483191"/>
              <a:ext cx="1917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product-launch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93570" y="64831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63880" y="1438275"/>
            <a:ext cx="11056620" cy="5038725"/>
            <a:chOff x="563880" y="1438275"/>
            <a:chExt cx="11056620" cy="5038725"/>
          </a:xfrm>
        </p:grpSpPr>
        <p:sp>
          <p:nvSpPr>
            <p:cNvPr id="13" name="TextBox 13"/>
            <p:cNvSpPr txBox="1"/>
            <p:nvPr/>
          </p:nvSpPr>
          <p:spPr>
            <a:xfrm>
              <a:off x="563880" y="1438275"/>
              <a:ext cx="76641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基于早期部署数据和行业基准，AI营销工作台可在一年内产生显著可量化的回报。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71500" y="1943100"/>
              <a:ext cx="5295900" cy="1885950"/>
            </a:xfrm>
            <a:custGeom>
              <a:avLst/>
              <a:gdLst/>
              <a:ahLst/>
              <a:cxnLst/>
              <a:rect l="l" t="t" r="r" b="b"/>
              <a:pathLst>
                <a:path w="5295900" h="1885950">
                  <a:moveTo>
                    <a:pt x="114300" y="0"/>
                  </a:moveTo>
                  <a:lnTo>
                    <a:pt x="5181600" y="0"/>
                  </a:lnTo>
                  <a:cubicBezTo>
                    <a:pt x="5244726" y="0"/>
                    <a:pt x="5295900" y="51174"/>
                    <a:pt x="5295900" y="114300"/>
                  </a:cubicBezTo>
                  <a:lnTo>
                    <a:pt x="5295900" y="1771650"/>
                  </a:lnTo>
                  <a:cubicBezTo>
                    <a:pt x="5295900" y="1834776"/>
                    <a:pt x="5244726" y="1885950"/>
                    <a:pt x="5181600" y="1885950"/>
                  </a:cubicBezTo>
                  <a:lnTo>
                    <a:pt x="114300" y="1885950"/>
                  </a:lnTo>
                  <a:cubicBezTo>
                    <a:pt x="51174" y="1885950"/>
                    <a:pt x="0" y="1834776"/>
                    <a:pt x="0" y="17716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6324600" y="1943100"/>
              <a:ext cx="5295900" cy="1885950"/>
            </a:xfrm>
            <a:custGeom>
              <a:avLst/>
              <a:gdLst/>
              <a:ahLst/>
              <a:cxnLst/>
              <a:rect l="l" t="t" r="r" b="b"/>
              <a:pathLst>
                <a:path w="5295900" h="1885950">
                  <a:moveTo>
                    <a:pt x="114300" y="0"/>
                  </a:moveTo>
                  <a:lnTo>
                    <a:pt x="5181600" y="0"/>
                  </a:lnTo>
                  <a:cubicBezTo>
                    <a:pt x="5244726" y="0"/>
                    <a:pt x="5295900" y="51174"/>
                    <a:pt x="5295900" y="114300"/>
                  </a:cubicBezTo>
                  <a:lnTo>
                    <a:pt x="5295900" y="1771650"/>
                  </a:lnTo>
                  <a:cubicBezTo>
                    <a:pt x="5295900" y="1834776"/>
                    <a:pt x="5244726" y="1885950"/>
                    <a:pt x="5181600" y="1885950"/>
                  </a:cubicBezTo>
                  <a:lnTo>
                    <a:pt x="114300" y="1885950"/>
                  </a:lnTo>
                  <a:cubicBezTo>
                    <a:pt x="51174" y="1885950"/>
                    <a:pt x="0" y="1834776"/>
                    <a:pt x="0" y="17716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71500" y="4095750"/>
              <a:ext cx="5295900" cy="1885950"/>
            </a:xfrm>
            <a:custGeom>
              <a:avLst/>
              <a:gdLst/>
              <a:ahLst/>
              <a:cxnLst/>
              <a:rect l="l" t="t" r="r" b="b"/>
              <a:pathLst>
                <a:path w="5295900" h="1885950">
                  <a:moveTo>
                    <a:pt x="114300" y="0"/>
                  </a:moveTo>
                  <a:lnTo>
                    <a:pt x="5181600" y="0"/>
                  </a:lnTo>
                  <a:cubicBezTo>
                    <a:pt x="5244726" y="0"/>
                    <a:pt x="5295900" y="51174"/>
                    <a:pt x="5295900" y="114300"/>
                  </a:cubicBezTo>
                  <a:lnTo>
                    <a:pt x="5295900" y="1771650"/>
                  </a:lnTo>
                  <a:cubicBezTo>
                    <a:pt x="5295900" y="1834776"/>
                    <a:pt x="5244726" y="1885950"/>
                    <a:pt x="5181600" y="1885950"/>
                  </a:cubicBezTo>
                  <a:lnTo>
                    <a:pt x="114300" y="1885950"/>
                  </a:lnTo>
                  <a:cubicBezTo>
                    <a:pt x="51174" y="1885950"/>
                    <a:pt x="0" y="1834776"/>
                    <a:pt x="0" y="17716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6324600" y="4095750"/>
              <a:ext cx="5295900" cy="1885950"/>
            </a:xfrm>
            <a:custGeom>
              <a:avLst/>
              <a:gdLst/>
              <a:ahLst/>
              <a:cxnLst/>
              <a:rect l="l" t="t" r="r" b="b"/>
              <a:pathLst>
                <a:path w="5295900" h="1885950">
                  <a:moveTo>
                    <a:pt x="114300" y="0"/>
                  </a:moveTo>
                  <a:lnTo>
                    <a:pt x="5181600" y="0"/>
                  </a:lnTo>
                  <a:cubicBezTo>
                    <a:pt x="5244726" y="0"/>
                    <a:pt x="5295900" y="51174"/>
                    <a:pt x="5295900" y="114300"/>
                  </a:cubicBezTo>
                  <a:lnTo>
                    <a:pt x="5295900" y="1771650"/>
                  </a:lnTo>
                  <a:cubicBezTo>
                    <a:pt x="5295900" y="1834776"/>
                    <a:pt x="5244726" y="1885950"/>
                    <a:pt x="5181600" y="1885950"/>
                  </a:cubicBezTo>
                  <a:lnTo>
                    <a:pt x="114300" y="1885950"/>
                  </a:lnTo>
                  <a:cubicBezTo>
                    <a:pt x="51174" y="1885950"/>
                    <a:pt x="0" y="1834776"/>
                    <a:pt x="0" y="17716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71500" y="1943100"/>
              <a:ext cx="57150" cy="1885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324600" y="1943100"/>
              <a:ext cx="57150" cy="18859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71500" y="4095750"/>
              <a:ext cx="57150" cy="1885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324600" y="4095750"/>
              <a:ext cx="57150" cy="1885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9442" y="22545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平均转化率提升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1060" y="2743200"/>
              <a:ext cx="85938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35%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0204" y="3299460"/>
              <a:ext cx="16437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基于12家已采用客户的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0204" y="3528060"/>
              <a:ext cx="9765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A/B对照数据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22542" y="22545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营销活动上线速度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14160" y="2743200"/>
              <a:ext cx="101620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2.5×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23304" y="32994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从需求到全渠道发布的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23304" y="3528060"/>
              <a:ext cx="14095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中位时间缩减2.5倍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9442" y="44072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人工成本节约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61060" y="4895850"/>
              <a:ext cx="85938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40%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0204" y="54521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自动化替代报表、手调广告组、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70204" y="56807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手动归因等重复劳动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22542" y="44072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投资回收期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14160" y="4895850"/>
              <a:ext cx="148666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≤ 90 天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23304" y="545211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多数客户在第一个完整季度内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23304" y="5680710"/>
              <a:ext cx="9680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实现正向ROI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1714500" y="2343150"/>
              <a:ext cx="666750" cy="285750"/>
            </a:xfrm>
            <a:custGeom>
              <a:avLst/>
              <a:gdLst/>
              <a:ahLst/>
              <a:cxnLst/>
              <a:rect l="l" t="t" r="r" b="b"/>
              <a:pathLst>
                <a:path w="666750" h="285750">
                  <a:moveTo>
                    <a:pt x="0" y="285750"/>
                  </a:moveTo>
                  <a:lnTo>
                    <a:pt x="6667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7467600" y="2343150"/>
              <a:ext cx="666750" cy="285750"/>
            </a:xfrm>
            <a:custGeom>
              <a:avLst/>
              <a:gdLst/>
              <a:ahLst/>
              <a:cxnLst/>
              <a:rect l="l" t="t" r="r" b="b"/>
              <a:pathLst>
                <a:path w="666750" h="285750">
                  <a:moveTo>
                    <a:pt x="0" y="285750"/>
                  </a:moveTo>
                  <a:lnTo>
                    <a:pt x="6667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1714500" y="4495800"/>
              <a:ext cx="666750" cy="285750"/>
            </a:xfrm>
            <a:custGeom>
              <a:avLst/>
              <a:gdLst/>
              <a:ahLst/>
              <a:cxnLst/>
              <a:rect l="l" t="t" r="r" b="b"/>
              <a:pathLst>
                <a:path w="666750" h="285750">
                  <a:moveTo>
                    <a:pt x="0" y="285750"/>
                  </a:moveTo>
                  <a:lnTo>
                    <a:pt x="6667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7696200" y="4495800"/>
              <a:ext cx="666750" cy="285750"/>
            </a:xfrm>
            <a:custGeom>
              <a:avLst/>
              <a:gdLst/>
              <a:ahLst/>
              <a:cxnLst/>
              <a:rect l="l" t="t" r="r" b="b"/>
              <a:pathLst>
                <a:path w="666750" h="285750">
                  <a:moveTo>
                    <a:pt x="0" y="285750"/>
                  </a:moveTo>
                  <a:lnTo>
                    <a:pt x="6667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2266950" y="2095500"/>
              <a:ext cx="419100" cy="4191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2362200" y="2238375"/>
              <a:ext cx="238125" cy="171450"/>
            </a:xfrm>
            <a:custGeom>
              <a:avLst/>
              <a:gdLst/>
              <a:ahLst/>
              <a:cxnLst/>
              <a:rect l="l" t="t" r="r" b="b"/>
              <a:pathLst>
                <a:path w="238125" h="171450">
                  <a:moveTo>
                    <a:pt x="0" y="85725"/>
                  </a:moveTo>
                  <a:lnTo>
                    <a:pt x="85725" y="171450"/>
                  </a:lnTo>
                  <a:lnTo>
                    <a:pt x="238125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</a:ln>
          </p:spPr>
        </p:sp>
        <p:sp>
          <p:nvSpPr>
            <p:cNvPr id="44" name="Ellipse 44"/>
            <p:cNvSpPr/>
            <p:nvPr/>
          </p:nvSpPr>
          <p:spPr>
            <a:xfrm>
              <a:off x="8020050" y="2095500"/>
              <a:ext cx="419100" cy="4191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3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096250" y="236220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8286750" y="2286000"/>
              <a:ext cx="76200" cy="152400"/>
            </a:xfrm>
            <a:custGeom>
              <a:avLst/>
              <a:gdLst/>
              <a:ahLst/>
              <a:cxnLst/>
              <a:rect l="l" t="t" r="r" b="b"/>
              <a:pathLst>
                <a:path w="76200" h="152400">
                  <a:moveTo>
                    <a:pt x="0" y="0"/>
                  </a:moveTo>
                  <a:lnTo>
                    <a:pt x="76200" y="76200"/>
                  </a:lnTo>
                  <a:lnTo>
                    <a:pt x="0" y="15240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  <a:round/>
            </a:ln>
          </p:spPr>
        </p:sp>
        <p:sp>
          <p:nvSpPr>
            <p:cNvPr id="47" name="Ellipse 47"/>
            <p:cNvSpPr/>
            <p:nvPr/>
          </p:nvSpPr>
          <p:spPr>
            <a:xfrm>
              <a:off x="2266950" y="4248150"/>
              <a:ext cx="419100" cy="419100"/>
            </a:xfrm>
            <a:prstGeom prst="ellipse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2343150" y="4343400"/>
              <a:ext cx="247650" cy="209550"/>
            </a:xfrm>
            <a:custGeom>
              <a:avLst/>
              <a:gdLst/>
              <a:ahLst/>
              <a:cxnLst/>
              <a:rect l="l" t="t" r="r" b="b"/>
              <a:pathLst>
                <a:path w="247650" h="209550">
                  <a:moveTo>
                    <a:pt x="0" y="209550"/>
                  </a:moveTo>
                  <a:lnTo>
                    <a:pt x="76200" y="95250"/>
                  </a:lnTo>
                  <a:lnTo>
                    <a:pt x="133350" y="152400"/>
                  </a:lnTo>
                  <a:lnTo>
                    <a:pt x="247650" y="0"/>
                  </a:lnTo>
                </a:path>
              </a:pathLst>
            </a:custGeom>
            <a:noFill/>
            <a:ln w="28575" cap="rnd">
              <a:solidFill>
                <a:schemeClr val="accent1"/>
              </a:solidFill>
              <a:round/>
            </a:ln>
          </p:spPr>
        </p:sp>
        <p:sp>
          <p:nvSpPr>
            <p:cNvPr id="49" name="Ellipse 49"/>
            <p:cNvSpPr/>
            <p:nvPr/>
          </p:nvSpPr>
          <p:spPr>
            <a:xfrm>
              <a:off x="8248650" y="4248150"/>
              <a:ext cx="419100" cy="4191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8324850" y="445770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8458200" y="43243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571500" y="6153150"/>
              <a:ext cx="11049000" cy="323850"/>
            </a:xfrm>
            <a:custGeom>
              <a:avLst/>
              <a:gdLst/>
              <a:ahLst/>
              <a:cxnLst/>
              <a:rect l="l" t="t" r="r" b="b"/>
              <a:pathLst>
                <a:path w="11049000" h="323850">
                  <a:moveTo>
                    <a:pt x="76200" y="0"/>
                  </a:moveTo>
                  <a:lnTo>
                    <a:pt x="10972800" y="0"/>
                  </a:lnTo>
                  <a:cubicBezTo>
                    <a:pt x="11014884" y="0"/>
                    <a:pt x="11049000" y="34116"/>
                    <a:pt x="11049000" y="76200"/>
                  </a:cubicBezTo>
                  <a:lnTo>
                    <a:pt x="11049000" y="247650"/>
                  </a:lnTo>
                  <a:cubicBezTo>
                    <a:pt x="11049000" y="289734"/>
                    <a:pt x="11014884" y="323850"/>
                    <a:pt x="1097280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899745" y="6233160"/>
              <a:ext cx="63925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结论：增长、效率、成本与回收期四项指标同时改善，适合管理层按季度追踪ROI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9472003" y="1682591"/>
            <a:ext cx="1353160" cy="2295525"/>
            <a:chOff x="9472003" y="1682591"/>
            <a:chExt cx="1353160" cy="2295525"/>
          </a:xfrm>
        </p:grpSpPr>
        <p:sp>
          <p:nvSpPr>
            <p:cNvPr id="55" name="TextBox 55"/>
            <p:cNvSpPr txBox="1"/>
            <p:nvPr/>
          </p:nvSpPr>
          <p:spPr>
            <a:xfrm>
              <a:off x="10293439" y="1682591"/>
              <a:ext cx="5317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4 SIGNALS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72003" y="3816191"/>
              <a:ext cx="13531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EARLY DEPLOYMENT DATA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6153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8191500" y="1428750"/>
              <a:ext cx="9525" cy="4457700"/>
            </a:xfrm>
            <a:custGeom>
              <a:avLst/>
              <a:gdLst/>
              <a:ahLst/>
              <a:cxnLst/>
              <a:rect l="l" t="t" r="r" b="b"/>
              <a:pathLst>
                <a:path w="9525" h="4457700">
                  <a:moveTo>
                    <a:pt x="0" y="0"/>
                  </a:moveTo>
                  <a:lnTo>
                    <a:pt x="0" y="44577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57784" y="286702"/>
            <a:ext cx="11048429" cy="6272689"/>
            <a:chOff x="557784" y="286702"/>
            <a:chExt cx="11048429" cy="6272689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286702"/>
              <a:ext cx="916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SPREADMAP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584835"/>
              <a:ext cx="44631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各模块对效率的贡献权重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738" y="6397466"/>
              <a:ext cx="160545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价值路径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74520" y="6397466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63880" y="1304925"/>
            <a:ext cx="11056620" cy="4524375"/>
            <a:chOff x="563880" y="1304925"/>
            <a:chExt cx="11056620" cy="4524375"/>
          </a:xfrm>
        </p:grpSpPr>
        <p:sp>
          <p:nvSpPr>
            <p:cNvPr id="13" name="TextBox 13"/>
            <p:cNvSpPr txBox="1"/>
            <p:nvPr/>
          </p:nvSpPr>
          <p:spPr>
            <a:xfrm>
              <a:off x="563880" y="1304925"/>
              <a:ext cx="53172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AI分析环节贡献最大效率增益，数据整合是基础使能器，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3880" y="157162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自动化执行与效果度量将价值固化。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71500" y="1905000"/>
              <a:ext cx="7239000" cy="3810000"/>
            </a:xfrm>
            <a:custGeom>
              <a:avLst/>
              <a:gdLst/>
              <a:ahLst/>
              <a:cxnLst/>
              <a:rect l="l" t="t" r="r" b="b"/>
              <a:pathLst>
                <a:path w="7239000" h="3810000">
                  <a:moveTo>
                    <a:pt x="133350" y="0"/>
                  </a:moveTo>
                  <a:lnTo>
                    <a:pt x="7105650" y="0"/>
                  </a:lnTo>
                  <a:cubicBezTo>
                    <a:pt x="7179297" y="0"/>
                    <a:pt x="7239000" y="59703"/>
                    <a:pt x="7239000" y="133350"/>
                  </a:cubicBezTo>
                  <a:lnTo>
                    <a:pt x="7239000" y="3676650"/>
                  </a:lnTo>
                  <a:cubicBezTo>
                    <a:pt x="7239000" y="3750297"/>
                    <a:pt x="7179297" y="3810000"/>
                    <a:pt x="7105650" y="3810000"/>
                  </a:cubicBezTo>
                  <a:lnTo>
                    <a:pt x="133350" y="3810000"/>
                  </a:lnTo>
                  <a:cubicBezTo>
                    <a:pt x="59703" y="3810000"/>
                    <a:pt x="0" y="3750297"/>
                    <a:pt x="0" y="3676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1916" y="20964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效率贡献指数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1238250" y="5238750"/>
              <a:ext cx="6000750" cy="9525"/>
            </a:xfrm>
            <a:custGeom>
              <a:avLst/>
              <a:gdLst/>
              <a:ahLst/>
              <a:cxnLst/>
              <a:rect l="l" t="t" r="r" b="b"/>
              <a:pathLst>
                <a:path w="6000750" h="9525">
                  <a:moveTo>
                    <a:pt x="0" y="0"/>
                  </a:moveTo>
                  <a:lnTo>
                    <a:pt x="600075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238250" y="2571750"/>
              <a:ext cx="9525" cy="2667000"/>
            </a:xfrm>
            <a:custGeom>
              <a:avLst/>
              <a:gdLst/>
              <a:ahLst/>
              <a:cxnLst/>
              <a:rect l="l" t="t" r="r" b="b"/>
              <a:pathLst>
                <a:path w="9525" h="2667000">
                  <a:moveTo>
                    <a:pt x="0" y="0"/>
                  </a:moveTo>
                  <a:lnTo>
                    <a:pt x="0" y="26670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238250" y="4705350"/>
              <a:ext cx="6000750" cy="9525"/>
            </a:xfrm>
            <a:custGeom>
              <a:avLst/>
              <a:gdLst/>
              <a:ahLst/>
              <a:cxnLst/>
              <a:rect l="l" t="t" r="r" b="b"/>
              <a:pathLst>
                <a:path w="6000750" h="9525">
                  <a:moveTo>
                    <a:pt x="0" y="0"/>
                  </a:moveTo>
                  <a:lnTo>
                    <a:pt x="60007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238250" y="4171950"/>
              <a:ext cx="6000750" cy="9525"/>
            </a:xfrm>
            <a:custGeom>
              <a:avLst/>
              <a:gdLst/>
              <a:ahLst/>
              <a:cxnLst/>
              <a:rect l="l" t="t" r="r" b="b"/>
              <a:pathLst>
                <a:path w="6000750" h="9525">
                  <a:moveTo>
                    <a:pt x="0" y="0"/>
                  </a:moveTo>
                  <a:lnTo>
                    <a:pt x="60007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238250" y="3638550"/>
              <a:ext cx="6000750" cy="9525"/>
            </a:xfrm>
            <a:custGeom>
              <a:avLst/>
              <a:gdLst/>
              <a:ahLst/>
              <a:cxnLst/>
              <a:rect l="l" t="t" r="r" b="b"/>
              <a:pathLst>
                <a:path w="6000750" h="9525">
                  <a:moveTo>
                    <a:pt x="0" y="0"/>
                  </a:moveTo>
                  <a:lnTo>
                    <a:pt x="60007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238250" y="3105150"/>
              <a:ext cx="6000750" cy="9525"/>
            </a:xfrm>
            <a:custGeom>
              <a:avLst/>
              <a:gdLst/>
              <a:ahLst/>
              <a:cxnLst/>
              <a:rect l="l" t="t" r="r" b="b"/>
              <a:pathLst>
                <a:path w="6000750" h="9525">
                  <a:moveTo>
                    <a:pt x="0" y="0"/>
                  </a:moveTo>
                  <a:lnTo>
                    <a:pt x="60007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238250" y="2571750"/>
              <a:ext cx="6000750" cy="9525"/>
            </a:xfrm>
            <a:custGeom>
              <a:avLst/>
              <a:gdLst/>
              <a:ahLst/>
              <a:cxnLst/>
              <a:rect l="l" t="t" r="r" b="b"/>
              <a:pathLst>
                <a:path w="6000750" h="9525">
                  <a:moveTo>
                    <a:pt x="0" y="0"/>
                  </a:moveTo>
                  <a:lnTo>
                    <a:pt x="60007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52551" y="51892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5914" y="465582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20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5914" y="412242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40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5914" y="358902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60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5914" y="305562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80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19277" y="2522220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100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1714500" y="2895600"/>
              <a:ext cx="914400" cy="2343150"/>
            </a:xfrm>
            <a:custGeom>
              <a:avLst/>
              <a:gdLst/>
              <a:ahLst/>
              <a:cxnLst/>
              <a:rect l="l" t="t" r="r" b="b"/>
              <a:pathLst>
                <a:path w="914400" h="2343150">
                  <a:moveTo>
                    <a:pt x="95250" y="0"/>
                  </a:moveTo>
                  <a:lnTo>
                    <a:pt x="819150" y="0"/>
                  </a:lnTo>
                  <a:cubicBezTo>
                    <a:pt x="871755" y="0"/>
                    <a:pt x="914400" y="42645"/>
                    <a:pt x="914400" y="95250"/>
                  </a:cubicBezTo>
                  <a:lnTo>
                    <a:pt x="914400" y="2247900"/>
                  </a:lnTo>
                  <a:cubicBezTo>
                    <a:pt x="914400" y="2300505"/>
                    <a:pt x="871755" y="2343150"/>
                    <a:pt x="819150" y="2343150"/>
                  </a:cubicBezTo>
                  <a:lnTo>
                    <a:pt x="95250" y="2343150"/>
                  </a:lnTo>
                  <a:cubicBezTo>
                    <a:pt x="42645" y="2343150"/>
                    <a:pt x="0" y="2300505"/>
                    <a:pt x="0" y="22479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3">
                <a:alpha val="28000"/>
              </a:schemeClr>
            </a:solidFill>
            <a:ln w="14288">
              <a:solidFill>
                <a:schemeClr val="accent2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3048000" y="3267075"/>
              <a:ext cx="914400" cy="1971675"/>
            </a:xfrm>
            <a:custGeom>
              <a:avLst/>
              <a:gdLst/>
              <a:ahLst/>
              <a:cxnLst/>
              <a:rect l="l" t="t" r="r" b="b"/>
              <a:pathLst>
                <a:path w="914400" h="1971675">
                  <a:moveTo>
                    <a:pt x="95250" y="0"/>
                  </a:moveTo>
                  <a:lnTo>
                    <a:pt x="819150" y="0"/>
                  </a:lnTo>
                  <a:cubicBezTo>
                    <a:pt x="871755" y="0"/>
                    <a:pt x="914400" y="42645"/>
                    <a:pt x="914400" y="95250"/>
                  </a:cubicBezTo>
                  <a:lnTo>
                    <a:pt x="914400" y="1876425"/>
                  </a:lnTo>
                  <a:cubicBezTo>
                    <a:pt x="914400" y="1929030"/>
                    <a:pt x="871755" y="1971675"/>
                    <a:pt x="819150" y="1971675"/>
                  </a:cubicBezTo>
                  <a:lnTo>
                    <a:pt x="95250" y="1971675"/>
                  </a:lnTo>
                  <a:cubicBezTo>
                    <a:pt x="42645" y="1971675"/>
                    <a:pt x="0" y="1929030"/>
                    <a:pt x="0" y="1876425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2">
                <a:alpha val="92000"/>
              </a:schemeClr>
            </a:solidFill>
            <a:ln w="14288">
              <a:solidFill>
                <a:schemeClr val="accent2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4381500" y="3638550"/>
              <a:ext cx="914400" cy="1600200"/>
            </a:xfrm>
            <a:custGeom>
              <a:avLst/>
              <a:gdLst/>
              <a:ahLst/>
              <a:cxnLst/>
              <a:rect l="l" t="t" r="r" b="b"/>
              <a:pathLst>
                <a:path w="914400" h="1600200">
                  <a:moveTo>
                    <a:pt x="95250" y="0"/>
                  </a:moveTo>
                  <a:lnTo>
                    <a:pt x="819150" y="0"/>
                  </a:lnTo>
                  <a:cubicBezTo>
                    <a:pt x="871755" y="0"/>
                    <a:pt x="914400" y="42645"/>
                    <a:pt x="914400" y="95250"/>
                  </a:cubicBezTo>
                  <a:lnTo>
                    <a:pt x="914400" y="1504950"/>
                  </a:lnTo>
                  <a:cubicBezTo>
                    <a:pt x="914400" y="1557555"/>
                    <a:pt x="871755" y="1600200"/>
                    <a:pt x="819150" y="1600200"/>
                  </a:cubicBezTo>
                  <a:lnTo>
                    <a:pt x="95250" y="1600200"/>
                  </a:lnTo>
                  <a:cubicBezTo>
                    <a:pt x="42645" y="1600200"/>
                    <a:pt x="0" y="1557555"/>
                    <a:pt x="0" y="1504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3">
                <a:alpha val="55000"/>
              </a:schemeClr>
            </a:solidFill>
            <a:ln w="14288">
              <a:solidFill>
                <a:schemeClr val="accent2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5715000" y="4010025"/>
              <a:ext cx="914400" cy="1228725"/>
            </a:xfrm>
            <a:custGeom>
              <a:avLst/>
              <a:gdLst/>
              <a:ahLst/>
              <a:cxnLst/>
              <a:rect l="l" t="t" r="r" b="b"/>
              <a:pathLst>
                <a:path w="914400" h="1228725">
                  <a:moveTo>
                    <a:pt x="95250" y="0"/>
                  </a:moveTo>
                  <a:lnTo>
                    <a:pt x="819150" y="0"/>
                  </a:lnTo>
                  <a:cubicBezTo>
                    <a:pt x="871755" y="0"/>
                    <a:pt x="914400" y="42645"/>
                    <a:pt x="914400" y="95250"/>
                  </a:cubicBezTo>
                  <a:lnTo>
                    <a:pt x="914400" y="1133475"/>
                  </a:lnTo>
                  <a:cubicBezTo>
                    <a:pt x="914400" y="1186080"/>
                    <a:pt x="871755" y="1228725"/>
                    <a:pt x="819150" y="1228725"/>
                  </a:cubicBezTo>
                  <a:lnTo>
                    <a:pt x="95250" y="1228725"/>
                  </a:lnTo>
                  <a:cubicBezTo>
                    <a:pt x="42645" y="1228725"/>
                    <a:pt x="0" y="1186080"/>
                    <a:pt x="0" y="1133475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3">
                <a:alpha val="28000"/>
              </a:schemeClr>
            </a:solidFill>
            <a:ln w="14288">
              <a:solidFill>
                <a:schemeClr val="accent2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2171700" y="27051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762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5" name="Line 35"/>
            <p:cNvSpPr/>
            <p:nvPr/>
          </p:nvSpPr>
          <p:spPr>
            <a:xfrm flipV="1">
              <a:off x="3505200" y="2781300"/>
              <a:ext cx="1" cy="37147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6" name="Line 36"/>
            <p:cNvSpPr/>
            <p:nvPr/>
          </p:nvSpPr>
          <p:spPr>
            <a:xfrm>
              <a:off x="4838700" y="33528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1714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6172200" y="3752850"/>
              <a:ext cx="9525" cy="142875"/>
            </a:xfrm>
            <a:custGeom>
              <a:avLst/>
              <a:gdLst/>
              <a:ahLst/>
              <a:cxnLst/>
              <a:rect l="l" t="t" r="r" b="b"/>
              <a:pathLst>
                <a:path w="9525" h="142875">
                  <a:moveTo>
                    <a:pt x="0" y="14287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3333750" y="2562225"/>
              <a:ext cx="342900" cy="3429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442895" y="264509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988530" y="2554605"/>
              <a:ext cx="36633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88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243529" y="2771775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74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655530" y="3297555"/>
              <a:ext cx="36633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60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989030" y="3669030"/>
              <a:ext cx="36633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46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783194" y="53692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211026" y="5369242"/>
              <a:ext cx="588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AI分析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354782" y="5369242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783694" y="53692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131733" y="5636895"/>
              <a:ext cx="79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A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465233" y="5636895"/>
              <a:ext cx="79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B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798733" y="5636895"/>
              <a:ext cx="79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C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132233" y="5636895"/>
              <a:ext cx="79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D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2171700" y="2171700"/>
              <a:ext cx="1333500" cy="571500"/>
            </a:xfrm>
            <a:custGeom>
              <a:avLst/>
              <a:gdLst/>
              <a:ahLst/>
              <a:cxnLst/>
              <a:rect l="l" t="t" r="r" b="b"/>
              <a:pathLst>
                <a:path w="1333500" h="571500">
                  <a:moveTo>
                    <a:pt x="0" y="571500"/>
                  </a:moveTo>
                  <a:cubicBezTo>
                    <a:pt x="400050" y="209550"/>
                    <a:pt x="923925" y="0"/>
                    <a:pt x="1333500" y="561975"/>
                  </a:cubicBezTo>
                </a:path>
              </a:pathLst>
            </a:custGeom>
            <a:noFill/>
            <a:ln w="28575" cap="rnd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53" name="Freeform 53"/>
            <p:cNvSpPr/>
            <p:nvPr/>
          </p:nvSpPr>
          <p:spPr>
            <a:xfrm>
              <a:off x="3505200" y="2752725"/>
              <a:ext cx="1333500" cy="752475"/>
            </a:xfrm>
            <a:custGeom>
              <a:avLst/>
              <a:gdLst/>
              <a:ahLst/>
              <a:cxnLst/>
              <a:rect l="l" t="t" r="r" b="b"/>
              <a:pathLst>
                <a:path w="1333500" h="752475">
                  <a:moveTo>
                    <a:pt x="0" y="0"/>
                  </a:moveTo>
                  <a:cubicBezTo>
                    <a:pt x="447675" y="276225"/>
                    <a:pt x="952500" y="390525"/>
                    <a:pt x="1333500" y="752475"/>
                  </a:cubicBezTo>
                </a:path>
              </a:pathLst>
            </a:custGeom>
            <a:noFill/>
            <a:ln w="23812" cap="rnd">
              <a:solidFill>
                <a:schemeClr val="accent3">
                  <a:alpha val="95000"/>
                </a:schemeClr>
              </a:solidFill>
              <a:tailEnd type="triangle" w="lg" len="lg"/>
            </a:ln>
          </p:spPr>
        </p:sp>
        <p:sp>
          <p:nvSpPr>
            <p:cNvPr id="54" name="Freeform 54"/>
            <p:cNvSpPr/>
            <p:nvPr/>
          </p:nvSpPr>
          <p:spPr>
            <a:xfrm>
              <a:off x="4838700" y="3524250"/>
              <a:ext cx="1333500" cy="352425"/>
            </a:xfrm>
            <a:custGeom>
              <a:avLst/>
              <a:gdLst/>
              <a:ahLst/>
              <a:cxnLst/>
              <a:rect l="l" t="t" r="r" b="b"/>
              <a:pathLst>
                <a:path w="1333500" h="352425">
                  <a:moveTo>
                    <a:pt x="0" y="0"/>
                  </a:moveTo>
                  <a:cubicBezTo>
                    <a:pt x="457200" y="171450"/>
                    <a:pt x="923925" y="247650"/>
                    <a:pt x="1333500" y="352425"/>
                  </a:cubicBezTo>
                </a:path>
              </a:pathLst>
            </a:custGeom>
            <a:noFill/>
            <a:ln w="23812" cap="rnd">
              <a:solidFill>
                <a:schemeClr val="accent3">
                  <a:alpha val="80000"/>
                </a:schemeClr>
              </a:solidFill>
              <a:tailEnd type="triangle" w="lg" len="lg"/>
            </a:ln>
          </p:spPr>
        </p:sp>
        <p:sp>
          <p:nvSpPr>
            <p:cNvPr id="55" name="Freeform 55"/>
            <p:cNvSpPr/>
            <p:nvPr/>
          </p:nvSpPr>
          <p:spPr>
            <a:xfrm>
              <a:off x="8458200" y="1790700"/>
              <a:ext cx="3162300" cy="895350"/>
            </a:xfrm>
            <a:custGeom>
              <a:avLst/>
              <a:gdLst/>
              <a:ahLst/>
              <a:cxnLst/>
              <a:rect l="l" t="t" r="r" b="b"/>
              <a:pathLst>
                <a:path w="3162300" h="895350">
                  <a:moveTo>
                    <a:pt x="114300" y="0"/>
                  </a:moveTo>
                  <a:lnTo>
                    <a:pt x="3048000" y="0"/>
                  </a:lnTo>
                  <a:cubicBezTo>
                    <a:pt x="3111126" y="0"/>
                    <a:pt x="3162300" y="51174"/>
                    <a:pt x="3162300" y="114300"/>
                  </a:cubicBezTo>
                  <a:lnTo>
                    <a:pt x="3162300" y="781050"/>
                  </a:lnTo>
                  <a:cubicBezTo>
                    <a:pt x="3162300" y="844176"/>
                    <a:pt x="3111126" y="895350"/>
                    <a:pt x="3048000" y="895350"/>
                  </a:cubicBezTo>
                  <a:lnTo>
                    <a:pt x="114300" y="895350"/>
                  </a:lnTo>
                  <a:cubicBezTo>
                    <a:pt x="51174" y="895350"/>
                    <a:pt x="0" y="844176"/>
                    <a:pt x="0" y="7810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8629650" y="1962150"/>
              <a:ext cx="190500" cy="1905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683173" y="20078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927592" y="1940242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数据整合 · 88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929116" y="2220278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统一数据底座，显著减少准备时间，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929116" y="241077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为模型提供高质量输入。</a:t>
              </a:r>
            </a:p>
          </p:txBody>
        </p:sp>
        <p:sp>
          <p:nvSpPr>
            <p:cNvPr id="61" name="Freeform 61"/>
            <p:cNvSpPr/>
            <p:nvPr/>
          </p:nvSpPr>
          <p:spPr>
            <a:xfrm>
              <a:off x="8458200" y="2838450"/>
              <a:ext cx="3162300" cy="895350"/>
            </a:xfrm>
            <a:custGeom>
              <a:avLst/>
              <a:gdLst/>
              <a:ahLst/>
              <a:cxnLst/>
              <a:rect l="l" t="t" r="r" b="b"/>
              <a:pathLst>
                <a:path w="3162300" h="895350">
                  <a:moveTo>
                    <a:pt x="114300" y="0"/>
                  </a:moveTo>
                  <a:lnTo>
                    <a:pt x="3048000" y="0"/>
                  </a:lnTo>
                  <a:cubicBezTo>
                    <a:pt x="3111126" y="0"/>
                    <a:pt x="3162300" y="51174"/>
                    <a:pt x="3162300" y="114300"/>
                  </a:cubicBezTo>
                  <a:lnTo>
                    <a:pt x="3162300" y="781050"/>
                  </a:lnTo>
                  <a:cubicBezTo>
                    <a:pt x="3162300" y="844176"/>
                    <a:pt x="3111126" y="895350"/>
                    <a:pt x="3048000" y="895350"/>
                  </a:cubicBezTo>
                  <a:lnTo>
                    <a:pt x="114300" y="895350"/>
                  </a:lnTo>
                  <a:cubicBezTo>
                    <a:pt x="51174" y="895350"/>
                    <a:pt x="0" y="844176"/>
                    <a:pt x="0" y="7810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 w="17145">
              <a:solidFill>
                <a:schemeClr val="accent2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8629650" y="3009900"/>
              <a:ext cx="190500" cy="190500"/>
            </a:xfrm>
            <a:prstGeom prst="ellipse">
              <a:avLst/>
            </a:prstGeom>
            <a:solidFill>
              <a:schemeClr val="accen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683173" y="305562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927592" y="2987992"/>
              <a:ext cx="10420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AI分析 · 74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929116" y="3268028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预测模型与推荐引擎替代人工分析，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929116" y="345852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带来最大决策效率提升。</a:t>
              </a:r>
            </a:p>
          </p:txBody>
        </p:sp>
        <p:sp>
          <p:nvSpPr>
            <p:cNvPr id="67" name="Freeform 67"/>
            <p:cNvSpPr/>
            <p:nvPr/>
          </p:nvSpPr>
          <p:spPr>
            <a:xfrm>
              <a:off x="8458200" y="3886200"/>
              <a:ext cx="3162300" cy="895350"/>
            </a:xfrm>
            <a:custGeom>
              <a:avLst/>
              <a:gdLst/>
              <a:ahLst/>
              <a:cxnLst/>
              <a:rect l="l" t="t" r="r" b="b"/>
              <a:pathLst>
                <a:path w="3162300" h="895350">
                  <a:moveTo>
                    <a:pt x="114300" y="0"/>
                  </a:moveTo>
                  <a:lnTo>
                    <a:pt x="3048000" y="0"/>
                  </a:lnTo>
                  <a:cubicBezTo>
                    <a:pt x="3111126" y="0"/>
                    <a:pt x="3162300" y="51174"/>
                    <a:pt x="3162300" y="114300"/>
                  </a:cubicBezTo>
                  <a:lnTo>
                    <a:pt x="3162300" y="781050"/>
                  </a:lnTo>
                  <a:cubicBezTo>
                    <a:pt x="3162300" y="844176"/>
                    <a:pt x="3111126" y="895350"/>
                    <a:pt x="3048000" y="895350"/>
                  </a:cubicBezTo>
                  <a:lnTo>
                    <a:pt x="114300" y="895350"/>
                  </a:lnTo>
                  <a:cubicBezTo>
                    <a:pt x="51174" y="895350"/>
                    <a:pt x="0" y="844176"/>
                    <a:pt x="0" y="7810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8629650" y="4057650"/>
              <a:ext cx="190500" cy="1905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683173" y="41033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927592" y="4035742"/>
              <a:ext cx="13971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自动化执行 · 60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929116" y="4315778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缩短策略到投放的延迟，降低人工错误，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929116" y="45062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提升响应速度。</a:t>
              </a:r>
            </a:p>
          </p:txBody>
        </p:sp>
        <p:sp>
          <p:nvSpPr>
            <p:cNvPr id="73" name="Freeform 73"/>
            <p:cNvSpPr/>
            <p:nvPr/>
          </p:nvSpPr>
          <p:spPr>
            <a:xfrm>
              <a:off x="8458200" y="4933950"/>
              <a:ext cx="3162300" cy="895350"/>
            </a:xfrm>
            <a:custGeom>
              <a:avLst/>
              <a:gdLst/>
              <a:ahLst/>
              <a:cxnLst/>
              <a:rect l="l" t="t" r="r" b="b"/>
              <a:pathLst>
                <a:path w="3162300" h="895350">
                  <a:moveTo>
                    <a:pt x="114300" y="0"/>
                  </a:moveTo>
                  <a:lnTo>
                    <a:pt x="3048000" y="0"/>
                  </a:lnTo>
                  <a:cubicBezTo>
                    <a:pt x="3111126" y="0"/>
                    <a:pt x="3162300" y="51174"/>
                    <a:pt x="3162300" y="114300"/>
                  </a:cubicBezTo>
                  <a:lnTo>
                    <a:pt x="3162300" y="781050"/>
                  </a:lnTo>
                  <a:cubicBezTo>
                    <a:pt x="3162300" y="844176"/>
                    <a:pt x="3111126" y="895350"/>
                    <a:pt x="3048000" y="895350"/>
                  </a:cubicBezTo>
                  <a:lnTo>
                    <a:pt x="114300" y="895350"/>
                  </a:lnTo>
                  <a:cubicBezTo>
                    <a:pt x="51174" y="895350"/>
                    <a:pt x="0" y="844176"/>
                    <a:pt x="0" y="7810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8629650" y="5105400"/>
              <a:ext cx="190500" cy="1905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683173" y="515112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D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927592" y="5083492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效果度量 · 46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929116" y="536352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实时归因与预算优化，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929116" y="5554028"/>
              <a:ext cx="20866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将前端产出沉淀为可追踪 ROI。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71500" y="5924550"/>
            <a:ext cx="7239000" cy="202882"/>
            <a:chOff x="571500" y="5924550"/>
            <a:chExt cx="7239000" cy="202882"/>
          </a:xfrm>
        </p:grpSpPr>
        <p:sp>
          <p:nvSpPr>
            <p:cNvPr id="80" name="Freeform 80"/>
            <p:cNvSpPr/>
            <p:nvPr/>
          </p:nvSpPr>
          <p:spPr>
            <a:xfrm>
              <a:off x="571500" y="5924550"/>
              <a:ext cx="7239000" cy="171450"/>
            </a:xfrm>
            <a:custGeom>
              <a:avLst/>
              <a:gdLst/>
              <a:ahLst/>
              <a:cxnLst/>
              <a:rect l="l" t="t" r="r" b="b"/>
              <a:pathLst>
                <a:path w="7239000" h="171450">
                  <a:moveTo>
                    <a:pt x="85725" y="0"/>
                  </a:moveTo>
                  <a:lnTo>
                    <a:pt x="7153275" y="0"/>
                  </a:lnTo>
                  <a:cubicBezTo>
                    <a:pt x="7200620" y="0"/>
                    <a:pt x="7239000" y="38380"/>
                    <a:pt x="7239000" y="85725"/>
                  </a:cubicBezTo>
                  <a:lnTo>
                    <a:pt x="7239000" y="85725"/>
                  </a:lnTo>
                  <a:cubicBezTo>
                    <a:pt x="7239000" y="133070"/>
                    <a:pt x="7200620" y="171450"/>
                    <a:pt x="7153275" y="171450"/>
                  </a:cubicBezTo>
                  <a:lnTo>
                    <a:pt x="85725" y="171450"/>
                  </a:lnTo>
                  <a:cubicBezTo>
                    <a:pt x="38380" y="171450"/>
                    <a:pt x="0" y="133070"/>
                    <a:pt x="0" y="85725"/>
                  </a:cubicBezTo>
                  <a:lnTo>
                    <a:pt x="0" y="85725"/>
                  </a:lnTo>
                  <a:cubicBezTo>
                    <a:pt x="0" y="38380"/>
                    <a:pt x="38380" y="0"/>
                    <a:pt x="857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3007976" y="5951220"/>
              <a:ext cx="23660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基础使能 → 智能决策 → 自动落地 → 闭环优化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-1333500"/>
            <a:ext cx="12763500" cy="9239250"/>
            <a:chOff x="0" y="-1333500"/>
            <a:chExt cx="12763500" cy="9239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7429500" y="-1333500"/>
              <a:ext cx="4953000" cy="495300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572500" y="3714750"/>
              <a:ext cx="4191000" cy="4191000"/>
            </a:xfrm>
            <a:prstGeom prst="ellipse">
              <a:avLst/>
            </a:prstGeom>
            <a:solidFill>
              <a:schemeClr val="accent3">
                <a:alpha val="6000"/>
              </a:schemeClr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1295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6191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57784" y="629602"/>
            <a:ext cx="10972229" cy="5958364"/>
            <a:chOff x="557784" y="629602"/>
            <a:chExt cx="10972229" cy="5958364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629602"/>
              <a:ext cx="6063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推进序列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832485"/>
              <a:ext cx="44631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下一步：两阶段启动建议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738" y="642604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98320" y="64260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63880" y="1609725"/>
            <a:ext cx="10866120" cy="4391025"/>
            <a:chOff x="563880" y="1609725"/>
            <a:chExt cx="10866120" cy="4391025"/>
          </a:xfrm>
        </p:grpSpPr>
        <p:sp>
          <p:nvSpPr>
            <p:cNvPr id="13" name="TextBox 13"/>
            <p:cNvSpPr txBox="1"/>
            <p:nvPr/>
          </p:nvSpPr>
          <p:spPr>
            <a:xfrm>
              <a:off x="563880" y="160972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建议按两阶段推进，控制初期风险并快速验证价值，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3880" y="18764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为全面推广提供决策依据。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762000" y="2647950"/>
              <a:ext cx="10668000" cy="95250"/>
            </a:xfrm>
            <a:custGeom>
              <a:avLst/>
              <a:gdLst/>
              <a:ahLst/>
              <a:cxnLst/>
              <a:rect l="l" t="t" r="r" b="b"/>
              <a:pathLst>
                <a:path w="10668000" h="95250">
                  <a:moveTo>
                    <a:pt x="47625" y="0"/>
                  </a:moveTo>
                  <a:lnTo>
                    <a:pt x="10620375" y="0"/>
                  </a:lnTo>
                  <a:cubicBezTo>
                    <a:pt x="10646678" y="0"/>
                    <a:pt x="10668000" y="21322"/>
                    <a:pt x="10668000" y="47625"/>
                  </a:cubicBezTo>
                  <a:lnTo>
                    <a:pt x="10668000" y="47625"/>
                  </a:lnTo>
                  <a:cubicBezTo>
                    <a:pt x="10668000" y="73928"/>
                    <a:pt x="10646678" y="95250"/>
                    <a:pt x="10620375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2476500" y="2695575"/>
              <a:ext cx="2971800" cy="1"/>
            </a:xfrm>
            <a:prstGeom prst="line">
              <a:avLst/>
            </a:prstGeom>
            <a:noFill/>
            <a:ln w="57150" cap="rnd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7" name="Line 17"/>
            <p:cNvSpPr/>
            <p:nvPr/>
          </p:nvSpPr>
          <p:spPr>
            <a:xfrm>
              <a:off x="6743700" y="2695575"/>
              <a:ext cx="2971800" cy="1"/>
            </a:xfrm>
            <a:prstGeom prst="line">
              <a:avLst/>
            </a:prstGeom>
            <a:noFill/>
            <a:ln w="57150" cap="rnd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8" name="Ellipse 18"/>
            <p:cNvSpPr/>
            <p:nvPr/>
          </p:nvSpPr>
          <p:spPr>
            <a:xfrm>
              <a:off x="1504950" y="2486025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645272" y="26003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886450" y="2486025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26772" y="26003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10267950" y="2486025"/>
              <a:ext cx="419100" cy="419100"/>
            </a:xfrm>
            <a:prstGeom prst="ellipse">
              <a:avLst/>
            </a:prstGeom>
            <a:solidFill>
              <a:srgbClr val="2F855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408272" y="26003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857250" y="3143250"/>
              <a:ext cx="4095750" cy="2286000"/>
            </a:xfrm>
            <a:custGeom>
              <a:avLst/>
              <a:gdLst/>
              <a:ahLst/>
              <a:cxnLst/>
              <a:rect l="l" t="t" r="r" b="b"/>
              <a:pathLst>
                <a:path w="4095750" h="2286000">
                  <a:moveTo>
                    <a:pt x="114300" y="0"/>
                  </a:moveTo>
                  <a:lnTo>
                    <a:pt x="3981450" y="0"/>
                  </a:lnTo>
                  <a:cubicBezTo>
                    <a:pt x="4044576" y="0"/>
                    <a:pt x="4095750" y="51174"/>
                    <a:pt x="4095750" y="114300"/>
                  </a:cubicBezTo>
                  <a:lnTo>
                    <a:pt x="4095750" y="2171700"/>
                  </a:lnTo>
                  <a:cubicBezTo>
                    <a:pt x="4095750" y="2234826"/>
                    <a:pt x="4044576" y="2286000"/>
                    <a:pt x="3981450" y="2286000"/>
                  </a:cubicBezTo>
                  <a:lnTo>
                    <a:pt x="114300" y="2286000"/>
                  </a:lnTo>
                  <a:cubicBezTo>
                    <a:pt x="51174" y="2286000"/>
                    <a:pt x="0" y="2234826"/>
                    <a:pt x="0" y="2171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5238750" y="3143250"/>
              <a:ext cx="4095750" cy="2286000"/>
            </a:xfrm>
            <a:custGeom>
              <a:avLst/>
              <a:gdLst/>
              <a:ahLst/>
              <a:cxnLst/>
              <a:rect l="l" t="t" r="r" b="b"/>
              <a:pathLst>
                <a:path w="4095750" h="2286000">
                  <a:moveTo>
                    <a:pt x="114300" y="0"/>
                  </a:moveTo>
                  <a:lnTo>
                    <a:pt x="3981450" y="0"/>
                  </a:lnTo>
                  <a:cubicBezTo>
                    <a:pt x="4044576" y="0"/>
                    <a:pt x="4095750" y="51174"/>
                    <a:pt x="4095750" y="114300"/>
                  </a:cubicBezTo>
                  <a:lnTo>
                    <a:pt x="4095750" y="2171700"/>
                  </a:lnTo>
                  <a:cubicBezTo>
                    <a:pt x="4095750" y="2234826"/>
                    <a:pt x="4044576" y="2286000"/>
                    <a:pt x="3981450" y="2286000"/>
                  </a:cubicBezTo>
                  <a:lnTo>
                    <a:pt x="114300" y="2286000"/>
                  </a:lnTo>
                  <a:cubicBezTo>
                    <a:pt x="51174" y="2286000"/>
                    <a:pt x="0" y="2234826"/>
                    <a:pt x="0" y="2171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9620250" y="3143250"/>
              <a:ext cx="1714500" cy="2286000"/>
            </a:xfrm>
            <a:custGeom>
              <a:avLst/>
              <a:gdLst/>
              <a:ahLst/>
              <a:cxnLst/>
              <a:rect l="l" t="t" r="r" b="b"/>
              <a:pathLst>
                <a:path w="1714500" h="2286000">
                  <a:moveTo>
                    <a:pt x="114300" y="0"/>
                  </a:moveTo>
                  <a:lnTo>
                    <a:pt x="1600200" y="0"/>
                  </a:lnTo>
                  <a:cubicBezTo>
                    <a:pt x="1663326" y="0"/>
                    <a:pt x="1714500" y="51174"/>
                    <a:pt x="1714500" y="114300"/>
                  </a:cubicBezTo>
                  <a:lnTo>
                    <a:pt x="1714500" y="2171700"/>
                  </a:lnTo>
                  <a:cubicBezTo>
                    <a:pt x="1714500" y="2234826"/>
                    <a:pt x="1663326" y="2286000"/>
                    <a:pt x="1600200" y="2286000"/>
                  </a:cubicBezTo>
                  <a:lnTo>
                    <a:pt x="114300" y="2286000"/>
                  </a:lnTo>
                  <a:cubicBezTo>
                    <a:pt x="51174" y="2286000"/>
                    <a:pt x="0" y="2234826"/>
                    <a:pt x="0" y="2171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18616" y="342995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阶段一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4044" y="3675698"/>
              <a:ext cx="17235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6 周概念验证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6330" y="41052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选择一个核心渠道与业务单元，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6330" y="4391025"/>
              <a:ext cx="33116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完成数据接入与基础 AI 模型配置，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16330" y="4676775"/>
              <a:ext cx="26706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 6 周内形成首个归因闭环，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6330" y="4962525"/>
              <a:ext cx="17007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并展示初步 ROI。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1123950" y="5000625"/>
              <a:ext cx="1371600" cy="266700"/>
            </a:xfrm>
            <a:custGeom>
              <a:avLst/>
              <a:gdLst/>
              <a:ahLst/>
              <a:cxnLst/>
              <a:rect l="l" t="t" r="r" b="b"/>
              <a:pathLst>
                <a:path w="1371600" h="266700">
                  <a:moveTo>
                    <a:pt x="133350" y="0"/>
                  </a:moveTo>
                  <a:lnTo>
                    <a:pt x="1238250" y="0"/>
                  </a:lnTo>
                  <a:cubicBezTo>
                    <a:pt x="1311897" y="0"/>
                    <a:pt x="1371600" y="59703"/>
                    <a:pt x="1371600" y="133350"/>
                  </a:cubicBezTo>
                  <a:lnTo>
                    <a:pt x="1371600" y="133350"/>
                  </a:lnTo>
                  <a:cubicBezTo>
                    <a:pt x="1371600" y="206997"/>
                    <a:pt x="1311897" y="266700"/>
                    <a:pt x="12382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451038" y="50682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低风险试点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00116" y="342995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阶段二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495544" y="3675698"/>
              <a:ext cx="264094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规模推广与组织嵌入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497830" y="4105275"/>
              <a:ext cx="2647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基于 PoC 成功的 ROI 数据，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497830" y="439102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将工作台扩展至全渠道，嵌入营销决策流程，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497830" y="46767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同步配套轻量组织培训，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497830" y="49625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推进必要的变更管理。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5505450" y="5000625"/>
              <a:ext cx="1676400" cy="266700"/>
            </a:xfrm>
            <a:custGeom>
              <a:avLst/>
              <a:gdLst/>
              <a:ahLst/>
              <a:cxnLst/>
              <a:rect l="l" t="t" r="r" b="b"/>
              <a:pathLst>
                <a:path w="1676400" h="266700">
                  <a:moveTo>
                    <a:pt x="133350" y="0"/>
                  </a:moveTo>
                  <a:lnTo>
                    <a:pt x="1543050" y="0"/>
                  </a:lnTo>
                  <a:cubicBezTo>
                    <a:pt x="1616697" y="0"/>
                    <a:pt x="1676400" y="59703"/>
                    <a:pt x="1676400" y="133350"/>
                  </a:cubicBezTo>
                  <a:lnTo>
                    <a:pt x="1676400" y="133350"/>
                  </a:lnTo>
                  <a:cubicBezTo>
                    <a:pt x="1676400" y="206997"/>
                    <a:pt x="1616697" y="266700"/>
                    <a:pt x="15430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843588" y="50682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从验证走向复制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881616" y="34299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855A"/>
                  </a:solidFill>
                  <a:latin typeface="+mn-lt"/>
                  <a:ea typeface="+mn-ea"/>
                  <a:cs typeface="+mn-cs"/>
                </a:rPr>
                <a:t>收束判断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877806" y="3691890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最终落点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79330" y="4105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先验证，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79330" y="43910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再扩展。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9886950" y="4591050"/>
              <a:ext cx="1162050" cy="9525"/>
            </a:xfrm>
            <a:custGeom>
              <a:avLst/>
              <a:gdLst/>
              <a:ahLst/>
              <a:cxnLst/>
              <a:rect l="l" t="t" r="r" b="b"/>
              <a:pathLst>
                <a:path w="1162050" h="9525">
                  <a:moveTo>
                    <a:pt x="0" y="0"/>
                  </a:moveTo>
                  <a:lnTo>
                    <a:pt x="1162050" y="0"/>
                  </a:lnTo>
                </a:path>
              </a:pathLst>
            </a:custGeom>
            <a:noFill/>
            <a:ln w="19050">
              <a:solidFill>
                <a:srgbClr val="2F855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880854" y="4775835"/>
              <a:ext cx="8997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以 ROI 作为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880854" y="500443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全面推广门槛。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857250" y="5638800"/>
              <a:ext cx="10477500" cy="361950"/>
            </a:xfrm>
            <a:custGeom>
              <a:avLst/>
              <a:gdLst/>
              <a:ahLst/>
              <a:cxnLst/>
              <a:rect l="l" t="t" r="r" b="b"/>
              <a:pathLst>
                <a:path w="10477500" h="361950">
                  <a:moveTo>
                    <a:pt x="76200" y="0"/>
                  </a:moveTo>
                  <a:lnTo>
                    <a:pt x="10401300" y="0"/>
                  </a:lnTo>
                  <a:cubicBezTo>
                    <a:pt x="10443384" y="0"/>
                    <a:pt x="10477500" y="34116"/>
                    <a:pt x="10477500" y="76200"/>
                  </a:cubicBezTo>
                  <a:lnTo>
                    <a:pt x="10477500" y="285750"/>
                  </a:lnTo>
                  <a:cubicBezTo>
                    <a:pt x="10477500" y="327834"/>
                    <a:pt x="10443384" y="361950"/>
                    <a:pt x="10401300" y="361950"/>
                  </a:cubicBezTo>
                  <a:lnTo>
                    <a:pt x="76200" y="361950"/>
                  </a:lnTo>
                  <a:cubicBezTo>
                    <a:pt x="34116" y="361950"/>
                    <a:pt x="0" y="327834"/>
                    <a:pt x="0" y="2857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776539" y="5731192"/>
              <a:ext cx="46389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行动顺序：单点试点 → 形成闭环 → 全渠道推广 → 组织固化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567815" y="1963102"/>
            <a:ext cx="9056370" cy="522923"/>
            <a:chOff x="1567815" y="1963102"/>
            <a:chExt cx="9056370" cy="522923"/>
          </a:xfrm>
        </p:grpSpPr>
        <p:sp>
          <p:nvSpPr>
            <p:cNvPr id="53" name="Line 53"/>
            <p:cNvSpPr/>
            <p:nvPr/>
          </p:nvSpPr>
          <p:spPr>
            <a:xfrm>
              <a:off x="1714500" y="2190750"/>
              <a:ext cx="9525" cy="295275"/>
            </a:xfrm>
            <a:custGeom>
              <a:avLst/>
              <a:gdLst/>
              <a:ahLst/>
              <a:cxnLst/>
              <a:rect l="l" t="t" r="r" b="b"/>
              <a:pathLst>
                <a:path w="9525" h="295275">
                  <a:moveTo>
                    <a:pt x="0" y="295275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A0AEC0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567815" y="19631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启动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6096000" y="2190750"/>
              <a:ext cx="9525" cy="295275"/>
            </a:xfrm>
            <a:custGeom>
              <a:avLst/>
              <a:gdLst/>
              <a:ahLst/>
              <a:cxnLst/>
              <a:rect l="l" t="t" r="r" b="b"/>
              <a:pathLst>
                <a:path w="9525" h="295275">
                  <a:moveTo>
                    <a:pt x="0" y="295275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A0AEC0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949315" y="19631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扩展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10477500" y="2190750"/>
              <a:ext cx="9525" cy="295275"/>
            </a:xfrm>
            <a:custGeom>
              <a:avLst/>
              <a:gdLst/>
              <a:ahLst/>
              <a:cxnLst/>
              <a:rect l="l" t="t" r="r" b="b"/>
              <a:pathLst>
                <a:path w="9525" h="295275">
                  <a:moveTo>
                    <a:pt x="0" y="295275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A0AEC0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330815" y="19631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决策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2026-07-10T23:36:53Z</dcterms:created>
  <dcterms:modified xsi:type="dcterms:W3CDTF">2026-07-10T23:36:53Z</dcterms:modified>
  <cp:category/>
  <cp:contentStatus/>
</cp:coreProperties>
</file>