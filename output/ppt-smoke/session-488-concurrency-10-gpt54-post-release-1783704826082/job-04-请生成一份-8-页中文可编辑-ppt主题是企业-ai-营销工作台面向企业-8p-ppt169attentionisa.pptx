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面向管理层的SaaS方案，以AI驱动数据整合、分析、执行与度量，实现营销闭环。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决策层要点</a:t>
            </a:r>
          </a:p>
          <a:p>
            <a:endParaRPr lang="en-US" dirty="0"/>
          </a:p>
          <a:p>
            <a:r>
              <a:rPr lang="zh-CN" dirty="0"/>
              <a:t>本次简报聚焦AI营销工作台如何解决核心效率瓶颈，并提供明确的实施路径。</a:t>
            </a:r>
          </a:p>
          <a:p>
            <a:endParaRPr lang="en-US" dirty="0"/>
          </a:p>
          <a:p>
            <a:r>
              <a:rPr lang="zh-CN" dirty="0"/>
              <a:t>• 数据碎片化、分析滞后与执行脱节导致营销ROI持续损耗</a:t>
            </a:r>
          </a:p>
          <a:p>
            <a:r>
              <a:rPr lang="zh-CN" dirty="0"/>
              <a:t>• 从数据整合到效果度量的统一AI技术栈</a:t>
            </a:r>
          </a:p>
          <a:p>
            <a:r>
              <a:rPr lang="zh-CN" dirty="0"/>
              <a:t>• 数据合规、组织适配与模型可解释性的预判</a:t>
            </a:r>
          </a:p>
          <a:p>
            <a:r>
              <a:rPr lang="zh-CN" dirty="0"/>
              <a:t>• 三家标杆企业应用后核心指标提升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当前营销运营的核心断点</a:t>
            </a:r>
          </a:p>
          <a:p>
            <a:endParaRPr lang="en-US" dirty="0"/>
          </a:p>
          <a:p>
            <a:r>
              <a:rPr lang="zh-CN" dirty="0"/>
              <a:t>分散的数据源和人工分析流程使营销决策至少延迟48小时，直接损失潜在转化。</a:t>
            </a:r>
          </a:p>
          <a:p>
            <a:endParaRPr lang="en-US" dirty="0"/>
          </a:p>
          <a:p>
            <a:r>
              <a:rPr lang="zh-CN" dirty="0"/>
              <a:t>• 平均一个营销团队需要跨7个平台拼凑数据，每周浪费15小时在数据清洗上</a:t>
            </a:r>
          </a:p>
          <a:p>
            <a:r>
              <a:rPr lang="zh-CN" dirty="0"/>
              <a:t>• 仅12%的企业能实时将营销活动与收入结果关联</a:t>
            </a:r>
          </a:p>
          <a:p>
            <a:r>
              <a:rPr lang="zh-CN" dirty="0"/>
              <a:t>• AI工作台通过实时数据管道与自动归因，将洞察产生时间压缩至分钟级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AI工作台vs.传统模式</a:t>
            </a:r>
          </a:p>
          <a:p>
            <a:endParaRPr lang="en-US" dirty="0"/>
          </a:p>
          <a:p>
            <a:r>
              <a:rPr lang="zh-CN" dirty="0"/>
              <a:t>在速度、精度与可扩展性三个维度上，AI工作台形成代际优势。</a:t>
            </a:r>
          </a:p>
          <a:p>
            <a:endParaRPr lang="en-US" dirty="0"/>
          </a:p>
          <a:p>
            <a:r>
              <a:rPr lang="zh-CN" dirty="0"/>
              <a:t>• 依赖IT排期，T+1以上延迟，多源数据对齐错误率高</a:t>
            </a:r>
          </a:p>
          <a:p>
            <a:r>
              <a:rPr lang="zh-CN" dirty="0"/>
              <a:t>• 分钟级接入全渠道数据，零代码完成清洗与统一ID</a:t>
            </a:r>
          </a:p>
          <a:p>
            <a:r>
              <a:rPr lang="zh-CN" dirty="0"/>
              <a:t>• 取数-分析-报告循环长，难以发现深层关联与预测性信号</a:t>
            </a:r>
          </a:p>
          <a:p>
            <a:r>
              <a:rPr lang="zh-CN" dirty="0"/>
              <a:t>• 基于因果推断与预测模型自动推送异常与机会，支持自然语言查询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客户实践验证</a:t>
            </a:r>
          </a:p>
          <a:p>
            <a:endParaRPr lang="en-US" dirty="0"/>
          </a:p>
          <a:p>
            <a:r>
              <a:rPr lang="zh-CN" dirty="0"/>
              <a:t>三家不同行业客户在接入AI营销工作台后，均取得可量化的效率与增长提升。</a:t>
            </a:r>
          </a:p>
          <a:p>
            <a:endParaRPr lang="en-US" dirty="0"/>
          </a:p>
          <a:p>
            <a:r>
              <a:rPr lang="zh-CN" dirty="0"/>
              <a:t>• 数据整合周期从7天缩短至4小时；智能人群圈选出价效率提升32%，季度ROAS增长2.1倍</a:t>
            </a:r>
          </a:p>
          <a:p>
            <a:r>
              <a:rPr lang="zh-CN" dirty="0"/>
              <a:t>• 线索到商机转化率提升45%，自动执行工作流替代80%的人工运营动作</a:t>
            </a:r>
          </a:p>
          <a:p>
            <a:r>
              <a:rPr lang="zh-CN" dirty="0"/>
              <a:t>• 全域效果归因上线后，减少无效渠道支出28%，营销投入产出比改善57%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工作台核心影响指标</a:t>
            </a:r>
          </a:p>
          <a:p>
            <a:endParaRPr lang="en-US" dirty="0"/>
          </a:p>
          <a:p>
            <a:r>
              <a:rPr lang="zh-CN" dirty="0"/>
              <a:t>系统部署12个月后，客户平均实现营销效率与营收贡献的双重跃升。</a:t>
            </a:r>
          </a:p>
          <a:p>
            <a:endParaRPr lang="en-US" dirty="0"/>
          </a:p>
          <a:p>
            <a:r>
              <a:rPr lang="zh-CN" dirty="0"/>
              <a:t>• 营销运营效率提升</a:t>
            </a:r>
          </a:p>
          <a:p>
            <a:r>
              <a:rPr lang="zh-CN" dirty="0"/>
              <a:t>• 月度有效线索增长</a:t>
            </a:r>
          </a:p>
          <a:p>
            <a:r>
              <a:rPr lang="zh-CN" dirty="0"/>
              <a:t>• 数据汇总时间压缩</a:t>
            </a:r>
          </a:p>
          <a:p>
            <a:r>
              <a:rPr lang="zh-CN" dirty="0"/>
              <a:t>• 营销归因准确率提升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ROI提升轨迹</a:t>
            </a:r>
          </a:p>
          <a:p>
            <a:endParaRPr lang="en-US" dirty="0"/>
          </a:p>
          <a:p>
            <a:r>
              <a:rPr lang="zh-CN" dirty="0"/>
              <a:t>AI营销工作台上线后，客户平均在6个月内收回投资，随后进入持续增益阶段。</a:t>
            </a:r>
          </a:p>
          <a:p>
            <a:endParaRPr lang="en-US" dirty="0"/>
          </a:p>
          <a:p>
            <a:r>
              <a:rPr lang="zh-CN" dirty="0"/>
              <a:t>• 基础数据整合与自动化完成</a:t>
            </a:r>
          </a:p>
          <a:p>
            <a:r>
              <a:rPr lang="zh-CN" dirty="0"/>
              <a:t>• AI推荐与动态分群上线</a:t>
            </a:r>
          </a:p>
          <a:p>
            <a:r>
              <a:rPr lang="zh-CN" dirty="0"/>
              <a:t>• 全渠道自动化编排生效</a:t>
            </a:r>
          </a:p>
          <a:p>
            <a:r>
              <a:rPr lang="zh-CN" dirty="0"/>
              <a:t>• 模型持续学习与效果累加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90天启动路线图</a:t>
            </a:r>
          </a:p>
          <a:p>
            <a:endParaRPr lang="en-US" dirty="0"/>
          </a:p>
          <a:p>
            <a:r>
              <a:rPr lang="zh-CN" dirty="0"/>
              <a:t>建议采用三阶段渐进部署，快速验证价值后横向扩展至全业务线。</a:t>
            </a:r>
          </a:p>
          <a:p>
            <a:endParaRPr lang="en-US" dirty="0"/>
          </a:p>
          <a:p>
            <a:r>
              <a:rPr lang="zh-CN" dirty="0"/>
              <a:t>• 数据源接入与标准化，部署基础AI归因模块，产出首份自动化洞察报告</a:t>
            </a:r>
          </a:p>
          <a:p>
            <a:r>
              <a:rPr lang="zh-CN" dirty="0"/>
              <a:t>• 上线智能人群与动态创意优化，实现至少两个渠道的自动执行闭环</a:t>
            </a:r>
          </a:p>
          <a:p>
            <a:r>
              <a:rPr lang="zh-CN" dirty="0"/>
              <a:t>• 完成全链路效果度量配置，输出最佳实践手册，启动组织内规模化推广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5964d0aa44935984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70000">
                  <a:schemeClr val="lt1"/>
                </a:gs>
                <a:gs pos="100000">
                  <a:schemeClr val="l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25000" t="0" r="25000" b="0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6096000" y="0"/>
              <a:ext cx="6096000" cy="6858000"/>
            </a:xfrm>
            <a:prstGeom prst="rect">
              <a:avLst/>
            </a:prstGeom>
            <a:solidFill>
              <a:schemeClr val="lt1">
                <a:alpha val="72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1143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66166" y="629602"/>
            <a:ext cx="11054334" cy="5882164"/>
            <a:chOff x="566166" y="629602"/>
            <a:chExt cx="11054334" cy="5882164"/>
          </a:xfrm>
        </p:grpSpPr>
        <p:sp>
          <p:nvSpPr>
            <p:cNvPr id="10" name="TextBox 10"/>
            <p:cNvSpPr txBox="1"/>
            <p:nvPr/>
          </p:nvSpPr>
          <p:spPr>
            <a:xfrm>
              <a:off x="566166" y="629602"/>
              <a:ext cx="879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6738" y="634984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98320" y="63498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52450" y="1647349"/>
            <a:ext cx="10687050" cy="3696176"/>
            <a:chOff x="552450" y="1647349"/>
            <a:chExt cx="10687050" cy="3696176"/>
          </a:xfrm>
        </p:grpSpPr>
        <p:sp>
          <p:nvSpPr>
            <p:cNvPr id="15" name="TextBox 15"/>
            <p:cNvSpPr txBox="1"/>
            <p:nvPr/>
          </p:nvSpPr>
          <p:spPr>
            <a:xfrm>
              <a:off x="552450" y="1672590"/>
              <a:ext cx="251905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企业AI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2450" y="2377440"/>
              <a:ext cx="362254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营销工作台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3333750"/>
              <a:ext cx="4762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3118" y="3612832"/>
              <a:ext cx="46383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面向管理层的SaaS方案，以AI驱动数据整合、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3118" y="393668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分析、执行与度量，实现营销闭环。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71500" y="4572000"/>
              <a:ext cx="1885950" cy="609600"/>
            </a:xfrm>
            <a:custGeom>
              <a:avLst/>
              <a:gdLst/>
              <a:ahLst/>
              <a:cxnLst/>
              <a:rect l="l" t="t" r="r" b="b"/>
              <a:pathLst>
                <a:path w="1885950" h="609600">
                  <a:moveTo>
                    <a:pt x="114300" y="0"/>
                  </a:moveTo>
                  <a:lnTo>
                    <a:pt x="1771650" y="0"/>
                  </a:lnTo>
                  <a:cubicBezTo>
                    <a:pt x="1834776" y="0"/>
                    <a:pt x="1885950" y="51174"/>
                    <a:pt x="1885950" y="114300"/>
                  </a:cubicBezTo>
                  <a:lnTo>
                    <a:pt x="1885950" y="495300"/>
                  </a:lnTo>
                  <a:cubicBezTo>
                    <a:pt x="1885950" y="558426"/>
                    <a:pt x="1834776" y="609600"/>
                    <a:pt x="177165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590800" y="4572000"/>
              <a:ext cx="1485900" cy="609600"/>
            </a:xfrm>
            <a:custGeom>
              <a:avLst/>
              <a:gdLst/>
              <a:ahLst/>
              <a:cxnLst/>
              <a:rect l="l" t="t" r="r" b="b"/>
              <a:pathLst>
                <a:path w="1485900" h="609600">
                  <a:moveTo>
                    <a:pt x="114300" y="0"/>
                  </a:moveTo>
                  <a:lnTo>
                    <a:pt x="1371600" y="0"/>
                  </a:lnTo>
                  <a:cubicBezTo>
                    <a:pt x="1434726" y="0"/>
                    <a:pt x="1485900" y="51174"/>
                    <a:pt x="1485900" y="114300"/>
                  </a:cubicBezTo>
                  <a:lnTo>
                    <a:pt x="1485900" y="495300"/>
                  </a:lnTo>
                  <a:cubicBezTo>
                    <a:pt x="1485900" y="558426"/>
                    <a:pt x="1434726" y="609600"/>
                    <a:pt x="13716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210050" y="4572000"/>
              <a:ext cx="1123950" cy="609600"/>
            </a:xfrm>
            <a:custGeom>
              <a:avLst/>
              <a:gdLst/>
              <a:ahLst/>
              <a:cxnLst/>
              <a:rect l="l" t="t" r="r" b="b"/>
              <a:pathLst>
                <a:path w="1123950" h="609600">
                  <a:moveTo>
                    <a:pt x="114300" y="0"/>
                  </a:moveTo>
                  <a:lnTo>
                    <a:pt x="1009650" y="0"/>
                  </a:lnTo>
                  <a:cubicBezTo>
                    <a:pt x="1072776" y="0"/>
                    <a:pt x="1123950" y="51174"/>
                    <a:pt x="1123950" y="114300"/>
                  </a:cubicBezTo>
                  <a:lnTo>
                    <a:pt x="1123950" y="495300"/>
                  </a:lnTo>
                  <a:cubicBezTo>
                    <a:pt x="1123950" y="558426"/>
                    <a:pt x="1072776" y="609600"/>
                    <a:pt x="100965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6238" y="4807268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45244" y="4807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现状概览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83519" y="4807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6947" y="1647349"/>
              <a:ext cx="2204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75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MARKETING OPERATING SYSTEM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391400" y="2000250"/>
              <a:ext cx="3848100" cy="2857500"/>
            </a:xfrm>
            <a:custGeom>
              <a:avLst/>
              <a:gdLst/>
              <a:ahLst/>
              <a:cxnLst/>
              <a:rect l="l" t="t" r="r" b="b"/>
              <a:pathLst>
                <a:path w="3848100" h="2857500">
                  <a:moveTo>
                    <a:pt x="171450" y="0"/>
                  </a:moveTo>
                  <a:lnTo>
                    <a:pt x="3676650" y="0"/>
                  </a:lnTo>
                  <a:cubicBezTo>
                    <a:pt x="3771339" y="0"/>
                    <a:pt x="3848100" y="76761"/>
                    <a:pt x="3848100" y="171450"/>
                  </a:cubicBezTo>
                  <a:lnTo>
                    <a:pt x="3848100" y="2686050"/>
                  </a:lnTo>
                  <a:cubicBezTo>
                    <a:pt x="3848100" y="2780739"/>
                    <a:pt x="3771339" y="2857500"/>
                    <a:pt x="3676650" y="2857500"/>
                  </a:cubicBezTo>
                  <a:lnTo>
                    <a:pt x="171450" y="2857500"/>
                  </a:lnTo>
                  <a:cubicBezTo>
                    <a:pt x="76761" y="2857500"/>
                    <a:pt x="0" y="2780739"/>
                    <a:pt x="0" y="26860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>
                <a:alpha val="57999"/>
              </a:schemeClr>
            </a:solidFill>
            <a:ln w="14288">
              <a:solidFill>
                <a:schemeClr val="accent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734300" y="2419350"/>
              <a:ext cx="857250" cy="685800"/>
            </a:xfrm>
            <a:custGeom>
              <a:avLst/>
              <a:gdLst/>
              <a:ahLst/>
              <a:cxnLst/>
              <a:rect l="l" t="t" r="r" b="b"/>
              <a:pathLst>
                <a:path w="857250" h="685800">
                  <a:moveTo>
                    <a:pt x="114300" y="0"/>
                  </a:moveTo>
                  <a:lnTo>
                    <a:pt x="742950" y="0"/>
                  </a:lnTo>
                  <a:cubicBezTo>
                    <a:pt x="806076" y="0"/>
                    <a:pt x="857250" y="51174"/>
                    <a:pt x="857250" y="114300"/>
                  </a:cubicBezTo>
                  <a:lnTo>
                    <a:pt x="857250" y="571500"/>
                  </a:lnTo>
                  <a:cubicBezTo>
                    <a:pt x="857250" y="634626"/>
                    <a:pt x="806076" y="685800"/>
                    <a:pt x="74295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877300" y="2419350"/>
              <a:ext cx="857250" cy="685800"/>
            </a:xfrm>
            <a:custGeom>
              <a:avLst/>
              <a:gdLst/>
              <a:ahLst/>
              <a:cxnLst/>
              <a:rect l="l" t="t" r="r" b="b"/>
              <a:pathLst>
                <a:path w="857250" h="685800">
                  <a:moveTo>
                    <a:pt x="114300" y="0"/>
                  </a:moveTo>
                  <a:lnTo>
                    <a:pt x="742950" y="0"/>
                  </a:lnTo>
                  <a:cubicBezTo>
                    <a:pt x="806076" y="0"/>
                    <a:pt x="857250" y="51174"/>
                    <a:pt x="857250" y="114300"/>
                  </a:cubicBezTo>
                  <a:lnTo>
                    <a:pt x="857250" y="571500"/>
                  </a:lnTo>
                  <a:cubicBezTo>
                    <a:pt x="857250" y="634626"/>
                    <a:pt x="806076" y="685800"/>
                    <a:pt x="74295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020300" y="2419350"/>
              <a:ext cx="857250" cy="685800"/>
            </a:xfrm>
            <a:custGeom>
              <a:avLst/>
              <a:gdLst/>
              <a:ahLst/>
              <a:cxnLst/>
              <a:rect l="l" t="t" r="r" b="b"/>
              <a:pathLst>
                <a:path w="857250" h="685800">
                  <a:moveTo>
                    <a:pt x="114300" y="0"/>
                  </a:moveTo>
                  <a:lnTo>
                    <a:pt x="742950" y="0"/>
                  </a:lnTo>
                  <a:cubicBezTo>
                    <a:pt x="806076" y="0"/>
                    <a:pt x="857250" y="51174"/>
                    <a:pt x="857250" y="114300"/>
                  </a:cubicBezTo>
                  <a:lnTo>
                    <a:pt x="857250" y="571500"/>
                  </a:lnTo>
                  <a:cubicBezTo>
                    <a:pt x="857250" y="634626"/>
                    <a:pt x="806076" y="685800"/>
                    <a:pt x="74295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305800" y="3771900"/>
              <a:ext cx="857250" cy="685800"/>
            </a:xfrm>
            <a:custGeom>
              <a:avLst/>
              <a:gdLst/>
              <a:ahLst/>
              <a:cxnLst/>
              <a:rect l="l" t="t" r="r" b="b"/>
              <a:pathLst>
                <a:path w="857250" h="685800">
                  <a:moveTo>
                    <a:pt x="114300" y="0"/>
                  </a:moveTo>
                  <a:lnTo>
                    <a:pt x="742950" y="0"/>
                  </a:lnTo>
                  <a:cubicBezTo>
                    <a:pt x="806076" y="0"/>
                    <a:pt x="857250" y="51174"/>
                    <a:pt x="857250" y="114300"/>
                  </a:cubicBezTo>
                  <a:lnTo>
                    <a:pt x="857250" y="571500"/>
                  </a:lnTo>
                  <a:cubicBezTo>
                    <a:pt x="857250" y="634626"/>
                    <a:pt x="806076" y="685800"/>
                    <a:pt x="74295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448800" y="3771900"/>
              <a:ext cx="857250" cy="685800"/>
            </a:xfrm>
            <a:custGeom>
              <a:avLst/>
              <a:gdLst/>
              <a:ahLst/>
              <a:cxnLst/>
              <a:rect l="l" t="t" r="r" b="b"/>
              <a:pathLst>
                <a:path w="857250" h="685800">
                  <a:moveTo>
                    <a:pt x="114300" y="0"/>
                  </a:moveTo>
                  <a:lnTo>
                    <a:pt x="742950" y="0"/>
                  </a:lnTo>
                  <a:cubicBezTo>
                    <a:pt x="806076" y="0"/>
                    <a:pt x="857250" y="51174"/>
                    <a:pt x="857250" y="114300"/>
                  </a:cubicBezTo>
                  <a:lnTo>
                    <a:pt x="857250" y="571500"/>
                  </a:lnTo>
                  <a:cubicBezTo>
                    <a:pt x="857250" y="634626"/>
                    <a:pt x="806076" y="685800"/>
                    <a:pt x="74295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591550" y="27622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9734550" y="27622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734425" y="3105150"/>
              <a:ext cx="571500" cy="666750"/>
            </a:xfrm>
            <a:custGeom>
              <a:avLst/>
              <a:gdLst/>
              <a:ahLst/>
              <a:cxnLst/>
              <a:rect l="l" t="t" r="r" b="b"/>
              <a:pathLst>
                <a:path w="571500" h="666750">
                  <a:moveTo>
                    <a:pt x="571500" y="0"/>
                  </a:moveTo>
                  <a:lnTo>
                    <a:pt x="0" y="666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9305925" y="3105150"/>
              <a:ext cx="571500" cy="666750"/>
            </a:xfrm>
            <a:custGeom>
              <a:avLst/>
              <a:gdLst/>
              <a:ahLst/>
              <a:cxnLst/>
              <a:rect l="l" t="t" r="r" b="b"/>
              <a:pathLst>
                <a:path w="571500" h="666750">
                  <a:moveTo>
                    <a:pt x="0" y="0"/>
                  </a:moveTo>
                  <a:lnTo>
                    <a:pt x="571500" y="666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9229725" y="3028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553450" y="27241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839200" y="2724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696450" y="2724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982200" y="27241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696325" y="37338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839325" y="37338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60754" y="27155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77123" y="2715578"/>
              <a:ext cx="457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46754" y="27155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自动执行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32254" y="40681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75254" y="40681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管理决策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010400" y="22860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chemeClr val="accent2">
                  <a:alpha val="22000"/>
                </a:scheme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391400" y="53340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chemeClr val="accent2">
                  <a:alpha val="22000"/>
                </a:scheme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7391400" y="200025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chemeClr val="accent2">
                  <a:alpha val="18000"/>
                </a:scheme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858000" y="25717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6858000" y="33337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6858000" y="40957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82462" y="2506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多源接入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82462" y="3268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策略编排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82462" y="4030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闭环回流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848600" y="5524500"/>
            <a:ext cx="3390900" cy="381000"/>
            <a:chOff x="7848600" y="5524500"/>
            <a:chExt cx="3390900" cy="381000"/>
          </a:xfrm>
        </p:grpSpPr>
        <p:sp>
          <p:nvSpPr>
            <p:cNvPr id="59" name="Freeform 59"/>
            <p:cNvSpPr/>
            <p:nvPr/>
          </p:nvSpPr>
          <p:spPr>
            <a:xfrm>
              <a:off x="7848600" y="5524500"/>
              <a:ext cx="3390900" cy="381000"/>
            </a:xfrm>
            <a:custGeom>
              <a:avLst/>
              <a:gdLst/>
              <a:ahLst/>
              <a:cxnLst/>
              <a:rect l="l" t="t" r="r" b="b"/>
              <a:pathLst>
                <a:path w="3390900" h="381000">
                  <a:moveTo>
                    <a:pt x="95250" y="0"/>
                  </a:moveTo>
                  <a:lnTo>
                    <a:pt x="3295650" y="0"/>
                  </a:lnTo>
                  <a:cubicBezTo>
                    <a:pt x="3348255" y="0"/>
                    <a:pt x="3390900" y="42645"/>
                    <a:pt x="3390900" y="95250"/>
                  </a:cubicBezTo>
                  <a:lnTo>
                    <a:pt x="3390900" y="285750"/>
                  </a:lnTo>
                  <a:cubicBezTo>
                    <a:pt x="3390900" y="338355"/>
                    <a:pt x="3348255" y="381000"/>
                    <a:pt x="3295650" y="381000"/>
                  </a:cubicBezTo>
                  <a:lnTo>
                    <a:pt x="95250" y="381000"/>
                  </a:lnTo>
                  <a:cubicBezTo>
                    <a:pt x="42645" y="381000"/>
                    <a:pt x="0" y="338355"/>
                    <a:pt x="0" y="28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052816" y="564927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用统一工作台连接数据、内容、渠道与经营结果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62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76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6381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686752"/>
            <a:ext cx="11062716" cy="5977414"/>
            <a:chOff x="557784" y="686752"/>
            <a:chExt cx="11062716" cy="597741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686752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927735"/>
              <a:ext cx="20436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决策层要点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1390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6738" y="65022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98320" y="6502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71500" y="1676400"/>
            <a:ext cx="10591800" cy="4191000"/>
            <a:chOff x="571500" y="1676400"/>
            <a:chExt cx="10591800" cy="4191000"/>
          </a:xfrm>
        </p:grpSpPr>
        <p:sp>
          <p:nvSpPr>
            <p:cNvPr id="15" name="Freeform 15"/>
            <p:cNvSpPr/>
            <p:nvPr/>
          </p:nvSpPr>
          <p:spPr>
            <a:xfrm>
              <a:off x="571500" y="1676400"/>
              <a:ext cx="3124200" cy="4095750"/>
            </a:xfrm>
            <a:custGeom>
              <a:avLst/>
              <a:gdLst/>
              <a:ahLst/>
              <a:cxnLst/>
              <a:rect l="l" t="t" r="r" b="b"/>
              <a:pathLst>
                <a:path w="3124200" h="4095750">
                  <a:moveTo>
                    <a:pt x="114300" y="0"/>
                  </a:moveTo>
                  <a:lnTo>
                    <a:pt x="3009900" y="0"/>
                  </a:lnTo>
                  <a:cubicBezTo>
                    <a:pt x="3073026" y="0"/>
                    <a:pt x="3124200" y="51174"/>
                    <a:pt x="3124200" y="114300"/>
                  </a:cubicBezTo>
                  <a:lnTo>
                    <a:pt x="3124200" y="3981450"/>
                  </a:lnTo>
                  <a:cubicBezTo>
                    <a:pt x="3124200" y="4044576"/>
                    <a:pt x="3073026" y="4095750"/>
                    <a:pt x="3009900" y="4095750"/>
                  </a:cubicBezTo>
                  <a:lnTo>
                    <a:pt x="114300" y="4095750"/>
                  </a:lnTo>
                  <a:cubicBezTo>
                    <a:pt x="51174" y="4095750"/>
                    <a:pt x="0" y="4044576"/>
                    <a:pt x="0" y="3981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0580" y="1914525"/>
              <a:ext cx="3098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本次简报聚焦 AI 营销工作台如何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0580" y="2200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解决核心效率瓶颈，并提供明确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0580" y="24860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的实施路径。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38200" y="26479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95350" y="29527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78992" y="29022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数据碎片化、分析滞后与执行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8992" y="3149918"/>
              <a:ext cx="2356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脱节导致营销 ROI 持续损耗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95350" y="36766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78992" y="36261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从数据整合到效果度量的统一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8992" y="3873818"/>
              <a:ext cx="8106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 技术栈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95350" y="4286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78992" y="4235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数据合规、组织适配与模型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8992" y="44834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可解释性的预判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95350" y="4895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78992" y="48453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三家标杆企业应用后核心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8992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指标提升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076700" y="1866900"/>
              <a:ext cx="247650" cy="3714750"/>
            </a:xfrm>
            <a:custGeom>
              <a:avLst/>
              <a:gdLst/>
              <a:ahLst/>
              <a:cxnLst/>
              <a:rect l="l" t="t" r="r" b="b"/>
              <a:pathLst>
                <a:path w="247650" h="3714750">
                  <a:moveTo>
                    <a:pt x="123825" y="0"/>
                  </a:moveTo>
                  <a:lnTo>
                    <a:pt x="123825" y="0"/>
                  </a:lnTo>
                  <a:cubicBezTo>
                    <a:pt x="192212" y="0"/>
                    <a:pt x="247650" y="55438"/>
                    <a:pt x="247650" y="123825"/>
                  </a:cubicBezTo>
                  <a:lnTo>
                    <a:pt x="247650" y="3590925"/>
                  </a:lnTo>
                  <a:cubicBezTo>
                    <a:pt x="247650" y="3659312"/>
                    <a:pt x="192212" y="3714750"/>
                    <a:pt x="123825" y="3714750"/>
                  </a:cubicBezTo>
                  <a:lnTo>
                    <a:pt x="123825" y="3714750"/>
                  </a:lnTo>
                  <a:cubicBezTo>
                    <a:pt x="55438" y="3714750"/>
                    <a:pt x="0" y="3659312"/>
                    <a:pt x="0" y="35909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200525" y="2095500"/>
              <a:ext cx="9525" cy="3257550"/>
            </a:xfrm>
            <a:custGeom>
              <a:avLst/>
              <a:gdLst/>
              <a:ahLst/>
              <a:cxnLst/>
              <a:rect l="l" t="t" r="r" b="b"/>
              <a:pathLst>
                <a:path w="9525" h="3257550">
                  <a:moveTo>
                    <a:pt x="0" y="0"/>
                  </a:moveTo>
                  <a:lnTo>
                    <a:pt x="0" y="3257550"/>
                  </a:lnTo>
                </a:path>
              </a:pathLst>
            </a:custGeom>
            <a:noFill/>
            <a:ln w="38100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057650" y="21050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131624" y="2206466"/>
              <a:ext cx="1378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4057650" y="288607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131624" y="2987516"/>
              <a:ext cx="1378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4057650" y="36671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31624" y="3768566"/>
              <a:ext cx="1378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4057650" y="444817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131624" y="4549616"/>
              <a:ext cx="1378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4057650" y="52292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31624" y="5330666"/>
              <a:ext cx="1378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4686300" y="1752600"/>
              <a:ext cx="6477000" cy="990600"/>
            </a:xfrm>
            <a:custGeom>
              <a:avLst/>
              <a:gdLst/>
              <a:ahLst/>
              <a:cxnLst/>
              <a:rect l="l" t="t" r="r" b="b"/>
              <a:pathLst>
                <a:path w="6477000" h="990600">
                  <a:moveTo>
                    <a:pt x="114300" y="0"/>
                  </a:moveTo>
                  <a:lnTo>
                    <a:pt x="6362700" y="0"/>
                  </a:lnTo>
                  <a:cubicBezTo>
                    <a:pt x="6425826" y="0"/>
                    <a:pt x="6477000" y="51174"/>
                    <a:pt x="6477000" y="114300"/>
                  </a:cubicBezTo>
                  <a:lnTo>
                    <a:pt x="6477000" y="876300"/>
                  </a:lnTo>
                  <a:cubicBezTo>
                    <a:pt x="6477000" y="939426"/>
                    <a:pt x="6425826" y="990600"/>
                    <a:pt x="63627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686300" y="1752600"/>
              <a:ext cx="76200" cy="99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985766" y="19821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01056" y="1901190"/>
              <a:ext cx="297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当前营销运营的核心断点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03342" y="22545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数据碎片化、分析滞后与执行脱节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03342" y="2483168"/>
              <a:ext cx="1972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导致营销 ROI 持续损耗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4686300" y="2533650"/>
              <a:ext cx="6477000" cy="990600"/>
            </a:xfrm>
            <a:custGeom>
              <a:avLst/>
              <a:gdLst/>
              <a:ahLst/>
              <a:cxnLst/>
              <a:rect l="l" t="t" r="r" b="b"/>
              <a:pathLst>
                <a:path w="6477000" h="990600">
                  <a:moveTo>
                    <a:pt x="114300" y="0"/>
                  </a:moveTo>
                  <a:lnTo>
                    <a:pt x="6362700" y="0"/>
                  </a:lnTo>
                  <a:cubicBezTo>
                    <a:pt x="6425826" y="0"/>
                    <a:pt x="6477000" y="51174"/>
                    <a:pt x="6477000" y="114300"/>
                  </a:cubicBezTo>
                  <a:lnTo>
                    <a:pt x="6477000" y="876300"/>
                  </a:lnTo>
                  <a:cubicBezTo>
                    <a:pt x="6477000" y="939426"/>
                    <a:pt x="6425826" y="990600"/>
                    <a:pt x="63627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686300" y="2533650"/>
              <a:ext cx="76200" cy="99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985766" y="27632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01056" y="2682240"/>
              <a:ext cx="31137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工作台 vs. 传统模式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403342" y="30356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从数据整合到效果度量的统一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03342" y="3264218"/>
              <a:ext cx="8106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 技术栈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4686300" y="3314700"/>
              <a:ext cx="6477000" cy="990600"/>
            </a:xfrm>
            <a:custGeom>
              <a:avLst/>
              <a:gdLst/>
              <a:ahLst/>
              <a:cxnLst/>
              <a:rect l="l" t="t" r="r" b="b"/>
              <a:pathLst>
                <a:path w="6477000" h="990600">
                  <a:moveTo>
                    <a:pt x="114300" y="0"/>
                  </a:moveTo>
                  <a:lnTo>
                    <a:pt x="6362700" y="0"/>
                  </a:lnTo>
                  <a:cubicBezTo>
                    <a:pt x="6425826" y="0"/>
                    <a:pt x="6477000" y="51174"/>
                    <a:pt x="6477000" y="114300"/>
                  </a:cubicBezTo>
                  <a:lnTo>
                    <a:pt x="6477000" y="876300"/>
                  </a:lnTo>
                  <a:cubicBezTo>
                    <a:pt x="6477000" y="939426"/>
                    <a:pt x="6425826" y="990600"/>
                    <a:pt x="63627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4686300" y="3314700"/>
              <a:ext cx="76200" cy="99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985766" y="35442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401056" y="3463290"/>
              <a:ext cx="1631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客户实践验证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03342" y="38166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数据合规、组织适配与模型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03342" y="4045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可解释性的预判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4686300" y="4095750"/>
              <a:ext cx="6477000" cy="990600"/>
            </a:xfrm>
            <a:custGeom>
              <a:avLst/>
              <a:gdLst/>
              <a:ahLst/>
              <a:cxnLst/>
              <a:rect l="l" t="t" r="r" b="b"/>
              <a:pathLst>
                <a:path w="6477000" h="990600">
                  <a:moveTo>
                    <a:pt x="114300" y="0"/>
                  </a:moveTo>
                  <a:lnTo>
                    <a:pt x="6362700" y="0"/>
                  </a:lnTo>
                  <a:cubicBezTo>
                    <a:pt x="6425826" y="0"/>
                    <a:pt x="6477000" y="51174"/>
                    <a:pt x="6477000" y="114300"/>
                  </a:cubicBezTo>
                  <a:lnTo>
                    <a:pt x="6477000" y="876300"/>
                  </a:lnTo>
                  <a:cubicBezTo>
                    <a:pt x="6477000" y="939426"/>
                    <a:pt x="6425826" y="990600"/>
                    <a:pt x="63627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4686300" y="4095750"/>
              <a:ext cx="76200" cy="99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985766" y="43253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401056" y="4244340"/>
              <a:ext cx="24377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工作台核心影响指标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403342" y="45977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三家标杆企业应用后核心指标提升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4686300" y="4876800"/>
              <a:ext cx="6477000" cy="990600"/>
            </a:xfrm>
            <a:custGeom>
              <a:avLst/>
              <a:gdLst/>
              <a:ahLst/>
              <a:cxnLst/>
              <a:rect l="l" t="t" r="r" b="b"/>
              <a:pathLst>
                <a:path w="6477000" h="990600">
                  <a:moveTo>
                    <a:pt x="114300" y="0"/>
                  </a:moveTo>
                  <a:lnTo>
                    <a:pt x="6362700" y="0"/>
                  </a:lnTo>
                  <a:cubicBezTo>
                    <a:pt x="6425826" y="0"/>
                    <a:pt x="6477000" y="51174"/>
                    <a:pt x="6477000" y="114300"/>
                  </a:cubicBezTo>
                  <a:lnTo>
                    <a:pt x="6477000" y="876300"/>
                  </a:lnTo>
                  <a:cubicBezTo>
                    <a:pt x="6477000" y="939426"/>
                    <a:pt x="6425826" y="990600"/>
                    <a:pt x="63627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4686300" y="4876800"/>
              <a:ext cx="76200" cy="99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985766" y="51063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401056" y="5025390"/>
              <a:ext cx="2007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90 天启动路线图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403342" y="5378768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90 天内实现首个自动化营销场景的路径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4324350" y="876300"/>
            <a:ext cx="6997246" cy="4505325"/>
            <a:chOff x="4324350" y="876300"/>
            <a:chExt cx="6997246" cy="4505325"/>
          </a:xfrm>
        </p:grpSpPr>
        <p:sp>
          <p:nvSpPr>
            <p:cNvPr id="73" name="Freeform 73"/>
            <p:cNvSpPr/>
            <p:nvPr/>
          </p:nvSpPr>
          <p:spPr>
            <a:xfrm>
              <a:off x="9144000" y="876300"/>
              <a:ext cx="2019300" cy="323850"/>
            </a:xfrm>
            <a:custGeom>
              <a:avLst/>
              <a:gdLst/>
              <a:ahLst/>
              <a:cxnLst/>
              <a:rect l="l" t="t" r="r" b="b"/>
              <a:pathLst>
                <a:path w="2019300" h="323850">
                  <a:moveTo>
                    <a:pt x="161925" y="0"/>
                  </a:moveTo>
                  <a:lnTo>
                    <a:pt x="1857375" y="0"/>
                  </a:lnTo>
                  <a:cubicBezTo>
                    <a:pt x="1946804" y="0"/>
                    <a:pt x="2019300" y="72496"/>
                    <a:pt x="2019300" y="161925"/>
                  </a:cubicBezTo>
                  <a:lnTo>
                    <a:pt x="2019300" y="161925"/>
                  </a:lnTo>
                  <a:cubicBezTo>
                    <a:pt x="2019300" y="251354"/>
                    <a:pt x="1946804" y="323850"/>
                    <a:pt x="18573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985704" y="972502"/>
              <a:ext cx="2335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统一视角：问题 → 方案 → 验证 → 落地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4324350" y="22479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4324350" y="3028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4324350" y="38100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4324350" y="45910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4324350" y="53721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11620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9144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210550" y="819150"/>
              <a:ext cx="9525" cy="5124450"/>
            </a:xfrm>
            <a:custGeom>
              <a:avLst/>
              <a:gdLst/>
              <a:ahLst/>
              <a:cxnLst/>
              <a:rect l="l" t="t" r="r" b="b"/>
              <a:pathLst>
                <a:path w="9525" h="5124450">
                  <a:moveTo>
                    <a:pt x="0" y="0"/>
                  </a:moveTo>
                  <a:lnTo>
                    <a:pt x="0" y="51244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639175" y="1447800"/>
              <a:ext cx="2847975" cy="9525"/>
            </a:xfrm>
            <a:custGeom>
              <a:avLst/>
              <a:gdLst/>
              <a:ahLst/>
              <a:cxnLst/>
              <a:rect l="l" t="t" r="r" b="b"/>
              <a:pathLst>
                <a:path w="2847975" h="9525">
                  <a:moveTo>
                    <a:pt x="0" y="0"/>
                  </a:moveTo>
                  <a:lnTo>
                    <a:pt x="2847975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639175" y="3105150"/>
              <a:ext cx="2847975" cy="9525"/>
            </a:xfrm>
            <a:custGeom>
              <a:avLst/>
              <a:gdLst/>
              <a:ahLst/>
              <a:cxnLst/>
              <a:rect l="l" t="t" r="r" b="b"/>
              <a:pathLst>
                <a:path w="2847975" h="9525">
                  <a:moveTo>
                    <a:pt x="0" y="0"/>
                  </a:moveTo>
                  <a:lnTo>
                    <a:pt x="2847975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639175" y="4762500"/>
              <a:ext cx="2847975" cy="9525"/>
            </a:xfrm>
            <a:custGeom>
              <a:avLst/>
              <a:gdLst/>
              <a:ahLst/>
              <a:cxnLst/>
              <a:rect l="l" t="t" r="r" b="b"/>
              <a:pathLst>
                <a:path w="2847975" h="9525">
                  <a:moveTo>
                    <a:pt x="0" y="0"/>
                  </a:moveTo>
                  <a:lnTo>
                    <a:pt x="2847975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66547" y="447199"/>
            <a:ext cx="11058716" cy="6216967"/>
            <a:chOff x="566547" y="447199"/>
            <a:chExt cx="11058716" cy="6216967"/>
          </a:xfrm>
        </p:grpSpPr>
        <p:sp>
          <p:nvSpPr>
            <p:cNvPr id="12" name="TextBox 12"/>
            <p:cNvSpPr txBox="1"/>
            <p:nvPr/>
          </p:nvSpPr>
          <p:spPr>
            <a:xfrm>
              <a:off x="566547" y="4471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09858" y="4552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08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650224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73407" y="6502241"/>
              <a:ext cx="751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SaaS 方案演示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7784" y="641985"/>
            <a:ext cx="10929366" cy="5455730"/>
            <a:chOff x="557784" y="641985"/>
            <a:chExt cx="10929366" cy="5455730"/>
          </a:xfrm>
        </p:grpSpPr>
        <p:sp>
          <p:nvSpPr>
            <p:cNvPr id="17" name="TextBox 17"/>
            <p:cNvSpPr txBox="1"/>
            <p:nvPr/>
          </p:nvSpPr>
          <p:spPr>
            <a:xfrm>
              <a:off x="557784" y="64198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当前营销运营的核心断点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71500" y="1485900"/>
              <a:ext cx="7239000" cy="4457700"/>
            </a:xfrm>
            <a:custGeom>
              <a:avLst/>
              <a:gdLst/>
              <a:ahLst/>
              <a:cxnLst/>
              <a:rect l="l" t="t" r="r" b="b"/>
              <a:pathLst>
                <a:path w="7239000" h="4457700">
                  <a:moveTo>
                    <a:pt x="133350" y="0"/>
                  </a:moveTo>
                  <a:lnTo>
                    <a:pt x="7105650" y="0"/>
                  </a:lnTo>
                  <a:cubicBezTo>
                    <a:pt x="7179297" y="0"/>
                    <a:pt x="7239000" y="59703"/>
                    <a:pt x="7239000" y="133350"/>
                  </a:cubicBezTo>
                  <a:lnTo>
                    <a:pt x="7239000" y="4324350"/>
                  </a:lnTo>
                  <a:cubicBezTo>
                    <a:pt x="7239000" y="4397997"/>
                    <a:pt x="7179297" y="4457700"/>
                    <a:pt x="7105650" y="4457700"/>
                  </a:cubicBezTo>
                  <a:lnTo>
                    <a:pt x="133350" y="4457700"/>
                  </a:lnTo>
                  <a:cubicBezTo>
                    <a:pt x="59703" y="4457700"/>
                    <a:pt x="0" y="4397997"/>
                    <a:pt x="0" y="4324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1485900"/>
              <a:ext cx="95250" cy="4457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8685" y="2069306"/>
              <a:ext cx="5086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主判断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5350" y="2449830"/>
              <a:ext cx="112239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0671" y="2887028"/>
              <a:ext cx="7876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小时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2589" y="3482816"/>
              <a:ext cx="462459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分散的数据源与人工分析流程，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2589" y="3920966"/>
              <a:ext cx="452600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让营销决策至少延迟 48 小时。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6018" y="4632008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洞察无法在投放窗口内形成闭环，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6018" y="4955858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直接损失潜在转化与预算效率。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914400" y="5353050"/>
              <a:ext cx="6591300" cy="9525"/>
            </a:xfrm>
            <a:custGeom>
              <a:avLst/>
              <a:gdLst/>
              <a:ahLst/>
              <a:cxnLst/>
              <a:rect l="l" t="t" r="r" b="b"/>
              <a:pathLst>
                <a:path w="6591300" h="9525">
                  <a:moveTo>
                    <a:pt x="0" y="0"/>
                  </a:moveTo>
                  <a:lnTo>
                    <a:pt x="65913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8304" y="5585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78280" y="5553075"/>
              <a:ext cx="3621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决策慢于市场反馈，ROI 优化天然滞后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8639175" y="1657350"/>
              <a:ext cx="2847975" cy="1123950"/>
            </a:xfrm>
            <a:custGeom>
              <a:avLst/>
              <a:gdLst/>
              <a:ahLst/>
              <a:cxnLst/>
              <a:rect l="l" t="t" r="r" b="b"/>
              <a:pathLst>
                <a:path w="2847975" h="1123950">
                  <a:moveTo>
                    <a:pt x="114300" y="0"/>
                  </a:moveTo>
                  <a:lnTo>
                    <a:pt x="2733675" y="0"/>
                  </a:lnTo>
                  <a:cubicBezTo>
                    <a:pt x="2796801" y="0"/>
                    <a:pt x="2847975" y="51174"/>
                    <a:pt x="2847975" y="114300"/>
                  </a:cubicBezTo>
                  <a:lnTo>
                    <a:pt x="2847975" y="1009650"/>
                  </a:lnTo>
                  <a:cubicBezTo>
                    <a:pt x="2847975" y="1072776"/>
                    <a:pt x="2796801" y="1123950"/>
                    <a:pt x="2733675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829675" y="1933575"/>
              <a:ext cx="190500" cy="1905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76466" y="19631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56573" y="1862614"/>
              <a:ext cx="10672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个平台拼数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57335" y="2145506"/>
              <a:ext cx="2154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平均一个营销团队需跨 7 个平台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57335" y="237410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拼凑数据。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54668" y="2460308"/>
              <a:ext cx="13844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15 小时 / 周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8639175" y="3314700"/>
              <a:ext cx="2847975" cy="1123950"/>
            </a:xfrm>
            <a:custGeom>
              <a:avLst/>
              <a:gdLst/>
              <a:ahLst/>
              <a:cxnLst/>
              <a:rect l="l" t="t" r="r" b="b"/>
              <a:pathLst>
                <a:path w="2847975" h="1123950">
                  <a:moveTo>
                    <a:pt x="114300" y="0"/>
                  </a:moveTo>
                  <a:lnTo>
                    <a:pt x="2733675" y="0"/>
                  </a:lnTo>
                  <a:cubicBezTo>
                    <a:pt x="2796801" y="0"/>
                    <a:pt x="2847975" y="51174"/>
                    <a:pt x="2847975" y="114300"/>
                  </a:cubicBezTo>
                  <a:lnTo>
                    <a:pt x="2847975" y="1009650"/>
                  </a:lnTo>
                  <a:cubicBezTo>
                    <a:pt x="2847975" y="1072776"/>
                    <a:pt x="2796801" y="1123950"/>
                    <a:pt x="2733675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829675" y="3590925"/>
              <a:ext cx="190500" cy="1905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876466" y="362045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56573" y="35199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实时关联能力弱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57335" y="3802856"/>
              <a:ext cx="18969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仅 12% 的企业可把营销活动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57335" y="4031456"/>
              <a:ext cx="152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与收入结果实时关联。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54668" y="4117658"/>
              <a:ext cx="20251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53030"/>
                  </a:solidFill>
                  <a:latin typeface="+mj-lt"/>
                  <a:ea typeface="+mj-ea"/>
                  <a:cs typeface="+mj-cs"/>
                </a:rPr>
                <a:t>88% 仍在滞后归因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8639175" y="4972050"/>
              <a:ext cx="2847975" cy="1123950"/>
            </a:xfrm>
            <a:custGeom>
              <a:avLst/>
              <a:gdLst/>
              <a:ahLst/>
              <a:cxnLst/>
              <a:rect l="l" t="t" r="r" b="b"/>
              <a:pathLst>
                <a:path w="2847975" h="1123950">
                  <a:moveTo>
                    <a:pt x="114300" y="0"/>
                  </a:moveTo>
                  <a:lnTo>
                    <a:pt x="2733675" y="0"/>
                  </a:lnTo>
                  <a:cubicBezTo>
                    <a:pt x="2796801" y="0"/>
                    <a:pt x="2847975" y="51174"/>
                    <a:pt x="2847975" y="114300"/>
                  </a:cubicBezTo>
                  <a:lnTo>
                    <a:pt x="2847975" y="1009650"/>
                  </a:lnTo>
                  <a:cubicBezTo>
                    <a:pt x="2847975" y="1072776"/>
                    <a:pt x="2796801" y="1123950"/>
                    <a:pt x="2733675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829675" y="5248275"/>
              <a:ext cx="190500" cy="1905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76466" y="52778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56573" y="5177314"/>
              <a:ext cx="1755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工作台的改进方向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57335" y="5460206"/>
              <a:ext cx="18515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实时数据管道 + 自动归因，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57335" y="568880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将洞察产生压缩至分钟级。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54668" y="5775008"/>
              <a:ext cx="22346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从小时级降到分钟级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438900" y="2219325"/>
            <a:ext cx="2200275" cy="3314700"/>
            <a:chOff x="6438900" y="2219325"/>
            <a:chExt cx="2200275" cy="3314700"/>
          </a:xfrm>
        </p:grpSpPr>
        <p:sp>
          <p:nvSpPr>
            <p:cNvPr id="52" name="Freeform 52"/>
            <p:cNvSpPr/>
            <p:nvPr/>
          </p:nvSpPr>
          <p:spPr>
            <a:xfrm>
              <a:off x="7505700" y="2219325"/>
              <a:ext cx="1133475" cy="133350"/>
            </a:xfrm>
            <a:custGeom>
              <a:avLst/>
              <a:gdLst/>
              <a:ahLst/>
              <a:cxnLst/>
              <a:rect l="l" t="t" r="r" b="b"/>
              <a:pathLst>
                <a:path w="1133475" h="133350">
                  <a:moveTo>
                    <a:pt x="0" y="133350"/>
                  </a:moveTo>
                  <a:cubicBezTo>
                    <a:pt x="542925" y="133350"/>
                    <a:pt x="609600" y="0"/>
                    <a:pt x="1133475" y="0"/>
                  </a:cubicBezTo>
                </a:path>
              </a:pathLst>
            </a:custGeom>
            <a:noFill/>
            <a:ln w="19050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505700" y="3705225"/>
              <a:ext cx="1133475" cy="171450"/>
            </a:xfrm>
            <a:custGeom>
              <a:avLst/>
              <a:gdLst/>
              <a:ahLst/>
              <a:cxnLst/>
              <a:rect l="l" t="t" r="r" b="b"/>
              <a:pathLst>
                <a:path w="1133475" h="171450">
                  <a:moveTo>
                    <a:pt x="0" y="0"/>
                  </a:moveTo>
                  <a:cubicBezTo>
                    <a:pt x="590550" y="0"/>
                    <a:pt x="571500" y="171450"/>
                    <a:pt x="1133475" y="171450"/>
                  </a:cubicBezTo>
                </a:path>
              </a:pathLst>
            </a:custGeom>
            <a:noFill/>
            <a:ln w="19050">
              <a:solidFill>
                <a:schemeClr val="accent2">
                  <a:alpha val="35000"/>
                </a:schemeClr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505700" y="4953000"/>
              <a:ext cx="1133475" cy="581025"/>
            </a:xfrm>
            <a:custGeom>
              <a:avLst/>
              <a:gdLst/>
              <a:ahLst/>
              <a:cxnLst/>
              <a:rect l="l" t="t" r="r" b="b"/>
              <a:pathLst>
                <a:path w="1133475" h="581025">
                  <a:moveTo>
                    <a:pt x="0" y="0"/>
                  </a:moveTo>
                  <a:cubicBezTo>
                    <a:pt x="542925" y="0"/>
                    <a:pt x="609600" y="581025"/>
                    <a:pt x="1133475" y="581025"/>
                  </a:cubicBezTo>
                </a:path>
              </a:pathLst>
            </a:custGeom>
            <a:noFill/>
            <a:ln w="19050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467600" y="23145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467600" y="36671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7467600" y="4914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6438900" y="2724150"/>
              <a:ext cx="1028700" cy="323850"/>
            </a:xfrm>
            <a:custGeom>
              <a:avLst/>
              <a:gdLst/>
              <a:ahLst/>
              <a:cxnLst/>
              <a:rect l="l" t="t" r="r" b="b"/>
              <a:pathLst>
                <a:path w="1028700" h="323850">
                  <a:moveTo>
                    <a:pt x="161925" y="0"/>
                  </a:moveTo>
                  <a:lnTo>
                    <a:pt x="866775" y="0"/>
                  </a:lnTo>
                  <a:cubicBezTo>
                    <a:pt x="956204" y="0"/>
                    <a:pt x="1028700" y="72496"/>
                    <a:pt x="1028700" y="161925"/>
                  </a:cubicBezTo>
                  <a:lnTo>
                    <a:pt x="1028700" y="161925"/>
                  </a:lnTo>
                  <a:cubicBezTo>
                    <a:pt x="1028700" y="251354"/>
                    <a:pt x="956204" y="323850"/>
                    <a:pt x="8667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29495" y="28122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lag ≥ 48h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61925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324802"/>
            <a:ext cx="11067479" cy="6244114"/>
            <a:chOff x="557784" y="324802"/>
            <a:chExt cx="11067479" cy="624411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32480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708660"/>
              <a:ext cx="426876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AI工作台vs.传统模式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4069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93570" y="64069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3880" y="1314450"/>
            <a:ext cx="11056620" cy="5162931"/>
            <a:chOff x="563880" y="1314450"/>
            <a:chExt cx="11056620" cy="5162931"/>
          </a:xfrm>
        </p:grpSpPr>
        <p:sp>
          <p:nvSpPr>
            <p:cNvPr id="13" name="TextBox 13"/>
            <p:cNvSpPr txBox="1"/>
            <p:nvPr/>
          </p:nvSpPr>
          <p:spPr>
            <a:xfrm>
              <a:off x="563880" y="1314450"/>
              <a:ext cx="5957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在速度、精度与可扩展性三个维度上，AI工作台形成代际优势。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1771650"/>
              <a:ext cx="5334000" cy="609600"/>
            </a:xfrm>
            <a:custGeom>
              <a:avLst/>
              <a:gdLst/>
              <a:ahLst/>
              <a:cxnLst/>
              <a:rect l="l" t="t" r="r" b="b"/>
              <a:pathLst>
                <a:path w="5334000" h="6096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95300"/>
                  </a:lnTo>
                  <a:cubicBezTo>
                    <a:pt x="5334000" y="558426"/>
                    <a:pt x="5282826" y="609600"/>
                    <a:pt x="52197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286500" y="1771650"/>
              <a:ext cx="5334000" cy="609600"/>
            </a:xfrm>
            <a:custGeom>
              <a:avLst/>
              <a:gdLst/>
              <a:ahLst/>
              <a:cxnLst/>
              <a:rect l="l" t="t" r="r" b="b"/>
              <a:pathLst>
                <a:path w="5334000" h="6096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95300"/>
                  </a:lnTo>
                  <a:cubicBezTo>
                    <a:pt x="5334000" y="558426"/>
                    <a:pt x="5282826" y="609600"/>
                    <a:pt x="52197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7344" y="1932622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传统模式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2344" y="1932622"/>
              <a:ext cx="138134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AI工作台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71500" y="2609850"/>
              <a:ext cx="5334000" cy="1619250"/>
            </a:xfrm>
            <a:custGeom>
              <a:avLst/>
              <a:gdLst/>
              <a:ahLst/>
              <a:cxnLst/>
              <a:rect l="l" t="t" r="r" b="b"/>
              <a:pathLst>
                <a:path w="5334000" h="1619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504950"/>
                  </a:lnTo>
                  <a:cubicBezTo>
                    <a:pt x="5334000" y="1568076"/>
                    <a:pt x="5282826" y="1619250"/>
                    <a:pt x="5219700" y="1619250"/>
                  </a:cubicBezTo>
                  <a:lnTo>
                    <a:pt x="114300" y="1619250"/>
                  </a:lnTo>
                  <a:cubicBezTo>
                    <a:pt x="51174" y="1619250"/>
                    <a:pt x="0" y="1568076"/>
                    <a:pt x="0" y="1504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286500" y="2609850"/>
              <a:ext cx="5334000" cy="1619250"/>
            </a:xfrm>
            <a:custGeom>
              <a:avLst/>
              <a:gdLst/>
              <a:ahLst/>
              <a:cxnLst/>
              <a:rect l="l" t="t" r="r" b="b"/>
              <a:pathLst>
                <a:path w="5334000" h="1619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504950"/>
                  </a:lnTo>
                  <a:cubicBezTo>
                    <a:pt x="5334000" y="1568076"/>
                    <a:pt x="5282826" y="1619250"/>
                    <a:pt x="5219700" y="1619250"/>
                  </a:cubicBezTo>
                  <a:lnTo>
                    <a:pt x="114300" y="1619250"/>
                  </a:lnTo>
                  <a:cubicBezTo>
                    <a:pt x="51174" y="1619250"/>
                    <a:pt x="0" y="1568076"/>
                    <a:pt x="0" y="1504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71500" y="4400550"/>
              <a:ext cx="5334000" cy="1619250"/>
            </a:xfrm>
            <a:custGeom>
              <a:avLst/>
              <a:gdLst/>
              <a:ahLst/>
              <a:cxnLst/>
              <a:rect l="l" t="t" r="r" b="b"/>
              <a:pathLst>
                <a:path w="5334000" h="1619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504950"/>
                  </a:lnTo>
                  <a:cubicBezTo>
                    <a:pt x="5334000" y="1568076"/>
                    <a:pt x="5282826" y="1619250"/>
                    <a:pt x="5219700" y="1619250"/>
                  </a:cubicBezTo>
                  <a:lnTo>
                    <a:pt x="114300" y="1619250"/>
                  </a:lnTo>
                  <a:cubicBezTo>
                    <a:pt x="51174" y="1619250"/>
                    <a:pt x="0" y="1568076"/>
                    <a:pt x="0" y="1504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286500" y="4400550"/>
              <a:ext cx="5334000" cy="1619250"/>
            </a:xfrm>
            <a:custGeom>
              <a:avLst/>
              <a:gdLst/>
              <a:ahLst/>
              <a:cxnLst/>
              <a:rect l="l" t="t" r="r" b="b"/>
              <a:pathLst>
                <a:path w="5334000" h="1619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504950"/>
                  </a:lnTo>
                  <a:cubicBezTo>
                    <a:pt x="5334000" y="1568076"/>
                    <a:pt x="5282826" y="1619250"/>
                    <a:pt x="5219700" y="1619250"/>
                  </a:cubicBezTo>
                  <a:lnTo>
                    <a:pt x="114300" y="1619250"/>
                  </a:lnTo>
                  <a:cubicBezTo>
                    <a:pt x="51174" y="1619250"/>
                    <a:pt x="0" y="1568076"/>
                    <a:pt x="0" y="1504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81050" y="2819400"/>
              <a:ext cx="1028700" cy="285750"/>
            </a:xfrm>
            <a:custGeom>
              <a:avLst/>
              <a:gdLst/>
              <a:ahLst/>
              <a:cxnLst/>
              <a:rect l="l" t="t" r="r" b="b"/>
              <a:pathLst>
                <a:path w="1028700" h="285750">
                  <a:moveTo>
                    <a:pt x="142875" y="0"/>
                  </a:moveTo>
                  <a:lnTo>
                    <a:pt x="885825" y="0"/>
                  </a:lnTo>
                  <a:cubicBezTo>
                    <a:pt x="964733" y="0"/>
                    <a:pt x="1028700" y="63967"/>
                    <a:pt x="1028700" y="142875"/>
                  </a:cubicBezTo>
                  <a:lnTo>
                    <a:pt x="1028700" y="142875"/>
                  </a:lnTo>
                  <a:cubicBezTo>
                    <a:pt x="1028700" y="221783"/>
                    <a:pt x="964733" y="285750"/>
                    <a:pt x="8858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3229" y="28965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496050" y="2819400"/>
              <a:ext cx="1028700" cy="285750"/>
            </a:xfrm>
            <a:custGeom>
              <a:avLst/>
              <a:gdLst/>
              <a:ahLst/>
              <a:cxnLst/>
              <a:rect l="l" t="t" r="r" b="b"/>
              <a:pathLst>
                <a:path w="1028700" h="285750">
                  <a:moveTo>
                    <a:pt x="142875" y="0"/>
                  </a:moveTo>
                  <a:lnTo>
                    <a:pt x="885825" y="0"/>
                  </a:lnTo>
                  <a:cubicBezTo>
                    <a:pt x="964733" y="0"/>
                    <a:pt x="1028700" y="63967"/>
                    <a:pt x="1028700" y="142875"/>
                  </a:cubicBezTo>
                  <a:lnTo>
                    <a:pt x="1028700" y="142875"/>
                  </a:lnTo>
                  <a:cubicBezTo>
                    <a:pt x="1028700" y="221783"/>
                    <a:pt x="964733" y="285750"/>
                    <a:pt x="8858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08229" y="28965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81050" y="4610100"/>
              <a:ext cx="1028700" cy="285750"/>
            </a:xfrm>
            <a:custGeom>
              <a:avLst/>
              <a:gdLst/>
              <a:ahLst/>
              <a:cxnLst/>
              <a:rect l="l" t="t" r="r" b="b"/>
              <a:pathLst>
                <a:path w="1028700" h="285750">
                  <a:moveTo>
                    <a:pt x="142875" y="0"/>
                  </a:moveTo>
                  <a:lnTo>
                    <a:pt x="885825" y="0"/>
                  </a:lnTo>
                  <a:cubicBezTo>
                    <a:pt x="964733" y="0"/>
                    <a:pt x="1028700" y="63967"/>
                    <a:pt x="1028700" y="142875"/>
                  </a:cubicBezTo>
                  <a:lnTo>
                    <a:pt x="1028700" y="142875"/>
                  </a:lnTo>
                  <a:cubicBezTo>
                    <a:pt x="1028700" y="221783"/>
                    <a:pt x="964733" y="285750"/>
                    <a:pt x="8858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93229" y="46872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分析洞察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496050" y="4610100"/>
              <a:ext cx="1028700" cy="285750"/>
            </a:xfrm>
            <a:custGeom>
              <a:avLst/>
              <a:gdLst/>
              <a:ahLst/>
              <a:cxnLst/>
              <a:rect l="l" t="t" r="r" b="b"/>
              <a:pathLst>
                <a:path w="1028700" h="285750">
                  <a:moveTo>
                    <a:pt x="142875" y="0"/>
                  </a:moveTo>
                  <a:lnTo>
                    <a:pt x="885825" y="0"/>
                  </a:lnTo>
                  <a:cubicBezTo>
                    <a:pt x="964733" y="0"/>
                    <a:pt x="1028700" y="63967"/>
                    <a:pt x="1028700" y="142875"/>
                  </a:cubicBezTo>
                  <a:lnTo>
                    <a:pt x="1028700" y="142875"/>
                  </a:lnTo>
                  <a:cubicBezTo>
                    <a:pt x="1028700" y="221783"/>
                    <a:pt x="964733" y="285750"/>
                    <a:pt x="8858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08229" y="46872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分析洞察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1906" y="3158490"/>
              <a:ext cx="23436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手动ETL与报表拼接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4192" y="3511868"/>
              <a:ext cx="2414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依赖IT排期，T+1以上延迟，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4192" y="3778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多源数据对齐错误率高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6906" y="315849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实时数据虚拟化与自动映射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9192" y="35118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分钟级接入全渠道数据，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9192" y="3778568"/>
              <a:ext cx="2097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零代码完成清洗与统一ID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1906" y="4949190"/>
              <a:ext cx="2007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BI看板+人工分析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4192" y="53025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取数-分析-报告循环长，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192" y="55692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难以发现深层关联与预测性信号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6906" y="4949190"/>
              <a:ext cx="3203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AI预测分析与自然语言问答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9192" y="53025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基于因果推断与预测模型自动推送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9192" y="55692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异常与机会，支持自然语言查询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2000250" y="340995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7715250" y="340995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9525">
              <a:solidFill>
                <a:srgbClr val="D6E7F8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2000250" y="520065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7715250" y="520065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9525">
              <a:solidFill>
                <a:srgbClr val="D6E7F8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4114800" y="2905125"/>
              <a:ext cx="1466850" cy="1028700"/>
            </a:xfrm>
            <a:custGeom>
              <a:avLst/>
              <a:gdLst/>
              <a:ahLst/>
              <a:cxnLst/>
              <a:rect l="l" t="t" r="r" b="b"/>
              <a:pathLst>
                <a:path w="1466850" h="1028700">
                  <a:moveTo>
                    <a:pt x="95250" y="0"/>
                  </a:moveTo>
                  <a:lnTo>
                    <a:pt x="1371600" y="0"/>
                  </a:lnTo>
                  <a:cubicBezTo>
                    <a:pt x="1424205" y="0"/>
                    <a:pt x="1466850" y="42645"/>
                    <a:pt x="1466850" y="95250"/>
                  </a:cubicBezTo>
                  <a:lnTo>
                    <a:pt x="1466850" y="933450"/>
                  </a:lnTo>
                  <a:cubicBezTo>
                    <a:pt x="1466850" y="986055"/>
                    <a:pt x="1424205" y="1028700"/>
                    <a:pt x="1371600" y="1028700"/>
                  </a:cubicBezTo>
                  <a:lnTo>
                    <a:pt x="95250" y="1028700"/>
                  </a:lnTo>
                  <a:cubicBezTo>
                    <a:pt x="42645" y="1028700"/>
                    <a:pt x="0" y="986055"/>
                    <a:pt x="0" y="933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722304" y="31032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速度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84129" y="3219450"/>
              <a:ext cx="9281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C53030"/>
                  </a:solidFill>
                  <a:latin typeface="+mj-lt"/>
                  <a:ea typeface="+mj-ea"/>
                  <a:cs typeface="+mj-cs"/>
                </a:rPr>
                <a:t>T+1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18838" y="36680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按批处理更新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9848850" y="2905125"/>
              <a:ext cx="1466850" cy="1028700"/>
            </a:xfrm>
            <a:custGeom>
              <a:avLst/>
              <a:gdLst/>
              <a:ahLst/>
              <a:cxnLst/>
              <a:rect l="l" t="t" r="r" b="b"/>
              <a:pathLst>
                <a:path w="1466850" h="1028700">
                  <a:moveTo>
                    <a:pt x="95250" y="0"/>
                  </a:moveTo>
                  <a:lnTo>
                    <a:pt x="1371600" y="0"/>
                  </a:lnTo>
                  <a:cubicBezTo>
                    <a:pt x="1424205" y="0"/>
                    <a:pt x="1466850" y="42645"/>
                    <a:pt x="1466850" y="95250"/>
                  </a:cubicBezTo>
                  <a:lnTo>
                    <a:pt x="1466850" y="933450"/>
                  </a:lnTo>
                  <a:cubicBezTo>
                    <a:pt x="1466850" y="986055"/>
                    <a:pt x="1424205" y="1028700"/>
                    <a:pt x="1371600" y="1028700"/>
                  </a:cubicBezTo>
                  <a:lnTo>
                    <a:pt x="95250" y="1028700"/>
                  </a:lnTo>
                  <a:cubicBezTo>
                    <a:pt x="42645" y="1028700"/>
                    <a:pt x="0" y="986055"/>
                    <a:pt x="0" y="933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456354" y="31032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速度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94951" y="3219450"/>
              <a:ext cx="137464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分钟级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52888" y="36680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持续同步接入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4114800" y="4695825"/>
              <a:ext cx="1466850" cy="1028700"/>
            </a:xfrm>
            <a:custGeom>
              <a:avLst/>
              <a:gdLst/>
              <a:ahLst/>
              <a:cxnLst/>
              <a:rect l="l" t="t" r="r" b="b"/>
              <a:pathLst>
                <a:path w="1466850" h="1028700">
                  <a:moveTo>
                    <a:pt x="95250" y="0"/>
                  </a:moveTo>
                  <a:lnTo>
                    <a:pt x="1371600" y="0"/>
                  </a:lnTo>
                  <a:cubicBezTo>
                    <a:pt x="1424205" y="0"/>
                    <a:pt x="1466850" y="42645"/>
                    <a:pt x="1466850" y="95250"/>
                  </a:cubicBezTo>
                  <a:lnTo>
                    <a:pt x="1466850" y="933450"/>
                  </a:lnTo>
                  <a:cubicBezTo>
                    <a:pt x="1466850" y="986055"/>
                    <a:pt x="1424205" y="1028700"/>
                    <a:pt x="1371600" y="1028700"/>
                  </a:cubicBezTo>
                  <a:lnTo>
                    <a:pt x="95250" y="1028700"/>
                  </a:lnTo>
                  <a:cubicBezTo>
                    <a:pt x="42645" y="1028700"/>
                    <a:pt x="0" y="986055"/>
                    <a:pt x="0" y="933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722304" y="48939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精度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31259" y="5042535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C53030"/>
                  </a:solidFill>
                  <a:latin typeface="+mj-lt"/>
                  <a:ea typeface="+mj-ea"/>
                  <a:cs typeface="+mj-cs"/>
                </a:rPr>
                <a:t>被动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418838" y="54587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依赖人工解释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9848850" y="4695825"/>
              <a:ext cx="1466850" cy="1028700"/>
            </a:xfrm>
            <a:custGeom>
              <a:avLst/>
              <a:gdLst/>
              <a:ahLst/>
              <a:cxnLst/>
              <a:rect l="l" t="t" r="r" b="b"/>
              <a:pathLst>
                <a:path w="1466850" h="1028700">
                  <a:moveTo>
                    <a:pt x="95250" y="0"/>
                  </a:moveTo>
                  <a:lnTo>
                    <a:pt x="1371600" y="0"/>
                  </a:lnTo>
                  <a:cubicBezTo>
                    <a:pt x="1424205" y="0"/>
                    <a:pt x="1466850" y="42645"/>
                    <a:pt x="1466850" y="95250"/>
                  </a:cubicBezTo>
                  <a:lnTo>
                    <a:pt x="1466850" y="933450"/>
                  </a:lnTo>
                  <a:cubicBezTo>
                    <a:pt x="1466850" y="986055"/>
                    <a:pt x="1424205" y="1028700"/>
                    <a:pt x="1371600" y="1028700"/>
                  </a:cubicBezTo>
                  <a:lnTo>
                    <a:pt x="95250" y="1028700"/>
                  </a:lnTo>
                  <a:cubicBezTo>
                    <a:pt x="42645" y="1028700"/>
                    <a:pt x="0" y="986055"/>
                    <a:pt x="0" y="933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456354" y="48939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精度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165309" y="5042535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主动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011537" y="54587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自动发现异常机会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571500" y="6172200"/>
              <a:ext cx="11049000" cy="304800"/>
            </a:xfrm>
            <a:custGeom>
              <a:avLst/>
              <a:gdLst/>
              <a:ahLst/>
              <a:cxnLst/>
              <a:rect l="l" t="t" r="r" b="b"/>
              <a:pathLst>
                <a:path w="11049000" h="3048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28600"/>
                  </a:lnTo>
                  <a:cubicBezTo>
                    <a:pt x="11049000" y="270684"/>
                    <a:pt x="11014884" y="304800"/>
                    <a:pt x="10972800" y="304800"/>
                  </a:cubicBezTo>
                  <a:lnTo>
                    <a:pt x="76200" y="304800"/>
                  </a:lnTo>
                  <a:cubicBezTo>
                    <a:pt x="34116" y="304800"/>
                    <a:pt x="0" y="270684"/>
                    <a:pt x="0" y="2286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128254" y="6242685"/>
              <a:ext cx="5935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核心差异：传统模式围绕“报表交付”，AI工作台围绕“实时决策与自动优化”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369147" y="1933099"/>
            <a:ext cx="1453706" cy="3324701"/>
            <a:chOff x="5369147" y="1933099"/>
            <a:chExt cx="1453706" cy="3324701"/>
          </a:xfrm>
        </p:grpSpPr>
        <p:sp>
          <p:nvSpPr>
            <p:cNvPr id="65" name="Ellipse 65"/>
            <p:cNvSpPr/>
            <p:nvPr/>
          </p:nvSpPr>
          <p:spPr>
            <a:xfrm>
              <a:off x="5981700" y="33718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5981700" y="51625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6029325" y="341947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6029325" y="521017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5734050" y="21336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cubicBezTo>
                    <a:pt x="133350" y="0"/>
                    <a:pt x="171450" y="0"/>
                    <a:pt x="3048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6153150" y="21336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cubicBezTo>
                    <a:pt x="133350" y="0"/>
                    <a:pt x="171450" y="0"/>
                    <a:pt x="3048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369147" y="1933099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同一业务模块的能力跃迁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14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20015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457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57650" y="184785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448550" y="184785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57784" y="390049"/>
            <a:ext cx="11062716" cy="1455896"/>
            <a:chOff x="557784" y="390049"/>
            <a:chExt cx="11062716" cy="1455896"/>
          </a:xfrm>
        </p:grpSpPr>
        <p:sp>
          <p:nvSpPr>
            <p:cNvPr id="10" name="TextBox 10"/>
            <p:cNvSpPr txBox="1"/>
            <p:nvPr/>
          </p:nvSpPr>
          <p:spPr>
            <a:xfrm>
              <a:off x="566547" y="390049"/>
              <a:ext cx="845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PROOFGRID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784" y="52768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客户实践验证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880" y="1285875"/>
              <a:ext cx="4037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三家不同行业客户在接入AI营销工作台后，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880" y="15525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均取得可量化的效率与增长提升。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9048750" y="476250"/>
              <a:ext cx="2571750" cy="342900"/>
            </a:xfrm>
            <a:custGeom>
              <a:avLst/>
              <a:gdLst/>
              <a:ahLst/>
              <a:cxnLst/>
              <a:rect l="l" t="t" r="r" b="b"/>
              <a:pathLst>
                <a:path w="2571750" h="342900">
                  <a:moveTo>
                    <a:pt x="171450" y="0"/>
                  </a:moveTo>
                  <a:lnTo>
                    <a:pt x="2400300" y="0"/>
                  </a:lnTo>
                  <a:cubicBezTo>
                    <a:pt x="2494989" y="0"/>
                    <a:pt x="2571750" y="76761"/>
                    <a:pt x="2571750" y="171450"/>
                  </a:cubicBezTo>
                  <a:lnTo>
                    <a:pt x="2571750" y="171450"/>
                  </a:lnTo>
                  <a:cubicBezTo>
                    <a:pt x="2571750" y="266139"/>
                    <a:pt x="2494989" y="342900"/>
                    <a:pt x="24003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39021" y="581978"/>
              <a:ext cx="2191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企业 AI 营销工作台 · 客户证据页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71500" y="1847850"/>
            <a:ext cx="11049000" cy="4114800"/>
            <a:chOff x="571500" y="1847850"/>
            <a:chExt cx="11049000" cy="4114800"/>
          </a:xfrm>
        </p:grpSpPr>
        <p:sp>
          <p:nvSpPr>
            <p:cNvPr id="17" name="Freeform 17"/>
            <p:cNvSpPr/>
            <p:nvPr/>
          </p:nvSpPr>
          <p:spPr>
            <a:xfrm>
              <a:off x="571500" y="1847850"/>
              <a:ext cx="3257550" cy="4114800"/>
            </a:xfrm>
            <a:custGeom>
              <a:avLst/>
              <a:gdLst/>
              <a:ahLst/>
              <a:cxnLst/>
              <a:rect l="l" t="t" r="r" b="b"/>
              <a:pathLst>
                <a:path w="3257550" h="4114800">
                  <a:moveTo>
                    <a:pt x="114300" y="0"/>
                  </a:moveTo>
                  <a:lnTo>
                    <a:pt x="3143250" y="0"/>
                  </a:lnTo>
                  <a:cubicBezTo>
                    <a:pt x="3206376" y="0"/>
                    <a:pt x="3257550" y="51174"/>
                    <a:pt x="3257550" y="114300"/>
                  </a:cubicBezTo>
                  <a:lnTo>
                    <a:pt x="3257550" y="4000500"/>
                  </a:lnTo>
                  <a:cubicBezTo>
                    <a:pt x="3257550" y="4063626"/>
                    <a:pt x="3206376" y="4114800"/>
                    <a:pt x="3143250" y="4114800"/>
                  </a:cubicBezTo>
                  <a:lnTo>
                    <a:pt x="114300" y="4114800"/>
                  </a:lnTo>
                  <a:cubicBezTo>
                    <a:pt x="51174" y="4114800"/>
                    <a:pt x="0" y="4063626"/>
                    <a:pt x="0" y="4000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962400" y="1847850"/>
              <a:ext cx="3257550" cy="4114800"/>
            </a:xfrm>
            <a:custGeom>
              <a:avLst/>
              <a:gdLst/>
              <a:ahLst/>
              <a:cxnLst/>
              <a:rect l="l" t="t" r="r" b="b"/>
              <a:pathLst>
                <a:path w="3257550" h="4114800">
                  <a:moveTo>
                    <a:pt x="114300" y="0"/>
                  </a:moveTo>
                  <a:lnTo>
                    <a:pt x="3143250" y="0"/>
                  </a:lnTo>
                  <a:cubicBezTo>
                    <a:pt x="3206376" y="0"/>
                    <a:pt x="3257550" y="51174"/>
                    <a:pt x="3257550" y="114300"/>
                  </a:cubicBezTo>
                  <a:lnTo>
                    <a:pt x="3257550" y="4000500"/>
                  </a:lnTo>
                  <a:cubicBezTo>
                    <a:pt x="3257550" y="4063626"/>
                    <a:pt x="3206376" y="4114800"/>
                    <a:pt x="3143250" y="4114800"/>
                  </a:cubicBezTo>
                  <a:lnTo>
                    <a:pt x="114300" y="4114800"/>
                  </a:lnTo>
                  <a:cubicBezTo>
                    <a:pt x="51174" y="4114800"/>
                    <a:pt x="0" y="4063626"/>
                    <a:pt x="0" y="4000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353300" y="1847850"/>
              <a:ext cx="4267200" cy="4114800"/>
            </a:xfrm>
            <a:custGeom>
              <a:avLst/>
              <a:gdLst/>
              <a:ahLst/>
              <a:cxnLst/>
              <a:rect l="l" t="t" r="r" b="b"/>
              <a:pathLst>
                <a:path w="4267200" h="4114800">
                  <a:moveTo>
                    <a:pt x="114300" y="0"/>
                  </a:moveTo>
                  <a:lnTo>
                    <a:pt x="4152900" y="0"/>
                  </a:lnTo>
                  <a:cubicBezTo>
                    <a:pt x="4216026" y="0"/>
                    <a:pt x="4267200" y="51174"/>
                    <a:pt x="4267200" y="114300"/>
                  </a:cubicBezTo>
                  <a:lnTo>
                    <a:pt x="4267200" y="4000500"/>
                  </a:lnTo>
                  <a:cubicBezTo>
                    <a:pt x="4267200" y="4063626"/>
                    <a:pt x="4216026" y="4114800"/>
                    <a:pt x="4152900" y="4114800"/>
                  </a:cubicBezTo>
                  <a:lnTo>
                    <a:pt x="114300" y="4114800"/>
                  </a:lnTo>
                  <a:cubicBezTo>
                    <a:pt x="51174" y="4114800"/>
                    <a:pt x="0" y="4063626"/>
                    <a:pt x="0" y="4000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00100" y="2095500"/>
              <a:ext cx="895350" cy="266700"/>
            </a:xfrm>
            <a:custGeom>
              <a:avLst/>
              <a:gdLst/>
              <a:ahLst/>
              <a:cxnLst/>
              <a:rect l="l" t="t" r="r" b="b"/>
              <a:pathLst>
                <a:path w="895350" h="266700">
                  <a:moveTo>
                    <a:pt x="133350" y="0"/>
                  </a:moveTo>
                  <a:lnTo>
                    <a:pt x="762000" y="0"/>
                  </a:lnTo>
                  <a:cubicBezTo>
                    <a:pt x="835647" y="0"/>
                    <a:pt x="895350" y="59703"/>
                    <a:pt x="895350" y="133350"/>
                  </a:cubicBezTo>
                  <a:lnTo>
                    <a:pt x="895350" y="133350"/>
                  </a:lnTo>
                  <a:cubicBezTo>
                    <a:pt x="895350" y="206997"/>
                    <a:pt x="835647" y="266700"/>
                    <a:pt x="7620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01062" y="2179320"/>
              <a:ext cx="4934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CASE 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9432" y="2421255"/>
              <a:ext cx="22168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某头部快消品牌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0100" y="2800350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0" y="0"/>
                  </a:moveTo>
                  <a:lnTo>
                    <a:pt x="28003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19150" y="3028950"/>
              <a:ext cx="419100" cy="4191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14400" y="3162300"/>
              <a:ext cx="228600" cy="161925"/>
            </a:xfrm>
            <a:custGeom>
              <a:avLst/>
              <a:gdLst/>
              <a:ahLst/>
              <a:cxnLst/>
              <a:rect l="l" t="t" r="r" b="b"/>
              <a:pathLst>
                <a:path w="228600" h="161925">
                  <a:moveTo>
                    <a:pt x="0" y="85725"/>
                  </a:moveTo>
                  <a:lnTo>
                    <a:pt x="76200" y="161925"/>
                  </a:lnTo>
                  <a:lnTo>
                    <a:pt x="228600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64742" y="30260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数据整合周期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4742" y="3283268"/>
              <a:ext cx="170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 7 天缩短至 4 小时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19150" y="3905250"/>
              <a:ext cx="419100" cy="4191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76300" y="3943350"/>
              <a:ext cx="304800" cy="266700"/>
            </a:xfrm>
            <a:custGeom>
              <a:avLst/>
              <a:gdLst/>
              <a:ahLst/>
              <a:cxnLst/>
              <a:rect l="l" t="t" r="r" b="b"/>
              <a:pathLst>
                <a:path w="304800" h="266700">
                  <a:moveTo>
                    <a:pt x="0" y="266700"/>
                  </a:moveTo>
                  <a:lnTo>
                    <a:pt x="0" y="114300"/>
                  </a:lnTo>
                  <a:lnTo>
                    <a:pt x="123825" y="114300"/>
                  </a:lnTo>
                  <a:lnTo>
                    <a:pt x="123825" y="0"/>
                  </a:lnTo>
                  <a:lnTo>
                    <a:pt x="304800" y="0"/>
                  </a:lnTo>
                  <a:lnTo>
                    <a:pt x="304800" y="2667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</a:ln>
          </p:spPr>
        </p:sp>
        <p:sp>
          <p:nvSpPr>
            <p:cNvPr id="30" name="Line 30"/>
            <p:cNvSpPr/>
            <p:nvPr/>
          </p:nvSpPr>
          <p:spPr>
            <a:xfrm>
              <a:off x="923925" y="3990975"/>
              <a:ext cx="209550" cy="152400"/>
            </a:xfrm>
            <a:custGeom>
              <a:avLst/>
              <a:gdLst/>
              <a:ahLst/>
              <a:cxnLst/>
              <a:rect l="l" t="t" r="r" b="b"/>
              <a:pathLst>
                <a:path w="209550" h="152400">
                  <a:moveTo>
                    <a:pt x="0" y="15240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64742" y="390239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圈选与出价效率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64742" y="4159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智能策略提升 32%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19150" y="4781550"/>
              <a:ext cx="419100" cy="4191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2F855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14400" y="4791075"/>
              <a:ext cx="257175" cy="266700"/>
            </a:xfrm>
            <a:custGeom>
              <a:avLst/>
              <a:gdLst/>
              <a:ahLst/>
              <a:cxnLst/>
              <a:rect l="l" t="t" r="r" b="b"/>
              <a:pathLst>
                <a:path w="257175" h="266700">
                  <a:moveTo>
                    <a:pt x="0" y="266700"/>
                  </a:moveTo>
                  <a:cubicBezTo>
                    <a:pt x="76200" y="114300"/>
                    <a:pt x="190500" y="114300"/>
                    <a:pt x="257175" y="0"/>
                  </a:cubicBezTo>
                </a:path>
              </a:pathLst>
            </a:custGeom>
            <a:noFill/>
            <a:ln w="23812" cap="rnd">
              <a:solidFill>
                <a:srgbClr val="2F855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66800" y="47910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0"/>
                  </a:moveTo>
                  <a:lnTo>
                    <a:pt x="104775" y="0"/>
                  </a:lnTo>
                  <a:lnTo>
                    <a:pt x="104775" y="104775"/>
                  </a:lnTo>
                </a:path>
              </a:pathLst>
            </a:custGeom>
            <a:noFill/>
            <a:ln w="23812" cap="rnd">
              <a:solidFill>
                <a:srgbClr val="2F855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64742" y="4778692"/>
              <a:ext cx="96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季度 ROAS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64742" y="50358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增长 2.1 倍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4191000" y="2095500"/>
              <a:ext cx="895350" cy="266700"/>
            </a:xfrm>
            <a:custGeom>
              <a:avLst/>
              <a:gdLst/>
              <a:ahLst/>
              <a:cxnLst/>
              <a:rect l="l" t="t" r="r" b="b"/>
              <a:pathLst>
                <a:path w="895350" h="266700">
                  <a:moveTo>
                    <a:pt x="133350" y="0"/>
                  </a:moveTo>
                  <a:lnTo>
                    <a:pt x="762000" y="0"/>
                  </a:lnTo>
                  <a:cubicBezTo>
                    <a:pt x="835647" y="0"/>
                    <a:pt x="895350" y="59703"/>
                    <a:pt x="895350" y="133350"/>
                  </a:cubicBezTo>
                  <a:lnTo>
                    <a:pt x="895350" y="133350"/>
                  </a:lnTo>
                  <a:cubicBezTo>
                    <a:pt x="895350" y="206997"/>
                    <a:pt x="835647" y="266700"/>
                    <a:pt x="7620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91962" y="2179320"/>
              <a:ext cx="4934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CASE 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80332" y="2421255"/>
              <a:ext cx="27824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某 B2B 科技公司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4191000" y="2800350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0" y="0"/>
                  </a:moveTo>
                  <a:lnTo>
                    <a:pt x="28003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4210050" y="3105150"/>
              <a:ext cx="419100" cy="4191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4324350" y="3200400"/>
              <a:ext cx="200025" cy="161925"/>
            </a:xfrm>
            <a:custGeom>
              <a:avLst/>
              <a:gdLst/>
              <a:ahLst/>
              <a:cxnLst/>
              <a:rect l="l" t="t" r="r" b="b"/>
              <a:pathLst>
                <a:path w="200025" h="161925">
                  <a:moveTo>
                    <a:pt x="0" y="161925"/>
                  </a:moveTo>
                  <a:lnTo>
                    <a:pt x="66675" y="95250"/>
                  </a:lnTo>
                  <a:lnTo>
                    <a:pt x="142875" y="142875"/>
                  </a:lnTo>
                  <a:lnTo>
                    <a:pt x="200025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55642" y="310229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线索到商机转化率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55642" y="335946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提升 45%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210050" y="4095750"/>
              <a:ext cx="419100" cy="4191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4305300" y="420052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28575" y="0"/>
                  </a:moveTo>
                  <a:lnTo>
                    <a:pt x="200025" y="0"/>
                  </a:lnTo>
                  <a:cubicBezTo>
                    <a:pt x="215807" y="0"/>
                    <a:pt x="228600" y="12793"/>
                    <a:pt x="228600" y="28575"/>
                  </a:cubicBezTo>
                  <a:lnTo>
                    <a:pt x="228600" y="180975"/>
                  </a:lnTo>
                  <a:cubicBezTo>
                    <a:pt x="228600" y="196757"/>
                    <a:pt x="215807" y="209550"/>
                    <a:pt x="200025" y="209550"/>
                  </a:cubicBezTo>
                  <a:lnTo>
                    <a:pt x="28575" y="209550"/>
                  </a:lnTo>
                  <a:cubicBezTo>
                    <a:pt x="12793" y="209550"/>
                    <a:pt x="0" y="196757"/>
                    <a:pt x="0" y="1809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4362450" y="4257675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4362450" y="4314825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4362450" y="437197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55642" y="409289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自动执行工作流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55642" y="4350068"/>
              <a:ext cx="1549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替代 80% 人工动作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4191000" y="504825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95250" y="0"/>
                  </a:moveTo>
                  <a:lnTo>
                    <a:pt x="1733550" y="0"/>
                  </a:lnTo>
                  <a:cubicBezTo>
                    <a:pt x="1786155" y="0"/>
                    <a:pt x="1828800" y="42645"/>
                    <a:pt x="1828800" y="95250"/>
                  </a:cubicBezTo>
                  <a:lnTo>
                    <a:pt x="1828800" y="438150"/>
                  </a:lnTo>
                  <a:cubicBezTo>
                    <a:pt x="1828800" y="490755"/>
                    <a:pt x="1786155" y="533400"/>
                    <a:pt x="17335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338638" y="5170170"/>
              <a:ext cx="8864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EVIDENCE NOTE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337304" y="5366385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营销自动化从“执行”转向“调度”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7581900" y="2095500"/>
              <a:ext cx="895350" cy="266700"/>
            </a:xfrm>
            <a:custGeom>
              <a:avLst/>
              <a:gdLst/>
              <a:ahLst/>
              <a:cxnLst/>
              <a:rect l="l" t="t" r="r" b="b"/>
              <a:pathLst>
                <a:path w="895350" h="266700">
                  <a:moveTo>
                    <a:pt x="133350" y="0"/>
                  </a:moveTo>
                  <a:lnTo>
                    <a:pt x="762000" y="0"/>
                  </a:lnTo>
                  <a:cubicBezTo>
                    <a:pt x="835647" y="0"/>
                    <a:pt x="895350" y="59703"/>
                    <a:pt x="895350" y="133350"/>
                  </a:cubicBezTo>
                  <a:lnTo>
                    <a:pt x="895350" y="133350"/>
                  </a:lnTo>
                  <a:cubicBezTo>
                    <a:pt x="895350" y="206997"/>
                    <a:pt x="835647" y="266700"/>
                    <a:pt x="7620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82862" y="2179320"/>
              <a:ext cx="4934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CASE 03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71232" y="2421255"/>
              <a:ext cx="22168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某连锁零售企业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7581900" y="28003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581900" y="3067050"/>
              <a:ext cx="1714500" cy="1200150"/>
            </a:xfrm>
            <a:custGeom>
              <a:avLst/>
              <a:gdLst/>
              <a:ahLst/>
              <a:cxnLst/>
              <a:rect l="l" t="t" r="r" b="b"/>
              <a:pathLst>
                <a:path w="1714500" h="1200150">
                  <a:moveTo>
                    <a:pt x="114300" y="0"/>
                  </a:moveTo>
                  <a:lnTo>
                    <a:pt x="1600200" y="0"/>
                  </a:lnTo>
                  <a:cubicBezTo>
                    <a:pt x="1663326" y="0"/>
                    <a:pt x="1714500" y="51174"/>
                    <a:pt x="1714500" y="114300"/>
                  </a:cubicBezTo>
                  <a:lnTo>
                    <a:pt x="1714500" y="1085850"/>
                  </a:lnTo>
                  <a:cubicBezTo>
                    <a:pt x="1714500" y="1148976"/>
                    <a:pt x="1663326" y="1200150"/>
                    <a:pt x="1600200" y="1200150"/>
                  </a:cubicBezTo>
                  <a:lnTo>
                    <a:pt x="114300" y="1200150"/>
                  </a:lnTo>
                  <a:cubicBezTo>
                    <a:pt x="51174" y="1200150"/>
                    <a:pt x="0" y="1148976"/>
                    <a:pt x="0" y="1085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804404" y="3223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无效渠道支出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95260" y="3514725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C53030"/>
                  </a:solidFill>
                  <a:latin typeface="+mj-lt"/>
                  <a:ea typeface="+mj-ea"/>
                  <a:cs typeface="+mj-cs"/>
                </a:rPr>
                <a:t>−28%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7810500" y="3981450"/>
              <a:ext cx="1257300" cy="9525"/>
            </a:xfrm>
            <a:custGeom>
              <a:avLst/>
              <a:gdLst/>
              <a:ahLst/>
              <a:cxnLst/>
              <a:rect l="l" t="t" r="r" b="b"/>
              <a:pathLst>
                <a:path w="1257300" h="9525">
                  <a:moveTo>
                    <a:pt x="0" y="0"/>
                  </a:moveTo>
                  <a:lnTo>
                    <a:pt x="12573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805547" y="4057174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归因上线后持续下降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9486900" y="3067050"/>
              <a:ext cx="1905000" cy="1200150"/>
            </a:xfrm>
            <a:custGeom>
              <a:avLst/>
              <a:gdLst/>
              <a:ahLst/>
              <a:cxnLst/>
              <a:rect l="l" t="t" r="r" b="b"/>
              <a:pathLst>
                <a:path w="1905000" h="120015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1085850"/>
                  </a:lnTo>
                  <a:cubicBezTo>
                    <a:pt x="1905000" y="1148976"/>
                    <a:pt x="1853826" y="1200150"/>
                    <a:pt x="1790700" y="1200150"/>
                  </a:cubicBezTo>
                  <a:lnTo>
                    <a:pt x="114300" y="1200150"/>
                  </a:lnTo>
                  <a:cubicBezTo>
                    <a:pt x="51174" y="1200150"/>
                    <a:pt x="0" y="1148976"/>
                    <a:pt x="0" y="1085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09404" y="3223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营销投入产出比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00260" y="3514725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+57%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715500" y="3981450"/>
              <a:ext cx="1447800" cy="9525"/>
            </a:xfrm>
            <a:custGeom>
              <a:avLst/>
              <a:gdLst/>
              <a:ahLst/>
              <a:cxnLst/>
              <a:rect l="l" t="t" r="r" b="b"/>
              <a:pathLst>
                <a:path w="1447800" h="9525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710547" y="4057174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预算重分配更精准</a:t>
              </a:r>
            </a:p>
          </p:txBody>
        </p:sp>
        <p:sp>
          <p:nvSpPr>
            <p:cNvPr id="70" name="Freeform 70"/>
            <p:cNvSpPr/>
            <p:nvPr/>
          </p:nvSpPr>
          <p:spPr>
            <a:xfrm>
              <a:off x="7581900" y="4514850"/>
              <a:ext cx="3810000" cy="1066800"/>
            </a:xfrm>
            <a:custGeom>
              <a:avLst/>
              <a:gdLst/>
              <a:ahLst/>
              <a:cxnLst/>
              <a:rect l="l" t="t" r="r" b="b"/>
              <a:pathLst>
                <a:path w="3810000" h="10668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952500"/>
                  </a:lnTo>
                  <a:cubicBezTo>
                    <a:pt x="3810000" y="1015626"/>
                    <a:pt x="3758826" y="1066800"/>
                    <a:pt x="3695700" y="1066800"/>
                  </a:cubicBezTo>
                  <a:lnTo>
                    <a:pt x="114300" y="1066800"/>
                  </a:lnTo>
                  <a:cubicBezTo>
                    <a:pt x="51174" y="1066800"/>
                    <a:pt x="0" y="1015626"/>
                    <a:pt x="0" y="952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803642" y="46643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共同结论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04023" y="4967764"/>
              <a:ext cx="2941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 营销工作台的价值已从单点提效，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04023" y="5205889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扩展到数据、投放、转化与归因的闭环增长。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7810500" y="52959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805547" y="5409724"/>
              <a:ext cx="24230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DATA → ANALYZE → EXECUTE → MEASURE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66738" y="6096000"/>
            <a:ext cx="11053762" cy="625316"/>
            <a:chOff x="566738" y="6096000"/>
            <a:chExt cx="11053762" cy="625316"/>
          </a:xfrm>
        </p:grpSpPr>
        <p:sp>
          <p:nvSpPr>
            <p:cNvPr id="77" name="Freeform 77"/>
            <p:cNvSpPr/>
            <p:nvPr/>
          </p:nvSpPr>
          <p:spPr>
            <a:xfrm>
              <a:off x="571500" y="6096000"/>
              <a:ext cx="11049000" cy="228600"/>
            </a:xfrm>
            <a:custGeom>
              <a:avLst/>
              <a:gdLst/>
              <a:ahLst/>
              <a:cxnLst/>
              <a:rect l="l" t="t" r="r" b="b"/>
              <a:pathLst>
                <a:path w="11049000" h="228600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190500"/>
                  </a:lnTo>
                  <a:cubicBezTo>
                    <a:pt x="11049000" y="211542"/>
                    <a:pt x="11031942" y="228600"/>
                    <a:pt x="110109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66738" y="65593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769279" y="6559391"/>
              <a:ext cx="8369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product-launch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68484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637699"/>
            <a:ext cx="11062716" cy="6045517"/>
            <a:chOff x="557784" y="637699"/>
            <a:chExt cx="11062716" cy="6045517"/>
          </a:xfrm>
        </p:grpSpPr>
        <p:sp>
          <p:nvSpPr>
            <p:cNvPr id="7" name="TextBox 7"/>
            <p:cNvSpPr txBox="1"/>
            <p:nvPr/>
          </p:nvSpPr>
          <p:spPr>
            <a:xfrm>
              <a:off x="566547" y="637699"/>
              <a:ext cx="970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9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784" y="88963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工作台核心影响指标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880" y="1381125"/>
              <a:ext cx="6093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系统部署12个月后，客户平均实现营销效率与营收贡献的双重跃升。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752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738" y="6521291"/>
              <a:ext cx="12651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06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49747" y="6521291"/>
              <a:ext cx="9802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SaaS 方案数据表现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2114550"/>
            <a:ext cx="11049000" cy="4343400"/>
            <a:chOff x="571500" y="2114550"/>
            <a:chExt cx="11049000" cy="4343400"/>
          </a:xfrm>
        </p:grpSpPr>
        <p:sp>
          <p:nvSpPr>
            <p:cNvPr id="14" name="Freeform 14"/>
            <p:cNvSpPr/>
            <p:nvPr/>
          </p:nvSpPr>
          <p:spPr>
            <a:xfrm>
              <a:off x="571500" y="2114550"/>
              <a:ext cx="5410200" cy="1733550"/>
            </a:xfrm>
            <a:custGeom>
              <a:avLst/>
              <a:gdLst/>
              <a:ahLst/>
              <a:cxnLst/>
              <a:rect l="l" t="t" r="r" b="b"/>
              <a:pathLst>
                <a:path w="5410200" h="1733550">
                  <a:moveTo>
                    <a:pt x="114300" y="0"/>
                  </a:moveTo>
                  <a:lnTo>
                    <a:pt x="5295900" y="0"/>
                  </a:lnTo>
                  <a:cubicBezTo>
                    <a:pt x="5359026" y="0"/>
                    <a:pt x="5410200" y="51174"/>
                    <a:pt x="5410200" y="114300"/>
                  </a:cubicBezTo>
                  <a:lnTo>
                    <a:pt x="5410200" y="1619250"/>
                  </a:lnTo>
                  <a:cubicBezTo>
                    <a:pt x="5410200" y="1682376"/>
                    <a:pt x="5359026" y="1733550"/>
                    <a:pt x="5295900" y="1733550"/>
                  </a:cubicBezTo>
                  <a:lnTo>
                    <a:pt x="114300" y="1733550"/>
                  </a:lnTo>
                  <a:cubicBezTo>
                    <a:pt x="51174" y="1733550"/>
                    <a:pt x="0" y="1682376"/>
                    <a:pt x="0" y="1619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210300" y="2114550"/>
              <a:ext cx="5410200" cy="1733550"/>
            </a:xfrm>
            <a:custGeom>
              <a:avLst/>
              <a:gdLst/>
              <a:ahLst/>
              <a:cxnLst/>
              <a:rect l="l" t="t" r="r" b="b"/>
              <a:pathLst>
                <a:path w="5410200" h="1733550">
                  <a:moveTo>
                    <a:pt x="114300" y="0"/>
                  </a:moveTo>
                  <a:lnTo>
                    <a:pt x="5295900" y="0"/>
                  </a:lnTo>
                  <a:cubicBezTo>
                    <a:pt x="5359026" y="0"/>
                    <a:pt x="5410200" y="51174"/>
                    <a:pt x="5410200" y="114300"/>
                  </a:cubicBezTo>
                  <a:lnTo>
                    <a:pt x="5410200" y="1619250"/>
                  </a:lnTo>
                  <a:cubicBezTo>
                    <a:pt x="5410200" y="1682376"/>
                    <a:pt x="5359026" y="1733550"/>
                    <a:pt x="5295900" y="1733550"/>
                  </a:cubicBezTo>
                  <a:lnTo>
                    <a:pt x="114300" y="1733550"/>
                  </a:lnTo>
                  <a:cubicBezTo>
                    <a:pt x="51174" y="1733550"/>
                    <a:pt x="0" y="1682376"/>
                    <a:pt x="0" y="1619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71500" y="4076700"/>
              <a:ext cx="5410200" cy="1733550"/>
            </a:xfrm>
            <a:custGeom>
              <a:avLst/>
              <a:gdLst/>
              <a:ahLst/>
              <a:cxnLst/>
              <a:rect l="l" t="t" r="r" b="b"/>
              <a:pathLst>
                <a:path w="5410200" h="1733550">
                  <a:moveTo>
                    <a:pt x="114300" y="0"/>
                  </a:moveTo>
                  <a:lnTo>
                    <a:pt x="5295900" y="0"/>
                  </a:lnTo>
                  <a:cubicBezTo>
                    <a:pt x="5359026" y="0"/>
                    <a:pt x="5410200" y="51174"/>
                    <a:pt x="5410200" y="114300"/>
                  </a:cubicBezTo>
                  <a:lnTo>
                    <a:pt x="5410200" y="1619250"/>
                  </a:lnTo>
                  <a:cubicBezTo>
                    <a:pt x="5410200" y="1682376"/>
                    <a:pt x="5359026" y="1733550"/>
                    <a:pt x="5295900" y="1733550"/>
                  </a:cubicBezTo>
                  <a:lnTo>
                    <a:pt x="114300" y="1733550"/>
                  </a:lnTo>
                  <a:cubicBezTo>
                    <a:pt x="51174" y="1733550"/>
                    <a:pt x="0" y="1682376"/>
                    <a:pt x="0" y="1619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210300" y="4076700"/>
              <a:ext cx="5410200" cy="1733550"/>
            </a:xfrm>
            <a:custGeom>
              <a:avLst/>
              <a:gdLst/>
              <a:ahLst/>
              <a:cxnLst/>
              <a:rect l="l" t="t" r="r" b="b"/>
              <a:pathLst>
                <a:path w="5410200" h="1733550">
                  <a:moveTo>
                    <a:pt x="114300" y="0"/>
                  </a:moveTo>
                  <a:lnTo>
                    <a:pt x="5295900" y="0"/>
                  </a:lnTo>
                  <a:cubicBezTo>
                    <a:pt x="5359026" y="0"/>
                    <a:pt x="5410200" y="51174"/>
                    <a:pt x="5410200" y="114300"/>
                  </a:cubicBezTo>
                  <a:lnTo>
                    <a:pt x="5410200" y="1619250"/>
                  </a:lnTo>
                  <a:cubicBezTo>
                    <a:pt x="5410200" y="1682376"/>
                    <a:pt x="5359026" y="1733550"/>
                    <a:pt x="5295900" y="1733550"/>
                  </a:cubicBezTo>
                  <a:lnTo>
                    <a:pt x="114300" y="1733550"/>
                  </a:lnTo>
                  <a:cubicBezTo>
                    <a:pt x="51174" y="1733550"/>
                    <a:pt x="0" y="1682376"/>
                    <a:pt x="0" y="1619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00100" y="23431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95250" y="0"/>
                  </a:moveTo>
                  <a:lnTo>
                    <a:pt x="400050" y="0"/>
                  </a:lnTo>
                  <a:cubicBezTo>
                    <a:pt x="452655" y="0"/>
                    <a:pt x="495300" y="42645"/>
                    <a:pt x="495300" y="95250"/>
                  </a:cubicBezTo>
                  <a:lnTo>
                    <a:pt x="495300" y="400050"/>
                  </a:lnTo>
                  <a:cubicBezTo>
                    <a:pt x="495300" y="452655"/>
                    <a:pt x="452655" y="495300"/>
                    <a:pt x="400050" y="495300"/>
                  </a:cubicBezTo>
                  <a:lnTo>
                    <a:pt x="95250" y="495300"/>
                  </a:lnTo>
                  <a:cubicBezTo>
                    <a:pt x="42645" y="495300"/>
                    <a:pt x="0" y="452655"/>
                    <a:pt x="0" y="400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14400" y="24574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66700"/>
                  </a:moveTo>
                  <a:lnTo>
                    <a:pt x="26670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20" name="Polyline 20"/>
            <p:cNvSpPr/>
            <p:nvPr/>
          </p:nvSpPr>
          <p:spPr>
            <a:xfrm>
              <a:off x="1104900" y="24574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914400" y="26098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14400" y="2667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79804" y="24898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营销运营效率提升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70660" y="2886075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35%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79804" y="338518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人工操作环节减少、流程自动化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438900" y="23431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95250" y="0"/>
                  </a:moveTo>
                  <a:lnTo>
                    <a:pt x="400050" y="0"/>
                  </a:lnTo>
                  <a:cubicBezTo>
                    <a:pt x="452655" y="0"/>
                    <a:pt x="495300" y="42645"/>
                    <a:pt x="495300" y="95250"/>
                  </a:cubicBezTo>
                  <a:lnTo>
                    <a:pt x="495300" y="400050"/>
                  </a:lnTo>
                  <a:cubicBezTo>
                    <a:pt x="495300" y="452655"/>
                    <a:pt x="452655" y="495300"/>
                    <a:pt x="400050" y="495300"/>
                  </a:cubicBezTo>
                  <a:lnTo>
                    <a:pt x="95250" y="495300"/>
                  </a:lnTo>
                  <a:cubicBezTo>
                    <a:pt x="42645" y="495300"/>
                    <a:pt x="0" y="452655"/>
                    <a:pt x="0" y="400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553200" y="26479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667500" y="25717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781800" y="24955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6591300" y="26098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7620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705600" y="25336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7620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553200" y="2762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18604" y="24898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月度有效线索增长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09460" y="2886075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2.8×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18604" y="3385185"/>
              <a:ext cx="18641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AI评分与个性化触达贡献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00100" y="430530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95250" y="0"/>
                  </a:moveTo>
                  <a:lnTo>
                    <a:pt x="400050" y="0"/>
                  </a:lnTo>
                  <a:cubicBezTo>
                    <a:pt x="452655" y="0"/>
                    <a:pt x="495300" y="42645"/>
                    <a:pt x="495300" y="95250"/>
                  </a:cubicBezTo>
                  <a:lnTo>
                    <a:pt x="495300" y="400050"/>
                  </a:lnTo>
                  <a:cubicBezTo>
                    <a:pt x="495300" y="452655"/>
                    <a:pt x="452655" y="495300"/>
                    <a:pt x="400050" y="495300"/>
                  </a:cubicBezTo>
                  <a:lnTo>
                    <a:pt x="95250" y="495300"/>
                  </a:lnTo>
                  <a:cubicBezTo>
                    <a:pt x="42645" y="495300"/>
                    <a:pt x="0" y="452655"/>
                    <a:pt x="0" y="400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14400" y="44196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38100" y="0"/>
                  </a:moveTo>
                  <a:lnTo>
                    <a:pt x="228600" y="0"/>
                  </a:lnTo>
                  <a:cubicBezTo>
                    <a:pt x="249642" y="0"/>
                    <a:pt x="266700" y="17058"/>
                    <a:pt x="266700" y="38100"/>
                  </a:cubicBezTo>
                  <a:lnTo>
                    <a:pt x="266700" y="228600"/>
                  </a:lnTo>
                  <a:cubicBezTo>
                    <a:pt x="266700" y="249642"/>
                    <a:pt x="249642" y="266700"/>
                    <a:pt x="228600" y="266700"/>
                  </a:cubicBezTo>
                  <a:lnTo>
                    <a:pt x="38100" y="266700"/>
                  </a:lnTo>
                  <a:cubicBezTo>
                    <a:pt x="17058" y="266700"/>
                    <a:pt x="0" y="249642"/>
                    <a:pt x="0" y="2286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971550" y="44767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1047750" y="44767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123950" y="44767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52500" y="45529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79804" y="445198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数据汇总时间压缩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70660" y="4848225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67%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79804" y="53473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从多天降至小时内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438900" y="430530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95250" y="0"/>
                  </a:moveTo>
                  <a:lnTo>
                    <a:pt x="400050" y="0"/>
                  </a:lnTo>
                  <a:cubicBezTo>
                    <a:pt x="452655" y="0"/>
                    <a:pt x="495300" y="42645"/>
                    <a:pt x="495300" y="95250"/>
                  </a:cubicBezTo>
                  <a:lnTo>
                    <a:pt x="495300" y="400050"/>
                  </a:lnTo>
                  <a:cubicBezTo>
                    <a:pt x="495300" y="452655"/>
                    <a:pt x="452655" y="495300"/>
                    <a:pt x="400050" y="495300"/>
                  </a:cubicBezTo>
                  <a:lnTo>
                    <a:pt x="95250" y="495300"/>
                  </a:lnTo>
                  <a:cubicBezTo>
                    <a:pt x="42645" y="495300"/>
                    <a:pt x="0" y="452655"/>
                    <a:pt x="0" y="400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572250" y="4476750"/>
              <a:ext cx="247650" cy="171450"/>
            </a:xfrm>
            <a:custGeom>
              <a:avLst/>
              <a:gdLst/>
              <a:ahLst/>
              <a:cxnLst/>
              <a:rect l="l" t="t" r="r" b="b"/>
              <a:pathLst>
                <a:path w="247650" h="171450">
                  <a:moveTo>
                    <a:pt x="0" y="171450"/>
                  </a:moveTo>
                  <a:lnTo>
                    <a:pt x="76200" y="95250"/>
                  </a:lnTo>
                  <a:lnTo>
                    <a:pt x="152400" y="133350"/>
                  </a:lnTo>
                  <a:lnTo>
                    <a:pt x="24765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47" name="Polyline 47"/>
            <p:cNvSpPr/>
            <p:nvPr/>
          </p:nvSpPr>
          <p:spPr>
            <a:xfrm>
              <a:off x="6762750" y="447675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6572250" y="4686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18604" y="4451985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营销归因准确率提升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09460" y="4848225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41%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18604" y="53473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基于多触点因果模型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571500" y="6057900"/>
              <a:ext cx="11049000" cy="400050"/>
            </a:xfrm>
            <a:custGeom>
              <a:avLst/>
              <a:gdLst/>
              <a:ahLst/>
              <a:cxnLst/>
              <a:rect l="l" t="t" r="r" b="b"/>
              <a:pathLst>
                <a:path w="11049000" h="40005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304800"/>
                  </a:lnTo>
                  <a:cubicBezTo>
                    <a:pt x="11049000" y="357405"/>
                    <a:pt x="11006355" y="400050"/>
                    <a:pt x="10953750" y="400050"/>
                  </a:cubicBezTo>
                  <a:lnTo>
                    <a:pt x="95250" y="400050"/>
                  </a:lnTo>
                  <a:cubicBezTo>
                    <a:pt x="42645" y="400050"/>
                    <a:pt x="0" y="357405"/>
                    <a:pt x="0" y="3048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81050" y="621982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5073" y="6167914"/>
              <a:ext cx="6242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四项指标共同指向：从“人驱动营销”转向“数据驱动、AI 协同、可量化增长”。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1930241"/>
            <a:ext cx="11049000" cy="3880009"/>
            <a:chOff x="571500" y="1930241"/>
            <a:chExt cx="11049000" cy="3880009"/>
          </a:xfrm>
        </p:grpSpPr>
        <p:sp>
          <p:nvSpPr>
            <p:cNvPr id="56" name="Line 56"/>
            <p:cNvSpPr/>
            <p:nvPr/>
          </p:nvSpPr>
          <p:spPr>
            <a:xfrm>
              <a:off x="6096000" y="2114550"/>
              <a:ext cx="9525" cy="3695700"/>
            </a:xfrm>
            <a:custGeom>
              <a:avLst/>
              <a:gdLst/>
              <a:ahLst/>
              <a:cxnLst/>
              <a:rect l="l" t="t" r="r" b="b"/>
              <a:pathLst>
                <a:path w="9525" h="3695700">
                  <a:moveTo>
                    <a:pt x="0" y="0"/>
                  </a:moveTo>
                  <a:lnTo>
                    <a:pt x="0" y="369570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400000" sp="600000"/>
              </a:custDash>
            </a:ln>
          </p:spPr>
        </p:sp>
        <p:sp>
          <p:nvSpPr>
            <p:cNvPr id="57" name="Line 57"/>
            <p:cNvSpPr/>
            <p:nvPr/>
          </p:nvSpPr>
          <p:spPr>
            <a:xfrm>
              <a:off x="571500" y="3962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400000" sp="600000"/>
              </a:custDash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91353" y="1930241"/>
              <a:ext cx="3427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效率侧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130153" y="1930241"/>
              <a:ext cx="3427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增长侧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5429250"/>
              <a:ext cx="12192000" cy="857250"/>
            </a:xfrm>
            <a:custGeom>
              <a:avLst/>
              <a:gdLst/>
              <a:ahLst/>
              <a:cxnLst/>
              <a:rect l="l" t="t" r="r" b="b"/>
              <a:pathLst>
                <a:path w="12192000" h="857250">
                  <a:moveTo>
                    <a:pt x="0" y="666750"/>
                  </a:moveTo>
                  <a:cubicBezTo>
                    <a:pt x="2095500" y="285750"/>
                    <a:pt x="4000500" y="857250"/>
                    <a:pt x="6096000" y="476250"/>
                  </a:cubicBezTo>
                  <a:cubicBezTo>
                    <a:pt x="8191500" y="95250"/>
                    <a:pt x="10096500" y="476250"/>
                    <a:pt x="12192000" y="0"/>
                  </a:cubicBez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5905500"/>
              <a:ext cx="12192000" cy="714375"/>
            </a:xfrm>
            <a:custGeom>
              <a:avLst/>
              <a:gdLst/>
              <a:ahLst/>
              <a:cxnLst/>
              <a:rect l="l" t="t" r="r" b="b"/>
              <a:pathLst>
                <a:path w="12192000" h="714375">
                  <a:moveTo>
                    <a:pt x="0" y="523875"/>
                  </a:moveTo>
                  <a:cubicBezTo>
                    <a:pt x="2095500" y="142875"/>
                    <a:pt x="4000500" y="714375"/>
                    <a:pt x="6096000" y="381000"/>
                  </a:cubicBezTo>
                  <a:cubicBezTo>
                    <a:pt x="8191500" y="47625"/>
                    <a:pt x="10096500" y="428625"/>
                    <a:pt x="12192000" y="0"/>
                  </a:cubicBez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858250" y="5524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525000" y="85725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57784" y="515302"/>
            <a:ext cx="11062716" cy="6129814"/>
            <a:chOff x="557784" y="515302"/>
            <a:chExt cx="11062716" cy="612981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515302"/>
              <a:ext cx="916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794385"/>
              <a:ext cx="27695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ROI提升轨迹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125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3880" y="1419225"/>
              <a:ext cx="7354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AI营销工作台上线后，客户平均在6个月内收回投资，随后进入持续增益阶段。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7452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71500" y="1962150"/>
            <a:ext cx="11049000" cy="4149661"/>
            <a:chOff x="571500" y="1962150"/>
            <a:chExt cx="11049000" cy="4149661"/>
          </a:xfrm>
        </p:grpSpPr>
        <p:sp>
          <p:nvSpPr>
            <p:cNvPr id="16" name="Freeform 16"/>
            <p:cNvSpPr/>
            <p:nvPr/>
          </p:nvSpPr>
          <p:spPr>
            <a:xfrm>
              <a:off x="571500" y="1962150"/>
              <a:ext cx="11049000" cy="4133850"/>
            </a:xfrm>
            <a:custGeom>
              <a:avLst/>
              <a:gdLst/>
              <a:ahLst/>
              <a:cxnLst/>
              <a:rect l="l" t="t" r="r" b="b"/>
              <a:pathLst>
                <a:path w="11049000" h="413385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4019550"/>
                  </a:lnTo>
                  <a:cubicBezTo>
                    <a:pt x="11049000" y="4082676"/>
                    <a:pt x="10997826" y="4133850"/>
                    <a:pt x="10934700" y="4133850"/>
                  </a:cubicBezTo>
                  <a:lnTo>
                    <a:pt x="114300" y="4133850"/>
                  </a:lnTo>
                  <a:cubicBezTo>
                    <a:pt x="51174" y="4133850"/>
                    <a:pt x="0" y="4082676"/>
                    <a:pt x="0" y="4019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00100" y="2171700"/>
              <a:ext cx="2362200" cy="3714750"/>
            </a:xfrm>
            <a:custGeom>
              <a:avLst/>
              <a:gdLst/>
              <a:ahLst/>
              <a:cxnLst/>
              <a:rect l="l" t="t" r="r" b="b"/>
              <a:pathLst>
                <a:path w="2362200" h="3714750">
                  <a:moveTo>
                    <a:pt x="95250" y="0"/>
                  </a:moveTo>
                  <a:lnTo>
                    <a:pt x="2266950" y="0"/>
                  </a:lnTo>
                  <a:cubicBezTo>
                    <a:pt x="2319555" y="0"/>
                    <a:pt x="2362200" y="42645"/>
                    <a:pt x="2362200" y="95250"/>
                  </a:cubicBezTo>
                  <a:lnTo>
                    <a:pt x="2362200" y="3619500"/>
                  </a:lnTo>
                  <a:cubicBezTo>
                    <a:pt x="2362200" y="3672105"/>
                    <a:pt x="2319555" y="3714750"/>
                    <a:pt x="2266950" y="3714750"/>
                  </a:cubicBezTo>
                  <a:lnTo>
                    <a:pt x="95250" y="3714750"/>
                  </a:lnTo>
                  <a:cubicBezTo>
                    <a:pt x="42645" y="3714750"/>
                    <a:pt x="0" y="3672105"/>
                    <a:pt x="0" y="3619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18794" y="23231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回收路径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2604" y="2689860"/>
              <a:ext cx="36990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从底座打通到持续学习，ROI随能力叠加逐段抬升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181100" y="33147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79042" y="33023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基础数据整合与自动化完成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80566" y="3563302"/>
              <a:ext cx="711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Month 1–2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81100" y="40957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79042" y="4083368"/>
              <a:ext cx="19051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AI推荐与动态分群上线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80566" y="4344352"/>
              <a:ext cx="711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Month 2–3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1181100" y="4876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79042" y="48644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全渠道自动化编排生效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80566" y="5125402"/>
              <a:ext cx="711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Month 3–5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1181100" y="5657850"/>
              <a:ext cx="152400" cy="1524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79042" y="5645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模型持续学习与效果累加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80566" y="5906452"/>
              <a:ext cx="789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Month 5–6+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3467100" y="2171700"/>
              <a:ext cx="7924800" cy="3714750"/>
            </a:xfrm>
            <a:custGeom>
              <a:avLst/>
              <a:gdLst/>
              <a:ahLst/>
              <a:cxnLst/>
              <a:rect l="l" t="t" r="r" b="b"/>
              <a:pathLst>
                <a:path w="7924800" h="3714750">
                  <a:moveTo>
                    <a:pt x="95250" y="0"/>
                  </a:moveTo>
                  <a:lnTo>
                    <a:pt x="7829550" y="0"/>
                  </a:lnTo>
                  <a:cubicBezTo>
                    <a:pt x="7882155" y="0"/>
                    <a:pt x="7924800" y="42645"/>
                    <a:pt x="7924800" y="95250"/>
                  </a:cubicBezTo>
                  <a:lnTo>
                    <a:pt x="7924800" y="3619500"/>
                  </a:lnTo>
                  <a:cubicBezTo>
                    <a:pt x="7924800" y="3672105"/>
                    <a:pt x="7882155" y="3714750"/>
                    <a:pt x="7829550" y="3714750"/>
                  </a:cubicBezTo>
                  <a:lnTo>
                    <a:pt x="95250" y="3714750"/>
                  </a:lnTo>
                  <a:cubicBezTo>
                    <a:pt x="42645" y="3714750"/>
                    <a:pt x="0" y="3672105"/>
                    <a:pt x="0" y="3619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000500" y="5372100"/>
              <a:ext cx="6934200" cy="9525"/>
            </a:xfrm>
            <a:custGeom>
              <a:avLst/>
              <a:gdLst/>
              <a:ahLst/>
              <a:cxnLst/>
              <a:rect l="l" t="t" r="r" b="b"/>
              <a:pathLst>
                <a:path w="6934200" h="9525">
                  <a:moveTo>
                    <a:pt x="0" y="0"/>
                  </a:moveTo>
                  <a:lnTo>
                    <a:pt x="69342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000500" y="285750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905402" y="5514499"/>
              <a:ext cx="190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96052" y="5514499"/>
              <a:ext cx="190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86702" y="5514499"/>
              <a:ext cx="190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77352" y="5514499"/>
              <a:ext cx="190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68002" y="5514499"/>
              <a:ext cx="190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39602" y="5514499"/>
              <a:ext cx="190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57651" y="53130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91014" y="46843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91014" y="40557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50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691014" y="34270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75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24377" y="27984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100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000500" y="4743450"/>
              <a:ext cx="6934200" cy="9525"/>
            </a:xfrm>
            <a:custGeom>
              <a:avLst/>
              <a:gdLst/>
              <a:ahLst/>
              <a:cxnLst/>
              <a:rect l="l" t="t" r="r" b="b"/>
              <a:pathLst>
                <a:path w="6934200" h="9525">
                  <a:moveTo>
                    <a:pt x="0" y="0"/>
                  </a:moveTo>
                  <a:lnTo>
                    <a:pt x="6934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4000500" y="4114800"/>
              <a:ext cx="6934200" cy="9525"/>
            </a:xfrm>
            <a:custGeom>
              <a:avLst/>
              <a:gdLst/>
              <a:ahLst/>
              <a:cxnLst/>
              <a:rect l="l" t="t" r="r" b="b"/>
              <a:pathLst>
                <a:path w="6934200" h="9525">
                  <a:moveTo>
                    <a:pt x="0" y="0"/>
                  </a:moveTo>
                  <a:lnTo>
                    <a:pt x="6934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4000500" y="3486150"/>
              <a:ext cx="6934200" cy="9525"/>
            </a:xfrm>
            <a:custGeom>
              <a:avLst/>
              <a:gdLst/>
              <a:ahLst/>
              <a:cxnLst/>
              <a:rect l="l" t="t" r="r" b="b"/>
              <a:pathLst>
                <a:path w="6934200" h="9525">
                  <a:moveTo>
                    <a:pt x="0" y="0"/>
                  </a:moveTo>
                  <a:lnTo>
                    <a:pt x="6934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4000500" y="2857500"/>
              <a:ext cx="6934200" cy="9525"/>
            </a:xfrm>
            <a:custGeom>
              <a:avLst/>
              <a:gdLst/>
              <a:ahLst/>
              <a:cxnLst/>
              <a:rect l="l" t="t" r="r" b="b"/>
              <a:pathLst>
                <a:path w="6934200" h="9525">
                  <a:moveTo>
                    <a:pt x="0" y="0"/>
                  </a:moveTo>
                  <a:lnTo>
                    <a:pt x="6934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4000500" y="2781300"/>
              <a:ext cx="6934200" cy="2514600"/>
            </a:xfrm>
            <a:custGeom>
              <a:avLst/>
              <a:gdLst/>
              <a:ahLst/>
              <a:cxnLst/>
              <a:rect l="l" t="t" r="r" b="b"/>
              <a:pathLst>
                <a:path w="6934200" h="2514600">
                  <a:moveTo>
                    <a:pt x="0" y="2514600"/>
                  </a:moveTo>
                  <a:cubicBezTo>
                    <a:pt x="457200" y="2495550"/>
                    <a:pt x="914400" y="2438400"/>
                    <a:pt x="1390650" y="2286000"/>
                  </a:cubicBezTo>
                  <a:cubicBezTo>
                    <a:pt x="1847850" y="2133600"/>
                    <a:pt x="2305050" y="1924050"/>
                    <a:pt x="2781300" y="1657350"/>
                  </a:cubicBezTo>
                  <a:cubicBezTo>
                    <a:pt x="3238500" y="1409700"/>
                    <a:pt x="3695700" y="1104900"/>
                    <a:pt x="4171950" y="838200"/>
                  </a:cubicBezTo>
                  <a:cubicBezTo>
                    <a:pt x="4629150" y="590550"/>
                    <a:pt x="5086350" y="381000"/>
                    <a:pt x="5562600" y="228600"/>
                  </a:cubicBezTo>
                  <a:cubicBezTo>
                    <a:pt x="6019800" y="95250"/>
                    <a:pt x="6477000" y="19050"/>
                    <a:pt x="6934200" y="0"/>
                  </a:cubicBezTo>
                </a:path>
              </a:pathLst>
            </a:custGeom>
            <a:noFill/>
            <a:ln w="57150" cap="rnd">
              <a:gradFill>
                <a:gsLst>
                  <a:gs pos="0">
                    <a:schemeClr val="accent1"/>
                  </a:gs>
                  <a:gs pos="5500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round/>
            </a:ln>
          </p:spPr>
        </p:sp>
        <p:sp>
          <p:nvSpPr>
            <p:cNvPr id="51" name="Ellipse 51"/>
            <p:cNvSpPr/>
            <p:nvPr/>
          </p:nvSpPr>
          <p:spPr>
            <a:xfrm>
              <a:off x="5267325" y="4943475"/>
              <a:ext cx="247650" cy="2476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6657975" y="4314825"/>
              <a:ext cx="247650" cy="2476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048625" y="3495675"/>
              <a:ext cx="247650" cy="2476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9439275" y="2886075"/>
              <a:ext cx="247650" cy="2476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2F855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4933950" y="4476750"/>
              <a:ext cx="1066800" cy="400050"/>
            </a:xfrm>
            <a:custGeom>
              <a:avLst/>
              <a:gdLst/>
              <a:ahLst/>
              <a:cxnLst/>
              <a:rect l="l" t="t" r="r" b="b"/>
              <a:pathLst>
                <a:path w="1066800" h="400050">
                  <a:moveTo>
                    <a:pt x="76200" y="0"/>
                  </a:moveTo>
                  <a:lnTo>
                    <a:pt x="990600" y="0"/>
                  </a:lnTo>
                  <a:cubicBezTo>
                    <a:pt x="1032684" y="0"/>
                    <a:pt x="1066800" y="34116"/>
                    <a:pt x="1066800" y="76200"/>
                  </a:cubicBezTo>
                  <a:lnTo>
                    <a:pt x="1066800" y="323850"/>
                  </a:lnTo>
                  <a:cubicBezTo>
                    <a:pt x="1066800" y="365934"/>
                    <a:pt x="1032684" y="400050"/>
                    <a:pt x="9906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310348" y="4539615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88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6324600" y="3848100"/>
              <a:ext cx="1066800" cy="400050"/>
            </a:xfrm>
            <a:custGeom>
              <a:avLst/>
              <a:gdLst/>
              <a:ahLst/>
              <a:cxnLst/>
              <a:rect l="l" t="t" r="r" b="b"/>
              <a:pathLst>
                <a:path w="1066800" h="400050">
                  <a:moveTo>
                    <a:pt x="76200" y="0"/>
                  </a:moveTo>
                  <a:lnTo>
                    <a:pt x="990600" y="0"/>
                  </a:lnTo>
                  <a:cubicBezTo>
                    <a:pt x="1032684" y="0"/>
                    <a:pt x="1066800" y="34116"/>
                    <a:pt x="1066800" y="76200"/>
                  </a:cubicBezTo>
                  <a:lnTo>
                    <a:pt x="1066800" y="323850"/>
                  </a:lnTo>
                  <a:cubicBezTo>
                    <a:pt x="1066800" y="365934"/>
                    <a:pt x="1032684" y="400050"/>
                    <a:pt x="9906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00998" y="3910965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74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7715250" y="3028950"/>
              <a:ext cx="1066800" cy="400050"/>
            </a:xfrm>
            <a:custGeom>
              <a:avLst/>
              <a:gdLst/>
              <a:ahLst/>
              <a:cxnLst/>
              <a:rect l="l" t="t" r="r" b="b"/>
              <a:pathLst>
                <a:path w="1066800" h="400050">
                  <a:moveTo>
                    <a:pt x="76200" y="0"/>
                  </a:moveTo>
                  <a:lnTo>
                    <a:pt x="990600" y="0"/>
                  </a:lnTo>
                  <a:cubicBezTo>
                    <a:pt x="1032684" y="0"/>
                    <a:pt x="1066800" y="34116"/>
                    <a:pt x="1066800" y="76200"/>
                  </a:cubicBezTo>
                  <a:lnTo>
                    <a:pt x="1066800" y="323850"/>
                  </a:lnTo>
                  <a:cubicBezTo>
                    <a:pt x="1066800" y="365934"/>
                    <a:pt x="1032684" y="400050"/>
                    <a:pt x="9906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091648" y="3091815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60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9086850" y="2419350"/>
              <a:ext cx="1066800" cy="400050"/>
            </a:xfrm>
            <a:custGeom>
              <a:avLst/>
              <a:gdLst/>
              <a:ahLst/>
              <a:cxnLst/>
              <a:rect l="l" t="t" r="r" b="b"/>
              <a:pathLst>
                <a:path w="1066800" h="400050">
                  <a:moveTo>
                    <a:pt x="76200" y="0"/>
                  </a:moveTo>
                  <a:lnTo>
                    <a:pt x="990600" y="0"/>
                  </a:lnTo>
                  <a:cubicBezTo>
                    <a:pt x="1032684" y="0"/>
                    <a:pt x="1066800" y="34116"/>
                    <a:pt x="1066800" y="76200"/>
                  </a:cubicBezTo>
                  <a:lnTo>
                    <a:pt x="1066800" y="323850"/>
                  </a:lnTo>
                  <a:cubicBezTo>
                    <a:pt x="1066800" y="365934"/>
                    <a:pt x="1032684" y="400050"/>
                    <a:pt x="9906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463248" y="2482215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46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5391150" y="4943475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6781800" y="4314825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8172450" y="3495675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9563100" y="2886075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4288">
              <a:solidFill>
                <a:srgbClr val="2F855A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5391150" y="54673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342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6781800" y="54673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342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8172450" y="54673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342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9563100" y="54673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342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F855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103114" y="5868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93764" y="5868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推荐分群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84414" y="5868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自动编排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275064" y="5868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持续学习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10325100" y="3181350"/>
              <a:ext cx="800100" cy="19050"/>
            </a:xfrm>
            <a:custGeom>
              <a:avLst/>
              <a:gdLst/>
              <a:ahLst/>
              <a:cxnLst/>
              <a:rect l="l" t="t" r="r" b="b"/>
              <a:pathLst>
                <a:path w="800100" h="19050">
                  <a:moveTo>
                    <a:pt x="0" y="0"/>
                  </a:moveTo>
                  <a:cubicBezTo>
                    <a:pt x="342900" y="19050"/>
                    <a:pt x="571500" y="19050"/>
                    <a:pt x="800100" y="1905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6" name="Freeform 76"/>
            <p:cNvSpPr/>
            <p:nvPr/>
          </p:nvSpPr>
          <p:spPr>
            <a:xfrm>
              <a:off x="9906000" y="3352800"/>
              <a:ext cx="1314450" cy="723900"/>
            </a:xfrm>
            <a:custGeom>
              <a:avLst/>
              <a:gdLst/>
              <a:ahLst/>
              <a:cxnLst/>
              <a:rect l="l" t="t" r="r" b="b"/>
              <a:pathLst>
                <a:path w="1314450" h="723900">
                  <a:moveTo>
                    <a:pt x="95250" y="0"/>
                  </a:moveTo>
                  <a:lnTo>
                    <a:pt x="1219200" y="0"/>
                  </a:lnTo>
                  <a:cubicBezTo>
                    <a:pt x="1271805" y="0"/>
                    <a:pt x="1314450" y="42645"/>
                    <a:pt x="1314450" y="95250"/>
                  </a:cubicBezTo>
                  <a:lnTo>
                    <a:pt x="1314450" y="628650"/>
                  </a:lnTo>
                  <a:cubicBezTo>
                    <a:pt x="1314450" y="681255"/>
                    <a:pt x="1271805" y="723900"/>
                    <a:pt x="121920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240644" y="3441382"/>
              <a:ext cx="645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6个月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103168" y="37266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平均收回投资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4000500" y="2343150"/>
              <a:ext cx="1600200" cy="285750"/>
            </a:xfrm>
            <a:custGeom>
              <a:avLst/>
              <a:gdLst/>
              <a:ahLst/>
              <a:cxnLst/>
              <a:rect l="l" t="t" r="r" b="b"/>
              <a:pathLst>
                <a:path w="1600200" h="285750">
                  <a:moveTo>
                    <a:pt x="142875" y="0"/>
                  </a:moveTo>
                  <a:lnTo>
                    <a:pt x="1457325" y="0"/>
                  </a:lnTo>
                  <a:cubicBezTo>
                    <a:pt x="1536233" y="0"/>
                    <a:pt x="1600200" y="63967"/>
                    <a:pt x="1600200" y="142875"/>
                  </a:cubicBezTo>
                  <a:lnTo>
                    <a:pt x="1600200" y="142875"/>
                  </a:lnTo>
                  <a:cubicBezTo>
                    <a:pt x="1600200" y="221783"/>
                    <a:pt x="1536233" y="285750"/>
                    <a:pt x="14573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583240" y="24203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投入期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6134100" y="2343150"/>
              <a:ext cx="1600200" cy="285750"/>
            </a:xfrm>
            <a:custGeom>
              <a:avLst/>
              <a:gdLst/>
              <a:ahLst/>
              <a:cxnLst/>
              <a:rect l="l" t="t" r="r" b="b"/>
              <a:pathLst>
                <a:path w="1600200" h="285750">
                  <a:moveTo>
                    <a:pt x="142875" y="0"/>
                  </a:moveTo>
                  <a:lnTo>
                    <a:pt x="1457325" y="0"/>
                  </a:lnTo>
                  <a:cubicBezTo>
                    <a:pt x="1536233" y="0"/>
                    <a:pt x="1600200" y="63967"/>
                    <a:pt x="1600200" y="142875"/>
                  </a:cubicBezTo>
                  <a:lnTo>
                    <a:pt x="1600200" y="142875"/>
                  </a:lnTo>
                  <a:cubicBezTo>
                    <a:pt x="1600200" y="221783"/>
                    <a:pt x="1536233" y="285750"/>
                    <a:pt x="14573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716840" y="24203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爬坡期</a:t>
              </a:r>
            </a:p>
          </p:txBody>
        </p:sp>
        <p:sp>
          <p:nvSpPr>
            <p:cNvPr id="83" name="Freeform 83"/>
            <p:cNvSpPr/>
            <p:nvPr/>
          </p:nvSpPr>
          <p:spPr>
            <a:xfrm>
              <a:off x="8477250" y="2343150"/>
              <a:ext cx="2095500" cy="285750"/>
            </a:xfrm>
            <a:custGeom>
              <a:avLst/>
              <a:gdLst/>
              <a:ahLst/>
              <a:cxnLst/>
              <a:rect l="l" t="t" r="r" b="b"/>
              <a:pathLst>
                <a:path w="2095500" h="285750">
                  <a:moveTo>
                    <a:pt x="142875" y="0"/>
                  </a:moveTo>
                  <a:lnTo>
                    <a:pt x="1952625" y="0"/>
                  </a:lnTo>
                  <a:cubicBezTo>
                    <a:pt x="2031533" y="0"/>
                    <a:pt x="2095500" y="63967"/>
                    <a:pt x="2095500" y="142875"/>
                  </a:cubicBezTo>
                  <a:lnTo>
                    <a:pt x="2095500" y="142875"/>
                  </a:lnTo>
                  <a:cubicBezTo>
                    <a:pt x="2095500" y="221783"/>
                    <a:pt x="2031533" y="285750"/>
                    <a:pt x="19526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166288" y="24203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持续增益期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401050" y="4305300"/>
            <a:ext cx="2819400" cy="1181100"/>
            <a:chOff x="8401050" y="4305300"/>
            <a:chExt cx="2819400" cy="1181100"/>
          </a:xfrm>
        </p:grpSpPr>
        <p:sp>
          <p:nvSpPr>
            <p:cNvPr id="86" name="Freeform 86"/>
            <p:cNvSpPr/>
            <p:nvPr/>
          </p:nvSpPr>
          <p:spPr>
            <a:xfrm>
              <a:off x="8401050" y="4305300"/>
              <a:ext cx="2819400" cy="1181100"/>
            </a:xfrm>
            <a:custGeom>
              <a:avLst/>
              <a:gdLst/>
              <a:ahLst/>
              <a:cxnLst/>
              <a:rect l="l" t="t" r="r" b="b"/>
              <a:pathLst>
                <a:path w="2819400" h="1181100">
                  <a:moveTo>
                    <a:pt x="95250" y="0"/>
                  </a:moveTo>
                  <a:lnTo>
                    <a:pt x="2724150" y="0"/>
                  </a:lnTo>
                  <a:cubicBezTo>
                    <a:pt x="2776755" y="0"/>
                    <a:pt x="2819400" y="42645"/>
                    <a:pt x="2819400" y="95250"/>
                  </a:cubicBezTo>
                  <a:lnTo>
                    <a:pt x="2819400" y="1085850"/>
                  </a:lnTo>
                  <a:cubicBezTo>
                    <a:pt x="2819400" y="1138455"/>
                    <a:pt x="2776755" y="1181100"/>
                    <a:pt x="2724150" y="1181100"/>
                  </a:cubicBezTo>
                  <a:lnTo>
                    <a:pt x="95250" y="1181100"/>
                  </a:lnTo>
                  <a:cubicBezTo>
                    <a:pt x="42645" y="1181100"/>
                    <a:pt x="0" y="1138455"/>
                    <a:pt x="0" y="1085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621268" y="4412932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阶段性价值释放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623554" y="4728210"/>
              <a:ext cx="2564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前两月完成底层数据与流程标准化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623554" y="4975860"/>
              <a:ext cx="2564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第三月开始由推荐与分群驱动增长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623554" y="5223510"/>
              <a:ext cx="2403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自动化与学习闭环带来复利收益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143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115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45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35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35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35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35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45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35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35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35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35000"/>
                </a:scheme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57784" y="381952"/>
            <a:ext cx="11067479" cy="6263164"/>
            <a:chOff x="557784" y="381952"/>
            <a:chExt cx="11067479" cy="6263164"/>
          </a:xfrm>
        </p:grpSpPr>
        <p:sp>
          <p:nvSpPr>
            <p:cNvPr id="17" name="TextBox 17"/>
            <p:cNvSpPr txBox="1"/>
            <p:nvPr/>
          </p:nvSpPr>
          <p:spPr>
            <a:xfrm>
              <a:off x="566166" y="381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7784" y="622935"/>
              <a:ext cx="289051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90天启动路线图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9357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63880" y="1381125"/>
            <a:ext cx="11056620" cy="4642676"/>
            <a:chOff x="563880" y="1381125"/>
            <a:chExt cx="11056620" cy="4642676"/>
          </a:xfrm>
        </p:grpSpPr>
        <p:sp>
          <p:nvSpPr>
            <p:cNvPr id="22" name="TextBox 22"/>
            <p:cNvSpPr txBox="1"/>
            <p:nvPr/>
          </p:nvSpPr>
          <p:spPr>
            <a:xfrm>
              <a:off x="563880" y="13811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建议采用三阶段渐进部署，快速验证价值后横向扩展至全业务线。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71500" y="2038350"/>
              <a:ext cx="11049000" cy="514350"/>
            </a:xfrm>
            <a:custGeom>
              <a:avLst/>
              <a:gdLst/>
              <a:ahLst/>
              <a:cxnLst/>
              <a:rect l="l" t="t" r="r" b="b"/>
              <a:pathLst>
                <a:path w="11049000" h="51435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400050"/>
                  </a:lnTo>
                  <a:cubicBezTo>
                    <a:pt x="11049000" y="463176"/>
                    <a:pt x="10997826" y="514350"/>
                    <a:pt x="10934700" y="514350"/>
                  </a:cubicBezTo>
                  <a:lnTo>
                    <a:pt x="114300" y="514350"/>
                  </a:lnTo>
                  <a:cubicBezTo>
                    <a:pt x="51174" y="514350"/>
                    <a:pt x="0" y="463176"/>
                    <a:pt x="0" y="400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543050" y="2295525"/>
              <a:ext cx="9105900" cy="1"/>
            </a:xfrm>
            <a:prstGeom prst="line">
              <a:avLst/>
            </a:prstGeom>
            <a:noFill/>
            <a:ln w="57150" cap="rnd">
              <a:gradFill>
                <a:gsLst>
                  <a:gs pos="0">
                    <a:schemeClr val="accent2">
                      <a:alpha val="15000"/>
                    </a:schemeClr>
                  </a:gs>
                  <a:gs pos="45000">
                    <a:schemeClr val="accent2">
                      <a:alpha val="75000"/>
                    </a:schemeClr>
                  </a:gs>
                  <a:gs pos="100000">
                    <a:schemeClr val="accent2">
                      <a:alpha val="20000"/>
                    </a:schemeClr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25" name="Freeform 25"/>
            <p:cNvSpPr/>
            <p:nvPr/>
          </p:nvSpPr>
          <p:spPr>
            <a:xfrm>
              <a:off x="876300" y="2152650"/>
              <a:ext cx="1333500" cy="285750"/>
            </a:xfrm>
            <a:custGeom>
              <a:avLst/>
              <a:gdLst/>
              <a:ahLst/>
              <a:cxnLst/>
              <a:rect l="l" t="t" r="r" b="b"/>
              <a:pathLst>
                <a:path w="1333500" h="285750">
                  <a:moveTo>
                    <a:pt x="142875" y="0"/>
                  </a:moveTo>
                  <a:lnTo>
                    <a:pt x="1190625" y="0"/>
                  </a:lnTo>
                  <a:cubicBezTo>
                    <a:pt x="1269533" y="0"/>
                    <a:pt x="1333500" y="63967"/>
                    <a:pt x="1333500" y="142875"/>
                  </a:cubicBezTo>
                  <a:lnTo>
                    <a:pt x="1333500" y="142875"/>
                  </a:lnTo>
                  <a:cubicBezTo>
                    <a:pt x="1333500" y="221783"/>
                    <a:pt x="1269533" y="285750"/>
                    <a:pt x="11906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40879" y="22393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第1-30天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5429250" y="2152650"/>
              <a:ext cx="1333500" cy="285750"/>
            </a:xfrm>
            <a:custGeom>
              <a:avLst/>
              <a:gdLst/>
              <a:ahLst/>
              <a:cxnLst/>
              <a:rect l="l" t="t" r="r" b="b"/>
              <a:pathLst>
                <a:path w="1333500" h="285750">
                  <a:moveTo>
                    <a:pt x="142875" y="0"/>
                  </a:moveTo>
                  <a:lnTo>
                    <a:pt x="1190625" y="0"/>
                  </a:lnTo>
                  <a:cubicBezTo>
                    <a:pt x="1269533" y="0"/>
                    <a:pt x="1333500" y="63967"/>
                    <a:pt x="1333500" y="142875"/>
                  </a:cubicBezTo>
                  <a:lnTo>
                    <a:pt x="1333500" y="142875"/>
                  </a:lnTo>
                  <a:cubicBezTo>
                    <a:pt x="1333500" y="221783"/>
                    <a:pt x="1269533" y="285750"/>
                    <a:pt x="11906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754957" y="2239328"/>
              <a:ext cx="6820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第31-60天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9982200" y="2152650"/>
              <a:ext cx="1333500" cy="285750"/>
            </a:xfrm>
            <a:custGeom>
              <a:avLst/>
              <a:gdLst/>
              <a:ahLst/>
              <a:cxnLst/>
              <a:rect l="l" t="t" r="r" b="b"/>
              <a:pathLst>
                <a:path w="1333500" h="285750">
                  <a:moveTo>
                    <a:pt x="142875" y="0"/>
                  </a:moveTo>
                  <a:lnTo>
                    <a:pt x="1190625" y="0"/>
                  </a:lnTo>
                  <a:cubicBezTo>
                    <a:pt x="1269533" y="0"/>
                    <a:pt x="1333500" y="63967"/>
                    <a:pt x="1333500" y="142875"/>
                  </a:cubicBezTo>
                  <a:lnTo>
                    <a:pt x="1333500" y="142875"/>
                  </a:lnTo>
                  <a:cubicBezTo>
                    <a:pt x="1333500" y="221783"/>
                    <a:pt x="1269533" y="285750"/>
                    <a:pt x="11906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307907" y="2239328"/>
              <a:ext cx="6820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第61-90天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543050" y="22955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096000" y="22955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48950" y="22955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419225" y="2171700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487668" y="22136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972175" y="2171700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40618" y="22136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10525125" y="2171700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93568" y="22136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71500" y="2762250"/>
              <a:ext cx="3086100" cy="2724150"/>
            </a:xfrm>
            <a:custGeom>
              <a:avLst/>
              <a:gdLst/>
              <a:ahLst/>
              <a:cxnLst/>
              <a:rect l="l" t="t" r="r" b="b"/>
              <a:pathLst>
                <a:path w="3086100" h="2724150">
                  <a:moveTo>
                    <a:pt x="114300" y="0"/>
                  </a:moveTo>
                  <a:lnTo>
                    <a:pt x="2971800" y="0"/>
                  </a:lnTo>
                  <a:cubicBezTo>
                    <a:pt x="3034926" y="0"/>
                    <a:pt x="3086100" y="51174"/>
                    <a:pt x="3086100" y="114300"/>
                  </a:cubicBezTo>
                  <a:lnTo>
                    <a:pt x="3086100" y="2609850"/>
                  </a:lnTo>
                  <a:cubicBezTo>
                    <a:pt x="3086100" y="2672976"/>
                    <a:pt x="3034926" y="2724150"/>
                    <a:pt x="2971800" y="2724150"/>
                  </a:cubicBezTo>
                  <a:lnTo>
                    <a:pt x="114300" y="2724150"/>
                  </a:lnTo>
                  <a:cubicBezTo>
                    <a:pt x="51174" y="2724150"/>
                    <a:pt x="0" y="2672976"/>
                    <a:pt x="0" y="2609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71500" y="2762250"/>
              <a:ext cx="3086100" cy="95250"/>
            </a:xfrm>
            <a:custGeom>
              <a:avLst/>
              <a:gdLst/>
              <a:ahLst/>
              <a:cxnLst/>
              <a:rect l="l" t="t" r="r" b="b"/>
              <a:pathLst>
                <a:path w="3086100" h="95250">
                  <a:moveTo>
                    <a:pt x="114300" y="0"/>
                  </a:moveTo>
                  <a:lnTo>
                    <a:pt x="2971800" y="0"/>
                  </a:lnTo>
                  <a:cubicBezTo>
                    <a:pt x="3034926" y="0"/>
                    <a:pt x="3086100" y="21322"/>
                    <a:pt x="3086100" y="47625"/>
                  </a:cubicBezTo>
                  <a:lnTo>
                    <a:pt x="3086100" y="47625"/>
                  </a:lnTo>
                  <a:cubicBezTo>
                    <a:pt x="3086100" y="73928"/>
                    <a:pt x="3034926" y="95250"/>
                    <a:pt x="2971800" y="95250"/>
                  </a:cubicBezTo>
                  <a:lnTo>
                    <a:pt x="114300" y="95250"/>
                  </a:lnTo>
                  <a:cubicBezTo>
                    <a:pt x="51174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6394" y="2989898"/>
              <a:ext cx="17672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奠定数据底座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0966" y="34109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基础接入与首轮验证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895350" y="3905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7280" y="38385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数据源接入与标准化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95350" y="43243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97280" y="4257675"/>
              <a:ext cx="1903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部署基础AI归因模块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95350" y="47434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7280" y="46767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产出首份自动化洞察报告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876300" y="5029200"/>
              <a:ext cx="2476500" cy="285750"/>
            </a:xfrm>
            <a:custGeom>
              <a:avLst/>
              <a:gdLst/>
              <a:ahLst/>
              <a:cxnLst/>
              <a:rect l="l" t="t" r="r" b="b"/>
              <a:pathLst>
                <a:path w="2476500" h="2857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28600"/>
                  </a:lnTo>
                  <a:cubicBezTo>
                    <a:pt x="2476500" y="260163"/>
                    <a:pt x="2450913" y="285750"/>
                    <a:pt x="2419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04316" y="51063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目标：形成统一数据口径与试点洞察闭环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4552950" y="2762250"/>
              <a:ext cx="3086100" cy="2724150"/>
            </a:xfrm>
            <a:custGeom>
              <a:avLst/>
              <a:gdLst/>
              <a:ahLst/>
              <a:cxnLst/>
              <a:rect l="l" t="t" r="r" b="b"/>
              <a:pathLst>
                <a:path w="3086100" h="2724150">
                  <a:moveTo>
                    <a:pt x="114300" y="0"/>
                  </a:moveTo>
                  <a:lnTo>
                    <a:pt x="2971800" y="0"/>
                  </a:lnTo>
                  <a:cubicBezTo>
                    <a:pt x="3034926" y="0"/>
                    <a:pt x="3086100" y="51174"/>
                    <a:pt x="3086100" y="114300"/>
                  </a:cubicBezTo>
                  <a:lnTo>
                    <a:pt x="3086100" y="2609850"/>
                  </a:lnTo>
                  <a:cubicBezTo>
                    <a:pt x="3086100" y="2672976"/>
                    <a:pt x="3034926" y="2724150"/>
                    <a:pt x="2971800" y="2724150"/>
                  </a:cubicBezTo>
                  <a:lnTo>
                    <a:pt x="114300" y="2724150"/>
                  </a:lnTo>
                  <a:cubicBezTo>
                    <a:pt x="51174" y="2724150"/>
                    <a:pt x="0" y="2672976"/>
                    <a:pt x="0" y="2609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4552950" y="2762250"/>
              <a:ext cx="3086100" cy="95250"/>
            </a:xfrm>
            <a:custGeom>
              <a:avLst/>
              <a:gdLst/>
              <a:ahLst/>
              <a:cxnLst/>
              <a:rect l="l" t="t" r="r" b="b"/>
              <a:pathLst>
                <a:path w="3086100" h="95250">
                  <a:moveTo>
                    <a:pt x="114300" y="0"/>
                  </a:moveTo>
                  <a:lnTo>
                    <a:pt x="2971800" y="0"/>
                  </a:lnTo>
                  <a:cubicBezTo>
                    <a:pt x="3034926" y="0"/>
                    <a:pt x="3086100" y="21322"/>
                    <a:pt x="3086100" y="47625"/>
                  </a:cubicBezTo>
                  <a:lnTo>
                    <a:pt x="3086100" y="47625"/>
                  </a:lnTo>
                  <a:cubicBezTo>
                    <a:pt x="3086100" y="73928"/>
                    <a:pt x="3034926" y="95250"/>
                    <a:pt x="2971800" y="95250"/>
                  </a:cubicBezTo>
                  <a:lnTo>
                    <a:pt x="114300" y="95250"/>
                  </a:lnTo>
                  <a:cubicBezTo>
                    <a:pt x="51174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847844" y="2989898"/>
              <a:ext cx="17672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打通执行闭环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852416" y="3410902"/>
              <a:ext cx="1631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AI策略进入真实投放场景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876800" y="3905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078730" y="38385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上线智能人群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4876800" y="43243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078730" y="42576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动态创意优化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4876800" y="47434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078730" y="46767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至少两个渠道自动执行闭环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4857750" y="5029200"/>
              <a:ext cx="2476500" cy="285750"/>
            </a:xfrm>
            <a:custGeom>
              <a:avLst/>
              <a:gdLst/>
              <a:ahLst/>
              <a:cxnLst/>
              <a:rect l="l" t="t" r="r" b="b"/>
              <a:pathLst>
                <a:path w="2476500" h="2857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28600"/>
                  </a:lnTo>
                  <a:cubicBezTo>
                    <a:pt x="2476500" y="260163"/>
                    <a:pt x="2450913" y="285750"/>
                    <a:pt x="2419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985766" y="5106352"/>
              <a:ext cx="2527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目标：验证AI驱动投放与优化效率提升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8534400" y="2762250"/>
              <a:ext cx="3086100" cy="2724150"/>
            </a:xfrm>
            <a:custGeom>
              <a:avLst/>
              <a:gdLst/>
              <a:ahLst/>
              <a:cxnLst/>
              <a:rect l="l" t="t" r="r" b="b"/>
              <a:pathLst>
                <a:path w="3086100" h="2724150">
                  <a:moveTo>
                    <a:pt x="114300" y="0"/>
                  </a:moveTo>
                  <a:lnTo>
                    <a:pt x="2971800" y="0"/>
                  </a:lnTo>
                  <a:cubicBezTo>
                    <a:pt x="3034926" y="0"/>
                    <a:pt x="3086100" y="51174"/>
                    <a:pt x="3086100" y="114300"/>
                  </a:cubicBezTo>
                  <a:lnTo>
                    <a:pt x="3086100" y="2609850"/>
                  </a:lnTo>
                  <a:cubicBezTo>
                    <a:pt x="3086100" y="2672976"/>
                    <a:pt x="3034926" y="2724150"/>
                    <a:pt x="2971800" y="2724150"/>
                  </a:cubicBezTo>
                  <a:lnTo>
                    <a:pt x="114300" y="2724150"/>
                  </a:lnTo>
                  <a:cubicBezTo>
                    <a:pt x="51174" y="2724150"/>
                    <a:pt x="0" y="2672976"/>
                    <a:pt x="0" y="2609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534400" y="2762250"/>
              <a:ext cx="3086100" cy="95250"/>
            </a:xfrm>
            <a:custGeom>
              <a:avLst/>
              <a:gdLst/>
              <a:ahLst/>
              <a:cxnLst/>
              <a:rect l="l" t="t" r="r" b="b"/>
              <a:pathLst>
                <a:path w="3086100" h="95250">
                  <a:moveTo>
                    <a:pt x="114300" y="0"/>
                  </a:moveTo>
                  <a:lnTo>
                    <a:pt x="2971800" y="0"/>
                  </a:lnTo>
                  <a:cubicBezTo>
                    <a:pt x="3034926" y="0"/>
                    <a:pt x="3086100" y="21322"/>
                    <a:pt x="3086100" y="47625"/>
                  </a:cubicBezTo>
                  <a:lnTo>
                    <a:pt x="3086100" y="47625"/>
                  </a:lnTo>
                  <a:cubicBezTo>
                    <a:pt x="3086100" y="73928"/>
                    <a:pt x="3034926" y="95250"/>
                    <a:pt x="2971800" y="95250"/>
                  </a:cubicBezTo>
                  <a:lnTo>
                    <a:pt x="114300" y="95250"/>
                  </a:lnTo>
                  <a:cubicBezTo>
                    <a:pt x="51174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829294" y="2989898"/>
              <a:ext cx="1475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规模化推广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33866" y="34109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沉淀方法并复制至业务线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8858250" y="3905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060180" y="38385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完成全链路效果度量配置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858250" y="43243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060180" y="42576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输出最佳实践手册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8858250" y="47434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060180" y="46767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启动组织内规模化推广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8839200" y="5029200"/>
              <a:ext cx="2476500" cy="285750"/>
            </a:xfrm>
            <a:custGeom>
              <a:avLst/>
              <a:gdLst/>
              <a:ahLst/>
              <a:cxnLst/>
              <a:rect l="l" t="t" r="r" b="b"/>
              <a:pathLst>
                <a:path w="2476500" h="2857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28600"/>
                  </a:lnTo>
                  <a:cubicBezTo>
                    <a:pt x="2476500" y="260163"/>
                    <a:pt x="2450913" y="285750"/>
                    <a:pt x="2419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967216" y="51063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目标：形成跨团队可复制的运营机制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571500" y="5695950"/>
              <a:ext cx="11049000" cy="304800"/>
            </a:xfrm>
            <a:custGeom>
              <a:avLst/>
              <a:gdLst/>
              <a:ahLst/>
              <a:cxnLst/>
              <a:rect l="l" t="t" r="r" b="b"/>
              <a:pathLst>
                <a:path w="11049000" h="3048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28600"/>
                  </a:lnTo>
                  <a:cubicBezTo>
                    <a:pt x="11049000" y="270684"/>
                    <a:pt x="11014884" y="304800"/>
                    <a:pt x="10972800" y="304800"/>
                  </a:cubicBezTo>
                  <a:lnTo>
                    <a:pt x="76200" y="304800"/>
                  </a:lnTo>
                  <a:cubicBezTo>
                    <a:pt x="34116" y="304800"/>
                    <a:pt x="0" y="270684"/>
                    <a:pt x="0" y="2286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627052" y="5759768"/>
              <a:ext cx="6937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先统一数据，再放大执行，最后沉淀度量与方法，90天内完成从试点到复制的启动闭环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0096500" y="1390650"/>
            <a:ext cx="1524000" cy="453961"/>
            <a:chOff x="10096500" y="1390650"/>
            <a:chExt cx="1524000" cy="453961"/>
          </a:xfrm>
        </p:grpSpPr>
        <p:sp>
          <p:nvSpPr>
            <p:cNvPr id="79" name="Freeform 79"/>
            <p:cNvSpPr/>
            <p:nvPr/>
          </p:nvSpPr>
          <p:spPr>
            <a:xfrm>
              <a:off x="10096500" y="1390650"/>
              <a:ext cx="1524000" cy="438150"/>
            </a:xfrm>
            <a:custGeom>
              <a:avLst/>
              <a:gdLst/>
              <a:ahLst/>
              <a:cxnLst/>
              <a:rect l="l" t="t" r="r" b="b"/>
              <a:pathLst>
                <a:path w="1524000" h="4381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361950"/>
                  </a:lnTo>
                  <a:cubicBezTo>
                    <a:pt x="1524000" y="404034"/>
                    <a:pt x="1489884" y="438150"/>
                    <a:pt x="1447800" y="438150"/>
                  </a:cubicBezTo>
                  <a:lnTo>
                    <a:pt x="76200" y="438150"/>
                  </a:lnTo>
                  <a:cubicBezTo>
                    <a:pt x="34116" y="438150"/>
                    <a:pt x="0" y="404034"/>
                    <a:pt x="0" y="3619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282238" y="1482566"/>
              <a:ext cx="9659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ACTION SEQUENCE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281666" y="1639252"/>
              <a:ext cx="95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deploy → scale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2026-07-10T23:36:53Z</dcterms:created>
  <dcterms:modified xsi:type="dcterms:W3CDTF">2026-07-10T23:36:53Z</dcterms:modified>
  <cp:category/>
  <cp:contentStatus/>
</cp:coreProperties>
</file>