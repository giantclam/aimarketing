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整合全域数据、驱动AI决策、自动执行营销活动、持续度量效果，一套SaaS重塑企业增长范式。</a:t>
            </a:r>
          </a:p>
          <a:p>
            <a:endParaRPr lang="en-US" dirty="0"/>
          </a:p>
          <a:p>
            <a:r>
              <a:rPr lang="zh-CN" dirty="0"/>
              <a:t>• 企业AI营销工作台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执行简报—核心议题</a:t>
            </a:r>
          </a:p>
          <a:p>
            <a:endParaRPr lang="en-US" dirty="0"/>
          </a:p>
          <a:p>
            <a:r>
              <a:rPr lang="zh-CN" dirty="0"/>
              <a:t>本次简报聚焦增长瓶颈、产品能力、价值验证与落地路径，帮助您在20分钟内做出决策。</a:t>
            </a:r>
          </a:p>
          <a:p>
            <a:endParaRPr lang="en-US" dirty="0"/>
          </a:p>
          <a:p>
            <a:r>
              <a:rPr lang="zh-CN" dirty="0"/>
              <a:t>• 分散数据与低效执行正在侵蚀营销ROI</a:t>
            </a:r>
          </a:p>
          <a:p>
            <a:r>
              <a:rPr lang="zh-CN" dirty="0"/>
              <a:t>• 数据整合·AI分析·自动执行·效果度量</a:t>
            </a:r>
          </a:p>
          <a:p>
            <a:r>
              <a:rPr lang="zh-CN" dirty="0"/>
              <a:t>• 客户验证数据与预期投资回报</a:t>
            </a:r>
          </a:p>
          <a:p>
            <a:r>
              <a:rPr lang="zh-CN" dirty="0"/>
              <a:t>• 30天快速上线，关键风险缓解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营销增长的三个断裂点</a:t>
            </a:r>
          </a:p>
          <a:p>
            <a:endParaRPr lang="en-US" dirty="0"/>
          </a:p>
          <a:p>
            <a:r>
              <a:rPr lang="zh-CN" dirty="0"/>
              <a:t>企业营销体系普遍存在数据、决策与执行之间的断层，导致增长动能持续流失。</a:t>
            </a:r>
          </a:p>
          <a:p>
            <a:endParaRPr lang="en-US" dirty="0"/>
          </a:p>
          <a:p>
            <a:r>
              <a:rPr lang="zh-CN" dirty="0"/>
              <a:t>• 数据孤岛：CRM、流量、交易数据分散，无法形成统一画像</a:t>
            </a:r>
          </a:p>
          <a:p>
            <a:r>
              <a:rPr lang="zh-CN" dirty="0"/>
              <a:t>• 决策滞后：依赖人工分析与经验，错过最佳干预时机</a:t>
            </a:r>
          </a:p>
          <a:p>
            <a:r>
              <a:rPr lang="zh-CN" dirty="0"/>
              <a:t>• 执行断层：策略与落地脱节，活动效果难追踪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从人工到智能：两代营销模式对比</a:t>
            </a:r>
          </a:p>
          <a:p>
            <a:endParaRPr lang="en-US" dirty="0"/>
          </a:p>
          <a:p>
            <a:r>
              <a:rPr lang="zh-CN" dirty="0"/>
              <a:t>AI营销工作台将决策周期从天压缩到分钟，将执行成本降低60%以上。</a:t>
            </a:r>
          </a:p>
          <a:p>
            <a:endParaRPr lang="en-US" dirty="0"/>
          </a:p>
          <a:p>
            <a:r>
              <a:rPr lang="zh-CN" dirty="0"/>
              <a:t>• 数据工程师提取、分析师建模、运营手动投放，平均决策周期3天</a:t>
            </a:r>
          </a:p>
          <a:p>
            <a:r>
              <a:rPr lang="zh-CN" dirty="0"/>
              <a:t>• 数据自动整合→AI实时分析→策略自动生成→渠道一键执行→效果仪表盘反馈</a:t>
            </a:r>
          </a:p>
          <a:p>
            <a:r>
              <a:rPr lang="zh-CN" dirty="0"/>
              <a:t>• 关键变量对比</a:t>
            </a:r>
          </a:p>
          <a:p>
            <a:r>
              <a:rPr lang="zh-CN" dirty="0"/>
              <a:t>• 不同路径影响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已落地的价值证明</a:t>
            </a:r>
          </a:p>
          <a:p>
            <a:endParaRPr lang="en-US" dirty="0"/>
          </a:p>
          <a:p>
            <a:r>
              <a:rPr lang="zh-CN" dirty="0"/>
              <a:t>多家企业通过AI营销工作台实现可量化的增长突破。</a:t>
            </a:r>
          </a:p>
          <a:p>
            <a:endParaRPr lang="en-US" dirty="0"/>
          </a:p>
          <a:p>
            <a:r>
              <a:rPr lang="zh-CN" dirty="0"/>
              <a:t>• 整合天猫、京东、自有商城数据，AI驱动个性化推荐，转化率提升35%</a:t>
            </a:r>
          </a:p>
          <a:p>
            <a:r>
              <a:rPr lang="zh-CN" dirty="0"/>
              <a:t>• 实时客户意图识别与自动化外呼/消息，线索转化率提升50%</a:t>
            </a:r>
          </a:p>
          <a:p>
            <a:r>
              <a:rPr lang="zh-CN" dirty="0"/>
              <a:t>• 基于AI意图评分的自动化培育，MQL到SQL转化时间缩短60%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AI营销工作台绩效基准</a:t>
            </a:r>
          </a:p>
          <a:p>
            <a:endParaRPr lang="en-US" dirty="0"/>
          </a:p>
          <a:p>
            <a:r>
              <a:rPr lang="zh-CN" dirty="0"/>
              <a:t>基于现有客户数据，平台平均实现以下提升。</a:t>
            </a:r>
          </a:p>
          <a:p>
            <a:endParaRPr lang="en-US" dirty="0"/>
          </a:p>
          <a:p>
            <a:r>
              <a:rPr lang="zh-CN" dirty="0"/>
              <a:t>• 营销效率提升</a:t>
            </a:r>
          </a:p>
          <a:p>
            <a:r>
              <a:rPr lang="zh-CN" dirty="0"/>
              <a:t>• 转化率增长</a:t>
            </a:r>
          </a:p>
          <a:p>
            <a:r>
              <a:rPr lang="zh-CN" dirty="0"/>
              <a:t>• 客户留存提升</a:t>
            </a:r>
          </a:p>
          <a:p>
            <a:r>
              <a:rPr lang="zh-CN" dirty="0"/>
              <a:t>• ROI增长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四大模块能力矩阵</a:t>
            </a:r>
          </a:p>
          <a:p>
            <a:endParaRPr lang="en-US" dirty="0"/>
          </a:p>
          <a:p>
            <a:r>
              <a:rPr lang="zh-CN" dirty="0"/>
              <a:t>各模块融合企业数据引擎与AI模型，实现闭环智能。</a:t>
            </a:r>
          </a:p>
          <a:p>
            <a:endParaRPr lang="en-US" dirty="0"/>
          </a:p>
          <a:p>
            <a:r>
              <a:rPr lang="zh-CN" dirty="0"/>
              <a:t>• 预置连接器，实时同步，统一用户ID</a:t>
            </a:r>
          </a:p>
          <a:p>
            <a:r>
              <a:rPr lang="zh-CN" dirty="0"/>
              <a:t>• 流失预测、LTV预估、渠道归因、智能分群</a:t>
            </a:r>
          </a:p>
          <a:p>
            <a:r>
              <a:rPr lang="zh-CN" dirty="0"/>
              <a:t>• 跨渠道营销活动编排与自动执行</a:t>
            </a:r>
          </a:p>
          <a:p>
            <a:r>
              <a:rPr lang="zh-CN" dirty="0"/>
              <a:t>• 归因分析、ROI计算、异常预警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启动您的AI营销引擎</a:t>
            </a:r>
          </a:p>
          <a:p>
            <a:endParaRPr lang="en-US" dirty="0"/>
          </a:p>
          <a:p>
            <a:r>
              <a:rPr lang="zh-CN" dirty="0"/>
              <a:t>接下来90天，我们建议分三步完成从评估到上线的闭环。</a:t>
            </a:r>
          </a:p>
          <a:p>
            <a:endParaRPr lang="en-US" dirty="0"/>
          </a:p>
          <a:p>
            <a:r>
              <a:rPr lang="zh-CN" dirty="0"/>
              <a:t>• 业务需求对齐与数据审计，确认接入范围和价值假设</a:t>
            </a:r>
          </a:p>
          <a:p>
            <a:r>
              <a:rPr lang="zh-CN" dirty="0"/>
              <a:t>• SaaS环境部署，核心数据源对接，配置AI模型基线</a:t>
            </a:r>
          </a:p>
          <a:p>
            <a:r>
              <a:rPr lang="zh-CN" dirty="0"/>
              <a:t>• 并行运行与优化，产出首次月度ROI报告，评估扩展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5000">
                  <a:schemeClr val="lt1"/>
                </a:gs>
                <a:gs pos="100000">
                  <a:schemeClr val="l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5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0" y="914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239000" y="666750"/>
              <a:ext cx="9525" cy="5429250"/>
            </a:xfrm>
            <a:custGeom>
              <a:avLst/>
              <a:gdLst/>
              <a:ahLst/>
              <a:cxnLst/>
              <a:rect l="l" t="t" r="r" b="b"/>
              <a:pathLst>
                <a:path w="9525" h="5429250">
                  <a:moveTo>
                    <a:pt x="0" y="0"/>
                  </a:moveTo>
                  <a:lnTo>
                    <a:pt x="0" y="542925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custDash>
                <a:ds d="300000" sp="800000"/>
              </a:custDash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66166" y="439102"/>
            <a:ext cx="11059096" cy="6186964"/>
            <a:chOff x="566166" y="439102"/>
            <a:chExt cx="11059096" cy="6186964"/>
          </a:xfrm>
        </p:grpSpPr>
        <p:sp>
          <p:nvSpPr>
            <p:cNvPr id="9" name="TextBox 9"/>
            <p:cNvSpPr txBox="1"/>
            <p:nvPr/>
          </p:nvSpPr>
          <p:spPr>
            <a:xfrm>
              <a:off x="566166" y="439102"/>
              <a:ext cx="845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GRIDBRIEF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704850"/>
              <a:ext cx="1028700" cy="9525"/>
            </a:xfrm>
            <a:custGeom>
              <a:avLst/>
              <a:gdLst/>
              <a:ahLst/>
              <a:cxnLst/>
              <a:rect l="l" t="t" r="r" b="b"/>
              <a:pathLst>
                <a:path w="1028700" h="9525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43681" y="46339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08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464141"/>
              <a:ext cx="16345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SaaS 方案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788329" y="6464141"/>
              <a:ext cx="8369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product-launch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52450" y="1238250"/>
            <a:ext cx="10687050" cy="4759261"/>
            <a:chOff x="552450" y="1238250"/>
            <a:chExt cx="10687050" cy="4759261"/>
          </a:xfrm>
        </p:grpSpPr>
        <p:sp>
          <p:nvSpPr>
            <p:cNvPr id="15" name="TextBox 15"/>
            <p:cNvSpPr txBox="1"/>
            <p:nvPr/>
          </p:nvSpPr>
          <p:spPr>
            <a:xfrm>
              <a:off x="552450" y="1291590"/>
              <a:ext cx="687159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企业AI营销工作台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2057400"/>
              <a:ext cx="2667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118" y="2450782"/>
              <a:ext cx="51448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整合全域数据、驱动AI决策、自动执行营销活动、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3118" y="2774632"/>
              <a:ext cx="46306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持续度量效果，一套SaaS重塑企业增长范式。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71500" y="3524250"/>
              <a:ext cx="2095500" cy="419100"/>
            </a:xfrm>
            <a:custGeom>
              <a:avLst/>
              <a:gdLst/>
              <a:ahLst/>
              <a:cxnLst/>
              <a:rect l="l" t="t" r="r" b="b"/>
              <a:pathLst>
                <a:path w="2095500" h="419100">
                  <a:moveTo>
                    <a:pt x="209550" y="0"/>
                  </a:moveTo>
                  <a:lnTo>
                    <a:pt x="1885950" y="0"/>
                  </a:lnTo>
                  <a:cubicBezTo>
                    <a:pt x="2001681" y="0"/>
                    <a:pt x="2095500" y="93819"/>
                    <a:pt x="2095500" y="209550"/>
                  </a:cubicBezTo>
                  <a:lnTo>
                    <a:pt x="2095500" y="209550"/>
                  </a:lnTo>
                  <a:cubicBezTo>
                    <a:pt x="2095500" y="325281"/>
                    <a:pt x="2001681" y="419100"/>
                    <a:pt x="1885950" y="419100"/>
                  </a:cubicBezTo>
                  <a:lnTo>
                    <a:pt x="209550" y="419100"/>
                  </a:lnTo>
                  <a:cubicBezTo>
                    <a:pt x="93819" y="419100"/>
                    <a:pt x="0" y="325281"/>
                    <a:pt x="0" y="2095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81050" y="36766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02792" y="365474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面向企业管理层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571500" y="4210050"/>
              <a:ext cx="3048000" cy="1047750"/>
            </a:xfrm>
            <a:custGeom>
              <a:avLst/>
              <a:gdLst/>
              <a:ahLst/>
              <a:cxnLst/>
              <a:rect l="l" t="t" r="r" b="b"/>
              <a:pathLst>
                <a:path w="3048000" h="1047750">
                  <a:moveTo>
                    <a:pt x="114300" y="0"/>
                  </a:moveTo>
                  <a:lnTo>
                    <a:pt x="2933700" y="0"/>
                  </a:lnTo>
                  <a:cubicBezTo>
                    <a:pt x="2996826" y="0"/>
                    <a:pt x="3048000" y="51174"/>
                    <a:pt x="3048000" y="114300"/>
                  </a:cubicBezTo>
                  <a:lnTo>
                    <a:pt x="3048000" y="933450"/>
                  </a:lnTo>
                  <a:cubicBezTo>
                    <a:pt x="3048000" y="996576"/>
                    <a:pt x="2996826" y="1047750"/>
                    <a:pt x="2933700" y="1047750"/>
                  </a:cubicBezTo>
                  <a:lnTo>
                    <a:pt x="114300" y="1047750"/>
                  </a:lnTo>
                  <a:cubicBezTo>
                    <a:pt x="51174" y="1047750"/>
                    <a:pt x="0" y="996576"/>
                    <a:pt x="0" y="933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4766" y="4420552"/>
              <a:ext cx="9092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四大能力主轴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3242" y="4769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45742" y="47691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36242" y="4769168"/>
              <a:ext cx="5609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3242" y="50549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36242" y="50549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26742" y="5054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7658100" y="1238250"/>
              <a:ext cx="3581400" cy="4343400"/>
            </a:xfrm>
            <a:custGeom>
              <a:avLst/>
              <a:gdLst/>
              <a:ahLst/>
              <a:cxnLst/>
              <a:rect l="l" t="t" r="r" b="b"/>
              <a:pathLst>
                <a:path w="3581400" h="4343400">
                  <a:moveTo>
                    <a:pt x="171450" y="0"/>
                  </a:moveTo>
                  <a:lnTo>
                    <a:pt x="3409950" y="0"/>
                  </a:lnTo>
                  <a:cubicBezTo>
                    <a:pt x="3504639" y="0"/>
                    <a:pt x="3581400" y="76761"/>
                    <a:pt x="3581400" y="171450"/>
                  </a:cubicBezTo>
                  <a:lnTo>
                    <a:pt x="3581400" y="4171950"/>
                  </a:lnTo>
                  <a:cubicBezTo>
                    <a:pt x="3581400" y="4266639"/>
                    <a:pt x="3504639" y="4343400"/>
                    <a:pt x="3409950" y="4343400"/>
                  </a:cubicBezTo>
                  <a:lnTo>
                    <a:pt x="171450" y="4343400"/>
                  </a:lnTo>
                  <a:cubicBezTo>
                    <a:pt x="76761" y="4343400"/>
                    <a:pt x="0" y="4266639"/>
                    <a:pt x="0" y="41719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905750" y="1524000"/>
              <a:ext cx="1333500" cy="533400"/>
            </a:xfrm>
            <a:custGeom>
              <a:avLst/>
              <a:gdLst/>
              <a:ahLst/>
              <a:cxnLst/>
              <a:rect l="l" t="t" r="r" b="b"/>
              <a:pathLst>
                <a:path w="1333500" h="533400">
                  <a:moveTo>
                    <a:pt x="95250" y="0"/>
                  </a:moveTo>
                  <a:lnTo>
                    <a:pt x="1238250" y="0"/>
                  </a:lnTo>
                  <a:cubicBezTo>
                    <a:pt x="1290855" y="0"/>
                    <a:pt x="1333500" y="42645"/>
                    <a:pt x="1333500" y="95250"/>
                  </a:cubicBezTo>
                  <a:lnTo>
                    <a:pt x="1333500" y="438150"/>
                  </a:lnTo>
                  <a:cubicBezTo>
                    <a:pt x="1333500" y="490755"/>
                    <a:pt x="1290855" y="533400"/>
                    <a:pt x="12382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658350" y="1524000"/>
              <a:ext cx="1333500" cy="533400"/>
            </a:xfrm>
            <a:custGeom>
              <a:avLst/>
              <a:gdLst/>
              <a:ahLst/>
              <a:cxnLst/>
              <a:rect l="l" t="t" r="r" b="b"/>
              <a:pathLst>
                <a:path w="1333500" h="533400">
                  <a:moveTo>
                    <a:pt x="95250" y="0"/>
                  </a:moveTo>
                  <a:lnTo>
                    <a:pt x="1238250" y="0"/>
                  </a:lnTo>
                  <a:cubicBezTo>
                    <a:pt x="1290855" y="0"/>
                    <a:pt x="1333500" y="42645"/>
                    <a:pt x="1333500" y="95250"/>
                  </a:cubicBezTo>
                  <a:lnTo>
                    <a:pt x="1333500" y="438150"/>
                  </a:lnTo>
                  <a:cubicBezTo>
                    <a:pt x="1333500" y="490755"/>
                    <a:pt x="1290855" y="533400"/>
                    <a:pt x="12382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782050" y="2457450"/>
              <a:ext cx="1333500" cy="533400"/>
            </a:xfrm>
            <a:custGeom>
              <a:avLst/>
              <a:gdLst/>
              <a:ahLst/>
              <a:cxnLst/>
              <a:rect l="l" t="t" r="r" b="b"/>
              <a:pathLst>
                <a:path w="1333500" h="533400">
                  <a:moveTo>
                    <a:pt x="95250" y="0"/>
                  </a:moveTo>
                  <a:lnTo>
                    <a:pt x="1238250" y="0"/>
                  </a:lnTo>
                  <a:cubicBezTo>
                    <a:pt x="1290855" y="0"/>
                    <a:pt x="1333500" y="42645"/>
                    <a:pt x="1333500" y="95250"/>
                  </a:cubicBezTo>
                  <a:lnTo>
                    <a:pt x="1333500" y="438150"/>
                  </a:lnTo>
                  <a:cubicBezTo>
                    <a:pt x="1333500" y="490755"/>
                    <a:pt x="1290855" y="533400"/>
                    <a:pt x="12382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23812">
              <a:solidFill>
                <a:schemeClr val="accent2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905750" y="3390900"/>
              <a:ext cx="1333500" cy="533400"/>
            </a:xfrm>
            <a:custGeom>
              <a:avLst/>
              <a:gdLst/>
              <a:ahLst/>
              <a:cxnLst/>
              <a:rect l="l" t="t" r="r" b="b"/>
              <a:pathLst>
                <a:path w="1333500" h="533400">
                  <a:moveTo>
                    <a:pt x="95250" y="0"/>
                  </a:moveTo>
                  <a:lnTo>
                    <a:pt x="1238250" y="0"/>
                  </a:lnTo>
                  <a:cubicBezTo>
                    <a:pt x="1290855" y="0"/>
                    <a:pt x="1333500" y="42645"/>
                    <a:pt x="1333500" y="95250"/>
                  </a:cubicBezTo>
                  <a:lnTo>
                    <a:pt x="1333500" y="438150"/>
                  </a:lnTo>
                  <a:cubicBezTo>
                    <a:pt x="1333500" y="490755"/>
                    <a:pt x="1290855" y="533400"/>
                    <a:pt x="12382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658350" y="3390900"/>
              <a:ext cx="1333500" cy="533400"/>
            </a:xfrm>
            <a:custGeom>
              <a:avLst/>
              <a:gdLst/>
              <a:ahLst/>
              <a:cxnLst/>
              <a:rect l="l" t="t" r="r" b="b"/>
              <a:pathLst>
                <a:path w="1333500" h="533400">
                  <a:moveTo>
                    <a:pt x="95250" y="0"/>
                  </a:moveTo>
                  <a:lnTo>
                    <a:pt x="1238250" y="0"/>
                  </a:lnTo>
                  <a:cubicBezTo>
                    <a:pt x="1290855" y="0"/>
                    <a:pt x="1333500" y="42645"/>
                    <a:pt x="1333500" y="95250"/>
                  </a:cubicBezTo>
                  <a:lnTo>
                    <a:pt x="1333500" y="438150"/>
                  </a:lnTo>
                  <a:cubicBezTo>
                    <a:pt x="1333500" y="490755"/>
                    <a:pt x="1290855" y="533400"/>
                    <a:pt x="12382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782050" y="4324350"/>
              <a:ext cx="1333500" cy="533400"/>
            </a:xfrm>
            <a:custGeom>
              <a:avLst/>
              <a:gdLst/>
              <a:ahLst/>
              <a:cxnLst/>
              <a:rect l="l" t="t" r="r" b="b"/>
              <a:pathLst>
                <a:path w="1333500" h="533400">
                  <a:moveTo>
                    <a:pt x="95250" y="0"/>
                  </a:moveTo>
                  <a:lnTo>
                    <a:pt x="1238250" y="0"/>
                  </a:lnTo>
                  <a:cubicBezTo>
                    <a:pt x="1290855" y="0"/>
                    <a:pt x="1333500" y="42645"/>
                    <a:pt x="1333500" y="95250"/>
                  </a:cubicBezTo>
                  <a:lnTo>
                    <a:pt x="1333500" y="438150"/>
                  </a:lnTo>
                  <a:cubicBezTo>
                    <a:pt x="1333500" y="490755"/>
                    <a:pt x="1290855" y="533400"/>
                    <a:pt x="12382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8572500" y="2057400"/>
              <a:ext cx="876300" cy="400050"/>
            </a:xfrm>
            <a:custGeom>
              <a:avLst/>
              <a:gdLst/>
              <a:ahLst/>
              <a:cxnLst/>
              <a:rect l="l" t="t" r="r" b="b"/>
              <a:pathLst>
                <a:path w="876300" h="400050">
                  <a:moveTo>
                    <a:pt x="0" y="0"/>
                  </a:moveTo>
                  <a:lnTo>
                    <a:pt x="876300" y="4000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9448800" y="2057400"/>
              <a:ext cx="876300" cy="400050"/>
            </a:xfrm>
            <a:custGeom>
              <a:avLst/>
              <a:gdLst/>
              <a:ahLst/>
              <a:cxnLst/>
              <a:rect l="l" t="t" r="r" b="b"/>
              <a:pathLst>
                <a:path w="876300" h="400050">
                  <a:moveTo>
                    <a:pt x="87630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8572500" y="2990850"/>
              <a:ext cx="876300" cy="400050"/>
            </a:xfrm>
            <a:custGeom>
              <a:avLst/>
              <a:gdLst/>
              <a:ahLst/>
              <a:cxnLst/>
              <a:rect l="l" t="t" r="r" b="b"/>
              <a:pathLst>
                <a:path w="876300" h="400050">
                  <a:moveTo>
                    <a:pt x="876300" y="0"/>
                  </a:moveTo>
                  <a:lnTo>
                    <a:pt x="0" y="40005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9448800" y="2990850"/>
              <a:ext cx="876300" cy="400050"/>
            </a:xfrm>
            <a:custGeom>
              <a:avLst/>
              <a:gdLst/>
              <a:ahLst/>
              <a:cxnLst/>
              <a:rect l="l" t="t" r="r" b="b"/>
              <a:pathLst>
                <a:path w="876300" h="400050">
                  <a:moveTo>
                    <a:pt x="0" y="0"/>
                  </a:moveTo>
                  <a:lnTo>
                    <a:pt x="876300" y="40005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8572500" y="3924300"/>
              <a:ext cx="876300" cy="400050"/>
            </a:xfrm>
            <a:custGeom>
              <a:avLst/>
              <a:gdLst/>
              <a:ahLst/>
              <a:cxnLst/>
              <a:rect l="l" t="t" r="r" b="b"/>
              <a:pathLst>
                <a:path w="876300" h="400050">
                  <a:moveTo>
                    <a:pt x="0" y="0"/>
                  </a:moveTo>
                  <a:lnTo>
                    <a:pt x="876300" y="4000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9448800" y="3924300"/>
              <a:ext cx="876300" cy="400050"/>
            </a:xfrm>
            <a:custGeom>
              <a:avLst/>
              <a:gdLst/>
              <a:ahLst/>
              <a:cxnLst/>
              <a:rect l="l" t="t" r="r" b="b"/>
              <a:pathLst>
                <a:path w="876300" h="400050">
                  <a:moveTo>
                    <a:pt x="87630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8534400" y="20193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0287000" y="20193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401175" y="29432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8534400" y="3886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0287000" y="3886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9410700" y="481965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27162" y="17183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全域数据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979762" y="17183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业务目标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08090" y="2651760"/>
              <a:ext cx="8814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AI决策引擎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27162" y="35852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渠道编排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979762" y="35852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内容生成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03462" y="45186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效果闭环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90894" y="5792152"/>
              <a:ext cx="3315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spc="75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blueprint workflow / SaaS operating layer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067550" y="2343150"/>
            <a:ext cx="4476750" cy="2571750"/>
            <a:chOff x="7067550" y="2343150"/>
            <a:chExt cx="4476750" cy="2571750"/>
          </a:xfrm>
        </p:grpSpPr>
        <p:sp>
          <p:nvSpPr>
            <p:cNvPr id="57" name="Freeform 57"/>
            <p:cNvSpPr/>
            <p:nvPr/>
          </p:nvSpPr>
          <p:spPr>
            <a:xfrm>
              <a:off x="7086600" y="2343150"/>
              <a:ext cx="1200150" cy="323850"/>
            </a:xfrm>
            <a:custGeom>
              <a:avLst/>
              <a:gdLst/>
              <a:ahLst/>
              <a:cxnLst/>
              <a:rect l="l" t="t" r="r" b="b"/>
              <a:pathLst>
                <a:path w="1200150" h="323850">
                  <a:moveTo>
                    <a:pt x="76200" y="0"/>
                  </a:moveTo>
                  <a:lnTo>
                    <a:pt x="1123950" y="0"/>
                  </a:lnTo>
                  <a:cubicBezTo>
                    <a:pt x="1166034" y="0"/>
                    <a:pt x="1200150" y="34116"/>
                    <a:pt x="1200150" y="76200"/>
                  </a:cubicBezTo>
                  <a:lnTo>
                    <a:pt x="1200150" y="247650"/>
                  </a:lnTo>
                  <a:cubicBezTo>
                    <a:pt x="1200150" y="289734"/>
                    <a:pt x="1166034" y="323850"/>
                    <a:pt x="112395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98639" y="2439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整合输入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8286750" y="2505075"/>
              <a:ext cx="457200" cy="85725"/>
            </a:xfrm>
            <a:custGeom>
              <a:avLst/>
              <a:gdLst/>
              <a:ahLst/>
              <a:cxnLst/>
              <a:rect l="l" t="t" r="r" b="b"/>
              <a:pathLst>
                <a:path w="457200" h="85725">
                  <a:moveTo>
                    <a:pt x="0" y="0"/>
                  </a:moveTo>
                  <a:cubicBezTo>
                    <a:pt x="209550" y="0"/>
                    <a:pt x="266700" y="0"/>
                    <a:pt x="457200" y="85725"/>
                  </a:cubicBez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0363200" y="2667000"/>
              <a:ext cx="1181100" cy="323850"/>
            </a:xfrm>
            <a:custGeom>
              <a:avLst/>
              <a:gdLst/>
              <a:ahLst/>
              <a:cxnLst/>
              <a:rect l="l" t="t" r="r" b="b"/>
              <a:pathLst>
                <a:path w="1181100" h="323850">
                  <a:moveTo>
                    <a:pt x="76200" y="0"/>
                  </a:moveTo>
                  <a:lnTo>
                    <a:pt x="1104900" y="0"/>
                  </a:lnTo>
                  <a:cubicBezTo>
                    <a:pt x="1146984" y="0"/>
                    <a:pt x="1181100" y="34116"/>
                    <a:pt x="1181100" y="76200"/>
                  </a:cubicBezTo>
                  <a:lnTo>
                    <a:pt x="1181100" y="247650"/>
                  </a:lnTo>
                  <a:cubicBezTo>
                    <a:pt x="1181100" y="289734"/>
                    <a:pt x="1146984" y="323850"/>
                    <a:pt x="11049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665714" y="2763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智能编排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9734550" y="2828925"/>
              <a:ext cx="628650" cy="142875"/>
            </a:xfrm>
            <a:custGeom>
              <a:avLst/>
              <a:gdLst/>
              <a:ahLst/>
              <a:cxnLst/>
              <a:rect l="l" t="t" r="r" b="b"/>
              <a:pathLst>
                <a:path w="628650" h="142875">
                  <a:moveTo>
                    <a:pt x="628650" y="0"/>
                  </a:moveTo>
                  <a:cubicBezTo>
                    <a:pt x="361950" y="0"/>
                    <a:pt x="209550" y="38100"/>
                    <a:pt x="0" y="142875"/>
                  </a:cubicBez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7067550" y="4591050"/>
              <a:ext cx="1200150" cy="323850"/>
            </a:xfrm>
            <a:custGeom>
              <a:avLst/>
              <a:gdLst/>
              <a:ahLst/>
              <a:cxnLst/>
              <a:rect l="l" t="t" r="r" b="b"/>
              <a:pathLst>
                <a:path w="1200150" h="323850">
                  <a:moveTo>
                    <a:pt x="76200" y="0"/>
                  </a:moveTo>
                  <a:lnTo>
                    <a:pt x="1123950" y="0"/>
                  </a:lnTo>
                  <a:cubicBezTo>
                    <a:pt x="1166034" y="0"/>
                    <a:pt x="1200150" y="34116"/>
                    <a:pt x="1200150" y="76200"/>
                  </a:cubicBezTo>
                  <a:lnTo>
                    <a:pt x="1200150" y="247650"/>
                  </a:lnTo>
                  <a:cubicBezTo>
                    <a:pt x="1200150" y="289734"/>
                    <a:pt x="1166034" y="323850"/>
                    <a:pt x="112395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379589" y="46872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持续反馈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8267700" y="4724400"/>
              <a:ext cx="514350" cy="28575"/>
            </a:xfrm>
            <a:custGeom>
              <a:avLst/>
              <a:gdLst/>
              <a:ahLst/>
              <a:cxnLst/>
              <a:rect l="l" t="t" r="r" b="b"/>
              <a:pathLst>
                <a:path w="514350" h="28575">
                  <a:moveTo>
                    <a:pt x="0" y="28575"/>
                  </a:moveTo>
                  <a:cubicBezTo>
                    <a:pt x="209550" y="28575"/>
                    <a:pt x="381000" y="28575"/>
                    <a:pt x="514350" y="0"/>
                  </a:cubicBez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11239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571500" y="81915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8905875" y="131445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905875" y="533400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763000" y="1524000"/>
              <a:ext cx="2381250" cy="3714750"/>
            </a:xfrm>
            <a:custGeom>
              <a:avLst/>
              <a:gdLst/>
              <a:ahLst/>
              <a:cxnLst/>
              <a:rect l="l" t="t" r="r" b="b"/>
              <a:pathLst>
                <a:path w="2381250" h="3714750">
                  <a:moveTo>
                    <a:pt x="0" y="0"/>
                  </a:moveTo>
                  <a:cubicBezTo>
                    <a:pt x="571500" y="190500"/>
                    <a:pt x="1047750" y="476250"/>
                    <a:pt x="1524000" y="857250"/>
                  </a:cubicBezTo>
                  <a:cubicBezTo>
                    <a:pt x="1905000" y="1162050"/>
                    <a:pt x="2143125" y="1504950"/>
                    <a:pt x="2381250" y="1905000"/>
                  </a:cubicBezTo>
                  <a:cubicBezTo>
                    <a:pt x="2095500" y="2305050"/>
                    <a:pt x="1828800" y="2638425"/>
                    <a:pt x="1447800" y="2952750"/>
                  </a:cubicBezTo>
                  <a:cubicBezTo>
                    <a:pt x="1000125" y="3314700"/>
                    <a:pt x="571500" y="3562350"/>
                    <a:pt x="0" y="3714750"/>
                  </a:cubicBezTo>
                </a:path>
              </a:pathLst>
            </a:custGeom>
            <a:noFill/>
            <a:ln w="14288">
              <a:solidFill>
                <a:schemeClr val="accent2">
                  <a:alpha val="18000"/>
                </a:schemeClr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572500" y="1762125"/>
              <a:ext cx="2286000" cy="3333750"/>
            </a:xfrm>
            <a:custGeom>
              <a:avLst/>
              <a:gdLst/>
              <a:ahLst/>
              <a:cxnLst/>
              <a:rect l="l" t="t" r="r" b="b"/>
              <a:pathLst>
                <a:path w="2286000" h="3333750">
                  <a:moveTo>
                    <a:pt x="0" y="0"/>
                  </a:moveTo>
                  <a:cubicBezTo>
                    <a:pt x="571500" y="190500"/>
                    <a:pt x="1047750" y="476250"/>
                    <a:pt x="1476375" y="828675"/>
                  </a:cubicBezTo>
                  <a:cubicBezTo>
                    <a:pt x="1809750" y="1104900"/>
                    <a:pt x="2076450" y="1409700"/>
                    <a:pt x="2286000" y="1666875"/>
                  </a:cubicBezTo>
                  <a:cubicBezTo>
                    <a:pt x="2076450" y="1943100"/>
                    <a:pt x="1809750" y="2238375"/>
                    <a:pt x="1476375" y="2505075"/>
                  </a:cubicBezTo>
                  <a:cubicBezTo>
                    <a:pt x="1047750" y="2857500"/>
                    <a:pt x="571500" y="3143250"/>
                    <a:pt x="0" y="3333750"/>
                  </a:cubicBezTo>
                </a:path>
              </a:pathLst>
            </a:custGeom>
            <a:noFill/>
            <a:ln w="9525">
              <a:solidFill>
                <a:schemeClr val="accent1">
                  <a:alpha val="12000"/>
                </a:schemeClr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57784" y="401002"/>
            <a:ext cx="11048429" cy="6215539"/>
            <a:chOff x="557784" y="401002"/>
            <a:chExt cx="11048429" cy="6215539"/>
          </a:xfrm>
        </p:grpSpPr>
        <p:sp>
          <p:nvSpPr>
            <p:cNvPr id="12" name="TextBox 12"/>
            <p:cNvSpPr txBox="1"/>
            <p:nvPr/>
          </p:nvSpPr>
          <p:spPr>
            <a:xfrm>
              <a:off x="566166" y="4010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模块目录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7784" y="670560"/>
              <a:ext cx="34752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执行简报—核心议题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738" y="6454616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474520" y="6454616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63880" y="1381125"/>
            <a:ext cx="11159033" cy="4848225"/>
            <a:chOff x="563880" y="1381125"/>
            <a:chExt cx="11159033" cy="4848225"/>
          </a:xfrm>
        </p:grpSpPr>
        <p:sp>
          <p:nvSpPr>
            <p:cNvPr id="17" name="TextBox 17"/>
            <p:cNvSpPr txBox="1"/>
            <p:nvPr/>
          </p:nvSpPr>
          <p:spPr>
            <a:xfrm>
              <a:off x="563880" y="138112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本次简报聚焦增长瓶颈、产品能力、价值验证与落地路径，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3880" y="1647825"/>
              <a:ext cx="2660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帮助您在20分钟内做出决策。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71500" y="2019300"/>
              <a:ext cx="7429500" cy="514350"/>
            </a:xfrm>
            <a:custGeom>
              <a:avLst/>
              <a:gdLst/>
              <a:ahLst/>
              <a:cxnLst/>
              <a:rect l="l" t="t" r="r" b="b"/>
              <a:pathLst>
                <a:path w="7429500" h="514350">
                  <a:moveTo>
                    <a:pt x="114300" y="0"/>
                  </a:moveTo>
                  <a:lnTo>
                    <a:pt x="7315200" y="0"/>
                  </a:lnTo>
                  <a:cubicBezTo>
                    <a:pt x="7378326" y="0"/>
                    <a:pt x="7429500" y="51174"/>
                    <a:pt x="7429500" y="114300"/>
                  </a:cubicBezTo>
                  <a:lnTo>
                    <a:pt x="7429500" y="400050"/>
                  </a:lnTo>
                  <a:cubicBezTo>
                    <a:pt x="7429500" y="463176"/>
                    <a:pt x="7378326" y="514350"/>
                    <a:pt x="7315200" y="514350"/>
                  </a:cubicBezTo>
                  <a:lnTo>
                    <a:pt x="114300" y="514350"/>
                  </a:lnTo>
                  <a:cubicBezTo>
                    <a:pt x="51174" y="514350"/>
                    <a:pt x="0" y="463176"/>
                    <a:pt x="0" y="4000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71525" y="22288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64692" y="2187892"/>
              <a:ext cx="3201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分散数据与低效执行正在侵蚀营销ROI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4162425" y="22288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55592" y="2187892"/>
              <a:ext cx="31821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数据整合·AI分析·自动执行·效果度量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571500" y="2686050"/>
              <a:ext cx="7429500" cy="514350"/>
            </a:xfrm>
            <a:custGeom>
              <a:avLst/>
              <a:gdLst/>
              <a:ahLst/>
              <a:cxnLst/>
              <a:rect l="l" t="t" r="r" b="b"/>
              <a:pathLst>
                <a:path w="7429500" h="514350">
                  <a:moveTo>
                    <a:pt x="114300" y="0"/>
                  </a:moveTo>
                  <a:lnTo>
                    <a:pt x="7315200" y="0"/>
                  </a:lnTo>
                  <a:cubicBezTo>
                    <a:pt x="7378326" y="0"/>
                    <a:pt x="7429500" y="51174"/>
                    <a:pt x="7429500" y="114300"/>
                  </a:cubicBezTo>
                  <a:lnTo>
                    <a:pt x="7429500" y="400050"/>
                  </a:lnTo>
                  <a:cubicBezTo>
                    <a:pt x="7429500" y="463176"/>
                    <a:pt x="7378326" y="514350"/>
                    <a:pt x="7315200" y="514350"/>
                  </a:cubicBezTo>
                  <a:lnTo>
                    <a:pt x="114300" y="514350"/>
                  </a:lnTo>
                  <a:cubicBezTo>
                    <a:pt x="51174" y="514350"/>
                    <a:pt x="0" y="463176"/>
                    <a:pt x="0" y="4000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771525" y="28956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64692" y="285464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客户验证数据与预期投资回报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4162425" y="28956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355592" y="2854642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30天快速上线，关键风险缓解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571500" y="3543300"/>
              <a:ext cx="7429500" cy="2114550"/>
            </a:xfrm>
            <a:custGeom>
              <a:avLst/>
              <a:gdLst/>
              <a:ahLst/>
              <a:cxnLst/>
              <a:rect l="l" t="t" r="r" b="b"/>
              <a:pathLst>
                <a:path w="7429500" h="2114550">
                  <a:moveTo>
                    <a:pt x="171450" y="0"/>
                  </a:moveTo>
                  <a:lnTo>
                    <a:pt x="7258050" y="0"/>
                  </a:lnTo>
                  <a:cubicBezTo>
                    <a:pt x="7352739" y="0"/>
                    <a:pt x="7429500" y="76761"/>
                    <a:pt x="7429500" y="171450"/>
                  </a:cubicBezTo>
                  <a:lnTo>
                    <a:pt x="7429500" y="1943100"/>
                  </a:lnTo>
                  <a:cubicBezTo>
                    <a:pt x="7429500" y="2037789"/>
                    <a:pt x="7352739" y="2114550"/>
                    <a:pt x="7258050" y="2114550"/>
                  </a:cubicBezTo>
                  <a:lnTo>
                    <a:pt x="171450" y="2114550"/>
                  </a:lnTo>
                  <a:cubicBezTo>
                    <a:pt x="76761" y="2114550"/>
                    <a:pt x="0" y="2037789"/>
                    <a:pt x="0" y="19431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47750" y="3952875"/>
              <a:ext cx="9525" cy="1266825"/>
            </a:xfrm>
            <a:custGeom>
              <a:avLst/>
              <a:gdLst/>
              <a:ahLst/>
              <a:cxnLst/>
              <a:rect l="l" t="t" r="r" b="b"/>
              <a:pathLst>
                <a:path w="9525" h="1266825">
                  <a:moveTo>
                    <a:pt x="0" y="0"/>
                  </a:moveTo>
                  <a:lnTo>
                    <a:pt x="0" y="1266825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914400" y="39624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914400" y="44386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914400" y="49149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914400" y="53911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60786" y="40300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0786" y="45062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0786" y="49825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0786" y="54587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1181100" y="40957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181100" y="45720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181100" y="50482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181100" y="55245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09344" y="378999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增长瓶颈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612392" y="4111942"/>
              <a:ext cx="3201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分散数据与低效执行正在侵蚀营销ROI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609344" y="426624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能力框架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12392" y="4588192"/>
              <a:ext cx="3527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数据整合 · AI分析 · 自动执行 · 效果度量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609344" y="474249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价值验证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612392" y="506444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客户验证数据与预期投资回报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609344" y="521874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落地路径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612392" y="5540692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30天快速上线，关键风险缓解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8763000" y="1619250"/>
              <a:ext cx="2857500" cy="933450"/>
            </a:xfrm>
            <a:custGeom>
              <a:avLst/>
              <a:gdLst/>
              <a:ahLst/>
              <a:cxnLst/>
              <a:rect l="l" t="t" r="r" b="b"/>
              <a:pathLst>
                <a:path w="2857500" h="933450">
                  <a:moveTo>
                    <a:pt x="133350" y="0"/>
                  </a:moveTo>
                  <a:lnTo>
                    <a:pt x="2724150" y="0"/>
                  </a:lnTo>
                  <a:cubicBezTo>
                    <a:pt x="2797797" y="0"/>
                    <a:pt x="2857500" y="59703"/>
                    <a:pt x="2857500" y="133350"/>
                  </a:cubicBezTo>
                  <a:lnTo>
                    <a:pt x="2857500" y="800100"/>
                  </a:lnTo>
                  <a:cubicBezTo>
                    <a:pt x="2857500" y="873747"/>
                    <a:pt x="2797797" y="933450"/>
                    <a:pt x="2724150" y="933450"/>
                  </a:cubicBezTo>
                  <a:lnTo>
                    <a:pt x="133350" y="933450"/>
                  </a:lnTo>
                  <a:cubicBezTo>
                    <a:pt x="59703" y="933450"/>
                    <a:pt x="0" y="873747"/>
                    <a:pt x="0" y="8001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005316" y="18392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72981" y="1758315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现状与问题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04173" y="2081689"/>
              <a:ext cx="15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分散数据与低效执行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04173" y="2310289"/>
              <a:ext cx="13912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正在侵蚀营销ROI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8763000" y="2686050"/>
              <a:ext cx="2857500" cy="933450"/>
            </a:xfrm>
            <a:custGeom>
              <a:avLst/>
              <a:gdLst/>
              <a:ahLst/>
              <a:cxnLst/>
              <a:rect l="l" t="t" r="r" b="b"/>
              <a:pathLst>
                <a:path w="2857500" h="933450">
                  <a:moveTo>
                    <a:pt x="133350" y="0"/>
                  </a:moveTo>
                  <a:lnTo>
                    <a:pt x="2724150" y="0"/>
                  </a:lnTo>
                  <a:cubicBezTo>
                    <a:pt x="2797797" y="0"/>
                    <a:pt x="2857500" y="59703"/>
                    <a:pt x="2857500" y="133350"/>
                  </a:cubicBezTo>
                  <a:lnTo>
                    <a:pt x="2857500" y="800100"/>
                  </a:lnTo>
                  <a:cubicBezTo>
                    <a:pt x="2857500" y="873747"/>
                    <a:pt x="2797797" y="933450"/>
                    <a:pt x="2724150" y="933450"/>
                  </a:cubicBezTo>
                  <a:lnTo>
                    <a:pt x="133350" y="933450"/>
                  </a:lnTo>
                  <a:cubicBezTo>
                    <a:pt x="59703" y="933450"/>
                    <a:pt x="0" y="873747"/>
                    <a:pt x="0" y="8001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005316" y="29060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372981" y="2825115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方案与模块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04173" y="3148489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数据整合·AI分析·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004173" y="3377089"/>
              <a:ext cx="1480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自动执行·效果度量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8763000" y="3752850"/>
              <a:ext cx="2857500" cy="933450"/>
            </a:xfrm>
            <a:custGeom>
              <a:avLst/>
              <a:gdLst/>
              <a:ahLst/>
              <a:cxnLst/>
              <a:rect l="l" t="t" r="r" b="b"/>
              <a:pathLst>
                <a:path w="2857500" h="933450">
                  <a:moveTo>
                    <a:pt x="133350" y="0"/>
                  </a:moveTo>
                  <a:lnTo>
                    <a:pt x="2724150" y="0"/>
                  </a:lnTo>
                  <a:cubicBezTo>
                    <a:pt x="2797797" y="0"/>
                    <a:pt x="2857500" y="59703"/>
                    <a:pt x="2857500" y="133350"/>
                  </a:cubicBezTo>
                  <a:lnTo>
                    <a:pt x="2857500" y="800100"/>
                  </a:lnTo>
                  <a:cubicBezTo>
                    <a:pt x="2857500" y="873747"/>
                    <a:pt x="2797797" y="933450"/>
                    <a:pt x="2724150" y="933450"/>
                  </a:cubicBezTo>
                  <a:lnTo>
                    <a:pt x="133350" y="933450"/>
                  </a:lnTo>
                  <a:cubicBezTo>
                    <a:pt x="59703" y="933450"/>
                    <a:pt x="0" y="873747"/>
                    <a:pt x="0" y="8001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005316" y="39728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72981" y="3891915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商业验证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04173" y="4215289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客户验证数据与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04173" y="44438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预期投资回报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8763000" y="4819650"/>
              <a:ext cx="2857500" cy="933450"/>
            </a:xfrm>
            <a:custGeom>
              <a:avLst/>
              <a:gdLst/>
              <a:ahLst/>
              <a:cxnLst/>
              <a:rect l="l" t="t" r="r" b="b"/>
              <a:pathLst>
                <a:path w="2857500" h="933450">
                  <a:moveTo>
                    <a:pt x="133350" y="0"/>
                  </a:moveTo>
                  <a:lnTo>
                    <a:pt x="2724150" y="0"/>
                  </a:lnTo>
                  <a:cubicBezTo>
                    <a:pt x="2797797" y="0"/>
                    <a:pt x="2857500" y="59703"/>
                    <a:pt x="2857500" y="133350"/>
                  </a:cubicBezTo>
                  <a:lnTo>
                    <a:pt x="2857500" y="800100"/>
                  </a:lnTo>
                  <a:cubicBezTo>
                    <a:pt x="2857500" y="873747"/>
                    <a:pt x="2797797" y="933450"/>
                    <a:pt x="2724150" y="933450"/>
                  </a:cubicBezTo>
                  <a:lnTo>
                    <a:pt x="133350" y="933450"/>
                  </a:lnTo>
                  <a:cubicBezTo>
                    <a:pt x="59703" y="933450"/>
                    <a:pt x="0" y="873747"/>
                    <a:pt x="0" y="8001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005316" y="50396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372981" y="4958715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启动决策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004173" y="5282089"/>
              <a:ext cx="15748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30天快速上线，关键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04173" y="5510689"/>
              <a:ext cx="15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风险缓解与资源需求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9486900" y="5905500"/>
              <a:ext cx="2133600" cy="323850"/>
            </a:xfrm>
            <a:custGeom>
              <a:avLst/>
              <a:gdLst/>
              <a:ahLst/>
              <a:cxnLst/>
              <a:rect l="l" t="t" r="r" b="b"/>
              <a:pathLst>
                <a:path w="2133600" h="323850">
                  <a:moveTo>
                    <a:pt x="161925" y="0"/>
                  </a:moveTo>
                  <a:lnTo>
                    <a:pt x="1971675" y="0"/>
                  </a:lnTo>
                  <a:cubicBezTo>
                    <a:pt x="2061104" y="0"/>
                    <a:pt x="2133600" y="72496"/>
                    <a:pt x="2133600" y="161925"/>
                  </a:cubicBezTo>
                  <a:lnTo>
                    <a:pt x="2133600" y="161925"/>
                  </a:lnTo>
                  <a:cubicBezTo>
                    <a:pt x="2133600" y="251354"/>
                    <a:pt x="2061104" y="323850"/>
                    <a:pt x="19716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384487" y="5985510"/>
              <a:ext cx="23384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立即启动的优先级与资源需求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757666" y="762952"/>
            <a:ext cx="2901296" cy="776859"/>
            <a:chOff x="8757666" y="762952"/>
            <a:chExt cx="2901296" cy="776859"/>
          </a:xfrm>
        </p:grpSpPr>
        <p:sp>
          <p:nvSpPr>
            <p:cNvPr id="74" name="TextBox 74"/>
            <p:cNvSpPr txBox="1"/>
            <p:nvPr/>
          </p:nvSpPr>
          <p:spPr>
            <a:xfrm>
              <a:off x="8757666" y="762952"/>
              <a:ext cx="15516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Agenda / Decision Flow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757666" y="1334452"/>
              <a:ext cx="29012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从问题识别 → 方案能力 → 价值验证 → 启动决策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18000"/>
                </a:scheme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714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16000"/>
                </a:scheme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238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16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762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16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286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16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810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16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34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16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858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16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16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16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16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16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16000"/>
                </a:schemeClr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57784" y="564356"/>
            <a:ext cx="11067479" cy="6042660"/>
            <a:chOff x="557784" y="564356"/>
            <a:chExt cx="11067479" cy="6042660"/>
          </a:xfrm>
        </p:grpSpPr>
        <p:sp>
          <p:nvSpPr>
            <p:cNvPr id="18" name="TextBox 18"/>
            <p:cNvSpPr txBox="1"/>
            <p:nvPr/>
          </p:nvSpPr>
          <p:spPr>
            <a:xfrm>
              <a:off x="565785" y="564356"/>
              <a:ext cx="6777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7784" y="851535"/>
              <a:ext cx="405993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营销增长的三个断裂点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6738" y="64450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93570" y="64450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71500" y="1752600"/>
            <a:ext cx="11049000" cy="3775901"/>
            <a:chOff x="571500" y="1752600"/>
            <a:chExt cx="11049000" cy="3775901"/>
          </a:xfrm>
        </p:grpSpPr>
        <p:sp>
          <p:nvSpPr>
            <p:cNvPr id="24" name="Freeform 24"/>
            <p:cNvSpPr/>
            <p:nvPr/>
          </p:nvSpPr>
          <p:spPr>
            <a:xfrm>
              <a:off x="571500" y="1752600"/>
              <a:ext cx="7124700" cy="3695700"/>
            </a:xfrm>
            <a:custGeom>
              <a:avLst/>
              <a:gdLst/>
              <a:ahLst/>
              <a:cxnLst/>
              <a:rect l="l" t="t" r="r" b="b"/>
              <a:pathLst>
                <a:path w="7124700" h="3695700">
                  <a:moveTo>
                    <a:pt x="152400" y="0"/>
                  </a:moveTo>
                  <a:lnTo>
                    <a:pt x="6972300" y="0"/>
                  </a:lnTo>
                  <a:cubicBezTo>
                    <a:pt x="7056468" y="0"/>
                    <a:pt x="7124700" y="68232"/>
                    <a:pt x="7124700" y="152400"/>
                  </a:cubicBezTo>
                  <a:lnTo>
                    <a:pt x="7124700" y="3543300"/>
                  </a:lnTo>
                  <a:cubicBezTo>
                    <a:pt x="7124700" y="3627468"/>
                    <a:pt x="7056468" y="3695700"/>
                    <a:pt x="6972300" y="3695700"/>
                  </a:cubicBezTo>
                  <a:lnTo>
                    <a:pt x="152400" y="3695700"/>
                  </a:lnTo>
                  <a:cubicBezTo>
                    <a:pt x="68232" y="3695700"/>
                    <a:pt x="0" y="3627468"/>
                    <a:pt x="0" y="35433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71500" y="1752600"/>
              <a:ext cx="76200" cy="369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95350" y="2028825"/>
              <a:ext cx="40774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17320" y="2233612"/>
              <a:ext cx="17030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个关键断层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4494" y="2951798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企业营销体系普遍存在数据、决策与执行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4494" y="333279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之间的断层，导致增长动能持续流失。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914400" y="373380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191500" y="1962150"/>
              <a:ext cx="3429000" cy="1047750"/>
            </a:xfrm>
            <a:custGeom>
              <a:avLst/>
              <a:gdLst/>
              <a:ahLst/>
              <a:cxnLst/>
              <a:rect l="l" t="t" r="r" b="b"/>
              <a:pathLst>
                <a:path w="3429000" h="104775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933450"/>
                  </a:lnTo>
                  <a:cubicBezTo>
                    <a:pt x="3429000" y="996576"/>
                    <a:pt x="3377826" y="1047750"/>
                    <a:pt x="3314700" y="1047750"/>
                  </a:cubicBezTo>
                  <a:lnTo>
                    <a:pt x="114300" y="1047750"/>
                  </a:lnTo>
                  <a:cubicBezTo>
                    <a:pt x="51174" y="1047750"/>
                    <a:pt x="0" y="996576"/>
                    <a:pt x="0" y="933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62950" y="2295525"/>
              <a:ext cx="381000" cy="3810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3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8439150" y="2371725"/>
              <a:ext cx="76200" cy="762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8591550" y="2371725"/>
              <a:ext cx="76200" cy="762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477250" y="2514600"/>
              <a:ext cx="152400" cy="66675"/>
            </a:xfrm>
            <a:custGeom>
              <a:avLst/>
              <a:gdLst/>
              <a:ahLst/>
              <a:cxnLst/>
              <a:rect l="l" t="t" r="r" b="b"/>
              <a:pathLst>
                <a:path w="152400" h="66675">
                  <a:moveTo>
                    <a:pt x="0" y="66675"/>
                  </a:moveTo>
                  <a:cubicBezTo>
                    <a:pt x="38100" y="0"/>
                    <a:pt x="114300" y="0"/>
                    <a:pt x="152400" y="66675"/>
                  </a:cubicBez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8553450" y="2219325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7620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8343900" y="2295525"/>
              <a:ext cx="57150" cy="47625"/>
            </a:xfrm>
            <a:custGeom>
              <a:avLst/>
              <a:gdLst/>
              <a:ahLst/>
              <a:cxnLst/>
              <a:rect l="l" t="t" r="r" b="b"/>
              <a:pathLst>
                <a:path w="57150" h="47625">
                  <a:moveTo>
                    <a:pt x="57150" y="47625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8705850" y="2295525"/>
              <a:ext cx="57150" cy="47625"/>
            </a:xfrm>
            <a:custGeom>
              <a:avLst/>
              <a:gdLst/>
              <a:ahLst/>
              <a:cxnLst/>
              <a:rect l="l" t="t" r="r" b="b"/>
              <a:pathLst>
                <a:path w="57150" h="47625">
                  <a:moveTo>
                    <a:pt x="0" y="47625"/>
                  </a:moveTo>
                  <a:lnTo>
                    <a:pt x="5715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868156" y="21488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数据孤岛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70442" y="2483168"/>
              <a:ext cx="2481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CRM、流量、交易数据分散，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70442" y="27498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无法形成统一画像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8191500" y="3219450"/>
              <a:ext cx="3429000" cy="1047750"/>
            </a:xfrm>
            <a:custGeom>
              <a:avLst/>
              <a:gdLst/>
              <a:ahLst/>
              <a:cxnLst/>
              <a:rect l="l" t="t" r="r" b="b"/>
              <a:pathLst>
                <a:path w="3429000" h="104775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933450"/>
                  </a:lnTo>
                  <a:cubicBezTo>
                    <a:pt x="3429000" y="996576"/>
                    <a:pt x="3377826" y="1047750"/>
                    <a:pt x="3314700" y="1047750"/>
                  </a:cubicBezTo>
                  <a:lnTo>
                    <a:pt x="114300" y="1047750"/>
                  </a:lnTo>
                  <a:cubicBezTo>
                    <a:pt x="51174" y="1047750"/>
                    <a:pt x="0" y="996576"/>
                    <a:pt x="0" y="933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8362950" y="3552825"/>
              <a:ext cx="381000" cy="3810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3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8458200" y="3648075"/>
              <a:ext cx="190500" cy="1905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8553450" y="36861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57150"/>
                  </a:moveTo>
                  <a:lnTo>
                    <a:pt x="5715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8553450" y="35814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47625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8667750" y="374332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8391525" y="374332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47625" y="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868156" y="34061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决策滞后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70442" y="3740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依赖人工分析与经验，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870442" y="40071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错过最佳干预时机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8191500" y="4476750"/>
              <a:ext cx="3429000" cy="1047750"/>
            </a:xfrm>
            <a:custGeom>
              <a:avLst/>
              <a:gdLst/>
              <a:ahLst/>
              <a:cxnLst/>
              <a:rect l="l" t="t" r="r" b="b"/>
              <a:pathLst>
                <a:path w="3429000" h="104775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933450"/>
                  </a:lnTo>
                  <a:cubicBezTo>
                    <a:pt x="3429000" y="996576"/>
                    <a:pt x="3377826" y="1047750"/>
                    <a:pt x="3314700" y="1047750"/>
                  </a:cubicBezTo>
                  <a:lnTo>
                    <a:pt x="114300" y="1047750"/>
                  </a:lnTo>
                  <a:cubicBezTo>
                    <a:pt x="51174" y="1047750"/>
                    <a:pt x="0" y="996576"/>
                    <a:pt x="0" y="933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8362950" y="4810125"/>
              <a:ext cx="381000" cy="3810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3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8458200" y="4914900"/>
              <a:ext cx="190500" cy="171450"/>
            </a:xfrm>
            <a:custGeom>
              <a:avLst/>
              <a:gdLst/>
              <a:ahLst/>
              <a:cxnLst/>
              <a:rect l="l" t="t" r="r" b="b"/>
              <a:pathLst>
                <a:path w="190500" h="171450">
                  <a:moveTo>
                    <a:pt x="0" y="0"/>
                  </a:moveTo>
                  <a:lnTo>
                    <a:pt x="190500" y="0"/>
                  </a:lnTo>
                  <a:lnTo>
                    <a:pt x="190500" y="133350"/>
                  </a:lnTo>
                  <a:lnTo>
                    <a:pt x="114300" y="133350"/>
                  </a:lnTo>
                  <a:lnTo>
                    <a:pt x="76200" y="171450"/>
                  </a:lnTo>
                  <a:lnTo>
                    <a:pt x="76200" y="133350"/>
                  </a:lnTo>
                  <a:lnTo>
                    <a:pt x="0" y="13335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</a:ln>
          </p:spPr>
        </p:sp>
        <p:sp>
          <p:nvSpPr>
            <p:cNvPr id="55" name="Line 55"/>
            <p:cNvSpPr/>
            <p:nvPr/>
          </p:nvSpPr>
          <p:spPr>
            <a:xfrm>
              <a:off x="8496300" y="4962525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8496300" y="50006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868156" y="46634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执行断层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70442" y="49977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策略与落地脱节，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870442" y="5264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活动效果难追踪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3314700" y="2486025"/>
              <a:ext cx="4876800" cy="1609725"/>
            </a:xfrm>
            <a:custGeom>
              <a:avLst/>
              <a:gdLst/>
              <a:ahLst/>
              <a:cxnLst/>
              <a:rect l="l" t="t" r="r" b="b"/>
              <a:pathLst>
                <a:path w="4876800" h="1609725">
                  <a:moveTo>
                    <a:pt x="0" y="1609725"/>
                  </a:moveTo>
                  <a:cubicBezTo>
                    <a:pt x="781050" y="1609725"/>
                    <a:pt x="1162050" y="0"/>
                    <a:pt x="4876800" y="0"/>
                  </a:cubicBezTo>
                </a:path>
              </a:pathLst>
            </a:custGeom>
            <a:noFill/>
            <a:ln w="19050">
              <a:solidFill>
                <a:schemeClr val="accent2">
                  <a:alpha val="55000"/>
                </a:schemeClr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3314700" y="3743325"/>
              <a:ext cx="4876800" cy="352425"/>
            </a:xfrm>
            <a:custGeom>
              <a:avLst/>
              <a:gdLst/>
              <a:ahLst/>
              <a:cxnLst/>
              <a:rect l="l" t="t" r="r" b="b"/>
              <a:pathLst>
                <a:path w="4876800" h="352425">
                  <a:moveTo>
                    <a:pt x="0" y="352425"/>
                  </a:moveTo>
                  <a:cubicBezTo>
                    <a:pt x="857250" y="352425"/>
                    <a:pt x="1333500" y="0"/>
                    <a:pt x="4876800" y="0"/>
                  </a:cubicBezTo>
                </a:path>
              </a:pathLst>
            </a:custGeom>
            <a:noFill/>
            <a:ln w="19050">
              <a:solidFill>
                <a:schemeClr val="accent2">
                  <a:alpha val="55000"/>
                </a:schemeClr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3314700" y="4095750"/>
              <a:ext cx="4876800" cy="904875"/>
            </a:xfrm>
            <a:custGeom>
              <a:avLst/>
              <a:gdLst/>
              <a:ahLst/>
              <a:cxnLst/>
              <a:rect l="l" t="t" r="r" b="b"/>
              <a:pathLst>
                <a:path w="4876800" h="904875">
                  <a:moveTo>
                    <a:pt x="0" y="0"/>
                  </a:moveTo>
                  <a:cubicBezTo>
                    <a:pt x="876300" y="0"/>
                    <a:pt x="1447800" y="904875"/>
                    <a:pt x="4876800" y="904875"/>
                  </a:cubicBezTo>
                </a:path>
              </a:pathLst>
            </a:custGeom>
            <a:noFill/>
            <a:ln w="19050">
              <a:solidFill>
                <a:schemeClr val="accent2">
                  <a:alpha val="55000"/>
                </a:schemeClr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3219450" y="40005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8153400" y="24479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8153400" y="37052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8153400" y="49625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909066" y="4058602"/>
            <a:ext cx="3226403" cy="205359"/>
            <a:chOff x="909066" y="4058602"/>
            <a:chExt cx="3226403" cy="205359"/>
          </a:xfrm>
        </p:grpSpPr>
        <p:sp>
          <p:nvSpPr>
            <p:cNvPr id="68" name="TextBox 68"/>
            <p:cNvSpPr txBox="1"/>
            <p:nvPr/>
          </p:nvSpPr>
          <p:spPr>
            <a:xfrm>
              <a:off x="909066" y="4058602"/>
              <a:ext cx="32264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38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增长问题不是单点效率低，而是链路连续性被切断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11620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096000" y="1600200"/>
              <a:ext cx="9525" cy="4552950"/>
            </a:xfrm>
            <a:custGeom>
              <a:avLst/>
              <a:gdLst/>
              <a:ahLst/>
              <a:cxnLst/>
              <a:rect l="l" t="t" r="r" b="b"/>
              <a:pathLst>
                <a:path w="9525" h="4552950">
                  <a:moveTo>
                    <a:pt x="0" y="0"/>
                  </a:moveTo>
                  <a:lnTo>
                    <a:pt x="0" y="45529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4293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7784" y="381952"/>
            <a:ext cx="11067478" cy="6282214"/>
            <a:chOff x="557784" y="381952"/>
            <a:chExt cx="11067478" cy="628221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381952"/>
              <a:ext cx="634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603885"/>
              <a:ext cx="607618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从人工到智能：两代营销模式对比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0477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43681" y="65022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08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5022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71500" y="1390650"/>
            <a:ext cx="11049000" cy="4928425"/>
            <a:chOff x="571500" y="1390650"/>
            <a:chExt cx="11049000" cy="4928425"/>
          </a:xfrm>
        </p:grpSpPr>
        <p:sp>
          <p:nvSpPr>
            <p:cNvPr id="14" name="Freeform 14"/>
            <p:cNvSpPr/>
            <p:nvPr/>
          </p:nvSpPr>
          <p:spPr>
            <a:xfrm>
              <a:off x="571500" y="1390650"/>
              <a:ext cx="11049000" cy="533400"/>
            </a:xfrm>
            <a:custGeom>
              <a:avLst/>
              <a:gdLst/>
              <a:ahLst/>
              <a:cxnLst/>
              <a:rect l="l" t="t" r="r" b="b"/>
              <a:pathLst>
                <a:path w="11049000" h="53340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438150"/>
                  </a:lnTo>
                  <a:cubicBezTo>
                    <a:pt x="11049000" y="490755"/>
                    <a:pt x="11006355" y="533400"/>
                    <a:pt x="109537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868" y="1545908"/>
              <a:ext cx="75821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AI营销工作台将决策周期从天压缩到分钟，将执行成本降低60%以上。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71500" y="2152650"/>
              <a:ext cx="5219700" cy="3429000"/>
            </a:xfrm>
            <a:custGeom>
              <a:avLst/>
              <a:gdLst/>
              <a:ahLst/>
              <a:cxnLst/>
              <a:rect l="l" t="t" r="r" b="b"/>
              <a:pathLst>
                <a:path w="5219700" h="34290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3314700"/>
                  </a:lnTo>
                  <a:cubicBezTo>
                    <a:pt x="5219700" y="3377826"/>
                    <a:pt x="5168526" y="3429000"/>
                    <a:pt x="5105400" y="3429000"/>
                  </a:cubicBezTo>
                  <a:lnTo>
                    <a:pt x="114300" y="3429000"/>
                  </a:lnTo>
                  <a:cubicBezTo>
                    <a:pt x="51174" y="3429000"/>
                    <a:pt x="0" y="3377826"/>
                    <a:pt x="0" y="3314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6400800" y="2152650"/>
              <a:ext cx="5219700" cy="3429000"/>
            </a:xfrm>
            <a:custGeom>
              <a:avLst/>
              <a:gdLst/>
              <a:ahLst/>
              <a:cxnLst/>
              <a:rect l="l" t="t" r="r" b="b"/>
              <a:pathLst>
                <a:path w="5219700" h="34290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3314700"/>
                  </a:lnTo>
                  <a:cubicBezTo>
                    <a:pt x="5219700" y="3377826"/>
                    <a:pt x="5168526" y="3429000"/>
                    <a:pt x="5105400" y="3429000"/>
                  </a:cubicBezTo>
                  <a:lnTo>
                    <a:pt x="114300" y="3429000"/>
                  </a:lnTo>
                  <a:cubicBezTo>
                    <a:pt x="51174" y="3429000"/>
                    <a:pt x="0" y="3377826"/>
                    <a:pt x="0" y="3314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5632" y="2306955"/>
              <a:ext cx="12758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传统模式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9442" y="26641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割裂的工具链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94932" y="2306955"/>
              <a:ext cx="22492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AI营销工作台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98742" y="266414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端到端智能闭环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876300" y="3086100"/>
              <a:ext cx="4610100" cy="609600"/>
            </a:xfrm>
            <a:custGeom>
              <a:avLst/>
              <a:gdLst/>
              <a:ahLst/>
              <a:cxnLst/>
              <a:rect l="l" t="t" r="r" b="b"/>
              <a:pathLst>
                <a:path w="4610100" h="609600">
                  <a:moveTo>
                    <a:pt x="95250" y="0"/>
                  </a:moveTo>
                  <a:lnTo>
                    <a:pt x="4514850" y="0"/>
                  </a:lnTo>
                  <a:cubicBezTo>
                    <a:pt x="4567455" y="0"/>
                    <a:pt x="4610100" y="42645"/>
                    <a:pt x="4610100" y="95250"/>
                  </a:cubicBezTo>
                  <a:lnTo>
                    <a:pt x="4610100" y="514350"/>
                  </a:lnTo>
                  <a:cubicBezTo>
                    <a:pt x="4610100" y="566955"/>
                    <a:pt x="4567455" y="609600"/>
                    <a:pt x="451485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000125" y="3267075"/>
              <a:ext cx="247650" cy="2476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66800" y="33337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57150"/>
                  </a:moveTo>
                  <a:lnTo>
                    <a:pt x="38100" y="95250"/>
                  </a:lnTo>
                  <a:lnTo>
                    <a:pt x="11430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64742" y="319754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数据工程师提取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65885" y="3440906"/>
              <a:ext cx="21316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多源报表手工拼接，口径难统一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76300" y="3848100"/>
              <a:ext cx="4610100" cy="609600"/>
            </a:xfrm>
            <a:custGeom>
              <a:avLst/>
              <a:gdLst/>
              <a:ahLst/>
              <a:cxnLst/>
              <a:rect l="l" t="t" r="r" b="b"/>
              <a:pathLst>
                <a:path w="4610100" h="609600">
                  <a:moveTo>
                    <a:pt x="95250" y="0"/>
                  </a:moveTo>
                  <a:lnTo>
                    <a:pt x="4514850" y="0"/>
                  </a:lnTo>
                  <a:cubicBezTo>
                    <a:pt x="4567455" y="0"/>
                    <a:pt x="4610100" y="42645"/>
                    <a:pt x="4610100" y="95250"/>
                  </a:cubicBezTo>
                  <a:lnTo>
                    <a:pt x="4610100" y="514350"/>
                  </a:lnTo>
                  <a:cubicBezTo>
                    <a:pt x="4610100" y="566955"/>
                    <a:pt x="4567455" y="609600"/>
                    <a:pt x="451485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000125" y="4029075"/>
              <a:ext cx="247650" cy="2476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066800" y="40957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57150"/>
                  </a:moveTo>
                  <a:lnTo>
                    <a:pt x="38100" y="95250"/>
                  </a:lnTo>
                  <a:lnTo>
                    <a:pt x="11430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64742" y="395954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分析师建模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65885" y="4202906"/>
              <a:ext cx="1828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依赖离线分析，策略更新慢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876300" y="4610100"/>
              <a:ext cx="4610100" cy="609600"/>
            </a:xfrm>
            <a:custGeom>
              <a:avLst/>
              <a:gdLst/>
              <a:ahLst/>
              <a:cxnLst/>
              <a:rect l="l" t="t" r="r" b="b"/>
              <a:pathLst>
                <a:path w="4610100" h="609600">
                  <a:moveTo>
                    <a:pt x="95250" y="0"/>
                  </a:moveTo>
                  <a:lnTo>
                    <a:pt x="4514850" y="0"/>
                  </a:lnTo>
                  <a:cubicBezTo>
                    <a:pt x="4567455" y="0"/>
                    <a:pt x="4610100" y="42645"/>
                    <a:pt x="4610100" y="95250"/>
                  </a:cubicBezTo>
                  <a:lnTo>
                    <a:pt x="4610100" y="514350"/>
                  </a:lnTo>
                  <a:cubicBezTo>
                    <a:pt x="4610100" y="566955"/>
                    <a:pt x="4567455" y="609600"/>
                    <a:pt x="451485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000125" y="4791075"/>
              <a:ext cx="247650" cy="2476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66800" y="48577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57150"/>
                  </a:moveTo>
                  <a:lnTo>
                    <a:pt x="38100" y="95250"/>
                  </a:lnTo>
                  <a:lnTo>
                    <a:pt x="11430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364742" y="472154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运营手动投放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65885" y="4964906"/>
              <a:ext cx="22831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跨渠道切换频繁，人工校准成本高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6705600" y="3009900"/>
              <a:ext cx="952500" cy="704850"/>
            </a:xfrm>
            <a:custGeom>
              <a:avLst/>
              <a:gdLst/>
              <a:ahLst/>
              <a:cxnLst/>
              <a:rect l="l" t="t" r="r" b="b"/>
              <a:pathLst>
                <a:path w="952500" h="704850">
                  <a:moveTo>
                    <a:pt x="95250" y="0"/>
                  </a:moveTo>
                  <a:lnTo>
                    <a:pt x="857250" y="0"/>
                  </a:lnTo>
                  <a:cubicBezTo>
                    <a:pt x="909855" y="0"/>
                    <a:pt x="952500" y="42645"/>
                    <a:pt x="952500" y="95250"/>
                  </a:cubicBezTo>
                  <a:lnTo>
                    <a:pt x="952500" y="609600"/>
                  </a:lnTo>
                  <a:cubicBezTo>
                    <a:pt x="952500" y="662205"/>
                    <a:pt x="909855" y="704850"/>
                    <a:pt x="857250" y="704850"/>
                  </a:cubicBezTo>
                  <a:lnTo>
                    <a:pt x="95250" y="704850"/>
                  </a:lnTo>
                  <a:cubicBezTo>
                    <a:pt x="42645" y="704850"/>
                    <a:pt x="0" y="662205"/>
                    <a:pt x="0" y="609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867650" y="3009900"/>
              <a:ext cx="952500" cy="704850"/>
            </a:xfrm>
            <a:custGeom>
              <a:avLst/>
              <a:gdLst/>
              <a:ahLst/>
              <a:cxnLst/>
              <a:rect l="l" t="t" r="r" b="b"/>
              <a:pathLst>
                <a:path w="952500" h="704850">
                  <a:moveTo>
                    <a:pt x="95250" y="0"/>
                  </a:moveTo>
                  <a:lnTo>
                    <a:pt x="857250" y="0"/>
                  </a:lnTo>
                  <a:cubicBezTo>
                    <a:pt x="909855" y="0"/>
                    <a:pt x="952500" y="42645"/>
                    <a:pt x="952500" y="95250"/>
                  </a:cubicBezTo>
                  <a:lnTo>
                    <a:pt x="952500" y="609600"/>
                  </a:lnTo>
                  <a:cubicBezTo>
                    <a:pt x="952500" y="662205"/>
                    <a:pt x="909855" y="704850"/>
                    <a:pt x="857250" y="704850"/>
                  </a:cubicBezTo>
                  <a:lnTo>
                    <a:pt x="95250" y="704850"/>
                  </a:lnTo>
                  <a:cubicBezTo>
                    <a:pt x="42645" y="704850"/>
                    <a:pt x="0" y="662205"/>
                    <a:pt x="0" y="609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029700" y="3009900"/>
              <a:ext cx="952500" cy="704850"/>
            </a:xfrm>
            <a:custGeom>
              <a:avLst/>
              <a:gdLst/>
              <a:ahLst/>
              <a:cxnLst/>
              <a:rect l="l" t="t" r="r" b="b"/>
              <a:pathLst>
                <a:path w="952500" h="704850">
                  <a:moveTo>
                    <a:pt x="95250" y="0"/>
                  </a:moveTo>
                  <a:lnTo>
                    <a:pt x="857250" y="0"/>
                  </a:lnTo>
                  <a:cubicBezTo>
                    <a:pt x="909855" y="0"/>
                    <a:pt x="952500" y="42645"/>
                    <a:pt x="952500" y="95250"/>
                  </a:cubicBezTo>
                  <a:lnTo>
                    <a:pt x="952500" y="609600"/>
                  </a:lnTo>
                  <a:cubicBezTo>
                    <a:pt x="952500" y="662205"/>
                    <a:pt x="909855" y="704850"/>
                    <a:pt x="857250" y="704850"/>
                  </a:cubicBezTo>
                  <a:lnTo>
                    <a:pt x="95250" y="704850"/>
                  </a:lnTo>
                  <a:cubicBezTo>
                    <a:pt x="42645" y="704850"/>
                    <a:pt x="0" y="662205"/>
                    <a:pt x="0" y="609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191750" y="3009900"/>
              <a:ext cx="952500" cy="704850"/>
            </a:xfrm>
            <a:custGeom>
              <a:avLst/>
              <a:gdLst/>
              <a:ahLst/>
              <a:cxnLst/>
              <a:rect l="l" t="t" r="r" b="b"/>
              <a:pathLst>
                <a:path w="952500" h="704850">
                  <a:moveTo>
                    <a:pt x="95250" y="0"/>
                  </a:moveTo>
                  <a:lnTo>
                    <a:pt x="857250" y="0"/>
                  </a:lnTo>
                  <a:cubicBezTo>
                    <a:pt x="909855" y="0"/>
                    <a:pt x="952500" y="42645"/>
                    <a:pt x="952500" y="95250"/>
                  </a:cubicBezTo>
                  <a:lnTo>
                    <a:pt x="952500" y="609600"/>
                  </a:lnTo>
                  <a:cubicBezTo>
                    <a:pt x="952500" y="662205"/>
                    <a:pt x="909855" y="704850"/>
                    <a:pt x="857250" y="704850"/>
                  </a:cubicBezTo>
                  <a:lnTo>
                    <a:pt x="95250" y="704850"/>
                  </a:lnTo>
                  <a:cubicBezTo>
                    <a:pt x="42645" y="704850"/>
                    <a:pt x="0" y="662205"/>
                    <a:pt x="0" y="609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286625" y="4095750"/>
              <a:ext cx="952500" cy="704850"/>
            </a:xfrm>
            <a:custGeom>
              <a:avLst/>
              <a:gdLst/>
              <a:ahLst/>
              <a:cxnLst/>
              <a:rect l="l" t="t" r="r" b="b"/>
              <a:pathLst>
                <a:path w="952500" h="704850">
                  <a:moveTo>
                    <a:pt x="95250" y="0"/>
                  </a:moveTo>
                  <a:lnTo>
                    <a:pt x="857250" y="0"/>
                  </a:lnTo>
                  <a:cubicBezTo>
                    <a:pt x="909855" y="0"/>
                    <a:pt x="952500" y="42645"/>
                    <a:pt x="952500" y="95250"/>
                  </a:cubicBezTo>
                  <a:lnTo>
                    <a:pt x="952500" y="609600"/>
                  </a:lnTo>
                  <a:cubicBezTo>
                    <a:pt x="952500" y="662205"/>
                    <a:pt x="909855" y="704850"/>
                    <a:pt x="857250" y="704850"/>
                  </a:cubicBezTo>
                  <a:lnTo>
                    <a:pt x="95250" y="704850"/>
                  </a:lnTo>
                  <a:cubicBezTo>
                    <a:pt x="42645" y="704850"/>
                    <a:pt x="0" y="662205"/>
                    <a:pt x="0" y="609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448675" y="4095750"/>
              <a:ext cx="952500" cy="704850"/>
            </a:xfrm>
            <a:custGeom>
              <a:avLst/>
              <a:gdLst/>
              <a:ahLst/>
              <a:cxnLst/>
              <a:rect l="l" t="t" r="r" b="b"/>
              <a:pathLst>
                <a:path w="952500" h="704850">
                  <a:moveTo>
                    <a:pt x="95250" y="0"/>
                  </a:moveTo>
                  <a:lnTo>
                    <a:pt x="857250" y="0"/>
                  </a:lnTo>
                  <a:cubicBezTo>
                    <a:pt x="909855" y="0"/>
                    <a:pt x="952500" y="42645"/>
                    <a:pt x="952500" y="95250"/>
                  </a:cubicBezTo>
                  <a:lnTo>
                    <a:pt x="952500" y="609600"/>
                  </a:lnTo>
                  <a:cubicBezTo>
                    <a:pt x="952500" y="662205"/>
                    <a:pt x="909855" y="704850"/>
                    <a:pt x="857250" y="704850"/>
                  </a:cubicBezTo>
                  <a:lnTo>
                    <a:pt x="95250" y="704850"/>
                  </a:lnTo>
                  <a:cubicBezTo>
                    <a:pt x="42645" y="704850"/>
                    <a:pt x="0" y="662205"/>
                    <a:pt x="0" y="609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610725" y="4095750"/>
              <a:ext cx="952500" cy="704850"/>
            </a:xfrm>
            <a:custGeom>
              <a:avLst/>
              <a:gdLst/>
              <a:ahLst/>
              <a:cxnLst/>
              <a:rect l="l" t="t" r="r" b="b"/>
              <a:pathLst>
                <a:path w="952500" h="704850">
                  <a:moveTo>
                    <a:pt x="95250" y="0"/>
                  </a:moveTo>
                  <a:lnTo>
                    <a:pt x="857250" y="0"/>
                  </a:lnTo>
                  <a:cubicBezTo>
                    <a:pt x="909855" y="0"/>
                    <a:pt x="952500" y="42645"/>
                    <a:pt x="952500" y="95250"/>
                  </a:cubicBezTo>
                  <a:lnTo>
                    <a:pt x="952500" y="609600"/>
                  </a:lnTo>
                  <a:cubicBezTo>
                    <a:pt x="952500" y="662205"/>
                    <a:pt x="909855" y="704850"/>
                    <a:pt x="857250" y="704850"/>
                  </a:cubicBezTo>
                  <a:lnTo>
                    <a:pt x="95250" y="704850"/>
                  </a:lnTo>
                  <a:cubicBezTo>
                    <a:pt x="42645" y="704850"/>
                    <a:pt x="0" y="662205"/>
                    <a:pt x="0" y="609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7658100" y="3362325"/>
              <a:ext cx="209550" cy="1"/>
            </a:xfrm>
            <a:prstGeom prst="line">
              <a:avLst/>
            </a:pr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5" name="Line 45"/>
            <p:cNvSpPr/>
            <p:nvPr/>
          </p:nvSpPr>
          <p:spPr>
            <a:xfrm>
              <a:off x="8820150" y="3362325"/>
              <a:ext cx="209550" cy="1"/>
            </a:xfrm>
            <a:prstGeom prst="line">
              <a:avLst/>
            </a:pr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6" name="Line 46"/>
            <p:cNvSpPr/>
            <p:nvPr/>
          </p:nvSpPr>
          <p:spPr>
            <a:xfrm>
              <a:off x="9982200" y="3362325"/>
              <a:ext cx="209550" cy="1"/>
            </a:xfrm>
            <a:prstGeom prst="line">
              <a:avLst/>
            </a:pr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7" name="Line 47"/>
            <p:cNvSpPr/>
            <p:nvPr/>
          </p:nvSpPr>
          <p:spPr>
            <a:xfrm>
              <a:off x="10668000" y="3714750"/>
              <a:ext cx="9525" cy="161925"/>
            </a:xfrm>
            <a:custGeom>
              <a:avLst/>
              <a:gdLst/>
              <a:ahLst/>
              <a:cxnLst/>
              <a:rect l="l" t="t" r="r" b="b"/>
              <a:pathLst>
                <a:path w="9525" h="161925">
                  <a:moveTo>
                    <a:pt x="0" y="0"/>
                  </a:moveTo>
                  <a:lnTo>
                    <a:pt x="0" y="161925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8" name="Line 48"/>
            <p:cNvSpPr/>
            <p:nvPr/>
          </p:nvSpPr>
          <p:spPr>
            <a:xfrm flipH="1">
              <a:off x="8115300" y="3857625"/>
              <a:ext cx="2533650" cy="5905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49" name="Line 49"/>
            <p:cNvSpPr/>
            <p:nvPr/>
          </p:nvSpPr>
          <p:spPr>
            <a:xfrm flipH="1">
              <a:off x="9277350" y="3857625"/>
              <a:ext cx="1371600" cy="5905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50" name="Line 50"/>
            <p:cNvSpPr/>
            <p:nvPr/>
          </p:nvSpPr>
          <p:spPr>
            <a:xfrm flipH="1">
              <a:off x="10439400" y="3857625"/>
              <a:ext cx="209550" cy="5905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06133" y="31565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93814" y="33728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自动整合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61634" y="3156585"/>
              <a:ext cx="164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55864" y="33728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实时分析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330233" y="31565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策略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17914" y="33728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自动生成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92283" y="31565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渠道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379964" y="33728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一键执行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59610" y="4250531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效果仪表盘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95413" y="4466749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实时反馈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612572" y="4250531"/>
              <a:ext cx="624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A/B迭代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57463" y="4466749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自动优化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63220" y="4250531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经营洞察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53886" y="4466749"/>
              <a:ext cx="6661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管理层可视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571500" y="5791200"/>
              <a:ext cx="5334000" cy="514350"/>
            </a:xfrm>
            <a:custGeom>
              <a:avLst/>
              <a:gdLst/>
              <a:ahLst/>
              <a:cxnLst/>
              <a:rect l="l" t="t" r="r" b="b"/>
              <a:pathLst>
                <a:path w="5334000" h="51435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419100"/>
                  </a:lnTo>
                  <a:cubicBezTo>
                    <a:pt x="5334000" y="471705"/>
                    <a:pt x="5291355" y="514350"/>
                    <a:pt x="5238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6286500" y="5791200"/>
              <a:ext cx="5334000" cy="514350"/>
            </a:xfrm>
            <a:custGeom>
              <a:avLst/>
              <a:gdLst/>
              <a:ahLst/>
              <a:cxnLst/>
              <a:rect l="l" t="t" r="r" b="b"/>
              <a:pathLst>
                <a:path w="5334000" h="51435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419100"/>
                  </a:lnTo>
                  <a:cubicBezTo>
                    <a:pt x="5334000" y="471705"/>
                    <a:pt x="5291355" y="514350"/>
                    <a:pt x="5238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14388" y="5903595"/>
              <a:ext cx="7728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关键变量对比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2292" y="6055042"/>
              <a:ext cx="4584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决策周期：3天 → 分钟级 执行方式：人工串联 → 系统闭环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29388" y="5903595"/>
              <a:ext cx="7728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不同路径影响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527292" y="6055042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855A"/>
                  </a:solidFill>
                  <a:latin typeface="+mn-lt"/>
                  <a:ea typeface="+mn-ea"/>
                  <a:cs typeface="+mn-cs"/>
                </a:rPr>
                <a:t>更快试错、更低成本、更强可度量性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448300" y="3200400"/>
            <a:ext cx="1647825" cy="1438275"/>
            <a:chOff x="5448300" y="3200400"/>
            <a:chExt cx="1647825" cy="1438275"/>
          </a:xfrm>
        </p:grpSpPr>
        <p:sp>
          <p:nvSpPr>
            <p:cNvPr id="72" name="Ellipse 72"/>
            <p:cNvSpPr/>
            <p:nvPr/>
          </p:nvSpPr>
          <p:spPr>
            <a:xfrm>
              <a:off x="5448300" y="3200400"/>
              <a:ext cx="381000" cy="3810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C53030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475682" y="3302318"/>
              <a:ext cx="326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53030"/>
                  </a:solidFill>
                  <a:latin typeface="+mj-lt"/>
                  <a:ea typeface="+mj-ea"/>
                  <a:cs typeface="+mj-cs"/>
                </a:rPr>
                <a:t>3天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5829300" y="3390900"/>
              <a:ext cx="381000" cy="1"/>
            </a:xfrm>
            <a:prstGeom prst="line">
              <a:avLst/>
            </a:prstGeom>
            <a:noFill/>
            <a:ln w="19050">
              <a:solidFill>
                <a:srgbClr val="C53030"/>
              </a:solidFill>
              <a:tailEnd type="triangle" w="lg" len="lg"/>
            </a:ln>
          </p:spPr>
        </p:sp>
        <p:sp>
          <p:nvSpPr>
            <p:cNvPr id="75" name="Ellipse 75"/>
            <p:cNvSpPr/>
            <p:nvPr/>
          </p:nvSpPr>
          <p:spPr>
            <a:xfrm>
              <a:off x="5981700" y="4257675"/>
              <a:ext cx="381000" cy="3810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2F855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986882" y="4375785"/>
              <a:ext cx="3706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分钟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6362700" y="4448175"/>
              <a:ext cx="733425" cy="1"/>
            </a:xfrm>
            <a:prstGeom prst="line">
              <a:avLst/>
            </a:prstGeom>
            <a:noFill/>
            <a:ln w="19050">
              <a:solidFill>
                <a:srgbClr val="2F855A"/>
              </a:solidFill>
              <a:tailEnd type="triangle" w="lg" len="lg"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71500" y="476250"/>
              <a:ext cx="11049000" cy="5905500"/>
            </a:xfrm>
            <a:custGeom>
              <a:avLst/>
              <a:gdLst/>
              <a:ahLst/>
              <a:cxnLst/>
              <a:rect l="l" t="t" r="r" b="b"/>
              <a:pathLst>
                <a:path w="11049000" h="59055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0" y="0"/>
                    <a:pt x="11049000" y="85290"/>
                    <a:pt x="11049000" y="190500"/>
                  </a:cubicBezTo>
                  <a:lnTo>
                    <a:pt x="11049000" y="5715000"/>
                  </a:lnTo>
                  <a:cubicBezTo>
                    <a:pt x="11049000" y="5820210"/>
                    <a:pt x="10963710" y="5905500"/>
                    <a:pt x="10858500" y="5905500"/>
                  </a:cubicBezTo>
                  <a:lnTo>
                    <a:pt x="190500" y="5905500"/>
                  </a:lnTo>
                  <a:cubicBezTo>
                    <a:pt x="85290" y="5905500"/>
                    <a:pt x="0" y="5820210"/>
                    <a:pt x="0" y="57150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8667750" y="666750"/>
              <a:ext cx="3143250" cy="5238750"/>
            </a:xfrm>
            <a:custGeom>
              <a:avLst/>
              <a:gdLst/>
              <a:ahLst/>
              <a:cxnLst/>
              <a:rect l="l" t="t" r="r" b="b"/>
              <a:pathLst>
                <a:path w="3143250" h="5238750">
                  <a:moveTo>
                    <a:pt x="0" y="0"/>
                  </a:moveTo>
                  <a:cubicBezTo>
                    <a:pt x="1238250" y="190500"/>
                    <a:pt x="2476500" y="952500"/>
                    <a:pt x="2857500" y="2190750"/>
                  </a:cubicBezTo>
                  <a:cubicBezTo>
                    <a:pt x="3143250" y="3095625"/>
                    <a:pt x="2905125" y="4286250"/>
                    <a:pt x="2047875" y="5238750"/>
                  </a:cubicBezTo>
                </a:path>
              </a:pathLst>
            </a:custGeom>
            <a:noFill/>
            <a:ln w="19050">
              <a:solidFill>
                <a:srgbClr val="EBF4FB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8239125" y="819150"/>
              <a:ext cx="3038475" cy="4705350"/>
            </a:xfrm>
            <a:custGeom>
              <a:avLst/>
              <a:gdLst/>
              <a:ahLst/>
              <a:cxnLst/>
              <a:rect l="l" t="t" r="r" b="b"/>
              <a:pathLst>
                <a:path w="3038475" h="4705350">
                  <a:moveTo>
                    <a:pt x="0" y="0"/>
                  </a:moveTo>
                  <a:cubicBezTo>
                    <a:pt x="1143000" y="247650"/>
                    <a:pt x="2095500" y="990600"/>
                    <a:pt x="2600325" y="1962150"/>
                  </a:cubicBezTo>
                  <a:cubicBezTo>
                    <a:pt x="3038475" y="2800350"/>
                    <a:pt x="2924175" y="3800475"/>
                    <a:pt x="2219325" y="4705350"/>
                  </a:cubicBez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667875" y="1000125"/>
              <a:ext cx="9525" cy="4810125"/>
            </a:xfrm>
            <a:custGeom>
              <a:avLst/>
              <a:gdLst/>
              <a:ahLst/>
              <a:cxnLst/>
              <a:rect l="l" t="t" r="r" b="b"/>
              <a:pathLst>
                <a:path w="9525" h="4810125">
                  <a:moveTo>
                    <a:pt x="0" y="0"/>
                  </a:moveTo>
                  <a:lnTo>
                    <a:pt x="0" y="4810125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0287000" y="1143000"/>
              <a:ext cx="9525" cy="4810125"/>
            </a:xfrm>
            <a:custGeom>
              <a:avLst/>
              <a:gdLst/>
              <a:ahLst/>
              <a:cxnLst/>
              <a:rect l="l" t="t" r="r" b="b"/>
              <a:pathLst>
                <a:path w="9525" h="4810125">
                  <a:moveTo>
                    <a:pt x="0" y="0"/>
                  </a:moveTo>
                  <a:lnTo>
                    <a:pt x="0" y="4810125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0906125" y="13335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57784" y="226695"/>
            <a:ext cx="11062716" cy="6418421"/>
            <a:chOff x="557784" y="226695"/>
            <a:chExt cx="11062716" cy="6418421"/>
          </a:xfrm>
        </p:grpSpPr>
        <p:sp>
          <p:nvSpPr>
            <p:cNvPr id="10" name="TextBox 10"/>
            <p:cNvSpPr txBox="1"/>
            <p:nvPr/>
          </p:nvSpPr>
          <p:spPr>
            <a:xfrm>
              <a:off x="566738" y="226695"/>
              <a:ext cx="798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PROOFGRID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01362" y="23479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08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7784" y="584835"/>
              <a:ext cx="325343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已落地的价值证明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71500" y="10287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3880" y="1190625"/>
              <a:ext cx="4890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多家企业通过AI营销工作台实现可量化的增长突破。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738" y="6483191"/>
              <a:ext cx="17228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价值验证页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571500" y="1666875"/>
            <a:ext cx="11078146" cy="4143375"/>
            <a:chOff x="571500" y="1666875"/>
            <a:chExt cx="11078146" cy="4143375"/>
          </a:xfrm>
        </p:grpSpPr>
        <p:sp>
          <p:nvSpPr>
            <p:cNvPr id="17" name="Freeform 17"/>
            <p:cNvSpPr/>
            <p:nvPr/>
          </p:nvSpPr>
          <p:spPr>
            <a:xfrm>
              <a:off x="571500" y="1666875"/>
              <a:ext cx="7086600" cy="4143375"/>
            </a:xfrm>
            <a:custGeom>
              <a:avLst/>
              <a:gdLst/>
              <a:ahLst/>
              <a:cxnLst/>
              <a:rect l="l" t="t" r="r" b="b"/>
              <a:pathLst>
                <a:path w="7086600" h="4143375">
                  <a:moveTo>
                    <a:pt x="171450" y="0"/>
                  </a:moveTo>
                  <a:lnTo>
                    <a:pt x="6915150" y="0"/>
                  </a:lnTo>
                  <a:cubicBezTo>
                    <a:pt x="7009839" y="0"/>
                    <a:pt x="7086600" y="76761"/>
                    <a:pt x="7086600" y="171450"/>
                  </a:cubicBezTo>
                  <a:lnTo>
                    <a:pt x="7086600" y="3971925"/>
                  </a:lnTo>
                  <a:cubicBezTo>
                    <a:pt x="7086600" y="4066614"/>
                    <a:pt x="7009839" y="4143375"/>
                    <a:pt x="6915150" y="4143375"/>
                  </a:cubicBezTo>
                  <a:lnTo>
                    <a:pt x="171450" y="4143375"/>
                  </a:lnTo>
                  <a:cubicBezTo>
                    <a:pt x="76761" y="4143375"/>
                    <a:pt x="0" y="4066614"/>
                    <a:pt x="0" y="3971925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7962900" y="1666875"/>
              <a:ext cx="3657600" cy="4143375"/>
            </a:xfrm>
            <a:custGeom>
              <a:avLst/>
              <a:gdLst/>
              <a:ahLst/>
              <a:cxnLst/>
              <a:rect l="l" t="t" r="r" b="b"/>
              <a:pathLst>
                <a:path w="3657600" h="4143375">
                  <a:moveTo>
                    <a:pt x="171450" y="0"/>
                  </a:moveTo>
                  <a:lnTo>
                    <a:pt x="3486150" y="0"/>
                  </a:lnTo>
                  <a:cubicBezTo>
                    <a:pt x="3580839" y="0"/>
                    <a:pt x="3657600" y="76761"/>
                    <a:pt x="3657600" y="171450"/>
                  </a:cubicBezTo>
                  <a:lnTo>
                    <a:pt x="3657600" y="3971925"/>
                  </a:lnTo>
                  <a:cubicBezTo>
                    <a:pt x="3657600" y="4066614"/>
                    <a:pt x="3580839" y="4143375"/>
                    <a:pt x="3486150" y="4143375"/>
                  </a:cubicBezTo>
                  <a:lnTo>
                    <a:pt x="171450" y="4143375"/>
                  </a:lnTo>
                  <a:cubicBezTo>
                    <a:pt x="76761" y="4143375"/>
                    <a:pt x="0" y="4066614"/>
                    <a:pt x="0" y="3971925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00100" y="1876425"/>
              <a:ext cx="6629400" cy="419100"/>
            </a:xfrm>
            <a:custGeom>
              <a:avLst/>
              <a:gdLst/>
              <a:ahLst/>
              <a:cxnLst/>
              <a:rect l="l" t="t" r="r" b="b"/>
              <a:pathLst>
                <a:path w="6629400" h="419100">
                  <a:moveTo>
                    <a:pt x="95250" y="0"/>
                  </a:moveTo>
                  <a:lnTo>
                    <a:pt x="6534150" y="0"/>
                  </a:lnTo>
                  <a:cubicBezTo>
                    <a:pt x="6586755" y="0"/>
                    <a:pt x="6629400" y="42645"/>
                    <a:pt x="6629400" y="95250"/>
                  </a:cubicBezTo>
                  <a:lnTo>
                    <a:pt x="6629400" y="323850"/>
                  </a:lnTo>
                  <a:cubicBezTo>
                    <a:pt x="6629400" y="376455"/>
                    <a:pt x="6586755" y="419100"/>
                    <a:pt x="6534150" y="419100"/>
                  </a:cubicBezTo>
                  <a:lnTo>
                    <a:pt x="95250" y="419100"/>
                  </a:lnTo>
                  <a:cubicBezTo>
                    <a:pt x="42645" y="419100"/>
                    <a:pt x="0" y="376455"/>
                    <a:pt x="0" y="323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02030" y="1981200"/>
              <a:ext cx="33756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三类行业，三组可引用的增长结果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800100" y="2466975"/>
              <a:ext cx="6629400" cy="952500"/>
            </a:xfrm>
            <a:custGeom>
              <a:avLst/>
              <a:gdLst/>
              <a:ahLst/>
              <a:cxnLst/>
              <a:rect l="l" t="t" r="r" b="b"/>
              <a:pathLst>
                <a:path w="6629400" h="952500">
                  <a:moveTo>
                    <a:pt x="133350" y="0"/>
                  </a:moveTo>
                  <a:lnTo>
                    <a:pt x="6496050" y="0"/>
                  </a:lnTo>
                  <a:cubicBezTo>
                    <a:pt x="6569697" y="0"/>
                    <a:pt x="6629400" y="59703"/>
                    <a:pt x="6629400" y="133350"/>
                  </a:cubicBezTo>
                  <a:lnTo>
                    <a:pt x="6629400" y="819150"/>
                  </a:lnTo>
                  <a:cubicBezTo>
                    <a:pt x="6629400" y="892797"/>
                    <a:pt x="6569697" y="952500"/>
                    <a:pt x="6496050" y="952500"/>
                  </a:cubicBezTo>
                  <a:lnTo>
                    <a:pt x="133350" y="952500"/>
                  </a:lnTo>
                  <a:cubicBezTo>
                    <a:pt x="59703" y="952500"/>
                    <a:pt x="0" y="892797"/>
                    <a:pt x="0" y="819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00100" y="3629025"/>
              <a:ext cx="6629400" cy="952500"/>
            </a:xfrm>
            <a:custGeom>
              <a:avLst/>
              <a:gdLst/>
              <a:ahLst/>
              <a:cxnLst/>
              <a:rect l="l" t="t" r="r" b="b"/>
              <a:pathLst>
                <a:path w="6629400" h="952500">
                  <a:moveTo>
                    <a:pt x="133350" y="0"/>
                  </a:moveTo>
                  <a:lnTo>
                    <a:pt x="6496050" y="0"/>
                  </a:lnTo>
                  <a:cubicBezTo>
                    <a:pt x="6569697" y="0"/>
                    <a:pt x="6629400" y="59703"/>
                    <a:pt x="6629400" y="133350"/>
                  </a:cubicBezTo>
                  <a:lnTo>
                    <a:pt x="6629400" y="819150"/>
                  </a:lnTo>
                  <a:cubicBezTo>
                    <a:pt x="6629400" y="892797"/>
                    <a:pt x="6569697" y="952500"/>
                    <a:pt x="6496050" y="952500"/>
                  </a:cubicBezTo>
                  <a:lnTo>
                    <a:pt x="133350" y="952500"/>
                  </a:lnTo>
                  <a:cubicBezTo>
                    <a:pt x="59703" y="952500"/>
                    <a:pt x="0" y="892797"/>
                    <a:pt x="0" y="819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00100" y="4791075"/>
              <a:ext cx="6629400" cy="847725"/>
            </a:xfrm>
            <a:custGeom>
              <a:avLst/>
              <a:gdLst/>
              <a:ahLst/>
              <a:cxnLst/>
              <a:rect l="l" t="t" r="r" b="b"/>
              <a:pathLst>
                <a:path w="6629400" h="847725">
                  <a:moveTo>
                    <a:pt x="133350" y="0"/>
                  </a:moveTo>
                  <a:lnTo>
                    <a:pt x="6496050" y="0"/>
                  </a:lnTo>
                  <a:cubicBezTo>
                    <a:pt x="6569697" y="0"/>
                    <a:pt x="6629400" y="59703"/>
                    <a:pt x="6629400" y="133350"/>
                  </a:cubicBezTo>
                  <a:lnTo>
                    <a:pt x="6629400" y="714375"/>
                  </a:lnTo>
                  <a:cubicBezTo>
                    <a:pt x="6629400" y="788022"/>
                    <a:pt x="6569697" y="847725"/>
                    <a:pt x="6496050" y="847725"/>
                  </a:cubicBezTo>
                  <a:lnTo>
                    <a:pt x="133350" y="847725"/>
                  </a:lnTo>
                  <a:cubicBezTo>
                    <a:pt x="59703" y="847725"/>
                    <a:pt x="0" y="788022"/>
                    <a:pt x="0" y="714375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971550" y="2733675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076325" y="2819400"/>
              <a:ext cx="209550" cy="219075"/>
            </a:xfrm>
            <a:custGeom>
              <a:avLst/>
              <a:gdLst/>
              <a:ahLst/>
              <a:cxnLst/>
              <a:rect l="l" t="t" r="r" b="b"/>
              <a:pathLst>
                <a:path w="209550" h="219075">
                  <a:moveTo>
                    <a:pt x="0" y="95250"/>
                  </a:moveTo>
                  <a:lnTo>
                    <a:pt x="104775" y="0"/>
                  </a:lnTo>
                  <a:lnTo>
                    <a:pt x="209550" y="95250"/>
                  </a:lnTo>
                  <a:lnTo>
                    <a:pt x="209550" y="219075"/>
                  </a:lnTo>
                  <a:lnTo>
                    <a:pt x="0" y="21907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123950" y="2867025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238250" y="2867025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515618" y="2603182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零售电商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17142" y="289274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整合天猫、京东、自有商城数据，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17142" y="3130868"/>
              <a:ext cx="3028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AI驱动个性化推荐，转化率提升35%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067425" y="2647950"/>
              <a:ext cx="1123950" cy="571500"/>
            </a:xfrm>
            <a:custGeom>
              <a:avLst/>
              <a:gdLst/>
              <a:ahLst/>
              <a:cxnLst/>
              <a:rect l="l" t="t" r="r" b="b"/>
              <a:pathLst>
                <a:path w="1123950" h="571500">
                  <a:moveTo>
                    <a:pt x="114300" y="0"/>
                  </a:moveTo>
                  <a:lnTo>
                    <a:pt x="1009650" y="0"/>
                  </a:lnTo>
                  <a:cubicBezTo>
                    <a:pt x="1072776" y="0"/>
                    <a:pt x="1123950" y="51174"/>
                    <a:pt x="1123950" y="114300"/>
                  </a:cubicBezTo>
                  <a:lnTo>
                    <a:pt x="1123950" y="457200"/>
                  </a:lnTo>
                  <a:cubicBezTo>
                    <a:pt x="1123950" y="520326"/>
                    <a:pt x="1072776" y="571500"/>
                    <a:pt x="1009650" y="571500"/>
                  </a:cubicBezTo>
                  <a:lnTo>
                    <a:pt x="114300" y="571500"/>
                  </a:lnTo>
                  <a:cubicBezTo>
                    <a:pt x="51174" y="571500"/>
                    <a:pt x="0" y="520326"/>
                    <a:pt x="0" y="457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4470" y="2766060"/>
              <a:ext cx="5498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转化率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14720" y="2871788"/>
              <a:ext cx="8293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+35%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971550" y="3895725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85850" y="3990975"/>
              <a:ext cx="295275" cy="152400"/>
            </a:xfrm>
            <a:custGeom>
              <a:avLst/>
              <a:gdLst/>
              <a:ahLst/>
              <a:cxnLst/>
              <a:rect l="l" t="t" r="r" b="b"/>
              <a:pathLst>
                <a:path w="295275" h="152400">
                  <a:moveTo>
                    <a:pt x="0" y="152400"/>
                  </a:moveTo>
                  <a:cubicBezTo>
                    <a:pt x="0" y="57150"/>
                    <a:pt x="66675" y="0"/>
                    <a:pt x="152400" y="0"/>
                  </a:cubicBezTo>
                  <a:cubicBezTo>
                    <a:pt x="228600" y="0"/>
                    <a:pt x="295275" y="57150"/>
                    <a:pt x="295275" y="15240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166812" y="3867150"/>
              <a:ext cx="133350" cy="13335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57275" y="4114800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314450" y="4114800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0"/>
                  </a:moveTo>
                  <a:lnTo>
                    <a:pt x="95250" y="85725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15618" y="3765232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金融保险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17142" y="4054792"/>
              <a:ext cx="3203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实时客户意图识别与自动化外呼/消息，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17142" y="429291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线索转化率提升50%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6067425" y="3810000"/>
              <a:ext cx="1123950" cy="571500"/>
            </a:xfrm>
            <a:custGeom>
              <a:avLst/>
              <a:gdLst/>
              <a:ahLst/>
              <a:cxnLst/>
              <a:rect l="l" t="t" r="r" b="b"/>
              <a:pathLst>
                <a:path w="1123950" h="571500">
                  <a:moveTo>
                    <a:pt x="114300" y="0"/>
                  </a:moveTo>
                  <a:lnTo>
                    <a:pt x="1009650" y="0"/>
                  </a:lnTo>
                  <a:cubicBezTo>
                    <a:pt x="1072776" y="0"/>
                    <a:pt x="1123950" y="51174"/>
                    <a:pt x="1123950" y="114300"/>
                  </a:cubicBezTo>
                  <a:lnTo>
                    <a:pt x="1123950" y="457200"/>
                  </a:lnTo>
                  <a:cubicBezTo>
                    <a:pt x="1123950" y="520326"/>
                    <a:pt x="1072776" y="571500"/>
                    <a:pt x="1009650" y="571500"/>
                  </a:cubicBezTo>
                  <a:lnTo>
                    <a:pt x="114300" y="571500"/>
                  </a:lnTo>
                  <a:cubicBezTo>
                    <a:pt x="51174" y="571500"/>
                    <a:pt x="0" y="520326"/>
                    <a:pt x="0" y="457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64859" y="3928110"/>
              <a:ext cx="7290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线索转化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14720" y="4033838"/>
              <a:ext cx="8293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+50%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971550" y="5000625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085850" y="510540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8575" y="0"/>
                  </a:moveTo>
                  <a:lnTo>
                    <a:pt x="180975" y="0"/>
                  </a:lnTo>
                  <a:cubicBezTo>
                    <a:pt x="196757" y="0"/>
                    <a:pt x="209550" y="12793"/>
                    <a:pt x="209550" y="28575"/>
                  </a:cubicBezTo>
                  <a:lnTo>
                    <a:pt x="209550" y="180975"/>
                  </a:lnTo>
                  <a:cubicBezTo>
                    <a:pt x="209550" y="196757"/>
                    <a:pt x="196757" y="209550"/>
                    <a:pt x="180975" y="209550"/>
                  </a:cubicBezTo>
                  <a:lnTo>
                    <a:pt x="28575" y="209550"/>
                  </a:lnTo>
                  <a:cubicBezTo>
                    <a:pt x="12793" y="209550"/>
                    <a:pt x="0" y="196757"/>
                    <a:pt x="0" y="1809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1152525" y="5172075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1228725" y="5172075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1123950" y="5343525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515618" y="4927282"/>
              <a:ext cx="11089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B2B科技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517142" y="5207318"/>
              <a:ext cx="2673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基于AI意图评分的自动化培育，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17142" y="5435918"/>
              <a:ext cx="2462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MQL到SQL转化时间缩短60%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067425" y="4943475"/>
              <a:ext cx="1123950" cy="514350"/>
            </a:xfrm>
            <a:custGeom>
              <a:avLst/>
              <a:gdLst/>
              <a:ahLst/>
              <a:cxnLst/>
              <a:rect l="l" t="t" r="r" b="b"/>
              <a:pathLst>
                <a:path w="1123950" h="514350">
                  <a:moveTo>
                    <a:pt x="114300" y="0"/>
                  </a:moveTo>
                  <a:lnTo>
                    <a:pt x="1009650" y="0"/>
                  </a:lnTo>
                  <a:cubicBezTo>
                    <a:pt x="1072776" y="0"/>
                    <a:pt x="1123950" y="51174"/>
                    <a:pt x="1123950" y="114300"/>
                  </a:cubicBezTo>
                  <a:lnTo>
                    <a:pt x="1123950" y="400050"/>
                  </a:lnTo>
                  <a:cubicBezTo>
                    <a:pt x="1123950" y="463176"/>
                    <a:pt x="1072776" y="514350"/>
                    <a:pt x="1009650" y="514350"/>
                  </a:cubicBezTo>
                  <a:lnTo>
                    <a:pt x="114300" y="514350"/>
                  </a:lnTo>
                  <a:cubicBezTo>
                    <a:pt x="51174" y="514350"/>
                    <a:pt x="0" y="463176"/>
                    <a:pt x="0" y="4000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87643" y="5050631"/>
              <a:ext cx="683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转化周期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42365" y="5154930"/>
              <a:ext cx="7740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-60%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83880" y="1876425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证明逻辑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8191500" y="21526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191500" y="2362200"/>
              <a:ext cx="3200400" cy="838200"/>
            </a:xfrm>
            <a:custGeom>
              <a:avLst/>
              <a:gdLst/>
              <a:ahLst/>
              <a:cxnLst/>
              <a:rect l="l" t="t" r="r" b="b"/>
              <a:pathLst>
                <a:path w="3200400" h="838200">
                  <a:moveTo>
                    <a:pt x="133350" y="0"/>
                  </a:moveTo>
                  <a:lnTo>
                    <a:pt x="3067050" y="0"/>
                  </a:lnTo>
                  <a:cubicBezTo>
                    <a:pt x="3140697" y="0"/>
                    <a:pt x="3200400" y="59703"/>
                    <a:pt x="3200400" y="133350"/>
                  </a:cubicBezTo>
                  <a:lnTo>
                    <a:pt x="3200400" y="704850"/>
                  </a:lnTo>
                  <a:cubicBezTo>
                    <a:pt x="3200400" y="778497"/>
                    <a:pt x="3140697" y="838200"/>
                    <a:pt x="3067050" y="838200"/>
                  </a:cubicBezTo>
                  <a:lnTo>
                    <a:pt x="133350" y="838200"/>
                  </a:lnTo>
                  <a:cubicBezTo>
                    <a:pt x="59703" y="838200"/>
                    <a:pt x="0" y="778497"/>
                    <a:pt x="0" y="7048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8362950" y="2543175"/>
              <a:ext cx="685800" cy="419100"/>
            </a:xfrm>
            <a:custGeom>
              <a:avLst/>
              <a:gdLst/>
              <a:ahLst/>
              <a:cxnLst/>
              <a:rect l="l" t="t" r="r" b="b"/>
              <a:pathLst>
                <a:path w="685800" h="419100">
                  <a:moveTo>
                    <a:pt x="95250" y="0"/>
                  </a:moveTo>
                  <a:lnTo>
                    <a:pt x="590550" y="0"/>
                  </a:lnTo>
                  <a:cubicBezTo>
                    <a:pt x="643155" y="0"/>
                    <a:pt x="685800" y="42645"/>
                    <a:pt x="685800" y="95250"/>
                  </a:cubicBezTo>
                  <a:lnTo>
                    <a:pt x="685800" y="323850"/>
                  </a:lnTo>
                  <a:cubicBezTo>
                    <a:pt x="685800" y="376455"/>
                    <a:pt x="643155" y="419100"/>
                    <a:pt x="590550" y="419100"/>
                  </a:cubicBezTo>
                  <a:lnTo>
                    <a:pt x="95250" y="419100"/>
                  </a:lnTo>
                  <a:cubicBezTo>
                    <a:pt x="42645" y="419100"/>
                    <a:pt x="0" y="376455"/>
                    <a:pt x="0" y="323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8524875" y="2552700"/>
              <a:ext cx="400050" cy="200025"/>
            </a:xfrm>
            <a:custGeom>
              <a:avLst/>
              <a:gdLst/>
              <a:ahLst/>
              <a:cxnLst/>
              <a:rect l="l" t="t" r="r" b="b"/>
              <a:pathLst>
                <a:path w="400050" h="200025">
                  <a:moveTo>
                    <a:pt x="0" y="200025"/>
                  </a:moveTo>
                  <a:lnTo>
                    <a:pt x="200025" y="0"/>
                  </a:lnTo>
                  <a:lnTo>
                    <a:pt x="400050" y="200025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8620125" y="26765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190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8829675" y="26765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190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213342" y="24926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数据统一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14104" y="27470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跨渠道订单、会员、行为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214104" y="29375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进入统一画像与标签层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8191500" y="3352800"/>
              <a:ext cx="3200400" cy="838200"/>
            </a:xfrm>
            <a:custGeom>
              <a:avLst/>
              <a:gdLst/>
              <a:ahLst/>
              <a:cxnLst/>
              <a:rect l="l" t="t" r="r" b="b"/>
              <a:pathLst>
                <a:path w="3200400" h="838200">
                  <a:moveTo>
                    <a:pt x="133350" y="0"/>
                  </a:moveTo>
                  <a:lnTo>
                    <a:pt x="3067050" y="0"/>
                  </a:lnTo>
                  <a:cubicBezTo>
                    <a:pt x="3140697" y="0"/>
                    <a:pt x="3200400" y="59703"/>
                    <a:pt x="3200400" y="133350"/>
                  </a:cubicBezTo>
                  <a:lnTo>
                    <a:pt x="3200400" y="704850"/>
                  </a:lnTo>
                  <a:cubicBezTo>
                    <a:pt x="3200400" y="778497"/>
                    <a:pt x="3140697" y="838200"/>
                    <a:pt x="3067050" y="838200"/>
                  </a:cubicBezTo>
                  <a:lnTo>
                    <a:pt x="133350" y="838200"/>
                  </a:lnTo>
                  <a:cubicBezTo>
                    <a:pt x="59703" y="838200"/>
                    <a:pt x="0" y="778497"/>
                    <a:pt x="0" y="7048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8362950" y="3533775"/>
              <a:ext cx="685800" cy="419100"/>
            </a:xfrm>
            <a:custGeom>
              <a:avLst/>
              <a:gdLst/>
              <a:ahLst/>
              <a:cxnLst/>
              <a:rect l="l" t="t" r="r" b="b"/>
              <a:pathLst>
                <a:path w="685800" h="419100">
                  <a:moveTo>
                    <a:pt x="95250" y="0"/>
                  </a:moveTo>
                  <a:lnTo>
                    <a:pt x="590550" y="0"/>
                  </a:lnTo>
                  <a:cubicBezTo>
                    <a:pt x="643155" y="0"/>
                    <a:pt x="685800" y="42645"/>
                    <a:pt x="685800" y="95250"/>
                  </a:cubicBezTo>
                  <a:lnTo>
                    <a:pt x="685800" y="323850"/>
                  </a:lnTo>
                  <a:cubicBezTo>
                    <a:pt x="685800" y="376455"/>
                    <a:pt x="643155" y="419100"/>
                    <a:pt x="590550" y="419100"/>
                  </a:cubicBezTo>
                  <a:lnTo>
                    <a:pt x="95250" y="419100"/>
                  </a:lnTo>
                  <a:cubicBezTo>
                    <a:pt x="42645" y="419100"/>
                    <a:pt x="0" y="376455"/>
                    <a:pt x="0" y="323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8572500" y="3638550"/>
              <a:ext cx="152400" cy="1524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8515350" y="3771900"/>
              <a:ext cx="266700" cy="76200"/>
            </a:xfrm>
            <a:custGeom>
              <a:avLst/>
              <a:gdLst/>
              <a:ahLst/>
              <a:cxnLst/>
              <a:rect l="l" t="t" r="r" b="b"/>
              <a:pathLst>
                <a:path w="266700" h="76200">
                  <a:moveTo>
                    <a:pt x="0" y="76200"/>
                  </a:moveTo>
                  <a:cubicBezTo>
                    <a:pt x="47625" y="19050"/>
                    <a:pt x="85725" y="0"/>
                    <a:pt x="133350" y="0"/>
                  </a:cubicBezTo>
                  <a:cubicBezTo>
                    <a:pt x="180975" y="0"/>
                    <a:pt x="219075" y="19050"/>
                    <a:pt x="266700" y="7620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8820150" y="3600450"/>
              <a:ext cx="95250" cy="190500"/>
            </a:xfrm>
            <a:custGeom>
              <a:avLst/>
              <a:gdLst/>
              <a:ahLst/>
              <a:cxnLst/>
              <a:rect l="l" t="t" r="r" b="b"/>
              <a:pathLst>
                <a:path w="95250" h="190500">
                  <a:moveTo>
                    <a:pt x="0" y="0"/>
                  </a:moveTo>
                  <a:lnTo>
                    <a:pt x="95250" y="95250"/>
                  </a:ln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213342" y="3483292"/>
              <a:ext cx="58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AI判别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214104" y="37376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识别购买意图、推荐偏好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214104" y="39281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与线索成熟度信号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8191500" y="4343400"/>
              <a:ext cx="3200400" cy="838200"/>
            </a:xfrm>
            <a:custGeom>
              <a:avLst/>
              <a:gdLst/>
              <a:ahLst/>
              <a:cxnLst/>
              <a:rect l="l" t="t" r="r" b="b"/>
              <a:pathLst>
                <a:path w="3200400" h="838200">
                  <a:moveTo>
                    <a:pt x="133350" y="0"/>
                  </a:moveTo>
                  <a:lnTo>
                    <a:pt x="3067050" y="0"/>
                  </a:lnTo>
                  <a:cubicBezTo>
                    <a:pt x="3140697" y="0"/>
                    <a:pt x="3200400" y="59703"/>
                    <a:pt x="3200400" y="133350"/>
                  </a:cubicBezTo>
                  <a:lnTo>
                    <a:pt x="3200400" y="704850"/>
                  </a:lnTo>
                  <a:cubicBezTo>
                    <a:pt x="3200400" y="778497"/>
                    <a:pt x="3140697" y="838200"/>
                    <a:pt x="3067050" y="838200"/>
                  </a:cubicBezTo>
                  <a:lnTo>
                    <a:pt x="133350" y="838200"/>
                  </a:lnTo>
                  <a:cubicBezTo>
                    <a:pt x="59703" y="838200"/>
                    <a:pt x="0" y="778497"/>
                    <a:pt x="0" y="7048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8362950" y="4524375"/>
              <a:ext cx="685800" cy="419100"/>
            </a:xfrm>
            <a:custGeom>
              <a:avLst/>
              <a:gdLst/>
              <a:ahLst/>
              <a:cxnLst/>
              <a:rect l="l" t="t" r="r" b="b"/>
              <a:pathLst>
                <a:path w="685800" h="419100">
                  <a:moveTo>
                    <a:pt x="95250" y="0"/>
                  </a:moveTo>
                  <a:lnTo>
                    <a:pt x="590550" y="0"/>
                  </a:lnTo>
                  <a:cubicBezTo>
                    <a:pt x="643155" y="0"/>
                    <a:pt x="685800" y="42645"/>
                    <a:pt x="685800" y="95250"/>
                  </a:cubicBezTo>
                  <a:lnTo>
                    <a:pt x="685800" y="323850"/>
                  </a:lnTo>
                  <a:cubicBezTo>
                    <a:pt x="685800" y="376455"/>
                    <a:pt x="643155" y="419100"/>
                    <a:pt x="590550" y="419100"/>
                  </a:cubicBezTo>
                  <a:lnTo>
                    <a:pt x="95250" y="419100"/>
                  </a:lnTo>
                  <a:cubicBezTo>
                    <a:pt x="42645" y="419100"/>
                    <a:pt x="0" y="376455"/>
                    <a:pt x="0" y="323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6" name="Freeform 76"/>
            <p:cNvSpPr/>
            <p:nvPr/>
          </p:nvSpPr>
          <p:spPr>
            <a:xfrm>
              <a:off x="8496300" y="473392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7" name="Freeform 77"/>
            <p:cNvSpPr/>
            <p:nvPr/>
          </p:nvSpPr>
          <p:spPr>
            <a:xfrm>
              <a:off x="8496300" y="465772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213342" y="44738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自动执行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214104" y="4728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推荐、触达、培育动作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214104" y="49187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按规则与评分实时触发</a:t>
              </a:r>
            </a:p>
          </p:txBody>
        </p:sp>
        <p:sp>
          <p:nvSpPr>
            <p:cNvPr id="81" name="Freeform 81"/>
            <p:cNvSpPr/>
            <p:nvPr/>
          </p:nvSpPr>
          <p:spPr>
            <a:xfrm>
              <a:off x="9791700" y="32004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82" name="Freeform 82"/>
            <p:cNvSpPr/>
            <p:nvPr/>
          </p:nvSpPr>
          <p:spPr>
            <a:xfrm>
              <a:off x="9791700" y="41910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83" name="Freeform 83"/>
            <p:cNvSpPr/>
            <p:nvPr/>
          </p:nvSpPr>
          <p:spPr>
            <a:xfrm>
              <a:off x="8191500" y="5372100"/>
              <a:ext cx="3200400" cy="266700"/>
            </a:xfrm>
            <a:custGeom>
              <a:avLst/>
              <a:gdLst/>
              <a:ahLst/>
              <a:cxnLst/>
              <a:rect l="l" t="t" r="r" b="b"/>
              <a:pathLst>
                <a:path w="3200400" h="266700">
                  <a:moveTo>
                    <a:pt x="76200" y="0"/>
                  </a:moveTo>
                  <a:lnTo>
                    <a:pt x="3124200" y="0"/>
                  </a:lnTo>
                  <a:cubicBezTo>
                    <a:pt x="3166284" y="0"/>
                    <a:pt x="3200400" y="34116"/>
                    <a:pt x="3200400" y="76200"/>
                  </a:cubicBezTo>
                  <a:lnTo>
                    <a:pt x="3200400" y="190500"/>
                  </a:lnTo>
                  <a:cubicBezTo>
                    <a:pt x="3200400" y="232584"/>
                    <a:pt x="3166284" y="266700"/>
                    <a:pt x="3124200" y="266700"/>
                  </a:cubicBezTo>
                  <a:lnTo>
                    <a:pt x="76200" y="266700"/>
                  </a:lnTo>
                  <a:cubicBezTo>
                    <a:pt x="34116" y="266700"/>
                    <a:pt x="0" y="232584"/>
                    <a:pt x="0" y="1905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933753" y="5441156"/>
              <a:ext cx="3715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从数据整合 → AI分析 → 自动化执行，结果可直接量化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71500" y="2781300"/>
            <a:ext cx="11049000" cy="3505200"/>
            <a:chOff x="571500" y="2781300"/>
            <a:chExt cx="11049000" cy="3505200"/>
          </a:xfrm>
        </p:grpSpPr>
        <p:sp>
          <p:nvSpPr>
            <p:cNvPr id="86" name="Freeform 86"/>
            <p:cNvSpPr/>
            <p:nvPr/>
          </p:nvSpPr>
          <p:spPr>
            <a:xfrm>
              <a:off x="7429500" y="2781300"/>
              <a:ext cx="590550" cy="161925"/>
            </a:xfrm>
            <a:custGeom>
              <a:avLst/>
              <a:gdLst/>
              <a:ahLst/>
              <a:cxnLst/>
              <a:rect l="l" t="t" r="r" b="b"/>
              <a:pathLst>
                <a:path w="590550" h="161925">
                  <a:moveTo>
                    <a:pt x="0" y="161925"/>
                  </a:moveTo>
                  <a:cubicBezTo>
                    <a:pt x="361950" y="161925"/>
                    <a:pt x="457200" y="0"/>
                    <a:pt x="59055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7429500" y="3771900"/>
              <a:ext cx="590550" cy="333375"/>
            </a:xfrm>
            <a:custGeom>
              <a:avLst/>
              <a:gdLst/>
              <a:ahLst/>
              <a:cxnLst/>
              <a:rect l="l" t="t" r="r" b="b"/>
              <a:pathLst>
                <a:path w="590550" h="333375">
                  <a:moveTo>
                    <a:pt x="0" y="333375"/>
                  </a:moveTo>
                  <a:cubicBezTo>
                    <a:pt x="361950" y="333375"/>
                    <a:pt x="457200" y="0"/>
                    <a:pt x="59055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7429500" y="4762500"/>
              <a:ext cx="590550" cy="447675"/>
            </a:xfrm>
            <a:custGeom>
              <a:avLst/>
              <a:gdLst/>
              <a:ahLst/>
              <a:cxnLst/>
              <a:rect l="l" t="t" r="r" b="b"/>
              <a:pathLst>
                <a:path w="590550" h="447675">
                  <a:moveTo>
                    <a:pt x="0" y="447675"/>
                  </a:moveTo>
                  <a:cubicBezTo>
                    <a:pt x="361950" y="447675"/>
                    <a:pt x="457200" y="0"/>
                    <a:pt x="59055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571500" y="5962650"/>
              <a:ext cx="11049000" cy="323850"/>
            </a:xfrm>
            <a:custGeom>
              <a:avLst/>
              <a:gdLst/>
              <a:ahLst/>
              <a:cxnLst/>
              <a:rect l="l" t="t" r="r" b="b"/>
              <a:pathLst>
                <a:path w="11049000" h="32385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228600"/>
                  </a:lnTo>
                  <a:cubicBezTo>
                    <a:pt x="11049000" y="281205"/>
                    <a:pt x="11006355" y="323850"/>
                    <a:pt x="10953750" y="323850"/>
                  </a:cubicBezTo>
                  <a:lnTo>
                    <a:pt x="95250" y="323850"/>
                  </a:lnTo>
                  <a:cubicBezTo>
                    <a:pt x="42645" y="323850"/>
                    <a:pt x="0" y="281205"/>
                    <a:pt x="0" y="228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94004" y="6042660"/>
              <a:ext cx="5600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关键证据覆盖四个模块：</a:t>
              </a:r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AI分析</a:t>
              </a:r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11239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1504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1809750"/>
              <a:ext cx="9525" cy="4248150"/>
            </a:xfrm>
            <a:custGeom>
              <a:avLst/>
              <a:gdLst/>
              <a:ahLst/>
              <a:cxnLst/>
              <a:rect l="l" t="t" r="r" b="b"/>
              <a:pathLst>
                <a:path w="9525" h="4248150">
                  <a:moveTo>
                    <a:pt x="0" y="0"/>
                  </a:moveTo>
                  <a:lnTo>
                    <a:pt x="0" y="42481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39338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809750"/>
              <a:ext cx="5334000" cy="4248150"/>
            </a:xfrm>
            <a:custGeom>
              <a:avLst/>
              <a:gdLst/>
              <a:ahLst/>
              <a:cxnLst/>
              <a:rect l="l" t="t" r="r" b="b"/>
              <a:pathLst>
                <a:path w="5334000" h="42481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4133850"/>
                  </a:lnTo>
                  <a:cubicBezTo>
                    <a:pt x="5334000" y="4196976"/>
                    <a:pt x="5282826" y="4248150"/>
                    <a:pt x="5219700" y="4248150"/>
                  </a:cubicBezTo>
                  <a:lnTo>
                    <a:pt x="114300" y="4248150"/>
                  </a:lnTo>
                  <a:cubicBezTo>
                    <a:pt x="51174" y="4248150"/>
                    <a:pt x="0" y="4196976"/>
                    <a:pt x="0" y="4133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>
                <a:alpha val="57999"/>
              </a:schemeClr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6286500" y="1809750"/>
              <a:ext cx="5334000" cy="4248150"/>
            </a:xfrm>
            <a:custGeom>
              <a:avLst/>
              <a:gdLst/>
              <a:ahLst/>
              <a:cxnLst/>
              <a:rect l="l" t="t" r="r" b="b"/>
              <a:pathLst>
                <a:path w="5334000" h="42481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4133850"/>
                  </a:lnTo>
                  <a:cubicBezTo>
                    <a:pt x="5334000" y="4196976"/>
                    <a:pt x="5282826" y="4248150"/>
                    <a:pt x="5219700" y="4248150"/>
                  </a:cubicBezTo>
                  <a:lnTo>
                    <a:pt x="114300" y="4248150"/>
                  </a:lnTo>
                  <a:cubicBezTo>
                    <a:pt x="51174" y="4248150"/>
                    <a:pt x="0" y="4196976"/>
                    <a:pt x="0" y="4133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>
                <a:alpha val="57999"/>
              </a:schemeClr>
            </a:solidFill>
            <a:ln w="9525">
              <a:solidFill>
                <a:schemeClr val="accent4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57784" y="626745"/>
            <a:ext cx="11067479" cy="6018371"/>
            <a:chOff x="557784" y="626745"/>
            <a:chExt cx="11067479" cy="6018371"/>
          </a:xfrm>
        </p:grpSpPr>
        <p:sp>
          <p:nvSpPr>
            <p:cNvPr id="11" name="TextBox 11"/>
            <p:cNvSpPr txBox="1"/>
            <p:nvPr/>
          </p:nvSpPr>
          <p:spPr>
            <a:xfrm>
              <a:off x="566738" y="626745"/>
              <a:ext cx="9056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9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SIGNALCOUNT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7784" y="1003935"/>
              <a:ext cx="48505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AI营销工作台绩效基准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738" y="64831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93570" y="64831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63880" y="752475"/>
            <a:ext cx="11053382" cy="5076825"/>
            <a:chOff x="563880" y="752475"/>
            <a:chExt cx="11053382" cy="5076825"/>
          </a:xfrm>
        </p:grpSpPr>
        <p:sp>
          <p:nvSpPr>
            <p:cNvPr id="16" name="TextBox 16"/>
            <p:cNvSpPr txBox="1"/>
            <p:nvPr/>
          </p:nvSpPr>
          <p:spPr>
            <a:xfrm>
              <a:off x="563880" y="7524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基于现有客户数据，平台平均实现以下提升。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00100" y="2038350"/>
              <a:ext cx="2343150" cy="1676400"/>
            </a:xfrm>
            <a:custGeom>
              <a:avLst/>
              <a:gdLst/>
              <a:ahLst/>
              <a:cxnLst/>
              <a:rect l="l" t="t" r="r" b="b"/>
              <a:pathLst>
                <a:path w="2343150" h="1676400">
                  <a:moveTo>
                    <a:pt x="114300" y="0"/>
                  </a:moveTo>
                  <a:lnTo>
                    <a:pt x="2228850" y="0"/>
                  </a:lnTo>
                  <a:cubicBezTo>
                    <a:pt x="2291976" y="0"/>
                    <a:pt x="2343150" y="51174"/>
                    <a:pt x="2343150" y="114300"/>
                  </a:cubicBezTo>
                  <a:lnTo>
                    <a:pt x="2343150" y="1562100"/>
                  </a:lnTo>
                  <a:cubicBezTo>
                    <a:pt x="2343150" y="1625226"/>
                    <a:pt x="2291976" y="1676400"/>
                    <a:pt x="2228850" y="1676400"/>
                  </a:cubicBezTo>
                  <a:lnTo>
                    <a:pt x="114300" y="1676400"/>
                  </a:lnTo>
                  <a:cubicBezTo>
                    <a:pt x="51174" y="1676400"/>
                    <a:pt x="0" y="1625226"/>
                    <a:pt x="0" y="1562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333750" y="2038350"/>
              <a:ext cx="2343150" cy="1676400"/>
            </a:xfrm>
            <a:custGeom>
              <a:avLst/>
              <a:gdLst/>
              <a:ahLst/>
              <a:cxnLst/>
              <a:rect l="l" t="t" r="r" b="b"/>
              <a:pathLst>
                <a:path w="2343150" h="1676400">
                  <a:moveTo>
                    <a:pt x="114300" y="0"/>
                  </a:moveTo>
                  <a:lnTo>
                    <a:pt x="2228850" y="0"/>
                  </a:lnTo>
                  <a:cubicBezTo>
                    <a:pt x="2291976" y="0"/>
                    <a:pt x="2343150" y="51174"/>
                    <a:pt x="2343150" y="114300"/>
                  </a:cubicBezTo>
                  <a:lnTo>
                    <a:pt x="2343150" y="1562100"/>
                  </a:lnTo>
                  <a:cubicBezTo>
                    <a:pt x="2343150" y="1625226"/>
                    <a:pt x="2291976" y="1676400"/>
                    <a:pt x="2228850" y="1676400"/>
                  </a:cubicBezTo>
                  <a:lnTo>
                    <a:pt x="114300" y="1676400"/>
                  </a:lnTo>
                  <a:cubicBezTo>
                    <a:pt x="51174" y="1676400"/>
                    <a:pt x="0" y="1625226"/>
                    <a:pt x="0" y="1562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515100" y="2038350"/>
              <a:ext cx="2343150" cy="1676400"/>
            </a:xfrm>
            <a:custGeom>
              <a:avLst/>
              <a:gdLst/>
              <a:ahLst/>
              <a:cxnLst/>
              <a:rect l="l" t="t" r="r" b="b"/>
              <a:pathLst>
                <a:path w="2343150" h="1676400">
                  <a:moveTo>
                    <a:pt x="114300" y="0"/>
                  </a:moveTo>
                  <a:lnTo>
                    <a:pt x="2228850" y="0"/>
                  </a:lnTo>
                  <a:cubicBezTo>
                    <a:pt x="2291976" y="0"/>
                    <a:pt x="2343150" y="51174"/>
                    <a:pt x="2343150" y="114300"/>
                  </a:cubicBezTo>
                  <a:lnTo>
                    <a:pt x="2343150" y="1562100"/>
                  </a:lnTo>
                  <a:cubicBezTo>
                    <a:pt x="2343150" y="1625226"/>
                    <a:pt x="2291976" y="1676400"/>
                    <a:pt x="2228850" y="1676400"/>
                  </a:cubicBezTo>
                  <a:lnTo>
                    <a:pt x="114300" y="1676400"/>
                  </a:lnTo>
                  <a:cubicBezTo>
                    <a:pt x="51174" y="1676400"/>
                    <a:pt x="0" y="1625226"/>
                    <a:pt x="0" y="1562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9048750" y="2038350"/>
              <a:ext cx="2343150" cy="1676400"/>
            </a:xfrm>
            <a:custGeom>
              <a:avLst/>
              <a:gdLst/>
              <a:ahLst/>
              <a:cxnLst/>
              <a:rect l="l" t="t" r="r" b="b"/>
              <a:pathLst>
                <a:path w="2343150" h="1676400">
                  <a:moveTo>
                    <a:pt x="114300" y="0"/>
                  </a:moveTo>
                  <a:lnTo>
                    <a:pt x="2228850" y="0"/>
                  </a:lnTo>
                  <a:cubicBezTo>
                    <a:pt x="2291976" y="0"/>
                    <a:pt x="2343150" y="51174"/>
                    <a:pt x="2343150" y="114300"/>
                  </a:cubicBezTo>
                  <a:lnTo>
                    <a:pt x="2343150" y="1562100"/>
                  </a:lnTo>
                  <a:cubicBezTo>
                    <a:pt x="2343150" y="1625226"/>
                    <a:pt x="2291976" y="1676400"/>
                    <a:pt x="2228850" y="1676400"/>
                  </a:cubicBezTo>
                  <a:lnTo>
                    <a:pt x="114300" y="1676400"/>
                  </a:lnTo>
                  <a:cubicBezTo>
                    <a:pt x="51174" y="1676400"/>
                    <a:pt x="0" y="1625226"/>
                    <a:pt x="0" y="1562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00100" y="4152900"/>
              <a:ext cx="2343150" cy="1676400"/>
            </a:xfrm>
            <a:custGeom>
              <a:avLst/>
              <a:gdLst/>
              <a:ahLst/>
              <a:cxnLst/>
              <a:rect l="l" t="t" r="r" b="b"/>
              <a:pathLst>
                <a:path w="2343150" h="1676400">
                  <a:moveTo>
                    <a:pt x="114300" y="0"/>
                  </a:moveTo>
                  <a:lnTo>
                    <a:pt x="2228850" y="0"/>
                  </a:lnTo>
                  <a:cubicBezTo>
                    <a:pt x="2291976" y="0"/>
                    <a:pt x="2343150" y="51174"/>
                    <a:pt x="2343150" y="114300"/>
                  </a:cubicBezTo>
                  <a:lnTo>
                    <a:pt x="2343150" y="1562100"/>
                  </a:lnTo>
                  <a:cubicBezTo>
                    <a:pt x="2343150" y="1625226"/>
                    <a:pt x="2291976" y="1676400"/>
                    <a:pt x="2228850" y="1676400"/>
                  </a:cubicBezTo>
                  <a:lnTo>
                    <a:pt x="114300" y="1676400"/>
                  </a:lnTo>
                  <a:cubicBezTo>
                    <a:pt x="51174" y="1676400"/>
                    <a:pt x="0" y="1625226"/>
                    <a:pt x="0" y="1562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333750" y="4152900"/>
              <a:ext cx="2343150" cy="1676400"/>
            </a:xfrm>
            <a:custGeom>
              <a:avLst/>
              <a:gdLst/>
              <a:ahLst/>
              <a:cxnLst/>
              <a:rect l="l" t="t" r="r" b="b"/>
              <a:pathLst>
                <a:path w="2343150" h="1676400">
                  <a:moveTo>
                    <a:pt x="114300" y="0"/>
                  </a:moveTo>
                  <a:lnTo>
                    <a:pt x="2228850" y="0"/>
                  </a:lnTo>
                  <a:cubicBezTo>
                    <a:pt x="2291976" y="0"/>
                    <a:pt x="2343150" y="51174"/>
                    <a:pt x="2343150" y="114300"/>
                  </a:cubicBezTo>
                  <a:lnTo>
                    <a:pt x="2343150" y="1562100"/>
                  </a:lnTo>
                  <a:cubicBezTo>
                    <a:pt x="2343150" y="1625226"/>
                    <a:pt x="2291976" y="1676400"/>
                    <a:pt x="2228850" y="1676400"/>
                  </a:cubicBezTo>
                  <a:lnTo>
                    <a:pt x="114300" y="1676400"/>
                  </a:lnTo>
                  <a:cubicBezTo>
                    <a:pt x="51174" y="1676400"/>
                    <a:pt x="0" y="1625226"/>
                    <a:pt x="0" y="1562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515100" y="4152900"/>
              <a:ext cx="2343150" cy="1676400"/>
            </a:xfrm>
            <a:custGeom>
              <a:avLst/>
              <a:gdLst/>
              <a:ahLst/>
              <a:cxnLst/>
              <a:rect l="l" t="t" r="r" b="b"/>
              <a:pathLst>
                <a:path w="2343150" h="1676400">
                  <a:moveTo>
                    <a:pt x="114300" y="0"/>
                  </a:moveTo>
                  <a:lnTo>
                    <a:pt x="2228850" y="0"/>
                  </a:lnTo>
                  <a:cubicBezTo>
                    <a:pt x="2291976" y="0"/>
                    <a:pt x="2343150" y="51174"/>
                    <a:pt x="2343150" y="114300"/>
                  </a:cubicBezTo>
                  <a:lnTo>
                    <a:pt x="2343150" y="1562100"/>
                  </a:lnTo>
                  <a:cubicBezTo>
                    <a:pt x="2343150" y="1625226"/>
                    <a:pt x="2291976" y="1676400"/>
                    <a:pt x="2228850" y="1676400"/>
                  </a:cubicBezTo>
                  <a:lnTo>
                    <a:pt x="114300" y="1676400"/>
                  </a:lnTo>
                  <a:cubicBezTo>
                    <a:pt x="51174" y="1676400"/>
                    <a:pt x="0" y="1625226"/>
                    <a:pt x="0" y="1562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9048750" y="4152900"/>
              <a:ext cx="2343150" cy="1676400"/>
            </a:xfrm>
            <a:custGeom>
              <a:avLst/>
              <a:gdLst/>
              <a:ahLst/>
              <a:cxnLst/>
              <a:rect l="l" t="t" r="r" b="b"/>
              <a:pathLst>
                <a:path w="2343150" h="1676400">
                  <a:moveTo>
                    <a:pt x="114300" y="0"/>
                  </a:moveTo>
                  <a:lnTo>
                    <a:pt x="2228850" y="0"/>
                  </a:lnTo>
                  <a:cubicBezTo>
                    <a:pt x="2291976" y="0"/>
                    <a:pt x="2343150" y="51174"/>
                    <a:pt x="2343150" y="114300"/>
                  </a:cubicBezTo>
                  <a:lnTo>
                    <a:pt x="2343150" y="1562100"/>
                  </a:lnTo>
                  <a:cubicBezTo>
                    <a:pt x="2343150" y="1625226"/>
                    <a:pt x="2291976" y="1676400"/>
                    <a:pt x="2228850" y="1676400"/>
                  </a:cubicBezTo>
                  <a:lnTo>
                    <a:pt x="114300" y="1676400"/>
                  </a:lnTo>
                  <a:cubicBezTo>
                    <a:pt x="51174" y="1676400"/>
                    <a:pt x="0" y="1625226"/>
                    <a:pt x="0" y="1562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00100" y="2038350"/>
              <a:ext cx="2343150" cy="76200"/>
            </a:xfrm>
            <a:custGeom>
              <a:avLst/>
              <a:gdLst/>
              <a:ahLst/>
              <a:cxnLst/>
              <a:rect l="l" t="t" r="r" b="b"/>
              <a:pathLst>
                <a:path w="2343150" h="76200">
                  <a:moveTo>
                    <a:pt x="38100" y="0"/>
                  </a:moveTo>
                  <a:lnTo>
                    <a:pt x="2305050" y="0"/>
                  </a:lnTo>
                  <a:cubicBezTo>
                    <a:pt x="2326092" y="0"/>
                    <a:pt x="2343150" y="17058"/>
                    <a:pt x="2343150" y="38100"/>
                  </a:cubicBezTo>
                  <a:lnTo>
                    <a:pt x="2343150" y="38100"/>
                  </a:lnTo>
                  <a:cubicBezTo>
                    <a:pt x="2343150" y="59142"/>
                    <a:pt x="2326092" y="76200"/>
                    <a:pt x="23050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3333750" y="2038350"/>
              <a:ext cx="2343150" cy="76200"/>
            </a:xfrm>
            <a:custGeom>
              <a:avLst/>
              <a:gdLst/>
              <a:ahLst/>
              <a:cxnLst/>
              <a:rect l="l" t="t" r="r" b="b"/>
              <a:pathLst>
                <a:path w="2343150" h="76200">
                  <a:moveTo>
                    <a:pt x="38100" y="0"/>
                  </a:moveTo>
                  <a:lnTo>
                    <a:pt x="2305050" y="0"/>
                  </a:lnTo>
                  <a:cubicBezTo>
                    <a:pt x="2326092" y="0"/>
                    <a:pt x="2343150" y="17058"/>
                    <a:pt x="2343150" y="38100"/>
                  </a:cubicBezTo>
                  <a:lnTo>
                    <a:pt x="2343150" y="38100"/>
                  </a:lnTo>
                  <a:cubicBezTo>
                    <a:pt x="2343150" y="59142"/>
                    <a:pt x="2326092" y="76200"/>
                    <a:pt x="23050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515100" y="2038350"/>
              <a:ext cx="2343150" cy="76200"/>
            </a:xfrm>
            <a:custGeom>
              <a:avLst/>
              <a:gdLst/>
              <a:ahLst/>
              <a:cxnLst/>
              <a:rect l="l" t="t" r="r" b="b"/>
              <a:pathLst>
                <a:path w="2343150" h="76200">
                  <a:moveTo>
                    <a:pt x="38100" y="0"/>
                  </a:moveTo>
                  <a:lnTo>
                    <a:pt x="2305050" y="0"/>
                  </a:lnTo>
                  <a:cubicBezTo>
                    <a:pt x="2326092" y="0"/>
                    <a:pt x="2343150" y="17058"/>
                    <a:pt x="2343150" y="38100"/>
                  </a:cubicBezTo>
                  <a:lnTo>
                    <a:pt x="2343150" y="38100"/>
                  </a:lnTo>
                  <a:cubicBezTo>
                    <a:pt x="2343150" y="59142"/>
                    <a:pt x="2326092" y="76200"/>
                    <a:pt x="23050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2F855A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048750" y="2038350"/>
              <a:ext cx="2343150" cy="76200"/>
            </a:xfrm>
            <a:custGeom>
              <a:avLst/>
              <a:gdLst/>
              <a:ahLst/>
              <a:cxnLst/>
              <a:rect l="l" t="t" r="r" b="b"/>
              <a:pathLst>
                <a:path w="2343150" h="76200">
                  <a:moveTo>
                    <a:pt x="38100" y="0"/>
                  </a:moveTo>
                  <a:lnTo>
                    <a:pt x="2305050" y="0"/>
                  </a:lnTo>
                  <a:cubicBezTo>
                    <a:pt x="2326092" y="0"/>
                    <a:pt x="2343150" y="17058"/>
                    <a:pt x="2343150" y="38100"/>
                  </a:cubicBezTo>
                  <a:lnTo>
                    <a:pt x="2343150" y="38100"/>
                  </a:lnTo>
                  <a:cubicBezTo>
                    <a:pt x="2343150" y="59142"/>
                    <a:pt x="2326092" y="76200"/>
                    <a:pt x="23050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23366" y="2401252"/>
              <a:ext cx="773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核心信号 01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3460" y="2686050"/>
              <a:ext cx="8593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40%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8794" y="31041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营销效率提升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3366" y="34490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计划执行自动化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57016" y="2401252"/>
              <a:ext cx="773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核心信号 02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47110" y="2686050"/>
              <a:ext cx="8593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25%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52444" y="310419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转化率增长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57016" y="3449002"/>
              <a:ext cx="1183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AI实时个性化驱动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38366" y="2401252"/>
              <a:ext cx="773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核心信号 03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28460" y="2686050"/>
              <a:ext cx="8593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55%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33794" y="31041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客户留存提升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38366" y="34490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精准生命周期管理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72016" y="2401252"/>
              <a:ext cx="773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核心信号 04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62110" y="2686050"/>
              <a:ext cx="7249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67444" y="3104198"/>
              <a:ext cx="106826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ROI增长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72016" y="34490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同等预算下收入贡献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2985" y="43934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效率压力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1028700" y="4686300"/>
              <a:ext cx="1885950" cy="9525"/>
            </a:xfrm>
            <a:custGeom>
              <a:avLst/>
              <a:gdLst/>
              <a:ahLst/>
              <a:cxnLst/>
              <a:rect l="l" t="t" r="r" b="b"/>
              <a:pathLst>
                <a:path w="1885950" h="9525">
                  <a:moveTo>
                    <a:pt x="0" y="0"/>
                  </a:moveTo>
                  <a:lnTo>
                    <a:pt x="18859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028700" y="4895850"/>
              <a:ext cx="1885950" cy="95250"/>
            </a:xfrm>
            <a:custGeom>
              <a:avLst/>
              <a:gdLst/>
              <a:ahLst/>
              <a:cxnLst/>
              <a:rect l="l" t="t" r="r" b="b"/>
              <a:pathLst>
                <a:path w="1885950" h="95250">
                  <a:moveTo>
                    <a:pt x="47625" y="0"/>
                  </a:moveTo>
                  <a:lnTo>
                    <a:pt x="1838325" y="0"/>
                  </a:lnTo>
                  <a:cubicBezTo>
                    <a:pt x="1864628" y="0"/>
                    <a:pt x="1885950" y="21322"/>
                    <a:pt x="1885950" y="47625"/>
                  </a:cubicBezTo>
                  <a:lnTo>
                    <a:pt x="1885950" y="47625"/>
                  </a:lnTo>
                  <a:cubicBezTo>
                    <a:pt x="1885950" y="73928"/>
                    <a:pt x="1864628" y="95250"/>
                    <a:pt x="183832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1028700" y="4895850"/>
              <a:ext cx="1447800" cy="95250"/>
            </a:xfrm>
            <a:custGeom>
              <a:avLst/>
              <a:gdLst/>
              <a:ahLst/>
              <a:cxnLst/>
              <a:rect l="l" t="t" r="r" b="b"/>
              <a:pathLst>
                <a:path w="1447800" h="95250">
                  <a:moveTo>
                    <a:pt x="47625" y="0"/>
                  </a:moveTo>
                  <a:lnTo>
                    <a:pt x="1400175" y="0"/>
                  </a:lnTo>
                  <a:cubicBezTo>
                    <a:pt x="1426478" y="0"/>
                    <a:pt x="1447800" y="21322"/>
                    <a:pt x="1447800" y="47625"/>
                  </a:cubicBezTo>
                  <a:lnTo>
                    <a:pt x="1447800" y="47625"/>
                  </a:lnTo>
                  <a:cubicBezTo>
                    <a:pt x="1447800" y="73928"/>
                    <a:pt x="1426478" y="95250"/>
                    <a:pt x="140017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21080" y="509587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自动化覆盖高频动作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3366" y="54111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投放、触达、回流联动加速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556635" y="43934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增长压力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3562350" y="4686300"/>
              <a:ext cx="1885950" cy="9525"/>
            </a:xfrm>
            <a:custGeom>
              <a:avLst/>
              <a:gdLst/>
              <a:ahLst/>
              <a:cxnLst/>
              <a:rect l="l" t="t" r="r" b="b"/>
              <a:pathLst>
                <a:path w="1885950" h="9525">
                  <a:moveTo>
                    <a:pt x="0" y="0"/>
                  </a:moveTo>
                  <a:lnTo>
                    <a:pt x="18859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3562350" y="4895850"/>
              <a:ext cx="1885950" cy="95250"/>
            </a:xfrm>
            <a:custGeom>
              <a:avLst/>
              <a:gdLst/>
              <a:ahLst/>
              <a:cxnLst/>
              <a:rect l="l" t="t" r="r" b="b"/>
              <a:pathLst>
                <a:path w="1885950" h="95250">
                  <a:moveTo>
                    <a:pt x="47625" y="0"/>
                  </a:moveTo>
                  <a:lnTo>
                    <a:pt x="1838325" y="0"/>
                  </a:lnTo>
                  <a:cubicBezTo>
                    <a:pt x="1864628" y="0"/>
                    <a:pt x="1885950" y="21322"/>
                    <a:pt x="1885950" y="47625"/>
                  </a:cubicBezTo>
                  <a:lnTo>
                    <a:pt x="1885950" y="47625"/>
                  </a:lnTo>
                  <a:cubicBezTo>
                    <a:pt x="1885950" y="73928"/>
                    <a:pt x="1864628" y="95250"/>
                    <a:pt x="183832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3562350" y="4895850"/>
              <a:ext cx="1200150" cy="95250"/>
            </a:xfrm>
            <a:custGeom>
              <a:avLst/>
              <a:gdLst/>
              <a:ahLst/>
              <a:cxnLst/>
              <a:rect l="l" t="t" r="r" b="b"/>
              <a:pathLst>
                <a:path w="1200150" h="95250">
                  <a:moveTo>
                    <a:pt x="47625" y="0"/>
                  </a:moveTo>
                  <a:lnTo>
                    <a:pt x="1152525" y="0"/>
                  </a:lnTo>
                  <a:cubicBezTo>
                    <a:pt x="1178828" y="0"/>
                    <a:pt x="1200150" y="21322"/>
                    <a:pt x="1200150" y="47625"/>
                  </a:cubicBezTo>
                  <a:lnTo>
                    <a:pt x="1200150" y="47625"/>
                  </a:lnTo>
                  <a:cubicBezTo>
                    <a:pt x="1200150" y="73928"/>
                    <a:pt x="1178828" y="95250"/>
                    <a:pt x="115252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554730" y="509587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实时洞察驱动转化决策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557016" y="54111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策略推荐与素材分发同步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37985" y="43934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留存压力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6743700" y="4686300"/>
              <a:ext cx="1885950" cy="9525"/>
            </a:xfrm>
            <a:custGeom>
              <a:avLst/>
              <a:gdLst/>
              <a:ahLst/>
              <a:cxnLst/>
              <a:rect l="l" t="t" r="r" b="b"/>
              <a:pathLst>
                <a:path w="1885950" h="9525">
                  <a:moveTo>
                    <a:pt x="0" y="0"/>
                  </a:moveTo>
                  <a:lnTo>
                    <a:pt x="18859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6743700" y="4895850"/>
              <a:ext cx="1885950" cy="95250"/>
            </a:xfrm>
            <a:custGeom>
              <a:avLst/>
              <a:gdLst/>
              <a:ahLst/>
              <a:cxnLst/>
              <a:rect l="l" t="t" r="r" b="b"/>
              <a:pathLst>
                <a:path w="1885950" h="95250">
                  <a:moveTo>
                    <a:pt x="47625" y="0"/>
                  </a:moveTo>
                  <a:lnTo>
                    <a:pt x="1838325" y="0"/>
                  </a:lnTo>
                  <a:cubicBezTo>
                    <a:pt x="1864628" y="0"/>
                    <a:pt x="1885950" y="21322"/>
                    <a:pt x="1885950" y="47625"/>
                  </a:cubicBezTo>
                  <a:lnTo>
                    <a:pt x="1885950" y="47625"/>
                  </a:lnTo>
                  <a:cubicBezTo>
                    <a:pt x="1885950" y="73928"/>
                    <a:pt x="1864628" y="95250"/>
                    <a:pt x="183832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E6F6EC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6743700" y="4895850"/>
              <a:ext cx="1657350" cy="95250"/>
            </a:xfrm>
            <a:custGeom>
              <a:avLst/>
              <a:gdLst/>
              <a:ahLst/>
              <a:cxnLst/>
              <a:rect l="l" t="t" r="r" b="b"/>
              <a:pathLst>
                <a:path w="1657350" h="95250">
                  <a:moveTo>
                    <a:pt x="47625" y="0"/>
                  </a:moveTo>
                  <a:lnTo>
                    <a:pt x="1609725" y="0"/>
                  </a:lnTo>
                  <a:cubicBezTo>
                    <a:pt x="1636028" y="0"/>
                    <a:pt x="1657350" y="21322"/>
                    <a:pt x="1657350" y="47625"/>
                  </a:cubicBezTo>
                  <a:lnTo>
                    <a:pt x="1657350" y="47625"/>
                  </a:lnTo>
                  <a:cubicBezTo>
                    <a:pt x="1657350" y="73928"/>
                    <a:pt x="1636028" y="95250"/>
                    <a:pt x="160972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2F855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36080" y="509587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分层运营拉长客户价值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38366" y="54111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流失预警与激活策略闭环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71635" y="43934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预算压力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9277350" y="4686300"/>
              <a:ext cx="1885950" cy="9525"/>
            </a:xfrm>
            <a:custGeom>
              <a:avLst/>
              <a:gdLst/>
              <a:ahLst/>
              <a:cxnLst/>
              <a:rect l="l" t="t" r="r" b="b"/>
              <a:pathLst>
                <a:path w="1885950" h="9525">
                  <a:moveTo>
                    <a:pt x="0" y="0"/>
                  </a:moveTo>
                  <a:lnTo>
                    <a:pt x="18859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9277350" y="4895850"/>
              <a:ext cx="1885950" cy="95250"/>
            </a:xfrm>
            <a:custGeom>
              <a:avLst/>
              <a:gdLst/>
              <a:ahLst/>
              <a:cxnLst/>
              <a:rect l="l" t="t" r="r" b="b"/>
              <a:pathLst>
                <a:path w="1885950" h="95250">
                  <a:moveTo>
                    <a:pt x="47625" y="0"/>
                  </a:moveTo>
                  <a:lnTo>
                    <a:pt x="1838325" y="0"/>
                  </a:lnTo>
                  <a:cubicBezTo>
                    <a:pt x="1864628" y="0"/>
                    <a:pt x="1885950" y="21322"/>
                    <a:pt x="1885950" y="47625"/>
                  </a:cubicBezTo>
                  <a:lnTo>
                    <a:pt x="1885950" y="47625"/>
                  </a:lnTo>
                  <a:cubicBezTo>
                    <a:pt x="1885950" y="73928"/>
                    <a:pt x="1864628" y="95250"/>
                    <a:pt x="183832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9277350" y="4895850"/>
              <a:ext cx="1714500" cy="95250"/>
            </a:xfrm>
            <a:custGeom>
              <a:avLst/>
              <a:gdLst/>
              <a:ahLst/>
              <a:cxnLst/>
              <a:rect l="l" t="t" r="r" b="b"/>
              <a:pathLst>
                <a:path w="1714500" h="95250">
                  <a:moveTo>
                    <a:pt x="47625" y="0"/>
                  </a:moveTo>
                  <a:lnTo>
                    <a:pt x="1666875" y="0"/>
                  </a:lnTo>
                  <a:cubicBezTo>
                    <a:pt x="1693178" y="0"/>
                    <a:pt x="1714500" y="21322"/>
                    <a:pt x="1714500" y="47625"/>
                  </a:cubicBezTo>
                  <a:lnTo>
                    <a:pt x="1714500" y="47625"/>
                  </a:lnTo>
                  <a:cubicBezTo>
                    <a:pt x="1714500" y="73928"/>
                    <a:pt x="1693178" y="95250"/>
                    <a:pt x="166687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269730" y="509587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同预算获得更高收入回报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272016" y="54111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预算分配由经验改为模型驱动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057275" y="953452"/>
            <a:ext cx="10073259" cy="205359"/>
            <a:chOff x="1057275" y="953452"/>
            <a:chExt cx="10073259" cy="205359"/>
          </a:xfrm>
        </p:grpSpPr>
        <p:sp>
          <p:nvSpPr>
            <p:cNvPr id="70" name="Ellipse 70"/>
            <p:cNvSpPr/>
            <p:nvPr/>
          </p:nvSpPr>
          <p:spPr>
            <a:xfrm>
              <a:off x="1057275" y="10382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1190625" y="103822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1323975" y="1038225"/>
              <a:ext cx="57150" cy="57150"/>
            </a:xfrm>
            <a:prstGeom prst="ellipse">
              <a:avLst/>
            </a:prstGeom>
            <a:solidFill>
              <a:srgbClr val="2F855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237372" y="953452"/>
              <a:ext cx="28931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数据整合 → AI分析 → 自动化执行 → 效果度量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5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476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7784" y="234791"/>
            <a:ext cx="11067478" cy="6353175"/>
            <a:chOff x="557784" y="234791"/>
            <a:chExt cx="11067478" cy="6353175"/>
          </a:xfrm>
        </p:grpSpPr>
        <p:sp>
          <p:nvSpPr>
            <p:cNvPr id="7" name="TextBox 7"/>
            <p:cNvSpPr txBox="1"/>
            <p:nvPr/>
          </p:nvSpPr>
          <p:spPr>
            <a:xfrm>
              <a:off x="566738" y="234791"/>
              <a:ext cx="6992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SPREADMAP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7784" y="908685"/>
              <a:ext cx="325343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四大模块能力矩阵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71500" y="138112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243681" y="64260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08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738" y="64260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3880" y="1590675"/>
            <a:ext cx="11056620" cy="4600575"/>
            <a:chOff x="563880" y="1590675"/>
            <a:chExt cx="11056620" cy="4600575"/>
          </a:xfrm>
        </p:grpSpPr>
        <p:sp>
          <p:nvSpPr>
            <p:cNvPr id="13" name="TextBox 13"/>
            <p:cNvSpPr txBox="1"/>
            <p:nvPr/>
          </p:nvSpPr>
          <p:spPr>
            <a:xfrm>
              <a:off x="563880" y="1590675"/>
              <a:ext cx="4890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各模块融合企业数据引擎与AI模型，实现闭环智能。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1500" y="2095500"/>
              <a:ext cx="11049000" cy="4095750"/>
            </a:xfrm>
            <a:custGeom>
              <a:avLst/>
              <a:gdLst/>
              <a:ahLst/>
              <a:cxnLst/>
              <a:rect l="l" t="t" r="r" b="b"/>
              <a:pathLst>
                <a:path w="11049000" h="4095750">
                  <a:moveTo>
                    <a:pt x="152400" y="0"/>
                  </a:moveTo>
                  <a:lnTo>
                    <a:pt x="10896600" y="0"/>
                  </a:lnTo>
                  <a:cubicBezTo>
                    <a:pt x="10980768" y="0"/>
                    <a:pt x="11049000" y="68232"/>
                    <a:pt x="11049000" y="152400"/>
                  </a:cubicBezTo>
                  <a:lnTo>
                    <a:pt x="11049000" y="3943350"/>
                  </a:lnTo>
                  <a:cubicBezTo>
                    <a:pt x="11049000" y="4027518"/>
                    <a:pt x="10980768" y="4095750"/>
                    <a:pt x="10896600" y="4095750"/>
                  </a:cubicBezTo>
                  <a:lnTo>
                    <a:pt x="152400" y="4095750"/>
                  </a:lnTo>
                  <a:cubicBezTo>
                    <a:pt x="68232" y="4095750"/>
                    <a:pt x="0" y="4027518"/>
                    <a:pt x="0" y="3943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000250" y="3476625"/>
              <a:ext cx="8191500" cy="1333500"/>
            </a:xfrm>
            <a:custGeom>
              <a:avLst/>
              <a:gdLst/>
              <a:ahLst/>
              <a:cxnLst/>
              <a:rect l="l" t="t" r="r" b="b"/>
              <a:pathLst>
                <a:path w="8191500" h="1333500">
                  <a:moveTo>
                    <a:pt x="171450" y="0"/>
                  </a:moveTo>
                  <a:lnTo>
                    <a:pt x="8020050" y="0"/>
                  </a:lnTo>
                  <a:cubicBezTo>
                    <a:pt x="8114739" y="0"/>
                    <a:pt x="8191500" y="76761"/>
                    <a:pt x="8191500" y="171450"/>
                  </a:cubicBezTo>
                  <a:lnTo>
                    <a:pt x="8191500" y="1162050"/>
                  </a:lnTo>
                  <a:cubicBezTo>
                    <a:pt x="8191500" y="1256739"/>
                    <a:pt x="8114739" y="1333500"/>
                    <a:pt x="8020050" y="1333500"/>
                  </a:cubicBezTo>
                  <a:lnTo>
                    <a:pt x="171450" y="1333500"/>
                  </a:lnTo>
                  <a:cubicBezTo>
                    <a:pt x="76761" y="1333500"/>
                    <a:pt x="0" y="1256739"/>
                    <a:pt x="0" y="11620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76251" y="3802380"/>
              <a:ext cx="32394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企业 AI 营销工作台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21750" y="4188142"/>
              <a:ext cx="35485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数据引擎 × 分析模型 × 执行系统 × 度量反馈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143250" y="44958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11419" y="456628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闭环智能运营中枢</a:t>
              </a:r>
            </a:p>
          </p:txBody>
        </p:sp>
        <p:sp>
          <p:nvSpPr>
            <p:cNvPr id="20" name="Line 20"/>
            <p:cNvSpPr/>
            <p:nvPr/>
          </p:nvSpPr>
          <p:spPr>
            <a:xfrm flipV="1">
              <a:off x="4095750" y="2905125"/>
              <a:ext cx="1" cy="5715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 flipV="1">
              <a:off x="8096250" y="2905125"/>
              <a:ext cx="1" cy="5715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2" name="Line 22"/>
            <p:cNvSpPr/>
            <p:nvPr/>
          </p:nvSpPr>
          <p:spPr>
            <a:xfrm>
              <a:off x="4095750" y="4810125"/>
              <a:ext cx="1" cy="5715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3" name="Line 23"/>
            <p:cNvSpPr/>
            <p:nvPr/>
          </p:nvSpPr>
          <p:spPr>
            <a:xfrm>
              <a:off x="8096250" y="4810125"/>
              <a:ext cx="1" cy="5715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4" name="Line 24"/>
            <p:cNvSpPr/>
            <p:nvPr/>
          </p:nvSpPr>
          <p:spPr>
            <a:xfrm flipH="1">
              <a:off x="1428750" y="4143375"/>
              <a:ext cx="5715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5" name="Line 25"/>
            <p:cNvSpPr/>
            <p:nvPr/>
          </p:nvSpPr>
          <p:spPr>
            <a:xfrm>
              <a:off x="10191750" y="4143375"/>
              <a:ext cx="5715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6" name="Freeform 26"/>
            <p:cNvSpPr/>
            <p:nvPr/>
          </p:nvSpPr>
          <p:spPr>
            <a:xfrm>
              <a:off x="2952750" y="2190750"/>
              <a:ext cx="2286000" cy="1047750"/>
            </a:xfrm>
            <a:custGeom>
              <a:avLst/>
              <a:gdLst/>
              <a:ahLst/>
              <a:cxnLst/>
              <a:rect l="l" t="t" r="r" b="b"/>
              <a:pathLst>
                <a:path w="2286000" h="1047750">
                  <a:moveTo>
                    <a:pt x="133350" y="0"/>
                  </a:moveTo>
                  <a:lnTo>
                    <a:pt x="2152650" y="0"/>
                  </a:lnTo>
                  <a:cubicBezTo>
                    <a:pt x="2226297" y="0"/>
                    <a:pt x="2286000" y="59703"/>
                    <a:pt x="2286000" y="133350"/>
                  </a:cubicBezTo>
                  <a:lnTo>
                    <a:pt x="2286000" y="914400"/>
                  </a:lnTo>
                  <a:cubicBezTo>
                    <a:pt x="2286000" y="988047"/>
                    <a:pt x="2226297" y="1047750"/>
                    <a:pt x="2152650" y="1047750"/>
                  </a:cubicBezTo>
                  <a:lnTo>
                    <a:pt x="133350" y="1047750"/>
                  </a:lnTo>
                  <a:cubicBezTo>
                    <a:pt x="59703" y="1047750"/>
                    <a:pt x="0" y="988047"/>
                    <a:pt x="0" y="914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067050" y="2305050"/>
              <a:ext cx="495300" cy="285750"/>
            </a:xfrm>
            <a:custGeom>
              <a:avLst/>
              <a:gdLst/>
              <a:ahLst/>
              <a:cxnLst/>
              <a:rect l="l" t="t" r="r" b="b"/>
              <a:pathLst>
                <a:path w="495300" h="285750">
                  <a:moveTo>
                    <a:pt x="76200" y="0"/>
                  </a:moveTo>
                  <a:lnTo>
                    <a:pt x="419100" y="0"/>
                  </a:lnTo>
                  <a:cubicBezTo>
                    <a:pt x="461184" y="0"/>
                    <a:pt x="495300" y="34116"/>
                    <a:pt x="495300" y="76200"/>
                  </a:cubicBezTo>
                  <a:lnTo>
                    <a:pt x="495300" y="209550"/>
                  </a:lnTo>
                  <a:cubicBezTo>
                    <a:pt x="495300" y="251634"/>
                    <a:pt x="461184" y="285750"/>
                    <a:pt x="419100" y="285750"/>
                  </a:cubicBezTo>
                  <a:lnTo>
                    <a:pt x="76200" y="285750"/>
                  </a:lnTo>
                  <a:cubicBezTo>
                    <a:pt x="34116" y="285750"/>
                    <a:pt x="0" y="251634"/>
                    <a:pt x="0" y="20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240514" y="2349818"/>
              <a:ext cx="148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41769" y="2245995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88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34106" y="2596515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数据整合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37154" y="288988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预置连接器，实时同步，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37154" y="3080385"/>
              <a:ext cx="840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统一用户ID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953250" y="2190750"/>
              <a:ext cx="2286000" cy="1047750"/>
            </a:xfrm>
            <a:custGeom>
              <a:avLst/>
              <a:gdLst/>
              <a:ahLst/>
              <a:cxnLst/>
              <a:rect l="l" t="t" r="r" b="b"/>
              <a:pathLst>
                <a:path w="2286000" h="1047750">
                  <a:moveTo>
                    <a:pt x="133350" y="0"/>
                  </a:moveTo>
                  <a:lnTo>
                    <a:pt x="2152650" y="0"/>
                  </a:lnTo>
                  <a:cubicBezTo>
                    <a:pt x="2226297" y="0"/>
                    <a:pt x="2286000" y="59703"/>
                    <a:pt x="2286000" y="133350"/>
                  </a:cubicBezTo>
                  <a:lnTo>
                    <a:pt x="2286000" y="914400"/>
                  </a:lnTo>
                  <a:cubicBezTo>
                    <a:pt x="2286000" y="988047"/>
                    <a:pt x="2226297" y="1047750"/>
                    <a:pt x="2152650" y="1047750"/>
                  </a:cubicBezTo>
                  <a:lnTo>
                    <a:pt x="133350" y="1047750"/>
                  </a:lnTo>
                  <a:cubicBezTo>
                    <a:pt x="59703" y="1047750"/>
                    <a:pt x="0" y="988047"/>
                    <a:pt x="0" y="914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067550" y="2305050"/>
              <a:ext cx="495300" cy="285750"/>
            </a:xfrm>
            <a:custGeom>
              <a:avLst/>
              <a:gdLst/>
              <a:ahLst/>
              <a:cxnLst/>
              <a:rect l="l" t="t" r="r" b="b"/>
              <a:pathLst>
                <a:path w="495300" h="285750">
                  <a:moveTo>
                    <a:pt x="76200" y="0"/>
                  </a:moveTo>
                  <a:lnTo>
                    <a:pt x="419100" y="0"/>
                  </a:lnTo>
                  <a:cubicBezTo>
                    <a:pt x="461184" y="0"/>
                    <a:pt x="495300" y="34116"/>
                    <a:pt x="495300" y="76200"/>
                  </a:cubicBezTo>
                  <a:lnTo>
                    <a:pt x="495300" y="209550"/>
                  </a:lnTo>
                  <a:cubicBezTo>
                    <a:pt x="495300" y="251634"/>
                    <a:pt x="461184" y="285750"/>
                    <a:pt x="419100" y="285750"/>
                  </a:cubicBezTo>
                  <a:lnTo>
                    <a:pt x="76200" y="285750"/>
                  </a:lnTo>
                  <a:cubicBezTo>
                    <a:pt x="34116" y="285750"/>
                    <a:pt x="0" y="251634"/>
                    <a:pt x="0" y="20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41014" y="2349818"/>
              <a:ext cx="148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42269" y="2245995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74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34606" y="2596515"/>
              <a:ext cx="10465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 分析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37654" y="2889885"/>
              <a:ext cx="16593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流失预测、LTV预估、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37654" y="30803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渠道归因、智能分群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2952750" y="5048250"/>
              <a:ext cx="2286000" cy="1047750"/>
            </a:xfrm>
            <a:custGeom>
              <a:avLst/>
              <a:gdLst/>
              <a:ahLst/>
              <a:cxnLst/>
              <a:rect l="l" t="t" r="r" b="b"/>
              <a:pathLst>
                <a:path w="2286000" h="1047750">
                  <a:moveTo>
                    <a:pt x="133350" y="0"/>
                  </a:moveTo>
                  <a:lnTo>
                    <a:pt x="2152650" y="0"/>
                  </a:lnTo>
                  <a:cubicBezTo>
                    <a:pt x="2226297" y="0"/>
                    <a:pt x="2286000" y="59703"/>
                    <a:pt x="2286000" y="133350"/>
                  </a:cubicBezTo>
                  <a:lnTo>
                    <a:pt x="2286000" y="914400"/>
                  </a:lnTo>
                  <a:cubicBezTo>
                    <a:pt x="2286000" y="988047"/>
                    <a:pt x="2226297" y="1047750"/>
                    <a:pt x="2152650" y="1047750"/>
                  </a:cubicBezTo>
                  <a:lnTo>
                    <a:pt x="133350" y="1047750"/>
                  </a:lnTo>
                  <a:cubicBezTo>
                    <a:pt x="59703" y="1047750"/>
                    <a:pt x="0" y="988047"/>
                    <a:pt x="0" y="914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3067050" y="5162550"/>
              <a:ext cx="495300" cy="285750"/>
            </a:xfrm>
            <a:custGeom>
              <a:avLst/>
              <a:gdLst/>
              <a:ahLst/>
              <a:cxnLst/>
              <a:rect l="l" t="t" r="r" b="b"/>
              <a:pathLst>
                <a:path w="495300" h="285750">
                  <a:moveTo>
                    <a:pt x="76200" y="0"/>
                  </a:moveTo>
                  <a:lnTo>
                    <a:pt x="419100" y="0"/>
                  </a:lnTo>
                  <a:cubicBezTo>
                    <a:pt x="461184" y="0"/>
                    <a:pt x="495300" y="34116"/>
                    <a:pt x="495300" y="76200"/>
                  </a:cubicBezTo>
                  <a:lnTo>
                    <a:pt x="495300" y="209550"/>
                  </a:lnTo>
                  <a:cubicBezTo>
                    <a:pt x="495300" y="251634"/>
                    <a:pt x="461184" y="285750"/>
                    <a:pt x="419100" y="285750"/>
                  </a:cubicBezTo>
                  <a:lnTo>
                    <a:pt x="76200" y="285750"/>
                  </a:lnTo>
                  <a:cubicBezTo>
                    <a:pt x="34116" y="285750"/>
                    <a:pt x="0" y="251634"/>
                    <a:pt x="0" y="20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40514" y="5207318"/>
              <a:ext cx="148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C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41769" y="5103495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60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134106" y="5454015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自动化执行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137154" y="57473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跨渠道营销活动编排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137154" y="5937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与自动执行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6953250" y="5048250"/>
              <a:ext cx="2286000" cy="1047750"/>
            </a:xfrm>
            <a:custGeom>
              <a:avLst/>
              <a:gdLst/>
              <a:ahLst/>
              <a:cxnLst/>
              <a:rect l="l" t="t" r="r" b="b"/>
              <a:pathLst>
                <a:path w="2286000" h="1047750">
                  <a:moveTo>
                    <a:pt x="133350" y="0"/>
                  </a:moveTo>
                  <a:lnTo>
                    <a:pt x="2152650" y="0"/>
                  </a:lnTo>
                  <a:cubicBezTo>
                    <a:pt x="2226297" y="0"/>
                    <a:pt x="2286000" y="59703"/>
                    <a:pt x="2286000" y="133350"/>
                  </a:cubicBezTo>
                  <a:lnTo>
                    <a:pt x="2286000" y="914400"/>
                  </a:lnTo>
                  <a:cubicBezTo>
                    <a:pt x="2286000" y="988047"/>
                    <a:pt x="2226297" y="1047750"/>
                    <a:pt x="2152650" y="1047750"/>
                  </a:cubicBezTo>
                  <a:lnTo>
                    <a:pt x="133350" y="1047750"/>
                  </a:lnTo>
                  <a:cubicBezTo>
                    <a:pt x="59703" y="1047750"/>
                    <a:pt x="0" y="988047"/>
                    <a:pt x="0" y="914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067550" y="5162550"/>
              <a:ext cx="495300" cy="285750"/>
            </a:xfrm>
            <a:custGeom>
              <a:avLst/>
              <a:gdLst/>
              <a:ahLst/>
              <a:cxnLst/>
              <a:rect l="l" t="t" r="r" b="b"/>
              <a:pathLst>
                <a:path w="495300" h="285750">
                  <a:moveTo>
                    <a:pt x="76200" y="0"/>
                  </a:moveTo>
                  <a:lnTo>
                    <a:pt x="419100" y="0"/>
                  </a:lnTo>
                  <a:cubicBezTo>
                    <a:pt x="461184" y="0"/>
                    <a:pt x="495300" y="34116"/>
                    <a:pt x="495300" y="76200"/>
                  </a:cubicBezTo>
                  <a:lnTo>
                    <a:pt x="495300" y="209550"/>
                  </a:lnTo>
                  <a:cubicBezTo>
                    <a:pt x="495300" y="251634"/>
                    <a:pt x="461184" y="285750"/>
                    <a:pt x="419100" y="285750"/>
                  </a:cubicBezTo>
                  <a:lnTo>
                    <a:pt x="76200" y="285750"/>
                  </a:lnTo>
                  <a:cubicBezTo>
                    <a:pt x="34116" y="285750"/>
                    <a:pt x="0" y="251634"/>
                    <a:pt x="0" y="20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41014" y="5207318"/>
              <a:ext cx="148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42269" y="5103495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34606" y="5454015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效果度量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37654" y="5747385"/>
              <a:ext cx="16507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归因分析、ROI计算、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37654" y="59378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异常预警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819150" y="3619500"/>
              <a:ext cx="1066800" cy="1047750"/>
            </a:xfrm>
            <a:custGeom>
              <a:avLst/>
              <a:gdLst/>
              <a:ahLst/>
              <a:cxnLst/>
              <a:rect l="l" t="t" r="r" b="b"/>
              <a:pathLst>
                <a:path w="1066800" h="1047750">
                  <a:moveTo>
                    <a:pt x="133350" y="0"/>
                  </a:moveTo>
                  <a:lnTo>
                    <a:pt x="933450" y="0"/>
                  </a:lnTo>
                  <a:cubicBezTo>
                    <a:pt x="1007097" y="0"/>
                    <a:pt x="1066800" y="59703"/>
                    <a:pt x="1066800" y="133350"/>
                  </a:cubicBezTo>
                  <a:lnTo>
                    <a:pt x="1066800" y="914400"/>
                  </a:lnTo>
                  <a:cubicBezTo>
                    <a:pt x="1066800" y="988047"/>
                    <a:pt x="1007097" y="1047750"/>
                    <a:pt x="933450" y="1047750"/>
                  </a:cubicBezTo>
                  <a:lnTo>
                    <a:pt x="133350" y="1047750"/>
                  </a:lnTo>
                  <a:cubicBezTo>
                    <a:pt x="59703" y="1047750"/>
                    <a:pt x="0" y="988047"/>
                    <a:pt x="0" y="914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1028700" y="3819525"/>
              <a:ext cx="266700" cy="2667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1409700" y="3819525"/>
              <a:ext cx="266700" cy="2667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1295400" y="3952875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95517" y="414861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统一数据层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3834" y="439054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连接多源渠道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10306050" y="3619500"/>
              <a:ext cx="1066800" cy="1047750"/>
            </a:xfrm>
            <a:custGeom>
              <a:avLst/>
              <a:gdLst/>
              <a:ahLst/>
              <a:cxnLst/>
              <a:rect l="l" t="t" r="r" b="b"/>
              <a:pathLst>
                <a:path w="1066800" h="1047750">
                  <a:moveTo>
                    <a:pt x="133350" y="0"/>
                  </a:moveTo>
                  <a:lnTo>
                    <a:pt x="933450" y="0"/>
                  </a:lnTo>
                  <a:cubicBezTo>
                    <a:pt x="1007097" y="0"/>
                    <a:pt x="1066800" y="59703"/>
                    <a:pt x="1066800" y="133350"/>
                  </a:cubicBezTo>
                  <a:lnTo>
                    <a:pt x="1066800" y="914400"/>
                  </a:lnTo>
                  <a:cubicBezTo>
                    <a:pt x="1066800" y="988047"/>
                    <a:pt x="1007097" y="1047750"/>
                    <a:pt x="933450" y="1047750"/>
                  </a:cubicBezTo>
                  <a:lnTo>
                    <a:pt x="133350" y="1047750"/>
                  </a:lnTo>
                  <a:cubicBezTo>
                    <a:pt x="59703" y="1047750"/>
                    <a:pt x="0" y="988047"/>
                    <a:pt x="0" y="914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572750" y="3867150"/>
              <a:ext cx="133350" cy="228600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782300" y="3771900"/>
              <a:ext cx="133350" cy="323850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991850" y="3686175"/>
              <a:ext cx="133350" cy="409575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472528" y="4148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反馈优化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440734" y="439054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驱动持续增长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5086350" y="5495925"/>
              <a:ext cx="2019300" cy="495300"/>
            </a:xfrm>
            <a:custGeom>
              <a:avLst/>
              <a:gdLst/>
              <a:ahLst/>
              <a:cxnLst/>
              <a:rect l="l" t="t" r="r" b="b"/>
              <a:pathLst>
                <a:path w="2019300" h="495300">
                  <a:moveTo>
                    <a:pt x="247650" y="0"/>
                  </a:moveTo>
                  <a:lnTo>
                    <a:pt x="1771650" y="0"/>
                  </a:lnTo>
                  <a:cubicBezTo>
                    <a:pt x="1908423" y="0"/>
                    <a:pt x="2019300" y="110877"/>
                    <a:pt x="2019300" y="247650"/>
                  </a:cubicBezTo>
                  <a:lnTo>
                    <a:pt x="2019300" y="247650"/>
                  </a:lnTo>
                  <a:cubicBezTo>
                    <a:pt x="2019300" y="384423"/>
                    <a:pt x="1908423" y="495300"/>
                    <a:pt x="1771650" y="495300"/>
                  </a:cubicBezTo>
                  <a:lnTo>
                    <a:pt x="247650" y="495300"/>
                  </a:lnTo>
                  <a:cubicBezTo>
                    <a:pt x="110877" y="495300"/>
                    <a:pt x="0" y="384423"/>
                    <a:pt x="0" y="247650"/>
                  </a:cubicBezTo>
                  <a:lnTo>
                    <a:pt x="0" y="247650"/>
                  </a:lnTo>
                  <a:cubicBezTo>
                    <a:pt x="0" y="110877"/>
                    <a:pt x="110877" y="0"/>
                    <a:pt x="2476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996675" y="5664518"/>
              <a:ext cx="21986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采集 → 洞察 → 触达 → 评估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810750" y="990600"/>
            <a:ext cx="2327034" cy="552450"/>
            <a:chOff x="9810750" y="990600"/>
            <a:chExt cx="2327034" cy="552450"/>
          </a:xfrm>
        </p:grpSpPr>
        <p:sp>
          <p:nvSpPr>
            <p:cNvPr id="69" name="Freeform 69"/>
            <p:cNvSpPr/>
            <p:nvPr/>
          </p:nvSpPr>
          <p:spPr>
            <a:xfrm>
              <a:off x="9810750" y="990600"/>
              <a:ext cx="1809750" cy="552450"/>
            </a:xfrm>
            <a:custGeom>
              <a:avLst/>
              <a:gdLst/>
              <a:ahLst/>
              <a:cxnLst/>
              <a:rect l="l" t="t" r="r" b="b"/>
              <a:pathLst>
                <a:path w="1809750" h="552450">
                  <a:moveTo>
                    <a:pt x="95250" y="0"/>
                  </a:moveTo>
                  <a:lnTo>
                    <a:pt x="1714500" y="0"/>
                  </a:lnTo>
                  <a:cubicBezTo>
                    <a:pt x="1767105" y="0"/>
                    <a:pt x="1809750" y="42645"/>
                    <a:pt x="1809750" y="95250"/>
                  </a:cubicBezTo>
                  <a:lnTo>
                    <a:pt x="1809750" y="457200"/>
                  </a:lnTo>
                  <a:cubicBezTo>
                    <a:pt x="1809750" y="509805"/>
                    <a:pt x="1767105" y="552450"/>
                    <a:pt x="1714500" y="552450"/>
                  </a:cubicBezTo>
                  <a:lnTo>
                    <a:pt x="95250" y="552450"/>
                  </a:lnTo>
                  <a:cubicBezTo>
                    <a:pt x="42645" y="552450"/>
                    <a:pt x="0" y="509805"/>
                    <a:pt x="0" y="4572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958388" y="1122045"/>
              <a:ext cx="9000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能力成熟度参考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958388" y="1312545"/>
              <a:ext cx="21793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A–D 数值体现模块完备度与投入优先级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914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5334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5810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7784" y="286702"/>
            <a:ext cx="11067479" cy="6329839"/>
            <a:chOff x="557784" y="286702"/>
            <a:chExt cx="11067479" cy="6329839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2867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489585"/>
              <a:ext cx="4360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启动您的AI营销引擎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71500" y="990600"/>
              <a:ext cx="800100" cy="28575"/>
            </a:xfrm>
            <a:custGeom>
              <a:avLst/>
              <a:gdLst/>
              <a:ahLst/>
              <a:cxnLst/>
              <a:rect l="l" t="t" r="r" b="b"/>
              <a:pathLst>
                <a:path w="800100" h="28575">
                  <a:moveTo>
                    <a:pt x="14288" y="0"/>
                  </a:moveTo>
                  <a:lnTo>
                    <a:pt x="785812" y="0"/>
                  </a:lnTo>
                  <a:cubicBezTo>
                    <a:pt x="793703" y="0"/>
                    <a:pt x="800100" y="6397"/>
                    <a:pt x="800100" y="14288"/>
                  </a:cubicBezTo>
                  <a:lnTo>
                    <a:pt x="800100" y="14288"/>
                  </a:lnTo>
                  <a:cubicBezTo>
                    <a:pt x="800100" y="22178"/>
                    <a:pt x="793703" y="28575"/>
                    <a:pt x="785812" y="28575"/>
                  </a:cubicBezTo>
                  <a:lnTo>
                    <a:pt x="14288" y="28575"/>
                  </a:lnTo>
                  <a:cubicBezTo>
                    <a:pt x="6397" y="28575"/>
                    <a:pt x="0" y="22178"/>
                    <a:pt x="0" y="14288"/>
                  </a:cubicBezTo>
                  <a:lnTo>
                    <a:pt x="0" y="14288"/>
                  </a:lnTo>
                  <a:cubicBezTo>
                    <a:pt x="0" y="6397"/>
                    <a:pt x="6397" y="0"/>
                    <a:pt x="142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493570" y="6454616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454616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63880" y="1285875"/>
            <a:ext cx="11056620" cy="5080826"/>
            <a:chOff x="563880" y="1285875"/>
            <a:chExt cx="11056620" cy="5080826"/>
          </a:xfrm>
        </p:grpSpPr>
        <p:sp>
          <p:nvSpPr>
            <p:cNvPr id="14" name="TextBox 14"/>
            <p:cNvSpPr txBox="1"/>
            <p:nvPr/>
          </p:nvSpPr>
          <p:spPr>
            <a:xfrm>
              <a:off x="563880" y="1285875"/>
              <a:ext cx="50836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接下来90天，我们建议分三步完成从评估到上线的闭环。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71500" y="1790700"/>
              <a:ext cx="11049000" cy="323850"/>
            </a:xfrm>
            <a:custGeom>
              <a:avLst/>
              <a:gdLst/>
              <a:ahLst/>
              <a:cxnLst/>
              <a:rect l="l" t="t" r="r" b="b"/>
              <a:pathLst>
                <a:path w="11049000" h="323850">
                  <a:moveTo>
                    <a:pt x="161925" y="0"/>
                  </a:moveTo>
                  <a:lnTo>
                    <a:pt x="10887075" y="0"/>
                  </a:lnTo>
                  <a:cubicBezTo>
                    <a:pt x="10976504" y="0"/>
                    <a:pt x="11049000" y="72496"/>
                    <a:pt x="11049000" y="161925"/>
                  </a:cubicBezTo>
                  <a:lnTo>
                    <a:pt x="11049000" y="161925"/>
                  </a:lnTo>
                  <a:cubicBezTo>
                    <a:pt x="11049000" y="251354"/>
                    <a:pt x="10976504" y="323850"/>
                    <a:pt x="108870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7666" y="1886902"/>
              <a:ext cx="52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第1-2周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37250" y="1886902"/>
              <a:ext cx="52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第3-4周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03629" y="18869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第5-12周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195560" y="18869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规模扩展准备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143000" y="3619500"/>
              <a:ext cx="9620250" cy="9525"/>
            </a:xfrm>
            <a:custGeom>
              <a:avLst/>
              <a:gdLst/>
              <a:ahLst/>
              <a:cxnLst/>
              <a:rect l="l" t="t" r="r" b="b"/>
              <a:pathLst>
                <a:path w="9620250" h="9525">
                  <a:moveTo>
                    <a:pt x="0" y="0"/>
                  </a:moveTo>
                  <a:lnTo>
                    <a:pt x="9620250" y="0"/>
                  </a:lnTo>
                </a:path>
              </a:pathLst>
            </a:custGeom>
            <a:noFill/>
            <a:ln w="57150" cap="rnd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0" scaled="1"/>
              </a:gradFill>
            </a:ln>
          </p:spPr>
        </p:sp>
        <p:sp>
          <p:nvSpPr>
            <p:cNvPr id="21" name="Line 21"/>
            <p:cNvSpPr/>
            <p:nvPr/>
          </p:nvSpPr>
          <p:spPr>
            <a:xfrm>
              <a:off x="1143000" y="3619500"/>
              <a:ext cx="9620250" cy="9525"/>
            </a:xfrm>
            <a:custGeom>
              <a:avLst/>
              <a:gdLst/>
              <a:ahLst/>
              <a:cxnLst/>
              <a:rect l="l" t="t" r="r" b="b"/>
              <a:pathLst>
                <a:path w="9620250" h="9525">
                  <a:moveTo>
                    <a:pt x="0" y="0"/>
                  </a:moveTo>
                  <a:lnTo>
                    <a:pt x="9620250" y="0"/>
                  </a:lnTo>
                </a:path>
              </a:pathLst>
            </a:custGeom>
            <a:noFill/>
            <a:ln w="152400" cap="rnd">
              <a:solidFill>
                <a:schemeClr val="accent4">
                  <a:alpha val="35000"/>
                </a:schemeClr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95350" y="3371850"/>
              <a:ext cx="495300" cy="4953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152900" y="3371850"/>
              <a:ext cx="495300" cy="4953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8058150" y="3371850"/>
              <a:ext cx="495300" cy="4953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0591800" y="3448050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3772" y="35242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31322" y="35242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36572" y="35242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0696575" y="3552825"/>
              <a:ext cx="161925" cy="123825"/>
            </a:xfrm>
            <a:custGeom>
              <a:avLst/>
              <a:gdLst/>
              <a:ahLst/>
              <a:cxnLst/>
              <a:rect l="l" t="t" r="r" b="b"/>
              <a:pathLst>
                <a:path w="161925" h="123825">
                  <a:moveTo>
                    <a:pt x="0" y="66675"/>
                  </a:moveTo>
                  <a:lnTo>
                    <a:pt x="57150" y="123825"/>
                  </a:lnTo>
                  <a:lnTo>
                    <a:pt x="161925" y="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30" name="Freeform 30"/>
            <p:cNvSpPr/>
            <p:nvPr/>
          </p:nvSpPr>
          <p:spPr>
            <a:xfrm>
              <a:off x="762000" y="2362200"/>
              <a:ext cx="2762250" cy="990600"/>
            </a:xfrm>
            <a:custGeom>
              <a:avLst/>
              <a:gdLst/>
              <a:ahLst/>
              <a:cxnLst/>
              <a:rect l="l" t="t" r="r" b="b"/>
              <a:pathLst>
                <a:path w="2762250" h="990600">
                  <a:moveTo>
                    <a:pt x="114300" y="0"/>
                  </a:moveTo>
                  <a:lnTo>
                    <a:pt x="2647950" y="0"/>
                  </a:lnTo>
                  <a:cubicBezTo>
                    <a:pt x="2711076" y="0"/>
                    <a:pt x="2762250" y="51174"/>
                    <a:pt x="2762250" y="114300"/>
                  </a:cubicBezTo>
                  <a:lnTo>
                    <a:pt x="2762250" y="876300"/>
                  </a:lnTo>
                  <a:cubicBezTo>
                    <a:pt x="2762250" y="939426"/>
                    <a:pt x="2711076" y="990600"/>
                    <a:pt x="2647950" y="990600"/>
                  </a:cubicBezTo>
                  <a:lnTo>
                    <a:pt x="114300" y="990600"/>
                  </a:lnTo>
                  <a:cubicBezTo>
                    <a:pt x="51174" y="990600"/>
                    <a:pt x="0" y="939426"/>
                    <a:pt x="0" y="876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0694" y="2456498"/>
              <a:ext cx="20584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需求与数据盘点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5266" y="2829878"/>
              <a:ext cx="52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第1-2周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3742" y="30546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业务需求对齐与数据审计，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3742" y="32832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确认接入范围和价值假设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1143000" y="337185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143000" y="33528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3019425" y="3886200"/>
              <a:ext cx="2762250" cy="990600"/>
            </a:xfrm>
            <a:custGeom>
              <a:avLst/>
              <a:gdLst/>
              <a:ahLst/>
              <a:cxnLst/>
              <a:rect l="l" t="t" r="r" b="b"/>
              <a:pathLst>
                <a:path w="2762250" h="990600">
                  <a:moveTo>
                    <a:pt x="114300" y="0"/>
                  </a:moveTo>
                  <a:lnTo>
                    <a:pt x="2647950" y="0"/>
                  </a:lnTo>
                  <a:cubicBezTo>
                    <a:pt x="2711076" y="0"/>
                    <a:pt x="2762250" y="51174"/>
                    <a:pt x="2762250" y="114300"/>
                  </a:cubicBezTo>
                  <a:lnTo>
                    <a:pt x="2762250" y="876300"/>
                  </a:lnTo>
                  <a:cubicBezTo>
                    <a:pt x="2762250" y="939426"/>
                    <a:pt x="2711076" y="990600"/>
                    <a:pt x="2647950" y="990600"/>
                  </a:cubicBezTo>
                  <a:lnTo>
                    <a:pt x="114300" y="990600"/>
                  </a:lnTo>
                  <a:cubicBezTo>
                    <a:pt x="51174" y="990600"/>
                    <a:pt x="0" y="939426"/>
                    <a:pt x="0" y="876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238119" y="3980498"/>
              <a:ext cx="20584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部署与基线配置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42691" y="4353878"/>
              <a:ext cx="52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第3-4周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241167" y="4578668"/>
              <a:ext cx="2854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SaaS环境部署，核心数据源对接，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241167" y="4807268"/>
              <a:ext cx="1329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配置AI模型基线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4400550" y="37528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1143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924675" y="2362200"/>
              <a:ext cx="3048000" cy="990600"/>
            </a:xfrm>
            <a:custGeom>
              <a:avLst/>
              <a:gdLst/>
              <a:ahLst/>
              <a:cxnLst/>
              <a:rect l="l" t="t" r="r" b="b"/>
              <a:pathLst>
                <a:path w="3048000" h="990600">
                  <a:moveTo>
                    <a:pt x="114300" y="0"/>
                  </a:moveTo>
                  <a:lnTo>
                    <a:pt x="2933700" y="0"/>
                  </a:lnTo>
                  <a:cubicBezTo>
                    <a:pt x="2996826" y="0"/>
                    <a:pt x="3048000" y="51174"/>
                    <a:pt x="3048000" y="114300"/>
                  </a:cubicBezTo>
                  <a:lnTo>
                    <a:pt x="3048000" y="876300"/>
                  </a:lnTo>
                  <a:cubicBezTo>
                    <a:pt x="3048000" y="939426"/>
                    <a:pt x="2996826" y="990600"/>
                    <a:pt x="2933700" y="990600"/>
                  </a:cubicBezTo>
                  <a:lnTo>
                    <a:pt x="114300" y="990600"/>
                  </a:lnTo>
                  <a:cubicBezTo>
                    <a:pt x="51174" y="990600"/>
                    <a:pt x="0" y="939426"/>
                    <a:pt x="0" y="876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43369" y="2456498"/>
              <a:ext cx="20584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并行运行与优化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47941" y="282987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第5-12周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46417" y="3054668"/>
              <a:ext cx="2049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产出首次月度ROI报告，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46417" y="32832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完成效果评估与扩展决策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8305800" y="337185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886950" y="3219450"/>
              <a:ext cx="1733550" cy="800100"/>
            </a:xfrm>
            <a:custGeom>
              <a:avLst/>
              <a:gdLst/>
              <a:ahLst/>
              <a:cxnLst/>
              <a:rect l="l" t="t" r="r" b="b"/>
              <a:pathLst>
                <a:path w="1733550" h="800100">
                  <a:moveTo>
                    <a:pt x="114300" y="0"/>
                  </a:moveTo>
                  <a:lnTo>
                    <a:pt x="1619250" y="0"/>
                  </a:lnTo>
                  <a:cubicBezTo>
                    <a:pt x="1682376" y="0"/>
                    <a:pt x="1733550" y="51174"/>
                    <a:pt x="1733550" y="114300"/>
                  </a:cubicBezTo>
                  <a:lnTo>
                    <a:pt x="1733550" y="685800"/>
                  </a:lnTo>
                  <a:cubicBezTo>
                    <a:pt x="1733550" y="748926"/>
                    <a:pt x="1682376" y="800100"/>
                    <a:pt x="1619250" y="800100"/>
                  </a:cubicBezTo>
                  <a:lnTo>
                    <a:pt x="114300" y="800100"/>
                  </a:lnTo>
                  <a:cubicBezTo>
                    <a:pt x="51174" y="800100"/>
                    <a:pt x="0" y="748926"/>
                    <a:pt x="0" y="6858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3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252481" y="3327082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最终落点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32326" y="359616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形成可复制的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32326" y="38057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增长运营闭环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571500" y="5543550"/>
              <a:ext cx="11049000" cy="647700"/>
            </a:xfrm>
            <a:custGeom>
              <a:avLst/>
              <a:gdLst/>
              <a:ahLst/>
              <a:cxnLst/>
              <a:rect l="l" t="t" r="r" b="b"/>
              <a:pathLst>
                <a:path w="11049000" h="6477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533400"/>
                  </a:lnTo>
                  <a:cubicBezTo>
                    <a:pt x="11049000" y="596526"/>
                    <a:pt x="10997826" y="647700"/>
                    <a:pt x="10934700" y="647700"/>
                  </a:cubicBezTo>
                  <a:lnTo>
                    <a:pt x="114300" y="647700"/>
                  </a:lnTo>
                  <a:cubicBezTo>
                    <a:pt x="51174" y="647700"/>
                    <a:pt x="0" y="596526"/>
                    <a:pt x="0" y="533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94766" y="56778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关键里程碑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3242" y="5874068"/>
              <a:ext cx="742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第1-2周：完成业务需求对齐与数据审计</a:t>
              </a: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·</a:t>
              </a: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第3-4周：完成SaaS部署、数据对接与模型基线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3242" y="6102668"/>
              <a:ext cx="40078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第5-12周：完成并行运行、ROI首报与扩展评估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95922" y="3103245"/>
            <a:ext cx="7656956" cy="1128712"/>
            <a:chOff x="895922" y="3103245"/>
            <a:chExt cx="7656956" cy="1128712"/>
          </a:xfrm>
        </p:grpSpPr>
        <p:sp>
          <p:nvSpPr>
            <p:cNvPr id="58" name="TextBox 58"/>
            <p:cNvSpPr txBox="1"/>
            <p:nvPr/>
          </p:nvSpPr>
          <p:spPr>
            <a:xfrm>
              <a:off x="895922" y="40557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范围清晰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153472" y="31032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系统上线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58721" y="40557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验证成效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2026-07-10T23:36:50Z</dcterms:created>
  <dcterms:modified xsi:type="dcterms:W3CDTF">2026-07-10T23:36:50Z</dcterms:modified>
  <cp:category/>
  <cp:contentStatus/>
</cp:coreProperties>
</file>