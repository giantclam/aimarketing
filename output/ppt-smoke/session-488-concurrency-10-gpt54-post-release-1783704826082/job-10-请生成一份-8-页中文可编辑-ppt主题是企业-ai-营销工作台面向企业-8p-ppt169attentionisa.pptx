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</a:t>
            </a:r>
          </a:p>
          <a:p>
            <a:endParaRPr lang="en-US" dirty="0"/>
          </a:p>
          <a:p>
            <a:r>
              <a:rPr lang="zh-CN" dirty="0"/>
              <a:t>数据整合×AI分析×自动化执行×效果度量——一站闭环，让每笔预算都指向增长。</a:t>
            </a:r>
          </a:p>
          <a:p>
            <a:endParaRPr lang="en-US" dirty="0"/>
          </a:p>
          <a:p>
            <a:r>
              <a:rPr lang="zh-CN" dirty="0"/>
              <a:t>• 企业AI营销工作台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核心议题</a:t>
            </a:r>
          </a:p>
          <a:p>
            <a:endParaRPr lang="en-US" dirty="0"/>
          </a:p>
          <a:p>
            <a:r>
              <a:rPr lang="zh-CN" dirty="0"/>
              <a:t>本次简报聚焦决策层必须回答的五个关键问题，每部分均先给出结论与风险。</a:t>
            </a:r>
          </a:p>
          <a:p>
            <a:endParaRPr lang="en-US" dirty="0"/>
          </a:p>
          <a:p>
            <a:r>
              <a:rPr lang="zh-CN" dirty="0"/>
              <a:t>• 碎片化营销数据如何侵蚀ROI，以及AI破局的窗口期</a:t>
            </a:r>
          </a:p>
          <a:p>
            <a:r>
              <a:rPr lang="zh-CN" dirty="0"/>
              <a:t>• AI驱动的统一数据、洞察与行动的能力模型</a:t>
            </a:r>
          </a:p>
          <a:p>
            <a:r>
              <a:rPr lang="zh-CN" dirty="0"/>
              <a:t>• SaaS工作台vs自建拼凑——时间、成本、风险对比</a:t>
            </a:r>
          </a:p>
          <a:p>
            <a:r>
              <a:rPr lang="zh-CN" dirty="0"/>
              <a:t>• 先行客户的量化成果与投资回报基准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碎片化正在吃掉你的利润</a:t>
            </a:r>
          </a:p>
          <a:p>
            <a:endParaRPr lang="en-US" dirty="0"/>
          </a:p>
          <a:p>
            <a:r>
              <a:rPr lang="zh-CN" dirty="0"/>
              <a:t>营销数据散落在12+个系统，手动分析滞后3-5天，而市场窗口以小时计——这是当前团队无法突破的效率天花板。</a:t>
            </a:r>
          </a:p>
          <a:p>
            <a:endParaRPr lang="en-US" dirty="0"/>
          </a:p>
          <a:p>
            <a:r>
              <a:rPr lang="zh-CN" dirty="0"/>
              <a:t>• 平均CMO每周浪费1.5天在跨渠道数据核对而非决策</a:t>
            </a:r>
          </a:p>
          <a:p>
            <a:r>
              <a:rPr lang="zh-CN" dirty="0"/>
              <a:t>• 因数据延迟导致错失的实时优化机会，年化收入损失可达8-15%</a:t>
            </a:r>
          </a:p>
          <a:p>
            <a:r>
              <a:rPr lang="zh-CN" dirty="0"/>
              <a:t>• 仅12%的企业认为其营销投入能在24小时内转化为可执行洞察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两条路径，两种结局</a:t>
            </a:r>
          </a:p>
          <a:p>
            <a:endParaRPr lang="en-US" dirty="0"/>
          </a:p>
          <a:p>
            <a:r>
              <a:rPr lang="zh-CN" dirty="0"/>
              <a:t>左栏是多数企业正在走的路；右栏是AI营销工作台提供的闭环路径。决策的差异在于实现增长的时间与风险。</a:t>
            </a:r>
          </a:p>
          <a:p>
            <a:endParaRPr lang="en-US" dirty="0"/>
          </a:p>
          <a:p>
            <a:r>
              <a:rPr lang="zh-CN" dirty="0"/>
              <a:t>• 数据整合需6-9个月，AI能力依赖稀缺人才，自动化孤岛运行，效果归因模糊</a:t>
            </a:r>
          </a:p>
          <a:p>
            <a:r>
              <a:rPr lang="zh-CN" dirty="0"/>
              <a:t>• 四周内完成多源数据接入，预置行业AI模型即开即用，自动化闭环与全域度量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先行者的成绩单</a:t>
            </a:r>
          </a:p>
          <a:p>
            <a:endParaRPr lang="en-US" dirty="0"/>
          </a:p>
          <a:p>
            <a:r>
              <a:rPr lang="zh-CN" dirty="0"/>
              <a:t>以下来自同体量企业的真实运行数据，全部在90天内达成。</a:t>
            </a:r>
          </a:p>
          <a:p>
            <a:endParaRPr lang="en-US" dirty="0"/>
          </a:p>
          <a:p>
            <a:r>
              <a:rPr lang="zh-CN" dirty="0"/>
              <a:t>• 接入9个渠道数据后，AI驱动的定向促销使月度复购率提升22%，ROI从1:2.3升至1:5.8</a:t>
            </a:r>
          </a:p>
          <a:p>
            <a:r>
              <a:rPr lang="zh-CN" dirty="0"/>
              <a:t>• 自动化跨渠道营销编排将活动上线时间从5天压缩至4小时，季度人力成本节省240工时</a:t>
            </a:r>
          </a:p>
          <a:p>
            <a:r>
              <a:rPr lang="zh-CN" dirty="0"/>
              <a:t>• AI内容生成+效果归因让合规投放的点击成本降低34%，且零合规事故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投资回报仪表盘</a:t>
            </a:r>
          </a:p>
          <a:p>
            <a:endParaRPr lang="en-US" dirty="0"/>
          </a:p>
          <a:p>
            <a:r>
              <a:rPr lang="zh-CN" dirty="0"/>
              <a:t>基于已交付项目的加权平均数据，保守估算。</a:t>
            </a:r>
          </a:p>
          <a:p>
            <a:endParaRPr lang="en-US" dirty="0"/>
          </a:p>
          <a:p>
            <a:r>
              <a:rPr lang="zh-CN" dirty="0"/>
              <a:t>• 12个月平均ROI</a:t>
            </a:r>
          </a:p>
          <a:p>
            <a:r>
              <a:rPr lang="zh-CN" dirty="0"/>
              <a:t>• 投资回收期</a:t>
            </a:r>
          </a:p>
          <a:p>
            <a:r>
              <a:rPr lang="zh-CN" dirty="0"/>
              <a:t>• 营销运营效率提升</a:t>
            </a:r>
          </a:p>
          <a:p>
            <a:r>
              <a:rPr lang="zh-CN" dirty="0"/>
              <a:t>• 归因错误率下降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四模块效能提升预览</a:t>
            </a:r>
          </a:p>
          <a:p>
            <a:endParaRPr lang="en-US" dirty="0"/>
          </a:p>
          <a:p>
            <a:r>
              <a:rPr lang="zh-CN" dirty="0"/>
              <a:t>各核心模块在部署后6个月的预期增益中位数。</a:t>
            </a:r>
          </a:p>
          <a:p>
            <a:endParaRPr lang="en-US" dirty="0"/>
          </a:p>
          <a:p>
            <a:r>
              <a:rPr lang="zh-CN" dirty="0"/>
              <a:t>• 从分散CSV/API到统一Customer360，消除人工对账</a:t>
            </a:r>
          </a:p>
          <a:p>
            <a:r>
              <a:rPr lang="zh-CN" dirty="0"/>
              <a:t>• 归因、人群聚类、流失预警模型自动刷新</a:t>
            </a:r>
          </a:p>
          <a:p>
            <a:r>
              <a:rPr lang="zh-CN" dirty="0"/>
              <a:t>• 跨渠道旅程编排、动态素材适配、智能投放止损</a:t>
            </a:r>
          </a:p>
          <a:p>
            <a:r>
              <a:rPr lang="zh-CN" dirty="0"/>
              <a:t>• ML驱动的多触点归因与增量测试，预算再分配可解释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下一步行动与风险缓释</a:t>
            </a:r>
          </a:p>
          <a:p>
            <a:endParaRPr lang="en-US" dirty="0"/>
          </a:p>
          <a:p>
            <a:r>
              <a:rPr lang="zh-CN" dirty="0"/>
              <a:t>建议按模块上线、阶段验证的方式推进，每个里程碑均设可信成功标准。</a:t>
            </a:r>
          </a:p>
          <a:p>
            <a:endParaRPr lang="en-US" dirty="0"/>
          </a:p>
          <a:p>
            <a:r>
              <a:rPr lang="zh-CN" dirty="0"/>
              <a:t>• 数据整合试点接入3个核心渠道，输出首版Customer360仪表盘</a:t>
            </a:r>
          </a:p>
          <a:p>
            <a:r>
              <a:rPr lang="zh-CN" dirty="0"/>
              <a:t>• AI分析模块上线，完成历史数据建模与首轮增量测试</a:t>
            </a:r>
          </a:p>
          <a:p>
            <a:r>
              <a:rPr lang="zh-CN" dirty="0"/>
              <a:t>• 自动化执行与效果度量上线，交付首次全链路归因报告与优化建议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5964d0aa44935984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5" name="Rectangle 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55000">
                  <a:schemeClr val="lt1">
                    <a:alpha val="96000"/>
                  </a:schemeClr>
                </a:gs>
                <a:gs pos="100000">
                  <a:schemeClr val="lt1">
                    <a:alpha val="72000"/>
                  </a:scheme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0" y="12001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1209675"/>
              <a:ext cx="1581150" cy="9525"/>
            </a:xfrm>
            <a:custGeom>
              <a:avLst/>
              <a:gdLst/>
              <a:ahLst/>
              <a:cxnLst/>
              <a:rect l="l" t="t" r="r" b="b"/>
              <a:pathLst>
                <a:path w="1581150" h="9525">
                  <a:moveTo>
                    <a:pt x="0" y="0"/>
                  </a:moveTo>
                  <a:lnTo>
                    <a:pt x="15811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6324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65785" y="602456"/>
            <a:ext cx="10964228" cy="6023610"/>
            <a:chOff x="565785" y="602456"/>
            <a:chExt cx="10964228" cy="6023610"/>
          </a:xfrm>
        </p:grpSpPr>
        <p:sp>
          <p:nvSpPr>
            <p:cNvPr id="10" name="TextBox 10"/>
            <p:cNvSpPr txBox="1"/>
            <p:nvPr/>
          </p:nvSpPr>
          <p:spPr>
            <a:xfrm>
              <a:off x="565785" y="602456"/>
              <a:ext cx="8942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GRIDBRIEF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738" y="6464141"/>
              <a:ext cx="184306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product-launch · 企业级 SaaS 方案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98320" y="64641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1447800"/>
            <a:ext cx="10648950" cy="4152900"/>
            <a:chOff x="571500" y="1447800"/>
            <a:chExt cx="10648950" cy="4152900"/>
          </a:xfrm>
        </p:grpSpPr>
        <p:sp>
          <p:nvSpPr>
            <p:cNvPr id="14" name="Freeform 14"/>
            <p:cNvSpPr/>
            <p:nvPr/>
          </p:nvSpPr>
          <p:spPr>
            <a:xfrm>
              <a:off x="571500" y="1447800"/>
              <a:ext cx="5219700" cy="4057650"/>
            </a:xfrm>
            <a:custGeom>
              <a:avLst/>
              <a:gdLst/>
              <a:ahLst/>
              <a:cxnLst/>
              <a:rect l="l" t="t" r="r" b="b"/>
              <a:pathLst>
                <a:path w="5219700" h="4057650">
                  <a:moveTo>
                    <a:pt x="152400" y="0"/>
                  </a:moveTo>
                  <a:lnTo>
                    <a:pt x="5067300" y="0"/>
                  </a:lnTo>
                  <a:cubicBezTo>
                    <a:pt x="5151468" y="0"/>
                    <a:pt x="5219700" y="68232"/>
                    <a:pt x="5219700" y="152400"/>
                  </a:cubicBezTo>
                  <a:lnTo>
                    <a:pt x="5219700" y="3905250"/>
                  </a:lnTo>
                  <a:cubicBezTo>
                    <a:pt x="5219700" y="3989418"/>
                    <a:pt x="5151468" y="4057650"/>
                    <a:pt x="5067300" y="4057650"/>
                  </a:cubicBezTo>
                  <a:lnTo>
                    <a:pt x="152400" y="4057650"/>
                  </a:lnTo>
                  <a:cubicBezTo>
                    <a:pt x="68232" y="4057650"/>
                    <a:pt x="0" y="3989418"/>
                    <a:pt x="0" y="39052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1">
                <a:alpha val="72000"/>
              </a:schemeClr>
            </a:soli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7250" y="1824990"/>
              <a:ext cx="429245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spc="38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企业AI营销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7250" y="2529840"/>
              <a:ext cx="2199437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spc="38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工作台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95731" y="3463290"/>
              <a:ext cx="44988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数据整合×AI分析×自动化执行×效果度量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95731" y="378714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一站闭环，让每笔预算都指向增长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904875" y="4086225"/>
              <a:ext cx="4314825" cy="9525"/>
            </a:xfrm>
            <a:custGeom>
              <a:avLst/>
              <a:gdLst/>
              <a:ahLst/>
              <a:cxnLst/>
              <a:rect l="l" t="t" r="r" b="b"/>
              <a:pathLst>
                <a:path w="4314825" h="9525">
                  <a:moveTo>
                    <a:pt x="0" y="0"/>
                  </a:moveTo>
                  <a:lnTo>
                    <a:pt x="431482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904875" y="4362450"/>
              <a:ext cx="1257300" cy="361950"/>
            </a:xfrm>
            <a:custGeom>
              <a:avLst/>
              <a:gdLst/>
              <a:ahLst/>
              <a:cxnLst/>
              <a:rect l="l" t="t" r="r" b="b"/>
              <a:pathLst>
                <a:path w="1257300" h="361950">
                  <a:moveTo>
                    <a:pt x="180975" y="0"/>
                  </a:moveTo>
                  <a:lnTo>
                    <a:pt x="1076325" y="0"/>
                  </a:lnTo>
                  <a:cubicBezTo>
                    <a:pt x="1176275" y="0"/>
                    <a:pt x="1257300" y="81025"/>
                    <a:pt x="1257300" y="180975"/>
                  </a:cubicBezTo>
                  <a:lnTo>
                    <a:pt x="1257300" y="180975"/>
                  </a:lnTo>
                  <a:cubicBezTo>
                    <a:pt x="1257300" y="280925"/>
                    <a:pt x="1176275" y="361950"/>
                    <a:pt x="107632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7479" y="4461510"/>
              <a:ext cx="1352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2276475" y="4362450"/>
              <a:ext cx="933450" cy="361950"/>
            </a:xfrm>
            <a:custGeom>
              <a:avLst/>
              <a:gdLst/>
              <a:ahLst/>
              <a:cxnLst/>
              <a:rect l="l" t="t" r="r" b="b"/>
              <a:pathLst>
                <a:path w="933450" h="361950">
                  <a:moveTo>
                    <a:pt x="180975" y="0"/>
                  </a:moveTo>
                  <a:lnTo>
                    <a:pt x="752475" y="0"/>
                  </a:lnTo>
                  <a:cubicBezTo>
                    <a:pt x="852425" y="0"/>
                    <a:pt x="933450" y="81025"/>
                    <a:pt x="933450" y="180975"/>
                  </a:cubicBezTo>
                  <a:lnTo>
                    <a:pt x="933450" y="180975"/>
                  </a:lnTo>
                  <a:cubicBezTo>
                    <a:pt x="933450" y="280925"/>
                    <a:pt x="852425" y="361950"/>
                    <a:pt x="75247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414016" y="4461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现状概览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3324225" y="4362450"/>
              <a:ext cx="933450" cy="361950"/>
            </a:xfrm>
            <a:custGeom>
              <a:avLst/>
              <a:gdLst/>
              <a:ahLst/>
              <a:cxnLst/>
              <a:rect l="l" t="t" r="r" b="b"/>
              <a:pathLst>
                <a:path w="933450" h="361950">
                  <a:moveTo>
                    <a:pt x="180975" y="0"/>
                  </a:moveTo>
                  <a:lnTo>
                    <a:pt x="752475" y="0"/>
                  </a:lnTo>
                  <a:cubicBezTo>
                    <a:pt x="852425" y="0"/>
                    <a:pt x="933450" y="81025"/>
                    <a:pt x="933450" y="180975"/>
                  </a:cubicBezTo>
                  <a:lnTo>
                    <a:pt x="933450" y="180975"/>
                  </a:lnTo>
                  <a:cubicBezTo>
                    <a:pt x="933450" y="280925"/>
                    <a:pt x="852425" y="361950"/>
                    <a:pt x="752475" y="361950"/>
                  </a:cubicBezTo>
                  <a:lnTo>
                    <a:pt x="180975" y="361950"/>
                  </a:lnTo>
                  <a:cubicBezTo>
                    <a:pt x="81025" y="361950"/>
                    <a:pt x="0" y="280925"/>
                    <a:pt x="0" y="180975"/>
                  </a:cubicBezTo>
                  <a:lnTo>
                    <a:pt x="0" y="180975"/>
                  </a:lnTo>
                  <a:cubicBezTo>
                    <a:pt x="0" y="81025"/>
                    <a:pt x="81025" y="0"/>
                    <a:pt x="180975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461766" y="4461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核心风险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7867650" y="1562100"/>
              <a:ext cx="3352800" cy="3733800"/>
            </a:xfrm>
            <a:custGeom>
              <a:avLst/>
              <a:gdLst/>
              <a:ahLst/>
              <a:cxnLst/>
              <a:rect l="l" t="t" r="r" b="b"/>
              <a:pathLst>
                <a:path w="3352800" h="3733800">
                  <a:moveTo>
                    <a:pt x="171450" y="0"/>
                  </a:moveTo>
                  <a:lnTo>
                    <a:pt x="3181350" y="0"/>
                  </a:lnTo>
                  <a:cubicBezTo>
                    <a:pt x="3276039" y="0"/>
                    <a:pt x="3352800" y="76761"/>
                    <a:pt x="3352800" y="171450"/>
                  </a:cubicBezTo>
                  <a:lnTo>
                    <a:pt x="3352800" y="3562350"/>
                  </a:lnTo>
                  <a:cubicBezTo>
                    <a:pt x="3352800" y="3657039"/>
                    <a:pt x="3276039" y="3733800"/>
                    <a:pt x="3181350" y="3733800"/>
                  </a:cubicBezTo>
                  <a:lnTo>
                    <a:pt x="171450" y="3733800"/>
                  </a:lnTo>
                  <a:cubicBezTo>
                    <a:pt x="76761" y="3733800"/>
                    <a:pt x="0" y="3657039"/>
                    <a:pt x="0" y="35623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lt1">
                <a:alpha val="90000"/>
              </a:schemeClr>
            </a:solidFill>
            <a:ln w="11430">
              <a:solidFill>
                <a:schemeClr val="accent4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125206" y="1729740"/>
              <a:ext cx="10936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闭环主轴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134350" y="2057400"/>
              <a:ext cx="2800350" cy="9525"/>
            </a:xfrm>
            <a:custGeom>
              <a:avLst/>
              <a:gdLst/>
              <a:ahLst/>
              <a:cxnLst/>
              <a:rect l="l" t="t" r="r" b="b"/>
              <a:pathLst>
                <a:path w="2800350" h="9525">
                  <a:moveTo>
                    <a:pt x="0" y="0"/>
                  </a:moveTo>
                  <a:lnTo>
                    <a:pt x="280035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343900" y="2286000"/>
              <a:ext cx="2400300" cy="457200"/>
            </a:xfrm>
            <a:custGeom>
              <a:avLst/>
              <a:gdLst/>
              <a:ahLst/>
              <a:cxnLst/>
              <a:rect l="l" t="t" r="r" b="b"/>
              <a:pathLst>
                <a:path w="2400300" h="457200">
                  <a:moveTo>
                    <a:pt x="95250" y="0"/>
                  </a:moveTo>
                  <a:lnTo>
                    <a:pt x="2305050" y="0"/>
                  </a:lnTo>
                  <a:cubicBezTo>
                    <a:pt x="2357655" y="0"/>
                    <a:pt x="2400300" y="42645"/>
                    <a:pt x="2400300" y="95250"/>
                  </a:cubicBezTo>
                  <a:lnTo>
                    <a:pt x="2400300" y="361950"/>
                  </a:lnTo>
                  <a:cubicBezTo>
                    <a:pt x="2400300" y="414555"/>
                    <a:pt x="2357655" y="457200"/>
                    <a:pt x="23050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132570" y="24098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9544050" y="27432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9505950" y="3086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343900" y="3238500"/>
              <a:ext cx="2400300" cy="457200"/>
            </a:xfrm>
            <a:custGeom>
              <a:avLst/>
              <a:gdLst/>
              <a:ahLst/>
              <a:cxnLst/>
              <a:rect l="l" t="t" r="r" b="b"/>
              <a:pathLst>
                <a:path w="2400300" h="457200">
                  <a:moveTo>
                    <a:pt x="95250" y="0"/>
                  </a:moveTo>
                  <a:lnTo>
                    <a:pt x="2305050" y="0"/>
                  </a:lnTo>
                  <a:cubicBezTo>
                    <a:pt x="2357655" y="0"/>
                    <a:pt x="2400300" y="42645"/>
                    <a:pt x="2400300" y="95250"/>
                  </a:cubicBezTo>
                  <a:lnTo>
                    <a:pt x="2400300" y="361950"/>
                  </a:lnTo>
                  <a:cubicBezTo>
                    <a:pt x="2400300" y="414555"/>
                    <a:pt x="2357655" y="457200"/>
                    <a:pt x="23050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232392" y="3362325"/>
              <a:ext cx="623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AI分析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9544050" y="36957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505950" y="40386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8343900" y="4191000"/>
              <a:ext cx="2400300" cy="457200"/>
            </a:xfrm>
            <a:custGeom>
              <a:avLst/>
              <a:gdLst/>
              <a:ahLst/>
              <a:cxnLst/>
              <a:rect l="l" t="t" r="r" b="b"/>
              <a:pathLst>
                <a:path w="2400300" h="457200">
                  <a:moveTo>
                    <a:pt x="95250" y="0"/>
                  </a:moveTo>
                  <a:lnTo>
                    <a:pt x="2305050" y="0"/>
                  </a:lnTo>
                  <a:cubicBezTo>
                    <a:pt x="2357655" y="0"/>
                    <a:pt x="2400300" y="42645"/>
                    <a:pt x="2400300" y="95250"/>
                  </a:cubicBezTo>
                  <a:lnTo>
                    <a:pt x="2400300" y="361950"/>
                  </a:lnTo>
                  <a:cubicBezTo>
                    <a:pt x="2400300" y="414555"/>
                    <a:pt x="2357655" y="457200"/>
                    <a:pt x="23050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031605" y="43148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9544050" y="46482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9505950" y="499110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Freeform 41"/>
            <p:cNvSpPr/>
            <p:nvPr/>
          </p:nvSpPr>
          <p:spPr>
            <a:xfrm>
              <a:off x="8343900" y="5143500"/>
              <a:ext cx="2400300" cy="457200"/>
            </a:xfrm>
            <a:custGeom>
              <a:avLst/>
              <a:gdLst/>
              <a:ahLst/>
              <a:cxnLst/>
              <a:rect l="l" t="t" r="r" b="b"/>
              <a:pathLst>
                <a:path w="2400300" h="457200">
                  <a:moveTo>
                    <a:pt x="95250" y="0"/>
                  </a:moveTo>
                  <a:lnTo>
                    <a:pt x="2305050" y="0"/>
                  </a:lnTo>
                  <a:cubicBezTo>
                    <a:pt x="2357655" y="0"/>
                    <a:pt x="2400300" y="42645"/>
                    <a:pt x="2400300" y="95250"/>
                  </a:cubicBezTo>
                  <a:lnTo>
                    <a:pt x="2400300" y="361950"/>
                  </a:lnTo>
                  <a:cubicBezTo>
                    <a:pt x="2400300" y="414555"/>
                    <a:pt x="2357655" y="457200"/>
                    <a:pt x="23050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12377" y="52673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848475" y="2381250"/>
              <a:ext cx="1152525" cy="133350"/>
            </a:xfrm>
            <a:custGeom>
              <a:avLst/>
              <a:gdLst/>
              <a:ahLst/>
              <a:cxnLst/>
              <a:rect l="l" t="t" r="r" b="b"/>
              <a:pathLst>
                <a:path w="1152525" h="133350">
                  <a:moveTo>
                    <a:pt x="0" y="0"/>
                  </a:moveTo>
                  <a:cubicBezTo>
                    <a:pt x="533400" y="0"/>
                    <a:pt x="638175" y="0"/>
                    <a:pt x="1152525" y="133350"/>
                  </a:cubicBezTo>
                </a:path>
              </a:pathLst>
            </a:custGeom>
            <a:noFill/>
            <a:ln w="14288">
              <a:solidFill>
                <a:srgbClr val="A0AEC0"/>
              </a:solidFill>
              <a:custDash>
                <a:ds d="266666" sp="333333"/>
              </a:custDash>
            </a:ln>
          </p:spPr>
        </p:sp>
        <p:sp>
          <p:nvSpPr>
            <p:cNvPr id="44" name="Freeform 44"/>
            <p:cNvSpPr/>
            <p:nvPr/>
          </p:nvSpPr>
          <p:spPr>
            <a:xfrm>
              <a:off x="6848475" y="3467100"/>
              <a:ext cx="1152525" cy="285750"/>
            </a:xfrm>
            <a:custGeom>
              <a:avLst/>
              <a:gdLst/>
              <a:ahLst/>
              <a:cxnLst/>
              <a:rect l="l" t="t" r="r" b="b"/>
              <a:pathLst>
                <a:path w="1152525" h="285750">
                  <a:moveTo>
                    <a:pt x="0" y="285750"/>
                  </a:moveTo>
                  <a:cubicBezTo>
                    <a:pt x="581025" y="285750"/>
                    <a:pt x="666750" y="285750"/>
                    <a:pt x="1152525" y="0"/>
                  </a:cubicBezTo>
                </a:path>
              </a:pathLst>
            </a:custGeom>
            <a:noFill/>
            <a:ln w="14288">
              <a:solidFill>
                <a:srgbClr val="A0AEC0"/>
              </a:solidFill>
              <a:custDash>
                <a:ds d="266666" sp="333333"/>
              </a:custDash>
            </a:ln>
          </p:spPr>
        </p:sp>
        <p:sp>
          <p:nvSpPr>
            <p:cNvPr id="45" name="Freeform 45"/>
            <p:cNvSpPr/>
            <p:nvPr/>
          </p:nvSpPr>
          <p:spPr>
            <a:xfrm>
              <a:off x="6848475" y="4895850"/>
              <a:ext cx="1152525" cy="476250"/>
            </a:xfrm>
            <a:custGeom>
              <a:avLst/>
              <a:gdLst/>
              <a:ahLst/>
              <a:cxnLst/>
              <a:rect l="l" t="t" r="r" b="b"/>
              <a:pathLst>
                <a:path w="1152525" h="476250">
                  <a:moveTo>
                    <a:pt x="0" y="0"/>
                  </a:moveTo>
                  <a:cubicBezTo>
                    <a:pt x="600075" y="0"/>
                    <a:pt x="685800" y="0"/>
                    <a:pt x="1152525" y="476250"/>
                  </a:cubicBezTo>
                </a:path>
              </a:pathLst>
            </a:custGeom>
            <a:noFill/>
            <a:ln w="14288">
              <a:solidFill>
                <a:srgbClr val="A0AEC0"/>
              </a:solidFill>
              <a:custDash>
                <a:ds d="266666" sp="333333"/>
              </a:custDash>
            </a:ln>
          </p:spPr>
        </p:sp>
        <p:sp>
          <p:nvSpPr>
            <p:cNvPr id="46" name="Ellipse 46"/>
            <p:cNvSpPr/>
            <p:nvPr/>
          </p:nvSpPr>
          <p:spPr>
            <a:xfrm>
              <a:off x="6724650" y="23241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724650" y="36957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724650" y="48387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52" name="Group 52"/>
          <p:cNvGrpSpPr/>
          <p:nvPr/>
        </p:nvGrpSpPr>
        <p:grpSpPr>
          <a:xfrm>
            <a:off x="571500" y="5743575"/>
            <a:ext cx="11049000" cy="400050"/>
            <a:chOff x="571500" y="5743575"/>
            <a:chExt cx="11049000" cy="400050"/>
          </a:xfrm>
        </p:grpSpPr>
        <p:sp>
          <p:nvSpPr>
            <p:cNvPr id="50" name="Freeform 50"/>
            <p:cNvSpPr/>
            <p:nvPr/>
          </p:nvSpPr>
          <p:spPr>
            <a:xfrm>
              <a:off x="571500" y="5743575"/>
              <a:ext cx="11049000" cy="400050"/>
            </a:xfrm>
            <a:custGeom>
              <a:avLst/>
              <a:gdLst/>
              <a:ahLst/>
              <a:cxnLst/>
              <a:rect l="l" t="t" r="r" b="b"/>
              <a:pathLst>
                <a:path w="11049000" h="40005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304800"/>
                  </a:lnTo>
                  <a:cubicBezTo>
                    <a:pt x="11049000" y="357405"/>
                    <a:pt x="11006355" y="400050"/>
                    <a:pt x="10953750" y="400050"/>
                  </a:cubicBezTo>
                  <a:lnTo>
                    <a:pt x="95250" y="400050"/>
                  </a:lnTo>
                  <a:cubicBezTo>
                    <a:pt x="42645" y="400050"/>
                    <a:pt x="0" y="357405"/>
                    <a:pt x="0" y="3048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74192" y="5845492"/>
              <a:ext cx="72831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面向管理层：用一个统一工作台连接数据、洞察、投放与复盘，降低增长决策的不确定性。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112395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61341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chemeClr val="accent4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9334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F5F7FA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9906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F5F7F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04775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F5F7F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1049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F5F7FA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57784" y="381952"/>
            <a:ext cx="11067479" cy="6186964"/>
            <a:chOff x="557784" y="381952"/>
            <a:chExt cx="11067479" cy="6186964"/>
          </a:xfrm>
        </p:grpSpPr>
        <p:sp>
          <p:nvSpPr>
            <p:cNvPr id="11" name="TextBox 11"/>
            <p:cNvSpPr txBox="1"/>
            <p:nvPr/>
          </p:nvSpPr>
          <p:spPr>
            <a:xfrm>
              <a:off x="566166" y="3819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模块目录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7784" y="613410"/>
              <a:ext cx="164043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核心议题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571500" y="1028700"/>
              <a:ext cx="1104900" cy="38100"/>
            </a:xfrm>
            <a:custGeom>
              <a:avLst/>
              <a:gdLst/>
              <a:ahLst/>
              <a:cxnLst/>
              <a:rect l="l" t="t" r="r" b="b"/>
              <a:pathLst>
                <a:path w="1104900" h="38100">
                  <a:moveTo>
                    <a:pt x="19050" y="0"/>
                  </a:moveTo>
                  <a:lnTo>
                    <a:pt x="1085850" y="0"/>
                  </a:lnTo>
                  <a:cubicBezTo>
                    <a:pt x="1096371" y="0"/>
                    <a:pt x="1104900" y="8529"/>
                    <a:pt x="1104900" y="19050"/>
                  </a:cubicBezTo>
                  <a:lnTo>
                    <a:pt x="1104900" y="19050"/>
                  </a:lnTo>
                  <a:cubicBezTo>
                    <a:pt x="1104900" y="29571"/>
                    <a:pt x="1096371" y="38100"/>
                    <a:pt x="10858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6738" y="64069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493570" y="64069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63880" y="1323975"/>
            <a:ext cx="11056620" cy="4683062"/>
            <a:chOff x="563880" y="1323975"/>
            <a:chExt cx="11056620" cy="4683062"/>
          </a:xfrm>
        </p:grpSpPr>
        <p:sp>
          <p:nvSpPr>
            <p:cNvPr id="17" name="TextBox 17"/>
            <p:cNvSpPr txBox="1"/>
            <p:nvPr/>
          </p:nvSpPr>
          <p:spPr>
            <a:xfrm>
              <a:off x="563880" y="13239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本次简报聚焦决策层必须回答的五个关键问题，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880" y="15906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每部分均先给出结论与风险。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71500" y="2000250"/>
              <a:ext cx="11049000" cy="3543300"/>
            </a:xfrm>
            <a:custGeom>
              <a:avLst/>
              <a:gdLst/>
              <a:ahLst/>
              <a:cxnLst/>
              <a:rect l="l" t="t" r="r" b="b"/>
              <a:pathLst>
                <a:path w="11049000" h="3543300">
                  <a:moveTo>
                    <a:pt x="152400" y="0"/>
                  </a:moveTo>
                  <a:lnTo>
                    <a:pt x="10896600" y="0"/>
                  </a:lnTo>
                  <a:cubicBezTo>
                    <a:pt x="10980768" y="0"/>
                    <a:pt x="11049000" y="68232"/>
                    <a:pt x="11049000" y="152400"/>
                  </a:cubicBezTo>
                  <a:lnTo>
                    <a:pt x="11049000" y="3390900"/>
                  </a:lnTo>
                  <a:cubicBezTo>
                    <a:pt x="11049000" y="3475068"/>
                    <a:pt x="10980768" y="3543300"/>
                    <a:pt x="10896600" y="3543300"/>
                  </a:cubicBezTo>
                  <a:lnTo>
                    <a:pt x="152400" y="3543300"/>
                  </a:lnTo>
                  <a:cubicBezTo>
                    <a:pt x="68232" y="3543300"/>
                    <a:pt x="0" y="3475068"/>
                    <a:pt x="0" y="33909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524000" y="2457450"/>
              <a:ext cx="9048750" cy="9525"/>
            </a:xfrm>
            <a:custGeom>
              <a:avLst/>
              <a:gdLst/>
              <a:ahLst/>
              <a:cxnLst/>
              <a:rect l="l" t="t" r="r" b="b"/>
              <a:pathLst>
                <a:path w="9048750" h="9525">
                  <a:moveTo>
                    <a:pt x="0" y="0"/>
                  </a:moveTo>
                  <a:lnTo>
                    <a:pt x="904875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1571625" y="24098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810000" y="24098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048375" y="24098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286750" y="24098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525125" y="2409825"/>
              <a:ext cx="95250" cy="952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1619250" y="24574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3857625" y="2457450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6096000" y="24574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334375" y="2457450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10572750" y="2457450"/>
              <a:ext cx="9525" cy="419100"/>
            </a:xfrm>
            <a:custGeom>
              <a:avLst/>
              <a:gdLst/>
              <a:ahLst/>
              <a:cxnLst/>
              <a:rect l="l" t="t" r="r" b="b"/>
              <a:pathLst>
                <a:path w="9525" h="419100">
                  <a:moveTo>
                    <a:pt x="0" y="0"/>
                  </a:moveTo>
                  <a:lnTo>
                    <a:pt x="0" y="4191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57250" y="2876550"/>
              <a:ext cx="1524000" cy="2038350"/>
            </a:xfrm>
            <a:custGeom>
              <a:avLst/>
              <a:gdLst/>
              <a:ahLst/>
              <a:cxnLst/>
              <a:rect l="l" t="t" r="r" b="b"/>
              <a:pathLst>
                <a:path w="1524000" h="2038350">
                  <a:moveTo>
                    <a:pt x="114300" y="0"/>
                  </a:moveTo>
                  <a:lnTo>
                    <a:pt x="1409700" y="0"/>
                  </a:lnTo>
                  <a:cubicBezTo>
                    <a:pt x="1472826" y="0"/>
                    <a:pt x="1524000" y="51174"/>
                    <a:pt x="1524000" y="114300"/>
                  </a:cubicBezTo>
                  <a:lnTo>
                    <a:pt x="1524000" y="1924050"/>
                  </a:lnTo>
                  <a:cubicBezTo>
                    <a:pt x="1524000" y="1987176"/>
                    <a:pt x="1472826" y="2038350"/>
                    <a:pt x="1409700" y="2038350"/>
                  </a:cubicBezTo>
                  <a:lnTo>
                    <a:pt x="114300" y="2038350"/>
                  </a:lnTo>
                  <a:cubicBezTo>
                    <a:pt x="51174" y="2038350"/>
                    <a:pt x="0" y="1987176"/>
                    <a:pt x="0" y="1924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3095625" y="3181350"/>
              <a:ext cx="1524000" cy="1733550"/>
            </a:xfrm>
            <a:custGeom>
              <a:avLst/>
              <a:gdLst/>
              <a:ahLst/>
              <a:cxnLst/>
              <a:rect l="l" t="t" r="r" b="b"/>
              <a:pathLst>
                <a:path w="1524000" h="1733550">
                  <a:moveTo>
                    <a:pt x="114300" y="0"/>
                  </a:moveTo>
                  <a:lnTo>
                    <a:pt x="1409700" y="0"/>
                  </a:lnTo>
                  <a:cubicBezTo>
                    <a:pt x="1472826" y="0"/>
                    <a:pt x="1524000" y="51174"/>
                    <a:pt x="1524000" y="114300"/>
                  </a:cubicBezTo>
                  <a:lnTo>
                    <a:pt x="1524000" y="1619250"/>
                  </a:lnTo>
                  <a:cubicBezTo>
                    <a:pt x="1524000" y="1682376"/>
                    <a:pt x="1472826" y="1733550"/>
                    <a:pt x="1409700" y="1733550"/>
                  </a:cubicBezTo>
                  <a:lnTo>
                    <a:pt x="114300" y="1733550"/>
                  </a:lnTo>
                  <a:cubicBezTo>
                    <a:pt x="51174" y="1733550"/>
                    <a:pt x="0" y="1682376"/>
                    <a:pt x="0" y="1619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5334000" y="2876550"/>
              <a:ext cx="1524000" cy="2038350"/>
            </a:xfrm>
            <a:custGeom>
              <a:avLst/>
              <a:gdLst/>
              <a:ahLst/>
              <a:cxnLst/>
              <a:rect l="l" t="t" r="r" b="b"/>
              <a:pathLst>
                <a:path w="1524000" h="2038350">
                  <a:moveTo>
                    <a:pt x="114300" y="0"/>
                  </a:moveTo>
                  <a:lnTo>
                    <a:pt x="1409700" y="0"/>
                  </a:lnTo>
                  <a:cubicBezTo>
                    <a:pt x="1472826" y="0"/>
                    <a:pt x="1524000" y="51174"/>
                    <a:pt x="1524000" y="114300"/>
                  </a:cubicBezTo>
                  <a:lnTo>
                    <a:pt x="1524000" y="1924050"/>
                  </a:lnTo>
                  <a:cubicBezTo>
                    <a:pt x="1524000" y="1987176"/>
                    <a:pt x="1472826" y="2038350"/>
                    <a:pt x="1409700" y="2038350"/>
                  </a:cubicBezTo>
                  <a:lnTo>
                    <a:pt x="114300" y="2038350"/>
                  </a:lnTo>
                  <a:cubicBezTo>
                    <a:pt x="51174" y="2038350"/>
                    <a:pt x="0" y="1987176"/>
                    <a:pt x="0" y="1924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7572375" y="3181350"/>
              <a:ext cx="1524000" cy="1733550"/>
            </a:xfrm>
            <a:custGeom>
              <a:avLst/>
              <a:gdLst/>
              <a:ahLst/>
              <a:cxnLst/>
              <a:rect l="l" t="t" r="r" b="b"/>
              <a:pathLst>
                <a:path w="1524000" h="1733550">
                  <a:moveTo>
                    <a:pt x="114300" y="0"/>
                  </a:moveTo>
                  <a:lnTo>
                    <a:pt x="1409700" y="0"/>
                  </a:lnTo>
                  <a:cubicBezTo>
                    <a:pt x="1472826" y="0"/>
                    <a:pt x="1524000" y="51174"/>
                    <a:pt x="1524000" y="114300"/>
                  </a:cubicBezTo>
                  <a:lnTo>
                    <a:pt x="1524000" y="1619250"/>
                  </a:lnTo>
                  <a:cubicBezTo>
                    <a:pt x="1524000" y="1682376"/>
                    <a:pt x="1472826" y="1733550"/>
                    <a:pt x="1409700" y="1733550"/>
                  </a:cubicBezTo>
                  <a:lnTo>
                    <a:pt x="114300" y="1733550"/>
                  </a:lnTo>
                  <a:cubicBezTo>
                    <a:pt x="51174" y="1733550"/>
                    <a:pt x="0" y="1682376"/>
                    <a:pt x="0" y="1619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810750" y="2876550"/>
              <a:ext cx="1524000" cy="2038350"/>
            </a:xfrm>
            <a:custGeom>
              <a:avLst/>
              <a:gdLst/>
              <a:ahLst/>
              <a:cxnLst/>
              <a:rect l="l" t="t" r="r" b="b"/>
              <a:pathLst>
                <a:path w="1524000" h="2038350">
                  <a:moveTo>
                    <a:pt x="114300" y="0"/>
                  </a:moveTo>
                  <a:lnTo>
                    <a:pt x="1409700" y="0"/>
                  </a:lnTo>
                  <a:cubicBezTo>
                    <a:pt x="1472826" y="0"/>
                    <a:pt x="1524000" y="51174"/>
                    <a:pt x="1524000" y="114300"/>
                  </a:cubicBezTo>
                  <a:lnTo>
                    <a:pt x="1524000" y="1924050"/>
                  </a:lnTo>
                  <a:cubicBezTo>
                    <a:pt x="1524000" y="1987176"/>
                    <a:pt x="1472826" y="2038350"/>
                    <a:pt x="1409700" y="2038350"/>
                  </a:cubicBezTo>
                  <a:lnTo>
                    <a:pt x="114300" y="2038350"/>
                  </a:lnTo>
                  <a:cubicBezTo>
                    <a:pt x="51174" y="2038350"/>
                    <a:pt x="0" y="1987176"/>
                    <a:pt x="0" y="19240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990600" y="30289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71450" y="0"/>
                  </a:lnTo>
                  <a:cubicBezTo>
                    <a:pt x="266139" y="0"/>
                    <a:pt x="342900" y="76761"/>
                    <a:pt x="342900" y="171450"/>
                  </a:cubicBezTo>
                  <a:lnTo>
                    <a:pt x="342900" y="171450"/>
                  </a:lnTo>
                  <a:cubicBezTo>
                    <a:pt x="342900" y="266139"/>
                    <a:pt x="266139" y="342900"/>
                    <a:pt x="1714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62662" y="31280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2218" y="3441382"/>
              <a:ext cx="12489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碎片化正在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2218" y="3708082"/>
              <a:ext cx="109401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吃掉ROI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84504" y="40900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识别数据断层、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84504" y="43186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预算浪费与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84504" y="45472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窗口期压力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3228975" y="33337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71450" y="0"/>
                  </a:lnTo>
                  <a:cubicBezTo>
                    <a:pt x="266139" y="0"/>
                    <a:pt x="342900" y="76761"/>
                    <a:pt x="342900" y="171450"/>
                  </a:cubicBezTo>
                  <a:lnTo>
                    <a:pt x="342900" y="171450"/>
                  </a:lnTo>
                  <a:cubicBezTo>
                    <a:pt x="342900" y="266139"/>
                    <a:pt x="266139" y="342900"/>
                    <a:pt x="1714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3301037" y="34328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02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220593" y="3746182"/>
              <a:ext cx="12489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统一数据、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220593" y="4012882"/>
              <a:ext cx="12489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洞察与行动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222879" y="4394835"/>
              <a:ext cx="11131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理解 AI 工作台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222879" y="4623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的能力模型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5467350" y="30289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71450" y="0"/>
                  </a:lnTo>
                  <a:cubicBezTo>
                    <a:pt x="266139" y="0"/>
                    <a:pt x="342900" y="76761"/>
                    <a:pt x="342900" y="171450"/>
                  </a:cubicBezTo>
                  <a:lnTo>
                    <a:pt x="342900" y="171450"/>
                  </a:lnTo>
                  <a:cubicBezTo>
                    <a:pt x="342900" y="266139"/>
                    <a:pt x="266139" y="342900"/>
                    <a:pt x="1714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5539412" y="31280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03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458968" y="3441382"/>
              <a:ext cx="15173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SaaS 工作台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58968" y="37080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还是自建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61254" y="409003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比较时间、成本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461254" y="43186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与治理风险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7705725" y="33337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71450" y="0"/>
                  </a:lnTo>
                  <a:cubicBezTo>
                    <a:pt x="266139" y="0"/>
                    <a:pt x="342900" y="76761"/>
                    <a:pt x="342900" y="171450"/>
                  </a:cubicBezTo>
                  <a:lnTo>
                    <a:pt x="342900" y="171450"/>
                  </a:lnTo>
                  <a:cubicBezTo>
                    <a:pt x="342900" y="266139"/>
                    <a:pt x="266139" y="342900"/>
                    <a:pt x="1714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77787" y="34328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04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97343" y="3746182"/>
              <a:ext cx="12489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先行客户的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97343" y="4012882"/>
              <a:ext cx="1002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量化成果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99629" y="43948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建立投资回报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99629" y="4623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判断基准</a:t>
              </a:r>
            </a:p>
          </p:txBody>
        </p:sp>
        <p:sp>
          <p:nvSpPr>
            <p:cNvPr id="61" name="Freeform 61"/>
            <p:cNvSpPr/>
            <p:nvPr/>
          </p:nvSpPr>
          <p:spPr>
            <a:xfrm>
              <a:off x="9944100" y="3028950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50" y="0"/>
                  </a:moveTo>
                  <a:lnTo>
                    <a:pt x="171450" y="0"/>
                  </a:lnTo>
                  <a:cubicBezTo>
                    <a:pt x="266139" y="0"/>
                    <a:pt x="342900" y="76761"/>
                    <a:pt x="342900" y="171450"/>
                  </a:cubicBezTo>
                  <a:lnTo>
                    <a:pt x="342900" y="171450"/>
                  </a:lnTo>
                  <a:cubicBezTo>
                    <a:pt x="342900" y="266139"/>
                    <a:pt x="266139" y="342900"/>
                    <a:pt x="171450" y="342900"/>
                  </a:cubicBezTo>
                  <a:lnTo>
                    <a:pt x="171450" y="342900"/>
                  </a:lnTo>
                  <a:cubicBezTo>
                    <a:pt x="76761" y="342900"/>
                    <a:pt x="0" y="266139"/>
                    <a:pt x="0" y="171450"/>
                  </a:cubicBezTo>
                  <a:lnTo>
                    <a:pt x="0" y="171450"/>
                  </a:lnTo>
                  <a:cubicBezTo>
                    <a:pt x="0" y="76761"/>
                    <a:pt x="76761" y="0"/>
                    <a:pt x="171450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016162" y="3128010"/>
              <a:ext cx="1987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05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35718" y="3441382"/>
              <a:ext cx="11010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90 天启动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35718" y="3708082"/>
              <a:ext cx="12489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与风险缓释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938004" y="40900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明确上线节奏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938004" y="43186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与组织配合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571500" y="5734050"/>
              <a:ext cx="11049000" cy="266700"/>
            </a:xfrm>
            <a:custGeom>
              <a:avLst/>
              <a:gdLst/>
              <a:ahLst/>
              <a:cxnLst/>
              <a:rect l="l" t="t" r="r" b="b"/>
              <a:pathLst>
                <a:path w="11049000" h="266700">
                  <a:moveTo>
                    <a:pt x="133350" y="0"/>
                  </a:moveTo>
                  <a:lnTo>
                    <a:pt x="10915650" y="0"/>
                  </a:lnTo>
                  <a:cubicBezTo>
                    <a:pt x="10989297" y="0"/>
                    <a:pt x="11049000" y="59703"/>
                    <a:pt x="11049000" y="133350"/>
                  </a:cubicBezTo>
                  <a:lnTo>
                    <a:pt x="11049000" y="133350"/>
                  </a:lnTo>
                  <a:cubicBezTo>
                    <a:pt x="11049000" y="206997"/>
                    <a:pt x="10989297" y="266700"/>
                    <a:pt x="10915650" y="266700"/>
                  </a:cubicBezTo>
                  <a:lnTo>
                    <a:pt x="133350" y="266700"/>
                  </a:lnTo>
                  <a:cubicBezTo>
                    <a:pt x="59703" y="266700"/>
                    <a:pt x="0" y="206997"/>
                    <a:pt x="0" y="1333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56666" y="5801678"/>
              <a:ext cx="41946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议程逻辑：现状压力 → 能力模型 → 路径选择 → 价值验证 → 落地计划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8782050" y="1390650"/>
            <a:ext cx="3040571" cy="1095375"/>
            <a:chOff x="8782050" y="1390650"/>
            <a:chExt cx="3040571" cy="1095375"/>
          </a:xfrm>
        </p:grpSpPr>
        <p:sp>
          <p:nvSpPr>
            <p:cNvPr id="70" name="Freeform 70"/>
            <p:cNvSpPr/>
            <p:nvPr/>
          </p:nvSpPr>
          <p:spPr>
            <a:xfrm>
              <a:off x="9677400" y="1390650"/>
              <a:ext cx="1943100" cy="457200"/>
            </a:xfrm>
            <a:custGeom>
              <a:avLst/>
              <a:gdLst/>
              <a:ahLst/>
              <a:cxnLst/>
              <a:rect l="l" t="t" r="r" b="b"/>
              <a:pathLst>
                <a:path w="1943100" h="457200">
                  <a:moveTo>
                    <a:pt x="95250" y="0"/>
                  </a:moveTo>
                  <a:lnTo>
                    <a:pt x="1847850" y="0"/>
                  </a:lnTo>
                  <a:cubicBezTo>
                    <a:pt x="1900455" y="0"/>
                    <a:pt x="1943100" y="42645"/>
                    <a:pt x="1943100" y="95250"/>
                  </a:cubicBezTo>
                  <a:lnTo>
                    <a:pt x="1943100" y="361950"/>
                  </a:lnTo>
                  <a:cubicBezTo>
                    <a:pt x="1943100" y="414555"/>
                    <a:pt x="1900455" y="457200"/>
                    <a:pt x="1847850" y="457200"/>
                  </a:cubicBezTo>
                  <a:lnTo>
                    <a:pt x="95250" y="457200"/>
                  </a:lnTo>
                  <a:cubicBezTo>
                    <a:pt x="42645" y="457200"/>
                    <a:pt x="0" y="414555"/>
                    <a:pt x="0" y="3619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842754" y="1451610"/>
              <a:ext cx="12667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管理层决策视角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843897" y="1656874"/>
              <a:ext cx="197872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每部分先看结论，再看风险与依据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8810625" y="1619250"/>
              <a:ext cx="657225" cy="838200"/>
            </a:xfrm>
            <a:custGeom>
              <a:avLst/>
              <a:gdLst/>
              <a:ahLst/>
              <a:cxnLst/>
              <a:rect l="l" t="t" r="r" b="b"/>
              <a:pathLst>
                <a:path w="657225" h="838200">
                  <a:moveTo>
                    <a:pt x="657225" y="0"/>
                  </a:moveTo>
                  <a:lnTo>
                    <a:pt x="314325" y="0"/>
                  </a:lnTo>
                  <a:lnTo>
                    <a:pt x="314325" y="838200"/>
                  </a:lnTo>
                  <a:lnTo>
                    <a:pt x="0" y="838200"/>
                  </a:ln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74" name="Ellipse 74"/>
            <p:cNvSpPr/>
            <p:nvPr/>
          </p:nvSpPr>
          <p:spPr>
            <a:xfrm>
              <a:off x="8782050" y="2428875"/>
              <a:ext cx="57150" cy="57150"/>
            </a:xfrm>
            <a:prstGeom prst="ellipse">
              <a:avLst/>
            </a:prstGeom>
            <a:solidFill>
              <a:srgbClr val="A0AEC0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876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191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9334500" y="11430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9620250" y="11430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4">
                  <a:alpha val="45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906000" y="1143000"/>
              <a:ext cx="9525" cy="4762500"/>
            </a:xfrm>
            <a:custGeom>
              <a:avLst/>
              <a:gdLst/>
              <a:ahLst/>
              <a:cxnLst/>
              <a:rect l="l" t="t" r="r" b="b"/>
              <a:pathLst>
                <a:path w="9525" h="4762500">
                  <a:moveTo>
                    <a:pt x="0" y="0"/>
                  </a:moveTo>
                  <a:lnTo>
                    <a:pt x="0" y="4762500"/>
                  </a:lnTo>
                </a:path>
              </a:pathLst>
            </a:custGeom>
            <a:noFill/>
            <a:ln w="9525">
              <a:solidFill>
                <a:schemeClr val="accent4">
                  <a:alpha val="30000"/>
                </a:schemeClr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9867900" y="1009650"/>
              <a:ext cx="1600200" cy="1600200"/>
            </a:xfrm>
            <a:prstGeom prst="ellipse">
              <a:avLst/>
            </a:prstGeom>
            <a:noFill/>
            <a:ln w="14288">
              <a:solidFill>
                <a:schemeClr val="accent3">
                  <a:alpha val="25000"/>
                </a:schemeClr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9505950" y="647700"/>
              <a:ext cx="2324100" cy="2324100"/>
            </a:xfrm>
            <a:prstGeom prst="ellipse">
              <a:avLst/>
            </a:prstGeom>
            <a:noFill/>
            <a:ln w="9525">
              <a:solidFill>
                <a:schemeClr val="accent3">
                  <a:alpha val="18000"/>
                </a:schemeClr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65785" y="431006"/>
            <a:ext cx="11059478" cy="6080760"/>
            <a:chOff x="565785" y="431006"/>
            <a:chExt cx="11059478" cy="6080760"/>
          </a:xfrm>
        </p:grpSpPr>
        <p:sp>
          <p:nvSpPr>
            <p:cNvPr id="12" name="TextBox 12"/>
            <p:cNvSpPr txBox="1"/>
            <p:nvPr/>
          </p:nvSpPr>
          <p:spPr>
            <a:xfrm>
              <a:off x="565785" y="431006"/>
              <a:ext cx="67779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052647" y="634984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93570" y="63498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57784" y="1137285"/>
            <a:ext cx="11062716" cy="4844415"/>
            <a:chOff x="557784" y="1137285"/>
            <a:chExt cx="11062716" cy="4844415"/>
          </a:xfrm>
        </p:grpSpPr>
        <p:sp>
          <p:nvSpPr>
            <p:cNvPr id="16" name="TextBox 16"/>
            <p:cNvSpPr txBox="1"/>
            <p:nvPr/>
          </p:nvSpPr>
          <p:spPr>
            <a:xfrm>
              <a:off x="557784" y="1137285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碎片化正在吃掉你的利润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71500" y="1762125"/>
              <a:ext cx="8572500" cy="3429000"/>
            </a:xfrm>
            <a:custGeom>
              <a:avLst/>
              <a:gdLst/>
              <a:ahLst/>
              <a:cxnLst/>
              <a:rect l="l" t="t" r="r" b="b"/>
              <a:pathLst>
                <a:path w="8572500" h="3429000">
                  <a:moveTo>
                    <a:pt x="114300" y="0"/>
                  </a:moveTo>
                  <a:lnTo>
                    <a:pt x="8458200" y="0"/>
                  </a:lnTo>
                  <a:cubicBezTo>
                    <a:pt x="8521326" y="0"/>
                    <a:pt x="8572500" y="51174"/>
                    <a:pt x="8572500" y="114300"/>
                  </a:cubicBezTo>
                  <a:lnTo>
                    <a:pt x="8572500" y="3314700"/>
                  </a:lnTo>
                  <a:cubicBezTo>
                    <a:pt x="8572500" y="3377826"/>
                    <a:pt x="8521326" y="3429000"/>
                    <a:pt x="8458200" y="3429000"/>
                  </a:cubicBezTo>
                  <a:lnTo>
                    <a:pt x="114300" y="3429000"/>
                  </a:lnTo>
                  <a:cubicBezTo>
                    <a:pt x="51174" y="3429000"/>
                    <a:pt x="0" y="3377826"/>
                    <a:pt x="0" y="3314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71500" y="1762125"/>
              <a:ext cx="114300" cy="3429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009650" y="1954530"/>
              <a:ext cx="1664543" cy="12763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66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12+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20318" y="28698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系统割裂了增长视图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3143250" y="2143125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14288">
              <a:solidFill>
                <a:srgbClr val="D6E4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589782" y="2230755"/>
              <a:ext cx="37763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营销数据散落在12+个系统，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89782" y="2630805"/>
              <a:ext cx="437000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手动分析滞后3-5天，而市场窗口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89782" y="3030855"/>
              <a:ext cx="331622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以小时计——这是当前团队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89782" y="3430905"/>
              <a:ext cx="32865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无法突破的效率天花板。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9544050" y="1714500"/>
              <a:ext cx="1695450" cy="914400"/>
            </a:xfrm>
            <a:custGeom>
              <a:avLst/>
              <a:gdLst/>
              <a:ahLst/>
              <a:cxnLst/>
              <a:rect l="l" t="t" r="r" b="b"/>
              <a:pathLst>
                <a:path w="1695450" h="914400">
                  <a:moveTo>
                    <a:pt x="114300" y="0"/>
                  </a:moveTo>
                  <a:lnTo>
                    <a:pt x="1581150" y="0"/>
                  </a:lnTo>
                  <a:cubicBezTo>
                    <a:pt x="1644276" y="0"/>
                    <a:pt x="1695450" y="51174"/>
                    <a:pt x="1695450" y="114300"/>
                  </a:cubicBezTo>
                  <a:lnTo>
                    <a:pt x="1695450" y="800100"/>
                  </a:lnTo>
                  <a:cubicBezTo>
                    <a:pt x="1695450" y="863226"/>
                    <a:pt x="1644276" y="914400"/>
                    <a:pt x="158115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1430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82861" y="1771650"/>
              <a:ext cx="12178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3–5天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962388" y="22488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分析滞后周期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9544050" y="2781300"/>
              <a:ext cx="1695450" cy="914400"/>
            </a:xfrm>
            <a:custGeom>
              <a:avLst/>
              <a:gdLst/>
              <a:ahLst/>
              <a:cxnLst/>
              <a:rect l="l" t="t" r="r" b="b"/>
              <a:pathLst>
                <a:path w="1695450" h="914400">
                  <a:moveTo>
                    <a:pt x="114300" y="0"/>
                  </a:moveTo>
                  <a:lnTo>
                    <a:pt x="1581150" y="0"/>
                  </a:lnTo>
                  <a:cubicBezTo>
                    <a:pt x="1644276" y="0"/>
                    <a:pt x="1695450" y="51174"/>
                    <a:pt x="1695450" y="114300"/>
                  </a:cubicBezTo>
                  <a:lnTo>
                    <a:pt x="1695450" y="800100"/>
                  </a:lnTo>
                  <a:cubicBezTo>
                    <a:pt x="1695450" y="863226"/>
                    <a:pt x="1644276" y="914400"/>
                    <a:pt x="158115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782861" y="2838450"/>
              <a:ext cx="12178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1.5天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821037" y="33156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每周用于数据核对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9544050" y="3848100"/>
              <a:ext cx="1695450" cy="914400"/>
            </a:xfrm>
            <a:custGeom>
              <a:avLst/>
              <a:gdLst/>
              <a:ahLst/>
              <a:cxnLst/>
              <a:rect l="l" t="t" r="r" b="b"/>
              <a:pathLst>
                <a:path w="1695450" h="914400">
                  <a:moveTo>
                    <a:pt x="114300" y="0"/>
                  </a:moveTo>
                  <a:lnTo>
                    <a:pt x="1581150" y="0"/>
                  </a:lnTo>
                  <a:cubicBezTo>
                    <a:pt x="1644276" y="0"/>
                    <a:pt x="1695450" y="51174"/>
                    <a:pt x="1695450" y="114300"/>
                  </a:cubicBezTo>
                  <a:lnTo>
                    <a:pt x="1695450" y="800100"/>
                  </a:lnTo>
                  <a:cubicBezTo>
                    <a:pt x="1695450" y="863226"/>
                    <a:pt x="1644276" y="914400"/>
                    <a:pt x="1581150" y="914400"/>
                  </a:cubicBezTo>
                  <a:lnTo>
                    <a:pt x="114300" y="914400"/>
                  </a:lnTo>
                  <a:cubicBezTo>
                    <a:pt x="51174" y="914400"/>
                    <a:pt x="0" y="863226"/>
                    <a:pt x="0" y="800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1430">
              <a:solidFill>
                <a:schemeClr val="accent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715652" y="3905250"/>
              <a:ext cx="135224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000" b="1" dirty="0">
                  <a:solidFill>
                    <a:srgbClr val="C53030"/>
                  </a:solidFill>
                  <a:latin typeface="+mj-lt"/>
                  <a:ea typeface="+mj-ea"/>
                  <a:cs typeface="+mj-cs"/>
                </a:rPr>
                <a:t>8–15%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821037" y="43824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实时优化损失收入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571500" y="5429250"/>
              <a:ext cx="11049000" cy="552450"/>
            </a:xfrm>
            <a:custGeom>
              <a:avLst/>
              <a:gdLst/>
              <a:ahLst/>
              <a:cxnLst/>
              <a:rect l="l" t="t" r="r" b="b"/>
              <a:pathLst>
                <a:path w="11049000" h="552450">
                  <a:moveTo>
                    <a:pt x="95250" y="0"/>
                  </a:moveTo>
                  <a:lnTo>
                    <a:pt x="10953750" y="0"/>
                  </a:lnTo>
                  <a:cubicBezTo>
                    <a:pt x="11006355" y="0"/>
                    <a:pt x="11049000" y="42645"/>
                    <a:pt x="11049000" y="95250"/>
                  </a:cubicBezTo>
                  <a:lnTo>
                    <a:pt x="11049000" y="457200"/>
                  </a:lnTo>
                  <a:cubicBezTo>
                    <a:pt x="11049000" y="509805"/>
                    <a:pt x="11006355" y="552450"/>
                    <a:pt x="10953750" y="552450"/>
                  </a:cubicBezTo>
                  <a:lnTo>
                    <a:pt x="95250" y="552450"/>
                  </a:lnTo>
                  <a:cubicBezTo>
                    <a:pt x="42645" y="552450"/>
                    <a:pt x="0" y="509805"/>
                    <a:pt x="0" y="45720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830199" y="5602129"/>
              <a:ext cx="84048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结论：</a:t>
              </a:r>
              <a:r>
                <a:rPr lang="en-US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</a:t>
              </a:r>
              <a:r>
                <a:rPr lang="zh-CN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当前问题不是“缺少报表”，而是缺少把数据、判断与执行连成闭环的统一工作台。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04850" y="2076450"/>
            <a:ext cx="11370716" cy="3362706"/>
            <a:chOff x="704850" y="2076450"/>
            <a:chExt cx="11370716" cy="3362706"/>
          </a:xfrm>
        </p:grpSpPr>
        <p:sp>
          <p:nvSpPr>
            <p:cNvPr id="38" name="Ellipse 38"/>
            <p:cNvSpPr/>
            <p:nvPr/>
          </p:nvSpPr>
          <p:spPr>
            <a:xfrm>
              <a:off x="704850" y="20764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79403" y="21412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60704" y="2118360"/>
              <a:ext cx="3886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平均CMO每周浪费1.5天在跨渠道数据核对而非决策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04850" y="430530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9403" y="43700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60704" y="41757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因数据延迟导致错失的实时优化机会，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60704" y="4404360"/>
              <a:ext cx="17810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年化收入损失可达8-15%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9429750" y="5048250"/>
              <a:ext cx="228600" cy="228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504303" y="511302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85604" y="4975860"/>
              <a:ext cx="2088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仅12%的企业认为其营销投入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785604" y="5204460"/>
              <a:ext cx="22899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能在24小时内转化为可执行洞察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1257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191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096000" y="1600200"/>
              <a:ext cx="9525" cy="4210050"/>
            </a:xfrm>
            <a:custGeom>
              <a:avLst/>
              <a:gdLst/>
              <a:ahLst/>
              <a:cxnLst/>
              <a:rect l="l" t="t" r="r" b="b"/>
              <a:pathLst>
                <a:path w="9525" h="4210050">
                  <a:moveTo>
                    <a:pt x="0" y="0"/>
                  </a:moveTo>
                  <a:lnTo>
                    <a:pt x="0" y="421005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557784" y="439102"/>
            <a:ext cx="11067478" cy="6225064"/>
            <a:chOff x="557784" y="439102"/>
            <a:chExt cx="11067478" cy="622506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43910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57784" y="73723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两条路径，两种结局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6738" y="6502241"/>
              <a:ext cx="1917415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product-launch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43681" y="650224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04 / 08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63880" y="1400175"/>
            <a:ext cx="11056620" cy="4657725"/>
            <a:chOff x="563880" y="1400175"/>
            <a:chExt cx="11056620" cy="4657725"/>
          </a:xfrm>
        </p:grpSpPr>
        <p:sp>
          <p:nvSpPr>
            <p:cNvPr id="13" name="TextBox 13"/>
            <p:cNvSpPr txBox="1"/>
            <p:nvPr/>
          </p:nvSpPr>
          <p:spPr>
            <a:xfrm>
              <a:off x="563880" y="1400175"/>
              <a:ext cx="63840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左栏是多数企业正在走的路；右栏是AI营销工作台提供的闭环路径。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3880" y="16668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决策的差异在于实现增长的时间与风险。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71500" y="1905000"/>
              <a:ext cx="5219700" cy="3638550"/>
            </a:xfrm>
            <a:custGeom>
              <a:avLst/>
              <a:gdLst/>
              <a:ahLst/>
              <a:cxnLst/>
              <a:rect l="l" t="t" r="r" b="b"/>
              <a:pathLst>
                <a:path w="5219700" h="363855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3524250"/>
                  </a:lnTo>
                  <a:cubicBezTo>
                    <a:pt x="5219700" y="3587376"/>
                    <a:pt x="5168526" y="3638550"/>
                    <a:pt x="5105400" y="3638550"/>
                  </a:cubicBezTo>
                  <a:lnTo>
                    <a:pt x="114300" y="3638550"/>
                  </a:lnTo>
                  <a:cubicBezTo>
                    <a:pt x="51174" y="3638550"/>
                    <a:pt x="0" y="3587376"/>
                    <a:pt x="0" y="3524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6400800" y="1905000"/>
              <a:ext cx="5219700" cy="3638550"/>
            </a:xfrm>
            <a:custGeom>
              <a:avLst/>
              <a:gdLst/>
              <a:ahLst/>
              <a:cxnLst/>
              <a:rect l="l" t="t" r="r" b="b"/>
              <a:pathLst>
                <a:path w="5219700" h="363855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3524250"/>
                  </a:lnTo>
                  <a:cubicBezTo>
                    <a:pt x="5219700" y="3587376"/>
                    <a:pt x="5168526" y="3638550"/>
                    <a:pt x="5105400" y="3638550"/>
                  </a:cubicBezTo>
                  <a:lnTo>
                    <a:pt x="114300" y="3638550"/>
                  </a:lnTo>
                  <a:cubicBezTo>
                    <a:pt x="51174" y="3638550"/>
                    <a:pt x="0" y="3587376"/>
                    <a:pt x="0" y="35242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571500" y="1905000"/>
              <a:ext cx="5219700" cy="609600"/>
            </a:xfrm>
            <a:custGeom>
              <a:avLst/>
              <a:gdLst/>
              <a:ahLst/>
              <a:cxnLst/>
              <a:rect l="l" t="t" r="r" b="b"/>
              <a:pathLst>
                <a:path w="5219700" h="6096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495300"/>
                  </a:lnTo>
                  <a:cubicBezTo>
                    <a:pt x="5219700" y="558426"/>
                    <a:pt x="5168526" y="609600"/>
                    <a:pt x="51054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EF2F7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6400800" y="1905000"/>
              <a:ext cx="5219700" cy="609600"/>
            </a:xfrm>
            <a:custGeom>
              <a:avLst/>
              <a:gdLst/>
              <a:ahLst/>
              <a:cxnLst/>
              <a:rect l="l" t="t" r="r" b="b"/>
              <a:pathLst>
                <a:path w="5219700" h="609600">
                  <a:moveTo>
                    <a:pt x="114300" y="0"/>
                  </a:moveTo>
                  <a:lnTo>
                    <a:pt x="5105400" y="0"/>
                  </a:lnTo>
                  <a:cubicBezTo>
                    <a:pt x="5168526" y="0"/>
                    <a:pt x="5219700" y="51174"/>
                    <a:pt x="5219700" y="114300"/>
                  </a:cubicBezTo>
                  <a:lnTo>
                    <a:pt x="5219700" y="495300"/>
                  </a:lnTo>
                  <a:cubicBezTo>
                    <a:pt x="5219700" y="558426"/>
                    <a:pt x="5168526" y="609600"/>
                    <a:pt x="5105400" y="609600"/>
                  </a:cubicBezTo>
                  <a:lnTo>
                    <a:pt x="114300" y="609600"/>
                  </a:lnTo>
                  <a:cubicBezTo>
                    <a:pt x="51174" y="609600"/>
                    <a:pt x="0" y="558426"/>
                    <a:pt x="0" y="4953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6394" y="2056448"/>
              <a:ext cx="118475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当前状态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70966" y="23441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自建拼凑与多工具协同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95694" y="2056448"/>
              <a:ext cx="219472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AI 工作台方案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700266" y="2344102"/>
              <a:ext cx="13479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一体化SaaS决策引擎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876300" y="2743200"/>
              <a:ext cx="4610100" cy="533400"/>
            </a:xfrm>
            <a:custGeom>
              <a:avLst/>
              <a:gdLst/>
              <a:ahLst/>
              <a:cxnLst/>
              <a:rect l="l" t="t" r="r" b="b"/>
              <a:pathLst>
                <a:path w="4610100" h="53340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438150"/>
                  </a:lnTo>
                  <a:cubicBezTo>
                    <a:pt x="4610100" y="490755"/>
                    <a:pt x="4567455" y="533400"/>
                    <a:pt x="45148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705600" y="2743200"/>
              <a:ext cx="4610100" cy="533400"/>
            </a:xfrm>
            <a:custGeom>
              <a:avLst/>
              <a:gdLst/>
              <a:ahLst/>
              <a:cxnLst/>
              <a:rect l="l" t="t" r="r" b="b"/>
              <a:pathLst>
                <a:path w="4610100" h="53340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438150"/>
                  </a:lnTo>
                  <a:cubicBezTo>
                    <a:pt x="4610100" y="490755"/>
                    <a:pt x="4567455" y="533400"/>
                    <a:pt x="45148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7FBFF"/>
            </a:solidFill>
            <a:ln w="9525">
              <a:solidFill>
                <a:srgbClr val="D6E7F8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028700" y="2876550"/>
              <a:ext cx="266700" cy="266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C53030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104900" y="29527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</a:path>
              </a:pathLst>
            </a:custGeom>
            <a:noFill/>
            <a:ln w="19050">
              <a:solidFill>
                <a:srgbClr val="C53030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104900" y="29527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C53030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6858000" y="2876550"/>
              <a:ext cx="266700" cy="266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2F855A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934200" y="2962275"/>
              <a:ext cx="123825" cy="95250"/>
            </a:xfrm>
            <a:custGeom>
              <a:avLst/>
              <a:gdLst/>
              <a:ahLst/>
              <a:cxnLst/>
              <a:rect l="l" t="t" r="r" b="b"/>
              <a:pathLst>
                <a:path w="123825" h="95250">
                  <a:moveTo>
                    <a:pt x="0" y="47625"/>
                  </a:moveTo>
                  <a:lnTo>
                    <a:pt x="47625" y="95250"/>
                  </a:lnTo>
                  <a:lnTo>
                    <a:pt x="123825" y="0"/>
                  </a:lnTo>
                </a:path>
              </a:pathLst>
            </a:custGeom>
            <a:noFill/>
            <a:ln w="23812" cap="rnd">
              <a:solidFill>
                <a:srgbClr val="2F855A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42466" y="28298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41704" y="2994660"/>
              <a:ext cx="18295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 6–9 个月完成系统打通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71766" y="282987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271004" y="29946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四周内完成多源数据接入</a:t>
              </a:r>
            </a:p>
          </p:txBody>
        </p:sp>
        <p:sp>
          <p:nvSpPr>
            <p:cNvPr id="34" name="Freeform 34"/>
            <p:cNvSpPr/>
            <p:nvPr/>
          </p:nvSpPr>
          <p:spPr>
            <a:xfrm>
              <a:off x="876300" y="3409950"/>
              <a:ext cx="4610100" cy="533400"/>
            </a:xfrm>
            <a:custGeom>
              <a:avLst/>
              <a:gdLst/>
              <a:ahLst/>
              <a:cxnLst/>
              <a:rect l="l" t="t" r="r" b="b"/>
              <a:pathLst>
                <a:path w="4610100" h="53340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438150"/>
                  </a:lnTo>
                  <a:cubicBezTo>
                    <a:pt x="4610100" y="490755"/>
                    <a:pt x="4567455" y="533400"/>
                    <a:pt x="45148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6705600" y="3409950"/>
              <a:ext cx="4610100" cy="533400"/>
            </a:xfrm>
            <a:custGeom>
              <a:avLst/>
              <a:gdLst/>
              <a:ahLst/>
              <a:cxnLst/>
              <a:rect l="l" t="t" r="r" b="b"/>
              <a:pathLst>
                <a:path w="4610100" h="53340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438150"/>
                  </a:lnTo>
                  <a:cubicBezTo>
                    <a:pt x="4610100" y="490755"/>
                    <a:pt x="4567455" y="533400"/>
                    <a:pt x="45148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7FBFF"/>
            </a:solidFill>
            <a:ln w="9525">
              <a:solidFill>
                <a:srgbClr val="D6E7F8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1028700" y="3543300"/>
              <a:ext cx="266700" cy="266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C53030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1104900" y="36195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</a:path>
              </a:pathLst>
            </a:custGeom>
            <a:noFill/>
            <a:ln w="19050">
              <a:solidFill>
                <a:srgbClr val="C53030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1104900" y="36195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C53030"/>
              </a:solidFill>
            </a:ln>
          </p:spPr>
        </p:sp>
        <p:sp>
          <p:nvSpPr>
            <p:cNvPr id="39" name="Ellipse 39"/>
            <p:cNvSpPr/>
            <p:nvPr/>
          </p:nvSpPr>
          <p:spPr>
            <a:xfrm>
              <a:off x="6858000" y="3543300"/>
              <a:ext cx="266700" cy="266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2F855A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6934200" y="3629025"/>
              <a:ext cx="123825" cy="95250"/>
            </a:xfrm>
            <a:custGeom>
              <a:avLst/>
              <a:gdLst/>
              <a:ahLst/>
              <a:cxnLst/>
              <a:rect l="l" t="t" r="r" b="b"/>
              <a:pathLst>
                <a:path w="123825" h="95250">
                  <a:moveTo>
                    <a:pt x="0" y="47625"/>
                  </a:moveTo>
                  <a:lnTo>
                    <a:pt x="47625" y="95250"/>
                  </a:lnTo>
                  <a:lnTo>
                    <a:pt x="123825" y="0"/>
                  </a:lnTo>
                </a:path>
              </a:pathLst>
            </a:custGeom>
            <a:noFill/>
            <a:ln w="23812" cap="rnd">
              <a:solidFill>
                <a:srgbClr val="2F855A"/>
              </a:solidFill>
              <a:round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442466" y="3496628"/>
              <a:ext cx="504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41704" y="36614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能力依赖稀缺算法与工程人才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271766" y="3496628"/>
              <a:ext cx="5046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271004" y="3661410"/>
              <a:ext cx="20348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预置行业AI模型，即开即用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876300" y="4076700"/>
              <a:ext cx="4610100" cy="533400"/>
            </a:xfrm>
            <a:custGeom>
              <a:avLst/>
              <a:gdLst/>
              <a:ahLst/>
              <a:cxnLst/>
              <a:rect l="l" t="t" r="r" b="b"/>
              <a:pathLst>
                <a:path w="4610100" h="53340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438150"/>
                  </a:lnTo>
                  <a:cubicBezTo>
                    <a:pt x="4610100" y="490755"/>
                    <a:pt x="4567455" y="533400"/>
                    <a:pt x="45148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6705600" y="4076700"/>
              <a:ext cx="4610100" cy="533400"/>
            </a:xfrm>
            <a:custGeom>
              <a:avLst/>
              <a:gdLst/>
              <a:ahLst/>
              <a:cxnLst/>
              <a:rect l="l" t="t" r="r" b="b"/>
              <a:pathLst>
                <a:path w="4610100" h="53340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438150"/>
                  </a:lnTo>
                  <a:cubicBezTo>
                    <a:pt x="4610100" y="490755"/>
                    <a:pt x="4567455" y="533400"/>
                    <a:pt x="45148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7FBFF"/>
            </a:solidFill>
            <a:ln w="9525">
              <a:solidFill>
                <a:srgbClr val="D6E7F8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1028700" y="4210050"/>
              <a:ext cx="266700" cy="266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C53030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1104900" y="42862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</a:path>
              </a:pathLst>
            </a:custGeom>
            <a:noFill/>
            <a:ln w="19050">
              <a:solidFill>
                <a:srgbClr val="C53030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1104900" y="428625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C53030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6858000" y="4210050"/>
              <a:ext cx="266700" cy="266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2F855A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6934200" y="4295775"/>
              <a:ext cx="123825" cy="95250"/>
            </a:xfrm>
            <a:custGeom>
              <a:avLst/>
              <a:gdLst/>
              <a:ahLst/>
              <a:cxnLst/>
              <a:rect l="l" t="t" r="r" b="b"/>
              <a:pathLst>
                <a:path w="123825" h="95250">
                  <a:moveTo>
                    <a:pt x="0" y="47625"/>
                  </a:moveTo>
                  <a:lnTo>
                    <a:pt x="47625" y="95250"/>
                  </a:lnTo>
                  <a:lnTo>
                    <a:pt x="123825" y="0"/>
                  </a:lnTo>
                </a:path>
              </a:pathLst>
            </a:custGeom>
            <a:noFill/>
            <a:ln w="23812" cap="rnd">
              <a:solidFill>
                <a:srgbClr val="2F855A"/>
              </a:solidFill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442466" y="41633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441704" y="43281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自动化孤岛运行，跨渠道断裂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271766" y="416337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71004" y="4328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自动化闭环联动全域触达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876300" y="4743450"/>
              <a:ext cx="4610100" cy="533400"/>
            </a:xfrm>
            <a:custGeom>
              <a:avLst/>
              <a:gdLst/>
              <a:ahLst/>
              <a:cxnLst/>
              <a:rect l="l" t="t" r="r" b="b"/>
              <a:pathLst>
                <a:path w="4610100" h="53340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438150"/>
                  </a:lnTo>
                  <a:cubicBezTo>
                    <a:pt x="4610100" y="490755"/>
                    <a:pt x="4567455" y="533400"/>
                    <a:pt x="45148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6705600" y="4743450"/>
              <a:ext cx="4610100" cy="533400"/>
            </a:xfrm>
            <a:custGeom>
              <a:avLst/>
              <a:gdLst/>
              <a:ahLst/>
              <a:cxnLst/>
              <a:rect l="l" t="t" r="r" b="b"/>
              <a:pathLst>
                <a:path w="4610100" h="533400">
                  <a:moveTo>
                    <a:pt x="95250" y="0"/>
                  </a:moveTo>
                  <a:lnTo>
                    <a:pt x="4514850" y="0"/>
                  </a:lnTo>
                  <a:cubicBezTo>
                    <a:pt x="4567455" y="0"/>
                    <a:pt x="4610100" y="42645"/>
                    <a:pt x="4610100" y="95250"/>
                  </a:cubicBezTo>
                  <a:lnTo>
                    <a:pt x="4610100" y="438150"/>
                  </a:lnTo>
                  <a:cubicBezTo>
                    <a:pt x="4610100" y="490755"/>
                    <a:pt x="4567455" y="533400"/>
                    <a:pt x="4514850" y="533400"/>
                  </a:cubicBezTo>
                  <a:lnTo>
                    <a:pt x="95250" y="533400"/>
                  </a:lnTo>
                  <a:cubicBezTo>
                    <a:pt x="42645" y="533400"/>
                    <a:pt x="0" y="490755"/>
                    <a:pt x="0" y="4381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7FBFF"/>
            </a:solidFill>
            <a:ln w="9525">
              <a:solidFill>
                <a:srgbClr val="D6E7F8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1028700" y="4876800"/>
              <a:ext cx="266700" cy="266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C53030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1104900" y="49530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0" y="0"/>
                  </a:moveTo>
                  <a:lnTo>
                    <a:pt x="114300" y="114300"/>
                  </a:lnTo>
                </a:path>
              </a:pathLst>
            </a:custGeom>
            <a:noFill/>
            <a:ln w="19050">
              <a:solidFill>
                <a:srgbClr val="C53030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1104900" y="49530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C53030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6858000" y="4876800"/>
              <a:ext cx="266700" cy="2667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2F855A"/>
              </a:solidFill>
            </a:ln>
          </p:spPr>
        </p:sp>
        <p:sp>
          <p:nvSpPr>
            <p:cNvPr id="62" name="Freeform 62"/>
            <p:cNvSpPr/>
            <p:nvPr/>
          </p:nvSpPr>
          <p:spPr>
            <a:xfrm>
              <a:off x="6934200" y="4962525"/>
              <a:ext cx="123825" cy="95250"/>
            </a:xfrm>
            <a:custGeom>
              <a:avLst/>
              <a:gdLst/>
              <a:ahLst/>
              <a:cxnLst/>
              <a:rect l="l" t="t" r="r" b="b"/>
              <a:pathLst>
                <a:path w="123825" h="95250">
                  <a:moveTo>
                    <a:pt x="0" y="47625"/>
                  </a:moveTo>
                  <a:lnTo>
                    <a:pt x="47625" y="95250"/>
                  </a:lnTo>
                  <a:lnTo>
                    <a:pt x="123825" y="0"/>
                  </a:lnTo>
                </a:path>
              </a:pathLst>
            </a:custGeom>
            <a:noFill/>
            <a:ln w="23812" cap="rnd">
              <a:solidFill>
                <a:srgbClr val="2F855A"/>
              </a:solidFill>
              <a:round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442466" y="48301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441704" y="49949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效果归因模糊，复盘滞后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71766" y="48301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71004" y="49949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统一指标体系与全域度量</a:t>
              </a:r>
            </a:p>
          </p:txBody>
        </p:sp>
        <p:sp>
          <p:nvSpPr>
            <p:cNvPr id="67" name="Freeform 67"/>
            <p:cNvSpPr/>
            <p:nvPr/>
          </p:nvSpPr>
          <p:spPr>
            <a:xfrm>
              <a:off x="571500" y="5772150"/>
              <a:ext cx="5219700" cy="285750"/>
            </a:xfrm>
            <a:custGeom>
              <a:avLst/>
              <a:gdLst/>
              <a:ahLst/>
              <a:cxnLst/>
              <a:rect l="l" t="t" r="r" b="b"/>
              <a:pathLst>
                <a:path w="5219700" h="285750">
                  <a:moveTo>
                    <a:pt x="76200" y="0"/>
                  </a:moveTo>
                  <a:lnTo>
                    <a:pt x="5143500" y="0"/>
                  </a:lnTo>
                  <a:cubicBezTo>
                    <a:pt x="5185584" y="0"/>
                    <a:pt x="5219700" y="34116"/>
                    <a:pt x="5219700" y="76200"/>
                  </a:cubicBezTo>
                  <a:lnTo>
                    <a:pt x="5219700" y="209550"/>
                  </a:lnTo>
                  <a:cubicBezTo>
                    <a:pt x="5219700" y="251634"/>
                    <a:pt x="5185584" y="285750"/>
                    <a:pt x="5143500" y="285750"/>
                  </a:cubicBezTo>
                  <a:lnTo>
                    <a:pt x="76200" y="285750"/>
                  </a:lnTo>
                  <a:cubicBezTo>
                    <a:pt x="34116" y="285750"/>
                    <a:pt x="0" y="251634"/>
                    <a:pt x="0" y="20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68" name="Freeform 68"/>
            <p:cNvSpPr/>
            <p:nvPr/>
          </p:nvSpPr>
          <p:spPr>
            <a:xfrm>
              <a:off x="6400800" y="5772150"/>
              <a:ext cx="5219700" cy="285750"/>
            </a:xfrm>
            <a:custGeom>
              <a:avLst/>
              <a:gdLst/>
              <a:ahLst/>
              <a:cxnLst/>
              <a:rect l="l" t="t" r="r" b="b"/>
              <a:pathLst>
                <a:path w="5219700" h="285750">
                  <a:moveTo>
                    <a:pt x="76200" y="0"/>
                  </a:moveTo>
                  <a:lnTo>
                    <a:pt x="5143500" y="0"/>
                  </a:lnTo>
                  <a:cubicBezTo>
                    <a:pt x="5185584" y="0"/>
                    <a:pt x="5219700" y="34116"/>
                    <a:pt x="5219700" y="76200"/>
                  </a:cubicBezTo>
                  <a:lnTo>
                    <a:pt x="5219700" y="209550"/>
                  </a:lnTo>
                  <a:cubicBezTo>
                    <a:pt x="5219700" y="251634"/>
                    <a:pt x="5185584" y="285750"/>
                    <a:pt x="5143500" y="285750"/>
                  </a:cubicBezTo>
                  <a:lnTo>
                    <a:pt x="76200" y="285750"/>
                  </a:lnTo>
                  <a:cubicBezTo>
                    <a:pt x="34116" y="285750"/>
                    <a:pt x="0" y="251634"/>
                    <a:pt x="0" y="209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751963" y="58493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关键变量对比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81263" y="58493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不同路径影响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4151376" y="1600200"/>
            <a:ext cx="3889248" cy="4019550"/>
            <a:chOff x="4151376" y="1600200"/>
            <a:chExt cx="3889248" cy="4019550"/>
          </a:xfrm>
        </p:grpSpPr>
        <p:sp>
          <p:nvSpPr>
            <p:cNvPr id="72" name="Freeform 72"/>
            <p:cNvSpPr/>
            <p:nvPr/>
          </p:nvSpPr>
          <p:spPr>
            <a:xfrm>
              <a:off x="4400550" y="1600200"/>
              <a:ext cx="3390900" cy="419100"/>
            </a:xfrm>
            <a:custGeom>
              <a:avLst/>
              <a:gdLst/>
              <a:ahLst/>
              <a:cxnLst/>
              <a:rect l="l" t="t" r="r" b="b"/>
              <a:pathLst>
                <a:path w="3390900" h="419100">
                  <a:moveTo>
                    <a:pt x="209550" y="0"/>
                  </a:moveTo>
                  <a:lnTo>
                    <a:pt x="3181350" y="0"/>
                  </a:lnTo>
                  <a:cubicBezTo>
                    <a:pt x="3297081" y="0"/>
                    <a:pt x="3390900" y="93819"/>
                    <a:pt x="3390900" y="209550"/>
                  </a:cubicBezTo>
                  <a:lnTo>
                    <a:pt x="3390900" y="209550"/>
                  </a:lnTo>
                  <a:cubicBezTo>
                    <a:pt x="3390900" y="325281"/>
                    <a:pt x="3297081" y="419100"/>
                    <a:pt x="3181350" y="419100"/>
                  </a:cubicBezTo>
                  <a:lnTo>
                    <a:pt x="209550" y="419100"/>
                  </a:lnTo>
                  <a:cubicBezTo>
                    <a:pt x="93819" y="419100"/>
                    <a:pt x="0" y="325281"/>
                    <a:pt x="0" y="209550"/>
                  </a:cubicBez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4455978" y="1721168"/>
              <a:ext cx="32800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从“项目交付”切换到“持续增长系统”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4876800" y="2895600"/>
              <a:ext cx="2438400" cy="1943100"/>
            </a:xfrm>
            <a:custGeom>
              <a:avLst/>
              <a:gdLst/>
              <a:ahLst/>
              <a:cxnLst/>
              <a:rect l="l" t="t" r="r" b="b"/>
              <a:pathLst>
                <a:path w="2438400" h="1943100">
                  <a:moveTo>
                    <a:pt x="133350" y="0"/>
                  </a:moveTo>
                  <a:lnTo>
                    <a:pt x="2305050" y="0"/>
                  </a:lnTo>
                  <a:cubicBezTo>
                    <a:pt x="2378697" y="0"/>
                    <a:pt x="2438400" y="59703"/>
                    <a:pt x="2438400" y="133350"/>
                  </a:cubicBezTo>
                  <a:lnTo>
                    <a:pt x="2438400" y="1809750"/>
                  </a:lnTo>
                  <a:cubicBezTo>
                    <a:pt x="2438400" y="1883397"/>
                    <a:pt x="2378697" y="1943100"/>
                    <a:pt x="2305050" y="1943100"/>
                  </a:cubicBezTo>
                  <a:lnTo>
                    <a:pt x="133350" y="1943100"/>
                  </a:lnTo>
                  <a:cubicBezTo>
                    <a:pt x="59703" y="1943100"/>
                    <a:pt x="0" y="1883397"/>
                    <a:pt x="0" y="180975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5571201" y="30680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决策差异的本质</a:t>
              </a:r>
            </a:p>
          </p:txBody>
        </p:sp>
        <p:sp>
          <p:nvSpPr>
            <p:cNvPr id="76" name="Line 76"/>
            <p:cNvSpPr/>
            <p:nvPr/>
          </p:nvSpPr>
          <p:spPr>
            <a:xfrm>
              <a:off x="5162550" y="342900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5162550" y="388620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8" name="Line 78"/>
            <p:cNvSpPr/>
            <p:nvPr/>
          </p:nvSpPr>
          <p:spPr>
            <a:xfrm>
              <a:off x="5162550" y="4343400"/>
              <a:ext cx="1866900" cy="9525"/>
            </a:xfrm>
            <a:custGeom>
              <a:avLst/>
              <a:gdLst/>
              <a:ahLst/>
              <a:cxnLst/>
              <a:rect l="l" t="t" r="r" b="b"/>
              <a:pathLst>
                <a:path w="1866900" h="9525">
                  <a:moveTo>
                    <a:pt x="0" y="0"/>
                  </a:moveTo>
                  <a:lnTo>
                    <a:pt x="18669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5487086" y="3324225"/>
              <a:ext cx="121782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6–9月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666613" y="36966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传统打通周期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509489" y="3781425"/>
              <a:ext cx="117302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4周内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666613" y="41538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平台接入上线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151376" y="4432935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时间越长，试错成本越高；闭环越完整，增长越可复制</a:t>
              </a:r>
            </a:p>
          </p:txBody>
        </p:sp>
        <p:sp>
          <p:nvSpPr>
            <p:cNvPr id="84" name="Freeform 84"/>
            <p:cNvSpPr/>
            <p:nvPr/>
          </p:nvSpPr>
          <p:spPr>
            <a:xfrm>
              <a:off x="5048250" y="5267325"/>
              <a:ext cx="523875" cy="352425"/>
            </a:xfrm>
            <a:custGeom>
              <a:avLst/>
              <a:gdLst/>
              <a:ahLst/>
              <a:cxnLst/>
              <a:rect l="l" t="t" r="r" b="b"/>
              <a:pathLst>
                <a:path w="523875" h="352425">
                  <a:moveTo>
                    <a:pt x="523875" y="0"/>
                  </a:moveTo>
                  <a:cubicBezTo>
                    <a:pt x="523875" y="161925"/>
                    <a:pt x="285750" y="276225"/>
                    <a:pt x="0" y="352425"/>
                  </a:cubicBez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6619875" y="5267325"/>
              <a:ext cx="523875" cy="352425"/>
            </a:xfrm>
            <a:custGeom>
              <a:avLst/>
              <a:gdLst/>
              <a:ahLst/>
              <a:cxnLst/>
              <a:rect l="l" t="t" r="r" b="b"/>
              <a:pathLst>
                <a:path w="523875" h="352425">
                  <a:moveTo>
                    <a:pt x="0" y="0"/>
                  </a:moveTo>
                  <a:cubicBezTo>
                    <a:pt x="0" y="161925"/>
                    <a:pt x="238125" y="276225"/>
                    <a:pt x="523875" y="352425"/>
                  </a:cubicBezTo>
                </a:path>
              </a:pathLst>
            </a:custGeom>
            <a:noFill/>
            <a:ln w="14288">
              <a:solidFill>
                <a:srgbClr val="A0AEC0"/>
              </a:solidFill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857250"/>
            <a:ext cx="12477750" cy="8477250"/>
            <a:chOff x="0" y="-857250"/>
            <a:chExt cx="12477750" cy="8477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905750" y="-857250"/>
              <a:ext cx="4000500" cy="40005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4191000"/>
              <a:ext cx="3429000" cy="3429000"/>
            </a:xfrm>
            <a:prstGeom prst="ellipse">
              <a:avLst/>
            </a:prstGeom>
            <a:solidFill>
              <a:schemeClr val="accent3">
                <a:alpha val="6000"/>
              </a:schemeClr>
            </a:solidFill>
            <a:ln>
              <a:noFill/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1524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6324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667702"/>
            <a:ext cx="10762679" cy="5977414"/>
            <a:chOff x="557784" y="667702"/>
            <a:chExt cx="10762679" cy="5977414"/>
          </a:xfrm>
        </p:grpSpPr>
        <p:sp>
          <p:nvSpPr>
            <p:cNvPr id="8" name="TextBox 8"/>
            <p:cNvSpPr txBox="1"/>
            <p:nvPr/>
          </p:nvSpPr>
          <p:spPr>
            <a:xfrm>
              <a:off x="566166" y="667702"/>
              <a:ext cx="8918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spc="105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PROOFGRID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71500" y="914400"/>
              <a:ext cx="1600200" cy="38100"/>
            </a:xfrm>
            <a:custGeom>
              <a:avLst/>
              <a:gdLst/>
              <a:ahLst/>
              <a:cxnLst/>
              <a:rect l="l" t="t" r="r" b="b"/>
              <a:pathLst>
                <a:path w="1600200" h="38100">
                  <a:moveTo>
                    <a:pt x="19050" y="0"/>
                  </a:moveTo>
                  <a:lnTo>
                    <a:pt x="1581150" y="0"/>
                  </a:lnTo>
                  <a:cubicBezTo>
                    <a:pt x="1591671" y="0"/>
                    <a:pt x="1600200" y="8529"/>
                    <a:pt x="1600200" y="19050"/>
                  </a:cubicBezTo>
                  <a:lnTo>
                    <a:pt x="1600200" y="19050"/>
                  </a:lnTo>
                  <a:cubicBezTo>
                    <a:pt x="1600200" y="29571"/>
                    <a:pt x="1591671" y="38100"/>
                    <a:pt x="1581150" y="38100"/>
                  </a:cubicBezTo>
                  <a:lnTo>
                    <a:pt x="19050" y="38100"/>
                  </a:lnTo>
                  <a:cubicBezTo>
                    <a:pt x="8529" y="38100"/>
                    <a:pt x="0" y="29571"/>
                    <a:pt x="0" y="190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57784" y="1061085"/>
              <a:ext cx="28501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先行者的成绩单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6738" y="6483191"/>
              <a:ext cx="126514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05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72379" y="6483191"/>
              <a:ext cx="74808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 page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71500" y="1790700"/>
            <a:ext cx="11049000" cy="3981450"/>
            <a:chOff x="571500" y="1790700"/>
            <a:chExt cx="11049000" cy="3981450"/>
          </a:xfrm>
        </p:grpSpPr>
        <p:sp>
          <p:nvSpPr>
            <p:cNvPr id="14" name="Freeform 14"/>
            <p:cNvSpPr/>
            <p:nvPr/>
          </p:nvSpPr>
          <p:spPr>
            <a:xfrm>
              <a:off x="571500" y="1790700"/>
              <a:ext cx="11049000" cy="647700"/>
            </a:xfrm>
            <a:custGeom>
              <a:avLst/>
              <a:gdLst/>
              <a:ahLst/>
              <a:cxnLst/>
              <a:rect l="l" t="t" r="r" b="b"/>
              <a:pathLst>
                <a:path w="11049000" h="6477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533400"/>
                  </a:lnTo>
                  <a:cubicBezTo>
                    <a:pt x="11049000" y="596526"/>
                    <a:pt x="10997826" y="647700"/>
                    <a:pt x="10934700" y="647700"/>
                  </a:cubicBezTo>
                  <a:lnTo>
                    <a:pt x="114300" y="647700"/>
                  </a:lnTo>
                  <a:cubicBezTo>
                    <a:pt x="51174" y="647700"/>
                    <a:pt x="0" y="596526"/>
                    <a:pt x="0" y="5334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chemeClr val="accent6"/>
                </a:gs>
                <a:gs pos="100000">
                  <a:schemeClr val="lt2"/>
                </a:gs>
              </a:gsLst>
              <a:lin ang="0" scaled="1"/>
            </a:gradFill>
            <a:ln w="9525">
              <a:solidFill>
                <a:schemeClr val="accent4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30580" y="2028825"/>
              <a:ext cx="52856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以下来自同体量企业的真实运行数据，全部在90天内达成。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571500" y="2724150"/>
              <a:ext cx="3429000" cy="3048000"/>
            </a:xfrm>
            <a:custGeom>
              <a:avLst/>
              <a:gdLst/>
              <a:ahLst/>
              <a:cxnLst/>
              <a:rect l="l" t="t" r="r" b="b"/>
              <a:pathLst>
                <a:path w="3429000" h="3048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2933700"/>
                  </a:lnTo>
                  <a:cubicBezTo>
                    <a:pt x="3429000" y="2996826"/>
                    <a:pt x="3377826" y="3048000"/>
                    <a:pt x="3314700" y="3048000"/>
                  </a:cubicBezTo>
                  <a:lnTo>
                    <a:pt x="114300" y="3048000"/>
                  </a:lnTo>
                  <a:cubicBezTo>
                    <a:pt x="51174" y="3048000"/>
                    <a:pt x="0" y="2996826"/>
                    <a:pt x="0" y="2933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4381500" y="2724150"/>
              <a:ext cx="3429000" cy="3048000"/>
            </a:xfrm>
            <a:custGeom>
              <a:avLst/>
              <a:gdLst/>
              <a:ahLst/>
              <a:cxnLst/>
              <a:rect l="l" t="t" r="r" b="b"/>
              <a:pathLst>
                <a:path w="3429000" h="3048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2933700"/>
                  </a:lnTo>
                  <a:cubicBezTo>
                    <a:pt x="3429000" y="2996826"/>
                    <a:pt x="3377826" y="3048000"/>
                    <a:pt x="3314700" y="3048000"/>
                  </a:cubicBezTo>
                  <a:lnTo>
                    <a:pt x="114300" y="3048000"/>
                  </a:lnTo>
                  <a:cubicBezTo>
                    <a:pt x="51174" y="3048000"/>
                    <a:pt x="0" y="2996826"/>
                    <a:pt x="0" y="2933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191500" y="2724150"/>
              <a:ext cx="3429000" cy="3048000"/>
            </a:xfrm>
            <a:custGeom>
              <a:avLst/>
              <a:gdLst/>
              <a:ahLst/>
              <a:cxnLst/>
              <a:rect l="l" t="t" r="r" b="b"/>
              <a:pathLst>
                <a:path w="3429000" h="30480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2933700"/>
                  </a:lnTo>
                  <a:cubicBezTo>
                    <a:pt x="3429000" y="2996826"/>
                    <a:pt x="3377826" y="3048000"/>
                    <a:pt x="3314700" y="3048000"/>
                  </a:cubicBezTo>
                  <a:lnTo>
                    <a:pt x="114300" y="3048000"/>
                  </a:lnTo>
                  <a:cubicBezTo>
                    <a:pt x="51174" y="3048000"/>
                    <a:pt x="0" y="2996826"/>
                    <a:pt x="0" y="2933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71500" y="2724150"/>
              <a:ext cx="3429000" cy="533400"/>
            </a:xfrm>
            <a:custGeom>
              <a:avLst/>
              <a:gdLst/>
              <a:ahLst/>
              <a:cxnLst/>
              <a:rect l="l" t="t" r="r" b="b"/>
              <a:pathLst>
                <a:path w="3429000" h="5334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19100"/>
                  </a:lnTo>
                  <a:cubicBezTo>
                    <a:pt x="3429000" y="482226"/>
                    <a:pt x="3377826" y="533400"/>
                    <a:pt x="3314700" y="533400"/>
                  </a:cubicBezTo>
                  <a:lnTo>
                    <a:pt x="114300" y="533400"/>
                  </a:lnTo>
                  <a:cubicBezTo>
                    <a:pt x="51174" y="533400"/>
                    <a:pt x="0" y="482226"/>
                    <a:pt x="0" y="419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381500" y="2724150"/>
              <a:ext cx="3429000" cy="533400"/>
            </a:xfrm>
            <a:custGeom>
              <a:avLst/>
              <a:gdLst/>
              <a:ahLst/>
              <a:cxnLst/>
              <a:rect l="l" t="t" r="r" b="b"/>
              <a:pathLst>
                <a:path w="3429000" h="5334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19100"/>
                  </a:lnTo>
                  <a:cubicBezTo>
                    <a:pt x="3429000" y="482226"/>
                    <a:pt x="3377826" y="533400"/>
                    <a:pt x="3314700" y="533400"/>
                  </a:cubicBezTo>
                  <a:lnTo>
                    <a:pt x="114300" y="533400"/>
                  </a:lnTo>
                  <a:cubicBezTo>
                    <a:pt x="51174" y="533400"/>
                    <a:pt x="0" y="482226"/>
                    <a:pt x="0" y="419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8191500" y="2724150"/>
              <a:ext cx="3429000" cy="533400"/>
            </a:xfrm>
            <a:custGeom>
              <a:avLst/>
              <a:gdLst/>
              <a:ahLst/>
              <a:cxnLst/>
              <a:rect l="l" t="t" r="r" b="b"/>
              <a:pathLst>
                <a:path w="3429000" h="5334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19100"/>
                  </a:lnTo>
                  <a:cubicBezTo>
                    <a:pt x="3429000" y="482226"/>
                    <a:pt x="3377826" y="533400"/>
                    <a:pt x="3314700" y="533400"/>
                  </a:cubicBezTo>
                  <a:lnTo>
                    <a:pt x="114300" y="533400"/>
                  </a:lnTo>
                  <a:cubicBezTo>
                    <a:pt x="51174" y="533400"/>
                    <a:pt x="0" y="482226"/>
                    <a:pt x="0" y="419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29056" y="28727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某快消集团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39056" y="28727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某连锁零售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49056" y="287274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某金融科技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2866" y="3468052"/>
              <a:ext cx="11233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DATA × AI OFFER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2866" y="3468052"/>
              <a:ext cx="2146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AUTOMATION × ORCHESTRATION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52866" y="3468052"/>
              <a:ext cx="14145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GENAI × ATTRIBUTION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22960" y="379095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+22%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1342" y="42357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月度复购率提升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32960" y="3790950"/>
              <a:ext cx="21139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5天→4小时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41342" y="42357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活动上线周期压缩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42960" y="3790950"/>
              <a:ext cx="110581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rgbClr val="2F855A"/>
                  </a:solidFill>
                  <a:latin typeface="+mj-lt"/>
                  <a:ea typeface="+mj-ea"/>
                  <a:cs typeface="+mj-cs"/>
                </a:rPr>
                <a:t>-34%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51342" y="42357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合规投放点击成本下降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38200" y="46482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4648200" y="46482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8458200" y="46482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31342" y="4845368"/>
              <a:ext cx="17493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接入9个渠道数据后，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1342" y="5112068"/>
              <a:ext cx="29132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定向促销使ROI从1:2.3升至1:5.8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641342" y="48453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跨渠道营销编排自动化后，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41342" y="5112068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季度人力成本节省240工时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51342" y="4845368"/>
              <a:ext cx="22892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AI内容生成结合效果归因，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51342" y="51120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实现零合规事故稳定投放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838200" y="5381625"/>
              <a:ext cx="971550" cy="247650"/>
            </a:xfrm>
            <a:custGeom>
              <a:avLst/>
              <a:gdLst/>
              <a:ahLst/>
              <a:cxnLst/>
              <a:rect l="l" t="t" r="r" b="b"/>
              <a:pathLst>
                <a:path w="971550" h="247650">
                  <a:moveTo>
                    <a:pt x="123825" y="0"/>
                  </a:moveTo>
                  <a:lnTo>
                    <a:pt x="847725" y="0"/>
                  </a:lnTo>
                  <a:cubicBezTo>
                    <a:pt x="916112" y="0"/>
                    <a:pt x="971550" y="55438"/>
                    <a:pt x="971550" y="123825"/>
                  </a:cubicBezTo>
                  <a:lnTo>
                    <a:pt x="971550" y="123825"/>
                  </a:lnTo>
                  <a:cubicBezTo>
                    <a:pt x="971550" y="192212"/>
                    <a:pt x="916112" y="247650"/>
                    <a:pt x="8477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4" name="Freeform 44"/>
            <p:cNvSpPr/>
            <p:nvPr/>
          </p:nvSpPr>
          <p:spPr>
            <a:xfrm>
              <a:off x="4648200" y="5381625"/>
              <a:ext cx="1123950" cy="247650"/>
            </a:xfrm>
            <a:custGeom>
              <a:avLst/>
              <a:gdLst/>
              <a:ahLst/>
              <a:cxnLst/>
              <a:rect l="l" t="t" r="r" b="b"/>
              <a:pathLst>
                <a:path w="1123950" h="247650">
                  <a:moveTo>
                    <a:pt x="123825" y="0"/>
                  </a:moveTo>
                  <a:lnTo>
                    <a:pt x="1000125" y="0"/>
                  </a:lnTo>
                  <a:cubicBezTo>
                    <a:pt x="1068512" y="0"/>
                    <a:pt x="1123950" y="55438"/>
                    <a:pt x="1123950" y="123825"/>
                  </a:cubicBezTo>
                  <a:lnTo>
                    <a:pt x="1123950" y="123825"/>
                  </a:lnTo>
                  <a:cubicBezTo>
                    <a:pt x="1123950" y="192212"/>
                    <a:pt x="1068512" y="247650"/>
                    <a:pt x="10001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8458200" y="5381625"/>
              <a:ext cx="895350" cy="247650"/>
            </a:xfrm>
            <a:custGeom>
              <a:avLst/>
              <a:gdLst/>
              <a:ahLst/>
              <a:cxnLst/>
              <a:rect l="l" t="t" r="r" b="b"/>
              <a:pathLst>
                <a:path w="895350" h="247650">
                  <a:moveTo>
                    <a:pt x="123825" y="0"/>
                  </a:moveTo>
                  <a:lnTo>
                    <a:pt x="771525" y="0"/>
                  </a:lnTo>
                  <a:cubicBezTo>
                    <a:pt x="839912" y="0"/>
                    <a:pt x="895350" y="55438"/>
                    <a:pt x="895350" y="123825"/>
                  </a:cubicBezTo>
                  <a:lnTo>
                    <a:pt x="895350" y="123825"/>
                  </a:lnTo>
                  <a:cubicBezTo>
                    <a:pt x="895350" y="192212"/>
                    <a:pt x="839912" y="247650"/>
                    <a:pt x="771525" y="247650"/>
                  </a:cubicBezTo>
                  <a:lnTo>
                    <a:pt x="123825" y="247650"/>
                  </a:lnTo>
                  <a:cubicBezTo>
                    <a:pt x="55438" y="247650"/>
                    <a:pt x="0" y="192212"/>
                    <a:pt x="0" y="123825"/>
                  </a:cubicBezTo>
                  <a:lnTo>
                    <a:pt x="0" y="123825"/>
                  </a:lnTo>
                  <a:cubicBezTo>
                    <a:pt x="0" y="55438"/>
                    <a:pt x="55438" y="0"/>
                    <a:pt x="1238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21804" y="54397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833795" y="5439728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603704" y="54397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5905500"/>
            <a:ext cx="11049000" cy="305181"/>
            <a:chOff x="571500" y="5905500"/>
            <a:chExt cx="11049000" cy="305181"/>
          </a:xfrm>
        </p:grpSpPr>
        <p:sp>
          <p:nvSpPr>
            <p:cNvPr id="50" name="Freeform 50"/>
            <p:cNvSpPr/>
            <p:nvPr/>
          </p:nvSpPr>
          <p:spPr>
            <a:xfrm>
              <a:off x="571500" y="5905500"/>
              <a:ext cx="11049000" cy="304800"/>
            </a:xfrm>
            <a:custGeom>
              <a:avLst/>
              <a:gdLst/>
              <a:ahLst/>
              <a:cxnLst/>
              <a:rect l="l" t="t" r="r" b="b"/>
              <a:pathLst>
                <a:path w="11049000" h="304800">
                  <a:moveTo>
                    <a:pt x="76200" y="0"/>
                  </a:moveTo>
                  <a:lnTo>
                    <a:pt x="10972800" y="0"/>
                  </a:lnTo>
                  <a:cubicBezTo>
                    <a:pt x="11014884" y="0"/>
                    <a:pt x="11049000" y="34116"/>
                    <a:pt x="11049000" y="76200"/>
                  </a:cubicBezTo>
                  <a:lnTo>
                    <a:pt x="11049000" y="228600"/>
                  </a:lnTo>
                  <a:cubicBezTo>
                    <a:pt x="11049000" y="270684"/>
                    <a:pt x="11014884" y="304800"/>
                    <a:pt x="10972800" y="304800"/>
                  </a:cubicBezTo>
                  <a:lnTo>
                    <a:pt x="76200" y="304800"/>
                  </a:lnTo>
                  <a:cubicBezTo>
                    <a:pt x="34116" y="304800"/>
                    <a:pt x="0" y="270684"/>
                    <a:pt x="0" y="2286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752475" y="6010275"/>
              <a:ext cx="95250" cy="952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46404" y="5975985"/>
              <a:ext cx="68141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证明逻辑：数据整合打底，AI分析与自动化放大执行效率，最终通过归因与度量锁定收益。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133350"/>
            <a:ext cx="12192000" cy="6991350"/>
            <a:chOff x="0" y="-133350"/>
            <a:chExt cx="12192000" cy="69913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571500" y="914400"/>
              <a:ext cx="11049000" cy="5181600"/>
            </a:xfrm>
            <a:custGeom>
              <a:avLst/>
              <a:gdLst/>
              <a:ahLst/>
              <a:cxnLst/>
              <a:rect l="l" t="t" r="r" b="b"/>
              <a:pathLst>
                <a:path w="11049000" h="5181600">
                  <a:moveTo>
                    <a:pt x="190500" y="0"/>
                  </a:moveTo>
                  <a:lnTo>
                    <a:pt x="10858500" y="0"/>
                  </a:lnTo>
                  <a:cubicBezTo>
                    <a:pt x="10963710" y="0"/>
                    <a:pt x="11049000" y="85290"/>
                    <a:pt x="11049000" y="190500"/>
                  </a:cubicBezTo>
                  <a:lnTo>
                    <a:pt x="11049000" y="4991100"/>
                  </a:lnTo>
                  <a:cubicBezTo>
                    <a:pt x="11049000" y="5096310"/>
                    <a:pt x="10963710" y="5181600"/>
                    <a:pt x="10858500" y="5181600"/>
                  </a:cubicBezTo>
                  <a:lnTo>
                    <a:pt x="190500" y="5181600"/>
                  </a:lnTo>
                  <a:cubicBezTo>
                    <a:pt x="85290" y="5181600"/>
                    <a:pt x="0" y="5096310"/>
                    <a:pt x="0" y="4991100"/>
                  </a:cubicBezTo>
                  <a:lnTo>
                    <a:pt x="0" y="190500"/>
                  </a:lnTo>
                  <a:cubicBezTo>
                    <a:pt x="0" y="85290"/>
                    <a:pt x="85290" y="0"/>
                    <a:pt x="190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105900" y="-133350"/>
              <a:ext cx="2514600" cy="2514600"/>
            </a:xfrm>
            <a:prstGeom prst="ellipse">
              <a:avLst/>
            </a:prstGeom>
            <a:solidFill>
              <a:schemeClr val="accent2">
                <a:alpha val="8000"/>
              </a:scheme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10134600" y="228600"/>
              <a:ext cx="1409700" cy="1409700"/>
            </a:xfrm>
            <a:prstGeom prst="ellipse">
              <a:avLst/>
            </a:prstGeom>
            <a:solidFill>
              <a:schemeClr val="accent3">
                <a:alpha val="8000"/>
              </a:scheme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14859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gradFill>
                <a:gsLst>
                  <a:gs pos="0">
                    <a:schemeClr val="accent2">
                      <a:alpha val="95000"/>
                    </a:schemeClr>
                  </a:gs>
                  <a:gs pos="100000">
                    <a:schemeClr val="accent3">
                      <a:alpha val="35000"/>
                    </a:schemeClr>
                  </a:gs>
                </a:gsLst>
                <a:lin ang="0" scaled="1"/>
              </a:gradFill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6096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557784" y="360045"/>
            <a:ext cx="11067478" cy="6056471"/>
            <a:chOff x="557784" y="360045"/>
            <a:chExt cx="11067478" cy="6056471"/>
          </a:xfrm>
        </p:grpSpPr>
        <p:sp>
          <p:nvSpPr>
            <p:cNvPr id="9" name="TextBox 9"/>
            <p:cNvSpPr txBox="1"/>
            <p:nvPr/>
          </p:nvSpPr>
          <p:spPr>
            <a:xfrm>
              <a:off x="566738" y="360045"/>
              <a:ext cx="99098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565785"/>
              <a:ext cx="28501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投资回报仪表盘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43681" y="3871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760172" y="6254591"/>
              <a:ext cx="18650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 · SaaS 发布方案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3880" y="1076325"/>
            <a:ext cx="10999470" cy="4680776"/>
            <a:chOff x="563880" y="1076325"/>
            <a:chExt cx="10999470" cy="4680776"/>
          </a:xfrm>
        </p:grpSpPr>
        <p:sp>
          <p:nvSpPr>
            <p:cNvPr id="14" name="TextBox 14"/>
            <p:cNvSpPr txBox="1"/>
            <p:nvPr/>
          </p:nvSpPr>
          <p:spPr>
            <a:xfrm>
              <a:off x="563880" y="107632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基于已交付项目的加权平均数据，保守估算。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800100" y="1809750"/>
              <a:ext cx="2476500" cy="1771650"/>
            </a:xfrm>
            <a:custGeom>
              <a:avLst/>
              <a:gdLst/>
              <a:ahLst/>
              <a:cxnLst/>
              <a:rect l="l" t="t" r="r" b="b"/>
              <a:pathLst>
                <a:path w="2476500" h="1771650">
                  <a:moveTo>
                    <a:pt x="133350" y="0"/>
                  </a:moveTo>
                  <a:lnTo>
                    <a:pt x="2343150" y="0"/>
                  </a:lnTo>
                  <a:cubicBezTo>
                    <a:pt x="2416797" y="0"/>
                    <a:pt x="2476500" y="59703"/>
                    <a:pt x="2476500" y="133350"/>
                  </a:cubicBezTo>
                  <a:lnTo>
                    <a:pt x="2476500" y="1638300"/>
                  </a:lnTo>
                  <a:cubicBezTo>
                    <a:pt x="2476500" y="1711947"/>
                    <a:pt x="2416797" y="1771650"/>
                    <a:pt x="234315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800100" y="1809750"/>
              <a:ext cx="2476500" cy="76200"/>
            </a:xfrm>
            <a:custGeom>
              <a:avLst/>
              <a:gdLst/>
              <a:ahLst/>
              <a:cxnLst/>
              <a:rect l="l" t="t" r="r" b="b"/>
              <a:pathLst>
                <a:path w="2476500" h="7620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17058"/>
                    <a:pt x="2476500" y="38100"/>
                  </a:cubicBezTo>
                  <a:lnTo>
                    <a:pt x="2476500" y="38100"/>
                  </a:lnTo>
                  <a:cubicBezTo>
                    <a:pt x="2476500" y="59142"/>
                    <a:pt x="2442384" y="76200"/>
                    <a:pt x="2400300" y="76200"/>
                  </a:cubicBezTo>
                  <a:lnTo>
                    <a:pt x="76200" y="76200"/>
                  </a:lnTo>
                  <a:cubicBezTo>
                    <a:pt x="34116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23366" y="2134552"/>
              <a:ext cx="1096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12个月平均ROI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9650" y="2442210"/>
              <a:ext cx="154356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320%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21842" y="30546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含订阅、集成与轻度定制成本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1028700" y="337185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23366" y="341090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利润释放快于预算消耗</a:t>
              </a:r>
            </a:p>
          </p:txBody>
        </p:sp>
        <p:sp>
          <p:nvSpPr>
            <p:cNvPr id="22" name="Freeform 22"/>
            <p:cNvSpPr/>
            <p:nvPr/>
          </p:nvSpPr>
          <p:spPr>
            <a:xfrm>
              <a:off x="3429000" y="1809750"/>
              <a:ext cx="2476500" cy="1771650"/>
            </a:xfrm>
            <a:custGeom>
              <a:avLst/>
              <a:gdLst/>
              <a:ahLst/>
              <a:cxnLst/>
              <a:rect l="l" t="t" r="r" b="b"/>
              <a:pathLst>
                <a:path w="2476500" h="1771650">
                  <a:moveTo>
                    <a:pt x="133350" y="0"/>
                  </a:moveTo>
                  <a:lnTo>
                    <a:pt x="2343150" y="0"/>
                  </a:lnTo>
                  <a:cubicBezTo>
                    <a:pt x="2416797" y="0"/>
                    <a:pt x="2476500" y="59703"/>
                    <a:pt x="2476500" y="133350"/>
                  </a:cubicBezTo>
                  <a:lnTo>
                    <a:pt x="2476500" y="1638300"/>
                  </a:lnTo>
                  <a:cubicBezTo>
                    <a:pt x="2476500" y="1711947"/>
                    <a:pt x="2416797" y="1771650"/>
                    <a:pt x="234315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3429000" y="1809750"/>
              <a:ext cx="2476500" cy="76200"/>
            </a:xfrm>
            <a:custGeom>
              <a:avLst/>
              <a:gdLst/>
              <a:ahLst/>
              <a:cxnLst/>
              <a:rect l="l" t="t" r="r" b="b"/>
              <a:pathLst>
                <a:path w="2476500" h="7620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17058"/>
                    <a:pt x="2476500" y="38100"/>
                  </a:cubicBezTo>
                  <a:lnTo>
                    <a:pt x="2476500" y="38100"/>
                  </a:lnTo>
                  <a:cubicBezTo>
                    <a:pt x="2476500" y="59142"/>
                    <a:pt x="2442384" y="76200"/>
                    <a:pt x="2400300" y="76200"/>
                  </a:cubicBezTo>
                  <a:lnTo>
                    <a:pt x="76200" y="76200"/>
                  </a:lnTo>
                  <a:cubicBezTo>
                    <a:pt x="34116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652266" y="2134552"/>
              <a:ext cx="757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投资回收期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638550" y="2442210"/>
              <a:ext cx="72810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&lt;4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3356" y="270129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个月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650742" y="30546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基于增量毛利计算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3657600" y="337185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52266" y="34109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前两个季度即可完成回本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6057900" y="1809750"/>
              <a:ext cx="2476500" cy="1771650"/>
            </a:xfrm>
            <a:custGeom>
              <a:avLst/>
              <a:gdLst/>
              <a:ahLst/>
              <a:cxnLst/>
              <a:rect l="l" t="t" r="r" b="b"/>
              <a:pathLst>
                <a:path w="2476500" h="1771650">
                  <a:moveTo>
                    <a:pt x="133350" y="0"/>
                  </a:moveTo>
                  <a:lnTo>
                    <a:pt x="2343150" y="0"/>
                  </a:lnTo>
                  <a:cubicBezTo>
                    <a:pt x="2416797" y="0"/>
                    <a:pt x="2476500" y="59703"/>
                    <a:pt x="2476500" y="133350"/>
                  </a:cubicBezTo>
                  <a:lnTo>
                    <a:pt x="2476500" y="1638300"/>
                  </a:lnTo>
                  <a:cubicBezTo>
                    <a:pt x="2476500" y="1711947"/>
                    <a:pt x="2416797" y="1771650"/>
                    <a:pt x="234315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057900" y="1809750"/>
              <a:ext cx="2476500" cy="76200"/>
            </a:xfrm>
            <a:custGeom>
              <a:avLst/>
              <a:gdLst/>
              <a:ahLst/>
              <a:cxnLst/>
              <a:rect l="l" t="t" r="r" b="b"/>
              <a:pathLst>
                <a:path w="2476500" h="76200">
                  <a:moveTo>
                    <a:pt x="76200" y="0"/>
                  </a:moveTo>
                  <a:lnTo>
                    <a:pt x="2400300" y="0"/>
                  </a:lnTo>
                  <a:cubicBezTo>
                    <a:pt x="2442384" y="0"/>
                    <a:pt x="2476500" y="17058"/>
                    <a:pt x="2476500" y="38100"/>
                  </a:cubicBezTo>
                  <a:lnTo>
                    <a:pt x="2476500" y="38100"/>
                  </a:lnTo>
                  <a:cubicBezTo>
                    <a:pt x="2476500" y="59142"/>
                    <a:pt x="2442384" y="76200"/>
                    <a:pt x="2400300" y="76200"/>
                  </a:cubicBezTo>
                  <a:lnTo>
                    <a:pt x="76200" y="76200"/>
                  </a:lnTo>
                  <a:cubicBezTo>
                    <a:pt x="34116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281166" y="2134552"/>
              <a:ext cx="12121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营销运营效率提升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67450" y="2442210"/>
              <a:ext cx="141811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5.2×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79642" y="3054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从数据到执行的时间压缩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6286500" y="3371850"/>
              <a:ext cx="2019300" cy="9525"/>
            </a:xfrm>
            <a:custGeom>
              <a:avLst/>
              <a:gdLst/>
              <a:ahLst/>
              <a:cxnLst/>
              <a:rect l="l" t="t" r="r" b="b"/>
              <a:pathLst>
                <a:path w="2019300" h="9525">
                  <a:moveTo>
                    <a:pt x="0" y="0"/>
                  </a:moveTo>
                  <a:lnTo>
                    <a:pt x="20193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81166" y="34109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同等团队可支撑更多活动并发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8686800" y="1809750"/>
              <a:ext cx="2705100" cy="1771650"/>
            </a:xfrm>
            <a:custGeom>
              <a:avLst/>
              <a:gdLst/>
              <a:ahLst/>
              <a:cxnLst/>
              <a:rect l="l" t="t" r="r" b="b"/>
              <a:pathLst>
                <a:path w="2705100" h="1771650">
                  <a:moveTo>
                    <a:pt x="133350" y="0"/>
                  </a:moveTo>
                  <a:lnTo>
                    <a:pt x="2571750" y="0"/>
                  </a:lnTo>
                  <a:cubicBezTo>
                    <a:pt x="2645397" y="0"/>
                    <a:pt x="2705100" y="59703"/>
                    <a:pt x="2705100" y="133350"/>
                  </a:cubicBezTo>
                  <a:lnTo>
                    <a:pt x="2705100" y="1638300"/>
                  </a:lnTo>
                  <a:cubicBezTo>
                    <a:pt x="2705100" y="1711947"/>
                    <a:pt x="2645397" y="1771650"/>
                    <a:pt x="2571750" y="1771650"/>
                  </a:cubicBezTo>
                  <a:lnTo>
                    <a:pt x="133350" y="1771650"/>
                  </a:lnTo>
                  <a:cubicBezTo>
                    <a:pt x="59703" y="1771650"/>
                    <a:pt x="0" y="1711947"/>
                    <a:pt x="0" y="1638300"/>
                  </a:cubicBezTo>
                  <a:lnTo>
                    <a:pt x="0" y="133350"/>
                  </a:lnTo>
                  <a:cubicBezTo>
                    <a:pt x="0" y="59703"/>
                    <a:pt x="59703" y="0"/>
                    <a:pt x="13335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8686800" y="1809750"/>
              <a:ext cx="2705100" cy="76200"/>
            </a:xfrm>
            <a:custGeom>
              <a:avLst/>
              <a:gdLst/>
              <a:ahLst/>
              <a:cxnLst/>
              <a:rect l="l" t="t" r="r" b="b"/>
              <a:pathLst>
                <a:path w="2705100" h="76200">
                  <a:moveTo>
                    <a:pt x="76200" y="0"/>
                  </a:moveTo>
                  <a:lnTo>
                    <a:pt x="2628900" y="0"/>
                  </a:lnTo>
                  <a:cubicBezTo>
                    <a:pt x="2670984" y="0"/>
                    <a:pt x="2705100" y="17058"/>
                    <a:pt x="2705100" y="38100"/>
                  </a:cubicBezTo>
                  <a:lnTo>
                    <a:pt x="2705100" y="38100"/>
                  </a:lnTo>
                  <a:cubicBezTo>
                    <a:pt x="2705100" y="59142"/>
                    <a:pt x="2670984" y="76200"/>
                    <a:pt x="2628900" y="76200"/>
                  </a:cubicBezTo>
                  <a:lnTo>
                    <a:pt x="76200" y="76200"/>
                  </a:lnTo>
                  <a:cubicBezTo>
                    <a:pt x="34116" y="76200"/>
                    <a:pt x="0" y="59142"/>
                    <a:pt x="0" y="38100"/>
                  </a:cubicBezTo>
                  <a:lnTo>
                    <a:pt x="0" y="38100"/>
                  </a:lnTo>
                  <a:cubicBezTo>
                    <a:pt x="0" y="17058"/>
                    <a:pt x="34116" y="0"/>
                    <a:pt x="76200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10066" y="2134552"/>
              <a:ext cx="10607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75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归因错误率下降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96350" y="2442210"/>
              <a:ext cx="154356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2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−67%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908542" y="3054668"/>
              <a:ext cx="2481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AI级联归因替代末次点击模型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915400" y="3371850"/>
              <a:ext cx="2209800" cy="9525"/>
            </a:xfrm>
            <a:custGeom>
              <a:avLst/>
              <a:gdLst/>
              <a:ahLst/>
              <a:cxnLst/>
              <a:rect l="l" t="t" r="r" b="b"/>
              <a:pathLst>
                <a:path w="2209800" h="9525">
                  <a:moveTo>
                    <a:pt x="0" y="0"/>
                  </a:moveTo>
                  <a:lnTo>
                    <a:pt x="22098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910066" y="3410902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预算调度更接近真实增量贡献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800100" y="3886200"/>
              <a:ext cx="10591800" cy="1790700"/>
            </a:xfrm>
            <a:custGeom>
              <a:avLst/>
              <a:gdLst/>
              <a:ahLst/>
              <a:cxnLst/>
              <a:rect l="l" t="t" r="r" b="b"/>
              <a:pathLst>
                <a:path w="10591800" h="1790700">
                  <a:moveTo>
                    <a:pt x="152400" y="0"/>
                  </a:moveTo>
                  <a:lnTo>
                    <a:pt x="10439400" y="0"/>
                  </a:lnTo>
                  <a:cubicBezTo>
                    <a:pt x="10523568" y="0"/>
                    <a:pt x="10591800" y="68232"/>
                    <a:pt x="10591800" y="152400"/>
                  </a:cubicBezTo>
                  <a:lnTo>
                    <a:pt x="10591800" y="1638300"/>
                  </a:lnTo>
                  <a:cubicBezTo>
                    <a:pt x="10591800" y="1722468"/>
                    <a:pt x="10523568" y="1790700"/>
                    <a:pt x="10439400" y="1790700"/>
                  </a:cubicBezTo>
                  <a:lnTo>
                    <a:pt x="152400" y="1790700"/>
                  </a:lnTo>
                  <a:cubicBezTo>
                    <a:pt x="68232" y="1790700"/>
                    <a:pt x="0" y="1722468"/>
                    <a:pt x="0" y="163830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19556" y="4053840"/>
              <a:ext cx="32442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管理层关注的四个压力信号</a:t>
              </a:r>
            </a:p>
          </p:txBody>
        </p:sp>
        <p:sp>
          <p:nvSpPr>
            <p:cNvPr id="46" name="Line 46"/>
            <p:cNvSpPr/>
            <p:nvPr/>
          </p:nvSpPr>
          <p:spPr>
            <a:xfrm>
              <a:off x="3448050" y="422910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6096000" y="422910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8743950" y="422910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23747" y="4523899"/>
              <a:ext cx="23180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ROI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21080" y="4752975"/>
              <a:ext cx="21211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320% 12个月平均ROI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22604" y="50711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核心来自更高转化率、预算浪费减少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671697" y="4523899"/>
              <a:ext cx="5438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PAYBACK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669030" y="4752975"/>
              <a:ext cx="18598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&lt;4 个月 投资回收期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3670554" y="50711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适合年度预算内分阶段落地与扩容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19647" y="4523899"/>
              <a:ext cx="2664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OPS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316980" y="4752975"/>
              <a:ext cx="22415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5.2× 营销运营效率提升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318504" y="5071110"/>
              <a:ext cx="2919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数据、分析、执行不再由多团队串行交接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967597" y="4523899"/>
              <a:ext cx="8073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ATTRIBUTION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64930" y="4752975"/>
              <a:ext cx="20718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−67% 归因错误率下降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966454" y="50711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更准确地判断渠道、客群与活动贡献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28700" y="5410200"/>
              <a:ext cx="101346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21842" y="54930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574292" y="5493068"/>
              <a:ext cx="60292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这不是“更便宜的营销工具”，而是把增长投入从分散试错转为可量化复利。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6724650" y="2334578"/>
            <a:ext cx="6629400" cy="2577083"/>
            <a:chOff x="6724650" y="2334578"/>
            <a:chExt cx="6629400" cy="2577083"/>
          </a:xfrm>
        </p:grpSpPr>
        <p:sp>
          <p:nvSpPr>
            <p:cNvPr id="65" name="Ellipse 65"/>
            <p:cNvSpPr/>
            <p:nvPr/>
          </p:nvSpPr>
          <p:spPr>
            <a:xfrm>
              <a:off x="10591800" y="434340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6" name="Line 66"/>
            <p:cNvSpPr/>
            <p:nvPr/>
          </p:nvSpPr>
          <p:spPr>
            <a:xfrm>
              <a:off x="10648950" y="4457700"/>
              <a:ext cx="342900" cy="304800"/>
            </a:xfrm>
            <a:custGeom>
              <a:avLst/>
              <a:gdLst/>
              <a:ahLst/>
              <a:cxnLst/>
              <a:rect l="l" t="t" r="r" b="b"/>
              <a:pathLst>
                <a:path w="342900" h="304800">
                  <a:moveTo>
                    <a:pt x="0" y="0"/>
                  </a:moveTo>
                  <a:lnTo>
                    <a:pt x="342900" y="3048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081766" y="47063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更准的归因，通常最先释放预算效率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724650" y="26479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6838950" y="2400300"/>
              <a:ext cx="666750" cy="304800"/>
            </a:xfrm>
            <a:custGeom>
              <a:avLst/>
              <a:gdLst/>
              <a:ahLst/>
              <a:cxnLst/>
              <a:rect l="l" t="t" r="r" b="b"/>
              <a:pathLst>
                <a:path w="666750" h="304800">
                  <a:moveTo>
                    <a:pt x="0" y="304800"/>
                  </a:moveTo>
                  <a:lnTo>
                    <a:pt x="666750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614666" y="2334578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效率提升直接压缩活动上线周期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0" y="-95250"/>
            <a:ext cx="12573000" cy="6953250"/>
            <a:chOff x="0" y="-95250"/>
            <a:chExt cx="12573000" cy="6953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2">
                <a:alpha val="3000"/>
              </a:schemeClr>
            </a:soli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8763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28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9144000" y="-95250"/>
              <a:ext cx="2286000" cy="2286000"/>
            </a:xfrm>
            <a:prstGeom prst="ellipse">
              <a:avLst/>
            </a:prstGeom>
            <a:solidFill>
              <a:schemeClr val="accent2">
                <a:alpha val="5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525000" y="3429000"/>
              <a:ext cx="3048000" cy="3048000"/>
            </a:xfrm>
            <a:prstGeom prst="ellipse">
              <a:avLst/>
            </a:prstGeom>
            <a:solidFill>
              <a:schemeClr val="accent3">
                <a:alpha val="4000"/>
              </a:schemeClr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57784" y="370999"/>
            <a:ext cx="11048429" cy="6207442"/>
            <a:chOff x="557784" y="370999"/>
            <a:chExt cx="11048429" cy="6207442"/>
          </a:xfrm>
        </p:grpSpPr>
        <p:sp>
          <p:nvSpPr>
            <p:cNvPr id="9" name="TextBox 9"/>
            <p:cNvSpPr txBox="1"/>
            <p:nvPr/>
          </p:nvSpPr>
          <p:spPr>
            <a:xfrm>
              <a:off x="566547" y="370999"/>
              <a:ext cx="8451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SPREADMAP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7784" y="489585"/>
              <a:ext cx="36566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四模块效能提升预览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63880" y="1038225"/>
              <a:ext cx="41649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各核心模块在部署后6个月的预期增益中位数。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6738" y="641651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474520" y="641651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71500" y="1485900"/>
            <a:ext cx="11049000" cy="4877181"/>
            <a:chOff x="571500" y="1485900"/>
            <a:chExt cx="11049000" cy="4877181"/>
          </a:xfrm>
        </p:grpSpPr>
        <p:sp>
          <p:nvSpPr>
            <p:cNvPr id="15" name="Freeform 15"/>
            <p:cNvSpPr/>
            <p:nvPr/>
          </p:nvSpPr>
          <p:spPr>
            <a:xfrm>
              <a:off x="571500" y="1485900"/>
              <a:ext cx="11049000" cy="4343400"/>
            </a:xfrm>
            <a:custGeom>
              <a:avLst/>
              <a:gdLst/>
              <a:ahLst/>
              <a:cxnLst/>
              <a:rect l="l" t="t" r="r" b="b"/>
              <a:pathLst>
                <a:path w="11049000" h="43434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4229100"/>
                  </a:lnTo>
                  <a:cubicBezTo>
                    <a:pt x="11049000" y="4292226"/>
                    <a:pt x="10997826" y="4343400"/>
                    <a:pt x="10934700" y="4343400"/>
                  </a:cubicBezTo>
                  <a:lnTo>
                    <a:pt x="114300" y="4343400"/>
                  </a:lnTo>
                  <a:cubicBezTo>
                    <a:pt x="51174" y="4343400"/>
                    <a:pt x="0" y="4292226"/>
                    <a:pt x="0" y="42291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14288">
              <a:solidFill>
                <a:schemeClr val="accent4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571625" y="3667125"/>
              <a:ext cx="1762125" cy="9525"/>
            </a:xfrm>
            <a:custGeom>
              <a:avLst/>
              <a:gdLst/>
              <a:ahLst/>
              <a:cxnLst/>
              <a:rect l="l" t="t" r="r" b="b"/>
              <a:pathLst>
                <a:path w="1762125" h="9525">
                  <a:moveTo>
                    <a:pt x="0" y="0"/>
                  </a:moveTo>
                  <a:cubicBezTo>
                    <a:pt x="809625" y="0"/>
                    <a:pt x="1000125" y="0"/>
                    <a:pt x="1762125" y="0"/>
                  </a:cubicBezTo>
                </a:path>
              </a:pathLst>
            </a:custGeom>
            <a:noFill/>
            <a:ln w="95250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0" scaled="1"/>
              </a:gradFill>
              <a:tailEnd type="triangle" w="lg" len="lg"/>
            </a:ln>
          </p:spPr>
        </p:sp>
        <p:sp>
          <p:nvSpPr>
            <p:cNvPr id="17" name="Freeform 17"/>
            <p:cNvSpPr/>
            <p:nvPr/>
          </p:nvSpPr>
          <p:spPr>
            <a:xfrm>
              <a:off x="4238625" y="3667125"/>
              <a:ext cx="1762125" cy="9525"/>
            </a:xfrm>
            <a:custGeom>
              <a:avLst/>
              <a:gdLst/>
              <a:ahLst/>
              <a:cxnLst/>
              <a:rect l="l" t="t" r="r" b="b"/>
              <a:pathLst>
                <a:path w="1762125" h="9525">
                  <a:moveTo>
                    <a:pt x="0" y="0"/>
                  </a:moveTo>
                  <a:cubicBezTo>
                    <a:pt x="809625" y="0"/>
                    <a:pt x="1000125" y="0"/>
                    <a:pt x="1762125" y="0"/>
                  </a:cubicBezTo>
                </a:path>
              </a:pathLst>
            </a:custGeom>
            <a:noFill/>
            <a:ln w="95250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0" scaled="1"/>
              </a:gradFill>
              <a:tailEnd type="triangle" w="lg" len="lg"/>
            </a:ln>
          </p:spPr>
        </p:sp>
        <p:sp>
          <p:nvSpPr>
            <p:cNvPr id="18" name="Freeform 18"/>
            <p:cNvSpPr/>
            <p:nvPr/>
          </p:nvSpPr>
          <p:spPr>
            <a:xfrm>
              <a:off x="6905625" y="3667125"/>
              <a:ext cx="1762125" cy="9525"/>
            </a:xfrm>
            <a:custGeom>
              <a:avLst/>
              <a:gdLst/>
              <a:ahLst/>
              <a:cxnLst/>
              <a:rect l="l" t="t" r="r" b="b"/>
              <a:pathLst>
                <a:path w="1762125" h="9525">
                  <a:moveTo>
                    <a:pt x="0" y="0"/>
                  </a:moveTo>
                  <a:cubicBezTo>
                    <a:pt x="809625" y="0"/>
                    <a:pt x="1000125" y="0"/>
                    <a:pt x="1762125" y="0"/>
                  </a:cubicBezTo>
                </a:path>
              </a:pathLst>
            </a:custGeom>
            <a:noFill/>
            <a:ln w="95250" cap="rnd">
              <a:gradFill>
                <a:gsLst>
                  <a:gs pos="0">
                    <a:schemeClr val="accent1"/>
                  </a:gs>
                  <a:gs pos="100000">
                    <a:schemeClr val="accent3"/>
                  </a:gs>
                </a:gsLst>
                <a:lin ang="0" scaled="1"/>
              </a:gradFill>
              <a:tailEnd type="triangle" w="lg" len="lg"/>
            </a:ln>
          </p:spPr>
        </p:sp>
        <p:sp>
          <p:nvSpPr>
            <p:cNvPr id="19" name="Freeform 19"/>
            <p:cNvSpPr/>
            <p:nvPr/>
          </p:nvSpPr>
          <p:spPr>
            <a:xfrm>
              <a:off x="904875" y="2686050"/>
              <a:ext cx="1809750" cy="1962150"/>
            </a:xfrm>
            <a:custGeom>
              <a:avLst/>
              <a:gdLst/>
              <a:ahLst/>
              <a:cxnLst/>
              <a:rect l="l" t="t" r="r" b="b"/>
              <a:pathLst>
                <a:path w="1809750" h="1962150">
                  <a:moveTo>
                    <a:pt x="114300" y="0"/>
                  </a:moveTo>
                  <a:lnTo>
                    <a:pt x="1695450" y="0"/>
                  </a:lnTo>
                  <a:cubicBezTo>
                    <a:pt x="1758576" y="0"/>
                    <a:pt x="1809750" y="51174"/>
                    <a:pt x="1809750" y="114300"/>
                  </a:cubicBezTo>
                  <a:lnTo>
                    <a:pt x="1809750" y="1847850"/>
                  </a:lnTo>
                  <a:cubicBezTo>
                    <a:pt x="1809750" y="1910976"/>
                    <a:pt x="1758576" y="1962150"/>
                    <a:pt x="1695450" y="1962150"/>
                  </a:cubicBezTo>
                  <a:lnTo>
                    <a:pt x="114300" y="1962150"/>
                  </a:lnTo>
                  <a:cubicBezTo>
                    <a:pt x="51174" y="1962150"/>
                    <a:pt x="0" y="1910976"/>
                    <a:pt x="0" y="18478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95375" y="2876550"/>
              <a:ext cx="1428750" cy="95250"/>
            </a:xfrm>
            <a:custGeom>
              <a:avLst/>
              <a:gdLst/>
              <a:ahLst/>
              <a:cxnLst/>
              <a:rect l="l" t="t" r="r" b="b"/>
              <a:pathLst>
                <a:path w="1428750" h="95250">
                  <a:moveTo>
                    <a:pt x="47625" y="0"/>
                  </a:moveTo>
                  <a:lnTo>
                    <a:pt x="1381125" y="0"/>
                  </a:lnTo>
                  <a:cubicBezTo>
                    <a:pt x="1407428" y="0"/>
                    <a:pt x="1428750" y="21322"/>
                    <a:pt x="1428750" y="47625"/>
                  </a:cubicBezTo>
                  <a:lnTo>
                    <a:pt x="1428750" y="47625"/>
                  </a:lnTo>
                  <a:cubicBezTo>
                    <a:pt x="1428750" y="73928"/>
                    <a:pt x="1407428" y="95250"/>
                    <a:pt x="13811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1095375" y="3048000"/>
              <a:ext cx="933450" cy="95250"/>
            </a:xfrm>
            <a:custGeom>
              <a:avLst/>
              <a:gdLst/>
              <a:ahLst/>
              <a:cxnLst/>
              <a:rect l="l" t="t" r="r" b="b"/>
              <a:pathLst>
                <a:path w="933450" h="95250">
                  <a:moveTo>
                    <a:pt x="47625" y="0"/>
                  </a:moveTo>
                  <a:lnTo>
                    <a:pt x="885825" y="0"/>
                  </a:lnTo>
                  <a:cubicBezTo>
                    <a:pt x="912128" y="0"/>
                    <a:pt x="933450" y="21322"/>
                    <a:pt x="933450" y="47625"/>
                  </a:cubicBezTo>
                  <a:lnTo>
                    <a:pt x="933450" y="47625"/>
                  </a:lnTo>
                  <a:cubicBezTo>
                    <a:pt x="933450" y="73928"/>
                    <a:pt x="912128" y="95250"/>
                    <a:pt x="8858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2">
                <a:alpha val="22000"/>
              </a:schemeClr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143000" y="3276600"/>
              <a:ext cx="381000" cy="3810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238250" y="3390900"/>
              <a:ext cx="209550" cy="152400"/>
            </a:xfrm>
            <a:custGeom>
              <a:avLst/>
              <a:gdLst/>
              <a:ahLst/>
              <a:cxnLst/>
              <a:rect l="l" t="t" r="r" b="b"/>
              <a:pathLst>
                <a:path w="209550" h="152400">
                  <a:moveTo>
                    <a:pt x="0" y="76200"/>
                  </a:moveTo>
                  <a:lnTo>
                    <a:pt x="76200" y="0"/>
                  </a:lnTo>
                  <a:lnTo>
                    <a:pt x="76200" y="152400"/>
                  </a:lnTo>
                  <a:close/>
                  <a:moveTo>
                    <a:pt x="133350" y="0"/>
                  </a:moveTo>
                  <a:lnTo>
                    <a:pt x="209550" y="7620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86231" y="3749040"/>
              <a:ext cx="197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20368" y="37652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0135" y="398145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88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0041" y="4420552"/>
              <a:ext cx="13701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 Customer360，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0041" y="45920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消除人工对账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3571875" y="2400300"/>
              <a:ext cx="1809750" cy="2533650"/>
            </a:xfrm>
            <a:custGeom>
              <a:avLst/>
              <a:gdLst/>
              <a:ahLst/>
              <a:cxnLst/>
              <a:rect l="l" t="t" r="r" b="b"/>
              <a:pathLst>
                <a:path w="1809750" h="2533650">
                  <a:moveTo>
                    <a:pt x="114300" y="0"/>
                  </a:moveTo>
                  <a:lnTo>
                    <a:pt x="1695450" y="0"/>
                  </a:lnTo>
                  <a:cubicBezTo>
                    <a:pt x="1758576" y="0"/>
                    <a:pt x="1809750" y="51174"/>
                    <a:pt x="1809750" y="114300"/>
                  </a:cubicBezTo>
                  <a:lnTo>
                    <a:pt x="1809750" y="2419350"/>
                  </a:lnTo>
                  <a:cubicBezTo>
                    <a:pt x="1809750" y="2482476"/>
                    <a:pt x="1758576" y="2533650"/>
                    <a:pt x="1695450" y="2533650"/>
                  </a:cubicBezTo>
                  <a:lnTo>
                    <a:pt x="114300" y="2533650"/>
                  </a:lnTo>
                  <a:cubicBezTo>
                    <a:pt x="51174" y="2533650"/>
                    <a:pt x="0" y="2482476"/>
                    <a:pt x="0" y="24193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3762375" y="2590800"/>
              <a:ext cx="1428750" cy="95250"/>
            </a:xfrm>
            <a:custGeom>
              <a:avLst/>
              <a:gdLst/>
              <a:ahLst/>
              <a:cxnLst/>
              <a:rect l="l" t="t" r="r" b="b"/>
              <a:pathLst>
                <a:path w="1428750" h="95250">
                  <a:moveTo>
                    <a:pt x="47625" y="0"/>
                  </a:moveTo>
                  <a:lnTo>
                    <a:pt x="1381125" y="0"/>
                  </a:lnTo>
                  <a:cubicBezTo>
                    <a:pt x="1407428" y="0"/>
                    <a:pt x="1428750" y="21322"/>
                    <a:pt x="1428750" y="47625"/>
                  </a:cubicBezTo>
                  <a:lnTo>
                    <a:pt x="1428750" y="47625"/>
                  </a:lnTo>
                  <a:cubicBezTo>
                    <a:pt x="1428750" y="73928"/>
                    <a:pt x="1407428" y="95250"/>
                    <a:pt x="13811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3762375" y="2762250"/>
              <a:ext cx="790575" cy="95250"/>
            </a:xfrm>
            <a:custGeom>
              <a:avLst/>
              <a:gdLst/>
              <a:ahLst/>
              <a:cxnLst/>
              <a:rect l="l" t="t" r="r" b="b"/>
              <a:pathLst>
                <a:path w="790575" h="95250">
                  <a:moveTo>
                    <a:pt x="47625" y="0"/>
                  </a:moveTo>
                  <a:lnTo>
                    <a:pt x="742950" y="0"/>
                  </a:lnTo>
                  <a:cubicBezTo>
                    <a:pt x="769253" y="0"/>
                    <a:pt x="790575" y="21322"/>
                    <a:pt x="790575" y="47625"/>
                  </a:cubicBezTo>
                  <a:lnTo>
                    <a:pt x="790575" y="47625"/>
                  </a:lnTo>
                  <a:cubicBezTo>
                    <a:pt x="790575" y="73928"/>
                    <a:pt x="769253" y="95250"/>
                    <a:pt x="742950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2">
                <a:alpha val="22000"/>
              </a:schemeClr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3810000" y="2990850"/>
              <a:ext cx="381000" cy="3810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3890962" y="314801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4043362" y="307181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4043362" y="3224212"/>
              <a:ext cx="66675" cy="666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3957638" y="3119438"/>
              <a:ext cx="85725" cy="42862"/>
            </a:xfrm>
            <a:custGeom>
              <a:avLst/>
              <a:gdLst/>
              <a:ahLst/>
              <a:cxnLst/>
              <a:rect l="l" t="t" r="r" b="b"/>
              <a:pathLst>
                <a:path w="85725" h="42862">
                  <a:moveTo>
                    <a:pt x="0" y="42862"/>
                  </a:moveTo>
                  <a:lnTo>
                    <a:pt x="85725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3957638" y="3200400"/>
              <a:ext cx="85725" cy="42862"/>
            </a:xfrm>
            <a:custGeom>
              <a:avLst/>
              <a:gdLst/>
              <a:ahLst/>
              <a:cxnLst/>
              <a:rect l="l" t="t" r="r" b="b"/>
              <a:pathLst>
                <a:path w="85725" h="42862">
                  <a:moveTo>
                    <a:pt x="0" y="0"/>
                  </a:moveTo>
                  <a:lnTo>
                    <a:pt x="85725" y="42862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53231" y="3463290"/>
              <a:ext cx="197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B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87368" y="3479482"/>
              <a:ext cx="7930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分析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747135" y="369570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74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57041" y="41348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归因、人群聚类、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757041" y="4306252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流失预警模型自动刷新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238875" y="2133600"/>
              <a:ext cx="1809750" cy="3067050"/>
            </a:xfrm>
            <a:custGeom>
              <a:avLst/>
              <a:gdLst/>
              <a:ahLst/>
              <a:cxnLst/>
              <a:rect l="l" t="t" r="r" b="b"/>
              <a:pathLst>
                <a:path w="1809750" h="3067050">
                  <a:moveTo>
                    <a:pt x="114300" y="0"/>
                  </a:moveTo>
                  <a:lnTo>
                    <a:pt x="1695450" y="0"/>
                  </a:lnTo>
                  <a:cubicBezTo>
                    <a:pt x="1758576" y="0"/>
                    <a:pt x="1809750" y="51174"/>
                    <a:pt x="1809750" y="114300"/>
                  </a:cubicBezTo>
                  <a:lnTo>
                    <a:pt x="1809750" y="2952750"/>
                  </a:lnTo>
                  <a:cubicBezTo>
                    <a:pt x="1809750" y="3015876"/>
                    <a:pt x="1758576" y="3067050"/>
                    <a:pt x="1695450" y="3067050"/>
                  </a:cubicBezTo>
                  <a:lnTo>
                    <a:pt x="114300" y="3067050"/>
                  </a:lnTo>
                  <a:cubicBezTo>
                    <a:pt x="51174" y="3067050"/>
                    <a:pt x="0" y="3015876"/>
                    <a:pt x="0" y="29527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429375" y="2324100"/>
              <a:ext cx="1428750" cy="95250"/>
            </a:xfrm>
            <a:custGeom>
              <a:avLst/>
              <a:gdLst/>
              <a:ahLst/>
              <a:cxnLst/>
              <a:rect l="l" t="t" r="r" b="b"/>
              <a:pathLst>
                <a:path w="1428750" h="95250">
                  <a:moveTo>
                    <a:pt x="47625" y="0"/>
                  </a:moveTo>
                  <a:lnTo>
                    <a:pt x="1381125" y="0"/>
                  </a:lnTo>
                  <a:cubicBezTo>
                    <a:pt x="1407428" y="0"/>
                    <a:pt x="1428750" y="21322"/>
                    <a:pt x="1428750" y="47625"/>
                  </a:cubicBezTo>
                  <a:lnTo>
                    <a:pt x="1428750" y="47625"/>
                  </a:lnTo>
                  <a:cubicBezTo>
                    <a:pt x="1428750" y="73928"/>
                    <a:pt x="1407428" y="95250"/>
                    <a:pt x="13811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45" name="Freeform 45"/>
            <p:cNvSpPr/>
            <p:nvPr/>
          </p:nvSpPr>
          <p:spPr>
            <a:xfrm>
              <a:off x="6429375" y="2495550"/>
              <a:ext cx="638175" cy="95250"/>
            </a:xfrm>
            <a:custGeom>
              <a:avLst/>
              <a:gdLst/>
              <a:ahLst/>
              <a:cxnLst/>
              <a:rect l="l" t="t" r="r" b="b"/>
              <a:pathLst>
                <a:path w="638175" h="95250">
                  <a:moveTo>
                    <a:pt x="47625" y="0"/>
                  </a:moveTo>
                  <a:lnTo>
                    <a:pt x="590550" y="0"/>
                  </a:lnTo>
                  <a:cubicBezTo>
                    <a:pt x="616853" y="0"/>
                    <a:pt x="638175" y="21322"/>
                    <a:pt x="638175" y="47625"/>
                  </a:cubicBezTo>
                  <a:lnTo>
                    <a:pt x="638175" y="47625"/>
                  </a:lnTo>
                  <a:cubicBezTo>
                    <a:pt x="638175" y="73928"/>
                    <a:pt x="616853" y="95250"/>
                    <a:pt x="590550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2">
                <a:alpha val="22000"/>
              </a:schemeClr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477000" y="2724150"/>
              <a:ext cx="381000" cy="3810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6572250" y="2819400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90500" h="190500">
                  <a:moveTo>
                    <a:pt x="0" y="95250"/>
                  </a:moveTo>
                  <a:lnTo>
                    <a:pt x="190500" y="95250"/>
                  </a:lnTo>
                  <a:moveTo>
                    <a:pt x="95250" y="0"/>
                  </a:moveTo>
                  <a:lnTo>
                    <a:pt x="190500" y="95250"/>
                  </a:lnTo>
                  <a:lnTo>
                    <a:pt x="95250" y="19050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round/>
            </a:ln>
          </p:spPr>
        </p:sp>
        <p:sp>
          <p:nvSpPr>
            <p:cNvPr id="48" name="Line 48"/>
            <p:cNvSpPr/>
            <p:nvPr/>
          </p:nvSpPr>
          <p:spPr>
            <a:xfrm>
              <a:off x="6534150" y="2828925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20231" y="3196590"/>
              <a:ext cx="197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754368" y="32127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自动化执行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14135" y="342900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60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24041" y="38681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跨渠道旅程编排、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424041" y="4039552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动态素材适配、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424041" y="42110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智能投放止损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8905875" y="1866900"/>
              <a:ext cx="1809750" cy="3600450"/>
            </a:xfrm>
            <a:custGeom>
              <a:avLst/>
              <a:gdLst/>
              <a:ahLst/>
              <a:cxnLst/>
              <a:rect l="l" t="t" r="r" b="b"/>
              <a:pathLst>
                <a:path w="1809750" h="3600450">
                  <a:moveTo>
                    <a:pt x="114300" y="0"/>
                  </a:moveTo>
                  <a:lnTo>
                    <a:pt x="1695450" y="0"/>
                  </a:lnTo>
                  <a:cubicBezTo>
                    <a:pt x="1758576" y="0"/>
                    <a:pt x="1809750" y="51174"/>
                    <a:pt x="1809750" y="114300"/>
                  </a:cubicBezTo>
                  <a:lnTo>
                    <a:pt x="1809750" y="3486150"/>
                  </a:lnTo>
                  <a:cubicBezTo>
                    <a:pt x="1809750" y="3549276"/>
                    <a:pt x="1758576" y="3600450"/>
                    <a:pt x="1695450" y="3600450"/>
                  </a:cubicBezTo>
                  <a:lnTo>
                    <a:pt x="114300" y="3600450"/>
                  </a:lnTo>
                  <a:cubicBezTo>
                    <a:pt x="51174" y="3600450"/>
                    <a:pt x="0" y="3549276"/>
                    <a:pt x="0" y="34861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chemeClr val="accent4"/>
              </a:solidFill>
            </a:ln>
          </p:spPr>
        </p:sp>
        <p:sp>
          <p:nvSpPr>
            <p:cNvPr id="56" name="Freeform 56"/>
            <p:cNvSpPr/>
            <p:nvPr/>
          </p:nvSpPr>
          <p:spPr>
            <a:xfrm>
              <a:off x="9096375" y="2057400"/>
              <a:ext cx="1428750" cy="95250"/>
            </a:xfrm>
            <a:custGeom>
              <a:avLst/>
              <a:gdLst/>
              <a:ahLst/>
              <a:cxnLst/>
              <a:rect l="l" t="t" r="r" b="b"/>
              <a:pathLst>
                <a:path w="1428750" h="95250">
                  <a:moveTo>
                    <a:pt x="47625" y="0"/>
                  </a:moveTo>
                  <a:lnTo>
                    <a:pt x="1381125" y="0"/>
                  </a:lnTo>
                  <a:cubicBezTo>
                    <a:pt x="1407428" y="0"/>
                    <a:pt x="1428750" y="21322"/>
                    <a:pt x="1428750" y="47625"/>
                  </a:cubicBezTo>
                  <a:lnTo>
                    <a:pt x="1428750" y="47625"/>
                  </a:lnTo>
                  <a:cubicBezTo>
                    <a:pt x="1428750" y="73928"/>
                    <a:pt x="1407428" y="95250"/>
                    <a:pt x="138112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</p:sp>
        <p:sp>
          <p:nvSpPr>
            <p:cNvPr id="57" name="Freeform 57"/>
            <p:cNvSpPr/>
            <p:nvPr/>
          </p:nvSpPr>
          <p:spPr>
            <a:xfrm>
              <a:off x="9096375" y="2228850"/>
              <a:ext cx="495300" cy="95250"/>
            </a:xfrm>
            <a:custGeom>
              <a:avLst/>
              <a:gdLst/>
              <a:ahLst/>
              <a:cxnLst/>
              <a:rect l="l" t="t" r="r" b="b"/>
              <a:pathLst>
                <a:path w="495300" h="95250">
                  <a:moveTo>
                    <a:pt x="47625" y="0"/>
                  </a:moveTo>
                  <a:lnTo>
                    <a:pt x="447675" y="0"/>
                  </a:lnTo>
                  <a:cubicBezTo>
                    <a:pt x="473978" y="0"/>
                    <a:pt x="495300" y="21322"/>
                    <a:pt x="495300" y="47625"/>
                  </a:cubicBezTo>
                  <a:lnTo>
                    <a:pt x="495300" y="47625"/>
                  </a:lnTo>
                  <a:cubicBezTo>
                    <a:pt x="495300" y="73928"/>
                    <a:pt x="473978" y="95250"/>
                    <a:pt x="447675" y="95250"/>
                  </a:cubicBezTo>
                  <a:lnTo>
                    <a:pt x="47625" y="95250"/>
                  </a:lnTo>
                  <a:cubicBezTo>
                    <a:pt x="21322" y="95250"/>
                    <a:pt x="0" y="73928"/>
                    <a:pt x="0" y="47625"/>
                  </a:cubicBez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close/>
                </a:path>
              </a:pathLst>
            </a:custGeom>
            <a:solidFill>
              <a:schemeClr val="accent2">
                <a:alpha val="22000"/>
              </a:schemeClr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9144000" y="2457450"/>
              <a:ext cx="381000" cy="381000"/>
            </a:xfrm>
            <a:prstGeom prst="ellipse">
              <a:avLst/>
            </a:prstGeom>
            <a:solidFill>
              <a:schemeClr val="accent6"/>
            </a:solidFill>
            <a:ln w="19050">
              <a:solidFill>
                <a:schemeClr val="accent2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9258300" y="255270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0" y="171450"/>
                  </a:moveTo>
                  <a:lnTo>
                    <a:pt x="0" y="57150"/>
                  </a:lnTo>
                  <a:lnTo>
                    <a:pt x="76200" y="0"/>
                  </a:lnTo>
                  <a:lnTo>
                    <a:pt x="152400" y="57150"/>
                  </a:lnTo>
                  <a:lnTo>
                    <a:pt x="152400" y="171450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  <a:round/>
            </a:ln>
          </p:spPr>
        </p:sp>
        <p:sp>
          <p:nvSpPr>
            <p:cNvPr id="60" name="Freeform 60"/>
            <p:cNvSpPr/>
            <p:nvPr/>
          </p:nvSpPr>
          <p:spPr>
            <a:xfrm>
              <a:off x="9334500" y="25527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087231" y="2929890"/>
              <a:ext cx="1978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D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421368" y="2946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效果度量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081135" y="3162300"/>
              <a:ext cx="52334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46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91041" y="36014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多触点归因与增量测试，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91041" y="37728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预算再分配可解释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1809750" y="49149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dash"/>
            </a:ln>
          </p:spPr>
        </p:sp>
        <p:sp>
          <p:nvSpPr>
            <p:cNvPr id="67" name="Line 67"/>
            <p:cNvSpPr/>
            <p:nvPr/>
          </p:nvSpPr>
          <p:spPr>
            <a:xfrm>
              <a:off x="4476750" y="52006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dash"/>
            </a:ln>
          </p:spPr>
        </p:sp>
        <p:sp>
          <p:nvSpPr>
            <p:cNvPr id="68" name="Line 68"/>
            <p:cNvSpPr/>
            <p:nvPr/>
          </p:nvSpPr>
          <p:spPr>
            <a:xfrm>
              <a:off x="7143750" y="54673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dash"/>
            </a:ln>
          </p:spPr>
        </p:sp>
        <p:sp>
          <p:nvSpPr>
            <p:cNvPr id="69" name="Line 69"/>
            <p:cNvSpPr/>
            <p:nvPr/>
          </p:nvSpPr>
          <p:spPr>
            <a:xfrm>
              <a:off x="9810750" y="573405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prstDash val="dash"/>
            </a:ln>
          </p:spPr>
        </p:sp>
        <p:sp>
          <p:nvSpPr>
            <p:cNvPr id="70" name="Freeform 70"/>
            <p:cNvSpPr/>
            <p:nvPr/>
          </p:nvSpPr>
          <p:spPr>
            <a:xfrm>
              <a:off x="1257300" y="5219700"/>
              <a:ext cx="1104900" cy="323850"/>
            </a:xfrm>
            <a:custGeom>
              <a:avLst/>
              <a:gdLst/>
              <a:ahLst/>
              <a:cxnLst/>
              <a:rect l="l" t="t" r="r" b="b"/>
              <a:pathLst>
                <a:path w="1104900" h="323850">
                  <a:moveTo>
                    <a:pt x="161925" y="0"/>
                  </a:moveTo>
                  <a:lnTo>
                    <a:pt x="942975" y="0"/>
                  </a:lnTo>
                  <a:cubicBezTo>
                    <a:pt x="1032404" y="0"/>
                    <a:pt x="1104900" y="72496"/>
                    <a:pt x="1104900" y="161925"/>
                  </a:cubicBezTo>
                  <a:lnTo>
                    <a:pt x="1104900" y="161925"/>
                  </a:lnTo>
                  <a:cubicBezTo>
                    <a:pt x="1104900" y="251354"/>
                    <a:pt x="1032404" y="323850"/>
                    <a:pt x="9429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71" name="Freeform 71"/>
            <p:cNvSpPr/>
            <p:nvPr/>
          </p:nvSpPr>
          <p:spPr>
            <a:xfrm>
              <a:off x="3924300" y="5505450"/>
              <a:ext cx="1104900" cy="323850"/>
            </a:xfrm>
            <a:custGeom>
              <a:avLst/>
              <a:gdLst/>
              <a:ahLst/>
              <a:cxnLst/>
              <a:rect l="l" t="t" r="r" b="b"/>
              <a:pathLst>
                <a:path w="1104900" h="323850">
                  <a:moveTo>
                    <a:pt x="161925" y="0"/>
                  </a:moveTo>
                  <a:lnTo>
                    <a:pt x="942975" y="0"/>
                  </a:lnTo>
                  <a:cubicBezTo>
                    <a:pt x="1032404" y="0"/>
                    <a:pt x="1104900" y="72496"/>
                    <a:pt x="1104900" y="161925"/>
                  </a:cubicBezTo>
                  <a:lnTo>
                    <a:pt x="1104900" y="161925"/>
                  </a:lnTo>
                  <a:cubicBezTo>
                    <a:pt x="1104900" y="251354"/>
                    <a:pt x="1032404" y="323850"/>
                    <a:pt x="9429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72" name="Freeform 72"/>
            <p:cNvSpPr/>
            <p:nvPr/>
          </p:nvSpPr>
          <p:spPr>
            <a:xfrm>
              <a:off x="6591300" y="5772150"/>
              <a:ext cx="1104900" cy="323850"/>
            </a:xfrm>
            <a:custGeom>
              <a:avLst/>
              <a:gdLst/>
              <a:ahLst/>
              <a:cxnLst/>
              <a:rect l="l" t="t" r="r" b="b"/>
              <a:pathLst>
                <a:path w="1104900" h="323850">
                  <a:moveTo>
                    <a:pt x="161925" y="0"/>
                  </a:moveTo>
                  <a:lnTo>
                    <a:pt x="942975" y="0"/>
                  </a:lnTo>
                  <a:cubicBezTo>
                    <a:pt x="1032404" y="0"/>
                    <a:pt x="1104900" y="72496"/>
                    <a:pt x="1104900" y="161925"/>
                  </a:cubicBezTo>
                  <a:lnTo>
                    <a:pt x="1104900" y="161925"/>
                  </a:lnTo>
                  <a:cubicBezTo>
                    <a:pt x="1104900" y="251354"/>
                    <a:pt x="1032404" y="323850"/>
                    <a:pt x="9429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73" name="Freeform 73"/>
            <p:cNvSpPr/>
            <p:nvPr/>
          </p:nvSpPr>
          <p:spPr>
            <a:xfrm>
              <a:off x="9258300" y="6038850"/>
              <a:ext cx="1104900" cy="323850"/>
            </a:xfrm>
            <a:custGeom>
              <a:avLst/>
              <a:gdLst/>
              <a:ahLst/>
              <a:cxnLst/>
              <a:rect l="l" t="t" r="r" b="b"/>
              <a:pathLst>
                <a:path w="1104900" h="323850">
                  <a:moveTo>
                    <a:pt x="161925" y="0"/>
                  </a:moveTo>
                  <a:lnTo>
                    <a:pt x="942975" y="0"/>
                  </a:lnTo>
                  <a:cubicBezTo>
                    <a:pt x="1032404" y="0"/>
                    <a:pt x="1104900" y="72496"/>
                    <a:pt x="1104900" y="161925"/>
                  </a:cubicBezTo>
                  <a:lnTo>
                    <a:pt x="1104900" y="161925"/>
                  </a:lnTo>
                  <a:cubicBezTo>
                    <a:pt x="1104900" y="251354"/>
                    <a:pt x="1032404" y="323850"/>
                    <a:pt x="942975" y="323850"/>
                  </a:cubicBezTo>
                  <a:lnTo>
                    <a:pt x="161925" y="323850"/>
                  </a:lnTo>
                  <a:cubicBezTo>
                    <a:pt x="72496" y="323850"/>
                    <a:pt x="0" y="251354"/>
                    <a:pt x="0" y="161925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</a:path>
              </a:pathLst>
            </a:custGeom>
            <a:solidFill>
              <a:schemeClr val="accent6"/>
            </a:solidFill>
            <a:ln w="9525">
              <a:solidFill>
                <a:schemeClr val="accent2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472893" y="5309235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88 / 100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139893" y="5594985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74 / 100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806893" y="5861685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60 / 100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473893" y="6128385"/>
              <a:ext cx="6737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46 / 100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571500" y="5905500"/>
            <a:ext cx="11049000" cy="272987"/>
            <a:chOff x="571500" y="5905500"/>
            <a:chExt cx="11049000" cy="272987"/>
          </a:xfrm>
        </p:grpSpPr>
        <p:sp>
          <p:nvSpPr>
            <p:cNvPr id="79" name="Freeform 79"/>
            <p:cNvSpPr/>
            <p:nvPr/>
          </p:nvSpPr>
          <p:spPr>
            <a:xfrm>
              <a:off x="571500" y="5905500"/>
              <a:ext cx="11049000" cy="266700"/>
            </a:xfrm>
            <a:custGeom>
              <a:avLst/>
              <a:gdLst/>
              <a:ahLst/>
              <a:cxnLst/>
              <a:rect l="l" t="t" r="r" b="b"/>
              <a:pathLst>
                <a:path w="11049000" h="266700">
                  <a:moveTo>
                    <a:pt x="57150" y="0"/>
                  </a:moveTo>
                  <a:lnTo>
                    <a:pt x="10991850" y="0"/>
                  </a:lnTo>
                  <a:cubicBezTo>
                    <a:pt x="11023413" y="0"/>
                    <a:pt x="11049000" y="25587"/>
                    <a:pt x="11049000" y="57150"/>
                  </a:cubicBezTo>
                  <a:lnTo>
                    <a:pt x="11049000" y="209550"/>
                  </a:lnTo>
                  <a:cubicBezTo>
                    <a:pt x="11049000" y="241113"/>
                    <a:pt x="11023413" y="266700"/>
                    <a:pt x="10991850" y="266700"/>
                  </a:cubicBezTo>
                  <a:lnTo>
                    <a:pt x="57150" y="266700"/>
                  </a:lnTo>
                  <a:cubicBezTo>
                    <a:pt x="25587" y="266700"/>
                    <a:pt x="0" y="241113"/>
                    <a:pt x="0" y="2095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56666" y="5973128"/>
              <a:ext cx="5806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先把数据底座打通，再逐步放大分析、执行与度量闭环，模块越靠后越依赖前置能力成熟度。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12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Line 4"/>
            <p:cNvSpPr/>
            <p:nvPr/>
          </p:nvSpPr>
          <p:spPr>
            <a:xfrm>
              <a:off x="571500" y="381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114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8000"/>
                </a:schemeClr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304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8000"/>
                </a:schemeClr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495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8000"/>
                </a:schemeClr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85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8000"/>
                </a:schemeClr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763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8000"/>
                </a:scheme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0668000" y="0"/>
              <a:ext cx="9525" cy="6858000"/>
            </a:xfrm>
            <a:custGeom>
              <a:avLst/>
              <a:gdLst/>
              <a:ahLst/>
              <a:cxnLst/>
              <a:rect l="l" t="t" r="r" b="b"/>
              <a:pathLst>
                <a:path w="9525" h="6858000">
                  <a:moveTo>
                    <a:pt x="0" y="0"/>
                  </a:moveTo>
                  <a:lnTo>
                    <a:pt x="0" y="6858000"/>
                  </a:lnTo>
                </a:path>
              </a:pathLst>
            </a:custGeom>
            <a:noFill/>
            <a:ln w="9525">
              <a:solidFill>
                <a:schemeClr val="accent4">
                  <a:alpha val="18000"/>
                </a:schemeClr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18000"/>
                </a:schemeClr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0" y="247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18000"/>
                </a:schemeClr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0" y="3810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18000"/>
                </a:schemeClr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9525">
              <a:solidFill>
                <a:schemeClr val="accent4">
                  <a:alpha val="18000"/>
                </a:schemeClr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57784" y="629602"/>
            <a:ext cx="11067479" cy="6091714"/>
            <a:chOff x="557784" y="629602"/>
            <a:chExt cx="11067479" cy="6091714"/>
          </a:xfrm>
        </p:grpSpPr>
        <p:sp>
          <p:nvSpPr>
            <p:cNvPr id="17" name="TextBox 17"/>
            <p:cNvSpPr txBox="1"/>
            <p:nvPr/>
          </p:nvSpPr>
          <p:spPr>
            <a:xfrm>
              <a:off x="566166" y="629602"/>
              <a:ext cx="6366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57784" y="889635"/>
              <a:ext cx="405993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gradFill>
                    <a:gsLst>
                      <a:gs pos="0">
                        <a:schemeClr val="accent1"/>
                      </a:gs>
                      <a:gs pos="100000">
                        <a:schemeClr val="accent2"/>
                      </a:gs>
                    </a:gsLst>
                    <a:lin ang="2700000" scaled="1"/>
                  </a:gradFill>
                  <a:latin typeface="+mj-lt"/>
                  <a:ea typeface="+mj-ea"/>
                  <a:cs typeface="+mj-cs"/>
                </a:rPr>
                <a:t>下一步行动与风险缓释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71500" y="13716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63880" y="1609725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建议按模块上线、阶段验证的方式推进，每个里程碑均设可信成功标准。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6738" y="6559391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493570" y="655939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2095500"/>
            <a:ext cx="11220450" cy="3333750"/>
            <a:chOff x="571500" y="2095500"/>
            <a:chExt cx="11220450" cy="3333750"/>
          </a:xfrm>
        </p:grpSpPr>
        <p:sp>
          <p:nvSpPr>
            <p:cNvPr id="24" name="Freeform 24"/>
            <p:cNvSpPr/>
            <p:nvPr/>
          </p:nvSpPr>
          <p:spPr>
            <a:xfrm>
              <a:off x="571500" y="2095500"/>
              <a:ext cx="11049000" cy="3333750"/>
            </a:xfrm>
            <a:custGeom>
              <a:avLst/>
              <a:gdLst/>
              <a:ahLst/>
              <a:cxnLst/>
              <a:rect l="l" t="t" r="r" b="b"/>
              <a:pathLst>
                <a:path w="11049000" h="3333750">
                  <a:moveTo>
                    <a:pt x="152400" y="0"/>
                  </a:moveTo>
                  <a:lnTo>
                    <a:pt x="10896600" y="0"/>
                  </a:lnTo>
                  <a:cubicBezTo>
                    <a:pt x="10980768" y="0"/>
                    <a:pt x="11049000" y="68232"/>
                    <a:pt x="11049000" y="152400"/>
                  </a:cubicBezTo>
                  <a:lnTo>
                    <a:pt x="11049000" y="3181350"/>
                  </a:lnTo>
                  <a:cubicBezTo>
                    <a:pt x="11049000" y="3265518"/>
                    <a:pt x="10980768" y="3333750"/>
                    <a:pt x="10896600" y="3333750"/>
                  </a:cubicBezTo>
                  <a:lnTo>
                    <a:pt x="152400" y="3333750"/>
                  </a:lnTo>
                  <a:cubicBezTo>
                    <a:pt x="68232" y="3333750"/>
                    <a:pt x="0" y="3265518"/>
                    <a:pt x="0" y="3181350"/>
                  </a:cubicBezTo>
                  <a:lnTo>
                    <a:pt x="0" y="152400"/>
                  </a:lnTo>
                  <a:cubicBezTo>
                    <a:pt x="0" y="68232"/>
                    <a:pt x="68232" y="0"/>
                    <a:pt x="1524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619250" y="3762375"/>
              <a:ext cx="8953500" cy="9525"/>
            </a:xfrm>
            <a:custGeom>
              <a:avLst/>
              <a:gdLst/>
              <a:ahLst/>
              <a:cxnLst/>
              <a:rect l="l" t="t" r="r" b="b"/>
              <a:pathLst>
                <a:path w="8953500" h="9525">
                  <a:moveTo>
                    <a:pt x="0" y="0"/>
                  </a:moveTo>
                  <a:lnTo>
                    <a:pt x="8953500" y="0"/>
                  </a:lnTo>
                </a:path>
              </a:pathLst>
            </a:custGeom>
            <a:noFill/>
            <a:ln w="57150">
              <a:gradFill>
                <a:gsLst>
                  <a:gs pos="0">
                    <a:schemeClr val="accent2">
                      <a:alpha val="15000"/>
                    </a:schemeClr>
                  </a:gs>
                  <a:gs pos="50000">
                    <a:schemeClr val="accent2">
                      <a:alpha val="90000"/>
                    </a:schemeClr>
                  </a:gs>
                  <a:gs pos="100000">
                    <a:schemeClr val="accent2">
                      <a:alpha val="15000"/>
                    </a:schemeClr>
                  </a:gs>
                </a:gsLst>
                <a:lin ang="0" scaled="1"/>
              </a:gra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1790700" y="3552825"/>
              <a:ext cx="419100" cy="4191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1933575" y="36957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4933950" y="3552825"/>
              <a:ext cx="419100" cy="4191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076825" y="36957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8077200" y="3552825"/>
              <a:ext cx="419100" cy="4191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chemeClr val="accent2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8220075" y="3695700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10363200" y="3552825"/>
              <a:ext cx="419100" cy="419100"/>
            </a:xfrm>
            <a:prstGeom prst="ellipse">
              <a:avLst/>
            </a:prstGeom>
            <a:solidFill>
              <a:schemeClr val="lt1"/>
            </a:solidFill>
            <a:ln w="28575">
              <a:solidFill>
                <a:srgbClr val="2F855A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10506075" y="3695700"/>
              <a:ext cx="133350" cy="13335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2000250" y="3162300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39052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5143500" y="3162300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39052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8286750" y="3162300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39052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10572750" y="3162300"/>
              <a:ext cx="9525" cy="390525"/>
            </a:xfrm>
            <a:custGeom>
              <a:avLst/>
              <a:gdLst/>
              <a:ahLst/>
              <a:cxnLst/>
              <a:rect l="l" t="t" r="r" b="b"/>
              <a:pathLst>
                <a:path w="9525" h="390525">
                  <a:moveTo>
                    <a:pt x="0" y="39052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2F855A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2000250" y="3971925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5143500" y="3971925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8286750" y="3971925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10572750" y="3971925"/>
              <a:ext cx="9525" cy="352425"/>
            </a:xfrm>
            <a:custGeom>
              <a:avLst/>
              <a:gdLst/>
              <a:ahLst/>
              <a:cxnLst/>
              <a:rect l="l" t="t" r="r" b="b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2F855A"/>
              </a:solidFill>
            </a:ln>
          </p:spPr>
        </p:sp>
        <p:sp>
          <p:nvSpPr>
            <p:cNvPr id="42" name="Freeform 42"/>
            <p:cNvSpPr/>
            <p:nvPr/>
          </p:nvSpPr>
          <p:spPr>
            <a:xfrm>
              <a:off x="1047750" y="2457450"/>
              <a:ext cx="1905000" cy="666750"/>
            </a:xfrm>
            <a:custGeom>
              <a:avLst/>
              <a:gdLst/>
              <a:ahLst/>
              <a:cxnLst/>
              <a:rect l="l" t="t" r="r" b="b"/>
              <a:pathLst>
                <a:path w="1905000" h="66675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552450"/>
                  </a:lnTo>
                  <a:cubicBezTo>
                    <a:pt x="1905000" y="615576"/>
                    <a:pt x="1853826" y="666750"/>
                    <a:pt x="179070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13866" y="2582228"/>
              <a:ext cx="7230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1–30 天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12342" y="27879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数据整合试点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4191000" y="2457450"/>
              <a:ext cx="1905000" cy="666750"/>
            </a:xfrm>
            <a:custGeom>
              <a:avLst/>
              <a:gdLst/>
              <a:ahLst/>
              <a:cxnLst/>
              <a:rect l="l" t="t" r="r" b="b"/>
              <a:pathLst>
                <a:path w="1905000" h="66675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552450"/>
                  </a:lnTo>
                  <a:cubicBezTo>
                    <a:pt x="1905000" y="615576"/>
                    <a:pt x="1853826" y="666750"/>
                    <a:pt x="179070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357116" y="2582228"/>
              <a:ext cx="8047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31–60 天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355592" y="2787968"/>
              <a:ext cx="14553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AI 分析模块上线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7334250" y="2457450"/>
              <a:ext cx="1905000" cy="666750"/>
            </a:xfrm>
            <a:custGeom>
              <a:avLst/>
              <a:gdLst/>
              <a:ahLst/>
              <a:cxnLst/>
              <a:rect l="l" t="t" r="r" b="b"/>
              <a:pathLst>
                <a:path w="1905000" h="66675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552450"/>
                  </a:lnTo>
                  <a:cubicBezTo>
                    <a:pt x="1905000" y="615576"/>
                    <a:pt x="1853826" y="666750"/>
                    <a:pt x="179070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500366" y="2582228"/>
              <a:ext cx="8047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第 61–90 天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98842" y="278796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执行与度量上线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9353550" y="2457450"/>
              <a:ext cx="2438400" cy="666750"/>
            </a:xfrm>
            <a:custGeom>
              <a:avLst/>
              <a:gdLst/>
              <a:ahLst/>
              <a:cxnLst/>
              <a:rect l="l" t="t" r="r" b="b"/>
              <a:pathLst>
                <a:path w="2438400" h="666750">
                  <a:moveTo>
                    <a:pt x="114300" y="0"/>
                  </a:moveTo>
                  <a:lnTo>
                    <a:pt x="2324100" y="0"/>
                  </a:lnTo>
                  <a:cubicBezTo>
                    <a:pt x="2387226" y="0"/>
                    <a:pt x="2438400" y="51174"/>
                    <a:pt x="2438400" y="114300"/>
                  </a:cubicBezTo>
                  <a:lnTo>
                    <a:pt x="2438400" y="552450"/>
                  </a:lnTo>
                  <a:cubicBezTo>
                    <a:pt x="2438400" y="615576"/>
                    <a:pt x="2387226" y="666750"/>
                    <a:pt x="2324100" y="666750"/>
                  </a:cubicBezTo>
                  <a:lnTo>
                    <a:pt x="114300" y="666750"/>
                  </a:lnTo>
                  <a:cubicBezTo>
                    <a:pt x="51174" y="666750"/>
                    <a:pt x="0" y="615576"/>
                    <a:pt x="0" y="5524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6"/>
            </a:solidFill>
            <a:ln w="14288">
              <a:solidFill>
                <a:srgbClr val="2F855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519666" y="2582228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持续优化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18142" y="2787968"/>
              <a:ext cx="18081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ROI 可追踪增长闭环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857250" y="43243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14300" y="0"/>
                  </a:moveTo>
                  <a:lnTo>
                    <a:pt x="2171700" y="0"/>
                  </a:lnTo>
                  <a:cubicBezTo>
                    <a:pt x="2234826" y="0"/>
                    <a:pt x="2286000" y="51174"/>
                    <a:pt x="2286000" y="114300"/>
                  </a:cubicBezTo>
                  <a:lnTo>
                    <a:pt x="2286000" y="742950"/>
                  </a:lnTo>
                  <a:cubicBezTo>
                    <a:pt x="2286000" y="806076"/>
                    <a:pt x="2234826" y="857250"/>
                    <a:pt x="2171700" y="857250"/>
                  </a:cubicBezTo>
                  <a:lnTo>
                    <a:pt x="114300" y="857250"/>
                  </a:lnTo>
                  <a:cubicBezTo>
                    <a:pt x="51174" y="857250"/>
                    <a:pt x="0" y="806076"/>
                    <a:pt x="0" y="742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40892" y="4445318"/>
              <a:ext cx="15116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 个核心渠道接入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41654" y="4699635"/>
              <a:ext cx="15142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统一 API / CSV 口径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41654" y="4909185"/>
              <a:ext cx="1728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输出首版 Customer360</a:t>
              </a:r>
            </a:p>
          </p:txBody>
        </p:sp>
        <p:sp>
          <p:nvSpPr>
            <p:cNvPr id="58" name="Freeform 58"/>
            <p:cNvSpPr/>
            <p:nvPr/>
          </p:nvSpPr>
          <p:spPr>
            <a:xfrm>
              <a:off x="4000500" y="43243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14300" y="0"/>
                  </a:moveTo>
                  <a:lnTo>
                    <a:pt x="2171700" y="0"/>
                  </a:lnTo>
                  <a:cubicBezTo>
                    <a:pt x="2234826" y="0"/>
                    <a:pt x="2286000" y="51174"/>
                    <a:pt x="2286000" y="114300"/>
                  </a:cubicBezTo>
                  <a:lnTo>
                    <a:pt x="2286000" y="742950"/>
                  </a:lnTo>
                  <a:cubicBezTo>
                    <a:pt x="2286000" y="806076"/>
                    <a:pt x="2234826" y="857250"/>
                    <a:pt x="2171700" y="857250"/>
                  </a:cubicBezTo>
                  <a:lnTo>
                    <a:pt x="114300" y="857250"/>
                  </a:lnTo>
                  <a:cubicBezTo>
                    <a:pt x="51174" y="857250"/>
                    <a:pt x="0" y="806076"/>
                    <a:pt x="0" y="742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184142" y="44453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历史数据建模完成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184904" y="4699635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归因与人群模型上线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184904" y="49091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完成首轮增量测试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7143750" y="4324350"/>
              <a:ext cx="2286000" cy="857250"/>
            </a:xfrm>
            <a:custGeom>
              <a:avLst/>
              <a:gdLst/>
              <a:ahLst/>
              <a:cxnLst/>
              <a:rect l="l" t="t" r="r" b="b"/>
              <a:pathLst>
                <a:path w="2286000" h="857250">
                  <a:moveTo>
                    <a:pt x="114300" y="0"/>
                  </a:moveTo>
                  <a:lnTo>
                    <a:pt x="2171700" y="0"/>
                  </a:lnTo>
                  <a:cubicBezTo>
                    <a:pt x="2234826" y="0"/>
                    <a:pt x="2286000" y="51174"/>
                    <a:pt x="2286000" y="114300"/>
                  </a:cubicBezTo>
                  <a:lnTo>
                    <a:pt x="2286000" y="742950"/>
                  </a:lnTo>
                  <a:cubicBezTo>
                    <a:pt x="2286000" y="806076"/>
                    <a:pt x="2234826" y="857250"/>
                    <a:pt x="2171700" y="857250"/>
                  </a:cubicBezTo>
                  <a:lnTo>
                    <a:pt x="114300" y="857250"/>
                  </a:lnTo>
                  <a:cubicBezTo>
                    <a:pt x="51174" y="857250"/>
                    <a:pt x="0" y="806076"/>
                    <a:pt x="0" y="742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chemeClr val="accent4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27392" y="44453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全链路执行打通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328154" y="4699635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触达、投放、回流联动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28154" y="490918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交付首次归因报告</a:t>
              </a:r>
            </a:p>
          </p:txBody>
        </p:sp>
        <p:sp>
          <p:nvSpPr>
            <p:cNvPr id="66" name="Freeform 66"/>
            <p:cNvSpPr/>
            <p:nvPr/>
          </p:nvSpPr>
          <p:spPr>
            <a:xfrm>
              <a:off x="9715500" y="4324350"/>
              <a:ext cx="1714500" cy="857250"/>
            </a:xfrm>
            <a:custGeom>
              <a:avLst/>
              <a:gdLst/>
              <a:ahLst/>
              <a:cxnLst/>
              <a:rect l="l" t="t" r="r" b="b"/>
              <a:pathLst>
                <a:path w="1714500" h="857250">
                  <a:moveTo>
                    <a:pt x="114300" y="0"/>
                  </a:moveTo>
                  <a:lnTo>
                    <a:pt x="1600200" y="0"/>
                  </a:lnTo>
                  <a:cubicBezTo>
                    <a:pt x="1663326" y="0"/>
                    <a:pt x="1714500" y="51174"/>
                    <a:pt x="1714500" y="114300"/>
                  </a:cubicBezTo>
                  <a:lnTo>
                    <a:pt x="1714500" y="742950"/>
                  </a:lnTo>
                  <a:cubicBezTo>
                    <a:pt x="1714500" y="806076"/>
                    <a:pt x="1663326" y="857250"/>
                    <a:pt x="1600200" y="857250"/>
                  </a:cubicBezTo>
                  <a:lnTo>
                    <a:pt x="114300" y="857250"/>
                  </a:lnTo>
                  <a:cubicBezTo>
                    <a:pt x="51174" y="857250"/>
                    <a:pt x="0" y="806076"/>
                    <a:pt x="0" y="742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1"/>
            </a:solidFill>
            <a:ln w="14288">
              <a:solidFill>
                <a:srgbClr val="2F855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899142" y="44453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最终落点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899904" y="46996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每月联合复盘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899904" y="490918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收益驱动迭代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71500" y="5638800"/>
            <a:ext cx="11049000" cy="685800"/>
            <a:chOff x="571500" y="5638800"/>
            <a:chExt cx="11049000" cy="685800"/>
          </a:xfrm>
        </p:grpSpPr>
        <p:sp>
          <p:nvSpPr>
            <p:cNvPr id="71" name="Freeform 71"/>
            <p:cNvSpPr/>
            <p:nvPr/>
          </p:nvSpPr>
          <p:spPr>
            <a:xfrm>
              <a:off x="571500" y="5638800"/>
              <a:ext cx="11049000" cy="685800"/>
            </a:xfrm>
            <a:custGeom>
              <a:avLst/>
              <a:gdLst/>
              <a:ahLst/>
              <a:cxnLst/>
              <a:rect l="l" t="t" r="r" b="b"/>
              <a:pathLst>
                <a:path w="11049000" h="6858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571500"/>
                  </a:lnTo>
                  <a:cubicBezTo>
                    <a:pt x="11049000" y="634626"/>
                    <a:pt x="10997826" y="685800"/>
                    <a:pt x="10934700" y="685800"/>
                  </a:cubicBezTo>
                  <a:lnTo>
                    <a:pt x="114300" y="685800"/>
                  </a:lnTo>
                  <a:cubicBezTo>
                    <a:pt x="51174" y="685800"/>
                    <a:pt x="0" y="634626"/>
                    <a:pt x="0" y="5715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13816" y="57921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风险缓释原则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12292" y="6007418"/>
              <a:ext cx="86355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每阶段只新增一个核心能力，同时绑定成功标准：接入可用、模型可验证、执行可归因、ROI 可追踪。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2026-07-10T23:36:53Z</dcterms:created>
  <dcterms:modified xsi:type="dcterms:W3CDTF">2026-07-10T23:36:53Z</dcterms:modified>
  <cp:category/>
  <cp:contentStatus/>
</cp:coreProperties>
</file>