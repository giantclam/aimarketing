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让每一次营销决策都基于实时数据、AI洞察和自动闭环——从经验驱动到智能决策。</a:t>
            </a:r>
          </a:p>
          <a:p>
            <a:endParaRPr lang="en-US" dirty="0"/>
          </a:p>
          <a:p>
            <a:r>
              <a:rPr lang="zh-CN" dirty="0"/>
              <a:t>• 企业AI营销工作台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执行简报：5个决策要点</a:t>
            </a:r>
          </a:p>
          <a:p>
            <a:endParaRPr lang="en-US" dirty="0"/>
          </a:p>
          <a:p>
            <a:r>
              <a:rPr lang="zh-CN" dirty="0"/>
              <a:t>本页概览核心议题：现状、风险、全球影响与后续观察重点。</a:t>
            </a:r>
          </a:p>
          <a:p>
            <a:endParaRPr lang="en-US" dirty="0"/>
          </a:p>
          <a:p>
            <a:r>
              <a:rPr lang="zh-CN" dirty="0"/>
              <a:t>• 分散的数据与滞后的分析正在拖垮增长——AI营销工作台是唯一解法</a:t>
            </a:r>
          </a:p>
          <a:p>
            <a:r>
              <a:rPr lang="zh-CN" dirty="0"/>
              <a:t>• 不是一堆工具，而是一个从数据到行动的闭环系统</a:t>
            </a:r>
          </a:p>
          <a:p>
            <a:r>
              <a:rPr lang="zh-CN" dirty="0"/>
              <a:t>• 已有案例显示ROI提升35%+，活动创建时间从天降至分钟级</a:t>
            </a:r>
          </a:p>
          <a:p>
            <a:r>
              <a:rPr lang="zh-CN" dirty="0"/>
              <a:t>• 标准连接器+私有化模型训练+权限体系，4周内看到首轮效果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决策断点，正在吃掉你的增长</a:t>
            </a:r>
          </a:p>
          <a:p>
            <a:endParaRPr lang="en-US" dirty="0"/>
          </a:p>
          <a:p>
            <a:r>
              <a:rPr lang="zh-CN" dirty="0"/>
              <a:t>企业平均使用12+个营销工具，数据互不相通，分析依赖人工，执行无法闭环，优化永远滞后——唯一的解决方案是构建以AI为核心的营销决策工作台。</a:t>
            </a:r>
          </a:p>
          <a:p>
            <a:endParaRPr lang="en-US" dirty="0"/>
          </a:p>
          <a:p>
            <a:r>
              <a:rPr lang="zh-CN" dirty="0"/>
              <a:t>• 跨渠道、跨系统的数据实时汇聚，消除信息孤岛</a:t>
            </a:r>
          </a:p>
          <a:p>
            <a:r>
              <a:rPr lang="zh-CN" dirty="0"/>
              <a:t>• AI模型在分钟级完成受众预测、内容推荐与预算分配</a:t>
            </a:r>
          </a:p>
          <a:p>
            <a:r>
              <a:rPr lang="zh-CN" dirty="0"/>
              <a:t>• 自动化引擎将策略毫秒级推送到各触点，并实时回传效果数据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传统营销模式vsAI营销工作台</a:t>
            </a:r>
          </a:p>
          <a:p>
            <a:endParaRPr lang="en-US" dirty="0"/>
          </a:p>
          <a:p>
            <a:r>
              <a:rPr lang="zh-CN" dirty="0"/>
              <a:t>同样的目标，完全不同的效率——以下对比说明为什么现在必须升级。</a:t>
            </a:r>
          </a:p>
          <a:p>
            <a:endParaRPr lang="en-US" dirty="0"/>
          </a:p>
          <a:p>
            <a:r>
              <a:rPr lang="zh-CN" dirty="0"/>
              <a:t>• AI工作台：预置50+连接器，数据分钟级同步，自动打标与去重</a:t>
            </a:r>
          </a:p>
          <a:p>
            <a:r>
              <a:rPr lang="zh-CN" dirty="0"/>
              <a:t>• AI工作台：实时预测分群、LTV估算、流失预警，模型自迭代</a:t>
            </a:r>
          </a:p>
          <a:p>
            <a:r>
              <a:rPr lang="zh-CN" dirty="0"/>
              <a:t>• AI工作台：一站式编排，策略自动推送到邮件、短信、广告、APP，并实时回收效果</a:t>
            </a:r>
          </a:p>
          <a:p>
            <a:r>
              <a:rPr lang="zh-CN" dirty="0"/>
              <a:t>• 关键变量对比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真实成效：AI营销工作台带来的可量化价值</a:t>
            </a:r>
          </a:p>
          <a:p>
            <a:endParaRPr lang="en-US" dirty="0"/>
          </a:p>
          <a:p>
            <a:r>
              <a:rPr lang="zh-CN" dirty="0"/>
              <a:t>基于现有行业客户与内部压力测试数据，核心结果如下：。</a:t>
            </a:r>
          </a:p>
          <a:p>
            <a:endParaRPr lang="en-US" dirty="0"/>
          </a:p>
          <a:p>
            <a:r>
              <a:rPr lang="zh-CN" dirty="0"/>
              <a:t>• 某零售品牌在促销场景中启用AI选品与智能人群定向，ROI较人工策划阶跃提升</a:t>
            </a:r>
          </a:p>
          <a:p>
            <a:r>
              <a:rPr lang="zh-CN" dirty="0"/>
              <a:t>• AI驱动的文案与创意素材生成，将物料准备时间从3天压缩至4小时</a:t>
            </a:r>
          </a:p>
          <a:p>
            <a:r>
              <a:rPr lang="zh-CN" dirty="0"/>
              <a:t>• 个性化触发引擎使邮件打开率与短信点击率同步提升2倍以上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平台核心能力指标</a:t>
            </a:r>
          </a:p>
          <a:p>
            <a:endParaRPr lang="en-US" dirty="0"/>
          </a:p>
          <a:p>
            <a:r>
              <a:rPr lang="zh-CN" dirty="0"/>
              <a:t>不只是功能全面，性能数据才是企业级可靠性的证明。</a:t>
            </a:r>
          </a:p>
          <a:p>
            <a:endParaRPr lang="en-US" dirty="0"/>
          </a:p>
          <a:p>
            <a:r>
              <a:rPr lang="zh-CN" dirty="0"/>
              <a:t>• 数据同步准确率</a:t>
            </a:r>
          </a:p>
          <a:p>
            <a:r>
              <a:rPr lang="zh-CN" dirty="0"/>
              <a:t>• 推荐推理延迟</a:t>
            </a:r>
          </a:p>
          <a:p>
            <a:r>
              <a:rPr lang="zh-CN" dirty="0"/>
              <a:t>• 预置AI模型</a:t>
            </a:r>
          </a:p>
          <a:p>
            <a:r>
              <a:rPr lang="zh-CN" dirty="0"/>
              <a:t>• 活动创建耗时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AI赋能全渠道效能提升</a:t>
            </a:r>
          </a:p>
          <a:p>
            <a:endParaRPr lang="en-US" dirty="0"/>
          </a:p>
          <a:p>
            <a:r>
              <a:rPr lang="zh-CN" dirty="0"/>
              <a:t>启用AI驱动后，各渠道关键指标的增长幅度如下：。</a:t>
            </a:r>
          </a:p>
          <a:p>
            <a:endParaRPr lang="en-US" dirty="0"/>
          </a:p>
          <a:p>
            <a:r>
              <a:rPr lang="zh-CN" dirty="0"/>
              <a:t>• 打开率提升，AI优化发送时机与标题</a:t>
            </a:r>
          </a:p>
          <a:p>
            <a:r>
              <a:rPr lang="zh-CN" dirty="0"/>
              <a:t>• 转化率提升，基于实时行为的个性化推荐</a:t>
            </a:r>
          </a:p>
          <a:p>
            <a:r>
              <a:rPr lang="zh-CN" dirty="0"/>
              <a:t>• 互动率提升，AI生成多样化创意帖文</a:t>
            </a:r>
          </a:p>
          <a:p>
            <a:r>
              <a:rPr lang="zh-CN" dirty="0"/>
              <a:t>• 点击率提升，动态关键词出价与人群包优化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下一步：建议立即启动的三个行动</a:t>
            </a:r>
          </a:p>
          <a:p>
            <a:endParaRPr lang="en-US" dirty="0"/>
          </a:p>
          <a:p>
            <a:r>
              <a:rPr lang="zh-CN" dirty="0"/>
              <a:t>无需冗长的论证期，以下路径可在30天内完成平台部署并产生可感知的效果回报。</a:t>
            </a:r>
          </a:p>
          <a:p>
            <a:endParaRPr lang="en-US" dirty="0"/>
          </a:p>
          <a:p>
            <a:r>
              <a:rPr lang="zh-CN" dirty="0"/>
              <a:t>• 完成数据源接入与标准连接器部署，启动数据冷启动与质量校验</a:t>
            </a:r>
          </a:p>
          <a:p>
            <a:r>
              <a:rPr lang="zh-CN" dirty="0"/>
              <a:t>• 基于业务目标完成AI模型优选与场景策略配置，开启内部测试</a:t>
            </a:r>
          </a:p>
          <a:p>
            <a:r>
              <a:rPr lang="zh-CN" dirty="0"/>
              <a:t>• 试点业务线正式跑量，回传效果数据并调优，产出首份ROI验证报告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5964d0aa44935984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7999">
                  <a:schemeClr val="lt1"/>
                </a:gs>
                <a:gs pos="100000">
                  <a:schemeClr val="lt1">
                    <a:alpha val="78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>
                <a:alpha val="5000"/>
              </a:schemeClr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22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16000"/>
                </a:schemeClr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66166" y="591502"/>
            <a:ext cx="11059096" cy="6091714"/>
            <a:chOff x="566166" y="591502"/>
            <a:chExt cx="11059096" cy="6091714"/>
          </a:xfrm>
        </p:grpSpPr>
        <p:sp>
          <p:nvSpPr>
            <p:cNvPr id="12" name="TextBox 12"/>
            <p:cNvSpPr txBox="1"/>
            <p:nvPr/>
          </p:nvSpPr>
          <p:spPr>
            <a:xfrm>
              <a:off x="566166" y="591502"/>
              <a:ext cx="828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35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GRIDBRIEF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8763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763250" y="8763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243681" y="65212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738" y="6521291"/>
              <a:ext cx="16829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product-launch · SaaS solution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52450" y="1238250"/>
            <a:ext cx="10629900" cy="4381500"/>
            <a:chOff x="552450" y="1238250"/>
            <a:chExt cx="10629900" cy="4381500"/>
          </a:xfrm>
        </p:grpSpPr>
        <p:sp>
          <p:nvSpPr>
            <p:cNvPr id="18" name="TextBox 18"/>
            <p:cNvSpPr txBox="1"/>
            <p:nvPr/>
          </p:nvSpPr>
          <p:spPr>
            <a:xfrm>
              <a:off x="552450" y="1767840"/>
              <a:ext cx="68715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企业AI营销工作台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71500" y="25908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62356" y="2967990"/>
              <a:ext cx="6124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让每一次营销决策都基于实时数据、AI洞察和自动闭环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2356" y="32918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从经验驱动到智能决策。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71500" y="4210050"/>
              <a:ext cx="4267200" cy="742950"/>
            </a:xfrm>
            <a:custGeom>
              <a:avLst/>
              <a:gdLst/>
              <a:ahLst/>
              <a:cxnLst/>
              <a:rect l="l" t="t" r="r" b="b"/>
              <a:pathLst>
                <a:path w="4267200" h="742950">
                  <a:moveTo>
                    <a:pt x="114300" y="0"/>
                  </a:moveTo>
                  <a:lnTo>
                    <a:pt x="4152900" y="0"/>
                  </a:lnTo>
                  <a:cubicBezTo>
                    <a:pt x="4216026" y="0"/>
                    <a:pt x="4267200" y="51174"/>
                    <a:pt x="4267200" y="114300"/>
                  </a:cubicBezTo>
                  <a:lnTo>
                    <a:pt x="4267200" y="628650"/>
                  </a:lnTo>
                  <a:cubicBezTo>
                    <a:pt x="4267200" y="691776"/>
                    <a:pt x="4216026" y="742950"/>
                    <a:pt x="4152900" y="742950"/>
                  </a:cubicBezTo>
                  <a:lnTo>
                    <a:pt x="114300" y="742950"/>
                  </a:lnTo>
                  <a:cubicBezTo>
                    <a:pt x="51174" y="742950"/>
                    <a:pt x="0" y="691776"/>
                    <a:pt x="0" y="628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28675" y="45339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9942" y="4502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2047875" y="45339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279142" y="4502468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152775" y="45339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384042" y="45024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1552575" y="48863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83842" y="48548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2700338" y="4910138"/>
              <a:ext cx="47625" cy="47625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871788" y="4910138"/>
              <a:ext cx="47625" cy="47625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043238" y="4910138"/>
              <a:ext cx="47625" cy="47625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086600" y="1238250"/>
              <a:ext cx="4095750" cy="4381500"/>
            </a:xfrm>
            <a:custGeom>
              <a:avLst/>
              <a:gdLst/>
              <a:ahLst/>
              <a:cxnLst/>
              <a:rect l="l" t="t" r="r" b="b"/>
              <a:pathLst>
                <a:path w="4095750" h="4381500">
                  <a:moveTo>
                    <a:pt x="171450" y="0"/>
                  </a:moveTo>
                  <a:lnTo>
                    <a:pt x="3924300" y="0"/>
                  </a:lnTo>
                  <a:cubicBezTo>
                    <a:pt x="4018989" y="0"/>
                    <a:pt x="4095750" y="76761"/>
                    <a:pt x="4095750" y="171450"/>
                  </a:cubicBezTo>
                  <a:lnTo>
                    <a:pt x="4095750" y="4210050"/>
                  </a:lnTo>
                  <a:cubicBezTo>
                    <a:pt x="4095750" y="4304739"/>
                    <a:pt x="4018989" y="4381500"/>
                    <a:pt x="3924300" y="4381500"/>
                  </a:cubicBezTo>
                  <a:lnTo>
                    <a:pt x="171450" y="4381500"/>
                  </a:lnTo>
                  <a:cubicBezTo>
                    <a:pt x="76761" y="4381500"/>
                    <a:pt x="0" y="4304739"/>
                    <a:pt x="0" y="42100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1">
                <a:alpha val="50000"/>
              </a:schemeClr>
            </a:solidFill>
            <a:ln w="11430">
              <a:solidFill>
                <a:schemeClr val="accent4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524750" y="1771650"/>
              <a:ext cx="1066800" cy="438150"/>
            </a:xfrm>
            <a:custGeom>
              <a:avLst/>
              <a:gdLst/>
              <a:ahLst/>
              <a:cxnLst/>
              <a:rect l="l" t="t" r="r" b="b"/>
              <a:pathLst>
                <a:path w="1066800" h="43815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342900"/>
                  </a:lnTo>
                  <a:cubicBezTo>
                    <a:pt x="1066800" y="395505"/>
                    <a:pt x="1024155" y="438150"/>
                    <a:pt x="971550" y="438150"/>
                  </a:cubicBezTo>
                  <a:lnTo>
                    <a:pt x="95250" y="438150"/>
                  </a:lnTo>
                  <a:cubicBezTo>
                    <a:pt x="42645" y="438150"/>
                    <a:pt x="0" y="395505"/>
                    <a:pt x="0" y="3429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91228" y="19007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多源数据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9639300" y="1771650"/>
              <a:ext cx="1066800" cy="438150"/>
            </a:xfrm>
            <a:custGeom>
              <a:avLst/>
              <a:gdLst/>
              <a:ahLst/>
              <a:cxnLst/>
              <a:rect l="l" t="t" r="r" b="b"/>
              <a:pathLst>
                <a:path w="1066800" h="43815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342900"/>
                  </a:lnTo>
                  <a:cubicBezTo>
                    <a:pt x="1066800" y="395505"/>
                    <a:pt x="1024155" y="438150"/>
                    <a:pt x="971550" y="438150"/>
                  </a:cubicBezTo>
                  <a:lnTo>
                    <a:pt x="95250" y="438150"/>
                  </a:lnTo>
                  <a:cubicBezTo>
                    <a:pt x="42645" y="438150"/>
                    <a:pt x="0" y="395505"/>
                    <a:pt x="0" y="3429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894869" y="1900714"/>
              <a:ext cx="555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AI引擎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7524750" y="3086100"/>
              <a:ext cx="1066800" cy="438150"/>
            </a:xfrm>
            <a:custGeom>
              <a:avLst/>
              <a:gdLst/>
              <a:ahLst/>
              <a:cxnLst/>
              <a:rect l="l" t="t" r="r" b="b"/>
              <a:pathLst>
                <a:path w="1066800" h="43815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342900"/>
                  </a:lnTo>
                  <a:cubicBezTo>
                    <a:pt x="1066800" y="395505"/>
                    <a:pt x="1024155" y="438150"/>
                    <a:pt x="971550" y="438150"/>
                  </a:cubicBezTo>
                  <a:lnTo>
                    <a:pt x="95250" y="438150"/>
                  </a:lnTo>
                  <a:cubicBezTo>
                    <a:pt x="42645" y="438150"/>
                    <a:pt x="0" y="395505"/>
                    <a:pt x="0" y="3429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691228" y="32151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策略编排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9639300" y="3086100"/>
              <a:ext cx="1066800" cy="438150"/>
            </a:xfrm>
            <a:custGeom>
              <a:avLst/>
              <a:gdLst/>
              <a:ahLst/>
              <a:cxnLst/>
              <a:rect l="l" t="t" r="r" b="b"/>
              <a:pathLst>
                <a:path w="1066800" h="43815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342900"/>
                  </a:lnTo>
                  <a:cubicBezTo>
                    <a:pt x="1066800" y="395505"/>
                    <a:pt x="1024155" y="438150"/>
                    <a:pt x="971550" y="438150"/>
                  </a:cubicBezTo>
                  <a:lnTo>
                    <a:pt x="95250" y="438150"/>
                  </a:lnTo>
                  <a:cubicBezTo>
                    <a:pt x="42645" y="438150"/>
                    <a:pt x="0" y="395505"/>
                    <a:pt x="0" y="3429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805778" y="32151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渠道执行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591550" y="4400550"/>
              <a:ext cx="1066800" cy="438150"/>
            </a:xfrm>
            <a:custGeom>
              <a:avLst/>
              <a:gdLst/>
              <a:ahLst/>
              <a:cxnLst/>
              <a:rect l="l" t="t" r="r" b="b"/>
              <a:pathLst>
                <a:path w="1066800" h="438150">
                  <a:moveTo>
                    <a:pt x="95250" y="0"/>
                  </a:moveTo>
                  <a:lnTo>
                    <a:pt x="971550" y="0"/>
                  </a:lnTo>
                  <a:cubicBezTo>
                    <a:pt x="1024155" y="0"/>
                    <a:pt x="1066800" y="42645"/>
                    <a:pt x="1066800" y="95250"/>
                  </a:cubicBezTo>
                  <a:lnTo>
                    <a:pt x="1066800" y="342900"/>
                  </a:lnTo>
                  <a:cubicBezTo>
                    <a:pt x="1066800" y="395505"/>
                    <a:pt x="1024155" y="438150"/>
                    <a:pt x="971550" y="438150"/>
                  </a:cubicBezTo>
                  <a:lnTo>
                    <a:pt x="95250" y="438150"/>
                  </a:lnTo>
                  <a:cubicBezTo>
                    <a:pt x="42645" y="438150"/>
                    <a:pt x="0" y="395505"/>
                    <a:pt x="0" y="3429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5802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效果回流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591550" y="1990725"/>
              <a:ext cx="1047750" cy="1"/>
            </a:xfrm>
            <a:prstGeom prst="line">
              <a:avLst/>
            </a:prstGeom>
            <a:noFill/>
            <a:ln w="2095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6" name="Line 46"/>
            <p:cNvSpPr/>
            <p:nvPr/>
          </p:nvSpPr>
          <p:spPr>
            <a:xfrm>
              <a:off x="8058150" y="2209800"/>
              <a:ext cx="1" cy="876300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7" name="Line 47"/>
            <p:cNvSpPr/>
            <p:nvPr/>
          </p:nvSpPr>
          <p:spPr>
            <a:xfrm>
              <a:off x="10172700" y="2209800"/>
              <a:ext cx="1" cy="876300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8" name="Line 48"/>
            <p:cNvSpPr/>
            <p:nvPr/>
          </p:nvSpPr>
          <p:spPr>
            <a:xfrm>
              <a:off x="8591550" y="3305175"/>
              <a:ext cx="1047750" cy="1"/>
            </a:xfrm>
            <a:prstGeom prst="line">
              <a:avLst/>
            </a:prstGeom>
            <a:noFill/>
            <a:ln w="1714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49" name="Line 49"/>
            <p:cNvSpPr/>
            <p:nvPr/>
          </p:nvSpPr>
          <p:spPr>
            <a:xfrm flipH="1">
              <a:off x="9658350" y="3524250"/>
              <a:ext cx="514350" cy="8763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50" name="Line 50"/>
            <p:cNvSpPr/>
            <p:nvPr/>
          </p:nvSpPr>
          <p:spPr>
            <a:xfrm flipH="1" flipV="1">
              <a:off x="8058150" y="3524250"/>
              <a:ext cx="533400" cy="10953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51" name="Ellipse 51"/>
            <p:cNvSpPr/>
            <p:nvPr/>
          </p:nvSpPr>
          <p:spPr>
            <a:xfrm>
              <a:off x="8382000" y="1905000"/>
              <a:ext cx="1485900" cy="1485900"/>
            </a:xfrm>
            <a:prstGeom prst="ellipse">
              <a:avLst/>
            </a:prstGeom>
            <a:noFill/>
            <a:ln w="15240">
              <a:solidFill>
                <a:schemeClr val="accent2">
                  <a:alpha val="25000"/>
                </a:schemeClr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8096250" y="1619250"/>
              <a:ext cx="2057400" cy="2057400"/>
            </a:xfrm>
            <a:prstGeom prst="ellipse">
              <a:avLst/>
            </a:prstGeom>
            <a:noFill/>
            <a:ln w="9525">
              <a:solidFill>
                <a:schemeClr val="accent2">
                  <a:alpha val="16000"/>
                </a:schemeClr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9086850" y="26098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5029200" y="3714750"/>
            <a:ext cx="2133600" cy="949261"/>
            <a:chOff x="5029200" y="3714750"/>
            <a:chExt cx="2133600" cy="949261"/>
          </a:xfrm>
        </p:grpSpPr>
        <p:sp>
          <p:nvSpPr>
            <p:cNvPr id="55" name="Freeform 55"/>
            <p:cNvSpPr/>
            <p:nvPr/>
          </p:nvSpPr>
          <p:spPr>
            <a:xfrm>
              <a:off x="5029200" y="3752850"/>
              <a:ext cx="2095500" cy="704850"/>
            </a:xfrm>
            <a:custGeom>
              <a:avLst/>
              <a:gdLst/>
              <a:ahLst/>
              <a:cxnLst/>
              <a:rect l="l" t="t" r="r" b="b"/>
              <a:pathLst>
                <a:path w="2095500" h="704850">
                  <a:moveTo>
                    <a:pt x="0" y="704850"/>
                  </a:moveTo>
                  <a:cubicBezTo>
                    <a:pt x="781050" y="704850"/>
                    <a:pt x="1314450" y="342900"/>
                    <a:pt x="2095500" y="0"/>
                  </a:cubicBezTo>
                </a:path>
              </a:pathLst>
            </a:custGeom>
            <a:noFill/>
            <a:ln w="15240">
              <a:solidFill>
                <a:schemeClr val="accent2">
                  <a:alpha val="65000"/>
                </a:schemeClr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7086600" y="37147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5219700" y="3905250"/>
              <a:ext cx="1485900" cy="723900"/>
            </a:xfrm>
            <a:custGeom>
              <a:avLst/>
              <a:gdLst/>
              <a:ahLst/>
              <a:cxnLst/>
              <a:rect l="l" t="t" r="r" b="b"/>
              <a:pathLst>
                <a:path w="1485900" h="723900">
                  <a:moveTo>
                    <a:pt x="95250" y="0"/>
                  </a:moveTo>
                  <a:lnTo>
                    <a:pt x="1390650" y="0"/>
                  </a:lnTo>
                  <a:cubicBezTo>
                    <a:pt x="1443255" y="0"/>
                    <a:pt x="1485900" y="42645"/>
                    <a:pt x="1485900" y="95250"/>
                  </a:cubicBezTo>
                  <a:lnTo>
                    <a:pt x="1485900" y="628650"/>
                  </a:lnTo>
                  <a:cubicBezTo>
                    <a:pt x="1485900" y="681255"/>
                    <a:pt x="1443255" y="723900"/>
                    <a:pt x="1390650" y="723900"/>
                  </a:cubicBezTo>
                  <a:lnTo>
                    <a:pt x="95250" y="723900"/>
                  </a:lnTo>
                  <a:cubicBezTo>
                    <a:pt x="42645" y="723900"/>
                    <a:pt x="0" y="681255"/>
                    <a:pt x="0" y="628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85816" y="40395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主轴：统一数据进入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385816" y="4249102"/>
              <a:ext cx="1183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AI生成洞察与策略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385816" y="44586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形成执行与度量闭环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914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9525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695700" y="160020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0"/>
                  </a:moveTo>
                  <a:lnTo>
                    <a:pt x="0" y="42862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695700" y="245745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695700" y="331470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95700" y="417195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695700" y="502920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695700" y="588645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57784" y="401002"/>
            <a:ext cx="11067479" cy="6206014"/>
            <a:chOff x="557784" y="401002"/>
            <a:chExt cx="11067479" cy="6206014"/>
          </a:xfrm>
        </p:grpSpPr>
        <p:sp>
          <p:nvSpPr>
            <p:cNvPr id="13" name="TextBox 13"/>
            <p:cNvSpPr txBox="1"/>
            <p:nvPr/>
          </p:nvSpPr>
          <p:spPr>
            <a:xfrm>
              <a:off x="566166" y="40100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7784" y="508635"/>
              <a:ext cx="42817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执行简报：5个决策要点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6738" y="64450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493570" y="64450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1390650"/>
            <a:ext cx="8253679" cy="4576001"/>
            <a:chOff x="571500" y="1390650"/>
            <a:chExt cx="8253679" cy="4576001"/>
          </a:xfrm>
        </p:grpSpPr>
        <p:sp>
          <p:nvSpPr>
            <p:cNvPr id="18" name="Freeform 18"/>
            <p:cNvSpPr/>
            <p:nvPr/>
          </p:nvSpPr>
          <p:spPr>
            <a:xfrm>
              <a:off x="571500" y="1390650"/>
              <a:ext cx="2667000" cy="4495800"/>
            </a:xfrm>
            <a:custGeom>
              <a:avLst/>
              <a:gdLst/>
              <a:ahLst/>
              <a:cxnLst/>
              <a:rect l="l" t="t" r="r" b="b"/>
              <a:pathLst>
                <a:path w="2667000" h="4495800">
                  <a:moveTo>
                    <a:pt x="114300" y="0"/>
                  </a:moveTo>
                  <a:lnTo>
                    <a:pt x="2552700" y="0"/>
                  </a:lnTo>
                  <a:cubicBezTo>
                    <a:pt x="2615826" y="0"/>
                    <a:pt x="2667000" y="51174"/>
                    <a:pt x="2667000" y="114300"/>
                  </a:cubicBezTo>
                  <a:lnTo>
                    <a:pt x="2667000" y="4381500"/>
                  </a:lnTo>
                  <a:cubicBezTo>
                    <a:pt x="2667000" y="4444626"/>
                    <a:pt x="2615826" y="4495800"/>
                    <a:pt x="2552700" y="4495800"/>
                  </a:cubicBezTo>
                  <a:lnTo>
                    <a:pt x="114300" y="4495800"/>
                  </a:lnTo>
                  <a:cubicBezTo>
                    <a:pt x="51174" y="4495800"/>
                    <a:pt x="0" y="4444626"/>
                    <a:pt x="0" y="438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1500" y="1390650"/>
              <a:ext cx="57150" cy="4495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0580" y="16287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本页概览核心议题：现状、风险、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0580" y="18954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全球影响与后续观察重点。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76300" y="24193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9942" y="23688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分散的数据与滞后的分析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9942" y="2597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正在拖垮增长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876300" y="31432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942" y="3092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不是一堆工具，而是从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9942" y="33213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数据到行动的闭环系统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876300" y="3867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59942" y="3816668"/>
              <a:ext cx="2049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案例显示 ROI 提升35%+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9942" y="4045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活动创建降至分钟级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76300" y="4591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59942" y="4540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连接器、私有化训练与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9942" y="4769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权限体系支撑快速落地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3962400" y="1695450"/>
              <a:ext cx="819150" cy="514350"/>
            </a:xfrm>
            <a:custGeom>
              <a:avLst/>
              <a:gdLst/>
              <a:ahLst/>
              <a:cxnLst/>
              <a:rect l="l" t="t" r="r" b="b"/>
              <a:pathLst>
                <a:path w="819150" h="514350">
                  <a:moveTo>
                    <a:pt x="95250" y="0"/>
                  </a:moveTo>
                  <a:lnTo>
                    <a:pt x="723900" y="0"/>
                  </a:lnTo>
                  <a:cubicBezTo>
                    <a:pt x="776505" y="0"/>
                    <a:pt x="819150" y="42645"/>
                    <a:pt x="819150" y="95250"/>
                  </a:cubicBezTo>
                  <a:lnTo>
                    <a:pt x="819150" y="419100"/>
                  </a:lnTo>
                  <a:cubicBezTo>
                    <a:pt x="819150" y="471705"/>
                    <a:pt x="776505" y="514350"/>
                    <a:pt x="72390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222894" y="18249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19294" y="1751648"/>
              <a:ext cx="32234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增长正在被数据断层吞噬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22342" y="2045018"/>
              <a:ext cx="3303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分散的数据与滞后的分析正在拖垮增长——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22342" y="2273618"/>
              <a:ext cx="2289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AI营销工作台是唯一解法。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3962400" y="2552700"/>
              <a:ext cx="819150" cy="514350"/>
            </a:xfrm>
            <a:custGeom>
              <a:avLst/>
              <a:gdLst/>
              <a:ahLst/>
              <a:cxnLst/>
              <a:rect l="l" t="t" r="r" b="b"/>
              <a:pathLst>
                <a:path w="819150" h="514350">
                  <a:moveTo>
                    <a:pt x="95250" y="0"/>
                  </a:moveTo>
                  <a:lnTo>
                    <a:pt x="723900" y="0"/>
                  </a:lnTo>
                  <a:cubicBezTo>
                    <a:pt x="776505" y="0"/>
                    <a:pt x="819150" y="42645"/>
                    <a:pt x="819150" y="95250"/>
                  </a:cubicBezTo>
                  <a:lnTo>
                    <a:pt x="819150" y="419100"/>
                  </a:lnTo>
                  <a:cubicBezTo>
                    <a:pt x="819150" y="471705"/>
                    <a:pt x="776505" y="514350"/>
                    <a:pt x="72390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222894" y="26822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19294" y="2608898"/>
              <a:ext cx="38058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不是工具拼盘，而是经营闭环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22342" y="29022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不是一堆工具，而是一个从数据到行动的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22342" y="31308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闭环系统。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3962400" y="3409950"/>
              <a:ext cx="819150" cy="514350"/>
            </a:xfrm>
            <a:custGeom>
              <a:avLst/>
              <a:gdLst/>
              <a:ahLst/>
              <a:cxnLst/>
              <a:rect l="l" t="t" r="r" b="b"/>
              <a:pathLst>
                <a:path w="819150" h="514350">
                  <a:moveTo>
                    <a:pt x="95250" y="0"/>
                  </a:moveTo>
                  <a:lnTo>
                    <a:pt x="723900" y="0"/>
                  </a:lnTo>
                  <a:cubicBezTo>
                    <a:pt x="776505" y="0"/>
                    <a:pt x="819150" y="42645"/>
                    <a:pt x="819150" y="95250"/>
                  </a:cubicBezTo>
                  <a:lnTo>
                    <a:pt x="819150" y="419100"/>
                  </a:lnTo>
                  <a:cubicBezTo>
                    <a:pt x="819150" y="471705"/>
                    <a:pt x="776505" y="514350"/>
                    <a:pt x="72390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222894" y="35394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19294" y="3466148"/>
              <a:ext cx="32234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价值已被验证，且足够快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22342" y="3759518"/>
              <a:ext cx="36621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已有案例显示ROI提升35%+，活动创建时间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22342" y="39881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从天降至分钟级。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3962400" y="4267200"/>
              <a:ext cx="819150" cy="514350"/>
            </a:xfrm>
            <a:custGeom>
              <a:avLst/>
              <a:gdLst/>
              <a:ahLst/>
              <a:cxnLst/>
              <a:rect l="l" t="t" r="r" b="b"/>
              <a:pathLst>
                <a:path w="819150" h="514350">
                  <a:moveTo>
                    <a:pt x="95250" y="0"/>
                  </a:moveTo>
                  <a:lnTo>
                    <a:pt x="723900" y="0"/>
                  </a:lnTo>
                  <a:cubicBezTo>
                    <a:pt x="776505" y="0"/>
                    <a:pt x="819150" y="42645"/>
                    <a:pt x="819150" y="95250"/>
                  </a:cubicBezTo>
                  <a:lnTo>
                    <a:pt x="819150" y="419100"/>
                  </a:lnTo>
                  <a:cubicBezTo>
                    <a:pt x="819150" y="471705"/>
                    <a:pt x="776505" y="514350"/>
                    <a:pt x="72390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222894" y="43967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19294" y="4323398"/>
              <a:ext cx="38058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落地门槛不高，四周可见效果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022342" y="4616768"/>
              <a:ext cx="3303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标准连接器+私有化模型训练+权限体系，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22342" y="4845368"/>
              <a:ext cx="1749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4周内看到首轮效果。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3962400" y="5124450"/>
              <a:ext cx="819150" cy="514350"/>
            </a:xfrm>
            <a:custGeom>
              <a:avLst/>
              <a:gdLst/>
              <a:ahLst/>
              <a:cxnLst/>
              <a:rect l="l" t="t" r="r" b="b"/>
              <a:pathLst>
                <a:path w="819150" h="514350">
                  <a:moveTo>
                    <a:pt x="95250" y="0"/>
                  </a:moveTo>
                  <a:lnTo>
                    <a:pt x="723900" y="0"/>
                  </a:lnTo>
                  <a:cubicBezTo>
                    <a:pt x="776505" y="0"/>
                    <a:pt x="819150" y="42645"/>
                    <a:pt x="819150" y="95250"/>
                  </a:cubicBezTo>
                  <a:lnTo>
                    <a:pt x="819150" y="419100"/>
                  </a:lnTo>
                  <a:cubicBezTo>
                    <a:pt x="819150" y="471705"/>
                    <a:pt x="776505" y="514350"/>
                    <a:pt x="72390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222894" y="52539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019294" y="5180648"/>
              <a:ext cx="38058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无需长期论证，先启动再优化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022342" y="54740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无需长期论证，第一周即可完成数据接入并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022342" y="57026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开始模型冷启动。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3676650" y="1952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cubicBezTo>
                    <a:pt x="114300" y="0"/>
                    <a:pt x="152400" y="0"/>
                    <a:pt x="28575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3676650" y="28098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cubicBezTo>
                    <a:pt x="114300" y="0"/>
                    <a:pt x="152400" y="0"/>
                    <a:pt x="285750" y="0"/>
                  </a:cubicBez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3676650" y="36671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cubicBezTo>
                    <a:pt x="114300" y="0"/>
                    <a:pt x="152400" y="0"/>
                    <a:pt x="285750" y="0"/>
                  </a:cubicBez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3676650" y="45243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cubicBezTo>
                    <a:pt x="114300" y="0"/>
                    <a:pt x="152400" y="0"/>
                    <a:pt x="285750" y="0"/>
                  </a:cubicBez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3676650" y="5381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cubicBezTo>
                    <a:pt x="114300" y="0"/>
                    <a:pt x="152400" y="0"/>
                    <a:pt x="285750" y="0"/>
                  </a:cubicBez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9829800" y="1277302"/>
            <a:ext cx="1671066" cy="608648"/>
            <a:chOff x="9829800" y="1277302"/>
            <a:chExt cx="1671066" cy="608648"/>
          </a:xfrm>
        </p:grpSpPr>
        <p:sp>
          <p:nvSpPr>
            <p:cNvPr id="65" name="TextBox 65"/>
            <p:cNvSpPr txBox="1"/>
            <p:nvPr/>
          </p:nvSpPr>
          <p:spPr>
            <a:xfrm>
              <a:off x="9900666" y="1277302"/>
              <a:ext cx="1600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MANAGEMENT AGENDA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9829800" y="1562100"/>
              <a:ext cx="1409700" cy="323850"/>
            </a:xfrm>
            <a:custGeom>
              <a:avLst/>
              <a:gdLst/>
              <a:ahLst/>
              <a:cxnLst/>
              <a:rect l="l" t="t" r="r" b="b"/>
              <a:pathLst>
                <a:path w="1409700" h="323850">
                  <a:moveTo>
                    <a:pt x="161925" y="0"/>
                  </a:moveTo>
                  <a:lnTo>
                    <a:pt x="1247775" y="0"/>
                  </a:lnTo>
                  <a:cubicBezTo>
                    <a:pt x="1337204" y="0"/>
                    <a:pt x="1409700" y="72496"/>
                    <a:pt x="1409700" y="161925"/>
                  </a:cubicBezTo>
                  <a:lnTo>
                    <a:pt x="1409700" y="161925"/>
                  </a:lnTo>
                  <a:cubicBezTo>
                    <a:pt x="1409700" y="251354"/>
                    <a:pt x="1337204" y="323850"/>
                    <a:pt x="12477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084060" y="16583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由问题到行动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0" y="0"/>
            <a:ext cx="12325350" cy="6858000"/>
            <a:chOff x="0" y="0"/>
            <a:chExt cx="1232535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3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4667250"/>
              <a:ext cx="12192000" cy="2190750"/>
            </a:xfrm>
            <a:custGeom>
              <a:avLst/>
              <a:gdLst/>
              <a:ahLst/>
              <a:cxnLst/>
              <a:rect l="l" t="t" r="r" b="b"/>
              <a:pathLst>
                <a:path w="12192000" h="2190750">
                  <a:moveTo>
                    <a:pt x="0" y="1219200"/>
                  </a:moveTo>
                  <a:cubicBezTo>
                    <a:pt x="2000250" y="895350"/>
                    <a:pt x="3676650" y="1447800"/>
                    <a:pt x="5619750" y="1104900"/>
                  </a:cubicBezTo>
                  <a:cubicBezTo>
                    <a:pt x="7448550" y="781050"/>
                    <a:pt x="8858250" y="0"/>
                    <a:pt x="12192000" y="514350"/>
                  </a:cubicBezTo>
                  <a:lnTo>
                    <a:pt x="12192000" y="2190750"/>
                  </a:lnTo>
                  <a:lnTo>
                    <a:pt x="0" y="21907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876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8286750" y="10858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286750" y="13525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286750" y="161925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401050" y="1866900"/>
              <a:ext cx="3924300" cy="3924300"/>
            </a:xfrm>
            <a:prstGeom prst="ellipse">
              <a:avLst/>
            </a:prstGeom>
            <a:noFill/>
            <a:ln w="9525">
              <a:solidFill>
                <a:schemeClr val="accent3">
                  <a:alpha val="16000"/>
                </a:scheme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858250" y="2324100"/>
              <a:ext cx="3009900" cy="3009900"/>
            </a:xfrm>
            <a:prstGeom prst="ellipse">
              <a:avLst/>
            </a:prstGeom>
            <a:noFill/>
            <a:ln w="9525">
              <a:solidFill>
                <a:schemeClr val="accent3">
                  <a:alpha val="16000"/>
                </a:schemeClr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9315450" y="2781300"/>
              <a:ext cx="2095500" cy="2095500"/>
            </a:xfrm>
            <a:prstGeom prst="ellipse">
              <a:avLst/>
            </a:prstGeom>
            <a:noFill/>
            <a:ln w="9525">
              <a:solidFill>
                <a:schemeClr val="accent3">
                  <a:alpha val="16000"/>
                </a:schemeClr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66166" y="401002"/>
            <a:ext cx="11059096" cy="205359"/>
            <a:chOff x="566166" y="401002"/>
            <a:chExt cx="11059096" cy="205359"/>
          </a:xfrm>
        </p:grpSpPr>
        <p:sp>
          <p:nvSpPr>
            <p:cNvPr id="14" name="TextBox 14"/>
            <p:cNvSpPr txBox="1"/>
            <p:nvPr/>
          </p:nvSpPr>
          <p:spPr>
            <a:xfrm>
              <a:off x="566166" y="401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57358" y="41719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08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34002" y="417195"/>
              <a:ext cx="10912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7784" y="1089660"/>
            <a:ext cx="11062716" cy="5196840"/>
            <a:chOff x="557784" y="1089660"/>
            <a:chExt cx="11062716" cy="5196840"/>
          </a:xfrm>
        </p:grpSpPr>
        <p:sp>
          <p:nvSpPr>
            <p:cNvPr id="18" name="TextBox 18"/>
            <p:cNvSpPr txBox="1"/>
            <p:nvPr/>
          </p:nvSpPr>
          <p:spPr>
            <a:xfrm>
              <a:off x="557784" y="1089660"/>
              <a:ext cx="526968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决策断点，正在吃掉你的增长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71500" y="1752600"/>
              <a:ext cx="7067550" cy="3371850"/>
            </a:xfrm>
            <a:custGeom>
              <a:avLst/>
              <a:gdLst/>
              <a:ahLst/>
              <a:cxnLst/>
              <a:rect l="l" t="t" r="r" b="b"/>
              <a:pathLst>
                <a:path w="7067550" h="3371850">
                  <a:moveTo>
                    <a:pt x="152400" y="0"/>
                  </a:moveTo>
                  <a:lnTo>
                    <a:pt x="6915150" y="0"/>
                  </a:lnTo>
                  <a:cubicBezTo>
                    <a:pt x="6999318" y="0"/>
                    <a:pt x="7067550" y="68232"/>
                    <a:pt x="7067550" y="152400"/>
                  </a:cubicBezTo>
                  <a:lnTo>
                    <a:pt x="7067550" y="3219450"/>
                  </a:lnTo>
                  <a:cubicBezTo>
                    <a:pt x="7067550" y="3303618"/>
                    <a:pt x="6999318" y="3371850"/>
                    <a:pt x="6915150" y="3371850"/>
                  </a:cubicBezTo>
                  <a:lnTo>
                    <a:pt x="152400" y="3371850"/>
                  </a:lnTo>
                  <a:cubicBezTo>
                    <a:pt x="68232" y="3371850"/>
                    <a:pt x="0" y="3303618"/>
                    <a:pt x="0" y="32194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1752600"/>
              <a:ext cx="95250" cy="33718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732" y="2135505"/>
              <a:ext cx="63291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企业平均使用 12+ 个营销工具，数据互不相通，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3732" y="2535555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分析依赖人工，执行无法闭环，优化永远滞后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3732" y="3011805"/>
              <a:ext cx="55257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——唯一的解决方案是构建以 AI 为核心的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3732" y="34118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营销决策工作台。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020050" y="1752600"/>
              <a:ext cx="3600450" cy="3371850"/>
            </a:xfrm>
            <a:custGeom>
              <a:avLst/>
              <a:gdLst/>
              <a:ahLst/>
              <a:cxnLst/>
              <a:rect l="l" t="t" r="r" b="b"/>
              <a:pathLst>
                <a:path w="3600450" h="3371850">
                  <a:moveTo>
                    <a:pt x="152400" y="0"/>
                  </a:moveTo>
                  <a:lnTo>
                    <a:pt x="3448050" y="0"/>
                  </a:lnTo>
                  <a:cubicBezTo>
                    <a:pt x="3532218" y="0"/>
                    <a:pt x="3600450" y="68232"/>
                    <a:pt x="3600450" y="152400"/>
                  </a:cubicBezTo>
                  <a:lnTo>
                    <a:pt x="3600450" y="3219450"/>
                  </a:lnTo>
                  <a:cubicBezTo>
                    <a:pt x="3600450" y="3303618"/>
                    <a:pt x="3532218" y="3371850"/>
                    <a:pt x="3448050" y="3371850"/>
                  </a:cubicBezTo>
                  <a:lnTo>
                    <a:pt x="152400" y="3371850"/>
                  </a:lnTo>
                  <a:cubicBezTo>
                    <a:pt x="68232" y="3371850"/>
                    <a:pt x="0" y="3303618"/>
                    <a:pt x="0" y="32194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17992" y="2045018"/>
              <a:ext cx="820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判断结构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515350" y="2657475"/>
              <a:ext cx="495300" cy="4953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772650" y="2200275"/>
              <a:ext cx="495300" cy="4953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229850" y="3505200"/>
              <a:ext cx="495300" cy="4953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991600" y="4038600"/>
              <a:ext cx="571500" cy="571500"/>
            </a:xfrm>
            <a:prstGeom prst="ellipse">
              <a:avLst/>
            </a:prstGeom>
            <a:solidFill>
              <a:schemeClr val="accent1"/>
            </a:solidFill>
            <a:ln w="23812">
              <a:solidFill>
                <a:schemeClr val="accent2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982075" y="2533650"/>
              <a:ext cx="819150" cy="285750"/>
            </a:xfrm>
            <a:custGeom>
              <a:avLst/>
              <a:gdLst/>
              <a:ahLst/>
              <a:cxnLst/>
              <a:rect l="l" t="t" r="r" b="b"/>
              <a:pathLst>
                <a:path w="819150" h="285750">
                  <a:moveTo>
                    <a:pt x="0" y="285750"/>
                  </a:moveTo>
                  <a:lnTo>
                    <a:pt x="819150" y="0"/>
                  </a:lnTo>
                </a:path>
              </a:pathLst>
            </a:custGeom>
            <a:solidFill>
              <a:srgbClr val="000000"/>
            </a:solidFill>
            <a:ln w="23812">
              <a:solidFill>
                <a:schemeClr val="accent2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191750" y="2657475"/>
              <a:ext cx="152400" cy="847725"/>
            </a:xfrm>
            <a:custGeom>
              <a:avLst/>
              <a:gdLst/>
              <a:ahLst/>
              <a:cxnLst/>
              <a:rect l="l" t="t" r="r" b="b"/>
              <a:pathLst>
                <a:path w="152400" h="847725">
                  <a:moveTo>
                    <a:pt x="0" y="0"/>
                  </a:moveTo>
                  <a:lnTo>
                    <a:pt x="152400" y="847725"/>
                  </a:lnTo>
                </a:path>
              </a:pathLst>
            </a:custGeom>
            <a:solidFill>
              <a:srgbClr val="000000"/>
            </a:solidFill>
            <a:ln w="23812">
              <a:solidFill>
                <a:schemeClr val="accent2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553575" y="3867150"/>
              <a:ext cx="704850" cy="323850"/>
            </a:xfrm>
            <a:custGeom>
              <a:avLst/>
              <a:gdLst/>
              <a:ahLst/>
              <a:cxnLst/>
              <a:rect l="l" t="t" r="r" b="b"/>
              <a:pathLst>
                <a:path w="704850" h="323850">
                  <a:moveTo>
                    <a:pt x="704850" y="0"/>
                  </a:moveTo>
                  <a:lnTo>
                    <a:pt x="0" y="323850"/>
                  </a:lnTo>
                </a:path>
              </a:pathLst>
            </a:custGeom>
            <a:solidFill>
              <a:srgbClr val="000000"/>
            </a:solidFill>
            <a:ln w="23812">
              <a:solidFill>
                <a:schemeClr val="accent2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058275" y="3143250"/>
              <a:ext cx="161925" cy="895350"/>
            </a:xfrm>
            <a:custGeom>
              <a:avLst/>
              <a:gdLst/>
              <a:ahLst/>
              <a:cxnLst/>
              <a:rect l="l" t="t" r="r" b="b"/>
              <a:pathLst>
                <a:path w="161925" h="895350">
                  <a:moveTo>
                    <a:pt x="0" y="0"/>
                  </a:moveTo>
                  <a:lnTo>
                    <a:pt x="161925" y="895350"/>
                  </a:lnTo>
                </a:path>
              </a:pathLst>
            </a:custGeom>
            <a:solidFill>
              <a:srgbClr val="000000"/>
            </a:solidFill>
            <a:ln w="23812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81263" y="2840831"/>
              <a:ext cx="363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DATA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46576" y="2383631"/>
              <a:ext cx="147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06126" y="3704749"/>
              <a:ext cx="342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AUTO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75598" y="4260056"/>
              <a:ext cx="603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GROWTH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18754" y="46329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孤立工具只会产生更多断点，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18754" y="48996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只有把数据、分析与执行连成闭环，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18754" y="51663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增长才会变成可持续的系统能力。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71500" y="5391150"/>
              <a:ext cx="11049000" cy="895350"/>
            </a:xfrm>
            <a:custGeom>
              <a:avLst/>
              <a:gdLst/>
              <a:ahLst/>
              <a:cxnLst/>
              <a:rect l="l" t="t" r="r" b="b"/>
              <a:pathLst>
                <a:path w="11049000" h="895350">
                  <a:moveTo>
                    <a:pt x="133350" y="0"/>
                  </a:moveTo>
                  <a:lnTo>
                    <a:pt x="10915650" y="0"/>
                  </a:lnTo>
                  <a:cubicBezTo>
                    <a:pt x="10989297" y="0"/>
                    <a:pt x="11049000" y="59703"/>
                    <a:pt x="11049000" y="133350"/>
                  </a:cubicBezTo>
                  <a:lnTo>
                    <a:pt x="11049000" y="762000"/>
                  </a:lnTo>
                  <a:cubicBezTo>
                    <a:pt x="11049000" y="835647"/>
                    <a:pt x="10989297" y="895350"/>
                    <a:pt x="10915650" y="895350"/>
                  </a:cubicBezTo>
                  <a:lnTo>
                    <a:pt x="133350" y="895350"/>
                  </a:lnTo>
                  <a:cubicBezTo>
                    <a:pt x="59703" y="895350"/>
                    <a:pt x="0" y="835647"/>
                    <a:pt x="0" y="7620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847725" y="57150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60323" y="5691664"/>
              <a:ext cx="36174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跨渠道、跨系统的数据实时汇聚，消除信息孤岛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47725" y="60198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60323" y="5996464"/>
              <a:ext cx="42113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模型在分钟级完成受众预测、内容推荐与预算分配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315075" y="58674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27673" y="5844064"/>
              <a:ext cx="46472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自动化引擎将策略毫秒级推送到各触点，并实时回传效果数据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6738" y="6502241"/>
            <a:ext cx="11058524" cy="161925"/>
            <a:chOff x="566738" y="6502241"/>
            <a:chExt cx="11058524" cy="161925"/>
          </a:xfrm>
        </p:grpSpPr>
        <p:sp>
          <p:nvSpPr>
            <p:cNvPr id="50" name="TextBox 50"/>
            <p:cNvSpPr txBox="1"/>
            <p:nvPr/>
          </p:nvSpPr>
          <p:spPr>
            <a:xfrm>
              <a:off x="566738" y="6502241"/>
              <a:ext cx="16143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product-launch · insight page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22630" y="6502241"/>
              <a:ext cx="300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attention_is_all_you_need / blueprint × cool-corporate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419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438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142875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629602"/>
            <a:ext cx="10972228" cy="6110764"/>
            <a:chOff x="557784" y="629602"/>
            <a:chExt cx="10972228" cy="611076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62960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851535"/>
              <a:ext cx="58090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传统营销模式vsAI营销工作台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2954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3880" y="1409700"/>
              <a:ext cx="6093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同样的目标，完全不同的效率——以下对比说明为什么现在必须升级。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578441"/>
              <a:ext cx="1917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product-launch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48431" y="65784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04 / 08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71500" y="1866900"/>
            <a:ext cx="11049000" cy="4229100"/>
            <a:chOff x="571500" y="1866900"/>
            <a:chExt cx="11049000" cy="4229100"/>
          </a:xfrm>
        </p:grpSpPr>
        <p:sp>
          <p:nvSpPr>
            <p:cNvPr id="15" name="Freeform 15"/>
            <p:cNvSpPr/>
            <p:nvPr/>
          </p:nvSpPr>
          <p:spPr>
            <a:xfrm>
              <a:off x="571500" y="1866900"/>
              <a:ext cx="5219700" cy="552450"/>
            </a:xfrm>
            <a:custGeom>
              <a:avLst/>
              <a:gdLst/>
              <a:ahLst/>
              <a:cxnLst/>
              <a:rect l="l" t="t" r="r" b="b"/>
              <a:pathLst>
                <a:path w="5219700" h="55245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438150"/>
                  </a:lnTo>
                  <a:cubicBezTo>
                    <a:pt x="5219700" y="501276"/>
                    <a:pt x="5168526" y="552450"/>
                    <a:pt x="5105400" y="552450"/>
                  </a:cubicBezTo>
                  <a:lnTo>
                    <a:pt x="114300" y="552450"/>
                  </a:lnTo>
                  <a:cubicBezTo>
                    <a:pt x="51174" y="552450"/>
                    <a:pt x="0" y="501276"/>
                    <a:pt x="0" y="4381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400800" y="1866900"/>
              <a:ext cx="5219700" cy="552450"/>
            </a:xfrm>
            <a:custGeom>
              <a:avLst/>
              <a:gdLst/>
              <a:ahLst/>
              <a:cxnLst/>
              <a:rect l="l" t="t" r="r" b="b"/>
              <a:pathLst>
                <a:path w="5219700" h="55245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438150"/>
                  </a:lnTo>
                  <a:cubicBezTo>
                    <a:pt x="5219700" y="501276"/>
                    <a:pt x="5168526" y="552450"/>
                    <a:pt x="5105400" y="552450"/>
                  </a:cubicBezTo>
                  <a:lnTo>
                    <a:pt x="114300" y="552450"/>
                  </a:lnTo>
                  <a:cubicBezTo>
                    <a:pt x="51174" y="552450"/>
                    <a:pt x="0" y="501276"/>
                    <a:pt x="0" y="4381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34539" y="2025015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传统模式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97701" y="2025015"/>
              <a:ext cx="2025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 营销工作台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71500" y="2590800"/>
              <a:ext cx="5219700" cy="1066800"/>
            </a:xfrm>
            <a:custGeom>
              <a:avLst/>
              <a:gdLst/>
              <a:ahLst/>
              <a:cxnLst/>
              <a:rect l="l" t="t" r="r" b="b"/>
              <a:pathLst>
                <a:path w="5219700" h="10668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952500"/>
                  </a:lnTo>
                  <a:cubicBezTo>
                    <a:pt x="5219700" y="1015626"/>
                    <a:pt x="5168526" y="1066800"/>
                    <a:pt x="5105400" y="1066800"/>
                  </a:cubicBezTo>
                  <a:lnTo>
                    <a:pt x="114300" y="1066800"/>
                  </a:lnTo>
                  <a:cubicBezTo>
                    <a:pt x="51174" y="1066800"/>
                    <a:pt x="0" y="1015626"/>
                    <a:pt x="0" y="952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400800" y="2590800"/>
              <a:ext cx="5219700" cy="1066800"/>
            </a:xfrm>
            <a:custGeom>
              <a:avLst/>
              <a:gdLst/>
              <a:ahLst/>
              <a:cxnLst/>
              <a:rect l="l" t="t" r="r" b="b"/>
              <a:pathLst>
                <a:path w="5219700" h="10668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952500"/>
                  </a:lnTo>
                  <a:cubicBezTo>
                    <a:pt x="5219700" y="1015626"/>
                    <a:pt x="5168526" y="1066800"/>
                    <a:pt x="5105400" y="1066800"/>
                  </a:cubicBezTo>
                  <a:lnTo>
                    <a:pt x="114300" y="1066800"/>
                  </a:lnTo>
                  <a:cubicBezTo>
                    <a:pt x="51174" y="1066800"/>
                    <a:pt x="0" y="1015626"/>
                    <a:pt x="0" y="952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71500" y="3810000"/>
              <a:ext cx="5219700" cy="1066800"/>
            </a:xfrm>
            <a:custGeom>
              <a:avLst/>
              <a:gdLst/>
              <a:ahLst/>
              <a:cxnLst/>
              <a:rect l="l" t="t" r="r" b="b"/>
              <a:pathLst>
                <a:path w="5219700" h="10668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952500"/>
                  </a:lnTo>
                  <a:cubicBezTo>
                    <a:pt x="5219700" y="1015626"/>
                    <a:pt x="5168526" y="1066800"/>
                    <a:pt x="5105400" y="1066800"/>
                  </a:cubicBezTo>
                  <a:lnTo>
                    <a:pt x="114300" y="1066800"/>
                  </a:lnTo>
                  <a:cubicBezTo>
                    <a:pt x="51174" y="1066800"/>
                    <a:pt x="0" y="1015626"/>
                    <a:pt x="0" y="952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400800" y="3810000"/>
              <a:ext cx="5219700" cy="1066800"/>
            </a:xfrm>
            <a:custGeom>
              <a:avLst/>
              <a:gdLst/>
              <a:ahLst/>
              <a:cxnLst/>
              <a:rect l="l" t="t" r="r" b="b"/>
              <a:pathLst>
                <a:path w="5219700" h="10668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952500"/>
                  </a:lnTo>
                  <a:cubicBezTo>
                    <a:pt x="5219700" y="1015626"/>
                    <a:pt x="5168526" y="1066800"/>
                    <a:pt x="5105400" y="1066800"/>
                  </a:cubicBezTo>
                  <a:lnTo>
                    <a:pt x="114300" y="1066800"/>
                  </a:lnTo>
                  <a:cubicBezTo>
                    <a:pt x="51174" y="1066800"/>
                    <a:pt x="0" y="1015626"/>
                    <a:pt x="0" y="952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71500" y="5029200"/>
              <a:ext cx="5219700" cy="1066800"/>
            </a:xfrm>
            <a:custGeom>
              <a:avLst/>
              <a:gdLst/>
              <a:ahLst/>
              <a:cxnLst/>
              <a:rect l="l" t="t" r="r" b="b"/>
              <a:pathLst>
                <a:path w="5219700" h="10668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952500"/>
                  </a:lnTo>
                  <a:cubicBezTo>
                    <a:pt x="5219700" y="1015626"/>
                    <a:pt x="5168526" y="1066800"/>
                    <a:pt x="5105400" y="1066800"/>
                  </a:cubicBezTo>
                  <a:lnTo>
                    <a:pt x="114300" y="1066800"/>
                  </a:lnTo>
                  <a:cubicBezTo>
                    <a:pt x="51174" y="1066800"/>
                    <a:pt x="0" y="1015626"/>
                    <a:pt x="0" y="952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400800" y="5029200"/>
              <a:ext cx="5219700" cy="1066800"/>
            </a:xfrm>
            <a:custGeom>
              <a:avLst/>
              <a:gdLst/>
              <a:ahLst/>
              <a:cxnLst/>
              <a:rect l="l" t="t" r="r" b="b"/>
              <a:pathLst>
                <a:path w="5219700" h="10668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952500"/>
                  </a:lnTo>
                  <a:cubicBezTo>
                    <a:pt x="5219700" y="1015626"/>
                    <a:pt x="5168526" y="1066800"/>
                    <a:pt x="5105400" y="1066800"/>
                  </a:cubicBezTo>
                  <a:lnTo>
                    <a:pt x="114300" y="1066800"/>
                  </a:lnTo>
                  <a:cubicBezTo>
                    <a:pt x="51174" y="1066800"/>
                    <a:pt x="0" y="1015626"/>
                    <a:pt x="0" y="952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04850" y="2724150"/>
              <a:ext cx="1066800" cy="266700"/>
            </a:xfrm>
            <a:custGeom>
              <a:avLst/>
              <a:gdLst/>
              <a:ahLst/>
              <a:cxnLst/>
              <a:rect l="l" t="t" r="r" b="b"/>
              <a:pathLst>
                <a:path w="1066800" h="266700">
                  <a:moveTo>
                    <a:pt x="133350" y="0"/>
                  </a:moveTo>
                  <a:lnTo>
                    <a:pt x="933450" y="0"/>
                  </a:lnTo>
                  <a:cubicBezTo>
                    <a:pt x="1007097" y="0"/>
                    <a:pt x="1066800" y="59703"/>
                    <a:pt x="1066800" y="133350"/>
                  </a:cubicBezTo>
                  <a:lnTo>
                    <a:pt x="1066800" y="133350"/>
                  </a:lnTo>
                  <a:cubicBezTo>
                    <a:pt x="1066800" y="206997"/>
                    <a:pt x="1007097" y="266700"/>
                    <a:pt x="9334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6534150" y="2724150"/>
              <a:ext cx="1066800" cy="266700"/>
            </a:xfrm>
            <a:custGeom>
              <a:avLst/>
              <a:gdLst/>
              <a:ahLst/>
              <a:cxnLst/>
              <a:rect l="l" t="t" r="r" b="b"/>
              <a:pathLst>
                <a:path w="1066800" h="266700">
                  <a:moveTo>
                    <a:pt x="133350" y="0"/>
                  </a:moveTo>
                  <a:lnTo>
                    <a:pt x="933450" y="0"/>
                  </a:lnTo>
                  <a:cubicBezTo>
                    <a:pt x="1007097" y="0"/>
                    <a:pt x="1066800" y="59703"/>
                    <a:pt x="1066800" y="133350"/>
                  </a:cubicBezTo>
                  <a:lnTo>
                    <a:pt x="1066800" y="133350"/>
                  </a:lnTo>
                  <a:cubicBezTo>
                    <a:pt x="1066800" y="206997"/>
                    <a:pt x="1007097" y="266700"/>
                    <a:pt x="9334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2912" y="27851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22212" y="27851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704850" y="3943350"/>
              <a:ext cx="1066800" cy="266700"/>
            </a:xfrm>
            <a:custGeom>
              <a:avLst/>
              <a:gdLst/>
              <a:ahLst/>
              <a:cxnLst/>
              <a:rect l="l" t="t" r="r" b="b"/>
              <a:pathLst>
                <a:path w="1066800" h="266700">
                  <a:moveTo>
                    <a:pt x="133350" y="0"/>
                  </a:moveTo>
                  <a:lnTo>
                    <a:pt x="933450" y="0"/>
                  </a:lnTo>
                  <a:cubicBezTo>
                    <a:pt x="1007097" y="0"/>
                    <a:pt x="1066800" y="59703"/>
                    <a:pt x="1066800" y="133350"/>
                  </a:cubicBezTo>
                  <a:lnTo>
                    <a:pt x="1066800" y="133350"/>
                  </a:lnTo>
                  <a:cubicBezTo>
                    <a:pt x="1066800" y="206997"/>
                    <a:pt x="1007097" y="266700"/>
                    <a:pt x="9334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534150" y="3943350"/>
              <a:ext cx="1066800" cy="266700"/>
            </a:xfrm>
            <a:custGeom>
              <a:avLst/>
              <a:gdLst/>
              <a:ahLst/>
              <a:cxnLst/>
              <a:rect l="l" t="t" r="r" b="b"/>
              <a:pathLst>
                <a:path w="1066800" h="266700">
                  <a:moveTo>
                    <a:pt x="133350" y="0"/>
                  </a:moveTo>
                  <a:lnTo>
                    <a:pt x="933450" y="0"/>
                  </a:lnTo>
                  <a:cubicBezTo>
                    <a:pt x="1007097" y="0"/>
                    <a:pt x="1066800" y="59703"/>
                    <a:pt x="1066800" y="133350"/>
                  </a:cubicBezTo>
                  <a:lnTo>
                    <a:pt x="1066800" y="133350"/>
                  </a:lnTo>
                  <a:cubicBezTo>
                    <a:pt x="1066800" y="206997"/>
                    <a:pt x="1007097" y="266700"/>
                    <a:pt x="9334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9879" y="4004310"/>
              <a:ext cx="5767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79179" y="4004310"/>
              <a:ext cx="5767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704850" y="5162550"/>
              <a:ext cx="1066800" cy="266700"/>
            </a:xfrm>
            <a:custGeom>
              <a:avLst/>
              <a:gdLst/>
              <a:ahLst/>
              <a:cxnLst/>
              <a:rect l="l" t="t" r="r" b="b"/>
              <a:pathLst>
                <a:path w="1066800" h="266700">
                  <a:moveTo>
                    <a:pt x="133350" y="0"/>
                  </a:moveTo>
                  <a:lnTo>
                    <a:pt x="933450" y="0"/>
                  </a:lnTo>
                  <a:cubicBezTo>
                    <a:pt x="1007097" y="0"/>
                    <a:pt x="1066800" y="59703"/>
                    <a:pt x="1066800" y="133350"/>
                  </a:cubicBezTo>
                  <a:lnTo>
                    <a:pt x="1066800" y="133350"/>
                  </a:lnTo>
                  <a:cubicBezTo>
                    <a:pt x="1066800" y="206997"/>
                    <a:pt x="1007097" y="266700"/>
                    <a:pt x="9334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534150" y="5162550"/>
              <a:ext cx="1066800" cy="266700"/>
            </a:xfrm>
            <a:custGeom>
              <a:avLst/>
              <a:gdLst/>
              <a:ahLst/>
              <a:cxnLst/>
              <a:rect l="l" t="t" r="r" b="b"/>
              <a:pathLst>
                <a:path w="1066800" h="266700">
                  <a:moveTo>
                    <a:pt x="133350" y="0"/>
                  </a:moveTo>
                  <a:lnTo>
                    <a:pt x="933450" y="0"/>
                  </a:lnTo>
                  <a:cubicBezTo>
                    <a:pt x="1007097" y="0"/>
                    <a:pt x="1066800" y="59703"/>
                    <a:pt x="1066800" y="133350"/>
                  </a:cubicBezTo>
                  <a:lnTo>
                    <a:pt x="1066800" y="133350"/>
                  </a:lnTo>
                  <a:cubicBezTo>
                    <a:pt x="1066800" y="206997"/>
                    <a:pt x="1007097" y="266700"/>
                    <a:pt x="9334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8101" y="52235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37401" y="52235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92630" y="2933700"/>
              <a:ext cx="2138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手动 ETL，周级更新，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92630" y="3200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多系统割裂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21930" y="2933700"/>
              <a:ext cx="3296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预置 50+ 连接器，数据分钟级同步，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21930" y="32004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自动打标与去重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92630" y="4152900"/>
              <a:ext cx="2564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分析师写报告，T+3 交付，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92630" y="44196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样本偏差大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21930" y="4152900"/>
              <a:ext cx="2564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实时预测分群、LTV 估算、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21930" y="44196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流失预警，模型自迭代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992630" y="537210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多渠道分别配置，人工重复操作，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92630" y="56388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容易错漏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21930" y="537210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一站式编排，自动推送到邮件、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21930" y="5638800"/>
              <a:ext cx="3354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短信、广告、APP，并实时回收效果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5524500" y="31242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CBD5E0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5524500" y="43434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CBD5E0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5524500" y="55626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CBD5E0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5905500" y="2933700"/>
              <a:ext cx="381000" cy="3810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5905500" y="4152900"/>
              <a:ext cx="381000" cy="3810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5905500" y="5372100"/>
              <a:ext cx="381000" cy="3810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6019800" y="3086100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0" y="38100"/>
                  </a:moveTo>
                  <a:lnTo>
                    <a:pt x="133350" y="38100"/>
                  </a:lnTo>
                  <a:moveTo>
                    <a:pt x="95250" y="0"/>
                  </a:moveTo>
                  <a:lnTo>
                    <a:pt x="133350" y="38100"/>
                  </a:lnTo>
                  <a:lnTo>
                    <a:pt x="95250" y="7620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56" name="Freeform 56"/>
            <p:cNvSpPr/>
            <p:nvPr/>
          </p:nvSpPr>
          <p:spPr>
            <a:xfrm>
              <a:off x="6019800" y="4305300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0" y="38100"/>
                  </a:moveTo>
                  <a:lnTo>
                    <a:pt x="133350" y="38100"/>
                  </a:lnTo>
                  <a:moveTo>
                    <a:pt x="95250" y="0"/>
                  </a:moveTo>
                  <a:lnTo>
                    <a:pt x="133350" y="38100"/>
                  </a:lnTo>
                  <a:lnTo>
                    <a:pt x="95250" y="7620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57" name="Freeform 57"/>
            <p:cNvSpPr/>
            <p:nvPr/>
          </p:nvSpPr>
          <p:spPr>
            <a:xfrm>
              <a:off x="6019800" y="5524500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0" y="38100"/>
                  </a:moveTo>
                  <a:lnTo>
                    <a:pt x="133350" y="38100"/>
                  </a:lnTo>
                  <a:moveTo>
                    <a:pt x="95250" y="0"/>
                  </a:moveTo>
                  <a:lnTo>
                    <a:pt x="133350" y="38100"/>
                  </a:lnTo>
                  <a:lnTo>
                    <a:pt x="95250" y="7620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58" name="Freeform 58"/>
            <p:cNvSpPr/>
            <p:nvPr/>
          </p:nvSpPr>
          <p:spPr>
            <a:xfrm>
              <a:off x="9829800" y="2724150"/>
              <a:ext cx="1600200" cy="800100"/>
            </a:xfrm>
            <a:custGeom>
              <a:avLst/>
              <a:gdLst/>
              <a:ahLst/>
              <a:cxnLst/>
              <a:rect l="l" t="t" r="r" b="b"/>
              <a:pathLst>
                <a:path w="1600200" h="800100">
                  <a:moveTo>
                    <a:pt x="95250" y="0"/>
                  </a:moveTo>
                  <a:lnTo>
                    <a:pt x="1504950" y="0"/>
                  </a:lnTo>
                  <a:cubicBezTo>
                    <a:pt x="1557555" y="0"/>
                    <a:pt x="1600200" y="42645"/>
                    <a:pt x="1600200" y="95250"/>
                  </a:cubicBezTo>
                  <a:lnTo>
                    <a:pt x="1600200" y="704850"/>
                  </a:lnTo>
                  <a:cubicBezTo>
                    <a:pt x="1600200" y="757455"/>
                    <a:pt x="1557555" y="800100"/>
                    <a:pt x="1504950" y="800100"/>
                  </a:cubicBezTo>
                  <a:lnTo>
                    <a:pt x="95250" y="800100"/>
                  </a:lnTo>
                  <a:cubicBezTo>
                    <a:pt x="42645" y="800100"/>
                    <a:pt x="0" y="757455"/>
                    <a:pt x="0" y="704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829800" y="3943350"/>
              <a:ext cx="1600200" cy="800100"/>
            </a:xfrm>
            <a:custGeom>
              <a:avLst/>
              <a:gdLst/>
              <a:ahLst/>
              <a:cxnLst/>
              <a:rect l="l" t="t" r="r" b="b"/>
              <a:pathLst>
                <a:path w="1600200" h="800100">
                  <a:moveTo>
                    <a:pt x="95250" y="0"/>
                  </a:moveTo>
                  <a:lnTo>
                    <a:pt x="1504950" y="0"/>
                  </a:lnTo>
                  <a:cubicBezTo>
                    <a:pt x="1557555" y="0"/>
                    <a:pt x="1600200" y="42645"/>
                    <a:pt x="1600200" y="95250"/>
                  </a:cubicBezTo>
                  <a:lnTo>
                    <a:pt x="1600200" y="704850"/>
                  </a:lnTo>
                  <a:cubicBezTo>
                    <a:pt x="1600200" y="757455"/>
                    <a:pt x="1557555" y="800100"/>
                    <a:pt x="1504950" y="800100"/>
                  </a:cubicBezTo>
                  <a:lnTo>
                    <a:pt x="95250" y="800100"/>
                  </a:lnTo>
                  <a:cubicBezTo>
                    <a:pt x="42645" y="800100"/>
                    <a:pt x="0" y="757455"/>
                    <a:pt x="0" y="704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829800" y="5162550"/>
              <a:ext cx="1600200" cy="800100"/>
            </a:xfrm>
            <a:custGeom>
              <a:avLst/>
              <a:gdLst/>
              <a:ahLst/>
              <a:cxnLst/>
              <a:rect l="l" t="t" r="r" b="b"/>
              <a:pathLst>
                <a:path w="1600200" h="800100">
                  <a:moveTo>
                    <a:pt x="95250" y="0"/>
                  </a:moveTo>
                  <a:lnTo>
                    <a:pt x="1504950" y="0"/>
                  </a:lnTo>
                  <a:cubicBezTo>
                    <a:pt x="1557555" y="0"/>
                    <a:pt x="1600200" y="42645"/>
                    <a:pt x="1600200" y="95250"/>
                  </a:cubicBezTo>
                  <a:lnTo>
                    <a:pt x="1600200" y="704850"/>
                  </a:lnTo>
                  <a:cubicBezTo>
                    <a:pt x="1600200" y="757455"/>
                    <a:pt x="1557555" y="800100"/>
                    <a:pt x="1504950" y="800100"/>
                  </a:cubicBezTo>
                  <a:lnTo>
                    <a:pt x="95250" y="800100"/>
                  </a:lnTo>
                  <a:cubicBezTo>
                    <a:pt x="42645" y="800100"/>
                    <a:pt x="0" y="757455"/>
                    <a:pt x="0" y="704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271189" y="28775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升级后变化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968431" y="3040380"/>
              <a:ext cx="132293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周 → 分钟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71189" y="40967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升级后变化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05198" y="4259580"/>
              <a:ext cx="18494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T+3 → 实时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71189" y="53159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升级后变化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811611" y="5478780"/>
              <a:ext cx="16365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人工 → 自动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6153150"/>
            <a:ext cx="11049000" cy="253937"/>
            <a:chOff x="571500" y="6153150"/>
            <a:chExt cx="11049000" cy="253937"/>
          </a:xfrm>
        </p:grpSpPr>
        <p:sp>
          <p:nvSpPr>
            <p:cNvPr id="68" name="Freeform 68"/>
            <p:cNvSpPr/>
            <p:nvPr/>
          </p:nvSpPr>
          <p:spPr>
            <a:xfrm>
              <a:off x="571500" y="6153150"/>
              <a:ext cx="11049000" cy="228600"/>
            </a:xfrm>
            <a:custGeom>
              <a:avLst/>
              <a:gdLst/>
              <a:ahLst/>
              <a:cxnLst/>
              <a:rect l="l" t="t" r="r" b="b"/>
              <a:pathLst>
                <a:path w="11049000" h="2286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114300"/>
                  </a:lnTo>
                  <a:cubicBezTo>
                    <a:pt x="11049000" y="177426"/>
                    <a:pt x="10997826" y="228600"/>
                    <a:pt x="109347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18566" y="6201728"/>
              <a:ext cx="6604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关键变量对比：数据整合、AI 分析、自动化执行三项能力同时重构，形成从洞察到动作的统一闭环。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876300"/>
            <a:ext cx="12287250" cy="7734300"/>
            <a:chOff x="0" y="-876300"/>
            <a:chExt cx="12287250" cy="7734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762875" y="-876300"/>
              <a:ext cx="4191000" cy="41910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191750" y="-209550"/>
              <a:ext cx="2095500" cy="2095500"/>
            </a:xfrm>
            <a:prstGeom prst="ellipse">
              <a:avLst/>
            </a:prstGeom>
            <a:solidFill>
              <a:schemeClr val="accent3">
                <a:alpha val="10000"/>
              </a:schemeClr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333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324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629602"/>
            <a:ext cx="11062716" cy="6015514"/>
            <a:chOff x="557784" y="629602"/>
            <a:chExt cx="11062716" cy="601551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629602"/>
              <a:ext cx="900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12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PROOFGRID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832485"/>
              <a:ext cx="92575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真实成效：AI营销工作台带来的可量化价值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71500" y="1409700"/>
              <a:ext cx="11049000" cy="457200"/>
            </a:xfrm>
            <a:custGeom>
              <a:avLst/>
              <a:gdLst/>
              <a:ahLst/>
              <a:cxnLst/>
              <a:rect l="l" t="t" r="r" b="b"/>
              <a:pathLst>
                <a:path w="11049000" h="45720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361950"/>
                  </a:lnTo>
                  <a:cubicBezTo>
                    <a:pt x="11049000" y="414555"/>
                    <a:pt x="11006355" y="457200"/>
                    <a:pt x="109537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2480" y="15335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基于现有行业客户与内部压力测试数据，核心结果如下：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483191"/>
              <a:ext cx="16345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SaaS 方案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98320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2152650"/>
            <a:ext cx="11049000" cy="3676650"/>
            <a:chOff x="571500" y="2152650"/>
            <a:chExt cx="11049000" cy="3676650"/>
          </a:xfrm>
        </p:grpSpPr>
        <p:sp>
          <p:nvSpPr>
            <p:cNvPr id="15" name="Freeform 15"/>
            <p:cNvSpPr/>
            <p:nvPr/>
          </p:nvSpPr>
          <p:spPr>
            <a:xfrm>
              <a:off x="571500" y="2152650"/>
              <a:ext cx="7048500" cy="3676650"/>
            </a:xfrm>
            <a:custGeom>
              <a:avLst/>
              <a:gdLst/>
              <a:ahLst/>
              <a:cxnLst/>
              <a:rect l="l" t="t" r="r" b="b"/>
              <a:pathLst>
                <a:path w="7048500" h="3676650">
                  <a:moveTo>
                    <a:pt x="171450" y="0"/>
                  </a:moveTo>
                  <a:lnTo>
                    <a:pt x="6877050" y="0"/>
                  </a:lnTo>
                  <a:cubicBezTo>
                    <a:pt x="6971739" y="0"/>
                    <a:pt x="7048500" y="76761"/>
                    <a:pt x="7048500" y="171450"/>
                  </a:cubicBezTo>
                  <a:lnTo>
                    <a:pt x="7048500" y="3505200"/>
                  </a:lnTo>
                  <a:cubicBezTo>
                    <a:pt x="7048500" y="3599889"/>
                    <a:pt x="6971739" y="3676650"/>
                    <a:pt x="6877050" y="3676650"/>
                  </a:cubicBezTo>
                  <a:lnTo>
                    <a:pt x="171450" y="3676650"/>
                  </a:lnTo>
                  <a:cubicBezTo>
                    <a:pt x="76761" y="3676650"/>
                    <a:pt x="0" y="3599889"/>
                    <a:pt x="0" y="35052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6394" y="2285048"/>
              <a:ext cx="23497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三项核心证明材料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76300" y="2724150"/>
              <a:ext cx="6438900" cy="876300"/>
            </a:xfrm>
            <a:custGeom>
              <a:avLst/>
              <a:gdLst/>
              <a:ahLst/>
              <a:cxnLst/>
              <a:rect l="l" t="t" r="r" b="b"/>
              <a:pathLst>
                <a:path w="6438900" h="876300">
                  <a:moveTo>
                    <a:pt x="133350" y="0"/>
                  </a:moveTo>
                  <a:lnTo>
                    <a:pt x="6305550" y="0"/>
                  </a:lnTo>
                  <a:cubicBezTo>
                    <a:pt x="6379197" y="0"/>
                    <a:pt x="6438900" y="59703"/>
                    <a:pt x="6438900" y="133350"/>
                  </a:cubicBezTo>
                  <a:lnTo>
                    <a:pt x="6438900" y="742950"/>
                  </a:lnTo>
                  <a:cubicBezTo>
                    <a:pt x="6438900" y="816597"/>
                    <a:pt x="6379197" y="876300"/>
                    <a:pt x="6305550" y="876300"/>
                  </a:cubicBezTo>
                  <a:lnTo>
                    <a:pt x="133350" y="876300"/>
                  </a:lnTo>
                  <a:cubicBezTo>
                    <a:pt x="59703" y="876300"/>
                    <a:pt x="0" y="816597"/>
                    <a:pt x="0" y="7429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28700" y="2971800"/>
              <a:ext cx="381000" cy="3810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123950" y="3076575"/>
              <a:ext cx="209550" cy="133350"/>
            </a:xfrm>
            <a:custGeom>
              <a:avLst/>
              <a:gdLst/>
              <a:ahLst/>
              <a:cxnLst/>
              <a:rect l="l" t="t" r="r" b="b"/>
              <a:pathLst>
                <a:path w="209550" h="133350">
                  <a:moveTo>
                    <a:pt x="0" y="133350"/>
                  </a:moveTo>
                  <a:lnTo>
                    <a:pt x="66675" y="57150"/>
                  </a:lnTo>
                  <a:lnTo>
                    <a:pt x="123825" y="95250"/>
                  </a:lnTo>
                  <a:lnTo>
                    <a:pt x="209550" y="0"/>
                  </a:lnTo>
                </a:path>
              </a:pathLst>
            </a:custGeom>
            <a:noFill/>
            <a:ln w="22860" cap="rnd">
              <a:solidFill>
                <a:schemeClr val="accent2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33906" y="2872740"/>
              <a:ext cx="16447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ROI 提升 35%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36192" y="3178492"/>
              <a:ext cx="47087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某零售品牌在促销场景中启用 AI 选品与智能人群定向，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36192" y="3407092"/>
              <a:ext cx="26828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ROI 较人工策划实现阶跃提升。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191250" y="2914650"/>
              <a:ext cx="876300" cy="476250"/>
            </a:xfrm>
            <a:custGeom>
              <a:avLst/>
              <a:gdLst/>
              <a:ahLst/>
              <a:cxnLst/>
              <a:rect l="l" t="t" r="r" b="b"/>
              <a:pathLst>
                <a:path w="876300" h="476250">
                  <a:moveTo>
                    <a:pt x="95250" y="0"/>
                  </a:moveTo>
                  <a:lnTo>
                    <a:pt x="781050" y="0"/>
                  </a:lnTo>
                  <a:cubicBezTo>
                    <a:pt x="833655" y="0"/>
                    <a:pt x="876300" y="42645"/>
                    <a:pt x="876300" y="95250"/>
                  </a:cubicBezTo>
                  <a:lnTo>
                    <a:pt x="876300" y="381000"/>
                  </a:lnTo>
                  <a:cubicBezTo>
                    <a:pt x="876300" y="433605"/>
                    <a:pt x="833655" y="476250"/>
                    <a:pt x="781050" y="476250"/>
                  </a:cubicBezTo>
                  <a:lnTo>
                    <a:pt x="95250" y="476250"/>
                  </a:lnTo>
                  <a:cubicBezTo>
                    <a:pt x="42645" y="476250"/>
                    <a:pt x="0" y="433605"/>
                    <a:pt x="0" y="381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42365" y="3002280"/>
              <a:ext cx="7740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+35%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76300" y="3752850"/>
              <a:ext cx="6438900" cy="876300"/>
            </a:xfrm>
            <a:custGeom>
              <a:avLst/>
              <a:gdLst/>
              <a:ahLst/>
              <a:cxnLst/>
              <a:rect l="l" t="t" r="r" b="b"/>
              <a:pathLst>
                <a:path w="6438900" h="876300">
                  <a:moveTo>
                    <a:pt x="133350" y="0"/>
                  </a:moveTo>
                  <a:lnTo>
                    <a:pt x="6305550" y="0"/>
                  </a:lnTo>
                  <a:cubicBezTo>
                    <a:pt x="6379197" y="0"/>
                    <a:pt x="6438900" y="59703"/>
                    <a:pt x="6438900" y="133350"/>
                  </a:cubicBezTo>
                  <a:lnTo>
                    <a:pt x="6438900" y="742950"/>
                  </a:lnTo>
                  <a:cubicBezTo>
                    <a:pt x="6438900" y="816597"/>
                    <a:pt x="6379197" y="876300"/>
                    <a:pt x="6305550" y="876300"/>
                  </a:cubicBezTo>
                  <a:lnTo>
                    <a:pt x="133350" y="876300"/>
                  </a:lnTo>
                  <a:cubicBezTo>
                    <a:pt x="59703" y="876300"/>
                    <a:pt x="0" y="816597"/>
                    <a:pt x="0" y="7429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028700" y="4000500"/>
              <a:ext cx="381000" cy="3810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123950" y="4133850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104775"/>
                  </a:moveTo>
                  <a:lnTo>
                    <a:pt x="200025" y="104775"/>
                  </a:lnTo>
                  <a:moveTo>
                    <a:pt x="95250" y="0"/>
                  </a:moveTo>
                  <a:lnTo>
                    <a:pt x="95250" y="200025"/>
                  </a:lnTo>
                </a:path>
              </a:pathLst>
            </a:custGeom>
            <a:noFill/>
            <a:ln w="22860" cap="rnd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33906" y="3901440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内容产出效率提升 80%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36192" y="4207192"/>
              <a:ext cx="40750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 驱动的文案与创意素材生成，将物料准备时间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36192" y="4435792"/>
              <a:ext cx="18856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 3 天压缩至 4 小时。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5962650" y="3943350"/>
              <a:ext cx="1104900" cy="476250"/>
            </a:xfrm>
            <a:custGeom>
              <a:avLst/>
              <a:gdLst/>
              <a:ahLst/>
              <a:cxnLst/>
              <a:rect l="l" t="t" r="r" b="b"/>
              <a:pathLst>
                <a:path w="1104900" h="476250">
                  <a:moveTo>
                    <a:pt x="95250" y="0"/>
                  </a:moveTo>
                  <a:lnTo>
                    <a:pt x="1009650" y="0"/>
                  </a:lnTo>
                  <a:cubicBezTo>
                    <a:pt x="1062255" y="0"/>
                    <a:pt x="1104900" y="42645"/>
                    <a:pt x="1104900" y="95250"/>
                  </a:cubicBezTo>
                  <a:lnTo>
                    <a:pt x="1104900" y="381000"/>
                  </a:lnTo>
                  <a:cubicBezTo>
                    <a:pt x="1104900" y="433605"/>
                    <a:pt x="1062255" y="476250"/>
                    <a:pt x="1009650" y="476250"/>
                  </a:cubicBezTo>
                  <a:lnTo>
                    <a:pt x="95250" y="476250"/>
                  </a:lnTo>
                  <a:cubicBezTo>
                    <a:pt x="42645" y="476250"/>
                    <a:pt x="0" y="433605"/>
                    <a:pt x="0" y="381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27064" y="4030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周期缩短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00268" y="4120515"/>
              <a:ext cx="14296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3天 → 4小时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76300" y="4781550"/>
              <a:ext cx="6438900" cy="876300"/>
            </a:xfrm>
            <a:custGeom>
              <a:avLst/>
              <a:gdLst/>
              <a:ahLst/>
              <a:cxnLst/>
              <a:rect l="l" t="t" r="r" b="b"/>
              <a:pathLst>
                <a:path w="6438900" h="876300">
                  <a:moveTo>
                    <a:pt x="133350" y="0"/>
                  </a:moveTo>
                  <a:lnTo>
                    <a:pt x="6305550" y="0"/>
                  </a:lnTo>
                  <a:cubicBezTo>
                    <a:pt x="6379197" y="0"/>
                    <a:pt x="6438900" y="59703"/>
                    <a:pt x="6438900" y="133350"/>
                  </a:cubicBezTo>
                  <a:lnTo>
                    <a:pt x="6438900" y="742950"/>
                  </a:lnTo>
                  <a:cubicBezTo>
                    <a:pt x="6438900" y="816597"/>
                    <a:pt x="6379197" y="876300"/>
                    <a:pt x="6305550" y="876300"/>
                  </a:cubicBezTo>
                  <a:lnTo>
                    <a:pt x="133350" y="876300"/>
                  </a:lnTo>
                  <a:cubicBezTo>
                    <a:pt x="59703" y="876300"/>
                    <a:pt x="0" y="816597"/>
                    <a:pt x="0" y="7429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1028700" y="5029200"/>
              <a:ext cx="381000" cy="3810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123950" y="5172075"/>
              <a:ext cx="190500" cy="85725"/>
            </a:xfrm>
            <a:custGeom>
              <a:avLst/>
              <a:gdLst/>
              <a:ahLst/>
              <a:cxnLst/>
              <a:rect l="l" t="t" r="r" b="b"/>
              <a:pathLst>
                <a:path w="190500" h="85725">
                  <a:moveTo>
                    <a:pt x="0" y="85725"/>
                  </a:moveTo>
                  <a:cubicBezTo>
                    <a:pt x="38100" y="0"/>
                    <a:pt x="152400" y="0"/>
                    <a:pt x="190500" y="85725"/>
                  </a:cubicBezTo>
                </a:path>
              </a:pathLst>
            </a:custGeom>
            <a:noFill/>
            <a:ln w="22860" cap="rnd">
              <a:solidFill>
                <a:schemeClr val="accent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152525" y="5219700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2860" cap="rnd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33906" y="4930140"/>
              <a:ext cx="26262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用户响应率提高 2.1 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36192" y="523589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个性化触发引擎使邮件打开率与短信点击率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36192" y="5464492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同步提升 2 倍以上。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038850" y="4972050"/>
              <a:ext cx="1028700" cy="476250"/>
            </a:xfrm>
            <a:custGeom>
              <a:avLst/>
              <a:gdLst/>
              <a:ahLst/>
              <a:cxnLst/>
              <a:rect l="l" t="t" r="r" b="b"/>
              <a:pathLst>
                <a:path w="1028700" h="476250">
                  <a:moveTo>
                    <a:pt x="95250" y="0"/>
                  </a:moveTo>
                  <a:lnTo>
                    <a:pt x="933450" y="0"/>
                  </a:lnTo>
                  <a:cubicBezTo>
                    <a:pt x="986055" y="0"/>
                    <a:pt x="1028700" y="42645"/>
                    <a:pt x="1028700" y="95250"/>
                  </a:cubicBezTo>
                  <a:lnTo>
                    <a:pt x="1028700" y="381000"/>
                  </a:lnTo>
                  <a:cubicBezTo>
                    <a:pt x="1028700" y="433605"/>
                    <a:pt x="986055" y="476250"/>
                    <a:pt x="933450" y="476250"/>
                  </a:cubicBezTo>
                  <a:lnTo>
                    <a:pt x="95250" y="476250"/>
                  </a:lnTo>
                  <a:cubicBezTo>
                    <a:pt x="42645" y="476250"/>
                    <a:pt x="0" y="433605"/>
                    <a:pt x="0" y="381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97529" y="5059680"/>
              <a:ext cx="7113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2.1×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7962900" y="2152650"/>
              <a:ext cx="3657600" cy="3676650"/>
            </a:xfrm>
            <a:custGeom>
              <a:avLst/>
              <a:gdLst/>
              <a:ahLst/>
              <a:cxnLst/>
              <a:rect l="l" t="t" r="r" b="b"/>
              <a:pathLst>
                <a:path w="3657600" h="3676650">
                  <a:moveTo>
                    <a:pt x="171450" y="0"/>
                  </a:moveTo>
                  <a:lnTo>
                    <a:pt x="3486150" y="0"/>
                  </a:lnTo>
                  <a:cubicBezTo>
                    <a:pt x="3580839" y="0"/>
                    <a:pt x="3657600" y="76761"/>
                    <a:pt x="3657600" y="171450"/>
                  </a:cubicBezTo>
                  <a:lnTo>
                    <a:pt x="3657600" y="3505200"/>
                  </a:lnTo>
                  <a:cubicBezTo>
                    <a:pt x="3657600" y="3599889"/>
                    <a:pt x="3580839" y="3676650"/>
                    <a:pt x="3486150" y="3676650"/>
                  </a:cubicBezTo>
                  <a:lnTo>
                    <a:pt x="171450" y="3676650"/>
                  </a:lnTo>
                  <a:cubicBezTo>
                    <a:pt x="76761" y="3676650"/>
                    <a:pt x="0" y="3599889"/>
                    <a:pt x="0" y="35052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38744" y="22850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证据锚点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8248650" y="2724150"/>
              <a:ext cx="3086100" cy="952500"/>
            </a:xfrm>
            <a:custGeom>
              <a:avLst/>
              <a:gdLst/>
              <a:ahLst/>
              <a:cxnLst/>
              <a:rect l="l" t="t" r="r" b="b"/>
              <a:pathLst>
                <a:path w="3086100" h="952500">
                  <a:moveTo>
                    <a:pt x="133350" y="0"/>
                  </a:moveTo>
                  <a:lnTo>
                    <a:pt x="2952750" y="0"/>
                  </a:lnTo>
                  <a:cubicBezTo>
                    <a:pt x="3026397" y="0"/>
                    <a:pt x="3086100" y="59703"/>
                    <a:pt x="3086100" y="133350"/>
                  </a:cubicBezTo>
                  <a:lnTo>
                    <a:pt x="3086100" y="819150"/>
                  </a:lnTo>
                  <a:cubicBezTo>
                    <a:pt x="3086100" y="892797"/>
                    <a:pt x="3026397" y="952500"/>
                    <a:pt x="2952750" y="952500"/>
                  </a:cubicBezTo>
                  <a:lnTo>
                    <a:pt x="133350" y="952500"/>
                  </a:lnTo>
                  <a:cubicBezTo>
                    <a:pt x="59703" y="952500"/>
                    <a:pt x="0" y="892797"/>
                    <a:pt x="0" y="819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71916" y="2934652"/>
              <a:ext cx="8941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01 / 业务结果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69630" y="3171825"/>
              <a:ext cx="2607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促销投放中，AI 选品、分群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69630" y="34004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与预算协同形成闭环提效。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8248650" y="3829050"/>
              <a:ext cx="3086100" cy="952500"/>
            </a:xfrm>
            <a:custGeom>
              <a:avLst/>
              <a:gdLst/>
              <a:ahLst/>
              <a:cxnLst/>
              <a:rect l="l" t="t" r="r" b="b"/>
              <a:pathLst>
                <a:path w="3086100" h="952500">
                  <a:moveTo>
                    <a:pt x="133350" y="0"/>
                  </a:moveTo>
                  <a:lnTo>
                    <a:pt x="2952750" y="0"/>
                  </a:lnTo>
                  <a:cubicBezTo>
                    <a:pt x="3026397" y="0"/>
                    <a:pt x="3086100" y="59703"/>
                    <a:pt x="3086100" y="133350"/>
                  </a:cubicBezTo>
                  <a:lnTo>
                    <a:pt x="3086100" y="819150"/>
                  </a:lnTo>
                  <a:cubicBezTo>
                    <a:pt x="3086100" y="892797"/>
                    <a:pt x="3026397" y="952500"/>
                    <a:pt x="2952750" y="952500"/>
                  </a:cubicBezTo>
                  <a:lnTo>
                    <a:pt x="133350" y="952500"/>
                  </a:lnTo>
                  <a:cubicBezTo>
                    <a:pt x="59703" y="952500"/>
                    <a:pt x="0" y="892797"/>
                    <a:pt x="0" y="819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71916" y="4039552"/>
              <a:ext cx="8941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02 / 运营效率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69630" y="42767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文案、素材、触达策略由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69630" y="4505325"/>
              <a:ext cx="2458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生成式 AI 并行协作完成。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8248650" y="4933950"/>
              <a:ext cx="3086100" cy="723900"/>
            </a:xfrm>
            <a:custGeom>
              <a:avLst/>
              <a:gdLst/>
              <a:ahLst/>
              <a:cxnLst/>
              <a:rect l="l" t="t" r="r" b="b"/>
              <a:pathLst>
                <a:path w="3086100" h="723900">
                  <a:moveTo>
                    <a:pt x="133350" y="0"/>
                  </a:moveTo>
                  <a:lnTo>
                    <a:pt x="2952750" y="0"/>
                  </a:lnTo>
                  <a:cubicBezTo>
                    <a:pt x="3026397" y="0"/>
                    <a:pt x="3086100" y="59703"/>
                    <a:pt x="3086100" y="133350"/>
                  </a:cubicBezTo>
                  <a:lnTo>
                    <a:pt x="3086100" y="590550"/>
                  </a:lnTo>
                  <a:cubicBezTo>
                    <a:pt x="3086100" y="664197"/>
                    <a:pt x="3026397" y="723900"/>
                    <a:pt x="2952750" y="723900"/>
                  </a:cubicBezTo>
                  <a:lnTo>
                    <a:pt x="133350" y="723900"/>
                  </a:lnTo>
                  <a:cubicBezTo>
                    <a:pt x="59703" y="723900"/>
                    <a:pt x="0" y="664197"/>
                    <a:pt x="0" y="5905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71916" y="5144452"/>
              <a:ext cx="8941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03 / 用户反馈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69630" y="53625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个性化触发显著提升响应质量。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7620000" y="3162300"/>
              <a:ext cx="4572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57" name="Line 57"/>
            <p:cNvSpPr/>
            <p:nvPr/>
          </p:nvSpPr>
          <p:spPr>
            <a:xfrm>
              <a:off x="7620000" y="4191000"/>
              <a:ext cx="457200" cy="1143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58" name="Line 58"/>
            <p:cNvSpPr/>
            <p:nvPr/>
          </p:nvSpPr>
          <p:spPr>
            <a:xfrm>
              <a:off x="7620000" y="5219700"/>
              <a:ext cx="457200" cy="762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381000" y="8763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81000" y="636270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351949"/>
            <a:ext cx="11067479" cy="6331267"/>
            <a:chOff x="557784" y="351949"/>
            <a:chExt cx="11067479" cy="6331267"/>
          </a:xfrm>
        </p:grpSpPr>
        <p:sp>
          <p:nvSpPr>
            <p:cNvPr id="8" name="TextBox 8"/>
            <p:cNvSpPr txBox="1"/>
            <p:nvPr/>
          </p:nvSpPr>
          <p:spPr>
            <a:xfrm>
              <a:off x="566547" y="351949"/>
              <a:ext cx="10126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508635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平台核心能力指标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0096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3880" y="117157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不只是功能全面，性能数据才是企业级可靠性的证明。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521291"/>
              <a:ext cx="13824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AI MARKETING WORKBENCH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1733550"/>
            <a:ext cx="11049000" cy="4572000"/>
            <a:chOff x="571500" y="1733550"/>
            <a:chExt cx="11049000" cy="4572000"/>
          </a:xfrm>
        </p:grpSpPr>
        <p:sp>
          <p:nvSpPr>
            <p:cNvPr id="15" name="Freeform 15"/>
            <p:cNvSpPr/>
            <p:nvPr/>
          </p:nvSpPr>
          <p:spPr>
            <a:xfrm>
              <a:off x="571500" y="1733550"/>
              <a:ext cx="5334000" cy="2019300"/>
            </a:xfrm>
            <a:custGeom>
              <a:avLst/>
              <a:gdLst/>
              <a:ahLst/>
              <a:cxnLst/>
              <a:rect l="l" t="t" r="r" b="b"/>
              <a:pathLst>
                <a:path w="5334000" h="20193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905000"/>
                  </a:lnTo>
                  <a:cubicBezTo>
                    <a:pt x="5334000" y="1968126"/>
                    <a:pt x="5282826" y="2019300"/>
                    <a:pt x="5219700" y="2019300"/>
                  </a:cubicBezTo>
                  <a:lnTo>
                    <a:pt x="114300" y="2019300"/>
                  </a:lnTo>
                  <a:cubicBezTo>
                    <a:pt x="51174" y="2019300"/>
                    <a:pt x="0" y="1968126"/>
                    <a:pt x="0" y="1905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134100" y="1733550"/>
              <a:ext cx="5486400" cy="2019300"/>
            </a:xfrm>
            <a:custGeom>
              <a:avLst/>
              <a:gdLst/>
              <a:ahLst/>
              <a:cxnLst/>
              <a:rect l="l" t="t" r="r" b="b"/>
              <a:pathLst>
                <a:path w="5486400" h="2019300">
                  <a:moveTo>
                    <a:pt x="114300" y="0"/>
                  </a:moveTo>
                  <a:lnTo>
                    <a:pt x="5372100" y="0"/>
                  </a:lnTo>
                  <a:cubicBezTo>
                    <a:pt x="5435226" y="0"/>
                    <a:pt x="5486400" y="51174"/>
                    <a:pt x="5486400" y="114300"/>
                  </a:cubicBezTo>
                  <a:lnTo>
                    <a:pt x="5486400" y="1905000"/>
                  </a:lnTo>
                  <a:cubicBezTo>
                    <a:pt x="5486400" y="1968126"/>
                    <a:pt x="5435226" y="2019300"/>
                    <a:pt x="5372100" y="2019300"/>
                  </a:cubicBezTo>
                  <a:lnTo>
                    <a:pt x="114300" y="2019300"/>
                  </a:lnTo>
                  <a:cubicBezTo>
                    <a:pt x="51174" y="2019300"/>
                    <a:pt x="0" y="1968126"/>
                    <a:pt x="0" y="1905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71500" y="3981450"/>
              <a:ext cx="5334000" cy="2019300"/>
            </a:xfrm>
            <a:custGeom>
              <a:avLst/>
              <a:gdLst/>
              <a:ahLst/>
              <a:cxnLst/>
              <a:rect l="l" t="t" r="r" b="b"/>
              <a:pathLst>
                <a:path w="5334000" h="20193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905000"/>
                  </a:lnTo>
                  <a:cubicBezTo>
                    <a:pt x="5334000" y="1968126"/>
                    <a:pt x="5282826" y="2019300"/>
                    <a:pt x="5219700" y="2019300"/>
                  </a:cubicBezTo>
                  <a:lnTo>
                    <a:pt x="114300" y="2019300"/>
                  </a:lnTo>
                  <a:cubicBezTo>
                    <a:pt x="51174" y="2019300"/>
                    <a:pt x="0" y="1968126"/>
                    <a:pt x="0" y="1905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134100" y="3981450"/>
              <a:ext cx="5486400" cy="2019300"/>
            </a:xfrm>
            <a:custGeom>
              <a:avLst/>
              <a:gdLst/>
              <a:ahLst/>
              <a:cxnLst/>
              <a:rect l="l" t="t" r="r" b="b"/>
              <a:pathLst>
                <a:path w="5486400" h="2019300">
                  <a:moveTo>
                    <a:pt x="114300" y="0"/>
                  </a:moveTo>
                  <a:lnTo>
                    <a:pt x="5372100" y="0"/>
                  </a:lnTo>
                  <a:cubicBezTo>
                    <a:pt x="5435226" y="0"/>
                    <a:pt x="5486400" y="51174"/>
                    <a:pt x="5486400" y="114300"/>
                  </a:cubicBezTo>
                  <a:lnTo>
                    <a:pt x="5486400" y="1905000"/>
                  </a:lnTo>
                  <a:cubicBezTo>
                    <a:pt x="5486400" y="1968126"/>
                    <a:pt x="5435226" y="2019300"/>
                    <a:pt x="5372100" y="2019300"/>
                  </a:cubicBezTo>
                  <a:lnTo>
                    <a:pt x="114300" y="2019300"/>
                  </a:lnTo>
                  <a:cubicBezTo>
                    <a:pt x="51174" y="2019300"/>
                    <a:pt x="0" y="1968126"/>
                    <a:pt x="0" y="1905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1500" y="1733550"/>
              <a:ext cx="57150" cy="2019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34100" y="1733550"/>
              <a:ext cx="57150" cy="2019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71500" y="3981450"/>
              <a:ext cx="57150" cy="201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34100" y="3981450"/>
              <a:ext cx="57150" cy="2019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1347" y="2028349"/>
              <a:ext cx="883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DATA QUALITY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7250" y="2344102"/>
              <a:ext cx="1822483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99.9%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7156" y="29298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数据同步准确率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9442" y="33023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端到端校验，多渠道实时对齐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33947" y="2028349"/>
              <a:ext cx="13828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REAL-TIME INFERENCE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19850" y="2344102"/>
              <a:ext cx="215516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&lt;100ms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9756" y="29298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推荐推理延迟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2042" y="33023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支持高并发实时决策场景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1347" y="4276249"/>
              <a:ext cx="9876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MODEL LIBRARY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7250" y="4592002"/>
              <a:ext cx="103614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50+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7156" y="5177790"/>
              <a:ext cx="13221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预置AI模型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9442" y="5550218"/>
              <a:ext cx="32109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覆盖流失预警、LTV、推荐、文案生成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4276249"/>
              <a:ext cx="10361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CAMPAIGN SPEED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19850" y="4592002"/>
              <a:ext cx="209467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10 分钟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29756" y="5177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活动创建耗时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32042" y="55502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从策略配置到全渠道上线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334000" y="2095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5334000" y="22479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5334000" y="24003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10839450" y="20955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10839450" y="22479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10839450" y="2400300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5295900" y="49911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486400" y="49911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5676900" y="49911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5867400" y="4991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648950" y="4800600"/>
              <a:ext cx="742950" cy="95250"/>
            </a:xfrm>
            <a:custGeom>
              <a:avLst/>
              <a:gdLst/>
              <a:ahLst/>
              <a:cxnLst/>
              <a:rect l="l" t="t" r="r" b="b"/>
              <a:pathLst>
                <a:path w="742950" h="95250">
                  <a:moveTo>
                    <a:pt x="47625" y="0"/>
                  </a:moveTo>
                  <a:lnTo>
                    <a:pt x="695325" y="0"/>
                  </a:lnTo>
                  <a:cubicBezTo>
                    <a:pt x="721628" y="0"/>
                    <a:pt x="742950" y="21322"/>
                    <a:pt x="742950" y="47625"/>
                  </a:cubicBezTo>
                  <a:lnTo>
                    <a:pt x="742950" y="47625"/>
                  </a:lnTo>
                  <a:cubicBezTo>
                    <a:pt x="742950" y="73928"/>
                    <a:pt x="721628" y="95250"/>
                    <a:pt x="69532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0648950" y="4800600"/>
              <a:ext cx="571500" cy="95250"/>
            </a:xfrm>
            <a:custGeom>
              <a:avLst/>
              <a:gdLst/>
              <a:ahLst/>
              <a:cxnLst/>
              <a:rect l="l" t="t" r="r" b="b"/>
              <a:pathLst>
                <a:path w="571500" h="95250">
                  <a:moveTo>
                    <a:pt x="47625" y="0"/>
                  </a:moveTo>
                  <a:lnTo>
                    <a:pt x="523875" y="0"/>
                  </a:lnTo>
                  <a:cubicBezTo>
                    <a:pt x="550178" y="0"/>
                    <a:pt x="571500" y="21322"/>
                    <a:pt x="571500" y="47625"/>
                  </a:cubicBezTo>
                  <a:lnTo>
                    <a:pt x="571500" y="47625"/>
                  </a:lnTo>
                  <a:cubicBezTo>
                    <a:pt x="571500" y="73928"/>
                    <a:pt x="550178" y="95250"/>
                    <a:pt x="5238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10648950" y="4991100"/>
              <a:ext cx="742950" cy="95250"/>
            </a:xfrm>
            <a:custGeom>
              <a:avLst/>
              <a:gdLst/>
              <a:ahLst/>
              <a:cxnLst/>
              <a:rect l="l" t="t" r="r" b="b"/>
              <a:pathLst>
                <a:path w="742950" h="95250">
                  <a:moveTo>
                    <a:pt x="47625" y="0"/>
                  </a:moveTo>
                  <a:lnTo>
                    <a:pt x="695325" y="0"/>
                  </a:lnTo>
                  <a:cubicBezTo>
                    <a:pt x="721628" y="0"/>
                    <a:pt x="742950" y="21322"/>
                    <a:pt x="742950" y="47625"/>
                  </a:cubicBezTo>
                  <a:lnTo>
                    <a:pt x="742950" y="47625"/>
                  </a:lnTo>
                  <a:cubicBezTo>
                    <a:pt x="742950" y="73928"/>
                    <a:pt x="721628" y="95250"/>
                    <a:pt x="69532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0648950" y="4991100"/>
              <a:ext cx="647700" cy="95250"/>
            </a:xfrm>
            <a:custGeom>
              <a:avLst/>
              <a:gdLst/>
              <a:ahLst/>
              <a:cxnLst/>
              <a:rect l="l" t="t" r="r" b="b"/>
              <a:pathLst>
                <a:path w="647700" h="95250">
                  <a:moveTo>
                    <a:pt x="47625" y="0"/>
                  </a:moveTo>
                  <a:lnTo>
                    <a:pt x="600075" y="0"/>
                  </a:lnTo>
                  <a:cubicBezTo>
                    <a:pt x="626378" y="0"/>
                    <a:pt x="647700" y="21322"/>
                    <a:pt x="647700" y="47625"/>
                  </a:cubicBezTo>
                  <a:lnTo>
                    <a:pt x="647700" y="47625"/>
                  </a:lnTo>
                  <a:cubicBezTo>
                    <a:pt x="647700" y="73928"/>
                    <a:pt x="626378" y="95250"/>
                    <a:pt x="6000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10648950" y="5181600"/>
              <a:ext cx="742950" cy="95250"/>
            </a:xfrm>
            <a:custGeom>
              <a:avLst/>
              <a:gdLst/>
              <a:ahLst/>
              <a:cxnLst/>
              <a:rect l="l" t="t" r="r" b="b"/>
              <a:pathLst>
                <a:path w="742950" h="95250">
                  <a:moveTo>
                    <a:pt x="47625" y="0"/>
                  </a:moveTo>
                  <a:lnTo>
                    <a:pt x="695325" y="0"/>
                  </a:lnTo>
                  <a:cubicBezTo>
                    <a:pt x="721628" y="0"/>
                    <a:pt x="742950" y="21322"/>
                    <a:pt x="742950" y="47625"/>
                  </a:cubicBezTo>
                  <a:lnTo>
                    <a:pt x="742950" y="47625"/>
                  </a:lnTo>
                  <a:cubicBezTo>
                    <a:pt x="742950" y="73928"/>
                    <a:pt x="721628" y="95250"/>
                    <a:pt x="69532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10648950" y="5181600"/>
              <a:ext cx="685800" cy="95250"/>
            </a:xfrm>
            <a:custGeom>
              <a:avLst/>
              <a:gdLst/>
              <a:ahLst/>
              <a:cxnLst/>
              <a:rect l="l" t="t" r="r" b="b"/>
              <a:pathLst>
                <a:path w="685800" h="95250">
                  <a:moveTo>
                    <a:pt x="47625" y="0"/>
                  </a:moveTo>
                  <a:lnTo>
                    <a:pt x="638175" y="0"/>
                  </a:lnTo>
                  <a:cubicBezTo>
                    <a:pt x="664478" y="0"/>
                    <a:pt x="685800" y="21322"/>
                    <a:pt x="685800" y="47625"/>
                  </a:cubicBezTo>
                  <a:lnTo>
                    <a:pt x="685800" y="47625"/>
                  </a:lnTo>
                  <a:cubicBezTo>
                    <a:pt x="685800" y="73928"/>
                    <a:pt x="664478" y="95250"/>
                    <a:pt x="6381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571500" y="6153150"/>
              <a:ext cx="11049000" cy="152400"/>
            </a:xfrm>
            <a:custGeom>
              <a:avLst/>
              <a:gdLst/>
              <a:ahLst/>
              <a:cxnLst/>
              <a:rect l="l" t="t" r="r" b="b"/>
              <a:pathLst>
                <a:path w="11049000" h="15240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76200"/>
                  </a:lnTo>
                  <a:cubicBezTo>
                    <a:pt x="11049000" y="118284"/>
                    <a:pt x="11014884" y="152400"/>
                    <a:pt x="10972800" y="152400"/>
                  </a:cubicBezTo>
                  <a:lnTo>
                    <a:pt x="76200" y="152400"/>
                  </a:lnTo>
                  <a:cubicBezTo>
                    <a:pt x="34116" y="152400"/>
                    <a:pt x="0" y="118284"/>
                    <a:pt x="0" y="76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571500" y="6153150"/>
              <a:ext cx="4000500" cy="152400"/>
            </a:xfrm>
            <a:custGeom>
              <a:avLst/>
              <a:gdLst/>
              <a:ahLst/>
              <a:cxnLst/>
              <a:rect l="l" t="t" r="r" b="b"/>
              <a:pathLst>
                <a:path w="4000500" h="152400">
                  <a:moveTo>
                    <a:pt x="76200" y="0"/>
                  </a:moveTo>
                  <a:lnTo>
                    <a:pt x="3924300" y="0"/>
                  </a:lnTo>
                  <a:cubicBezTo>
                    <a:pt x="3966384" y="0"/>
                    <a:pt x="4000500" y="34116"/>
                    <a:pt x="4000500" y="76200"/>
                  </a:cubicBezTo>
                  <a:lnTo>
                    <a:pt x="4000500" y="76200"/>
                  </a:lnTo>
                  <a:cubicBezTo>
                    <a:pt x="4000500" y="118284"/>
                    <a:pt x="3966384" y="152400"/>
                    <a:pt x="3924300" y="152400"/>
                  </a:cubicBezTo>
                  <a:lnTo>
                    <a:pt x="76200" y="152400"/>
                  </a:lnTo>
                  <a:cubicBezTo>
                    <a:pt x="34116" y="152400"/>
                    <a:pt x="0" y="118284"/>
                    <a:pt x="0" y="76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572000" y="6153150"/>
              <a:ext cx="2952750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7524750" y="6153150"/>
              <a:ext cx="4095750" cy="152400"/>
            </a:xfrm>
            <a:custGeom>
              <a:avLst/>
              <a:gdLst/>
              <a:ahLst/>
              <a:cxnLst/>
              <a:rect l="l" t="t" r="r" b="b"/>
              <a:pathLst>
                <a:path w="4095750" h="152400">
                  <a:moveTo>
                    <a:pt x="76200" y="0"/>
                  </a:moveTo>
                  <a:lnTo>
                    <a:pt x="4019550" y="0"/>
                  </a:lnTo>
                  <a:cubicBezTo>
                    <a:pt x="4061634" y="0"/>
                    <a:pt x="4095750" y="34116"/>
                    <a:pt x="4095750" y="76200"/>
                  </a:cubicBezTo>
                  <a:lnTo>
                    <a:pt x="4095750" y="76200"/>
                  </a:lnTo>
                  <a:cubicBezTo>
                    <a:pt x="4095750" y="118284"/>
                    <a:pt x="4061634" y="152400"/>
                    <a:pt x="4019550" y="152400"/>
                  </a:cubicBezTo>
                  <a:lnTo>
                    <a:pt x="76200" y="152400"/>
                  </a:lnTo>
                  <a:cubicBezTo>
                    <a:pt x="34116" y="152400"/>
                    <a:pt x="0" y="118284"/>
                    <a:pt x="0" y="76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566738" y="1522095"/>
            <a:ext cx="11058525" cy="176212"/>
            <a:chOff x="566738" y="1522095"/>
            <a:chExt cx="11058525" cy="176212"/>
          </a:xfrm>
        </p:grpSpPr>
        <p:sp>
          <p:nvSpPr>
            <p:cNvPr id="60" name="TextBox 60"/>
            <p:cNvSpPr txBox="1"/>
            <p:nvPr/>
          </p:nvSpPr>
          <p:spPr>
            <a:xfrm>
              <a:off x="566738" y="15220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关键能力信号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313736" y="1522095"/>
              <a:ext cx="2311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四项指标覆盖数据、决策、模型与执行效率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5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5810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743950" y="15240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343852"/>
            <a:ext cx="11048429" cy="5977414"/>
            <a:chOff x="557784" y="343852"/>
            <a:chExt cx="11048429" cy="597741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343852"/>
              <a:ext cx="865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75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SPREADMAP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622935"/>
              <a:ext cx="48505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AI赋能全渠道效能提升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159341"/>
              <a:ext cx="16054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产品发布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74520" y="61593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3880" y="1266825"/>
            <a:ext cx="11056620" cy="4505706"/>
            <a:chOff x="563880" y="1266825"/>
            <a:chExt cx="11056620" cy="4505706"/>
          </a:xfrm>
        </p:grpSpPr>
        <p:sp>
          <p:nvSpPr>
            <p:cNvPr id="13" name="TextBox 13"/>
            <p:cNvSpPr txBox="1"/>
            <p:nvPr/>
          </p:nvSpPr>
          <p:spPr>
            <a:xfrm>
              <a:off x="563880" y="1266825"/>
              <a:ext cx="46771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启用AI驱动后，各渠道关键指标的增长幅度如下：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1714500"/>
              <a:ext cx="7905750" cy="3619500"/>
            </a:xfrm>
            <a:custGeom>
              <a:avLst/>
              <a:gdLst/>
              <a:ahLst/>
              <a:cxnLst/>
              <a:rect l="l" t="t" r="r" b="b"/>
              <a:pathLst>
                <a:path w="7905750" h="3619500">
                  <a:moveTo>
                    <a:pt x="114300" y="0"/>
                  </a:moveTo>
                  <a:lnTo>
                    <a:pt x="7791450" y="0"/>
                  </a:lnTo>
                  <a:cubicBezTo>
                    <a:pt x="7854576" y="0"/>
                    <a:pt x="7905750" y="51174"/>
                    <a:pt x="7905750" y="114300"/>
                  </a:cubicBezTo>
                  <a:lnTo>
                    <a:pt x="7905750" y="3505200"/>
                  </a:lnTo>
                  <a:cubicBezTo>
                    <a:pt x="7905750" y="3568326"/>
                    <a:pt x="7854576" y="3619500"/>
                    <a:pt x="7791450" y="3619500"/>
                  </a:cubicBezTo>
                  <a:lnTo>
                    <a:pt x="114300" y="3619500"/>
                  </a:lnTo>
                  <a:cubicBezTo>
                    <a:pt x="51174" y="3619500"/>
                    <a:pt x="0" y="3568326"/>
                    <a:pt x="0" y="3505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76300" y="203835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38100" y="0"/>
                  </a:moveTo>
                  <a:lnTo>
                    <a:pt x="152400" y="0"/>
                  </a:lnTo>
                  <a:cubicBezTo>
                    <a:pt x="173442" y="0"/>
                    <a:pt x="190500" y="17058"/>
                    <a:pt x="190500" y="38100"/>
                  </a:cubicBezTo>
                  <a:lnTo>
                    <a:pt x="190500" y="171450"/>
                  </a:lnTo>
                  <a:cubicBezTo>
                    <a:pt x="190500" y="192492"/>
                    <a:pt x="173442" y="209550"/>
                    <a:pt x="152400" y="209550"/>
                  </a:cubicBezTo>
                  <a:lnTo>
                    <a:pt x="38100" y="209550"/>
                  </a:lnTo>
                  <a:cubicBezTo>
                    <a:pt x="17058" y="209550"/>
                    <a:pt x="0" y="192492"/>
                    <a:pt x="0" y="1714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53668" y="2012632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渠道增幅传播图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714500" y="3524250"/>
              <a:ext cx="5810250" cy="9525"/>
            </a:xfrm>
            <a:custGeom>
              <a:avLst/>
              <a:gdLst/>
              <a:ahLst/>
              <a:cxnLst/>
              <a:rect l="l" t="t" r="r" b="b"/>
              <a:pathLst>
                <a:path w="5810250" h="9525">
                  <a:moveTo>
                    <a:pt x="0" y="0"/>
                  </a:moveTo>
                  <a:lnTo>
                    <a:pt x="5810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714500" y="3024188"/>
              <a:ext cx="5810250" cy="9525"/>
            </a:xfrm>
            <a:custGeom>
              <a:avLst/>
              <a:gdLst/>
              <a:ahLst/>
              <a:cxnLst/>
              <a:rect l="l" t="t" r="r" b="b"/>
              <a:pathLst>
                <a:path w="5810250" h="9525">
                  <a:moveTo>
                    <a:pt x="0" y="0"/>
                  </a:moveTo>
                  <a:lnTo>
                    <a:pt x="5810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714500" y="2524125"/>
              <a:ext cx="5810250" cy="9525"/>
            </a:xfrm>
            <a:custGeom>
              <a:avLst/>
              <a:gdLst/>
              <a:ahLst/>
              <a:cxnLst/>
              <a:rect l="l" t="t" r="r" b="b"/>
              <a:pathLst>
                <a:path w="5810250" h="9525">
                  <a:moveTo>
                    <a:pt x="0" y="0"/>
                  </a:moveTo>
                  <a:lnTo>
                    <a:pt x="5810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714500" y="2024062"/>
              <a:ext cx="5810250" cy="9525"/>
            </a:xfrm>
            <a:custGeom>
              <a:avLst/>
              <a:gdLst/>
              <a:ahLst/>
              <a:cxnLst/>
              <a:rect l="l" t="t" r="r" b="b"/>
              <a:pathLst>
                <a:path w="5810250" h="9525">
                  <a:moveTo>
                    <a:pt x="0" y="0"/>
                  </a:moveTo>
                  <a:lnTo>
                    <a:pt x="58102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81169" y="49987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00413" y="49987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2976" y="49987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50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05538" y="49987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75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24782" y="499872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100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1619250" y="47625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6740" y="43719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打开率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6740" y="36480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转化率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6740" y="29241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互动率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6740" y="22002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点击率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1619250" y="4429125"/>
              <a:ext cx="5113020" cy="1"/>
            </a:xfrm>
            <a:prstGeom prst="line">
              <a:avLst/>
            </a:prstGeom>
            <a:noFill/>
            <a:ln w="666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2" name="Ellipse 32"/>
            <p:cNvSpPr/>
            <p:nvPr/>
          </p:nvSpPr>
          <p:spPr>
            <a:xfrm>
              <a:off x="6656070" y="43529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61632" y="4269105"/>
              <a:ext cx="7740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+88%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1619250" y="3705225"/>
              <a:ext cx="4299585" cy="1"/>
            </a:xfrm>
            <a:prstGeom prst="line">
              <a:avLst/>
            </a:prstGeom>
            <a:noFill/>
            <a:ln w="666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5" name="Ellipse 35"/>
            <p:cNvSpPr/>
            <p:nvPr/>
          </p:nvSpPr>
          <p:spPr>
            <a:xfrm>
              <a:off x="5842635" y="36290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42482" y="3545205"/>
              <a:ext cx="7740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+74%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1619250" y="2981325"/>
              <a:ext cx="3486150" cy="1"/>
            </a:xfrm>
            <a:prstGeom prst="line">
              <a:avLst/>
            </a:prstGeom>
            <a:noFill/>
            <a:ln w="66675">
              <a:solidFill>
                <a:schemeClr val="accent3">
                  <a:alpha val="90000"/>
                </a:schemeClr>
              </a:solidFill>
              <a:tailEnd type="triangle" w="lg" len="lg"/>
            </a:ln>
          </p:spPr>
        </p:sp>
        <p:sp>
          <p:nvSpPr>
            <p:cNvPr id="38" name="Ellipse 38"/>
            <p:cNvSpPr/>
            <p:nvPr/>
          </p:nvSpPr>
          <p:spPr>
            <a:xfrm>
              <a:off x="5029200" y="29051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332857" y="2821305"/>
              <a:ext cx="7740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+60%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1619250" y="2257425"/>
              <a:ext cx="2672715" cy="1"/>
            </a:xfrm>
            <a:prstGeom prst="line">
              <a:avLst/>
            </a:prstGeom>
            <a:noFill/>
            <a:ln w="66675">
              <a:solidFill>
                <a:schemeClr val="accent3">
                  <a:alpha val="75000"/>
                </a:schemeClr>
              </a:solidFill>
              <a:tailEnd type="triangle" w="lg" len="lg"/>
            </a:ln>
          </p:spPr>
        </p:sp>
        <p:sp>
          <p:nvSpPr>
            <p:cNvPr id="41" name="Ellipse 41"/>
            <p:cNvSpPr/>
            <p:nvPr/>
          </p:nvSpPr>
          <p:spPr>
            <a:xfrm>
              <a:off x="4215765" y="21812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513707" y="2097405"/>
              <a:ext cx="7740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+46%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732270" y="4000500"/>
              <a:ext cx="1363980" cy="428625"/>
            </a:xfrm>
            <a:custGeom>
              <a:avLst/>
              <a:gdLst/>
              <a:ahLst/>
              <a:cxnLst/>
              <a:rect l="l" t="t" r="r" b="b"/>
              <a:pathLst>
                <a:path w="1363980" h="428625">
                  <a:moveTo>
                    <a:pt x="0" y="428625"/>
                  </a:moveTo>
                  <a:cubicBezTo>
                    <a:pt x="697230" y="428625"/>
                    <a:pt x="1030605" y="238125"/>
                    <a:pt x="1363980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200000" sp="300000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5918835" y="3705225"/>
              <a:ext cx="2177415" cy="295275"/>
            </a:xfrm>
            <a:custGeom>
              <a:avLst/>
              <a:gdLst/>
              <a:ahLst/>
              <a:cxnLst/>
              <a:rect l="l" t="t" r="r" b="b"/>
              <a:pathLst>
                <a:path w="2177415" h="295275">
                  <a:moveTo>
                    <a:pt x="0" y="0"/>
                  </a:moveTo>
                  <a:cubicBezTo>
                    <a:pt x="1320165" y="0"/>
                    <a:pt x="1796415" y="28575"/>
                    <a:pt x="2177415" y="295275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200000" sp="300000"/>
              </a:custDash>
            </a:ln>
          </p:spPr>
        </p:sp>
        <p:sp>
          <p:nvSpPr>
            <p:cNvPr id="45" name="Freeform 45"/>
            <p:cNvSpPr/>
            <p:nvPr/>
          </p:nvSpPr>
          <p:spPr>
            <a:xfrm>
              <a:off x="5105400" y="2981325"/>
              <a:ext cx="2990850" cy="1019175"/>
            </a:xfrm>
            <a:custGeom>
              <a:avLst/>
              <a:gdLst/>
              <a:ahLst/>
              <a:cxnLst/>
              <a:rect l="l" t="t" r="r" b="b"/>
              <a:pathLst>
                <a:path w="2990850" h="1019175">
                  <a:moveTo>
                    <a:pt x="0" y="0"/>
                  </a:moveTo>
                  <a:cubicBezTo>
                    <a:pt x="1828800" y="0"/>
                    <a:pt x="2476500" y="257175"/>
                    <a:pt x="2990850" y="1019175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200000" sp="300000"/>
              </a:custDash>
            </a:ln>
          </p:spPr>
        </p:sp>
        <p:sp>
          <p:nvSpPr>
            <p:cNvPr id="46" name="Freeform 46"/>
            <p:cNvSpPr/>
            <p:nvPr/>
          </p:nvSpPr>
          <p:spPr>
            <a:xfrm>
              <a:off x="4291965" y="2257425"/>
              <a:ext cx="3804285" cy="1743075"/>
            </a:xfrm>
            <a:custGeom>
              <a:avLst/>
              <a:gdLst/>
              <a:ahLst/>
              <a:cxnLst/>
              <a:rect l="l" t="t" r="r" b="b"/>
              <a:pathLst>
                <a:path w="3804285" h="1743075">
                  <a:moveTo>
                    <a:pt x="0" y="0"/>
                  </a:moveTo>
                  <a:cubicBezTo>
                    <a:pt x="2280285" y="0"/>
                    <a:pt x="3232785" y="600075"/>
                    <a:pt x="3804285" y="1743075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200000" sp="300000"/>
              </a:custDash>
            </a:ln>
          </p:spPr>
        </p:sp>
        <p:sp>
          <p:nvSpPr>
            <p:cNvPr id="47" name="Ellipse 47"/>
            <p:cNvSpPr/>
            <p:nvPr/>
          </p:nvSpPr>
          <p:spPr>
            <a:xfrm>
              <a:off x="7772400" y="3676650"/>
              <a:ext cx="647700" cy="6477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7981950" y="3886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8096250" y="33528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3238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8324850" y="3667125"/>
              <a:ext cx="295275" cy="171450"/>
            </a:xfrm>
            <a:custGeom>
              <a:avLst/>
              <a:gdLst/>
              <a:ahLst/>
              <a:cxnLst/>
              <a:rect l="l" t="t" r="r" b="b"/>
              <a:pathLst>
                <a:path w="295275" h="171450">
                  <a:moveTo>
                    <a:pt x="0" y="171450"/>
                  </a:moveTo>
                  <a:lnTo>
                    <a:pt x="29527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8362950" y="4105275"/>
              <a:ext cx="304800" cy="66675"/>
            </a:xfrm>
            <a:custGeom>
              <a:avLst/>
              <a:gdLst/>
              <a:ahLst/>
              <a:cxnLst/>
              <a:rect l="l" t="t" r="r" b="b"/>
              <a:pathLst>
                <a:path w="304800" h="66675">
                  <a:moveTo>
                    <a:pt x="0" y="0"/>
                  </a:moveTo>
                  <a:lnTo>
                    <a:pt x="304800" y="6667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572375" y="3667125"/>
              <a:ext cx="295275" cy="171450"/>
            </a:xfrm>
            <a:custGeom>
              <a:avLst/>
              <a:gdLst/>
              <a:ahLst/>
              <a:cxnLst/>
              <a:rect l="l" t="t" r="r" b="b"/>
              <a:pathLst>
                <a:path w="295275" h="171450">
                  <a:moveTo>
                    <a:pt x="295275" y="1714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7524750" y="4105275"/>
              <a:ext cx="304800" cy="66675"/>
            </a:xfrm>
            <a:custGeom>
              <a:avLst/>
              <a:gdLst/>
              <a:ahLst/>
              <a:cxnLst/>
              <a:rect l="l" t="t" r="r" b="b"/>
              <a:pathLst>
                <a:path w="304800" h="66675">
                  <a:moveTo>
                    <a:pt x="304800" y="0"/>
                  </a:moveTo>
                  <a:lnTo>
                    <a:pt x="0" y="6667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511836" y="4460558"/>
              <a:ext cx="11688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AI工作台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36192" y="47363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统一决策中枢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9010650" y="1714500"/>
              <a:ext cx="2609850" cy="3619500"/>
            </a:xfrm>
            <a:custGeom>
              <a:avLst/>
              <a:gdLst/>
              <a:ahLst/>
              <a:cxnLst/>
              <a:rect l="l" t="t" r="r" b="b"/>
              <a:pathLst>
                <a:path w="2609850" h="3619500">
                  <a:moveTo>
                    <a:pt x="114300" y="0"/>
                  </a:moveTo>
                  <a:lnTo>
                    <a:pt x="2495550" y="0"/>
                  </a:lnTo>
                  <a:cubicBezTo>
                    <a:pt x="2558676" y="0"/>
                    <a:pt x="2609850" y="51174"/>
                    <a:pt x="2609850" y="114300"/>
                  </a:cubicBezTo>
                  <a:lnTo>
                    <a:pt x="2609850" y="3505200"/>
                  </a:lnTo>
                  <a:cubicBezTo>
                    <a:pt x="2609850" y="3568326"/>
                    <a:pt x="2558676" y="3619500"/>
                    <a:pt x="2495550" y="3619500"/>
                  </a:cubicBezTo>
                  <a:lnTo>
                    <a:pt x="114300" y="3619500"/>
                  </a:lnTo>
                  <a:cubicBezTo>
                    <a:pt x="51174" y="3619500"/>
                    <a:pt x="0" y="3568326"/>
                    <a:pt x="0" y="3505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230106" y="186309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驱动机制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9239250" y="2190750"/>
              <a:ext cx="2114550" cy="9525"/>
            </a:xfrm>
            <a:custGeom>
              <a:avLst/>
              <a:gdLst/>
              <a:ahLst/>
              <a:cxnLst/>
              <a:rect l="l" t="t" r="r" b="b"/>
              <a:pathLst>
                <a:path w="2114550" h="9525">
                  <a:moveTo>
                    <a:pt x="0" y="0"/>
                  </a:moveTo>
                  <a:lnTo>
                    <a:pt x="21145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9191625" y="25527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41942" y="24260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打开率提升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442704" y="2670810"/>
              <a:ext cx="1693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AI优化发送时机与标题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9191625" y="33147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441942" y="31880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转化率提升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42704" y="34328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基于实时行为的个性化推荐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9191625" y="40767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441942" y="39500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互动率提升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42704" y="4194810"/>
              <a:ext cx="1693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AI生成多样化创意帖文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9191625" y="48387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41942" y="47120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点击率提升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42704" y="49568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动态关键词出价与人群包优化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571500" y="5486400"/>
              <a:ext cx="11049000" cy="266700"/>
            </a:xfrm>
            <a:custGeom>
              <a:avLst/>
              <a:gdLst/>
              <a:ahLst/>
              <a:cxnLst/>
              <a:rect l="l" t="t" r="r" b="b"/>
              <a:pathLst>
                <a:path w="11049000" h="266700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209550"/>
                  </a:lnTo>
                  <a:cubicBezTo>
                    <a:pt x="11049000" y="241113"/>
                    <a:pt x="11023413" y="266700"/>
                    <a:pt x="10991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594232" y="5537835"/>
              <a:ext cx="50035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从触达、转化到互动的关键链路，AI均能形成可量化的增幅闭环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234238" y="1331595"/>
            <a:ext cx="2504465" cy="700087"/>
            <a:chOff x="7234238" y="1331595"/>
            <a:chExt cx="2504465" cy="700087"/>
          </a:xfrm>
        </p:grpSpPr>
        <p:sp>
          <p:nvSpPr>
            <p:cNvPr id="74" name="TextBox 74"/>
            <p:cNvSpPr txBox="1"/>
            <p:nvPr/>
          </p:nvSpPr>
          <p:spPr>
            <a:xfrm>
              <a:off x="7234238" y="1855470"/>
              <a:ext cx="8333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增幅指数 / 100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05888" y="1331595"/>
              <a:ext cx="7328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A / B / C / 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10287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096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1620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57784" y="305752"/>
            <a:ext cx="10972229" cy="6148864"/>
            <a:chOff x="557784" y="305752"/>
            <a:chExt cx="10972229" cy="614886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305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527685"/>
              <a:ext cx="607618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下一步：建议立即启动的三个行动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9906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3880" y="1266825"/>
              <a:ext cx="54875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无需冗长的论证期，以下路径可在30天内完成平台部署并产生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880" y="15335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可感知的效果回报。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738" y="62926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98320" y="62926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962150"/>
            <a:ext cx="11049000" cy="4000500"/>
            <a:chOff x="571500" y="1962150"/>
            <a:chExt cx="11049000" cy="4000500"/>
          </a:xfrm>
        </p:grpSpPr>
        <p:sp>
          <p:nvSpPr>
            <p:cNvPr id="17" name="Freeform 17"/>
            <p:cNvSpPr/>
            <p:nvPr/>
          </p:nvSpPr>
          <p:spPr>
            <a:xfrm>
              <a:off x="571500" y="1962150"/>
              <a:ext cx="11049000" cy="4000500"/>
            </a:xfrm>
            <a:custGeom>
              <a:avLst/>
              <a:gdLst/>
              <a:ahLst/>
              <a:cxnLst/>
              <a:rect l="l" t="t" r="r" b="b"/>
              <a:pathLst>
                <a:path w="11049000" h="4000500">
                  <a:moveTo>
                    <a:pt x="133350" y="0"/>
                  </a:moveTo>
                  <a:lnTo>
                    <a:pt x="10915650" y="0"/>
                  </a:lnTo>
                  <a:cubicBezTo>
                    <a:pt x="10989297" y="0"/>
                    <a:pt x="11049000" y="59703"/>
                    <a:pt x="11049000" y="133350"/>
                  </a:cubicBezTo>
                  <a:lnTo>
                    <a:pt x="11049000" y="3867150"/>
                  </a:lnTo>
                  <a:cubicBezTo>
                    <a:pt x="11049000" y="3940797"/>
                    <a:pt x="10989297" y="4000500"/>
                    <a:pt x="10915650" y="4000500"/>
                  </a:cubicBezTo>
                  <a:lnTo>
                    <a:pt x="133350" y="4000500"/>
                  </a:lnTo>
                  <a:cubicBezTo>
                    <a:pt x="59703" y="4000500"/>
                    <a:pt x="0" y="3940797"/>
                    <a:pt x="0" y="3867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714500" y="3962400"/>
              <a:ext cx="8743950" cy="9525"/>
            </a:xfrm>
            <a:custGeom>
              <a:avLst/>
              <a:gdLst/>
              <a:ahLst/>
              <a:cxnLst/>
              <a:rect l="l" t="t" r="r" b="b"/>
              <a:pathLst>
                <a:path w="8743950" h="9525">
                  <a:moveTo>
                    <a:pt x="0" y="0"/>
                  </a:moveTo>
                  <a:lnTo>
                    <a:pt x="8743950" y="0"/>
                  </a:lnTo>
                </a:path>
              </a:pathLst>
            </a:custGeom>
            <a:noFill/>
            <a:ln w="76200" cap="rnd"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1"/>
              </a:gradFill>
            </a:ln>
          </p:spPr>
        </p:sp>
        <p:sp>
          <p:nvSpPr>
            <p:cNvPr id="19" name="Line 19"/>
            <p:cNvSpPr/>
            <p:nvPr/>
          </p:nvSpPr>
          <p:spPr>
            <a:xfrm>
              <a:off x="10458450" y="39624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934700" y="3848100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0" y="0"/>
                  </a:moveTo>
                  <a:lnTo>
                    <a:pt x="190500" y="114300"/>
                  </a:lnTo>
                  <a:lnTo>
                    <a:pt x="0" y="22860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  <a:round/>
            </a:ln>
          </p:spPr>
        </p:sp>
        <p:sp>
          <p:nvSpPr>
            <p:cNvPr id="21" name="Line 21"/>
            <p:cNvSpPr/>
            <p:nvPr/>
          </p:nvSpPr>
          <p:spPr>
            <a:xfrm>
              <a:off x="2286000" y="291465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096000" y="291465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9906000" y="291465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924050" y="3600450"/>
              <a:ext cx="723900" cy="723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734050" y="3600450"/>
              <a:ext cx="723900" cy="723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544050" y="3600450"/>
              <a:ext cx="723900" cy="7239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189081" y="3802380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99081" y="3802380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09081" y="3802380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1143000" y="2247900"/>
              <a:ext cx="2286000" cy="876300"/>
            </a:xfrm>
            <a:custGeom>
              <a:avLst/>
              <a:gdLst/>
              <a:ahLst/>
              <a:cxnLst/>
              <a:rect l="l" t="t" r="r" b="b"/>
              <a:pathLst>
                <a:path w="2286000" h="876300">
                  <a:moveTo>
                    <a:pt x="114300" y="0"/>
                  </a:moveTo>
                  <a:lnTo>
                    <a:pt x="2171700" y="0"/>
                  </a:lnTo>
                  <a:cubicBezTo>
                    <a:pt x="2234826" y="0"/>
                    <a:pt x="2286000" y="51174"/>
                    <a:pt x="2286000" y="114300"/>
                  </a:cubicBezTo>
                  <a:lnTo>
                    <a:pt x="2286000" y="762000"/>
                  </a:lnTo>
                  <a:cubicBezTo>
                    <a:pt x="2286000" y="825126"/>
                    <a:pt x="2234826" y="876300"/>
                    <a:pt x="2171700" y="876300"/>
                  </a:cubicBezTo>
                  <a:lnTo>
                    <a:pt x="114300" y="876300"/>
                  </a:lnTo>
                  <a:cubicBezTo>
                    <a:pt x="51174" y="876300"/>
                    <a:pt x="0" y="825126"/>
                    <a:pt x="0" y="762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4953000" y="2247900"/>
              <a:ext cx="2286000" cy="876300"/>
            </a:xfrm>
            <a:custGeom>
              <a:avLst/>
              <a:gdLst/>
              <a:ahLst/>
              <a:cxnLst/>
              <a:rect l="l" t="t" r="r" b="b"/>
              <a:pathLst>
                <a:path w="2286000" h="876300">
                  <a:moveTo>
                    <a:pt x="114300" y="0"/>
                  </a:moveTo>
                  <a:lnTo>
                    <a:pt x="2171700" y="0"/>
                  </a:lnTo>
                  <a:cubicBezTo>
                    <a:pt x="2234826" y="0"/>
                    <a:pt x="2286000" y="51174"/>
                    <a:pt x="2286000" y="114300"/>
                  </a:cubicBezTo>
                  <a:lnTo>
                    <a:pt x="2286000" y="762000"/>
                  </a:lnTo>
                  <a:cubicBezTo>
                    <a:pt x="2286000" y="825126"/>
                    <a:pt x="2234826" y="876300"/>
                    <a:pt x="2171700" y="876300"/>
                  </a:cubicBezTo>
                  <a:lnTo>
                    <a:pt x="114300" y="876300"/>
                  </a:lnTo>
                  <a:cubicBezTo>
                    <a:pt x="51174" y="876300"/>
                    <a:pt x="0" y="825126"/>
                    <a:pt x="0" y="762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763000" y="2247900"/>
              <a:ext cx="2286000" cy="876300"/>
            </a:xfrm>
            <a:custGeom>
              <a:avLst/>
              <a:gdLst/>
              <a:ahLst/>
              <a:cxnLst/>
              <a:rect l="l" t="t" r="r" b="b"/>
              <a:pathLst>
                <a:path w="2286000" h="876300">
                  <a:moveTo>
                    <a:pt x="114300" y="0"/>
                  </a:moveTo>
                  <a:lnTo>
                    <a:pt x="2171700" y="0"/>
                  </a:lnTo>
                  <a:cubicBezTo>
                    <a:pt x="2234826" y="0"/>
                    <a:pt x="2286000" y="51174"/>
                    <a:pt x="2286000" y="114300"/>
                  </a:cubicBezTo>
                  <a:lnTo>
                    <a:pt x="2286000" y="762000"/>
                  </a:lnTo>
                  <a:cubicBezTo>
                    <a:pt x="2286000" y="825126"/>
                    <a:pt x="2234826" y="876300"/>
                    <a:pt x="2171700" y="876300"/>
                  </a:cubicBezTo>
                  <a:lnTo>
                    <a:pt x="114300" y="876300"/>
                  </a:lnTo>
                  <a:cubicBezTo>
                    <a:pt x="51174" y="876300"/>
                    <a:pt x="0" y="825126"/>
                    <a:pt x="0" y="762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28166" y="23822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1 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38166" y="23822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2 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48166" y="2382202"/>
              <a:ext cx="611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 3-4 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24356" y="25774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接入数据源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34356" y="2577465"/>
              <a:ext cx="14834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配置 AI 策略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44356" y="25774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试点跑量验证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952500" y="4514850"/>
              <a:ext cx="2667000" cy="1143000"/>
            </a:xfrm>
            <a:custGeom>
              <a:avLst/>
              <a:gdLst/>
              <a:ahLst/>
              <a:cxnLst/>
              <a:rect l="l" t="t" r="r" b="b"/>
              <a:pathLst>
                <a:path w="2667000" h="1143000">
                  <a:moveTo>
                    <a:pt x="114300" y="0"/>
                  </a:moveTo>
                  <a:lnTo>
                    <a:pt x="2552700" y="0"/>
                  </a:lnTo>
                  <a:cubicBezTo>
                    <a:pt x="2615826" y="0"/>
                    <a:pt x="2667000" y="51174"/>
                    <a:pt x="2667000" y="114300"/>
                  </a:cubicBezTo>
                  <a:lnTo>
                    <a:pt x="2667000" y="1028700"/>
                  </a:lnTo>
                  <a:cubicBezTo>
                    <a:pt x="2667000" y="1091826"/>
                    <a:pt x="2615826" y="1143000"/>
                    <a:pt x="2552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762500" y="4514850"/>
              <a:ext cx="2667000" cy="1143000"/>
            </a:xfrm>
            <a:custGeom>
              <a:avLst/>
              <a:gdLst/>
              <a:ahLst/>
              <a:cxnLst/>
              <a:rect l="l" t="t" r="r" b="b"/>
              <a:pathLst>
                <a:path w="2667000" h="1143000">
                  <a:moveTo>
                    <a:pt x="114300" y="0"/>
                  </a:moveTo>
                  <a:lnTo>
                    <a:pt x="2552700" y="0"/>
                  </a:lnTo>
                  <a:cubicBezTo>
                    <a:pt x="2615826" y="0"/>
                    <a:pt x="2667000" y="51174"/>
                    <a:pt x="2667000" y="114300"/>
                  </a:cubicBezTo>
                  <a:lnTo>
                    <a:pt x="2667000" y="1028700"/>
                  </a:lnTo>
                  <a:cubicBezTo>
                    <a:pt x="2667000" y="1091826"/>
                    <a:pt x="2615826" y="1143000"/>
                    <a:pt x="2552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572500" y="4514850"/>
              <a:ext cx="2667000" cy="1143000"/>
            </a:xfrm>
            <a:custGeom>
              <a:avLst/>
              <a:gdLst/>
              <a:ahLst/>
              <a:cxnLst/>
              <a:rect l="l" t="t" r="r" b="b"/>
              <a:pathLst>
                <a:path w="2667000" h="1143000">
                  <a:moveTo>
                    <a:pt x="114300" y="0"/>
                  </a:moveTo>
                  <a:lnTo>
                    <a:pt x="2552700" y="0"/>
                  </a:lnTo>
                  <a:cubicBezTo>
                    <a:pt x="2615826" y="0"/>
                    <a:pt x="2667000" y="51174"/>
                    <a:pt x="2667000" y="114300"/>
                  </a:cubicBezTo>
                  <a:lnTo>
                    <a:pt x="2667000" y="1028700"/>
                  </a:lnTo>
                  <a:cubicBezTo>
                    <a:pt x="2667000" y="1091826"/>
                    <a:pt x="2615826" y="1143000"/>
                    <a:pt x="25527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74242" y="46548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完成数据源接入与标准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74242" y="4883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连接器部署，启动数据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74242" y="5112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冷启动与质量校验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84242" y="4654868"/>
              <a:ext cx="1770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基于业务目标完成 AI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84242" y="4883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模型优选与场景策略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84242" y="51120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配置，开启内部测试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94242" y="46548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试点业务线正式跑量，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94242" y="4883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回传效果数据并调优，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94242" y="5112068"/>
              <a:ext cx="1972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产出首份 ROI 验证报告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10363200" y="2247900"/>
              <a:ext cx="876300" cy="876300"/>
            </a:xfrm>
            <a:custGeom>
              <a:avLst/>
              <a:gdLst/>
              <a:ahLst/>
              <a:cxnLst/>
              <a:rect l="l" t="t" r="r" b="b"/>
              <a:pathLst>
                <a:path w="876300" h="876300">
                  <a:moveTo>
                    <a:pt x="438150" y="0"/>
                  </a:moveTo>
                  <a:lnTo>
                    <a:pt x="438150" y="0"/>
                  </a:lnTo>
                  <a:cubicBezTo>
                    <a:pt x="680134" y="0"/>
                    <a:pt x="876300" y="196166"/>
                    <a:pt x="876300" y="438150"/>
                  </a:cubicBezTo>
                  <a:lnTo>
                    <a:pt x="876300" y="438150"/>
                  </a:lnTo>
                  <a:cubicBezTo>
                    <a:pt x="876300" y="680134"/>
                    <a:pt x="680134" y="876300"/>
                    <a:pt x="438150" y="876300"/>
                  </a:cubicBezTo>
                  <a:lnTo>
                    <a:pt x="438150" y="876300"/>
                  </a:lnTo>
                  <a:cubicBezTo>
                    <a:pt x="196166" y="876300"/>
                    <a:pt x="0" y="680134"/>
                    <a:pt x="0" y="438150"/>
                  </a:cubicBezTo>
                  <a:lnTo>
                    <a:pt x="0" y="438150"/>
                  </a:lnTo>
                  <a:cubicBezTo>
                    <a:pt x="0" y="196166"/>
                    <a:pt x="196166" y="0"/>
                    <a:pt x="4381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638916" y="2458402"/>
              <a:ext cx="324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30D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533888" y="2695099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上线窗口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10610850" y="2514600"/>
              <a:ext cx="400050" cy="209550"/>
            </a:xfrm>
            <a:custGeom>
              <a:avLst/>
              <a:gdLst/>
              <a:ahLst/>
              <a:cxnLst/>
              <a:rect l="l" t="t" r="r" b="b"/>
              <a:pathLst>
                <a:path w="400050" h="209550">
                  <a:moveTo>
                    <a:pt x="0" y="209550"/>
                  </a:moveTo>
                  <a:lnTo>
                    <a:pt x="114300" y="95250"/>
                  </a:lnTo>
                  <a:lnTo>
                    <a:pt x="209550" y="190500"/>
                  </a:lnTo>
                  <a:lnTo>
                    <a:pt x="4000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round/>
            </a:ln>
          </p:spPr>
        </p:sp>
        <p:sp>
          <p:nvSpPr>
            <p:cNvPr id="55" name="Line 55"/>
            <p:cNvSpPr/>
            <p:nvPr/>
          </p:nvSpPr>
          <p:spPr>
            <a:xfrm>
              <a:off x="10953750" y="25146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11010900" y="25146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10363200" y="4514850"/>
              <a:ext cx="876300" cy="1143000"/>
            </a:xfrm>
            <a:custGeom>
              <a:avLst/>
              <a:gdLst/>
              <a:ahLst/>
              <a:cxnLst/>
              <a:rect l="l" t="t" r="r" b="b"/>
              <a:pathLst>
                <a:path w="876300" h="1143000">
                  <a:moveTo>
                    <a:pt x="114300" y="0"/>
                  </a:moveTo>
                  <a:lnTo>
                    <a:pt x="762000" y="0"/>
                  </a:lnTo>
                  <a:cubicBezTo>
                    <a:pt x="825126" y="0"/>
                    <a:pt x="876300" y="51174"/>
                    <a:pt x="876300" y="114300"/>
                  </a:cubicBezTo>
                  <a:lnTo>
                    <a:pt x="876300" y="1028700"/>
                  </a:lnTo>
                  <a:cubicBezTo>
                    <a:pt x="876300" y="1091826"/>
                    <a:pt x="825126" y="1143000"/>
                    <a:pt x="7620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508529" y="4656772"/>
              <a:ext cx="58564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ROI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533888" y="500967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首轮验证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10572750" y="5286375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493692" y="53987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可感知回报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71500" y="1752600"/>
            <a:ext cx="10844403" cy="2276189"/>
            <a:chOff x="571500" y="1752600"/>
            <a:chExt cx="10844403" cy="2276189"/>
          </a:xfrm>
        </p:grpSpPr>
        <p:sp>
          <p:nvSpPr>
            <p:cNvPr id="63" name="Freeform 63"/>
            <p:cNvSpPr/>
            <p:nvPr/>
          </p:nvSpPr>
          <p:spPr>
            <a:xfrm>
              <a:off x="571500" y="1752600"/>
              <a:ext cx="1066800" cy="266700"/>
            </a:xfrm>
            <a:custGeom>
              <a:avLst/>
              <a:gdLst/>
              <a:ahLst/>
              <a:cxnLst/>
              <a:rect l="l" t="t" r="r" b="b"/>
              <a:pathLst>
                <a:path w="1066800" h="266700">
                  <a:moveTo>
                    <a:pt x="133350" y="0"/>
                  </a:moveTo>
                  <a:lnTo>
                    <a:pt x="933450" y="0"/>
                  </a:lnTo>
                  <a:cubicBezTo>
                    <a:pt x="1007097" y="0"/>
                    <a:pt x="1066800" y="59703"/>
                    <a:pt x="1066800" y="133350"/>
                  </a:cubicBezTo>
                  <a:lnTo>
                    <a:pt x="1066800" y="133350"/>
                  </a:lnTo>
                  <a:cubicBezTo>
                    <a:pt x="1066800" y="206997"/>
                    <a:pt x="1007097" y="266700"/>
                    <a:pt x="9334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7243" y="1820228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30 天落地路径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863757" y="3838099"/>
              <a:ext cx="15521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deploy → validate → scale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2026-07-10T23:36:53Z</dcterms:created>
  <dcterms:modified xsi:type="dcterms:W3CDTF">2026-07-10T23:36:53Z</dcterms:modified>
  <cp:category/>
  <cp:contentStatus/>
</cp:coreProperties>
</file>