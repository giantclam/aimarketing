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面向企业管理层的SaaS方案，目标是在统一平台内提升获客效率、投放响应速度与营销投资回报。</a:t>
            </a:r>
          </a:p>
          <a:p>
            <a:endParaRPr lang="en-US" dirty="0"/>
          </a:p>
          <a:p>
            <a:r>
              <a:rPr lang="zh-CN" dirty="0"/>
              <a:t>• 统一客户与渠道数据</a:t>
            </a:r>
          </a:p>
          <a:p>
            <a:r>
              <a:rPr lang="zh-CN" dirty="0"/>
              <a:t>• 用AI输出可执行洞察</a:t>
            </a:r>
          </a:p>
          <a:p>
            <a:r>
              <a:rPr lang="zh-CN" dirty="0"/>
              <a:t>• 让投放与触达自动闭环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决策框架</a:t>
            </a:r>
          </a:p>
          <a:p>
            <a:endParaRPr lang="en-US" dirty="0"/>
          </a:p>
          <a:p>
            <a:r>
              <a:rPr lang="zh-CN" dirty="0"/>
              <a:t>本方案不是单点工具采购，而是围绕增长效率重构营销运营链路。</a:t>
            </a:r>
          </a:p>
          <a:p>
            <a:endParaRPr lang="en-US" dirty="0"/>
          </a:p>
          <a:p>
            <a:r>
              <a:rPr lang="zh-CN" dirty="0"/>
              <a:t>• 先解决数据断层</a:t>
            </a:r>
          </a:p>
          <a:p>
            <a:r>
              <a:rPr lang="zh-CN" dirty="0"/>
              <a:t>• 再建立AI决策中枢</a:t>
            </a:r>
          </a:p>
          <a:p>
            <a:r>
              <a:rPr lang="zh-CN" dirty="0"/>
              <a:t>• 最后形成自动化与度量闭环</a:t>
            </a:r>
          </a:p>
          <a:p>
            <a:r>
              <a:rPr lang="zh-CN" dirty="0"/>
              <a:t>• 业务现状与判断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先看结论</a:t>
            </a:r>
          </a:p>
          <a:p>
            <a:endParaRPr lang="en-US" dirty="0"/>
          </a:p>
          <a:p>
            <a:r>
              <a:rPr lang="zh-CN" dirty="0"/>
              <a:t>多数企业营销问题不在流量不足，而在数据分散、判断滞后、执行割裂与归因失真。</a:t>
            </a:r>
          </a:p>
          <a:p>
            <a:endParaRPr lang="en-US" dirty="0"/>
          </a:p>
          <a:p>
            <a:r>
              <a:rPr lang="zh-CN" dirty="0"/>
              <a:t>• 数据在CRM、广告、内容与私域之间断开</a:t>
            </a:r>
          </a:p>
          <a:p>
            <a:r>
              <a:rPr lang="zh-CN" dirty="0"/>
              <a:t>• 团队依赖人工拼报表，决策窗口短</a:t>
            </a:r>
          </a:p>
          <a:p>
            <a:r>
              <a:rPr lang="zh-CN" dirty="0"/>
              <a:t>• 活动很多，但复用机制和反馈机制弱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从分散到闭环</a:t>
            </a:r>
          </a:p>
          <a:p>
            <a:endParaRPr lang="en-US" dirty="0"/>
          </a:p>
          <a:p>
            <a:r>
              <a:rPr lang="zh-CN" dirty="0"/>
              <a:t>企业AI营销工作台把四个关键能力从孤立动作升级为统一经营系统。</a:t>
            </a:r>
          </a:p>
          <a:p>
            <a:endParaRPr lang="en-US" dirty="0"/>
          </a:p>
          <a:p>
            <a:r>
              <a:rPr lang="zh-CN" dirty="0"/>
              <a:t>• 每个模块都直接对应一类管理问题</a:t>
            </a:r>
          </a:p>
          <a:p>
            <a:r>
              <a:rPr lang="zh-CN" dirty="0"/>
              <a:t>• 平台价值来自跨模块联动而非单点功能</a:t>
            </a:r>
          </a:p>
          <a:p>
            <a:r>
              <a:rPr lang="zh-CN" dirty="0"/>
              <a:t>• 关键变量对比</a:t>
            </a:r>
          </a:p>
          <a:p>
            <a:r>
              <a:rPr lang="zh-CN" dirty="0"/>
              <a:t>• 不同路径影响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立项依据</a:t>
            </a:r>
          </a:p>
          <a:p>
            <a:endParaRPr lang="en-US" dirty="0"/>
          </a:p>
          <a:p>
            <a:r>
              <a:rPr lang="zh-CN" dirty="0"/>
              <a:t>对管理层最有价值的不是多一个营销系统，而是获得可持续复用的增长操作系统。</a:t>
            </a:r>
          </a:p>
          <a:p>
            <a:endParaRPr lang="en-US" dirty="0"/>
          </a:p>
          <a:p>
            <a:r>
              <a:rPr lang="zh-CN" dirty="0"/>
              <a:t>• 价值先体现在线索效率与决策速度</a:t>
            </a:r>
          </a:p>
          <a:p>
            <a:r>
              <a:rPr lang="zh-CN" dirty="0"/>
              <a:t>• 风险主要集中在数据治理与自动化失控</a:t>
            </a:r>
          </a:p>
          <a:p>
            <a:r>
              <a:rPr lang="zh-CN" dirty="0"/>
              <a:t>• 事实锚点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核心指标</a:t>
            </a:r>
          </a:p>
          <a:p>
            <a:endParaRPr lang="en-US" dirty="0"/>
          </a:p>
          <a:p>
            <a:r>
              <a:rPr lang="zh-CN" dirty="0"/>
              <a:t>上线后的首阶段目标应聚焦效率、转化、协同与预算透明度四类经营指标。</a:t>
            </a:r>
          </a:p>
          <a:p>
            <a:endParaRPr lang="en-US" dirty="0"/>
          </a:p>
          <a:p>
            <a:r>
              <a:rPr lang="zh-CN" dirty="0"/>
              <a:t>• 指标设计应可直接进入经营例会</a:t>
            </a:r>
          </a:p>
          <a:p>
            <a:r>
              <a:rPr lang="zh-CN" dirty="0"/>
              <a:t>• 优先监控可被平台直接影响的变量</a:t>
            </a:r>
          </a:p>
          <a:p>
            <a:r>
              <a:rPr lang="zh-CN" dirty="0"/>
              <a:t>• 关键数字</a:t>
            </a:r>
          </a:p>
          <a:p>
            <a:r>
              <a:rPr lang="zh-CN" dirty="0"/>
              <a:t>• 压力指标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价值闭环</a:t>
            </a:r>
          </a:p>
          <a:p>
            <a:endParaRPr lang="en-US" dirty="0"/>
          </a:p>
          <a:p>
            <a:r>
              <a:rPr lang="zh-CN" dirty="0"/>
              <a:t>平台的核心不是功能堆叠，而是让每一次营销动作都能被数据驱动、自动执行并被结果验证。</a:t>
            </a:r>
          </a:p>
          <a:p>
            <a:endParaRPr lang="en-US" dirty="0"/>
          </a:p>
          <a:p>
            <a:r>
              <a:rPr lang="zh-CN" dirty="0"/>
              <a:t>• 四模块首尾相接形成持续优化循环</a:t>
            </a:r>
          </a:p>
          <a:p>
            <a:r>
              <a:rPr lang="zh-CN" dirty="0"/>
              <a:t>• 适合绘制为横向闭环图或漏斗增强图</a:t>
            </a:r>
          </a:p>
          <a:p>
            <a:r>
              <a:rPr lang="zh-CN" dirty="0"/>
              <a:t>• 主轴关系</a:t>
            </a:r>
          </a:p>
          <a:p>
            <a:r>
              <a:rPr lang="zh-CN" dirty="0"/>
              <a:t>• 外溢路径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</a:t>
            </a:r>
          </a:p>
          <a:p>
            <a:endParaRPr lang="en-US" dirty="0"/>
          </a:p>
          <a:p>
            <a:r>
              <a:rPr lang="zh-CN" dirty="0"/>
              <a:t>建议以小范围业务试点先验证数据贯通和自动化闭环，再逐步扩展到全渠道经营。</a:t>
            </a:r>
          </a:p>
          <a:p>
            <a:endParaRPr lang="en-US" dirty="0"/>
          </a:p>
          <a:p>
            <a:r>
              <a:rPr lang="zh-CN" dirty="0"/>
              <a:t>• 先做可见成效，再做规模复制</a:t>
            </a:r>
          </a:p>
          <a:p>
            <a:r>
              <a:rPr lang="zh-CN" dirty="0"/>
              <a:t>• 治理规则需与业务试点同步建立</a:t>
            </a:r>
          </a:p>
          <a:p>
            <a:r>
              <a:rPr lang="zh-CN" dirty="0"/>
              <a:t>• 收束判断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12573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571500" y="914400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0" y="0"/>
                  </a:moveTo>
                  <a:lnTo>
                    <a:pt x="169545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7239000" y="0"/>
              <a:ext cx="4953000" cy="6858000"/>
            </a:xfrm>
            <a:custGeom>
              <a:avLst/>
              <a:gdLst/>
              <a:ahLst/>
              <a:cxnLst/>
              <a:rect l="l" t="t" r="r" b="b"/>
              <a:pathLst>
                <a:path w="4953000" h="6858000">
                  <a:moveTo>
                    <a:pt x="571500" y="0"/>
                  </a:moveTo>
                  <a:lnTo>
                    <a:pt x="4953000" y="0"/>
                  </a:lnTo>
                  <a:lnTo>
                    <a:pt x="4953000" y="6858000"/>
                  </a:lnTo>
                  <a:lnTo>
                    <a:pt x="0" y="6858000"/>
                  </a:lnTo>
                  <a:cubicBezTo>
                    <a:pt x="781050" y="6153150"/>
                    <a:pt x="1257300" y="5257800"/>
                    <a:pt x="1466850" y="4171950"/>
                  </a:cubicBezTo>
                  <a:cubicBezTo>
                    <a:pt x="1676400" y="3095625"/>
                    <a:pt x="2381250" y="2209800"/>
                    <a:pt x="4953000" y="1447800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0"/>
                  </a:schemeClr>
                </a:gs>
                <a:gs pos="100000">
                  <a:schemeClr val="lt1">
                    <a:alpha val="92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7772400" y="87630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772400" y="598170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FFFFFF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71500" y="476250"/>
              <a:ext cx="11049000" cy="5905500"/>
            </a:xfrm>
            <a:custGeom>
              <a:avLst/>
              <a:gdLst/>
              <a:ahLst/>
              <a:cxnLst/>
              <a:rect l="l" t="t" r="r" b="b"/>
              <a:pathLst>
                <a:path w="11049000" h="5905500">
                  <a:moveTo>
                    <a:pt x="0" y="0"/>
                  </a:moveTo>
                  <a:lnTo>
                    <a:pt x="11049000" y="0"/>
                  </a:lnTo>
                  <a:lnTo>
                    <a:pt x="11049000" y="5905500"/>
                  </a:lnTo>
                  <a:lnTo>
                    <a:pt x="0" y="5905500"/>
                  </a:lnTo>
                  <a:close/>
                </a:path>
              </a:pathLst>
            </a:custGeom>
            <a:noFill/>
            <a:ln w="0">
              <a:solidFill>
                <a:srgbClr val="FFFFFF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8001000" y="7620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001000" y="11430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8001000" y="15240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001000" y="19050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001000" y="22860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001000" y="26670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001000" y="30480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001000" y="34290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001000" y="38100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001000" y="41910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001000" y="45720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01000" y="49530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001000" y="53340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001000" y="57150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191500" y="762000"/>
              <a:ext cx="9525" cy="5143500"/>
            </a:xfrm>
            <a:custGeom>
              <a:avLst/>
              <a:gdLst/>
              <a:ahLst/>
              <a:cxnLst/>
              <a:rect l="l" t="t" r="r" b="b"/>
              <a:pathLst>
                <a:path w="9525" h="5143500">
                  <a:moveTo>
                    <a:pt x="0" y="0"/>
                  </a:moveTo>
                  <a:lnTo>
                    <a:pt x="0" y="51435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763000" y="762000"/>
              <a:ext cx="9525" cy="5143500"/>
            </a:xfrm>
            <a:custGeom>
              <a:avLst/>
              <a:gdLst/>
              <a:ahLst/>
              <a:cxnLst/>
              <a:rect l="l" t="t" r="r" b="b"/>
              <a:pathLst>
                <a:path w="9525" h="5143500">
                  <a:moveTo>
                    <a:pt x="0" y="0"/>
                  </a:moveTo>
                  <a:lnTo>
                    <a:pt x="0" y="51435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334500" y="762000"/>
              <a:ext cx="9525" cy="5143500"/>
            </a:xfrm>
            <a:custGeom>
              <a:avLst/>
              <a:gdLst/>
              <a:ahLst/>
              <a:cxnLst/>
              <a:rect l="l" t="t" r="r" b="b"/>
              <a:pathLst>
                <a:path w="9525" h="5143500">
                  <a:moveTo>
                    <a:pt x="0" y="0"/>
                  </a:moveTo>
                  <a:lnTo>
                    <a:pt x="0" y="51435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906000" y="762000"/>
              <a:ext cx="9525" cy="5143500"/>
            </a:xfrm>
            <a:custGeom>
              <a:avLst/>
              <a:gdLst/>
              <a:ahLst/>
              <a:cxnLst/>
              <a:rect l="l" t="t" r="r" b="b"/>
              <a:pathLst>
                <a:path w="9525" h="5143500">
                  <a:moveTo>
                    <a:pt x="0" y="0"/>
                  </a:moveTo>
                  <a:lnTo>
                    <a:pt x="0" y="51435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477500" y="762000"/>
              <a:ext cx="9525" cy="5143500"/>
            </a:xfrm>
            <a:custGeom>
              <a:avLst/>
              <a:gdLst/>
              <a:ahLst/>
              <a:cxnLst/>
              <a:rect l="l" t="t" r="r" b="b"/>
              <a:pathLst>
                <a:path w="9525" h="5143500">
                  <a:moveTo>
                    <a:pt x="0" y="0"/>
                  </a:moveTo>
                  <a:lnTo>
                    <a:pt x="0" y="51435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1049000" y="762000"/>
              <a:ext cx="9525" cy="5143500"/>
            </a:xfrm>
            <a:custGeom>
              <a:avLst/>
              <a:gdLst/>
              <a:ahLst/>
              <a:cxnLst/>
              <a:rect l="l" t="t" r="r" b="b"/>
              <a:pathLst>
                <a:path w="9525" h="5143500">
                  <a:moveTo>
                    <a:pt x="0" y="0"/>
                  </a:moveTo>
                  <a:lnTo>
                    <a:pt x="0" y="51435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8000"/>
                </a:schemeClr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66547" y="618649"/>
            <a:ext cx="11058715" cy="6026467"/>
            <a:chOff x="566547" y="618649"/>
            <a:chExt cx="11058715" cy="6026467"/>
          </a:xfrm>
        </p:grpSpPr>
        <p:sp>
          <p:nvSpPr>
            <p:cNvPr id="32" name="TextBox 32"/>
            <p:cNvSpPr txBox="1"/>
            <p:nvPr/>
          </p:nvSpPr>
          <p:spPr>
            <a:xfrm>
              <a:off x="566547" y="618649"/>
              <a:ext cx="7977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GRIDBRIEF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53992" y="634841"/>
              <a:ext cx="11712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PRODUCT LAUNCH / 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6738" y="6483191"/>
              <a:ext cx="19209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Enterprise AI Marketing Workspace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365849" y="648319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 / 8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52450" y="1200150"/>
            <a:ext cx="10782300" cy="3924300"/>
            <a:chOff x="552450" y="1200150"/>
            <a:chExt cx="10782300" cy="3924300"/>
          </a:xfrm>
        </p:grpSpPr>
        <p:sp>
          <p:nvSpPr>
            <p:cNvPr id="37" name="TextBox 37"/>
            <p:cNvSpPr txBox="1"/>
            <p:nvPr/>
          </p:nvSpPr>
          <p:spPr>
            <a:xfrm>
              <a:off x="552450" y="1729740"/>
              <a:ext cx="68715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企业AI营销工作台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2356" y="2701290"/>
              <a:ext cx="60482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面向企业管理层的SaaS方案，目标是在统一平台内提升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2356" y="302514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获客效率、投放响应速度与营销投资回报。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90550" y="3486150"/>
              <a:ext cx="2133600" cy="9525"/>
            </a:xfrm>
            <a:custGeom>
              <a:avLst/>
              <a:gdLst/>
              <a:ahLst/>
              <a:cxnLst/>
              <a:rect l="l" t="t" r="r" b="b"/>
              <a:pathLst>
                <a:path w="2133600" h="9525">
                  <a:moveTo>
                    <a:pt x="0" y="0"/>
                  </a:moveTo>
                  <a:lnTo>
                    <a:pt x="21336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3880" y="383857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统一客户与渠道数据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3880" y="4200525"/>
              <a:ext cx="1997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用AI输出可执行洞察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3880" y="456247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让投放与触达自动闭环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820025" y="16287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67825" y="13430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0677525" y="19145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8486775" y="292417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0010775" y="31337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1153775" y="28670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8105775" y="45434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9534525" y="425767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0887075" y="48482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7886700" y="1409700"/>
              <a:ext cx="2857500" cy="571500"/>
            </a:xfrm>
            <a:custGeom>
              <a:avLst/>
              <a:gdLst/>
              <a:ahLst/>
              <a:cxnLst/>
              <a:rect l="l" t="t" r="r" b="b"/>
              <a:pathLst>
                <a:path w="2857500" h="571500">
                  <a:moveTo>
                    <a:pt x="0" y="285750"/>
                  </a:moveTo>
                  <a:lnTo>
                    <a:pt x="1447800" y="0"/>
                  </a:lnTo>
                  <a:lnTo>
                    <a:pt x="2857500" y="571500"/>
                  </a:lnTo>
                </a:path>
              </a:pathLst>
            </a:custGeom>
            <a:noFill/>
            <a:ln w="14288">
              <a:solidFill>
                <a:schemeClr val="accent1">
                  <a:alpha val="65000"/>
                </a:schemeClr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886700" y="1695450"/>
              <a:ext cx="666750" cy="2914650"/>
            </a:xfrm>
            <a:custGeom>
              <a:avLst/>
              <a:gdLst/>
              <a:ahLst/>
              <a:cxnLst/>
              <a:rect l="l" t="t" r="r" b="b"/>
              <a:pathLst>
                <a:path w="666750" h="2914650">
                  <a:moveTo>
                    <a:pt x="0" y="0"/>
                  </a:moveTo>
                  <a:lnTo>
                    <a:pt x="666750" y="1295400"/>
                  </a:lnTo>
                  <a:lnTo>
                    <a:pt x="285750" y="2914650"/>
                  </a:lnTo>
                </a:path>
              </a:pathLst>
            </a:custGeom>
            <a:noFill/>
            <a:ln w="14288">
              <a:solidFill>
                <a:schemeClr val="accent1">
                  <a:alpha val="65000"/>
                </a:schemeClr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553450" y="1409700"/>
              <a:ext cx="1047750" cy="2914650"/>
            </a:xfrm>
            <a:custGeom>
              <a:avLst/>
              <a:gdLst/>
              <a:ahLst/>
              <a:cxnLst/>
              <a:rect l="l" t="t" r="r" b="b"/>
              <a:pathLst>
                <a:path w="1047750" h="2914650">
                  <a:moveTo>
                    <a:pt x="781050" y="0"/>
                  </a:moveTo>
                  <a:lnTo>
                    <a:pt x="0" y="1581150"/>
                  </a:lnTo>
                  <a:lnTo>
                    <a:pt x="1047750" y="29146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0077450" y="1981200"/>
              <a:ext cx="1143000" cy="1219200"/>
            </a:xfrm>
            <a:custGeom>
              <a:avLst/>
              <a:gdLst/>
              <a:ahLst/>
              <a:cxnLst/>
              <a:rect l="l" t="t" r="r" b="b"/>
              <a:pathLst>
                <a:path w="1143000" h="1219200">
                  <a:moveTo>
                    <a:pt x="666750" y="0"/>
                  </a:moveTo>
                  <a:lnTo>
                    <a:pt x="0" y="1219200"/>
                  </a:lnTo>
                  <a:lnTo>
                    <a:pt x="1143000" y="952500"/>
                  </a:lnTo>
                </a:path>
              </a:pathLst>
            </a:custGeom>
            <a:noFill/>
            <a:ln w="14288">
              <a:solidFill>
                <a:schemeClr val="accent1">
                  <a:alpha val="65000"/>
                </a:schemeClr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553450" y="2933700"/>
              <a:ext cx="2667000" cy="266700"/>
            </a:xfrm>
            <a:custGeom>
              <a:avLst/>
              <a:gdLst/>
              <a:ahLst/>
              <a:cxnLst/>
              <a:rect l="l" t="t" r="r" b="b"/>
              <a:pathLst>
                <a:path w="2667000" h="266700">
                  <a:moveTo>
                    <a:pt x="0" y="57150"/>
                  </a:moveTo>
                  <a:lnTo>
                    <a:pt x="1524000" y="266700"/>
                  </a:lnTo>
                  <a:lnTo>
                    <a:pt x="2667000" y="0"/>
                  </a:lnTo>
                </a:path>
              </a:pathLst>
            </a:custGeom>
            <a:noFill/>
            <a:ln w="14288">
              <a:solidFill>
                <a:schemeClr val="accent1">
                  <a:alpha val="65000"/>
                </a:schemeClr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553450" y="2990850"/>
              <a:ext cx="2400300" cy="1924050"/>
            </a:xfrm>
            <a:custGeom>
              <a:avLst/>
              <a:gdLst/>
              <a:ahLst/>
              <a:cxnLst/>
              <a:rect l="l" t="t" r="r" b="b"/>
              <a:pathLst>
                <a:path w="2400300" h="1924050">
                  <a:moveTo>
                    <a:pt x="0" y="0"/>
                  </a:moveTo>
                  <a:lnTo>
                    <a:pt x="1047750" y="1333500"/>
                  </a:lnTo>
                  <a:lnTo>
                    <a:pt x="2400300" y="1924050"/>
                  </a:lnTo>
                </a:path>
              </a:pathLst>
            </a:custGeom>
            <a:noFill/>
            <a:ln w="14288">
              <a:solidFill>
                <a:schemeClr val="accent1">
                  <a:alpha val="65000"/>
                </a:schemeClr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601200" y="3200400"/>
              <a:ext cx="1352550" cy="1714500"/>
            </a:xfrm>
            <a:custGeom>
              <a:avLst/>
              <a:gdLst/>
              <a:ahLst/>
              <a:cxnLst/>
              <a:rect l="l" t="t" r="r" b="b"/>
              <a:pathLst>
                <a:path w="1352550" h="1714500">
                  <a:moveTo>
                    <a:pt x="476250" y="0"/>
                  </a:moveTo>
                  <a:lnTo>
                    <a:pt x="0" y="1123950"/>
                  </a:lnTo>
                  <a:lnTo>
                    <a:pt x="1352550" y="1714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8172450" y="4324350"/>
              <a:ext cx="2781300" cy="590550"/>
            </a:xfrm>
            <a:custGeom>
              <a:avLst/>
              <a:gdLst/>
              <a:ahLst/>
              <a:cxnLst/>
              <a:rect l="l" t="t" r="r" b="b"/>
              <a:pathLst>
                <a:path w="2781300" h="590550">
                  <a:moveTo>
                    <a:pt x="0" y="285750"/>
                  </a:moveTo>
                  <a:lnTo>
                    <a:pt x="1428750" y="0"/>
                  </a:lnTo>
                  <a:lnTo>
                    <a:pt x="2781300" y="590550"/>
                  </a:lnTo>
                </a:path>
              </a:pathLst>
            </a:custGeom>
            <a:noFill/>
            <a:ln w="14288">
              <a:solidFill>
                <a:schemeClr val="accent1">
                  <a:alpha val="65000"/>
                </a:schemeClr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9010650" y="1200150"/>
              <a:ext cx="647700" cy="419100"/>
            </a:xfrm>
            <a:custGeom>
              <a:avLst/>
              <a:gdLst/>
              <a:ahLst/>
              <a:cxnLst/>
              <a:rect l="l" t="t" r="r" b="b"/>
              <a:pathLst>
                <a:path w="647700" h="419100">
                  <a:moveTo>
                    <a:pt x="95250" y="0"/>
                  </a:moveTo>
                  <a:lnTo>
                    <a:pt x="552450" y="0"/>
                  </a:lnTo>
                  <a:cubicBezTo>
                    <a:pt x="605055" y="0"/>
                    <a:pt x="647700" y="42645"/>
                    <a:pt x="647700" y="95250"/>
                  </a:cubicBezTo>
                  <a:lnTo>
                    <a:pt x="647700" y="323850"/>
                  </a:lnTo>
                  <a:cubicBezTo>
                    <a:pt x="647700" y="376455"/>
                    <a:pt x="605055" y="419100"/>
                    <a:pt x="552450" y="419100"/>
                  </a:cubicBezTo>
                  <a:lnTo>
                    <a:pt x="95250" y="419100"/>
                  </a:lnTo>
                  <a:cubicBezTo>
                    <a:pt x="42645" y="419100"/>
                    <a:pt x="0" y="376455"/>
                    <a:pt x="0" y="323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8248650" y="2781300"/>
              <a:ext cx="800100" cy="419100"/>
            </a:xfrm>
            <a:custGeom>
              <a:avLst/>
              <a:gdLst/>
              <a:ahLst/>
              <a:cxnLst/>
              <a:rect l="l" t="t" r="r" b="b"/>
              <a:pathLst>
                <a:path w="800100" h="419100">
                  <a:moveTo>
                    <a:pt x="95250" y="0"/>
                  </a:moveTo>
                  <a:lnTo>
                    <a:pt x="704850" y="0"/>
                  </a:lnTo>
                  <a:cubicBezTo>
                    <a:pt x="757455" y="0"/>
                    <a:pt x="800100" y="42645"/>
                    <a:pt x="800100" y="95250"/>
                  </a:cubicBezTo>
                  <a:lnTo>
                    <a:pt x="800100" y="323850"/>
                  </a:lnTo>
                  <a:cubicBezTo>
                    <a:pt x="800100" y="376455"/>
                    <a:pt x="757455" y="419100"/>
                    <a:pt x="704850" y="419100"/>
                  </a:cubicBezTo>
                  <a:lnTo>
                    <a:pt x="95250" y="419100"/>
                  </a:lnTo>
                  <a:cubicBezTo>
                    <a:pt x="42645" y="419100"/>
                    <a:pt x="0" y="376455"/>
                    <a:pt x="0" y="323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9696450" y="2990850"/>
              <a:ext cx="800100" cy="419100"/>
            </a:xfrm>
            <a:custGeom>
              <a:avLst/>
              <a:gdLst/>
              <a:ahLst/>
              <a:cxnLst/>
              <a:rect l="l" t="t" r="r" b="b"/>
              <a:pathLst>
                <a:path w="800100" h="419100">
                  <a:moveTo>
                    <a:pt x="95250" y="0"/>
                  </a:moveTo>
                  <a:lnTo>
                    <a:pt x="704850" y="0"/>
                  </a:lnTo>
                  <a:cubicBezTo>
                    <a:pt x="757455" y="0"/>
                    <a:pt x="800100" y="42645"/>
                    <a:pt x="800100" y="95250"/>
                  </a:cubicBezTo>
                  <a:lnTo>
                    <a:pt x="800100" y="323850"/>
                  </a:lnTo>
                  <a:cubicBezTo>
                    <a:pt x="800100" y="376455"/>
                    <a:pt x="757455" y="419100"/>
                    <a:pt x="704850" y="419100"/>
                  </a:cubicBezTo>
                  <a:lnTo>
                    <a:pt x="95250" y="419100"/>
                  </a:lnTo>
                  <a:cubicBezTo>
                    <a:pt x="42645" y="419100"/>
                    <a:pt x="0" y="376455"/>
                    <a:pt x="0" y="323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9239250" y="4114800"/>
              <a:ext cx="742950" cy="419100"/>
            </a:xfrm>
            <a:custGeom>
              <a:avLst/>
              <a:gdLst/>
              <a:ahLst/>
              <a:cxnLst/>
              <a:rect l="l" t="t" r="r" b="b"/>
              <a:pathLst>
                <a:path w="742950" h="419100">
                  <a:moveTo>
                    <a:pt x="95250" y="0"/>
                  </a:moveTo>
                  <a:lnTo>
                    <a:pt x="647700" y="0"/>
                  </a:lnTo>
                  <a:cubicBezTo>
                    <a:pt x="700305" y="0"/>
                    <a:pt x="742950" y="42645"/>
                    <a:pt x="742950" y="95250"/>
                  </a:cubicBezTo>
                  <a:lnTo>
                    <a:pt x="742950" y="323850"/>
                  </a:lnTo>
                  <a:cubicBezTo>
                    <a:pt x="742950" y="376455"/>
                    <a:pt x="700305" y="419100"/>
                    <a:pt x="647700" y="419100"/>
                  </a:cubicBezTo>
                  <a:lnTo>
                    <a:pt x="95250" y="419100"/>
                  </a:lnTo>
                  <a:cubicBezTo>
                    <a:pt x="42645" y="419100"/>
                    <a:pt x="0" y="376455"/>
                    <a:pt x="0" y="323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10591800" y="4705350"/>
              <a:ext cx="742950" cy="419100"/>
            </a:xfrm>
            <a:custGeom>
              <a:avLst/>
              <a:gdLst/>
              <a:ahLst/>
              <a:cxnLst/>
              <a:rect l="l" t="t" r="r" b="b"/>
              <a:pathLst>
                <a:path w="742950" h="419100">
                  <a:moveTo>
                    <a:pt x="95250" y="0"/>
                  </a:moveTo>
                  <a:lnTo>
                    <a:pt x="647700" y="0"/>
                  </a:lnTo>
                  <a:cubicBezTo>
                    <a:pt x="700305" y="0"/>
                    <a:pt x="742950" y="42645"/>
                    <a:pt x="742950" y="95250"/>
                  </a:cubicBezTo>
                  <a:lnTo>
                    <a:pt x="742950" y="323850"/>
                  </a:lnTo>
                  <a:cubicBezTo>
                    <a:pt x="742950" y="376455"/>
                    <a:pt x="700305" y="419100"/>
                    <a:pt x="647700" y="419100"/>
                  </a:cubicBezTo>
                  <a:lnTo>
                    <a:pt x="95250" y="419100"/>
                  </a:lnTo>
                  <a:cubicBezTo>
                    <a:pt x="42645" y="419100"/>
                    <a:pt x="0" y="376455"/>
                    <a:pt x="0" y="323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9658350" y="140970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10153650" y="1409700"/>
              <a:ext cx="438150" cy="552450"/>
            </a:xfrm>
            <a:custGeom>
              <a:avLst/>
              <a:gdLst/>
              <a:ahLst/>
              <a:cxnLst/>
              <a:rect l="l" t="t" r="r" b="b"/>
              <a:pathLst>
                <a:path w="438150" h="552450">
                  <a:moveTo>
                    <a:pt x="0" y="0"/>
                  </a:moveTo>
                  <a:lnTo>
                    <a:pt x="438150" y="5524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8648700" y="3200400"/>
              <a:ext cx="590550" cy="914400"/>
            </a:xfrm>
            <a:custGeom>
              <a:avLst/>
              <a:gdLst/>
              <a:ahLst/>
              <a:cxnLst/>
              <a:rect l="l" t="t" r="r" b="b"/>
              <a:pathLst>
                <a:path w="590550" h="914400">
                  <a:moveTo>
                    <a:pt x="0" y="0"/>
                  </a:moveTo>
                  <a:lnTo>
                    <a:pt x="590550" y="9144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9982200" y="4324350"/>
              <a:ext cx="609600" cy="590550"/>
            </a:xfrm>
            <a:custGeom>
              <a:avLst/>
              <a:gdLst/>
              <a:ahLst/>
              <a:cxnLst/>
              <a:rect l="l" t="t" r="r" b="b"/>
              <a:pathLst>
                <a:path w="609600" h="590550">
                  <a:moveTo>
                    <a:pt x="0" y="0"/>
                  </a:moveTo>
                  <a:lnTo>
                    <a:pt x="609600" y="5905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188920" y="1360170"/>
              <a:ext cx="2911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DATA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89531" y="2941320"/>
              <a:ext cx="1183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AI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986124" y="3150870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ACT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503550" y="4274820"/>
              <a:ext cx="2143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ROI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792092" y="4865370"/>
              <a:ext cx="3423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LOOP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581900" y="800100"/>
            <a:ext cx="4570667" cy="5048250"/>
            <a:chOff x="7581900" y="800100"/>
            <a:chExt cx="4570667" cy="5048250"/>
          </a:xfrm>
        </p:grpSpPr>
        <p:sp>
          <p:nvSpPr>
            <p:cNvPr id="76" name="Freeform 76"/>
            <p:cNvSpPr/>
            <p:nvPr/>
          </p:nvSpPr>
          <p:spPr>
            <a:xfrm>
              <a:off x="7581900" y="800100"/>
              <a:ext cx="1695450" cy="514350"/>
            </a:xfrm>
            <a:custGeom>
              <a:avLst/>
              <a:gdLst/>
              <a:ahLst/>
              <a:cxnLst/>
              <a:rect l="l" t="t" r="r" b="b"/>
              <a:pathLst>
                <a:path w="1695450" h="514350">
                  <a:moveTo>
                    <a:pt x="95250" y="0"/>
                  </a:moveTo>
                  <a:lnTo>
                    <a:pt x="1600200" y="0"/>
                  </a:lnTo>
                  <a:cubicBezTo>
                    <a:pt x="1652805" y="0"/>
                    <a:pt x="1695450" y="42645"/>
                    <a:pt x="1695450" y="95250"/>
                  </a:cubicBezTo>
                  <a:lnTo>
                    <a:pt x="1695450" y="419100"/>
                  </a:lnTo>
                  <a:cubicBezTo>
                    <a:pt x="1695450" y="471705"/>
                    <a:pt x="1652805" y="514350"/>
                    <a:pt x="160020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767066" y="9058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767638" y="111252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客户、线索、渠道与内容统一建模</a:t>
              </a:r>
            </a:p>
          </p:txBody>
        </p:sp>
        <p:sp>
          <p:nvSpPr>
            <p:cNvPr id="79" name="Freeform 79"/>
            <p:cNvSpPr/>
            <p:nvPr/>
          </p:nvSpPr>
          <p:spPr>
            <a:xfrm>
              <a:off x="9277350" y="1257300"/>
              <a:ext cx="514350" cy="133350"/>
            </a:xfrm>
            <a:custGeom>
              <a:avLst/>
              <a:gdLst/>
              <a:ahLst/>
              <a:cxnLst/>
              <a:rect l="l" t="t" r="r" b="b"/>
              <a:pathLst>
                <a:path w="514350" h="133350">
                  <a:moveTo>
                    <a:pt x="0" y="0"/>
                  </a:moveTo>
                  <a:cubicBezTo>
                    <a:pt x="266700" y="38100"/>
                    <a:pt x="419100" y="85725"/>
                    <a:pt x="514350" y="133350"/>
                  </a:cubicBezTo>
                </a:path>
              </a:pathLst>
            </a:custGeom>
            <a:noFill/>
            <a:ln w="11430">
              <a:solidFill>
                <a:srgbClr val="A0AEC0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10401300" y="1123950"/>
              <a:ext cx="1257300" cy="514350"/>
            </a:xfrm>
            <a:custGeom>
              <a:avLst/>
              <a:gdLst/>
              <a:ahLst/>
              <a:cxnLst/>
              <a:rect l="l" t="t" r="r" b="b"/>
              <a:pathLst>
                <a:path w="1257300" h="514350">
                  <a:moveTo>
                    <a:pt x="95250" y="0"/>
                  </a:moveTo>
                  <a:lnTo>
                    <a:pt x="1162050" y="0"/>
                  </a:lnTo>
                  <a:cubicBezTo>
                    <a:pt x="1214655" y="0"/>
                    <a:pt x="1257300" y="42645"/>
                    <a:pt x="1257300" y="95250"/>
                  </a:cubicBezTo>
                  <a:lnTo>
                    <a:pt x="1257300" y="419100"/>
                  </a:lnTo>
                  <a:cubicBezTo>
                    <a:pt x="1257300" y="471705"/>
                    <a:pt x="1214655" y="514350"/>
                    <a:pt x="11620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586466" y="12296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统一中枢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587038" y="1436370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运营视角下的一体化编排</a:t>
              </a:r>
            </a:p>
          </p:txBody>
        </p:sp>
        <p:sp>
          <p:nvSpPr>
            <p:cNvPr id="83" name="Freeform 83"/>
            <p:cNvSpPr/>
            <p:nvPr/>
          </p:nvSpPr>
          <p:spPr>
            <a:xfrm>
              <a:off x="9963150" y="1524000"/>
              <a:ext cx="438150" cy="514350"/>
            </a:xfrm>
            <a:custGeom>
              <a:avLst/>
              <a:gdLst/>
              <a:ahLst/>
              <a:cxnLst/>
              <a:rect l="l" t="t" r="r" b="b"/>
              <a:pathLst>
                <a:path w="438150" h="514350">
                  <a:moveTo>
                    <a:pt x="438150" y="0"/>
                  </a:moveTo>
                  <a:cubicBezTo>
                    <a:pt x="209550" y="209550"/>
                    <a:pt x="76200" y="361950"/>
                    <a:pt x="0" y="514350"/>
                  </a:cubicBezTo>
                </a:path>
              </a:pathLst>
            </a:custGeom>
            <a:noFill/>
            <a:ln w="11430">
              <a:solidFill>
                <a:srgbClr val="A0AEC0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10382250" y="5334000"/>
              <a:ext cx="1276350" cy="514350"/>
            </a:xfrm>
            <a:custGeom>
              <a:avLst/>
              <a:gdLst/>
              <a:ahLst/>
              <a:cxnLst/>
              <a:rect l="l" t="t" r="r" b="b"/>
              <a:pathLst>
                <a:path w="1276350" h="514350">
                  <a:moveTo>
                    <a:pt x="95250" y="0"/>
                  </a:moveTo>
                  <a:lnTo>
                    <a:pt x="1181100" y="0"/>
                  </a:lnTo>
                  <a:cubicBezTo>
                    <a:pt x="1233705" y="0"/>
                    <a:pt x="1276350" y="42645"/>
                    <a:pt x="1276350" y="95250"/>
                  </a:cubicBezTo>
                  <a:lnTo>
                    <a:pt x="1276350" y="419100"/>
                  </a:lnTo>
                  <a:cubicBezTo>
                    <a:pt x="1276350" y="471705"/>
                    <a:pt x="1233705" y="514350"/>
                    <a:pt x="118110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0567416" y="54397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自动闭环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567988" y="564642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策略执行与效果归因持续联动</a:t>
              </a:r>
            </a:p>
          </p:txBody>
        </p:sp>
        <p:sp>
          <p:nvSpPr>
            <p:cNvPr id="87" name="Freeform 87"/>
            <p:cNvSpPr/>
            <p:nvPr/>
          </p:nvSpPr>
          <p:spPr>
            <a:xfrm>
              <a:off x="9886950" y="4495800"/>
              <a:ext cx="495300" cy="952500"/>
            </a:xfrm>
            <a:custGeom>
              <a:avLst/>
              <a:gdLst/>
              <a:ahLst/>
              <a:cxnLst/>
              <a:rect l="l" t="t" r="r" b="b"/>
              <a:pathLst>
                <a:path w="495300" h="952500">
                  <a:moveTo>
                    <a:pt x="495300" y="952500"/>
                  </a:moveTo>
                  <a:cubicBezTo>
                    <a:pt x="190500" y="647700"/>
                    <a:pt x="76200" y="323850"/>
                    <a:pt x="0" y="0"/>
                  </a:cubicBezTo>
                </a:path>
              </a:pathLst>
            </a:custGeom>
            <a:noFill/>
            <a:ln w="11430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-800100"/>
            <a:ext cx="12954000" cy="8324850"/>
            <a:chOff x="0" y="-800100"/>
            <a:chExt cx="12954000" cy="83248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7429500" y="0"/>
              <a:ext cx="4762500" cy="685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429625" y="-800100"/>
              <a:ext cx="4000500" cy="4000500"/>
            </a:xfrm>
            <a:prstGeom prst="ellipse">
              <a:avLst/>
            </a:prstGeom>
            <a:solidFill>
              <a:schemeClr val="accent2">
                <a:alpha val="6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525000" y="4095750"/>
              <a:ext cx="3429000" cy="3429000"/>
            </a:xfrm>
            <a:prstGeom prst="ellipse">
              <a:avLst/>
            </a:prstGeom>
            <a:solidFill>
              <a:schemeClr val="accent3">
                <a:alpha val="5000"/>
              </a:scheme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1257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572452"/>
            <a:ext cx="11048429" cy="6148864"/>
            <a:chOff x="557784" y="572452"/>
            <a:chExt cx="11048429" cy="6148864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572452"/>
              <a:ext cx="60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77533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决策框架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738" y="65593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474520" y="65593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61594" y="1618298"/>
            <a:ext cx="12139346" cy="4801552"/>
            <a:chOff x="561594" y="1618298"/>
            <a:chExt cx="12139346" cy="4801552"/>
          </a:xfrm>
        </p:grpSpPr>
        <p:sp>
          <p:nvSpPr>
            <p:cNvPr id="14" name="TextBox 14"/>
            <p:cNvSpPr txBox="1"/>
            <p:nvPr/>
          </p:nvSpPr>
          <p:spPr>
            <a:xfrm>
              <a:off x="561594" y="1618298"/>
              <a:ext cx="38786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本方案不是单点工具采购，而是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1594" y="1942148"/>
              <a:ext cx="41543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围绕增长效率重构营销运营链路。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" y="2343150"/>
              <a:ext cx="6172200" cy="876300"/>
            </a:xfrm>
            <a:custGeom>
              <a:avLst/>
              <a:gdLst/>
              <a:ahLst/>
              <a:cxnLst/>
              <a:rect l="l" t="t" r="r" b="b"/>
              <a:pathLst>
                <a:path w="6172200" h="876300">
                  <a:moveTo>
                    <a:pt x="114300" y="0"/>
                  </a:moveTo>
                  <a:lnTo>
                    <a:pt x="6057900" y="0"/>
                  </a:lnTo>
                  <a:cubicBezTo>
                    <a:pt x="6121026" y="0"/>
                    <a:pt x="6172200" y="51174"/>
                    <a:pt x="6172200" y="114300"/>
                  </a:cubicBezTo>
                  <a:lnTo>
                    <a:pt x="6172200" y="762000"/>
                  </a:lnTo>
                  <a:cubicBezTo>
                    <a:pt x="6172200" y="825126"/>
                    <a:pt x="6121026" y="876300"/>
                    <a:pt x="6057900" y="876300"/>
                  </a:cubicBezTo>
                  <a:lnTo>
                    <a:pt x="114300" y="876300"/>
                  </a:lnTo>
                  <a:cubicBezTo>
                    <a:pt x="51174" y="876300"/>
                    <a:pt x="0" y="825126"/>
                    <a:pt x="0" y="762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00100" y="27813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95350" y="25717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78992" y="25212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先解决数据断层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2990850" y="25717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74492" y="2521268"/>
              <a:ext cx="1596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再建立AI决策中枢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95350" y="29908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78992" y="29403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最后形成自动化与度量闭环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3943350" y="29908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26992" y="29403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业务现状与判断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571500" y="3619500"/>
              <a:ext cx="6172200" cy="2247900"/>
            </a:xfrm>
            <a:custGeom>
              <a:avLst/>
              <a:gdLst/>
              <a:ahLst/>
              <a:cxnLst/>
              <a:rect l="l" t="t" r="r" b="b"/>
              <a:pathLst>
                <a:path w="6172200" h="2247900">
                  <a:moveTo>
                    <a:pt x="133350" y="0"/>
                  </a:moveTo>
                  <a:lnTo>
                    <a:pt x="6038850" y="0"/>
                  </a:lnTo>
                  <a:cubicBezTo>
                    <a:pt x="6112497" y="0"/>
                    <a:pt x="6172200" y="59703"/>
                    <a:pt x="6172200" y="133350"/>
                  </a:cubicBezTo>
                  <a:lnTo>
                    <a:pt x="6172200" y="2114550"/>
                  </a:lnTo>
                  <a:cubicBezTo>
                    <a:pt x="6172200" y="2188197"/>
                    <a:pt x="6112497" y="2247900"/>
                    <a:pt x="6038850" y="2247900"/>
                  </a:cubicBezTo>
                  <a:lnTo>
                    <a:pt x="133350" y="2247900"/>
                  </a:lnTo>
                  <a:cubicBezTo>
                    <a:pt x="59703" y="2247900"/>
                    <a:pt x="0" y="2188197"/>
                    <a:pt x="0" y="21145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38200" y="3905250"/>
              <a:ext cx="57150" cy="1676400"/>
            </a:xfrm>
            <a:custGeom>
              <a:avLst/>
              <a:gdLst/>
              <a:ahLst/>
              <a:cxnLst/>
              <a:rect l="l" t="t" r="r" b="b"/>
              <a:pathLst>
                <a:path w="57150" h="16764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647825"/>
                  </a:lnTo>
                  <a:cubicBezTo>
                    <a:pt x="57150" y="1663607"/>
                    <a:pt x="44357" y="1676400"/>
                    <a:pt x="28575" y="1676400"/>
                  </a:cubicBezTo>
                  <a:lnTo>
                    <a:pt x="28575" y="1676400"/>
                  </a:lnTo>
                  <a:cubicBezTo>
                    <a:pt x="12793" y="1676400"/>
                    <a:pt x="0" y="1663607"/>
                    <a:pt x="0" y="16478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95350" y="3905250"/>
              <a:ext cx="5429250" cy="1676400"/>
            </a:xfrm>
            <a:prstGeom prst="rect">
              <a:avLst/>
            </a:prstGeom>
            <a:gradFill>
              <a:gsLst>
                <a:gs pos="0">
                  <a:schemeClr val="accent2">
                    <a:alpha val="16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95375" y="3952875"/>
              <a:ext cx="361950" cy="3619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83174" y="4069556"/>
              <a:ext cx="186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10868" y="391763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先解决数据断层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13154" y="41948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统一客户、渠道、内容与线索口径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1200150" y="4514850"/>
              <a:ext cx="5124450" cy="9525"/>
            </a:xfrm>
            <a:custGeom>
              <a:avLst/>
              <a:gdLst/>
              <a:ahLst/>
              <a:cxnLst/>
              <a:rect l="l" t="t" r="r" b="b"/>
              <a:pathLst>
                <a:path w="5124450" h="9525">
                  <a:moveTo>
                    <a:pt x="0" y="0"/>
                  </a:moveTo>
                  <a:lnTo>
                    <a:pt x="51244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95375" y="4638675"/>
              <a:ext cx="361950" cy="3619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83174" y="4755356"/>
              <a:ext cx="186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10868" y="4603432"/>
              <a:ext cx="19512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再建立AI决策中枢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13154" y="48806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把洞察、预测与策略建议沉到一线动作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1200150" y="5200650"/>
              <a:ext cx="5124450" cy="9525"/>
            </a:xfrm>
            <a:custGeom>
              <a:avLst/>
              <a:gdLst/>
              <a:ahLst/>
              <a:cxnLst/>
              <a:rect l="l" t="t" r="r" b="b"/>
              <a:pathLst>
                <a:path w="5124450" h="9525">
                  <a:moveTo>
                    <a:pt x="0" y="0"/>
                  </a:moveTo>
                  <a:lnTo>
                    <a:pt x="51244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095375" y="5324475"/>
              <a:ext cx="361950" cy="3619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83174" y="5441156"/>
              <a:ext cx="186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10868" y="52892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最后形成自动化与度量闭环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13154" y="55664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连接执行、归因与预算分配的持续优化机制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7239000" y="1695450"/>
              <a:ext cx="4381500" cy="4171950"/>
            </a:xfrm>
            <a:custGeom>
              <a:avLst/>
              <a:gdLst/>
              <a:ahLst/>
              <a:cxnLst/>
              <a:rect l="l" t="t" r="r" b="b"/>
              <a:pathLst>
                <a:path w="4381500" h="4171950">
                  <a:moveTo>
                    <a:pt x="133350" y="0"/>
                  </a:moveTo>
                  <a:lnTo>
                    <a:pt x="4248150" y="0"/>
                  </a:lnTo>
                  <a:cubicBezTo>
                    <a:pt x="4321797" y="0"/>
                    <a:pt x="4381500" y="59703"/>
                    <a:pt x="4381500" y="133350"/>
                  </a:cubicBezTo>
                  <a:lnTo>
                    <a:pt x="4381500" y="4038600"/>
                  </a:lnTo>
                  <a:cubicBezTo>
                    <a:pt x="4381500" y="4112247"/>
                    <a:pt x="4321797" y="4171950"/>
                    <a:pt x="4248150" y="4171950"/>
                  </a:cubicBezTo>
                  <a:lnTo>
                    <a:pt x="133350" y="4171950"/>
                  </a:lnTo>
                  <a:cubicBezTo>
                    <a:pt x="59703" y="4171950"/>
                    <a:pt x="0" y="4112247"/>
                    <a:pt x="0" y="40386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33894" y="188499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推进结构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37704" y="22326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从现状判断到模块落地的五段式路径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7962900" y="2838450"/>
              <a:ext cx="2724150" cy="9525"/>
            </a:xfrm>
            <a:custGeom>
              <a:avLst/>
              <a:gdLst/>
              <a:ahLst/>
              <a:cxnLst/>
              <a:rect l="l" t="t" r="r" b="b"/>
              <a:pathLst>
                <a:path w="2724150" h="9525">
                  <a:moveTo>
                    <a:pt x="0" y="0"/>
                  </a:moveTo>
                  <a:lnTo>
                    <a:pt x="272415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10687050" y="2838450"/>
              <a:ext cx="9525" cy="2305050"/>
            </a:xfrm>
            <a:custGeom>
              <a:avLst/>
              <a:gdLst/>
              <a:ahLst/>
              <a:cxnLst/>
              <a:rect l="l" t="t" r="r" b="b"/>
              <a:pathLst>
                <a:path w="9525" h="2305050">
                  <a:moveTo>
                    <a:pt x="0" y="0"/>
                  </a:moveTo>
                  <a:lnTo>
                    <a:pt x="0" y="230505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7962900" y="5143500"/>
              <a:ext cx="2724150" cy="9525"/>
            </a:xfrm>
            <a:custGeom>
              <a:avLst/>
              <a:gdLst/>
              <a:ahLst/>
              <a:cxnLst/>
              <a:rect l="l" t="t" r="r" b="b"/>
              <a:pathLst>
                <a:path w="2724150" h="9525">
                  <a:moveTo>
                    <a:pt x="0" y="0"/>
                  </a:moveTo>
                  <a:lnTo>
                    <a:pt x="272415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734300" y="2609850"/>
              <a:ext cx="457200" cy="4572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69724" y="2774156"/>
              <a:ext cx="186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98180" y="26003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先解决数据断层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00466" y="28775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先统一底座，再谈智能放大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10458450" y="3381375"/>
              <a:ext cx="457200" cy="4572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593874" y="3545681"/>
              <a:ext cx="186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27080" y="3371850"/>
              <a:ext cx="1773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再建立AI决策中枢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929366" y="3649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把分析输出变成策略建议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10458450" y="49149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593874" y="5079206"/>
              <a:ext cx="186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40980" y="5305425"/>
              <a:ext cx="2559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最后形成自动化与度量闭环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43266" y="558260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执行、回收与预算调优进入同一工作台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7543800" y="6096000"/>
              <a:ext cx="1885950" cy="323850"/>
            </a:xfrm>
            <a:custGeom>
              <a:avLst/>
              <a:gdLst/>
              <a:ahLst/>
              <a:cxnLst/>
              <a:rect l="l" t="t" r="r" b="b"/>
              <a:pathLst>
                <a:path w="1885950" h="323850">
                  <a:moveTo>
                    <a:pt x="76200" y="0"/>
                  </a:moveTo>
                  <a:lnTo>
                    <a:pt x="1809750" y="0"/>
                  </a:lnTo>
                  <a:cubicBezTo>
                    <a:pt x="1851834" y="0"/>
                    <a:pt x="1885950" y="34116"/>
                    <a:pt x="1885950" y="76200"/>
                  </a:cubicBezTo>
                  <a:lnTo>
                    <a:pt x="1885950" y="247650"/>
                  </a:lnTo>
                  <a:cubicBezTo>
                    <a:pt x="1885950" y="289734"/>
                    <a:pt x="1851834" y="323850"/>
                    <a:pt x="180975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rgbClr val="D7E6F7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813177" y="6184106"/>
              <a:ext cx="13471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业务现状与判断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9544050" y="6096000"/>
              <a:ext cx="1752600" cy="323850"/>
            </a:xfrm>
            <a:custGeom>
              <a:avLst/>
              <a:gdLst/>
              <a:ahLst/>
              <a:cxnLst/>
              <a:rect l="l" t="t" r="r" b="b"/>
              <a:pathLst>
                <a:path w="1752600" h="323850">
                  <a:moveTo>
                    <a:pt x="76200" y="0"/>
                  </a:moveTo>
                  <a:lnTo>
                    <a:pt x="1676400" y="0"/>
                  </a:lnTo>
                  <a:cubicBezTo>
                    <a:pt x="1718484" y="0"/>
                    <a:pt x="1752600" y="34116"/>
                    <a:pt x="1752600" y="76200"/>
                  </a:cubicBezTo>
                  <a:lnTo>
                    <a:pt x="1752600" y="247650"/>
                  </a:lnTo>
                  <a:cubicBezTo>
                    <a:pt x="1752600" y="289734"/>
                    <a:pt x="1718484" y="323850"/>
                    <a:pt x="16764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rgbClr val="D7E6F7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746752" y="6184106"/>
              <a:ext cx="13471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关键模块与价值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953250" y="1257300"/>
            <a:ext cx="836334" cy="4933950"/>
            <a:chOff x="6953250" y="1257300"/>
            <a:chExt cx="836334" cy="4933950"/>
          </a:xfrm>
        </p:grpSpPr>
        <p:sp>
          <p:nvSpPr>
            <p:cNvPr id="66" name="Line 66"/>
            <p:cNvSpPr/>
            <p:nvPr/>
          </p:nvSpPr>
          <p:spPr>
            <a:xfrm>
              <a:off x="6953250" y="1257300"/>
              <a:ext cx="9525" cy="4933950"/>
            </a:xfrm>
            <a:custGeom>
              <a:avLst/>
              <a:gdLst/>
              <a:ahLst/>
              <a:cxnLst/>
              <a:rect l="l" t="t" r="r" b="b"/>
              <a:pathLst>
                <a:path w="9525" h="4933950">
                  <a:moveTo>
                    <a:pt x="0" y="0"/>
                  </a:moveTo>
                  <a:lnTo>
                    <a:pt x="0" y="49339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081838" y="1387316"/>
              <a:ext cx="7077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MODULE RAIL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914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952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382000" y="476250"/>
              <a:ext cx="9525" cy="5905500"/>
            </a:xfrm>
            <a:custGeom>
              <a:avLst/>
              <a:gdLst/>
              <a:ahLst/>
              <a:cxnLst/>
              <a:rect l="l" t="t" r="r" b="b"/>
              <a:pathLst>
                <a:path w="9525" h="5905500">
                  <a:moveTo>
                    <a:pt x="0" y="0"/>
                  </a:moveTo>
                  <a:lnTo>
                    <a:pt x="0" y="5905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5905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743950" y="1200150"/>
              <a:ext cx="2343150" cy="4038600"/>
            </a:xfrm>
            <a:custGeom>
              <a:avLst/>
              <a:gdLst/>
              <a:ahLst/>
              <a:cxnLst/>
              <a:rect l="l" t="t" r="r" b="b"/>
              <a:pathLst>
                <a:path w="2343150" h="4038600">
                  <a:moveTo>
                    <a:pt x="114300" y="0"/>
                  </a:moveTo>
                  <a:lnTo>
                    <a:pt x="2228850" y="0"/>
                  </a:lnTo>
                  <a:cubicBezTo>
                    <a:pt x="2291976" y="0"/>
                    <a:pt x="2343150" y="51174"/>
                    <a:pt x="2343150" y="114300"/>
                  </a:cubicBezTo>
                  <a:lnTo>
                    <a:pt x="2343150" y="3924300"/>
                  </a:lnTo>
                  <a:cubicBezTo>
                    <a:pt x="2343150" y="3987426"/>
                    <a:pt x="2291976" y="4038600"/>
                    <a:pt x="2228850" y="4038600"/>
                  </a:cubicBezTo>
                  <a:lnTo>
                    <a:pt x="114300" y="4038600"/>
                  </a:lnTo>
                  <a:cubicBezTo>
                    <a:pt x="51174" y="4038600"/>
                    <a:pt x="0" y="3987426"/>
                    <a:pt x="0" y="392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620250" y="112395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16000"/>
                </a:schemeClr>
              </a:solidFill>
              <a:custDash>
                <a:ds d="400000" sp="80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0382250" y="112395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1">
                  <a:alpha val="12000"/>
                </a:schemeClr>
              </a:solidFill>
              <a:custDash>
                <a:ds d="400000" sp="800000"/>
              </a:custDash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66166" y="420052"/>
            <a:ext cx="11059097" cy="5805964"/>
            <a:chOff x="566166" y="420052"/>
            <a:chExt cx="11059097" cy="5805964"/>
          </a:xfrm>
        </p:grpSpPr>
        <p:sp>
          <p:nvSpPr>
            <p:cNvPr id="12" name="TextBox 12"/>
            <p:cNvSpPr txBox="1"/>
            <p:nvPr/>
          </p:nvSpPr>
          <p:spPr>
            <a:xfrm>
              <a:off x="566166" y="4200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43681" y="4443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 / 08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24147" y="60640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57784" y="1194435"/>
            <a:ext cx="11123371" cy="4711065"/>
            <a:chOff x="557784" y="1194435"/>
            <a:chExt cx="11123371" cy="4711065"/>
          </a:xfrm>
        </p:grpSpPr>
        <p:sp>
          <p:nvSpPr>
            <p:cNvPr id="16" name="TextBox 16"/>
            <p:cNvSpPr txBox="1"/>
            <p:nvPr/>
          </p:nvSpPr>
          <p:spPr>
            <a:xfrm>
              <a:off x="557784" y="119443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先看结论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71500" y="1866900"/>
              <a:ext cx="7524750" cy="3429000"/>
            </a:xfrm>
            <a:custGeom>
              <a:avLst/>
              <a:gdLst/>
              <a:ahLst/>
              <a:cxnLst/>
              <a:rect l="l" t="t" r="r" b="b"/>
              <a:pathLst>
                <a:path w="7524750" h="3429000">
                  <a:moveTo>
                    <a:pt x="152400" y="0"/>
                  </a:moveTo>
                  <a:lnTo>
                    <a:pt x="7372350" y="0"/>
                  </a:lnTo>
                  <a:cubicBezTo>
                    <a:pt x="7456518" y="0"/>
                    <a:pt x="7524750" y="68232"/>
                    <a:pt x="7524750" y="152400"/>
                  </a:cubicBezTo>
                  <a:lnTo>
                    <a:pt x="7524750" y="3276600"/>
                  </a:lnTo>
                  <a:cubicBezTo>
                    <a:pt x="7524750" y="3360768"/>
                    <a:pt x="7456518" y="3429000"/>
                    <a:pt x="7372350" y="3429000"/>
                  </a:cubicBezTo>
                  <a:lnTo>
                    <a:pt x="152400" y="3429000"/>
                  </a:lnTo>
                  <a:cubicBezTo>
                    <a:pt x="68232" y="3429000"/>
                    <a:pt x="0" y="3360768"/>
                    <a:pt x="0" y="3276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1866900"/>
              <a:ext cx="95250" cy="3429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13460" y="2400300"/>
              <a:ext cx="342290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多数企业营销问题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3460" y="2914650"/>
              <a:ext cx="299885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不在流量不足，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9650" y="3410902"/>
              <a:ext cx="675221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而在“断、慢、散、失真”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0318" y="42986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数据分散、判断滞后、执行割裂与归因失真，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0318" y="46415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才是影响增长效率与复用能力的核心瓶颈。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8743950" y="1390650"/>
              <a:ext cx="2876550" cy="1162050"/>
            </a:xfrm>
            <a:custGeom>
              <a:avLst/>
              <a:gdLst/>
              <a:ahLst/>
              <a:cxnLst/>
              <a:rect l="l" t="t" r="r" b="b"/>
              <a:pathLst>
                <a:path w="2876550" h="1162050">
                  <a:moveTo>
                    <a:pt x="114300" y="0"/>
                  </a:moveTo>
                  <a:lnTo>
                    <a:pt x="2762250" y="0"/>
                  </a:lnTo>
                  <a:cubicBezTo>
                    <a:pt x="2825376" y="0"/>
                    <a:pt x="2876550" y="51174"/>
                    <a:pt x="2876550" y="114300"/>
                  </a:cubicBezTo>
                  <a:lnTo>
                    <a:pt x="2876550" y="1047750"/>
                  </a:lnTo>
                  <a:cubicBezTo>
                    <a:pt x="2876550" y="1110876"/>
                    <a:pt x="2825376" y="1162050"/>
                    <a:pt x="2762250" y="1162050"/>
                  </a:cubicBezTo>
                  <a:lnTo>
                    <a:pt x="114300" y="1162050"/>
                  </a:lnTo>
                  <a:cubicBezTo>
                    <a:pt x="51174" y="1162050"/>
                    <a:pt x="0" y="1110876"/>
                    <a:pt x="0" y="1047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33510" y="15049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93580" y="16668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数据断开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95104" y="1985010"/>
              <a:ext cx="20860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数据在 CRM、广告、内容与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95104" y="22136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私域之间断开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8743950" y="2724150"/>
              <a:ext cx="2876550" cy="1162050"/>
            </a:xfrm>
            <a:custGeom>
              <a:avLst/>
              <a:gdLst/>
              <a:ahLst/>
              <a:cxnLst/>
              <a:rect l="l" t="t" r="r" b="b"/>
              <a:pathLst>
                <a:path w="2876550" h="1162050">
                  <a:moveTo>
                    <a:pt x="114300" y="0"/>
                  </a:moveTo>
                  <a:lnTo>
                    <a:pt x="2762250" y="0"/>
                  </a:lnTo>
                  <a:cubicBezTo>
                    <a:pt x="2825376" y="0"/>
                    <a:pt x="2876550" y="51174"/>
                    <a:pt x="2876550" y="114300"/>
                  </a:cubicBezTo>
                  <a:lnTo>
                    <a:pt x="2876550" y="1047750"/>
                  </a:lnTo>
                  <a:cubicBezTo>
                    <a:pt x="2876550" y="1110876"/>
                    <a:pt x="2825376" y="1162050"/>
                    <a:pt x="2762250" y="1162050"/>
                  </a:cubicBezTo>
                  <a:lnTo>
                    <a:pt x="114300" y="1162050"/>
                  </a:lnTo>
                  <a:cubicBezTo>
                    <a:pt x="51174" y="1162050"/>
                    <a:pt x="0" y="1110876"/>
                    <a:pt x="0" y="1047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33510" y="28384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93580" y="3000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判断滞后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95104" y="33185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团队依赖人工拼报表，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95104" y="35471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决策窗口短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743950" y="4057650"/>
              <a:ext cx="2876550" cy="1162050"/>
            </a:xfrm>
            <a:custGeom>
              <a:avLst/>
              <a:gdLst/>
              <a:ahLst/>
              <a:cxnLst/>
              <a:rect l="l" t="t" r="r" b="b"/>
              <a:pathLst>
                <a:path w="2876550" h="1162050">
                  <a:moveTo>
                    <a:pt x="114300" y="0"/>
                  </a:moveTo>
                  <a:lnTo>
                    <a:pt x="2762250" y="0"/>
                  </a:lnTo>
                  <a:cubicBezTo>
                    <a:pt x="2825376" y="0"/>
                    <a:pt x="2876550" y="51174"/>
                    <a:pt x="2876550" y="114300"/>
                  </a:cubicBezTo>
                  <a:lnTo>
                    <a:pt x="2876550" y="1047750"/>
                  </a:lnTo>
                  <a:cubicBezTo>
                    <a:pt x="2876550" y="1110876"/>
                    <a:pt x="2825376" y="1162050"/>
                    <a:pt x="2762250" y="1162050"/>
                  </a:cubicBezTo>
                  <a:lnTo>
                    <a:pt x="114300" y="1162050"/>
                  </a:lnTo>
                  <a:cubicBezTo>
                    <a:pt x="51174" y="1162050"/>
                    <a:pt x="0" y="1110876"/>
                    <a:pt x="0" y="1047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33510" y="41719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93580" y="43338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执行割裂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95104" y="46520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活动很多，但复用机制和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95104" y="48806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反馈机制弱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571500" y="5524500"/>
              <a:ext cx="11049000" cy="381000"/>
            </a:xfrm>
            <a:custGeom>
              <a:avLst/>
              <a:gdLst/>
              <a:ahLst/>
              <a:cxnLst/>
              <a:rect l="l" t="t" r="r" b="b"/>
              <a:pathLst>
                <a:path w="11049000" h="38100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304800"/>
                  </a:lnTo>
                  <a:cubicBezTo>
                    <a:pt x="11049000" y="346884"/>
                    <a:pt x="11014884" y="381000"/>
                    <a:pt x="1097280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93242" y="5626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主判断：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93342" y="562641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营销效率问题，本质上是经营数据与执行系统没有形成闭环。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001000" y="1943100"/>
            <a:ext cx="514350" cy="2743200"/>
            <a:chOff x="8001000" y="1943100"/>
            <a:chExt cx="514350" cy="2743200"/>
          </a:xfrm>
        </p:grpSpPr>
        <p:sp>
          <p:nvSpPr>
            <p:cNvPr id="43" name="Ellipse 43"/>
            <p:cNvSpPr/>
            <p:nvPr/>
          </p:nvSpPr>
          <p:spPr>
            <a:xfrm>
              <a:off x="8439150" y="1943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439150" y="32766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439150" y="4610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8096250" y="1981200"/>
              <a:ext cx="381000" cy="1600200"/>
            </a:xfrm>
            <a:custGeom>
              <a:avLst/>
              <a:gdLst/>
              <a:ahLst/>
              <a:cxnLst/>
              <a:rect l="l" t="t" r="r" b="b"/>
              <a:pathLst>
                <a:path w="381000" h="1600200">
                  <a:moveTo>
                    <a:pt x="0" y="160020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chemeClr val="accent2">
                  <a:alpha val="55000"/>
                </a:schemeClr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8096250" y="3314700"/>
              <a:ext cx="381000" cy="266700"/>
            </a:xfrm>
            <a:custGeom>
              <a:avLst/>
              <a:gdLst/>
              <a:ahLst/>
              <a:cxnLst/>
              <a:rect l="l" t="t" r="r" b="b"/>
              <a:pathLst>
                <a:path w="381000" h="266700">
                  <a:moveTo>
                    <a:pt x="0" y="26670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chemeClr val="accent2">
                  <a:alpha val="55000"/>
                </a:schemeClr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8096250" y="3581400"/>
              <a:ext cx="381000" cy="1066800"/>
            </a:xfrm>
            <a:custGeom>
              <a:avLst/>
              <a:gdLst/>
              <a:ahLst/>
              <a:cxnLst/>
              <a:rect l="l" t="t" r="r" b="b"/>
              <a:pathLst>
                <a:path w="381000" h="1066800">
                  <a:moveTo>
                    <a:pt x="0" y="0"/>
                  </a:moveTo>
                  <a:lnTo>
                    <a:pt x="381000" y="1066800"/>
                  </a:lnTo>
                </a:path>
              </a:pathLst>
            </a:custGeom>
            <a:noFill/>
            <a:ln w="14288">
              <a:solidFill>
                <a:schemeClr val="accent2">
                  <a:alpha val="55000"/>
                </a:schemeClr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8001000" y="3486150"/>
              <a:ext cx="190500" cy="1905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034360" y="3531870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AI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933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096000" y="1428750"/>
              <a:ext cx="9525" cy="4667250"/>
            </a:xfrm>
            <a:custGeom>
              <a:avLst/>
              <a:gdLst/>
              <a:ahLst/>
              <a:cxnLst/>
              <a:rect l="l" t="t" r="r" b="b"/>
              <a:pathLst>
                <a:path w="9525" h="4667250">
                  <a:moveTo>
                    <a:pt x="0" y="0"/>
                  </a:moveTo>
                  <a:lnTo>
                    <a:pt x="0" y="46672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38862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495300" y="1257300"/>
              <a:ext cx="11201400" cy="4972050"/>
            </a:xfrm>
            <a:custGeom>
              <a:avLst/>
              <a:gdLst/>
              <a:ahLst/>
              <a:cxnLst/>
              <a:rect l="l" t="t" r="r" b="b"/>
              <a:pathLst>
                <a:path w="11201400" h="4972050">
                  <a:moveTo>
                    <a:pt x="171450" y="0"/>
                  </a:moveTo>
                  <a:lnTo>
                    <a:pt x="11029950" y="0"/>
                  </a:lnTo>
                  <a:cubicBezTo>
                    <a:pt x="11124639" y="0"/>
                    <a:pt x="11201400" y="76761"/>
                    <a:pt x="11201400" y="171450"/>
                  </a:cubicBezTo>
                  <a:lnTo>
                    <a:pt x="11201400" y="4800600"/>
                  </a:lnTo>
                  <a:cubicBezTo>
                    <a:pt x="11201400" y="4895289"/>
                    <a:pt x="11124639" y="4972050"/>
                    <a:pt x="11029950" y="4972050"/>
                  </a:cubicBezTo>
                  <a:lnTo>
                    <a:pt x="171450" y="4972050"/>
                  </a:lnTo>
                  <a:cubicBezTo>
                    <a:pt x="76761" y="4972050"/>
                    <a:pt x="0" y="4895289"/>
                    <a:pt x="0" y="48006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381952"/>
            <a:ext cx="11067479" cy="6244114"/>
            <a:chOff x="557784" y="381952"/>
            <a:chExt cx="11067479" cy="6244114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381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50863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从分散到闭环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738" y="64641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493570" y="64641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63880" y="1038225"/>
            <a:ext cx="10983449" cy="4924425"/>
            <a:chOff x="563880" y="1038225"/>
            <a:chExt cx="10983449" cy="4924425"/>
          </a:xfrm>
        </p:grpSpPr>
        <p:sp>
          <p:nvSpPr>
            <p:cNvPr id="14" name="TextBox 14"/>
            <p:cNvSpPr txBox="1"/>
            <p:nvPr/>
          </p:nvSpPr>
          <p:spPr>
            <a:xfrm>
              <a:off x="563880" y="1038225"/>
              <a:ext cx="6384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企业AI营销工作台把四个关键能力从孤立动作升级为统一经营系统。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85800" y="1581150"/>
              <a:ext cx="5219700" cy="2076450"/>
            </a:xfrm>
            <a:custGeom>
              <a:avLst/>
              <a:gdLst/>
              <a:ahLst/>
              <a:cxnLst/>
              <a:rect l="l" t="t" r="r" b="b"/>
              <a:pathLst>
                <a:path w="5219700" h="207645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1962150"/>
                  </a:lnTo>
                  <a:cubicBezTo>
                    <a:pt x="5219700" y="2025276"/>
                    <a:pt x="5168526" y="2076450"/>
                    <a:pt x="5105400" y="2076450"/>
                  </a:cubicBezTo>
                  <a:lnTo>
                    <a:pt x="114300" y="2076450"/>
                  </a:lnTo>
                  <a:cubicBezTo>
                    <a:pt x="51174" y="2076450"/>
                    <a:pt x="0" y="2025276"/>
                    <a:pt x="0" y="19621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286500" y="1581150"/>
              <a:ext cx="5219700" cy="2076450"/>
            </a:xfrm>
            <a:custGeom>
              <a:avLst/>
              <a:gdLst/>
              <a:ahLst/>
              <a:cxnLst/>
              <a:rect l="l" t="t" r="r" b="b"/>
              <a:pathLst>
                <a:path w="5219700" h="207645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1962150"/>
                  </a:lnTo>
                  <a:cubicBezTo>
                    <a:pt x="5219700" y="2025276"/>
                    <a:pt x="5168526" y="2076450"/>
                    <a:pt x="5105400" y="2076450"/>
                  </a:cubicBezTo>
                  <a:lnTo>
                    <a:pt x="114300" y="2076450"/>
                  </a:lnTo>
                  <a:cubicBezTo>
                    <a:pt x="51174" y="2076450"/>
                    <a:pt x="0" y="2025276"/>
                    <a:pt x="0" y="19621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85800" y="4095750"/>
              <a:ext cx="5219700" cy="1866900"/>
            </a:xfrm>
            <a:custGeom>
              <a:avLst/>
              <a:gdLst/>
              <a:ahLst/>
              <a:cxnLst/>
              <a:rect l="l" t="t" r="r" b="b"/>
              <a:pathLst>
                <a:path w="5219700" h="18669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1752600"/>
                  </a:lnTo>
                  <a:cubicBezTo>
                    <a:pt x="5219700" y="1815726"/>
                    <a:pt x="5168526" y="1866900"/>
                    <a:pt x="5105400" y="1866900"/>
                  </a:cubicBezTo>
                  <a:lnTo>
                    <a:pt x="114300" y="1866900"/>
                  </a:lnTo>
                  <a:cubicBezTo>
                    <a:pt x="51174" y="1866900"/>
                    <a:pt x="0" y="1815726"/>
                    <a:pt x="0" y="17526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286500" y="4095750"/>
              <a:ext cx="5219700" cy="1866900"/>
            </a:xfrm>
            <a:custGeom>
              <a:avLst/>
              <a:gdLst/>
              <a:ahLst/>
              <a:cxnLst/>
              <a:rect l="l" t="t" r="r" b="b"/>
              <a:pathLst>
                <a:path w="5219700" h="18669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1752600"/>
                  </a:lnTo>
                  <a:cubicBezTo>
                    <a:pt x="5219700" y="1815726"/>
                    <a:pt x="5168526" y="1866900"/>
                    <a:pt x="5105400" y="1866900"/>
                  </a:cubicBezTo>
                  <a:lnTo>
                    <a:pt x="114300" y="1866900"/>
                  </a:lnTo>
                  <a:cubicBezTo>
                    <a:pt x="51174" y="1866900"/>
                    <a:pt x="0" y="1815726"/>
                    <a:pt x="0" y="17526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4494" y="16754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分散动作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05194" y="16754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统一闭环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914400" y="2152650"/>
              <a:ext cx="2095500" cy="400050"/>
            </a:xfrm>
            <a:custGeom>
              <a:avLst/>
              <a:gdLst/>
              <a:ahLst/>
              <a:cxnLst/>
              <a:rect l="l" t="t" r="r" b="b"/>
              <a:pathLst>
                <a:path w="2095500" h="4000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323850"/>
                  </a:lnTo>
                  <a:cubicBezTo>
                    <a:pt x="2095500" y="365934"/>
                    <a:pt x="2061384" y="400050"/>
                    <a:pt x="20193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162300" y="2152650"/>
              <a:ext cx="2095500" cy="400050"/>
            </a:xfrm>
            <a:custGeom>
              <a:avLst/>
              <a:gdLst/>
              <a:ahLst/>
              <a:cxnLst/>
              <a:rect l="l" t="t" r="r" b="b"/>
              <a:pathLst>
                <a:path w="2095500" h="4000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323850"/>
                  </a:lnTo>
                  <a:cubicBezTo>
                    <a:pt x="2095500" y="365934"/>
                    <a:pt x="2061384" y="400050"/>
                    <a:pt x="20193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515100" y="2152650"/>
              <a:ext cx="2095500" cy="400050"/>
            </a:xfrm>
            <a:custGeom>
              <a:avLst/>
              <a:gdLst/>
              <a:ahLst/>
              <a:cxnLst/>
              <a:rect l="l" t="t" r="r" b="b"/>
              <a:pathLst>
                <a:path w="2095500" h="4000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323850"/>
                  </a:lnTo>
                  <a:cubicBezTo>
                    <a:pt x="2095500" y="365934"/>
                    <a:pt x="2061384" y="400050"/>
                    <a:pt x="20193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763000" y="2152650"/>
              <a:ext cx="2095500" cy="400050"/>
            </a:xfrm>
            <a:custGeom>
              <a:avLst/>
              <a:gdLst/>
              <a:ahLst/>
              <a:cxnLst/>
              <a:rect l="l" t="t" r="r" b="b"/>
              <a:pathLst>
                <a:path w="2095500" h="4000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323850"/>
                  </a:lnTo>
                  <a:cubicBezTo>
                    <a:pt x="2095500" y="365934"/>
                    <a:pt x="2061384" y="400050"/>
                    <a:pt x="2019300" y="400050"/>
                  </a:cubicBezTo>
                  <a:lnTo>
                    <a:pt x="76200" y="400050"/>
                  </a:lnTo>
                  <a:cubicBezTo>
                    <a:pt x="34116" y="400050"/>
                    <a:pt x="0" y="365934"/>
                    <a:pt x="0" y="3238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91818" y="22640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单点工具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39718" y="22640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人工接力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10781" y="22640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统一数据底座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58681" y="22640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策略执行联动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2495550" y="2895600"/>
              <a:ext cx="72009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0" name="Ellipse 30"/>
            <p:cNvSpPr/>
            <p:nvPr/>
          </p:nvSpPr>
          <p:spPr>
            <a:xfrm>
              <a:off x="2962275" y="28289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733925" y="28289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505575" y="28289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277225" y="28289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699766" y="3089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报表汇总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71416" y="3089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人工判断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43066" y="3089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模型洞察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14716" y="3089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自动触达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6018" y="4251008"/>
              <a:ext cx="14953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关键变量对比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6718" y="4251008"/>
              <a:ext cx="14953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不同路径影响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914400" y="45910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6515100" y="45910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7542" y="4731068"/>
              <a:ext cx="288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每个模块都直接对应一类管理问题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5016818"/>
              <a:ext cx="3248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平台价值来自跨模块联动而非单点功能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7542" y="5302568"/>
              <a:ext cx="3430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经营视角由数据、判断、动作、归因贯通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08242" y="4731068"/>
              <a:ext cx="43121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分散路径: 决策慢、执行断点多、复盘停留在渠道层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08242" y="5016818"/>
              <a:ext cx="5039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闭环路径: 策略实时更新、流程自动衔接、预算回到收入结果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08242" y="5302568"/>
              <a:ext cx="30672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管理层获得统一口径与持续优化抓手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800100" y="17335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28575" y="0"/>
                  </a:moveTo>
                  <a:lnTo>
                    <a:pt x="123825" y="0"/>
                  </a:lnTo>
                  <a:cubicBezTo>
                    <a:pt x="139607" y="0"/>
                    <a:pt x="152400" y="12793"/>
                    <a:pt x="152400" y="28575"/>
                  </a:cubicBezTo>
                  <a:lnTo>
                    <a:pt x="152400" y="123825"/>
                  </a:lnTo>
                  <a:cubicBezTo>
                    <a:pt x="152400" y="139607"/>
                    <a:pt x="139607" y="152400"/>
                    <a:pt x="123825" y="152400"/>
                  </a:cubicBezTo>
                  <a:lnTo>
                    <a:pt x="28575" y="152400"/>
                  </a:lnTo>
                  <a:cubicBezTo>
                    <a:pt x="12793" y="152400"/>
                    <a:pt x="0" y="139607"/>
                    <a:pt x="0" y="1238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6400800" y="173355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28575" y="0"/>
                  </a:moveTo>
                  <a:lnTo>
                    <a:pt x="123825" y="0"/>
                  </a:lnTo>
                  <a:cubicBezTo>
                    <a:pt x="139607" y="0"/>
                    <a:pt x="152400" y="12793"/>
                    <a:pt x="152400" y="28575"/>
                  </a:cubicBezTo>
                  <a:lnTo>
                    <a:pt x="152400" y="123825"/>
                  </a:lnTo>
                  <a:cubicBezTo>
                    <a:pt x="152400" y="139607"/>
                    <a:pt x="139607" y="152400"/>
                    <a:pt x="123825" y="152400"/>
                  </a:cubicBezTo>
                  <a:lnTo>
                    <a:pt x="28575" y="152400"/>
                  </a:lnTo>
                  <a:cubicBezTo>
                    <a:pt x="12793" y="152400"/>
                    <a:pt x="0" y="139607"/>
                    <a:pt x="0" y="1238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895350" y="5314950"/>
              <a:ext cx="1524000" cy="419100"/>
            </a:xfrm>
            <a:custGeom>
              <a:avLst/>
              <a:gdLst/>
              <a:ahLst/>
              <a:cxnLst/>
              <a:rect l="l" t="t" r="r" b="b"/>
              <a:pathLst>
                <a:path w="1524000" h="41910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342900"/>
                  </a:lnTo>
                  <a:cubicBezTo>
                    <a:pt x="1524000" y="384984"/>
                    <a:pt x="1489884" y="419100"/>
                    <a:pt x="1447800" y="419100"/>
                  </a:cubicBezTo>
                  <a:lnTo>
                    <a:pt x="76200" y="419100"/>
                  </a:lnTo>
                  <a:cubicBezTo>
                    <a:pt x="34116" y="419100"/>
                    <a:pt x="0" y="384984"/>
                    <a:pt x="0" y="3429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2590800" y="5314950"/>
              <a:ext cx="1524000" cy="419100"/>
            </a:xfrm>
            <a:custGeom>
              <a:avLst/>
              <a:gdLst/>
              <a:ahLst/>
              <a:cxnLst/>
              <a:rect l="l" t="t" r="r" b="b"/>
              <a:pathLst>
                <a:path w="1524000" h="41910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342900"/>
                  </a:lnTo>
                  <a:cubicBezTo>
                    <a:pt x="1524000" y="384984"/>
                    <a:pt x="1489884" y="419100"/>
                    <a:pt x="1447800" y="419100"/>
                  </a:cubicBezTo>
                  <a:lnTo>
                    <a:pt x="76200" y="419100"/>
                  </a:lnTo>
                  <a:cubicBezTo>
                    <a:pt x="34116" y="419100"/>
                    <a:pt x="0" y="384984"/>
                    <a:pt x="0" y="3429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4286250" y="5314950"/>
              <a:ext cx="1390650" cy="419100"/>
            </a:xfrm>
            <a:custGeom>
              <a:avLst/>
              <a:gdLst/>
              <a:ahLst/>
              <a:cxnLst/>
              <a:rect l="l" t="t" r="r" b="b"/>
              <a:pathLst>
                <a:path w="1390650" h="419100">
                  <a:moveTo>
                    <a:pt x="76200" y="0"/>
                  </a:moveTo>
                  <a:lnTo>
                    <a:pt x="1314450" y="0"/>
                  </a:lnTo>
                  <a:cubicBezTo>
                    <a:pt x="1356534" y="0"/>
                    <a:pt x="1390650" y="34116"/>
                    <a:pt x="1390650" y="76200"/>
                  </a:cubicBezTo>
                  <a:lnTo>
                    <a:pt x="1390650" y="342900"/>
                  </a:lnTo>
                  <a:cubicBezTo>
                    <a:pt x="1390650" y="384984"/>
                    <a:pt x="1356534" y="419100"/>
                    <a:pt x="1314450" y="419100"/>
                  </a:cubicBezTo>
                  <a:lnTo>
                    <a:pt x="76200" y="419100"/>
                  </a:lnTo>
                  <a:cubicBezTo>
                    <a:pt x="34116" y="419100"/>
                    <a:pt x="0" y="384984"/>
                    <a:pt x="0" y="3429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307592" y="54440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数据统一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003042" y="54440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决策前置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631817" y="54440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动作闭环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6400800" y="5219700"/>
              <a:ext cx="2362200" cy="552450"/>
            </a:xfrm>
            <a:custGeom>
              <a:avLst/>
              <a:gdLst/>
              <a:ahLst/>
              <a:cxnLst/>
              <a:rect l="l" t="t" r="r" b="b"/>
              <a:pathLst>
                <a:path w="2362200" h="552450">
                  <a:moveTo>
                    <a:pt x="95250" y="0"/>
                  </a:moveTo>
                  <a:lnTo>
                    <a:pt x="2266950" y="0"/>
                  </a:lnTo>
                  <a:cubicBezTo>
                    <a:pt x="2319555" y="0"/>
                    <a:pt x="2362200" y="42645"/>
                    <a:pt x="2362200" y="95250"/>
                  </a:cubicBezTo>
                  <a:lnTo>
                    <a:pt x="2362200" y="457200"/>
                  </a:lnTo>
                  <a:cubicBezTo>
                    <a:pt x="2362200" y="509805"/>
                    <a:pt x="2319555" y="552450"/>
                    <a:pt x="2266950" y="552450"/>
                  </a:cubicBezTo>
                  <a:lnTo>
                    <a:pt x="95250" y="552450"/>
                  </a:lnTo>
                  <a:cubicBezTo>
                    <a:pt x="42645" y="552450"/>
                    <a:pt x="0" y="509805"/>
                    <a:pt x="0" y="4572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3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991600" y="5219700"/>
              <a:ext cx="2362200" cy="552450"/>
            </a:xfrm>
            <a:custGeom>
              <a:avLst/>
              <a:gdLst/>
              <a:ahLst/>
              <a:cxnLst/>
              <a:rect l="l" t="t" r="r" b="b"/>
              <a:pathLst>
                <a:path w="2362200" h="552450">
                  <a:moveTo>
                    <a:pt x="95250" y="0"/>
                  </a:moveTo>
                  <a:lnTo>
                    <a:pt x="2266950" y="0"/>
                  </a:lnTo>
                  <a:cubicBezTo>
                    <a:pt x="2319555" y="0"/>
                    <a:pt x="2362200" y="42645"/>
                    <a:pt x="2362200" y="95250"/>
                  </a:cubicBezTo>
                  <a:lnTo>
                    <a:pt x="2362200" y="457200"/>
                  </a:lnTo>
                  <a:cubicBezTo>
                    <a:pt x="2362200" y="509805"/>
                    <a:pt x="2319555" y="552450"/>
                    <a:pt x="2266950" y="552450"/>
                  </a:cubicBezTo>
                  <a:lnTo>
                    <a:pt x="95250" y="552450"/>
                  </a:lnTo>
                  <a:cubicBezTo>
                    <a:pt x="42645" y="552450"/>
                    <a:pt x="0" y="509805"/>
                    <a:pt x="0" y="4572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3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91172" y="53187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响应时间缩短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68084" y="55283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从周级复盘到日常优化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81972" y="53187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预算归因升级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358884" y="55283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从流量指标到商机贡献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800100" y="3543300"/>
              <a:ext cx="2476500" cy="209550"/>
            </a:xfrm>
            <a:custGeom>
              <a:avLst/>
              <a:gdLst/>
              <a:ahLst/>
              <a:cxnLst/>
              <a:rect l="l" t="t" r="r" b="b"/>
              <a:pathLst>
                <a:path w="2476500" h="209550">
                  <a:moveTo>
                    <a:pt x="104775" y="0"/>
                  </a:moveTo>
                  <a:lnTo>
                    <a:pt x="2371725" y="0"/>
                  </a:lnTo>
                  <a:cubicBezTo>
                    <a:pt x="2429591" y="0"/>
                    <a:pt x="2476500" y="46909"/>
                    <a:pt x="2476500" y="104775"/>
                  </a:cubicBezTo>
                  <a:lnTo>
                    <a:pt x="2476500" y="104775"/>
                  </a:lnTo>
                  <a:cubicBezTo>
                    <a:pt x="2476500" y="162641"/>
                    <a:pt x="2429591" y="209550"/>
                    <a:pt x="2371725" y="209550"/>
                  </a:cubicBezTo>
                  <a:lnTo>
                    <a:pt x="104775" y="209550"/>
                  </a:lnTo>
                  <a:cubicBezTo>
                    <a:pt x="46909" y="209550"/>
                    <a:pt x="0" y="162641"/>
                    <a:pt x="0" y="104775"/>
                  </a:cubicBezTo>
                  <a:lnTo>
                    <a:pt x="0" y="104775"/>
                  </a:lnTo>
                  <a:cubicBezTo>
                    <a:pt x="0" y="46909"/>
                    <a:pt x="46909" y="0"/>
                    <a:pt x="1047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800100" y="3543300"/>
              <a:ext cx="1123950" cy="209550"/>
            </a:xfrm>
            <a:custGeom>
              <a:avLst/>
              <a:gdLst/>
              <a:ahLst/>
              <a:cxnLst/>
              <a:rect l="l" t="t" r="r" b="b"/>
              <a:pathLst>
                <a:path w="1123950" h="209550">
                  <a:moveTo>
                    <a:pt x="104775" y="0"/>
                  </a:moveTo>
                  <a:lnTo>
                    <a:pt x="1019175" y="0"/>
                  </a:lnTo>
                  <a:cubicBezTo>
                    <a:pt x="1077041" y="0"/>
                    <a:pt x="1123950" y="46909"/>
                    <a:pt x="1123950" y="104775"/>
                  </a:cubicBezTo>
                  <a:lnTo>
                    <a:pt x="1123950" y="104775"/>
                  </a:lnTo>
                  <a:cubicBezTo>
                    <a:pt x="1123950" y="162641"/>
                    <a:pt x="1077041" y="209550"/>
                    <a:pt x="1019175" y="209550"/>
                  </a:cubicBezTo>
                  <a:lnTo>
                    <a:pt x="104775" y="209550"/>
                  </a:lnTo>
                  <a:cubicBezTo>
                    <a:pt x="46909" y="209550"/>
                    <a:pt x="0" y="162641"/>
                    <a:pt x="0" y="104775"/>
                  </a:cubicBezTo>
                  <a:lnTo>
                    <a:pt x="0" y="104775"/>
                  </a:lnTo>
                  <a:cubicBezTo>
                    <a:pt x="0" y="46909"/>
                    <a:pt x="46909" y="0"/>
                    <a:pt x="104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8896350" y="3543300"/>
              <a:ext cx="2476500" cy="209550"/>
            </a:xfrm>
            <a:custGeom>
              <a:avLst/>
              <a:gdLst/>
              <a:ahLst/>
              <a:cxnLst/>
              <a:rect l="l" t="t" r="r" b="b"/>
              <a:pathLst>
                <a:path w="2476500" h="209550">
                  <a:moveTo>
                    <a:pt x="104775" y="0"/>
                  </a:moveTo>
                  <a:lnTo>
                    <a:pt x="2371725" y="0"/>
                  </a:lnTo>
                  <a:cubicBezTo>
                    <a:pt x="2429591" y="0"/>
                    <a:pt x="2476500" y="46909"/>
                    <a:pt x="2476500" y="104775"/>
                  </a:cubicBezTo>
                  <a:lnTo>
                    <a:pt x="2476500" y="104775"/>
                  </a:lnTo>
                  <a:cubicBezTo>
                    <a:pt x="2476500" y="162641"/>
                    <a:pt x="2429591" y="209550"/>
                    <a:pt x="2371725" y="209550"/>
                  </a:cubicBezTo>
                  <a:lnTo>
                    <a:pt x="104775" y="209550"/>
                  </a:lnTo>
                  <a:cubicBezTo>
                    <a:pt x="46909" y="209550"/>
                    <a:pt x="0" y="162641"/>
                    <a:pt x="0" y="104775"/>
                  </a:cubicBezTo>
                  <a:lnTo>
                    <a:pt x="0" y="104775"/>
                  </a:lnTo>
                  <a:cubicBezTo>
                    <a:pt x="0" y="46909"/>
                    <a:pt x="46909" y="0"/>
                    <a:pt x="1047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8896350" y="3543300"/>
              <a:ext cx="2038350" cy="209550"/>
            </a:xfrm>
            <a:custGeom>
              <a:avLst/>
              <a:gdLst/>
              <a:ahLst/>
              <a:cxnLst/>
              <a:rect l="l" t="t" r="r" b="b"/>
              <a:pathLst>
                <a:path w="2038350" h="209550">
                  <a:moveTo>
                    <a:pt x="104775" y="0"/>
                  </a:moveTo>
                  <a:lnTo>
                    <a:pt x="1933575" y="0"/>
                  </a:lnTo>
                  <a:cubicBezTo>
                    <a:pt x="1991441" y="0"/>
                    <a:pt x="2038350" y="46909"/>
                    <a:pt x="2038350" y="104775"/>
                  </a:cubicBezTo>
                  <a:lnTo>
                    <a:pt x="2038350" y="104775"/>
                  </a:lnTo>
                  <a:cubicBezTo>
                    <a:pt x="2038350" y="162641"/>
                    <a:pt x="1991441" y="209550"/>
                    <a:pt x="1933575" y="209550"/>
                  </a:cubicBezTo>
                  <a:lnTo>
                    <a:pt x="104775" y="209550"/>
                  </a:lnTo>
                  <a:cubicBezTo>
                    <a:pt x="46909" y="209550"/>
                    <a:pt x="0" y="162641"/>
                    <a:pt x="0" y="104775"/>
                  </a:cubicBezTo>
                  <a:lnTo>
                    <a:pt x="0" y="104775"/>
                  </a:lnTo>
                  <a:cubicBezTo>
                    <a:pt x="0" y="46909"/>
                    <a:pt x="46909" y="0"/>
                    <a:pt x="1047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94766" y="33347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协同程度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519410" y="33347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经营闭环强度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914400" y="22288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57150" y="0"/>
                  </a:moveTo>
                  <a:lnTo>
                    <a:pt x="171450" y="0"/>
                  </a:lnTo>
                  <a:cubicBezTo>
                    <a:pt x="203013" y="0"/>
                    <a:pt x="228600" y="25587"/>
                    <a:pt x="228600" y="57150"/>
                  </a:cubicBezTo>
                  <a:lnTo>
                    <a:pt x="228600" y="171450"/>
                  </a:lnTo>
                  <a:cubicBezTo>
                    <a:pt x="228600" y="203013"/>
                    <a:pt x="203013" y="228600"/>
                    <a:pt x="171450" y="228600"/>
                  </a:cubicBezTo>
                  <a:lnTo>
                    <a:pt x="57150" y="228600"/>
                  </a:lnTo>
                  <a:cubicBezTo>
                    <a:pt x="25587" y="228600"/>
                    <a:pt x="0" y="203013"/>
                    <a:pt x="0" y="1714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971550" y="2286000"/>
              <a:ext cx="171450" cy="57150"/>
            </a:xfrm>
            <a:custGeom>
              <a:avLst/>
              <a:gdLst/>
              <a:ahLst/>
              <a:cxnLst/>
              <a:rect l="l" t="t" r="r" b="b"/>
              <a:pathLst>
                <a:path w="171450" h="57150">
                  <a:moveTo>
                    <a:pt x="0" y="57150"/>
                  </a:moveTo>
                  <a:lnTo>
                    <a:pt x="57150" y="0"/>
                  </a:lnTo>
                  <a:lnTo>
                    <a:pt x="114300" y="57150"/>
                  </a:lnTo>
                  <a:lnTo>
                    <a:pt x="1714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3162300" y="22288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57150" y="0"/>
                  </a:moveTo>
                  <a:lnTo>
                    <a:pt x="171450" y="0"/>
                  </a:lnTo>
                  <a:cubicBezTo>
                    <a:pt x="203013" y="0"/>
                    <a:pt x="228600" y="25587"/>
                    <a:pt x="228600" y="57150"/>
                  </a:cubicBezTo>
                  <a:lnTo>
                    <a:pt x="228600" y="171450"/>
                  </a:lnTo>
                  <a:cubicBezTo>
                    <a:pt x="228600" y="203013"/>
                    <a:pt x="203013" y="228600"/>
                    <a:pt x="171450" y="228600"/>
                  </a:cubicBezTo>
                  <a:lnTo>
                    <a:pt x="57150" y="228600"/>
                  </a:lnTo>
                  <a:cubicBezTo>
                    <a:pt x="25587" y="228600"/>
                    <a:pt x="0" y="203013"/>
                    <a:pt x="0" y="1714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3219450" y="229552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lnTo>
                    <a:pt x="114300" y="57150"/>
                  </a:lnTo>
                  <a:moveTo>
                    <a:pt x="57150" y="0"/>
                  </a:moveTo>
                  <a:lnTo>
                    <a:pt x="57150" y="1143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6515100" y="22288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57150" y="0"/>
                  </a:moveTo>
                  <a:lnTo>
                    <a:pt x="171450" y="0"/>
                  </a:lnTo>
                  <a:cubicBezTo>
                    <a:pt x="203013" y="0"/>
                    <a:pt x="228600" y="25587"/>
                    <a:pt x="228600" y="57150"/>
                  </a:cubicBezTo>
                  <a:lnTo>
                    <a:pt x="228600" y="171450"/>
                  </a:lnTo>
                  <a:cubicBezTo>
                    <a:pt x="228600" y="203013"/>
                    <a:pt x="203013" y="228600"/>
                    <a:pt x="171450" y="228600"/>
                  </a:cubicBezTo>
                  <a:lnTo>
                    <a:pt x="57150" y="228600"/>
                  </a:lnTo>
                  <a:cubicBezTo>
                    <a:pt x="25587" y="228600"/>
                    <a:pt x="0" y="203013"/>
                    <a:pt x="0" y="1714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6572250" y="2305050"/>
              <a:ext cx="171450" cy="57150"/>
            </a:xfrm>
            <a:custGeom>
              <a:avLst/>
              <a:gdLst/>
              <a:ahLst/>
              <a:cxnLst/>
              <a:rect l="l" t="t" r="r" b="b"/>
              <a:pathLst>
                <a:path w="171450" h="57150">
                  <a:moveTo>
                    <a:pt x="0" y="57150"/>
                  </a:moveTo>
                  <a:lnTo>
                    <a:pt x="57150" y="0"/>
                  </a:lnTo>
                  <a:lnTo>
                    <a:pt x="114300" y="57150"/>
                  </a:lnTo>
                  <a:lnTo>
                    <a:pt x="1714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8763000" y="22288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57150" y="0"/>
                  </a:moveTo>
                  <a:lnTo>
                    <a:pt x="171450" y="0"/>
                  </a:lnTo>
                  <a:cubicBezTo>
                    <a:pt x="203013" y="0"/>
                    <a:pt x="228600" y="25587"/>
                    <a:pt x="228600" y="57150"/>
                  </a:cubicBezTo>
                  <a:lnTo>
                    <a:pt x="228600" y="171450"/>
                  </a:lnTo>
                  <a:cubicBezTo>
                    <a:pt x="228600" y="203013"/>
                    <a:pt x="203013" y="228600"/>
                    <a:pt x="171450" y="228600"/>
                  </a:cubicBezTo>
                  <a:lnTo>
                    <a:pt x="57150" y="228600"/>
                  </a:lnTo>
                  <a:cubicBezTo>
                    <a:pt x="25587" y="228600"/>
                    <a:pt x="0" y="203013"/>
                    <a:pt x="0" y="1714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8820150" y="229552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lnTo>
                    <a:pt x="114300" y="57150"/>
                  </a:lnTo>
                  <a:moveTo>
                    <a:pt x="76200" y="0"/>
                  </a:moveTo>
                  <a:lnTo>
                    <a:pt x="76200" y="1143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762000" y="6153150"/>
            <a:ext cx="10799826" cy="272987"/>
            <a:chOff x="762000" y="6153150"/>
            <a:chExt cx="10799826" cy="272987"/>
          </a:xfrm>
        </p:grpSpPr>
        <p:sp>
          <p:nvSpPr>
            <p:cNvPr id="77" name="Freeform 77"/>
            <p:cNvSpPr/>
            <p:nvPr/>
          </p:nvSpPr>
          <p:spPr>
            <a:xfrm>
              <a:off x="762000" y="6153150"/>
              <a:ext cx="10668000" cy="266700"/>
            </a:xfrm>
            <a:custGeom>
              <a:avLst/>
              <a:gdLst/>
              <a:ahLst/>
              <a:cxnLst/>
              <a:rect l="l" t="t" r="r" b="b"/>
              <a:pathLst>
                <a:path w="10668000" h="266700">
                  <a:moveTo>
                    <a:pt x="76200" y="0"/>
                  </a:moveTo>
                  <a:lnTo>
                    <a:pt x="10591800" y="0"/>
                  </a:lnTo>
                  <a:cubicBezTo>
                    <a:pt x="10633884" y="0"/>
                    <a:pt x="10668000" y="34116"/>
                    <a:pt x="10668000" y="76200"/>
                  </a:cubicBezTo>
                  <a:lnTo>
                    <a:pt x="10668000" y="190500"/>
                  </a:lnTo>
                  <a:cubicBezTo>
                    <a:pt x="10668000" y="232584"/>
                    <a:pt x="10633884" y="266700"/>
                    <a:pt x="10591800" y="266700"/>
                  </a:cubicBezTo>
                  <a:lnTo>
                    <a:pt x="76200" y="266700"/>
                  </a:lnTo>
                  <a:cubicBezTo>
                    <a:pt x="34116" y="266700"/>
                    <a:pt x="0" y="232584"/>
                    <a:pt x="0" y="1905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47166" y="6220778"/>
              <a:ext cx="106146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模块对照: 数据整合从多源割裂到统一客户视图；AI 分析从事后报表到实时决策建议；自动化执行从人工编排到规则驱动触达；效果度量从渠道视角到经营视角。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71500" y="1123950"/>
              <a:ext cx="11049000" cy="5162550"/>
            </a:xfrm>
            <a:custGeom>
              <a:avLst/>
              <a:gdLst/>
              <a:ahLst/>
              <a:cxnLst/>
              <a:rect l="l" t="t" r="r" b="b"/>
              <a:pathLst>
                <a:path w="11049000" h="5162550">
                  <a:moveTo>
                    <a:pt x="152400" y="0"/>
                  </a:moveTo>
                  <a:lnTo>
                    <a:pt x="10896600" y="0"/>
                  </a:lnTo>
                  <a:cubicBezTo>
                    <a:pt x="10980768" y="0"/>
                    <a:pt x="11049000" y="68232"/>
                    <a:pt x="11049000" y="152400"/>
                  </a:cubicBezTo>
                  <a:lnTo>
                    <a:pt x="11049000" y="5010150"/>
                  </a:lnTo>
                  <a:cubicBezTo>
                    <a:pt x="11049000" y="5094318"/>
                    <a:pt x="10980768" y="5162550"/>
                    <a:pt x="10896600" y="5162550"/>
                  </a:cubicBezTo>
                  <a:lnTo>
                    <a:pt x="152400" y="5162550"/>
                  </a:lnTo>
                  <a:cubicBezTo>
                    <a:pt x="68232" y="5162550"/>
                    <a:pt x="0" y="5094318"/>
                    <a:pt x="0" y="50101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876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096000" y="1123950"/>
              <a:ext cx="9525" cy="5162550"/>
            </a:xfrm>
            <a:custGeom>
              <a:avLst/>
              <a:gdLst/>
              <a:ahLst/>
              <a:cxnLst/>
              <a:rect l="l" t="t" r="r" b="b"/>
              <a:pathLst>
                <a:path w="9525" h="5162550">
                  <a:moveTo>
                    <a:pt x="0" y="0"/>
                  </a:moveTo>
                  <a:lnTo>
                    <a:pt x="0" y="516255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19150" y="447675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362700" y="447675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23900" y="1219200"/>
              <a:ext cx="5219700" cy="3086100"/>
            </a:xfrm>
            <a:custGeom>
              <a:avLst/>
              <a:gdLst/>
              <a:ahLst/>
              <a:cxnLst/>
              <a:rect l="l" t="t" r="r" b="b"/>
              <a:pathLst>
                <a:path w="5219700" h="3086100">
                  <a:moveTo>
                    <a:pt x="133350" y="0"/>
                  </a:moveTo>
                  <a:lnTo>
                    <a:pt x="5086350" y="0"/>
                  </a:lnTo>
                  <a:cubicBezTo>
                    <a:pt x="5159997" y="0"/>
                    <a:pt x="5219700" y="59703"/>
                    <a:pt x="5219700" y="133350"/>
                  </a:cubicBezTo>
                  <a:lnTo>
                    <a:pt x="5219700" y="2952750"/>
                  </a:lnTo>
                  <a:cubicBezTo>
                    <a:pt x="5219700" y="3026397"/>
                    <a:pt x="5159997" y="3086100"/>
                    <a:pt x="5086350" y="3086100"/>
                  </a:cubicBezTo>
                  <a:lnTo>
                    <a:pt x="133350" y="3086100"/>
                  </a:lnTo>
                  <a:cubicBezTo>
                    <a:pt x="59703" y="3086100"/>
                    <a:pt x="0" y="3026397"/>
                    <a:pt x="0" y="2952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1"/>
            </a:gradFill>
            <a:ln w="11430">
              <a:solidFill>
                <a:schemeClr val="accent4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6248400" y="1219200"/>
              <a:ext cx="5219700" cy="3086100"/>
            </a:xfrm>
            <a:custGeom>
              <a:avLst/>
              <a:gdLst/>
              <a:ahLst/>
              <a:cxnLst/>
              <a:rect l="l" t="t" r="r" b="b"/>
              <a:pathLst>
                <a:path w="5219700" h="3086100">
                  <a:moveTo>
                    <a:pt x="133350" y="0"/>
                  </a:moveTo>
                  <a:lnTo>
                    <a:pt x="5086350" y="0"/>
                  </a:lnTo>
                  <a:cubicBezTo>
                    <a:pt x="5159997" y="0"/>
                    <a:pt x="5219700" y="59703"/>
                    <a:pt x="5219700" y="133350"/>
                  </a:cubicBezTo>
                  <a:lnTo>
                    <a:pt x="5219700" y="2952750"/>
                  </a:lnTo>
                  <a:cubicBezTo>
                    <a:pt x="5219700" y="3026397"/>
                    <a:pt x="5159997" y="3086100"/>
                    <a:pt x="5086350" y="3086100"/>
                  </a:cubicBezTo>
                  <a:lnTo>
                    <a:pt x="133350" y="3086100"/>
                  </a:lnTo>
                  <a:cubicBezTo>
                    <a:pt x="59703" y="3086100"/>
                    <a:pt x="0" y="3026397"/>
                    <a:pt x="0" y="2952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23900" y="4648200"/>
              <a:ext cx="5219700" cy="1485900"/>
            </a:xfrm>
            <a:custGeom>
              <a:avLst/>
              <a:gdLst/>
              <a:ahLst/>
              <a:cxnLst/>
              <a:rect l="l" t="t" r="r" b="b"/>
              <a:pathLst>
                <a:path w="5219700" h="1485900">
                  <a:moveTo>
                    <a:pt x="133350" y="0"/>
                  </a:moveTo>
                  <a:lnTo>
                    <a:pt x="5086350" y="0"/>
                  </a:lnTo>
                  <a:cubicBezTo>
                    <a:pt x="5159997" y="0"/>
                    <a:pt x="5219700" y="59703"/>
                    <a:pt x="5219700" y="133350"/>
                  </a:cubicBezTo>
                  <a:lnTo>
                    <a:pt x="5219700" y="1352550"/>
                  </a:lnTo>
                  <a:cubicBezTo>
                    <a:pt x="5219700" y="1426197"/>
                    <a:pt x="5159997" y="1485900"/>
                    <a:pt x="5086350" y="1485900"/>
                  </a:cubicBezTo>
                  <a:lnTo>
                    <a:pt x="133350" y="1485900"/>
                  </a:lnTo>
                  <a:cubicBezTo>
                    <a:pt x="59703" y="1485900"/>
                    <a:pt x="0" y="1426197"/>
                    <a:pt x="0" y="13525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248400" y="4648200"/>
              <a:ext cx="5219700" cy="1485900"/>
            </a:xfrm>
            <a:custGeom>
              <a:avLst/>
              <a:gdLst/>
              <a:ahLst/>
              <a:cxnLst/>
              <a:rect l="l" t="t" r="r" b="b"/>
              <a:pathLst>
                <a:path w="5219700" h="1485900">
                  <a:moveTo>
                    <a:pt x="133350" y="0"/>
                  </a:moveTo>
                  <a:lnTo>
                    <a:pt x="5086350" y="0"/>
                  </a:lnTo>
                  <a:cubicBezTo>
                    <a:pt x="5159997" y="0"/>
                    <a:pt x="5219700" y="59703"/>
                    <a:pt x="5219700" y="133350"/>
                  </a:cubicBezTo>
                  <a:lnTo>
                    <a:pt x="5219700" y="1352550"/>
                  </a:lnTo>
                  <a:cubicBezTo>
                    <a:pt x="5219700" y="1426197"/>
                    <a:pt x="5159997" y="1485900"/>
                    <a:pt x="5086350" y="1485900"/>
                  </a:cubicBezTo>
                  <a:lnTo>
                    <a:pt x="133350" y="1485900"/>
                  </a:lnTo>
                  <a:cubicBezTo>
                    <a:pt x="59703" y="1485900"/>
                    <a:pt x="0" y="1426197"/>
                    <a:pt x="0" y="13525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57784" y="351949"/>
            <a:ext cx="11302403" cy="6274117"/>
            <a:chOff x="557784" y="351949"/>
            <a:chExt cx="11302403" cy="6274117"/>
          </a:xfrm>
        </p:grpSpPr>
        <p:sp>
          <p:nvSpPr>
            <p:cNvPr id="13" name="TextBox 13"/>
            <p:cNvSpPr txBox="1"/>
            <p:nvPr/>
          </p:nvSpPr>
          <p:spPr>
            <a:xfrm>
              <a:off x="566547" y="351949"/>
              <a:ext cx="8805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PROOFGRID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7784" y="47053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立项依据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53612" y="369570"/>
              <a:ext cx="20065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/ 产品发布场景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738" y="64641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58438" y="6464141"/>
              <a:ext cx="13011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Marketing Workbench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04494" y="1446848"/>
            <a:ext cx="10400980" cy="4444936"/>
            <a:chOff x="904494" y="1446848"/>
            <a:chExt cx="10400980" cy="4444936"/>
          </a:xfrm>
        </p:grpSpPr>
        <p:sp>
          <p:nvSpPr>
            <p:cNvPr id="19" name="TextBox 19"/>
            <p:cNvSpPr txBox="1"/>
            <p:nvPr/>
          </p:nvSpPr>
          <p:spPr>
            <a:xfrm>
              <a:off x="904494" y="1446848"/>
              <a:ext cx="41543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管理层真正购买的是增长操作系统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6780" y="187642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对管理层最有价值的不是多一个营销系统，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6780" y="216217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而是获得可持续复用的增长操作系统。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914400" y="2514600"/>
              <a:ext cx="2095500" cy="838200"/>
            </a:xfrm>
            <a:custGeom>
              <a:avLst/>
              <a:gdLst/>
              <a:ahLst/>
              <a:cxnLst/>
              <a:rect l="l" t="t" r="r" b="b"/>
              <a:pathLst>
                <a:path w="2095500" h="83820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723900"/>
                  </a:lnTo>
                  <a:cubicBezTo>
                    <a:pt x="2095500" y="787026"/>
                    <a:pt x="2044326" y="838200"/>
                    <a:pt x="1981200" y="838200"/>
                  </a:cubicBezTo>
                  <a:lnTo>
                    <a:pt x="114300" y="838200"/>
                  </a:lnTo>
                  <a:cubicBezTo>
                    <a:pt x="51174" y="838200"/>
                    <a:pt x="0" y="787026"/>
                    <a:pt x="0" y="7239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162300" y="2514600"/>
              <a:ext cx="2095500" cy="838200"/>
            </a:xfrm>
            <a:custGeom>
              <a:avLst/>
              <a:gdLst/>
              <a:ahLst/>
              <a:cxnLst/>
              <a:rect l="l" t="t" r="r" b="b"/>
              <a:pathLst>
                <a:path w="2095500" h="83820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723900"/>
                  </a:lnTo>
                  <a:cubicBezTo>
                    <a:pt x="2095500" y="787026"/>
                    <a:pt x="2044326" y="838200"/>
                    <a:pt x="1981200" y="838200"/>
                  </a:cubicBezTo>
                  <a:lnTo>
                    <a:pt x="114300" y="838200"/>
                  </a:lnTo>
                  <a:cubicBezTo>
                    <a:pt x="51174" y="838200"/>
                    <a:pt x="0" y="787026"/>
                    <a:pt x="0" y="7239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5410200" y="29337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514975" y="28860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733550" y="2705100"/>
              <a:ext cx="457200" cy="45720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838325" y="2819400"/>
              <a:ext cx="257175" cy="142875"/>
            </a:xfrm>
            <a:custGeom>
              <a:avLst/>
              <a:gdLst/>
              <a:ahLst/>
              <a:cxnLst/>
              <a:rect l="l" t="t" r="r" b="b"/>
              <a:pathLst>
                <a:path w="257175" h="142875">
                  <a:moveTo>
                    <a:pt x="0" y="142875"/>
                  </a:moveTo>
                  <a:lnTo>
                    <a:pt x="76200" y="57150"/>
                  </a:lnTo>
                  <a:lnTo>
                    <a:pt x="152400" y="114300"/>
                  </a:lnTo>
                  <a:lnTo>
                    <a:pt x="257175" y="0"/>
                  </a:lnTo>
                </a:path>
              </a:pathLst>
            </a:custGeom>
            <a:noFill/>
            <a:ln w="20955" cap="rnd">
              <a:solidFill>
                <a:schemeClr val="accent2"/>
              </a:solidFill>
              <a:round/>
            </a:ln>
          </p:spPr>
        </p:sp>
        <p:sp>
          <p:nvSpPr>
            <p:cNvPr id="28" name="Line 28"/>
            <p:cNvSpPr/>
            <p:nvPr/>
          </p:nvSpPr>
          <p:spPr>
            <a:xfrm>
              <a:off x="1828800" y="302895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5240">
              <a:solidFill>
                <a:schemeClr val="accent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61235" y="2669381"/>
              <a:ext cx="1601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价值先体现在线索效率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61235" y="2888456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与决策速度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981450" y="2705100"/>
              <a:ext cx="457200" cy="457200"/>
            </a:xfrm>
            <a:prstGeom prst="ellipse">
              <a:avLst/>
            </a:prstGeom>
            <a:solidFill>
              <a:srgbClr val="FFF5F5"/>
            </a:solidFill>
            <a:ln w="14288">
              <a:solidFill>
                <a:srgbClr val="C5303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4114800" y="2800350"/>
              <a:ext cx="190500" cy="266700"/>
            </a:xfrm>
            <a:custGeom>
              <a:avLst/>
              <a:gdLst/>
              <a:ahLst/>
              <a:cxnLst/>
              <a:rect l="l" t="t" r="r" b="b"/>
              <a:pathLst>
                <a:path w="190500" h="266700">
                  <a:moveTo>
                    <a:pt x="0" y="266700"/>
                  </a:moveTo>
                  <a:lnTo>
                    <a:pt x="190500" y="0"/>
                  </a:lnTo>
                </a:path>
              </a:pathLst>
            </a:custGeom>
            <a:noFill/>
            <a:ln w="20955" cap="rnd">
              <a:solidFill>
                <a:srgbClr val="C5303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4114800" y="2800350"/>
              <a:ext cx="190500" cy="266700"/>
            </a:xfrm>
            <a:custGeom>
              <a:avLst/>
              <a:gdLst/>
              <a:ahLst/>
              <a:cxnLst/>
              <a:rect l="l" t="t" r="r" b="b"/>
              <a:pathLst>
                <a:path w="190500" h="266700">
                  <a:moveTo>
                    <a:pt x="0" y="0"/>
                  </a:moveTo>
                  <a:lnTo>
                    <a:pt x="190500" y="266700"/>
                  </a:lnTo>
                </a:path>
              </a:pathLst>
            </a:custGeom>
            <a:noFill/>
            <a:ln w="20955" cap="rnd">
              <a:solidFill>
                <a:srgbClr val="C53030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095750" y="2819400"/>
              <a:ext cx="228600" cy="228600"/>
            </a:xfrm>
            <a:prstGeom prst="ellipse">
              <a:avLst/>
            </a:prstGeom>
            <a:noFill/>
            <a:ln w="15240">
              <a:solidFill>
                <a:srgbClr val="C5303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509135" y="2669381"/>
              <a:ext cx="1760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风险主要集中在数据治理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09135" y="2888456"/>
              <a:ext cx="965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与自动化失控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7923" y="3729514"/>
              <a:ext cx="63636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市场、销售与运营围绕同一客户视图协作，减少跨系统对账、手工导表与口径争议。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7923" y="4053364"/>
              <a:ext cx="61920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系统优先识别高转化人群、有效内容主题与低效预算项，帮助管理层更快做取舍。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5194" y="14468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事实锚点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6515100" y="1981200"/>
              <a:ext cx="1409700" cy="1943100"/>
            </a:xfrm>
            <a:custGeom>
              <a:avLst/>
              <a:gdLst/>
              <a:ahLst/>
              <a:cxnLst/>
              <a:rect l="l" t="t" r="r" b="b"/>
              <a:pathLst>
                <a:path w="1409700" h="1943100">
                  <a:moveTo>
                    <a:pt x="114300" y="0"/>
                  </a:moveTo>
                  <a:lnTo>
                    <a:pt x="1295400" y="0"/>
                  </a:lnTo>
                  <a:cubicBezTo>
                    <a:pt x="1358526" y="0"/>
                    <a:pt x="1409700" y="51174"/>
                    <a:pt x="1409700" y="114300"/>
                  </a:cubicBezTo>
                  <a:lnTo>
                    <a:pt x="1409700" y="1828800"/>
                  </a:lnTo>
                  <a:cubicBezTo>
                    <a:pt x="1409700" y="1891926"/>
                    <a:pt x="1358526" y="1943100"/>
                    <a:pt x="1295400" y="1943100"/>
                  </a:cubicBezTo>
                  <a:lnTo>
                    <a:pt x="114300" y="1943100"/>
                  </a:lnTo>
                  <a:cubicBezTo>
                    <a:pt x="51174" y="1943100"/>
                    <a:pt x="0" y="1891926"/>
                    <a:pt x="0" y="1828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0478">
              <a:solidFill>
                <a:schemeClr val="accent4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153400" y="1981200"/>
              <a:ext cx="1409700" cy="1943100"/>
            </a:xfrm>
            <a:custGeom>
              <a:avLst/>
              <a:gdLst/>
              <a:ahLst/>
              <a:cxnLst/>
              <a:rect l="l" t="t" r="r" b="b"/>
              <a:pathLst>
                <a:path w="1409700" h="1943100">
                  <a:moveTo>
                    <a:pt x="114300" y="0"/>
                  </a:moveTo>
                  <a:lnTo>
                    <a:pt x="1295400" y="0"/>
                  </a:lnTo>
                  <a:cubicBezTo>
                    <a:pt x="1358526" y="0"/>
                    <a:pt x="1409700" y="51174"/>
                    <a:pt x="1409700" y="114300"/>
                  </a:cubicBezTo>
                  <a:lnTo>
                    <a:pt x="1409700" y="1828800"/>
                  </a:lnTo>
                  <a:cubicBezTo>
                    <a:pt x="1409700" y="1891926"/>
                    <a:pt x="1358526" y="1943100"/>
                    <a:pt x="1295400" y="1943100"/>
                  </a:cubicBezTo>
                  <a:lnTo>
                    <a:pt x="114300" y="1943100"/>
                  </a:lnTo>
                  <a:cubicBezTo>
                    <a:pt x="51174" y="1943100"/>
                    <a:pt x="0" y="1891926"/>
                    <a:pt x="0" y="1828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0478">
              <a:solidFill>
                <a:schemeClr val="accent4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791700" y="1981200"/>
              <a:ext cx="1409700" cy="1943100"/>
            </a:xfrm>
            <a:custGeom>
              <a:avLst/>
              <a:gdLst/>
              <a:ahLst/>
              <a:cxnLst/>
              <a:rect l="l" t="t" r="r" b="b"/>
              <a:pathLst>
                <a:path w="1409700" h="1943100">
                  <a:moveTo>
                    <a:pt x="114300" y="0"/>
                  </a:moveTo>
                  <a:lnTo>
                    <a:pt x="1295400" y="0"/>
                  </a:lnTo>
                  <a:cubicBezTo>
                    <a:pt x="1358526" y="0"/>
                    <a:pt x="1409700" y="51174"/>
                    <a:pt x="1409700" y="114300"/>
                  </a:cubicBezTo>
                  <a:lnTo>
                    <a:pt x="1409700" y="1828800"/>
                  </a:lnTo>
                  <a:cubicBezTo>
                    <a:pt x="1409700" y="1891926"/>
                    <a:pt x="1358526" y="1943100"/>
                    <a:pt x="1295400" y="1943100"/>
                  </a:cubicBezTo>
                  <a:lnTo>
                    <a:pt x="114300" y="1943100"/>
                  </a:lnTo>
                  <a:cubicBezTo>
                    <a:pt x="51174" y="1943100"/>
                    <a:pt x="0" y="1891926"/>
                    <a:pt x="0" y="1828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0478">
              <a:solidFill>
                <a:schemeClr val="accent4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7000875" y="2181225"/>
              <a:ext cx="438150" cy="43815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105650" y="2305050"/>
              <a:ext cx="228600" cy="171450"/>
            </a:xfrm>
            <a:custGeom>
              <a:avLst/>
              <a:gdLst/>
              <a:ahLst/>
              <a:cxnLst/>
              <a:rect l="l" t="t" r="r" b="b"/>
              <a:pathLst>
                <a:path w="228600" h="171450">
                  <a:moveTo>
                    <a:pt x="38100" y="0"/>
                  </a:moveTo>
                  <a:lnTo>
                    <a:pt x="190500" y="0"/>
                  </a:lnTo>
                  <a:cubicBezTo>
                    <a:pt x="211542" y="0"/>
                    <a:pt x="228600" y="17058"/>
                    <a:pt x="228600" y="38100"/>
                  </a:cubicBezTo>
                  <a:lnTo>
                    <a:pt x="228600" y="133350"/>
                  </a:lnTo>
                  <a:cubicBezTo>
                    <a:pt x="228600" y="154392"/>
                    <a:pt x="211542" y="171450"/>
                    <a:pt x="190500" y="171450"/>
                  </a:cubicBezTo>
                  <a:lnTo>
                    <a:pt x="38100" y="171450"/>
                  </a:lnTo>
                  <a:cubicBezTo>
                    <a:pt x="17058" y="171450"/>
                    <a:pt x="0" y="154392"/>
                    <a:pt x="0" y="1333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noFill/>
            <a:ln w="17145">
              <a:solidFill>
                <a:schemeClr val="accent2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7143750" y="23622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5240">
              <a:solidFill>
                <a:schemeClr val="accent2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7143750" y="24193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5240">
              <a:solidFill>
                <a:schemeClr val="accent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10613" y="26174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53028" y="30437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统一入口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90563" y="33156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降低管理摩擦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8639175" y="2181225"/>
              <a:ext cx="438150" cy="43815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743950" y="2324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8896350" y="2324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8810625" y="24288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8753475" y="2505075"/>
              <a:ext cx="209550" cy="66675"/>
            </a:xfrm>
            <a:custGeom>
              <a:avLst/>
              <a:gdLst/>
              <a:ahLst/>
              <a:cxnLst/>
              <a:rect l="l" t="t" r="r" b="b"/>
              <a:pathLst>
                <a:path w="209550" h="66675">
                  <a:moveTo>
                    <a:pt x="0" y="66675"/>
                  </a:moveTo>
                  <a:cubicBezTo>
                    <a:pt x="28575" y="0"/>
                    <a:pt x="180975" y="0"/>
                    <a:pt x="209550" y="66675"/>
                  </a:cubicBezTo>
                </a:path>
              </a:pathLst>
            </a:custGeom>
            <a:noFill/>
            <a:ln w="17145">
              <a:solidFill>
                <a:schemeClr val="accent2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648913" y="26174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51856" y="3043714"/>
              <a:ext cx="6127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洞察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87512" y="33156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提升资源分配质量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10277475" y="2181225"/>
              <a:ext cx="438150" cy="43815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382250" y="2305050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0" y="76200"/>
                  </a:moveTo>
                  <a:lnTo>
                    <a:pt x="76200" y="0"/>
                  </a:lnTo>
                  <a:lnTo>
                    <a:pt x="209550" y="0"/>
                  </a:lnTo>
                  <a:lnTo>
                    <a:pt x="228600" y="133350"/>
                  </a:lnTo>
                  <a:lnTo>
                    <a:pt x="152400" y="209550"/>
                  </a:lnTo>
                  <a:lnTo>
                    <a:pt x="19050" y="209550"/>
                  </a:lnTo>
                  <a:close/>
                </a:path>
              </a:pathLst>
            </a:custGeom>
            <a:noFill/>
            <a:ln w="17145">
              <a:solidFill>
                <a:schemeClr val="accent2"/>
              </a:solidFill>
              <a:round/>
            </a:ln>
          </p:spPr>
        </p:sp>
        <p:sp>
          <p:nvSpPr>
            <p:cNvPr id="60" name="Ellipse 60"/>
            <p:cNvSpPr/>
            <p:nvPr/>
          </p:nvSpPr>
          <p:spPr>
            <a:xfrm>
              <a:off x="10434638" y="2386012"/>
              <a:ext cx="47625" cy="476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287213" y="2617470"/>
              <a:ext cx="41867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39517" y="304371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67163" y="33156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扩大成熟打法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7924800" y="29527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9563100" y="29527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06718" y="475583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预算闭环是最终证明材料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08242" y="514064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将线索、商机、成交与营销动作关联起来，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08242" y="540734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预算讨论从曝光点击转向收入贡献。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9791700" y="4895850"/>
              <a:ext cx="1409700" cy="895350"/>
            </a:xfrm>
            <a:custGeom>
              <a:avLst/>
              <a:gdLst/>
              <a:ahLst/>
              <a:cxnLst/>
              <a:rect l="l" t="t" r="r" b="b"/>
              <a:pathLst>
                <a:path w="1409700" h="895350">
                  <a:moveTo>
                    <a:pt x="114300" y="0"/>
                  </a:moveTo>
                  <a:lnTo>
                    <a:pt x="1295400" y="0"/>
                  </a:lnTo>
                  <a:cubicBezTo>
                    <a:pt x="1358526" y="0"/>
                    <a:pt x="1409700" y="51174"/>
                    <a:pt x="1409700" y="114300"/>
                  </a:cubicBezTo>
                  <a:lnTo>
                    <a:pt x="1409700" y="781050"/>
                  </a:lnTo>
                  <a:cubicBezTo>
                    <a:pt x="1409700" y="844176"/>
                    <a:pt x="1358526" y="895350"/>
                    <a:pt x="1295400" y="895350"/>
                  </a:cubicBezTo>
                  <a:lnTo>
                    <a:pt x="114300" y="895350"/>
                  </a:lnTo>
                  <a:cubicBezTo>
                    <a:pt x="51174" y="895350"/>
                    <a:pt x="0" y="844176"/>
                    <a:pt x="0" y="7810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11430">
              <a:solidFill>
                <a:schemeClr val="accent2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10001250" y="5200650"/>
              <a:ext cx="990600" cy="352425"/>
            </a:xfrm>
            <a:custGeom>
              <a:avLst/>
              <a:gdLst/>
              <a:ahLst/>
              <a:cxnLst/>
              <a:rect l="l" t="t" r="r" b="b"/>
              <a:pathLst>
                <a:path w="990600" h="352425">
                  <a:moveTo>
                    <a:pt x="0" y="352425"/>
                  </a:moveTo>
                  <a:lnTo>
                    <a:pt x="0" y="0"/>
                  </a:lnTo>
                  <a:lnTo>
                    <a:pt x="990600" y="0"/>
                  </a:lnTo>
                </a:path>
              </a:pathLst>
            </a:custGeom>
            <a:noFill/>
            <a:ln w="20955" cap="rnd">
              <a:solidFill>
                <a:schemeClr val="accent2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9953625" y="55054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10287000" y="53244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10572750" y="5257800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10944225" y="5153025"/>
              <a:ext cx="95250" cy="9525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194379" y="49825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收入关联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687626" y="5539740"/>
              <a:ext cx="1617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ROI 可复盘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06018" y="47748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管理层判断逻辑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07542" y="516921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先看是否减少管理摩擦，再看是否提升资源分配质量，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07542" y="54359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最后验证能否把成熟打法沉淀成可复制流程。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5619750" y="2744152"/>
            <a:ext cx="6267450" cy="3415285"/>
            <a:chOff x="5619750" y="2744152"/>
            <a:chExt cx="6267450" cy="3415285"/>
          </a:xfrm>
        </p:grpSpPr>
        <p:sp>
          <p:nvSpPr>
            <p:cNvPr id="81" name="Ellipse 81"/>
            <p:cNvSpPr/>
            <p:nvPr/>
          </p:nvSpPr>
          <p:spPr>
            <a:xfrm>
              <a:off x="5619750" y="28003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687157" y="2851785"/>
              <a:ext cx="1318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A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5886450" y="2933700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17145">
              <a:solidFill>
                <a:schemeClr val="accent2"/>
              </a:solidFill>
              <a:custDash>
                <a:ds d="277777" sp="277777"/>
              </a:custDash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662166" y="27441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价值与风险并列呈现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662166" y="29346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便于立项审查聚焦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11182350" y="5153025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1249757" y="5204460"/>
              <a:ext cx="1318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B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10572750" y="528637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60960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chemeClr val="accent1"/>
              </a:solidFill>
              <a:custDash>
                <a:ds d="277777" sp="277777"/>
              </a:custDash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614916" y="595407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收入归因闭环是预算决策的最终锚点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-495300"/>
            <a:ext cx="12192000" cy="7353300"/>
            <a:chOff x="0" y="-495300"/>
            <a:chExt cx="12192000" cy="73533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552450"/>
              <a:ext cx="11049000" cy="5753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477250" y="-495300"/>
              <a:ext cx="3238500" cy="32385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820275" y="266700"/>
              <a:ext cx="1981200" cy="1981200"/>
            </a:xfrm>
            <a:prstGeom prst="ellipse">
              <a:avLst/>
            </a:prstGeom>
            <a:solidFill>
              <a:schemeClr val="accent3">
                <a:alpha val="6000"/>
              </a:scheme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171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6096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1314450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0" y="0"/>
                  </a:moveTo>
                  <a:lnTo>
                    <a:pt x="11049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799624"/>
            <a:ext cx="10953179" cy="5969317"/>
            <a:chOff x="557784" y="799624"/>
            <a:chExt cx="10953179" cy="5969317"/>
          </a:xfrm>
        </p:grpSpPr>
        <p:sp>
          <p:nvSpPr>
            <p:cNvPr id="10" name="TextBox 10"/>
            <p:cNvSpPr txBox="1"/>
            <p:nvPr/>
          </p:nvSpPr>
          <p:spPr>
            <a:xfrm>
              <a:off x="566547" y="799624"/>
              <a:ext cx="970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9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SIGNALCOUNT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7784" y="109918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核心指标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607016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9270" y="6607016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3880" y="1933575"/>
            <a:ext cx="11056620" cy="4092512"/>
            <a:chOff x="563880" y="1933575"/>
            <a:chExt cx="11056620" cy="4092512"/>
          </a:xfrm>
        </p:grpSpPr>
        <p:sp>
          <p:nvSpPr>
            <p:cNvPr id="15" name="TextBox 15"/>
            <p:cNvSpPr txBox="1"/>
            <p:nvPr/>
          </p:nvSpPr>
          <p:spPr>
            <a:xfrm>
              <a:off x="563880" y="193357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上线后的首阶段目标应聚焦效率、转化、协同与预算透明度四类经营指标。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" y="2457450"/>
              <a:ext cx="5391150" cy="1409700"/>
            </a:xfrm>
            <a:custGeom>
              <a:avLst/>
              <a:gdLst/>
              <a:ahLst/>
              <a:cxnLst/>
              <a:rect l="l" t="t" r="r" b="b"/>
              <a:pathLst>
                <a:path w="5391150" h="1409700">
                  <a:moveTo>
                    <a:pt x="114300" y="0"/>
                  </a:moveTo>
                  <a:lnTo>
                    <a:pt x="5276850" y="0"/>
                  </a:lnTo>
                  <a:cubicBezTo>
                    <a:pt x="5339976" y="0"/>
                    <a:pt x="5391150" y="51174"/>
                    <a:pt x="5391150" y="114300"/>
                  </a:cubicBezTo>
                  <a:lnTo>
                    <a:pt x="5391150" y="1295400"/>
                  </a:lnTo>
                  <a:cubicBezTo>
                    <a:pt x="5391150" y="1358526"/>
                    <a:pt x="5339976" y="1409700"/>
                    <a:pt x="5276850" y="1409700"/>
                  </a:cubicBezTo>
                  <a:lnTo>
                    <a:pt x="114300" y="1409700"/>
                  </a:lnTo>
                  <a:cubicBezTo>
                    <a:pt x="51174" y="1409700"/>
                    <a:pt x="0" y="1358526"/>
                    <a:pt x="0" y="1295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229350" y="2457450"/>
              <a:ext cx="5391150" cy="1409700"/>
            </a:xfrm>
            <a:custGeom>
              <a:avLst/>
              <a:gdLst/>
              <a:ahLst/>
              <a:cxnLst/>
              <a:rect l="l" t="t" r="r" b="b"/>
              <a:pathLst>
                <a:path w="5391150" h="1409700">
                  <a:moveTo>
                    <a:pt x="114300" y="0"/>
                  </a:moveTo>
                  <a:lnTo>
                    <a:pt x="5276850" y="0"/>
                  </a:lnTo>
                  <a:cubicBezTo>
                    <a:pt x="5339976" y="0"/>
                    <a:pt x="5391150" y="51174"/>
                    <a:pt x="5391150" y="114300"/>
                  </a:cubicBezTo>
                  <a:lnTo>
                    <a:pt x="5391150" y="1295400"/>
                  </a:lnTo>
                  <a:cubicBezTo>
                    <a:pt x="5391150" y="1358526"/>
                    <a:pt x="5339976" y="1409700"/>
                    <a:pt x="5276850" y="1409700"/>
                  </a:cubicBezTo>
                  <a:lnTo>
                    <a:pt x="114300" y="1409700"/>
                  </a:lnTo>
                  <a:cubicBezTo>
                    <a:pt x="51174" y="1409700"/>
                    <a:pt x="0" y="1358526"/>
                    <a:pt x="0" y="1295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71500" y="4095750"/>
              <a:ext cx="5391150" cy="1409700"/>
            </a:xfrm>
            <a:custGeom>
              <a:avLst/>
              <a:gdLst/>
              <a:ahLst/>
              <a:cxnLst/>
              <a:rect l="l" t="t" r="r" b="b"/>
              <a:pathLst>
                <a:path w="5391150" h="1409700">
                  <a:moveTo>
                    <a:pt x="114300" y="0"/>
                  </a:moveTo>
                  <a:lnTo>
                    <a:pt x="5276850" y="0"/>
                  </a:lnTo>
                  <a:cubicBezTo>
                    <a:pt x="5339976" y="0"/>
                    <a:pt x="5391150" y="51174"/>
                    <a:pt x="5391150" y="114300"/>
                  </a:cubicBezTo>
                  <a:lnTo>
                    <a:pt x="5391150" y="1295400"/>
                  </a:lnTo>
                  <a:cubicBezTo>
                    <a:pt x="5391150" y="1358526"/>
                    <a:pt x="5339976" y="1409700"/>
                    <a:pt x="5276850" y="1409700"/>
                  </a:cubicBezTo>
                  <a:lnTo>
                    <a:pt x="114300" y="1409700"/>
                  </a:lnTo>
                  <a:cubicBezTo>
                    <a:pt x="51174" y="1409700"/>
                    <a:pt x="0" y="1358526"/>
                    <a:pt x="0" y="1295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229350" y="4095750"/>
              <a:ext cx="5391150" cy="1409700"/>
            </a:xfrm>
            <a:custGeom>
              <a:avLst/>
              <a:gdLst/>
              <a:ahLst/>
              <a:cxnLst/>
              <a:rect l="l" t="t" r="r" b="b"/>
              <a:pathLst>
                <a:path w="5391150" h="1409700">
                  <a:moveTo>
                    <a:pt x="114300" y="0"/>
                  </a:moveTo>
                  <a:lnTo>
                    <a:pt x="5276850" y="0"/>
                  </a:lnTo>
                  <a:cubicBezTo>
                    <a:pt x="5339976" y="0"/>
                    <a:pt x="5391150" y="51174"/>
                    <a:pt x="5391150" y="114300"/>
                  </a:cubicBezTo>
                  <a:lnTo>
                    <a:pt x="5391150" y="1295400"/>
                  </a:lnTo>
                  <a:cubicBezTo>
                    <a:pt x="5391150" y="1358526"/>
                    <a:pt x="5339976" y="1409700"/>
                    <a:pt x="5276850" y="1409700"/>
                  </a:cubicBezTo>
                  <a:lnTo>
                    <a:pt x="114300" y="1409700"/>
                  </a:lnTo>
                  <a:cubicBezTo>
                    <a:pt x="51174" y="1409700"/>
                    <a:pt x="0" y="1358526"/>
                    <a:pt x="0" y="1295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2457450"/>
              <a:ext cx="57150" cy="1409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29350" y="2457450"/>
              <a:ext cx="57150" cy="1409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71500" y="4095750"/>
              <a:ext cx="57150" cy="140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29350" y="4095750"/>
              <a:ext cx="57150" cy="1409700"/>
            </a:xfrm>
            <a:prstGeom prst="rect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1538" y="2684145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75" dirty="0">
                  <a:solidFill>
                    <a:schemeClr val="dk2"/>
                  </a:solidFill>
                  <a:latin typeface="Consolas"/>
                  <a:ea typeface="Microsoft YaHei"/>
                  <a:cs typeface="Consolas"/>
                </a:rPr>
                <a:t>效率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29388" y="2684145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75" dirty="0">
                  <a:solidFill>
                    <a:schemeClr val="dk2"/>
                  </a:solidFill>
                  <a:latin typeface="Consolas"/>
                  <a:ea typeface="Microsoft YaHei"/>
                  <a:cs typeface="Consolas"/>
                </a:rPr>
                <a:t>转化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1538" y="4322445"/>
              <a:ext cx="261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75" dirty="0">
                  <a:solidFill>
                    <a:schemeClr val="dk2"/>
                  </a:solidFill>
                  <a:latin typeface="Consolas"/>
                  <a:ea typeface="Microsoft YaHei"/>
                  <a:cs typeface="Consolas"/>
                </a:rPr>
                <a:t>协同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29388" y="4322445"/>
              <a:ext cx="6557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75" dirty="0">
                  <a:solidFill>
                    <a:schemeClr val="dk2"/>
                  </a:solidFill>
                  <a:latin typeface="Consolas"/>
                  <a:ea typeface="Microsoft YaHei"/>
                  <a:cs typeface="Consolas"/>
                </a:rPr>
                <a:t>预算透明度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1060" y="3028950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30%+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18910" y="3028950"/>
              <a:ext cx="193471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15%~25%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1060" y="4667250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20%+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18910" y="4667250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100%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05406" y="31584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线索响应提速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5706" y="31584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有效线索提升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05406" y="4796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人工操作减少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34706" y="47967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预算可追踪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9823" y="350091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从线索进入到首触达的平均时长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9823" y="37295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显著缩短。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27673" y="3500914"/>
              <a:ext cx="2814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依靠统一分群与 AI 评分，提高销售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27673" y="37295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可跟进线索占比。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9823" y="513921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报表汇总、名单处理、活动编排与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69823" y="536781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内容生成环节自动化。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27673" y="513921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核心渠道与转化结果在同一工作台内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27673" y="53678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统一归因与复盘。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76300" y="3028950"/>
              <a:ext cx="4781550" cy="9525"/>
            </a:xfrm>
            <a:custGeom>
              <a:avLst/>
              <a:gdLst/>
              <a:ahLst/>
              <a:cxnLst/>
              <a:rect l="l" t="t" r="r" b="b"/>
              <a:pathLst>
                <a:path w="4781550" h="9525">
                  <a:moveTo>
                    <a:pt x="0" y="0"/>
                  </a:moveTo>
                  <a:lnTo>
                    <a:pt x="47815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6534150" y="3028950"/>
              <a:ext cx="4781550" cy="9525"/>
            </a:xfrm>
            <a:custGeom>
              <a:avLst/>
              <a:gdLst/>
              <a:ahLst/>
              <a:cxnLst/>
              <a:rect l="l" t="t" r="r" b="b"/>
              <a:pathLst>
                <a:path w="4781550" h="9525">
                  <a:moveTo>
                    <a:pt x="0" y="0"/>
                  </a:moveTo>
                  <a:lnTo>
                    <a:pt x="47815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876300" y="4667250"/>
              <a:ext cx="4781550" cy="9525"/>
            </a:xfrm>
            <a:custGeom>
              <a:avLst/>
              <a:gdLst/>
              <a:ahLst/>
              <a:cxnLst/>
              <a:rect l="l" t="t" r="r" b="b"/>
              <a:pathLst>
                <a:path w="4781550" h="9525">
                  <a:moveTo>
                    <a:pt x="0" y="0"/>
                  </a:moveTo>
                  <a:lnTo>
                    <a:pt x="47815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6534150" y="4667250"/>
              <a:ext cx="4781550" cy="9525"/>
            </a:xfrm>
            <a:custGeom>
              <a:avLst/>
              <a:gdLst/>
              <a:ahLst/>
              <a:cxnLst/>
              <a:rect l="l" t="t" r="r" b="b"/>
              <a:pathLst>
                <a:path w="4781550" h="9525">
                  <a:moveTo>
                    <a:pt x="0" y="0"/>
                  </a:moveTo>
                  <a:lnTo>
                    <a:pt x="47815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71500" y="5753100"/>
              <a:ext cx="11049000" cy="26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6666" y="5820728"/>
              <a:ext cx="48166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经营例会优先跟踪平台可直接影响的变量，并同步呈现关键数字与压力指标。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446008" y="839152"/>
            <a:ext cx="2450592" cy="681609"/>
            <a:chOff x="8446008" y="839152"/>
            <a:chExt cx="2450592" cy="681609"/>
          </a:xfrm>
        </p:grpSpPr>
        <p:sp>
          <p:nvSpPr>
            <p:cNvPr id="51" name="Ellipse 51"/>
            <p:cNvSpPr/>
            <p:nvPr/>
          </p:nvSpPr>
          <p:spPr>
            <a:xfrm>
              <a:off x="10820400" y="8763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Line 52"/>
            <p:cNvSpPr/>
            <p:nvPr/>
          </p:nvSpPr>
          <p:spPr>
            <a:xfrm>
              <a:off x="9810750" y="9144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9525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539105" y="839152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聚焦 4 个经营信号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10629900" y="13525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5" name="Line 55"/>
            <p:cNvSpPr/>
            <p:nvPr/>
          </p:nvSpPr>
          <p:spPr>
            <a:xfrm>
              <a:off x="9696450" y="1390650"/>
              <a:ext cx="876300" cy="9525"/>
            </a:xfrm>
            <a:custGeom>
              <a:avLst/>
              <a:gdLst/>
              <a:ahLst/>
              <a:cxnLst/>
              <a:rect l="l" t="t" r="r" b="b"/>
              <a:pathLst>
                <a:path w="876300" h="9525">
                  <a:moveTo>
                    <a:pt x="8763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46008" y="1315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管理层可直接读数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-19050"/>
            <a:ext cx="12192000" cy="6877050"/>
            <a:chOff x="0" y="-19050"/>
            <a:chExt cx="12192000" cy="68770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71500" y="476250"/>
              <a:ext cx="11049000" cy="5905500"/>
            </a:xfrm>
            <a:custGeom>
              <a:avLst/>
              <a:gdLst/>
              <a:ahLst/>
              <a:cxnLst/>
              <a:rect l="l" t="t" r="r" b="b"/>
              <a:pathLst>
                <a:path w="11049000" h="5905500">
                  <a:moveTo>
                    <a:pt x="133350" y="0"/>
                  </a:moveTo>
                  <a:lnTo>
                    <a:pt x="10915650" y="0"/>
                  </a:lnTo>
                  <a:cubicBezTo>
                    <a:pt x="10989297" y="0"/>
                    <a:pt x="11049000" y="59703"/>
                    <a:pt x="11049000" y="133350"/>
                  </a:cubicBezTo>
                  <a:lnTo>
                    <a:pt x="11049000" y="5772150"/>
                  </a:lnTo>
                  <a:cubicBezTo>
                    <a:pt x="11049000" y="5845797"/>
                    <a:pt x="10989297" y="5905500"/>
                    <a:pt x="10915650" y="5905500"/>
                  </a:cubicBezTo>
                  <a:lnTo>
                    <a:pt x="133350" y="5905500"/>
                  </a:lnTo>
                  <a:cubicBezTo>
                    <a:pt x="59703" y="5905500"/>
                    <a:pt x="0" y="5845797"/>
                    <a:pt x="0" y="577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8191500" y="381000"/>
              <a:ext cx="3619500" cy="2667000"/>
            </a:xfrm>
            <a:custGeom>
              <a:avLst/>
              <a:gdLst/>
              <a:ahLst/>
              <a:cxnLst/>
              <a:rect l="l" t="t" r="r" b="b"/>
              <a:pathLst>
                <a:path w="3619500" h="2667000">
                  <a:moveTo>
                    <a:pt x="0" y="0"/>
                  </a:moveTo>
                  <a:cubicBezTo>
                    <a:pt x="1619250" y="285750"/>
                    <a:pt x="3048000" y="1047750"/>
                    <a:pt x="3619500" y="2667000"/>
                  </a:cubicBezTo>
                </a:path>
              </a:pathLst>
            </a:custGeom>
            <a:noFill/>
            <a:ln w="11430">
              <a:solidFill>
                <a:schemeClr val="accent3">
                  <a:alpha val="18000"/>
                </a:schemeClr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7905750" y="838200"/>
              <a:ext cx="3381375" cy="2781300"/>
            </a:xfrm>
            <a:custGeom>
              <a:avLst/>
              <a:gdLst/>
              <a:ahLst/>
              <a:cxnLst/>
              <a:rect l="l" t="t" r="r" b="b"/>
              <a:pathLst>
                <a:path w="3381375" h="2781300">
                  <a:moveTo>
                    <a:pt x="0" y="0"/>
                  </a:moveTo>
                  <a:cubicBezTo>
                    <a:pt x="1714500" y="400050"/>
                    <a:pt x="2857500" y="1352550"/>
                    <a:pt x="3381375" y="2781300"/>
                  </a:cubicBezTo>
                </a:path>
              </a:pathLst>
            </a:custGeom>
            <a:noFill/>
            <a:ln w="9525">
              <a:solidFill>
                <a:schemeClr val="accent2">
                  <a:alpha val="12000"/>
                </a:scheme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763000" y="-19050"/>
              <a:ext cx="2286000" cy="2286000"/>
            </a:xfrm>
            <a:prstGeom prst="ellipse">
              <a:avLst/>
            </a:prstGeom>
            <a:solidFill>
              <a:schemeClr val="accent2">
                <a:alpha val="5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886950" y="742950"/>
              <a:ext cx="1371600" cy="1371600"/>
            </a:xfrm>
            <a:prstGeom prst="ellipse">
              <a:avLst/>
            </a:prstGeom>
            <a:solidFill>
              <a:schemeClr val="accent3">
                <a:alpha val="6000"/>
              </a:scheme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1257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713899"/>
            <a:ext cx="10820820" cy="5816917"/>
            <a:chOff x="557784" y="713899"/>
            <a:chExt cx="10820820" cy="5816917"/>
          </a:xfrm>
        </p:grpSpPr>
        <p:sp>
          <p:nvSpPr>
            <p:cNvPr id="10" name="TextBox 10"/>
            <p:cNvSpPr txBox="1"/>
            <p:nvPr/>
          </p:nvSpPr>
          <p:spPr>
            <a:xfrm>
              <a:off x="566547" y="713899"/>
              <a:ext cx="8521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SPREADMAP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7784" y="83248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价值闭环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91738" y="63688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77488" y="63688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3880" y="1476375"/>
            <a:ext cx="10866120" cy="4873562"/>
            <a:chOff x="563880" y="1476375"/>
            <a:chExt cx="10866120" cy="4873562"/>
          </a:xfrm>
        </p:grpSpPr>
        <p:sp>
          <p:nvSpPr>
            <p:cNvPr id="15" name="TextBox 15"/>
            <p:cNvSpPr txBox="1"/>
            <p:nvPr/>
          </p:nvSpPr>
          <p:spPr>
            <a:xfrm>
              <a:off x="563880" y="1476375"/>
              <a:ext cx="8294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平台的核心不是功能堆叠，而是让每一次营销动作都能被数据驱动、自动执行并被结果验证。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" y="2019300"/>
              <a:ext cx="2857500" cy="3848100"/>
            </a:xfrm>
            <a:custGeom>
              <a:avLst/>
              <a:gdLst/>
              <a:ahLst/>
              <a:cxnLst/>
              <a:rect l="l" t="t" r="r" b="b"/>
              <a:pathLst>
                <a:path w="2857500" h="3848100">
                  <a:moveTo>
                    <a:pt x="114300" y="0"/>
                  </a:moveTo>
                  <a:lnTo>
                    <a:pt x="2743200" y="0"/>
                  </a:lnTo>
                  <a:cubicBezTo>
                    <a:pt x="2806326" y="0"/>
                    <a:pt x="2857500" y="51174"/>
                    <a:pt x="2857500" y="114300"/>
                  </a:cubicBezTo>
                  <a:lnTo>
                    <a:pt x="2857500" y="3733800"/>
                  </a:lnTo>
                  <a:cubicBezTo>
                    <a:pt x="2857500" y="3796926"/>
                    <a:pt x="2806326" y="3848100"/>
                    <a:pt x="2743200" y="3848100"/>
                  </a:cubicBezTo>
                  <a:lnTo>
                    <a:pt x="114300" y="3848100"/>
                  </a:lnTo>
                  <a:cubicBezTo>
                    <a:pt x="51174" y="3848100"/>
                    <a:pt x="0" y="3796926"/>
                    <a:pt x="0" y="3733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2104" y="2251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闭环判定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1342" y="25593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四模块首尾相接形成持续优化循环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38200" y="3048000"/>
              <a:ext cx="2324100" cy="666750"/>
            </a:xfrm>
            <a:custGeom>
              <a:avLst/>
              <a:gdLst/>
              <a:ahLst/>
              <a:cxnLst/>
              <a:rect l="l" t="t" r="r" b="b"/>
              <a:pathLst>
                <a:path w="2324100" h="666750">
                  <a:moveTo>
                    <a:pt x="95250" y="0"/>
                  </a:moveTo>
                  <a:lnTo>
                    <a:pt x="2228850" y="0"/>
                  </a:lnTo>
                  <a:cubicBezTo>
                    <a:pt x="2281455" y="0"/>
                    <a:pt x="2324100" y="42645"/>
                    <a:pt x="2324100" y="95250"/>
                  </a:cubicBezTo>
                  <a:lnTo>
                    <a:pt x="2324100" y="571500"/>
                  </a:lnTo>
                  <a:cubicBezTo>
                    <a:pt x="2324100" y="624105"/>
                    <a:pt x="2281455" y="666750"/>
                    <a:pt x="2228850" y="666750"/>
                  </a:cubicBezTo>
                  <a:lnTo>
                    <a:pt x="95250" y="666750"/>
                  </a:lnTo>
                  <a:cubicBezTo>
                    <a:pt x="42645" y="666750"/>
                    <a:pt x="0" y="624105"/>
                    <a:pt x="0" y="571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3366" y="3201352"/>
              <a:ext cx="861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/ 闭环强度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5746" y="3325178"/>
              <a:ext cx="4448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88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2038350" y="3429000"/>
              <a:ext cx="876300" cy="95250"/>
            </a:xfrm>
            <a:custGeom>
              <a:avLst/>
              <a:gdLst/>
              <a:ahLst/>
              <a:cxnLst/>
              <a:rect l="l" t="t" r="r" b="b"/>
              <a:pathLst>
                <a:path w="876300" h="95250">
                  <a:moveTo>
                    <a:pt x="47625" y="0"/>
                  </a:moveTo>
                  <a:lnTo>
                    <a:pt x="828675" y="0"/>
                  </a:lnTo>
                  <a:cubicBezTo>
                    <a:pt x="854978" y="0"/>
                    <a:pt x="876300" y="21322"/>
                    <a:pt x="876300" y="47625"/>
                  </a:cubicBezTo>
                  <a:lnTo>
                    <a:pt x="876300" y="47625"/>
                  </a:lnTo>
                  <a:cubicBezTo>
                    <a:pt x="876300" y="73928"/>
                    <a:pt x="854978" y="95250"/>
                    <a:pt x="8286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038350" y="3429000"/>
              <a:ext cx="771525" cy="95250"/>
            </a:xfrm>
            <a:custGeom>
              <a:avLst/>
              <a:gdLst/>
              <a:ahLst/>
              <a:cxnLst/>
              <a:rect l="l" t="t" r="r" b="b"/>
              <a:pathLst>
                <a:path w="771525" h="95250">
                  <a:moveTo>
                    <a:pt x="47625" y="0"/>
                  </a:moveTo>
                  <a:lnTo>
                    <a:pt x="723900" y="0"/>
                  </a:lnTo>
                  <a:cubicBezTo>
                    <a:pt x="750203" y="0"/>
                    <a:pt x="771525" y="21322"/>
                    <a:pt x="771525" y="47625"/>
                  </a:cubicBezTo>
                  <a:lnTo>
                    <a:pt x="771525" y="47625"/>
                  </a:lnTo>
                  <a:cubicBezTo>
                    <a:pt x="771525" y="73928"/>
                    <a:pt x="750203" y="95250"/>
                    <a:pt x="723900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838200" y="3886200"/>
              <a:ext cx="2324100" cy="666750"/>
            </a:xfrm>
            <a:custGeom>
              <a:avLst/>
              <a:gdLst/>
              <a:ahLst/>
              <a:cxnLst/>
              <a:rect l="l" t="t" r="r" b="b"/>
              <a:pathLst>
                <a:path w="2324100" h="666750">
                  <a:moveTo>
                    <a:pt x="95250" y="0"/>
                  </a:moveTo>
                  <a:lnTo>
                    <a:pt x="2228850" y="0"/>
                  </a:lnTo>
                  <a:cubicBezTo>
                    <a:pt x="2281455" y="0"/>
                    <a:pt x="2324100" y="42645"/>
                    <a:pt x="2324100" y="95250"/>
                  </a:cubicBezTo>
                  <a:lnTo>
                    <a:pt x="2324100" y="571500"/>
                  </a:lnTo>
                  <a:cubicBezTo>
                    <a:pt x="2324100" y="624105"/>
                    <a:pt x="2281455" y="666750"/>
                    <a:pt x="2228850" y="666750"/>
                  </a:cubicBezTo>
                  <a:lnTo>
                    <a:pt x="95250" y="666750"/>
                  </a:lnTo>
                  <a:cubicBezTo>
                    <a:pt x="42645" y="666750"/>
                    <a:pt x="0" y="624105"/>
                    <a:pt x="0" y="571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3366" y="4039552"/>
              <a:ext cx="861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 / 呈现适配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5746" y="4163378"/>
              <a:ext cx="4448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74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2038350" y="4267200"/>
              <a:ext cx="876300" cy="95250"/>
            </a:xfrm>
            <a:custGeom>
              <a:avLst/>
              <a:gdLst/>
              <a:ahLst/>
              <a:cxnLst/>
              <a:rect l="l" t="t" r="r" b="b"/>
              <a:pathLst>
                <a:path w="876300" h="95250">
                  <a:moveTo>
                    <a:pt x="47625" y="0"/>
                  </a:moveTo>
                  <a:lnTo>
                    <a:pt x="828675" y="0"/>
                  </a:lnTo>
                  <a:cubicBezTo>
                    <a:pt x="854978" y="0"/>
                    <a:pt x="876300" y="21322"/>
                    <a:pt x="876300" y="47625"/>
                  </a:cubicBezTo>
                  <a:lnTo>
                    <a:pt x="876300" y="47625"/>
                  </a:lnTo>
                  <a:cubicBezTo>
                    <a:pt x="876300" y="73928"/>
                    <a:pt x="854978" y="95250"/>
                    <a:pt x="8286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2038350" y="4267200"/>
              <a:ext cx="647700" cy="95250"/>
            </a:xfrm>
            <a:custGeom>
              <a:avLst/>
              <a:gdLst/>
              <a:ahLst/>
              <a:cxnLst/>
              <a:rect l="l" t="t" r="r" b="b"/>
              <a:pathLst>
                <a:path w="647700" h="95250">
                  <a:moveTo>
                    <a:pt x="47625" y="0"/>
                  </a:moveTo>
                  <a:lnTo>
                    <a:pt x="600075" y="0"/>
                  </a:lnTo>
                  <a:cubicBezTo>
                    <a:pt x="626378" y="0"/>
                    <a:pt x="647700" y="21322"/>
                    <a:pt x="647700" y="47625"/>
                  </a:cubicBezTo>
                  <a:lnTo>
                    <a:pt x="647700" y="47625"/>
                  </a:lnTo>
                  <a:cubicBezTo>
                    <a:pt x="647700" y="73928"/>
                    <a:pt x="626378" y="95250"/>
                    <a:pt x="6000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38200" y="4724400"/>
              <a:ext cx="2324100" cy="876300"/>
            </a:xfrm>
            <a:custGeom>
              <a:avLst/>
              <a:gdLst/>
              <a:ahLst/>
              <a:cxnLst/>
              <a:rect l="l" t="t" r="r" b="b"/>
              <a:pathLst>
                <a:path w="2324100" h="876300">
                  <a:moveTo>
                    <a:pt x="95250" y="0"/>
                  </a:moveTo>
                  <a:lnTo>
                    <a:pt x="2228850" y="0"/>
                  </a:lnTo>
                  <a:cubicBezTo>
                    <a:pt x="2281455" y="0"/>
                    <a:pt x="2324100" y="42645"/>
                    <a:pt x="2324100" y="95250"/>
                  </a:cubicBezTo>
                  <a:lnTo>
                    <a:pt x="2324100" y="781050"/>
                  </a:lnTo>
                  <a:cubicBezTo>
                    <a:pt x="2324100" y="833655"/>
                    <a:pt x="2281455" y="876300"/>
                    <a:pt x="2228850" y="876300"/>
                  </a:cubicBezTo>
                  <a:lnTo>
                    <a:pt x="95250" y="876300"/>
                  </a:lnTo>
                  <a:cubicBezTo>
                    <a:pt x="42645" y="876300"/>
                    <a:pt x="0" y="833655"/>
                    <a:pt x="0" y="781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23366" y="4877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结构要点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2223" y="512016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主轴关系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2223" y="53678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外溢路径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448300" y="2381250"/>
              <a:ext cx="3352800" cy="33528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5924550" y="2857500"/>
              <a:ext cx="2400300" cy="2400300"/>
            </a:xfrm>
            <a:prstGeom prst="ellipse">
              <a:avLst/>
            </a:prstGeom>
            <a:solidFill>
              <a:schemeClr val="lt1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438900" y="3371850"/>
              <a:ext cx="1371600" cy="13716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77889" y="376809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增长结果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79540" y="41186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预算回流 · 策略校准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362700" y="1866900"/>
              <a:ext cx="1524000" cy="781050"/>
            </a:xfrm>
            <a:custGeom>
              <a:avLst/>
              <a:gdLst/>
              <a:ahLst/>
              <a:cxnLst/>
              <a:rect l="l" t="t" r="r" b="b"/>
              <a:pathLst>
                <a:path w="1524000" h="781050">
                  <a:moveTo>
                    <a:pt x="114300" y="0"/>
                  </a:moveTo>
                  <a:lnTo>
                    <a:pt x="1409700" y="0"/>
                  </a:lnTo>
                  <a:cubicBezTo>
                    <a:pt x="1472826" y="0"/>
                    <a:pt x="1524000" y="51174"/>
                    <a:pt x="1524000" y="114300"/>
                  </a:cubicBezTo>
                  <a:lnTo>
                    <a:pt x="1524000" y="666750"/>
                  </a:lnTo>
                  <a:cubicBezTo>
                    <a:pt x="1524000" y="729876"/>
                    <a:pt x="1472826" y="781050"/>
                    <a:pt x="140970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29755" y="20421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23456" y="227933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数据整合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3287" y="25441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统一客户与渠道信号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743950" y="3295650"/>
              <a:ext cx="1524000" cy="781050"/>
            </a:xfrm>
            <a:custGeom>
              <a:avLst/>
              <a:gdLst/>
              <a:ahLst/>
              <a:cxnLst/>
              <a:rect l="l" t="t" r="r" b="b"/>
              <a:pathLst>
                <a:path w="1524000" h="781050">
                  <a:moveTo>
                    <a:pt x="114300" y="0"/>
                  </a:moveTo>
                  <a:lnTo>
                    <a:pt x="1409700" y="0"/>
                  </a:lnTo>
                  <a:cubicBezTo>
                    <a:pt x="1472826" y="0"/>
                    <a:pt x="1524000" y="51174"/>
                    <a:pt x="1524000" y="114300"/>
                  </a:cubicBezTo>
                  <a:lnTo>
                    <a:pt x="1524000" y="666750"/>
                  </a:lnTo>
                  <a:cubicBezTo>
                    <a:pt x="1524000" y="729876"/>
                    <a:pt x="1472826" y="781050"/>
                    <a:pt x="140970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11005" y="34709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26269" y="3708082"/>
              <a:ext cx="9593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 分析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64536" y="39728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识别机会与人群意图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6362700" y="5467350"/>
              <a:ext cx="1524000" cy="781050"/>
            </a:xfrm>
            <a:custGeom>
              <a:avLst/>
              <a:gdLst/>
              <a:ahLst/>
              <a:cxnLst/>
              <a:rect l="l" t="t" r="r" b="b"/>
              <a:pathLst>
                <a:path w="1524000" h="781050">
                  <a:moveTo>
                    <a:pt x="114300" y="0"/>
                  </a:moveTo>
                  <a:lnTo>
                    <a:pt x="1409700" y="0"/>
                  </a:lnTo>
                  <a:cubicBezTo>
                    <a:pt x="1472826" y="0"/>
                    <a:pt x="1524000" y="51174"/>
                    <a:pt x="1524000" y="114300"/>
                  </a:cubicBezTo>
                  <a:lnTo>
                    <a:pt x="1524000" y="666750"/>
                  </a:lnTo>
                  <a:cubicBezTo>
                    <a:pt x="1524000" y="729876"/>
                    <a:pt x="1472826" y="781050"/>
                    <a:pt x="140970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29755" y="56426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23456" y="587978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效果度量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12611" y="61445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归因、复盘与预算反馈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3981450" y="3295650"/>
              <a:ext cx="1524000" cy="781050"/>
            </a:xfrm>
            <a:custGeom>
              <a:avLst/>
              <a:gdLst/>
              <a:ahLst/>
              <a:cxnLst/>
              <a:rect l="l" t="t" r="r" b="b"/>
              <a:pathLst>
                <a:path w="1524000" h="781050">
                  <a:moveTo>
                    <a:pt x="114300" y="0"/>
                  </a:moveTo>
                  <a:lnTo>
                    <a:pt x="1409700" y="0"/>
                  </a:lnTo>
                  <a:cubicBezTo>
                    <a:pt x="1472826" y="0"/>
                    <a:pt x="1524000" y="51174"/>
                    <a:pt x="1524000" y="114300"/>
                  </a:cubicBezTo>
                  <a:lnTo>
                    <a:pt x="1524000" y="666750"/>
                  </a:lnTo>
                  <a:cubicBezTo>
                    <a:pt x="1524000" y="729876"/>
                    <a:pt x="1472826" y="781050"/>
                    <a:pt x="140970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648505" y="34709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118991" y="3708082"/>
              <a:ext cx="12489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自动化执行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031361" y="39728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内容、触达与编排联动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7886700" y="2343150"/>
              <a:ext cx="1447800" cy="952500"/>
            </a:xfrm>
            <a:custGeom>
              <a:avLst/>
              <a:gdLst/>
              <a:ahLst/>
              <a:cxnLst/>
              <a:rect l="l" t="t" r="r" b="b"/>
              <a:pathLst>
                <a:path w="1447800" h="952500">
                  <a:moveTo>
                    <a:pt x="0" y="0"/>
                  </a:moveTo>
                  <a:cubicBezTo>
                    <a:pt x="723900" y="38100"/>
                    <a:pt x="1209675" y="514350"/>
                    <a:pt x="1447800" y="952500"/>
                  </a:cubicBezTo>
                </a:path>
              </a:pathLst>
            </a:custGeom>
            <a:noFill/>
            <a:ln w="4762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55" name="Freeform 55"/>
            <p:cNvSpPr/>
            <p:nvPr/>
          </p:nvSpPr>
          <p:spPr>
            <a:xfrm>
              <a:off x="7886700" y="4076700"/>
              <a:ext cx="1619250" cy="1714500"/>
            </a:xfrm>
            <a:custGeom>
              <a:avLst/>
              <a:gdLst/>
              <a:ahLst/>
              <a:cxnLst/>
              <a:rect l="l" t="t" r="r" b="b"/>
              <a:pathLst>
                <a:path w="1619250" h="1714500">
                  <a:moveTo>
                    <a:pt x="1619250" y="0"/>
                  </a:moveTo>
                  <a:cubicBezTo>
                    <a:pt x="1562100" y="781050"/>
                    <a:pt x="828675" y="1371600"/>
                    <a:pt x="0" y="1714500"/>
                  </a:cubicBezTo>
                </a:path>
              </a:pathLst>
            </a:custGeom>
            <a:noFill/>
            <a:ln w="4762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56" name="Freeform 56"/>
            <p:cNvSpPr/>
            <p:nvPr/>
          </p:nvSpPr>
          <p:spPr>
            <a:xfrm>
              <a:off x="4743450" y="4076700"/>
              <a:ext cx="1619250" cy="1714500"/>
            </a:xfrm>
            <a:custGeom>
              <a:avLst/>
              <a:gdLst/>
              <a:ahLst/>
              <a:cxnLst/>
              <a:rect l="l" t="t" r="r" b="b"/>
              <a:pathLst>
                <a:path w="1619250" h="1714500">
                  <a:moveTo>
                    <a:pt x="1619250" y="1714500"/>
                  </a:moveTo>
                  <a:cubicBezTo>
                    <a:pt x="828675" y="1409700"/>
                    <a:pt x="228600" y="828675"/>
                    <a:pt x="0" y="0"/>
                  </a:cubicBezTo>
                </a:path>
              </a:pathLst>
            </a:custGeom>
            <a:noFill/>
            <a:ln w="4762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57" name="Freeform 57"/>
            <p:cNvSpPr/>
            <p:nvPr/>
          </p:nvSpPr>
          <p:spPr>
            <a:xfrm>
              <a:off x="4743450" y="2266950"/>
              <a:ext cx="1619250" cy="1028700"/>
            </a:xfrm>
            <a:custGeom>
              <a:avLst/>
              <a:gdLst/>
              <a:ahLst/>
              <a:cxnLst/>
              <a:rect l="l" t="t" r="r" b="b"/>
              <a:pathLst>
                <a:path w="1619250" h="1028700">
                  <a:moveTo>
                    <a:pt x="0" y="1028700"/>
                  </a:moveTo>
                  <a:cubicBezTo>
                    <a:pt x="276225" y="457200"/>
                    <a:pt x="876300" y="57150"/>
                    <a:pt x="1619250" y="0"/>
                  </a:cubicBezTo>
                </a:path>
              </a:pathLst>
            </a:custGeom>
            <a:noFill/>
            <a:ln w="4762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58" name="Line 58"/>
            <p:cNvSpPr/>
            <p:nvPr/>
          </p:nvSpPr>
          <p:spPr>
            <a:xfrm>
              <a:off x="7124700" y="264795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  <a:custDash>
                <a:ds d="266666" sp="400000"/>
              </a:custDash>
            </a:ln>
          </p:spPr>
        </p:sp>
        <p:sp>
          <p:nvSpPr>
            <p:cNvPr id="59" name="Line 59"/>
            <p:cNvSpPr/>
            <p:nvPr/>
          </p:nvSpPr>
          <p:spPr>
            <a:xfrm>
              <a:off x="7905750" y="3686175"/>
              <a:ext cx="838200" cy="133350"/>
            </a:xfrm>
            <a:custGeom>
              <a:avLst/>
              <a:gdLst/>
              <a:ahLst/>
              <a:cxnLst/>
              <a:rect l="l" t="t" r="r" b="b"/>
              <a:pathLst>
                <a:path w="838200" h="133350">
                  <a:moveTo>
                    <a:pt x="838200" y="0"/>
                  </a:moveTo>
                  <a:lnTo>
                    <a:pt x="0" y="133350"/>
                  </a:lnTo>
                </a:path>
              </a:pathLst>
            </a:custGeom>
            <a:noFill/>
            <a:ln w="14288">
              <a:solidFill>
                <a:schemeClr val="accent1"/>
              </a:solidFill>
              <a:custDash>
                <a:ds d="266666" sp="400000"/>
              </a:custDash>
            </a:ln>
          </p:spPr>
        </p:sp>
        <p:sp>
          <p:nvSpPr>
            <p:cNvPr id="60" name="Line 60"/>
            <p:cNvSpPr/>
            <p:nvPr/>
          </p:nvSpPr>
          <p:spPr>
            <a:xfrm>
              <a:off x="7124700" y="4743450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0" y="7239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  <a:custDash>
                <a:ds d="266666" sp="400000"/>
              </a:custDash>
            </a:ln>
          </p:spPr>
        </p:sp>
        <p:sp>
          <p:nvSpPr>
            <p:cNvPr id="61" name="Line 61"/>
            <p:cNvSpPr/>
            <p:nvPr/>
          </p:nvSpPr>
          <p:spPr>
            <a:xfrm>
              <a:off x="5505450" y="3686175"/>
              <a:ext cx="838200" cy="133350"/>
            </a:xfrm>
            <a:custGeom>
              <a:avLst/>
              <a:gdLst/>
              <a:ahLst/>
              <a:cxnLst/>
              <a:rect l="l" t="t" r="r" b="b"/>
              <a:pathLst>
                <a:path w="838200" h="133350">
                  <a:moveTo>
                    <a:pt x="0" y="0"/>
                  </a:moveTo>
                  <a:lnTo>
                    <a:pt x="838200" y="133350"/>
                  </a:lnTo>
                </a:path>
              </a:pathLst>
            </a:custGeom>
            <a:noFill/>
            <a:ln w="14288">
              <a:solidFill>
                <a:schemeClr val="accent1"/>
              </a:solidFill>
              <a:custDash>
                <a:ds d="266666" sp="400000"/>
              </a:custDash>
            </a:ln>
          </p:spPr>
        </p:sp>
        <p:sp>
          <p:nvSpPr>
            <p:cNvPr id="62" name="Freeform 62"/>
            <p:cNvSpPr/>
            <p:nvPr/>
          </p:nvSpPr>
          <p:spPr>
            <a:xfrm>
              <a:off x="9810750" y="2152650"/>
              <a:ext cx="1524000" cy="514350"/>
            </a:xfrm>
            <a:custGeom>
              <a:avLst/>
              <a:gdLst/>
              <a:ahLst/>
              <a:cxnLst/>
              <a:rect l="l" t="t" r="r" b="b"/>
              <a:pathLst>
                <a:path w="1524000" h="514350">
                  <a:moveTo>
                    <a:pt x="95250" y="0"/>
                  </a:moveTo>
                  <a:lnTo>
                    <a:pt x="1428750" y="0"/>
                  </a:lnTo>
                  <a:cubicBezTo>
                    <a:pt x="1481355" y="0"/>
                    <a:pt x="1524000" y="42645"/>
                    <a:pt x="1524000" y="95250"/>
                  </a:cubicBezTo>
                  <a:lnTo>
                    <a:pt x="1524000" y="419100"/>
                  </a:lnTo>
                  <a:cubicBezTo>
                    <a:pt x="1524000" y="471705"/>
                    <a:pt x="1481355" y="514350"/>
                    <a:pt x="1428750" y="514350"/>
                  </a:cubicBezTo>
                  <a:lnTo>
                    <a:pt x="95250" y="514350"/>
                  </a:lnTo>
                  <a:cubicBezTo>
                    <a:pt x="42645" y="514350"/>
                    <a:pt x="0" y="471705"/>
                    <a:pt x="0" y="4191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284714" y="22488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外溢路径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61245" y="2431256"/>
              <a:ext cx="12230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洞察进入管理看板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9696450" y="4762500"/>
              <a:ext cx="1638300" cy="609600"/>
            </a:xfrm>
            <a:custGeom>
              <a:avLst/>
              <a:gdLst/>
              <a:ahLst/>
              <a:cxnLst/>
              <a:rect l="l" t="t" r="r" b="b"/>
              <a:pathLst>
                <a:path w="1638300" h="609600">
                  <a:moveTo>
                    <a:pt x="95250" y="0"/>
                  </a:moveTo>
                  <a:lnTo>
                    <a:pt x="1543050" y="0"/>
                  </a:lnTo>
                  <a:cubicBezTo>
                    <a:pt x="1595655" y="0"/>
                    <a:pt x="1638300" y="42645"/>
                    <a:pt x="1638300" y="95250"/>
                  </a:cubicBezTo>
                  <a:lnTo>
                    <a:pt x="1638300" y="514350"/>
                  </a:lnTo>
                  <a:cubicBezTo>
                    <a:pt x="1638300" y="566955"/>
                    <a:pt x="1595655" y="609600"/>
                    <a:pt x="15430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227564" y="4877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经营外溢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601200" y="5098256"/>
              <a:ext cx="1828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销售、服务、产品同步受益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9420225" y="2667000"/>
              <a:ext cx="485775" cy="647700"/>
            </a:xfrm>
            <a:custGeom>
              <a:avLst/>
              <a:gdLst/>
              <a:ahLst/>
              <a:cxnLst/>
              <a:rect l="l" t="t" r="r" b="b"/>
              <a:pathLst>
                <a:path w="485775" h="647700">
                  <a:moveTo>
                    <a:pt x="485775" y="0"/>
                  </a:moveTo>
                  <a:cubicBezTo>
                    <a:pt x="342900" y="285750"/>
                    <a:pt x="200025" y="495300"/>
                    <a:pt x="0" y="647700"/>
                  </a:cubicBezTo>
                </a:path>
              </a:pathLst>
            </a:custGeom>
            <a:noFill/>
            <a:ln w="2095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69" name="Freeform 69"/>
            <p:cNvSpPr/>
            <p:nvPr/>
          </p:nvSpPr>
          <p:spPr>
            <a:xfrm>
              <a:off x="7829550" y="4476750"/>
              <a:ext cx="1866900" cy="590550"/>
            </a:xfrm>
            <a:custGeom>
              <a:avLst/>
              <a:gdLst/>
              <a:ahLst/>
              <a:cxnLst/>
              <a:rect l="l" t="t" r="r" b="b"/>
              <a:pathLst>
                <a:path w="1866900" h="590550">
                  <a:moveTo>
                    <a:pt x="1866900" y="590550"/>
                  </a:moveTo>
                  <a:cubicBezTo>
                    <a:pt x="1219200" y="476250"/>
                    <a:pt x="590550" y="323850"/>
                    <a:pt x="0" y="0"/>
                  </a:cubicBezTo>
                </a:path>
              </a:pathLst>
            </a:custGeom>
            <a:noFill/>
            <a:ln w="2095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70" name="Freeform 70"/>
            <p:cNvSpPr/>
            <p:nvPr/>
          </p:nvSpPr>
          <p:spPr>
            <a:xfrm>
              <a:off x="3733800" y="1790700"/>
              <a:ext cx="1790700" cy="495300"/>
            </a:xfrm>
            <a:custGeom>
              <a:avLst/>
              <a:gdLst/>
              <a:ahLst/>
              <a:cxnLst/>
              <a:rect l="l" t="t" r="r" b="b"/>
              <a:pathLst>
                <a:path w="1790700" h="495300">
                  <a:moveTo>
                    <a:pt x="95250" y="0"/>
                  </a:moveTo>
                  <a:lnTo>
                    <a:pt x="1695450" y="0"/>
                  </a:lnTo>
                  <a:cubicBezTo>
                    <a:pt x="1748055" y="0"/>
                    <a:pt x="1790700" y="42645"/>
                    <a:pt x="1790700" y="95250"/>
                  </a:cubicBezTo>
                  <a:lnTo>
                    <a:pt x="1790700" y="400050"/>
                  </a:lnTo>
                  <a:cubicBezTo>
                    <a:pt x="1790700" y="452655"/>
                    <a:pt x="1748055" y="495300"/>
                    <a:pt x="1695450" y="495300"/>
                  </a:cubicBezTo>
                  <a:lnTo>
                    <a:pt x="95250" y="495300"/>
                  </a:lnTo>
                  <a:cubicBezTo>
                    <a:pt x="42645" y="495300"/>
                    <a:pt x="0" y="452655"/>
                    <a:pt x="0" y="400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341114" y="18869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主轴关系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756398" y="2069306"/>
              <a:ext cx="1745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 → 分析 → 执行 → 度量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3995166" y="5906452"/>
            <a:ext cx="3827145" cy="414909"/>
            <a:chOff x="3995166" y="5906452"/>
            <a:chExt cx="3827145" cy="414909"/>
          </a:xfrm>
        </p:grpSpPr>
        <p:sp>
          <p:nvSpPr>
            <p:cNvPr id="74" name="TextBox 74"/>
            <p:cNvSpPr txBox="1"/>
            <p:nvPr/>
          </p:nvSpPr>
          <p:spPr>
            <a:xfrm>
              <a:off x="3995166" y="5906452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闭环成立后，平台每次投放都会沉淀新的可学习样本，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995166" y="6116002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下一轮策略不再依赖经验判断，而由验证结果反推资源配置。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-495300"/>
            <a:ext cx="12192000" cy="7562850"/>
            <a:chOff x="0" y="-495300"/>
            <a:chExt cx="12192000" cy="75628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alpha val="4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620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838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6324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743950" y="-495300"/>
              <a:ext cx="3238500" cy="32385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620250" y="4591050"/>
              <a:ext cx="2476500" cy="2476500"/>
            </a:xfrm>
            <a:prstGeom prst="ellipse">
              <a:avLst/>
            </a:prstGeom>
            <a:solidFill>
              <a:schemeClr val="accent3">
                <a:alpha val="6000"/>
              </a:scheme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57784" y="286702"/>
            <a:ext cx="11067478" cy="6453664"/>
            <a:chOff x="557784" y="286702"/>
            <a:chExt cx="11067478" cy="6453664"/>
          </a:xfrm>
        </p:grpSpPr>
        <p:sp>
          <p:nvSpPr>
            <p:cNvPr id="11" name="TextBox 11"/>
            <p:cNvSpPr txBox="1"/>
            <p:nvPr/>
          </p:nvSpPr>
          <p:spPr>
            <a:xfrm>
              <a:off x="566166" y="286702"/>
              <a:ext cx="60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784" y="432435"/>
              <a:ext cx="12371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下一步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128847" y="3109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43681" y="65784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08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738" y="6578441"/>
              <a:ext cx="12367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action-sequence-close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71500" y="1238250"/>
            <a:ext cx="11049000" cy="4400550"/>
            <a:chOff x="571500" y="1238250"/>
            <a:chExt cx="11049000" cy="4400550"/>
          </a:xfrm>
        </p:grpSpPr>
        <p:sp>
          <p:nvSpPr>
            <p:cNvPr id="18" name="Freeform 18"/>
            <p:cNvSpPr/>
            <p:nvPr/>
          </p:nvSpPr>
          <p:spPr>
            <a:xfrm>
              <a:off x="571500" y="1238250"/>
              <a:ext cx="11049000" cy="876300"/>
            </a:xfrm>
            <a:custGeom>
              <a:avLst/>
              <a:gdLst/>
              <a:ahLst/>
              <a:cxnLst/>
              <a:rect l="l" t="t" r="r" b="b"/>
              <a:pathLst>
                <a:path w="11049000" h="8763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762000"/>
                  </a:lnTo>
                  <a:cubicBezTo>
                    <a:pt x="11049000" y="825126"/>
                    <a:pt x="10997826" y="876300"/>
                    <a:pt x="10934700" y="876300"/>
                  </a:cubicBezTo>
                  <a:lnTo>
                    <a:pt x="114300" y="876300"/>
                  </a:lnTo>
                  <a:cubicBezTo>
                    <a:pt x="51174" y="876300"/>
                    <a:pt x="0" y="825126"/>
                    <a:pt x="0" y="762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9056" y="1405890"/>
              <a:ext cx="91778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建议以小范围业务试点先验证数据贯通和自动化闭环，再逐步扩展到全渠道经营。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104" y="178498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先做可见成效，再做规模复制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300412" y="1833562"/>
              <a:ext cx="66675" cy="66675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80054" y="178498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治理规则需与业务试点同步建立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05562" y="1833562"/>
              <a:ext cx="66675" cy="66675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85204" y="1784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收束判断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638300" y="3543300"/>
              <a:ext cx="8915400" cy="9525"/>
            </a:xfrm>
            <a:custGeom>
              <a:avLst/>
              <a:gdLst/>
              <a:ahLst/>
              <a:cxnLst/>
              <a:rect l="l" t="t" r="r" b="b"/>
              <a:pathLst>
                <a:path w="8915400" h="9525">
                  <a:moveTo>
                    <a:pt x="0" y="0"/>
                  </a:moveTo>
                  <a:lnTo>
                    <a:pt x="89154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638300" y="3543300"/>
              <a:ext cx="2133600" cy="1"/>
            </a:xfrm>
            <a:prstGeom prst="line">
              <a:avLst/>
            </a:prstGeom>
            <a:noFill/>
            <a:ln w="4762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7" name="Line 27"/>
            <p:cNvSpPr/>
            <p:nvPr/>
          </p:nvSpPr>
          <p:spPr>
            <a:xfrm>
              <a:off x="4610100" y="3543300"/>
              <a:ext cx="2133600" cy="1"/>
            </a:xfrm>
            <a:prstGeom prst="line">
              <a:avLst/>
            </a:prstGeom>
            <a:noFill/>
            <a:ln w="4762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8" name="Line 28"/>
            <p:cNvSpPr/>
            <p:nvPr/>
          </p:nvSpPr>
          <p:spPr>
            <a:xfrm>
              <a:off x="7581900" y="3543300"/>
              <a:ext cx="2133600" cy="1"/>
            </a:xfrm>
            <a:prstGeom prst="line">
              <a:avLst/>
            </a:prstGeom>
            <a:noFill/>
            <a:ln w="4762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9" name="Ellipse 29"/>
            <p:cNvSpPr/>
            <p:nvPr/>
          </p:nvSpPr>
          <p:spPr>
            <a:xfrm>
              <a:off x="1447800" y="3352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419600" y="3352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7391400" y="3352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363200" y="3352800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75995" y="345471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47795" y="345471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19595" y="345471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91395" y="345471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990600" y="2571750"/>
              <a:ext cx="1295400" cy="704850"/>
            </a:xfrm>
            <a:custGeom>
              <a:avLst/>
              <a:gdLst/>
              <a:ahLst/>
              <a:cxnLst/>
              <a:rect l="l" t="t" r="r" b="b"/>
              <a:pathLst>
                <a:path w="1295400" h="704850">
                  <a:moveTo>
                    <a:pt x="95250" y="0"/>
                  </a:moveTo>
                  <a:lnTo>
                    <a:pt x="1200150" y="0"/>
                  </a:lnTo>
                  <a:cubicBezTo>
                    <a:pt x="1252755" y="0"/>
                    <a:pt x="1295400" y="42645"/>
                    <a:pt x="1295400" y="95250"/>
                  </a:cubicBezTo>
                  <a:lnTo>
                    <a:pt x="1295400" y="609600"/>
                  </a:lnTo>
                  <a:cubicBezTo>
                    <a:pt x="1295400" y="662205"/>
                    <a:pt x="1252755" y="704850"/>
                    <a:pt x="12001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78910" y="2637472"/>
              <a:ext cx="7187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30 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29690" y="29646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试点准备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1638300" y="32766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3962400" y="2571750"/>
              <a:ext cx="1295400" cy="704850"/>
            </a:xfrm>
            <a:custGeom>
              <a:avLst/>
              <a:gdLst/>
              <a:ahLst/>
              <a:cxnLst/>
              <a:rect l="l" t="t" r="r" b="b"/>
              <a:pathLst>
                <a:path w="1295400" h="704850">
                  <a:moveTo>
                    <a:pt x="95250" y="0"/>
                  </a:moveTo>
                  <a:lnTo>
                    <a:pt x="1200150" y="0"/>
                  </a:lnTo>
                  <a:cubicBezTo>
                    <a:pt x="1252755" y="0"/>
                    <a:pt x="1295400" y="42645"/>
                    <a:pt x="1295400" y="95250"/>
                  </a:cubicBezTo>
                  <a:lnTo>
                    <a:pt x="1295400" y="609600"/>
                  </a:lnTo>
                  <a:cubicBezTo>
                    <a:pt x="1295400" y="662205"/>
                    <a:pt x="1252755" y="704850"/>
                    <a:pt x="12001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50710" y="2637472"/>
              <a:ext cx="7187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60 天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01490" y="29646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能力上线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4610100" y="32766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934200" y="2571750"/>
              <a:ext cx="1295400" cy="704850"/>
            </a:xfrm>
            <a:custGeom>
              <a:avLst/>
              <a:gdLst/>
              <a:ahLst/>
              <a:cxnLst/>
              <a:rect l="l" t="t" r="r" b="b"/>
              <a:pathLst>
                <a:path w="1295400" h="704850">
                  <a:moveTo>
                    <a:pt x="95250" y="0"/>
                  </a:moveTo>
                  <a:lnTo>
                    <a:pt x="1200150" y="0"/>
                  </a:lnTo>
                  <a:cubicBezTo>
                    <a:pt x="1252755" y="0"/>
                    <a:pt x="1295400" y="42645"/>
                    <a:pt x="1295400" y="95250"/>
                  </a:cubicBezTo>
                  <a:lnTo>
                    <a:pt x="1295400" y="609600"/>
                  </a:lnTo>
                  <a:cubicBezTo>
                    <a:pt x="1295400" y="662205"/>
                    <a:pt x="1252755" y="704850"/>
                    <a:pt x="12001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22510" y="2637472"/>
              <a:ext cx="7187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90 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64146" y="2964656"/>
              <a:ext cx="6355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评估 ROI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7581900" y="32766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867900" y="2571750"/>
              <a:ext cx="1371600" cy="704850"/>
            </a:xfrm>
            <a:custGeom>
              <a:avLst/>
              <a:gdLst/>
              <a:ahLst/>
              <a:cxnLst/>
              <a:rect l="l" t="t" r="r" b="b"/>
              <a:pathLst>
                <a:path w="1371600" h="704850">
                  <a:moveTo>
                    <a:pt x="95250" y="0"/>
                  </a:moveTo>
                  <a:lnTo>
                    <a:pt x="1276350" y="0"/>
                  </a:lnTo>
                  <a:cubicBezTo>
                    <a:pt x="1328955" y="0"/>
                    <a:pt x="1371600" y="42645"/>
                    <a:pt x="1371600" y="95250"/>
                  </a:cubicBezTo>
                  <a:lnTo>
                    <a:pt x="1371600" y="609600"/>
                  </a:lnTo>
                  <a:cubicBezTo>
                    <a:pt x="1371600" y="662205"/>
                    <a:pt x="1328955" y="704850"/>
                    <a:pt x="1276350" y="704850"/>
                  </a:cubicBezTo>
                  <a:lnTo>
                    <a:pt x="95250" y="704850"/>
                  </a:lnTo>
                  <a:cubicBezTo>
                    <a:pt x="42645" y="704850"/>
                    <a:pt x="0" y="662205"/>
                    <a:pt x="0" y="6096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006889" y="2653665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规模决策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17919" y="296465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进入扩展或收束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10553700" y="32766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38200" y="4095750"/>
              <a:ext cx="2400300" cy="1543050"/>
            </a:xfrm>
            <a:custGeom>
              <a:avLst/>
              <a:gdLst/>
              <a:ahLst/>
              <a:cxnLst/>
              <a:rect l="l" t="t" r="r" b="b"/>
              <a:pathLst>
                <a:path w="2400300" h="1543050">
                  <a:moveTo>
                    <a:pt x="114300" y="0"/>
                  </a:moveTo>
                  <a:lnTo>
                    <a:pt x="2286000" y="0"/>
                  </a:lnTo>
                  <a:cubicBezTo>
                    <a:pt x="2349126" y="0"/>
                    <a:pt x="2400300" y="51174"/>
                    <a:pt x="2400300" y="114300"/>
                  </a:cubicBezTo>
                  <a:lnTo>
                    <a:pt x="2400300" y="1428750"/>
                  </a:lnTo>
                  <a:cubicBezTo>
                    <a:pt x="2400300" y="1491876"/>
                    <a:pt x="2349126" y="1543050"/>
                    <a:pt x="2286000" y="1543050"/>
                  </a:cubicBezTo>
                  <a:lnTo>
                    <a:pt x="114300" y="1543050"/>
                  </a:lnTo>
                  <a:cubicBezTo>
                    <a:pt x="51174" y="1543050"/>
                    <a:pt x="0" y="1491876"/>
                    <a:pt x="0" y="1428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57656" y="4206240"/>
              <a:ext cx="6634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30 天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9180" y="45434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完成数据源梳理、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9180" y="4810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试点场景选择与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59180" y="5076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关键指标口径定义。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1066800" y="544830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3505200" y="4095750"/>
              <a:ext cx="2400300" cy="1543050"/>
            </a:xfrm>
            <a:custGeom>
              <a:avLst/>
              <a:gdLst/>
              <a:ahLst/>
              <a:cxnLst/>
              <a:rect l="l" t="t" r="r" b="b"/>
              <a:pathLst>
                <a:path w="2400300" h="1543050">
                  <a:moveTo>
                    <a:pt x="114300" y="0"/>
                  </a:moveTo>
                  <a:lnTo>
                    <a:pt x="2286000" y="0"/>
                  </a:lnTo>
                  <a:cubicBezTo>
                    <a:pt x="2349126" y="0"/>
                    <a:pt x="2400300" y="51174"/>
                    <a:pt x="2400300" y="114300"/>
                  </a:cubicBezTo>
                  <a:lnTo>
                    <a:pt x="2400300" y="1428750"/>
                  </a:lnTo>
                  <a:cubicBezTo>
                    <a:pt x="2400300" y="1491876"/>
                    <a:pt x="2349126" y="1543050"/>
                    <a:pt x="2286000" y="1543050"/>
                  </a:cubicBezTo>
                  <a:lnTo>
                    <a:pt x="114300" y="1543050"/>
                  </a:lnTo>
                  <a:cubicBezTo>
                    <a:pt x="51174" y="1543050"/>
                    <a:pt x="0" y="1491876"/>
                    <a:pt x="0" y="1428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724656" y="4206240"/>
              <a:ext cx="6634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60 天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726180" y="4543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上线统一看板与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726180" y="4810125"/>
              <a:ext cx="1754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分析能力，跑通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726180" y="5076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一个自动化营销闭环。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3733800" y="544830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6172200" y="4095750"/>
              <a:ext cx="2400300" cy="1543050"/>
            </a:xfrm>
            <a:custGeom>
              <a:avLst/>
              <a:gdLst/>
              <a:ahLst/>
              <a:cxnLst/>
              <a:rect l="l" t="t" r="r" b="b"/>
              <a:pathLst>
                <a:path w="2400300" h="1543050">
                  <a:moveTo>
                    <a:pt x="114300" y="0"/>
                  </a:moveTo>
                  <a:lnTo>
                    <a:pt x="2286000" y="0"/>
                  </a:lnTo>
                  <a:cubicBezTo>
                    <a:pt x="2349126" y="0"/>
                    <a:pt x="2400300" y="51174"/>
                    <a:pt x="2400300" y="114300"/>
                  </a:cubicBezTo>
                  <a:lnTo>
                    <a:pt x="2400300" y="1428750"/>
                  </a:lnTo>
                  <a:cubicBezTo>
                    <a:pt x="2400300" y="1491876"/>
                    <a:pt x="2349126" y="1543050"/>
                    <a:pt x="2286000" y="1543050"/>
                  </a:cubicBezTo>
                  <a:lnTo>
                    <a:pt x="114300" y="1543050"/>
                  </a:lnTo>
                  <a:cubicBezTo>
                    <a:pt x="51174" y="1543050"/>
                    <a:pt x="0" y="1491876"/>
                    <a:pt x="0" y="1428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91656" y="4206240"/>
              <a:ext cx="6634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90 天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393180" y="4543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按线索质量、转化效率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393180" y="4810125"/>
              <a:ext cx="21275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与预算表现评估 ROI，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393180" y="50768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决定是否进入规模扩展。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6400800" y="544830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8839200" y="4095750"/>
              <a:ext cx="2514600" cy="1543050"/>
            </a:xfrm>
            <a:custGeom>
              <a:avLst/>
              <a:gdLst/>
              <a:ahLst/>
              <a:cxnLst/>
              <a:rect l="l" t="t" r="r" b="b"/>
              <a:pathLst>
                <a:path w="2514600" h="1543050">
                  <a:moveTo>
                    <a:pt x="114300" y="0"/>
                  </a:moveTo>
                  <a:lnTo>
                    <a:pt x="2400300" y="0"/>
                  </a:lnTo>
                  <a:cubicBezTo>
                    <a:pt x="2463426" y="0"/>
                    <a:pt x="2514600" y="51174"/>
                    <a:pt x="2514600" y="114300"/>
                  </a:cubicBezTo>
                  <a:lnTo>
                    <a:pt x="2514600" y="1428750"/>
                  </a:lnTo>
                  <a:cubicBezTo>
                    <a:pt x="2514600" y="1491876"/>
                    <a:pt x="2463426" y="1543050"/>
                    <a:pt x="2400300" y="1543050"/>
                  </a:cubicBezTo>
                  <a:lnTo>
                    <a:pt x="114300" y="1543050"/>
                  </a:lnTo>
                  <a:cubicBezTo>
                    <a:pt x="51174" y="1543050"/>
                    <a:pt x="0" y="1491876"/>
                    <a:pt x="0" y="1428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058656" y="420624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治理要求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060561" y="4551521"/>
              <a:ext cx="17409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同步明确数据权限、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060561" y="4818221"/>
              <a:ext cx="17409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人工审核节点与模型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60561" y="5084921"/>
              <a:ext cx="25083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输出边界，避免自动化偏航。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10553700" y="38481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cubicBezTo>
                    <a:pt x="0" y="95250"/>
                    <a:pt x="0" y="171450"/>
                    <a:pt x="0" y="247650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  <a:prstDash val="dash"/>
              <a:tailEnd type="triangle" w="lg" len="lg"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8852154" y="3658552"/>
            <a:ext cx="3403092" cy="2291335"/>
            <a:chOff x="8852154" y="3658552"/>
            <a:chExt cx="3403092" cy="2291335"/>
          </a:xfrm>
        </p:grpSpPr>
        <p:sp>
          <p:nvSpPr>
            <p:cNvPr id="78" name="TextBox 78"/>
            <p:cNvSpPr txBox="1"/>
            <p:nvPr/>
          </p:nvSpPr>
          <p:spPr>
            <a:xfrm>
              <a:off x="10251529" y="36585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收束判断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852154" y="5744528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在试点成效与治理成熟度同时满足后，再进入复制阶段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2026-07-10T17:46:49Z</dcterms:created>
  <dcterms:modified xsi:type="dcterms:W3CDTF">2026-07-10T17:46:49Z</dcterms:modified>
  <cp:category/>
  <cp:contentStatus/>
</cp:coreProperties>
</file>