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用一个统一工作台打通数据整合、AI分析、自动化执行与效果度量，把营销从多系统协同改为可度量的增长运营。</a:t>
            </a:r>
          </a:p>
          <a:p>
            <a:endParaRPr lang="en-US" dirty="0"/>
          </a:p>
          <a:p>
            <a:r>
              <a:rPr lang="zh-CN" dirty="0"/>
              <a:t>• 客户经营数据集中可见</a:t>
            </a:r>
          </a:p>
          <a:p>
            <a:r>
              <a:rPr lang="zh-CN" dirty="0"/>
              <a:t>• 策略生成与执行闭环联动</a:t>
            </a:r>
          </a:p>
          <a:p>
            <a:r>
              <a:rPr lang="zh-CN" dirty="0"/>
              <a:t>• 先控风险，再放大投放效率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决策框架</a:t>
            </a:r>
          </a:p>
          <a:p>
            <a:endParaRPr lang="en-US" dirty="0"/>
          </a:p>
          <a:p>
            <a:r>
              <a:rPr lang="zh-CN" dirty="0"/>
              <a:t>本次简报聚焦为什么现在上、具体买到什么、以及如何低风险落地。</a:t>
            </a:r>
          </a:p>
          <a:p>
            <a:endParaRPr lang="en-US" dirty="0"/>
          </a:p>
          <a:p>
            <a:r>
              <a:rPr lang="zh-CN" dirty="0"/>
              <a:t>• 先看经营约束与机会</a:t>
            </a:r>
          </a:p>
          <a:p>
            <a:r>
              <a:rPr lang="zh-CN" dirty="0"/>
              <a:t>• 再看平台能力与证据</a:t>
            </a:r>
          </a:p>
          <a:p>
            <a:r>
              <a:rPr lang="zh-CN" dirty="0"/>
              <a:t>• 最后明确试点范围与推进节奏</a:t>
            </a:r>
          </a:p>
          <a:p>
            <a:r>
              <a:rPr lang="zh-CN" dirty="0"/>
              <a:t>• 业务现状与判断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先做统一，再做智能</a:t>
            </a:r>
          </a:p>
          <a:p>
            <a:endParaRPr lang="en-US" dirty="0"/>
          </a:p>
          <a:p>
            <a:r>
              <a:rPr lang="zh-CN" dirty="0"/>
              <a:t>多数企业营销问题并不缺工具，而是数据、决策和执行分散在不同系统里，导致预算投下去却很难形成持续优化。</a:t>
            </a:r>
          </a:p>
          <a:p>
            <a:endParaRPr lang="en-US" dirty="0"/>
          </a:p>
          <a:p>
            <a:r>
              <a:rPr lang="zh-CN" dirty="0"/>
              <a:t>• 数据散在CRM、广告、私域与内容平台</a:t>
            </a:r>
          </a:p>
          <a:p>
            <a:r>
              <a:rPr lang="zh-CN" dirty="0"/>
              <a:t>• 策略依赖人工汇总，响应速度慢</a:t>
            </a:r>
          </a:p>
          <a:p>
            <a:r>
              <a:rPr lang="zh-CN" dirty="0"/>
              <a:t>• 结果复盘晚，预算调整常常滞后一周以上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工作方式重构</a:t>
            </a:r>
          </a:p>
          <a:p>
            <a:endParaRPr lang="en-US" dirty="0"/>
          </a:p>
          <a:p>
            <a:r>
              <a:rPr lang="zh-CN" dirty="0"/>
              <a:t>企业AI营销工作台的价值，不是再加一个工具，而是把营销决策链条收拢到同一控制面。</a:t>
            </a:r>
          </a:p>
          <a:p>
            <a:endParaRPr lang="en-US" dirty="0"/>
          </a:p>
          <a:p>
            <a:r>
              <a:rPr lang="zh-CN" dirty="0"/>
              <a:t>• 从人找数据改为数据找问题</a:t>
            </a:r>
          </a:p>
          <a:p>
            <a:r>
              <a:rPr lang="zh-CN" dirty="0"/>
              <a:t>• 从多点执行改为策略统一下发</a:t>
            </a:r>
          </a:p>
          <a:p>
            <a:r>
              <a:rPr lang="zh-CN" dirty="0"/>
              <a:t>• 从事后复盘改为过程监控</a:t>
            </a:r>
          </a:p>
          <a:p>
            <a:r>
              <a:rPr lang="zh-CN" dirty="0"/>
              <a:t>• 关键变量对比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价值落在运营链路</a:t>
            </a:r>
          </a:p>
          <a:p>
            <a:endParaRPr lang="en-US" dirty="0"/>
          </a:p>
          <a:p>
            <a:r>
              <a:rPr lang="zh-CN" dirty="0"/>
              <a:t>这类平台最先产生价值的地方，通常不是模型精度本身，而是缩短从发现问题到执行动作的时间。</a:t>
            </a:r>
          </a:p>
          <a:p>
            <a:endParaRPr lang="en-US" dirty="0"/>
          </a:p>
          <a:p>
            <a:r>
              <a:rPr lang="zh-CN" dirty="0"/>
              <a:t>• 减少跨团队来回确认</a:t>
            </a:r>
          </a:p>
          <a:p>
            <a:r>
              <a:rPr lang="zh-CN" dirty="0"/>
              <a:t>• 提升策略更新频率</a:t>
            </a:r>
          </a:p>
          <a:p>
            <a:r>
              <a:rPr lang="zh-CN" dirty="0"/>
              <a:t>• 让复盘进入日常经营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管理层关注的四个结果</a:t>
            </a:r>
          </a:p>
          <a:p>
            <a:endParaRPr lang="en-US" dirty="0"/>
          </a:p>
          <a:p>
            <a:r>
              <a:rPr lang="zh-CN" dirty="0"/>
              <a:t>该工作台的采购逻辑，应建立在效率提升、收入改善、治理增强和扩展可行四个结果上。</a:t>
            </a:r>
          </a:p>
          <a:p>
            <a:endParaRPr lang="en-US" dirty="0"/>
          </a:p>
          <a:p>
            <a:r>
              <a:rPr lang="zh-CN" dirty="0"/>
              <a:t>• 先看可见收益，再看组织承接能力</a:t>
            </a:r>
          </a:p>
          <a:p>
            <a:r>
              <a:rPr lang="zh-CN" dirty="0"/>
              <a:t>• 指标以试点可验证为准</a:t>
            </a:r>
          </a:p>
          <a:p>
            <a:r>
              <a:rPr lang="zh-CN" dirty="0"/>
              <a:t>• 关键数字</a:t>
            </a:r>
          </a:p>
          <a:p>
            <a:r>
              <a:rPr lang="zh-CN" dirty="0"/>
              <a:t>• 压力指标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四模块闭环</a:t>
            </a:r>
          </a:p>
          <a:p>
            <a:endParaRPr lang="en-US" dirty="0"/>
          </a:p>
          <a:p>
            <a:r>
              <a:rPr lang="zh-CN" dirty="0"/>
              <a:t>这不是四个并列功能，而是一条从数据进入到结果回流的增长操作链。</a:t>
            </a:r>
          </a:p>
          <a:p>
            <a:endParaRPr lang="en-US" dirty="0"/>
          </a:p>
          <a:p>
            <a:r>
              <a:rPr lang="zh-CN" dirty="0"/>
              <a:t>• 前端接入越完整，后端优化越持续</a:t>
            </a:r>
          </a:p>
          <a:p>
            <a:r>
              <a:rPr lang="zh-CN" dirty="0"/>
              <a:t>• 执行与度量必须同源</a:t>
            </a:r>
          </a:p>
          <a:p>
            <a:r>
              <a:rPr lang="zh-CN" dirty="0"/>
              <a:t>• 主轴关系</a:t>
            </a:r>
          </a:p>
          <a:p>
            <a:r>
              <a:rPr lang="zh-CN" dirty="0"/>
              <a:t>• 外溢路径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建议先试点再放大</a:t>
            </a:r>
          </a:p>
          <a:p>
            <a:endParaRPr lang="en-US" dirty="0"/>
          </a:p>
          <a:p>
            <a:r>
              <a:rPr lang="zh-CN" dirty="0"/>
              <a:t>建议以单业务线和明确转化目标启动8-12周试点，在不改变核心业务系统的前提下验证价值。</a:t>
            </a:r>
          </a:p>
          <a:p>
            <a:endParaRPr lang="en-US" dirty="0"/>
          </a:p>
          <a:p>
            <a:r>
              <a:rPr lang="zh-CN" dirty="0"/>
              <a:t>• 先验证闭环，再决定规模化投入</a:t>
            </a:r>
          </a:p>
          <a:p>
            <a:r>
              <a:rPr lang="zh-CN" dirty="0"/>
              <a:t>• 试点成功标准要在启动前锁定</a:t>
            </a:r>
          </a:p>
          <a:p>
            <a:r>
              <a:rPr lang="zh-CN" dirty="0"/>
              <a:t>• 收束判断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0"/>
                  </a:schemeClr>
                </a:gs>
                <a:gs pos="100000">
                  <a:schemeClr val="accent1">
                    <a:alpha val="8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0" y="8001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7810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6096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286750" y="12382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19050">
              <a:solidFill>
                <a:schemeClr val="accent2">
                  <a:alpha val="22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286750" y="19621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19050">
              <a:solidFill>
                <a:schemeClr val="accent2">
                  <a:alpha val="16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286750" y="26860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19050">
              <a:solidFill>
                <a:schemeClr val="accent2">
                  <a:alpha val="16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286750" y="34099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19050">
              <a:solidFill>
                <a:schemeClr val="accent2">
                  <a:alpha val="16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286750" y="41338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19050">
              <a:solidFill>
                <a:schemeClr val="accent2">
                  <a:alpha val="16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286750" y="48577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19050">
              <a:solidFill>
                <a:schemeClr val="accent2">
                  <a:alpha val="16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8286750" y="55816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19050">
              <a:solidFill>
                <a:schemeClr val="accent2">
                  <a:alpha val="16000"/>
                </a:schemeClr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66166" y="401002"/>
            <a:ext cx="11059097" cy="6110764"/>
            <a:chOff x="566166" y="401002"/>
            <a:chExt cx="11059097" cy="6110764"/>
          </a:xfrm>
        </p:grpSpPr>
        <p:sp>
          <p:nvSpPr>
            <p:cNvPr id="16" name="TextBox 16"/>
            <p:cNvSpPr txBox="1"/>
            <p:nvPr/>
          </p:nvSpPr>
          <p:spPr>
            <a:xfrm>
              <a:off x="566166" y="401002"/>
              <a:ext cx="810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9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GRIDBRIEF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71500" y="9334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6738" y="6349841"/>
              <a:ext cx="1917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product-launch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493570" y="63498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52450" y="1066800"/>
            <a:ext cx="10858500" cy="4591050"/>
            <a:chOff x="552450" y="1066800"/>
            <a:chExt cx="10858500" cy="4591050"/>
          </a:xfrm>
        </p:grpSpPr>
        <p:sp>
          <p:nvSpPr>
            <p:cNvPr id="21" name="TextBox 21"/>
            <p:cNvSpPr txBox="1"/>
            <p:nvPr/>
          </p:nvSpPr>
          <p:spPr>
            <a:xfrm>
              <a:off x="552450" y="1348740"/>
              <a:ext cx="68715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企业AI营销工作台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1218" y="2374582"/>
              <a:ext cx="7022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用一个统一工作台打通数据整合、AI分析、自动化执行与效果度量，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218" y="26984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把营销从多系统协同改为可度量的增长运营。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71500" y="3352800"/>
              <a:ext cx="4152900" cy="495300"/>
            </a:xfrm>
            <a:custGeom>
              <a:avLst/>
              <a:gdLst/>
              <a:ahLst/>
              <a:cxnLst/>
              <a:rect l="l" t="t" r="r" b="b"/>
              <a:pathLst>
                <a:path w="4152900" h="495300">
                  <a:moveTo>
                    <a:pt x="95250" y="0"/>
                  </a:moveTo>
                  <a:lnTo>
                    <a:pt x="4057650" y="0"/>
                  </a:lnTo>
                  <a:cubicBezTo>
                    <a:pt x="4110255" y="0"/>
                    <a:pt x="4152900" y="42645"/>
                    <a:pt x="4152900" y="95250"/>
                  </a:cubicBezTo>
                  <a:lnTo>
                    <a:pt x="4152900" y="400050"/>
                  </a:lnTo>
                  <a:cubicBezTo>
                    <a:pt x="4152900" y="452655"/>
                    <a:pt x="4110255" y="495300"/>
                    <a:pt x="4057650" y="495300"/>
                  </a:cubicBezTo>
                  <a:lnTo>
                    <a:pt x="95250" y="495300"/>
                  </a:lnTo>
                  <a:cubicBezTo>
                    <a:pt x="42645" y="495300"/>
                    <a:pt x="0" y="452655"/>
                    <a:pt x="0" y="400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781050" y="35623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4692" y="35213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客户经营数据集中可见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571500" y="4000500"/>
              <a:ext cx="4152900" cy="495300"/>
            </a:xfrm>
            <a:custGeom>
              <a:avLst/>
              <a:gdLst/>
              <a:ahLst/>
              <a:cxnLst/>
              <a:rect l="l" t="t" r="r" b="b"/>
              <a:pathLst>
                <a:path w="4152900" h="495300">
                  <a:moveTo>
                    <a:pt x="95250" y="0"/>
                  </a:moveTo>
                  <a:lnTo>
                    <a:pt x="4057650" y="0"/>
                  </a:lnTo>
                  <a:cubicBezTo>
                    <a:pt x="4110255" y="0"/>
                    <a:pt x="4152900" y="42645"/>
                    <a:pt x="4152900" y="95250"/>
                  </a:cubicBezTo>
                  <a:lnTo>
                    <a:pt x="4152900" y="400050"/>
                  </a:lnTo>
                  <a:cubicBezTo>
                    <a:pt x="4152900" y="452655"/>
                    <a:pt x="4110255" y="495300"/>
                    <a:pt x="4057650" y="495300"/>
                  </a:cubicBezTo>
                  <a:lnTo>
                    <a:pt x="95250" y="495300"/>
                  </a:lnTo>
                  <a:cubicBezTo>
                    <a:pt x="42645" y="495300"/>
                    <a:pt x="0" y="452655"/>
                    <a:pt x="0" y="400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81050" y="4210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64692" y="416909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策略生成与执行闭环联动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71500" y="4648200"/>
              <a:ext cx="4152900" cy="495300"/>
            </a:xfrm>
            <a:custGeom>
              <a:avLst/>
              <a:gdLst/>
              <a:ahLst/>
              <a:cxnLst/>
              <a:rect l="l" t="t" r="r" b="b"/>
              <a:pathLst>
                <a:path w="4152900" h="495300">
                  <a:moveTo>
                    <a:pt x="95250" y="0"/>
                  </a:moveTo>
                  <a:lnTo>
                    <a:pt x="4057650" y="0"/>
                  </a:lnTo>
                  <a:cubicBezTo>
                    <a:pt x="4110255" y="0"/>
                    <a:pt x="4152900" y="42645"/>
                    <a:pt x="4152900" y="95250"/>
                  </a:cubicBezTo>
                  <a:lnTo>
                    <a:pt x="4152900" y="400050"/>
                  </a:lnTo>
                  <a:cubicBezTo>
                    <a:pt x="4152900" y="452655"/>
                    <a:pt x="4110255" y="495300"/>
                    <a:pt x="4057650" y="495300"/>
                  </a:cubicBezTo>
                  <a:lnTo>
                    <a:pt x="95250" y="495300"/>
                  </a:lnTo>
                  <a:cubicBezTo>
                    <a:pt x="42645" y="495300"/>
                    <a:pt x="0" y="452655"/>
                    <a:pt x="0" y="4000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81050" y="48577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64692" y="48167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先控风险，再放大投放效率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324850" y="1066800"/>
              <a:ext cx="2724150" cy="342900"/>
            </a:xfrm>
            <a:custGeom>
              <a:avLst/>
              <a:gdLst/>
              <a:ahLst/>
              <a:cxnLst/>
              <a:rect l="l" t="t" r="r" b="b"/>
              <a:pathLst>
                <a:path w="2724150" h="342900">
                  <a:moveTo>
                    <a:pt x="76200" y="0"/>
                  </a:moveTo>
                  <a:lnTo>
                    <a:pt x="2647950" y="0"/>
                  </a:lnTo>
                  <a:cubicBezTo>
                    <a:pt x="2690034" y="0"/>
                    <a:pt x="2724150" y="34116"/>
                    <a:pt x="2724150" y="76200"/>
                  </a:cubicBezTo>
                  <a:lnTo>
                    <a:pt x="2724150" y="266700"/>
                  </a:lnTo>
                  <a:cubicBezTo>
                    <a:pt x="2724150" y="308784"/>
                    <a:pt x="2690034" y="342900"/>
                    <a:pt x="264795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15425" y="11658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统一营销工作台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8610600" y="1790700"/>
              <a:ext cx="2152650" cy="533400"/>
            </a:xfrm>
            <a:custGeom>
              <a:avLst/>
              <a:gdLst/>
              <a:ahLst/>
              <a:cxnLst/>
              <a:rect l="l" t="t" r="r" b="b"/>
              <a:pathLst>
                <a:path w="2152650" h="533400">
                  <a:moveTo>
                    <a:pt x="95250" y="0"/>
                  </a:moveTo>
                  <a:lnTo>
                    <a:pt x="2057400" y="0"/>
                  </a:lnTo>
                  <a:cubicBezTo>
                    <a:pt x="2110005" y="0"/>
                    <a:pt x="2152650" y="42645"/>
                    <a:pt x="2152650" y="95250"/>
                  </a:cubicBezTo>
                  <a:lnTo>
                    <a:pt x="2152650" y="438150"/>
                  </a:lnTo>
                  <a:cubicBezTo>
                    <a:pt x="2152650" y="490755"/>
                    <a:pt x="2110005" y="533400"/>
                    <a:pt x="205740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12085" y="19269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8610600" y="2514600"/>
              <a:ext cx="2152650" cy="533400"/>
            </a:xfrm>
            <a:custGeom>
              <a:avLst/>
              <a:gdLst/>
              <a:ahLst/>
              <a:cxnLst/>
              <a:rect l="l" t="t" r="r" b="b"/>
              <a:pathLst>
                <a:path w="2152650" h="533400">
                  <a:moveTo>
                    <a:pt x="95250" y="0"/>
                  </a:moveTo>
                  <a:lnTo>
                    <a:pt x="2057400" y="0"/>
                  </a:lnTo>
                  <a:cubicBezTo>
                    <a:pt x="2110005" y="0"/>
                    <a:pt x="2152650" y="42645"/>
                    <a:pt x="2152650" y="95250"/>
                  </a:cubicBezTo>
                  <a:lnTo>
                    <a:pt x="2152650" y="438150"/>
                  </a:lnTo>
                  <a:cubicBezTo>
                    <a:pt x="2152650" y="490755"/>
                    <a:pt x="2110005" y="533400"/>
                    <a:pt x="205740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27379" y="2650808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610600" y="3238500"/>
              <a:ext cx="2152650" cy="533400"/>
            </a:xfrm>
            <a:custGeom>
              <a:avLst/>
              <a:gdLst/>
              <a:ahLst/>
              <a:cxnLst/>
              <a:rect l="l" t="t" r="r" b="b"/>
              <a:pathLst>
                <a:path w="2152650" h="533400">
                  <a:moveTo>
                    <a:pt x="95250" y="0"/>
                  </a:moveTo>
                  <a:lnTo>
                    <a:pt x="2057400" y="0"/>
                  </a:lnTo>
                  <a:cubicBezTo>
                    <a:pt x="2110005" y="0"/>
                    <a:pt x="2152650" y="42645"/>
                    <a:pt x="2152650" y="95250"/>
                  </a:cubicBezTo>
                  <a:lnTo>
                    <a:pt x="2152650" y="438150"/>
                  </a:lnTo>
                  <a:cubicBezTo>
                    <a:pt x="2152650" y="490755"/>
                    <a:pt x="2110005" y="533400"/>
                    <a:pt x="205740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95470" y="3374708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8610600" y="3962400"/>
              <a:ext cx="2152650" cy="533400"/>
            </a:xfrm>
            <a:custGeom>
              <a:avLst/>
              <a:gdLst/>
              <a:ahLst/>
              <a:cxnLst/>
              <a:rect l="l" t="t" r="r" b="b"/>
              <a:pathLst>
                <a:path w="2152650" h="533400">
                  <a:moveTo>
                    <a:pt x="95250" y="0"/>
                  </a:moveTo>
                  <a:lnTo>
                    <a:pt x="2057400" y="0"/>
                  </a:lnTo>
                  <a:cubicBezTo>
                    <a:pt x="2110005" y="0"/>
                    <a:pt x="2152650" y="42645"/>
                    <a:pt x="2152650" y="95250"/>
                  </a:cubicBezTo>
                  <a:lnTo>
                    <a:pt x="2152650" y="438150"/>
                  </a:lnTo>
                  <a:cubicBezTo>
                    <a:pt x="2152650" y="490755"/>
                    <a:pt x="2110005" y="533400"/>
                    <a:pt x="205740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12085" y="40986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324850" y="5219700"/>
              <a:ext cx="2724150" cy="438150"/>
            </a:xfrm>
            <a:custGeom>
              <a:avLst/>
              <a:gdLst/>
              <a:ahLst/>
              <a:cxnLst/>
              <a:rect l="l" t="t" r="r" b="b"/>
              <a:pathLst>
                <a:path w="2724150" h="438150">
                  <a:moveTo>
                    <a:pt x="95250" y="0"/>
                  </a:moveTo>
                  <a:lnTo>
                    <a:pt x="2628900" y="0"/>
                  </a:lnTo>
                  <a:cubicBezTo>
                    <a:pt x="2681505" y="0"/>
                    <a:pt x="2724150" y="42645"/>
                    <a:pt x="2724150" y="95250"/>
                  </a:cubicBezTo>
                  <a:lnTo>
                    <a:pt x="2724150" y="342900"/>
                  </a:lnTo>
                  <a:cubicBezTo>
                    <a:pt x="2724150" y="395505"/>
                    <a:pt x="2681505" y="438150"/>
                    <a:pt x="2628900" y="438150"/>
                  </a:cubicBezTo>
                  <a:lnTo>
                    <a:pt x="95250" y="438150"/>
                  </a:lnTo>
                  <a:cubicBezTo>
                    <a:pt x="42645" y="438150"/>
                    <a:pt x="0" y="395505"/>
                    <a:pt x="0" y="3429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80514" y="535019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从分散协同走向增长运营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9686925" y="14097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9686925" y="23241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9686925" y="3048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9686925" y="37719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9686925" y="4495800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1220450" y="1962150"/>
              <a:ext cx="190500" cy="190500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1220450" y="2686050"/>
              <a:ext cx="190500" cy="190500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1220450" y="3409950"/>
              <a:ext cx="190500" cy="190500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1220450" y="4133850"/>
              <a:ext cx="190500" cy="190500"/>
            </a:xfrm>
            <a:prstGeom prst="ellipse">
              <a:avLst/>
            </a:prstGeom>
            <a:solidFill>
              <a:schemeClr val="accent2">
                <a:alpha val="12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10763250" y="205740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10763250" y="278130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10763250" y="350520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10763250" y="422910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8258175" y="20097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8258175" y="27336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8258175" y="34575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8258175" y="41814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7981950" y="2057400"/>
              <a:ext cx="323850" cy="723900"/>
            </a:xfrm>
            <a:custGeom>
              <a:avLst/>
              <a:gdLst/>
              <a:ahLst/>
              <a:cxnLst/>
              <a:rect l="l" t="t" r="r" b="b"/>
              <a:pathLst>
                <a:path w="323850" h="723900">
                  <a:moveTo>
                    <a:pt x="323850" y="0"/>
                  </a:moveTo>
                  <a:cubicBezTo>
                    <a:pt x="76200" y="0"/>
                    <a:pt x="0" y="171450"/>
                    <a:pt x="0" y="361950"/>
                  </a:cubicBezTo>
                  <a:cubicBezTo>
                    <a:pt x="0" y="552450"/>
                    <a:pt x="76200" y="723900"/>
                    <a:pt x="323850" y="72390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7981950" y="2781300"/>
              <a:ext cx="323850" cy="723900"/>
            </a:xfrm>
            <a:custGeom>
              <a:avLst/>
              <a:gdLst/>
              <a:ahLst/>
              <a:cxnLst/>
              <a:rect l="l" t="t" r="r" b="b"/>
              <a:pathLst>
                <a:path w="323850" h="723900">
                  <a:moveTo>
                    <a:pt x="323850" y="0"/>
                  </a:moveTo>
                  <a:cubicBezTo>
                    <a:pt x="76200" y="0"/>
                    <a:pt x="0" y="171450"/>
                    <a:pt x="0" y="361950"/>
                  </a:cubicBezTo>
                  <a:cubicBezTo>
                    <a:pt x="0" y="552450"/>
                    <a:pt x="76200" y="723900"/>
                    <a:pt x="323850" y="72390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7981950" y="3505200"/>
              <a:ext cx="323850" cy="723900"/>
            </a:xfrm>
            <a:custGeom>
              <a:avLst/>
              <a:gdLst/>
              <a:ahLst/>
              <a:cxnLst/>
              <a:rect l="l" t="t" r="r" b="b"/>
              <a:pathLst>
                <a:path w="323850" h="723900">
                  <a:moveTo>
                    <a:pt x="323850" y="0"/>
                  </a:moveTo>
                  <a:cubicBezTo>
                    <a:pt x="76200" y="0"/>
                    <a:pt x="0" y="171450"/>
                    <a:pt x="0" y="361950"/>
                  </a:cubicBezTo>
                  <a:cubicBezTo>
                    <a:pt x="0" y="552450"/>
                    <a:pt x="76200" y="723900"/>
                    <a:pt x="323850" y="72390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566166" y="1467802"/>
            <a:ext cx="10827639" cy="4520185"/>
            <a:chOff x="566166" y="1467802"/>
            <a:chExt cx="10827639" cy="4520185"/>
          </a:xfrm>
        </p:grpSpPr>
        <p:sp>
          <p:nvSpPr>
            <p:cNvPr id="66" name="TextBox 66"/>
            <p:cNvSpPr txBox="1"/>
            <p:nvPr/>
          </p:nvSpPr>
          <p:spPr>
            <a:xfrm>
              <a:off x="8300466" y="14678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单一入口承接营销数据、洞察、动作与结果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14766" y="5782628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客户、渠道、内容、预算在同一界面被统一编排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66166" y="5773102"/>
              <a:ext cx="4632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面向企业管理层的 SaaS 方案，强调统一视图、可执行策略与持续度量。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1047750"/>
            <a:ext cx="12954000" cy="8667750"/>
            <a:chOff x="0" y="-1047750"/>
            <a:chExt cx="12954000" cy="8667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286750" y="-1047750"/>
              <a:ext cx="4191000" cy="41910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525000" y="4191000"/>
              <a:ext cx="3429000" cy="3429000"/>
            </a:xfrm>
            <a:prstGeom prst="ellipse">
              <a:avLst/>
            </a:prstGeom>
            <a:solidFill>
              <a:schemeClr val="accent3">
                <a:alpha val="6000"/>
              </a:schemeClr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115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66166" y="381952"/>
            <a:ext cx="11059096" cy="6091714"/>
            <a:chOff x="566166" y="381952"/>
            <a:chExt cx="11059096" cy="609171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38195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09858" y="3981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02 / 08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311741"/>
              <a:ext cx="19209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Enterprise AI Marketing Workspace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88329" y="6311741"/>
              <a:ext cx="8369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product-launch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57784" y="622935"/>
            <a:ext cx="10920679" cy="4958715"/>
            <a:chOff x="557784" y="622935"/>
            <a:chExt cx="10920679" cy="4958715"/>
          </a:xfrm>
        </p:grpSpPr>
        <p:sp>
          <p:nvSpPr>
            <p:cNvPr id="13" name="TextBox 13"/>
            <p:cNvSpPr txBox="1"/>
            <p:nvPr/>
          </p:nvSpPr>
          <p:spPr>
            <a:xfrm>
              <a:off x="557784" y="622935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决策框架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118" y="1422082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本次简报聚焦为什么现在上、具体买到什么、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3118" y="1707832"/>
              <a:ext cx="234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以及如何低风险落地。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" y="2266950"/>
              <a:ext cx="3429000" cy="2971800"/>
            </a:xfrm>
            <a:custGeom>
              <a:avLst/>
              <a:gdLst/>
              <a:ahLst/>
              <a:cxnLst/>
              <a:rect l="l" t="t" r="r" b="b"/>
              <a:pathLst>
                <a:path w="3429000" h="29718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2857500"/>
                  </a:lnTo>
                  <a:cubicBezTo>
                    <a:pt x="3429000" y="2920626"/>
                    <a:pt x="3377826" y="2971800"/>
                    <a:pt x="3314700" y="2971800"/>
                  </a:cubicBezTo>
                  <a:lnTo>
                    <a:pt x="114300" y="2971800"/>
                  </a:lnTo>
                  <a:cubicBezTo>
                    <a:pt x="51174" y="2971800"/>
                    <a:pt x="0" y="2920626"/>
                    <a:pt x="0" y="2857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8294" y="24374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阅读顺序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57250" y="30480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9180" y="29908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先看经营约束与机会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57250" y="35623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59180" y="35052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再看平台能力与证据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57250" y="40767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9180" y="40195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最后明确试点范围与推进节奏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57250" y="4591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9180" y="45339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业务现状与判断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38200" y="4905375"/>
              <a:ext cx="28956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2866" y="5049202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从问题、能力、价值到推进路径，按管理决策顺序展开。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4476750" y="1485900"/>
              <a:ext cx="6572250" cy="4095750"/>
            </a:xfrm>
            <a:custGeom>
              <a:avLst/>
              <a:gdLst/>
              <a:ahLst/>
              <a:cxnLst/>
              <a:rect l="l" t="t" r="r" b="b"/>
              <a:pathLst>
                <a:path w="6572250" h="4095750">
                  <a:moveTo>
                    <a:pt x="133350" y="0"/>
                  </a:moveTo>
                  <a:lnTo>
                    <a:pt x="6438900" y="0"/>
                  </a:lnTo>
                  <a:cubicBezTo>
                    <a:pt x="6512547" y="0"/>
                    <a:pt x="6572250" y="59703"/>
                    <a:pt x="6572250" y="133350"/>
                  </a:cubicBezTo>
                  <a:lnTo>
                    <a:pt x="6572250" y="3962400"/>
                  </a:lnTo>
                  <a:cubicBezTo>
                    <a:pt x="6572250" y="4036047"/>
                    <a:pt x="6512547" y="4095750"/>
                    <a:pt x="6438900" y="4095750"/>
                  </a:cubicBezTo>
                  <a:lnTo>
                    <a:pt x="133350" y="4095750"/>
                  </a:lnTo>
                  <a:cubicBezTo>
                    <a:pt x="59703" y="4095750"/>
                    <a:pt x="0" y="4036047"/>
                    <a:pt x="0" y="3962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5334000" y="2114550"/>
              <a:ext cx="9525" cy="2952750"/>
            </a:xfrm>
            <a:custGeom>
              <a:avLst/>
              <a:gdLst/>
              <a:ahLst/>
              <a:cxnLst/>
              <a:rect l="l" t="t" r="r" b="b"/>
              <a:pathLst>
                <a:path w="9525" h="2952750">
                  <a:moveTo>
                    <a:pt x="0" y="0"/>
                  </a:moveTo>
                  <a:lnTo>
                    <a:pt x="0" y="29527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5257800" y="20383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257800" y="2781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257800" y="35242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257800" y="42672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257800" y="4991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5410200" y="211455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5410200" y="28575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410200" y="360045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5410200" y="43434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5410200" y="50673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5810250" y="1790700"/>
              <a:ext cx="4762500" cy="647700"/>
            </a:xfrm>
            <a:custGeom>
              <a:avLst/>
              <a:gdLst/>
              <a:ahLst/>
              <a:cxnLst/>
              <a:rect l="l" t="t" r="r" b="b"/>
              <a:pathLst>
                <a:path w="4762500" h="647700">
                  <a:moveTo>
                    <a:pt x="95250" y="0"/>
                  </a:moveTo>
                  <a:lnTo>
                    <a:pt x="4667250" y="0"/>
                  </a:lnTo>
                  <a:cubicBezTo>
                    <a:pt x="4719855" y="0"/>
                    <a:pt x="4762500" y="42645"/>
                    <a:pt x="4762500" y="95250"/>
                  </a:cubicBezTo>
                  <a:lnTo>
                    <a:pt x="4762500" y="552450"/>
                  </a:lnTo>
                  <a:cubicBezTo>
                    <a:pt x="4762500" y="605055"/>
                    <a:pt x="4719855" y="647700"/>
                    <a:pt x="4667250" y="647700"/>
                  </a:cubicBezTo>
                  <a:lnTo>
                    <a:pt x="95250" y="647700"/>
                  </a:lnTo>
                  <a:cubicBezTo>
                    <a:pt x="42645" y="647700"/>
                    <a:pt x="0" y="605055"/>
                    <a:pt x="0" y="552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89142" y="18926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8356" y="1844040"/>
              <a:ext cx="24377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先看经营约束与机会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404" y="2156460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明确增长压力、渠道分散与数据断点，为统一平台给出业务起点。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5810250" y="2533650"/>
              <a:ext cx="4762500" cy="647700"/>
            </a:xfrm>
            <a:custGeom>
              <a:avLst/>
              <a:gdLst/>
              <a:ahLst/>
              <a:cxnLst/>
              <a:rect l="l" t="t" r="r" b="b"/>
              <a:pathLst>
                <a:path w="4762500" h="647700">
                  <a:moveTo>
                    <a:pt x="95250" y="0"/>
                  </a:moveTo>
                  <a:lnTo>
                    <a:pt x="4667250" y="0"/>
                  </a:lnTo>
                  <a:cubicBezTo>
                    <a:pt x="4719855" y="0"/>
                    <a:pt x="4762500" y="42645"/>
                    <a:pt x="4762500" y="95250"/>
                  </a:cubicBezTo>
                  <a:lnTo>
                    <a:pt x="4762500" y="552450"/>
                  </a:lnTo>
                  <a:cubicBezTo>
                    <a:pt x="4762500" y="605055"/>
                    <a:pt x="4719855" y="647700"/>
                    <a:pt x="4667250" y="647700"/>
                  </a:cubicBezTo>
                  <a:lnTo>
                    <a:pt x="95250" y="647700"/>
                  </a:lnTo>
                  <a:cubicBezTo>
                    <a:pt x="42645" y="647700"/>
                    <a:pt x="0" y="605055"/>
                    <a:pt x="0" y="552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89142" y="26355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8356" y="2586990"/>
              <a:ext cx="24377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再看平台能力与证据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1404" y="2899410"/>
              <a:ext cx="4817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围绕数据整合、AI 分析、自动化执行与效果度量建立产品认知。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5810250" y="3276600"/>
              <a:ext cx="4762500" cy="647700"/>
            </a:xfrm>
            <a:custGeom>
              <a:avLst/>
              <a:gdLst/>
              <a:ahLst/>
              <a:cxnLst/>
              <a:rect l="l" t="t" r="r" b="b"/>
              <a:pathLst>
                <a:path w="4762500" h="647700">
                  <a:moveTo>
                    <a:pt x="95250" y="0"/>
                  </a:moveTo>
                  <a:lnTo>
                    <a:pt x="4667250" y="0"/>
                  </a:lnTo>
                  <a:cubicBezTo>
                    <a:pt x="4719855" y="0"/>
                    <a:pt x="4762500" y="42645"/>
                    <a:pt x="4762500" y="95250"/>
                  </a:cubicBezTo>
                  <a:lnTo>
                    <a:pt x="4762500" y="552450"/>
                  </a:lnTo>
                  <a:cubicBezTo>
                    <a:pt x="4762500" y="605055"/>
                    <a:pt x="4719855" y="647700"/>
                    <a:pt x="4667250" y="647700"/>
                  </a:cubicBezTo>
                  <a:lnTo>
                    <a:pt x="95250" y="647700"/>
                  </a:lnTo>
                  <a:cubicBezTo>
                    <a:pt x="42645" y="647700"/>
                    <a:pt x="0" y="605055"/>
                    <a:pt x="0" y="5524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89142" y="3378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58356" y="3329940"/>
              <a:ext cx="35131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最后明确试点范围与推进节奏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1404" y="364236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用低风险试点验证价值，再按组织与场景逐步放大。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5810250" y="4019550"/>
              <a:ext cx="2286000" cy="838200"/>
            </a:xfrm>
            <a:custGeom>
              <a:avLst/>
              <a:gdLst/>
              <a:ahLst/>
              <a:cxnLst/>
              <a:rect l="l" t="t" r="r" b="b"/>
              <a:pathLst>
                <a:path w="2286000" h="838200">
                  <a:moveTo>
                    <a:pt x="95250" y="0"/>
                  </a:moveTo>
                  <a:lnTo>
                    <a:pt x="2190750" y="0"/>
                  </a:lnTo>
                  <a:cubicBezTo>
                    <a:pt x="2243355" y="0"/>
                    <a:pt x="2286000" y="42645"/>
                    <a:pt x="2286000" y="95250"/>
                  </a:cubicBezTo>
                  <a:lnTo>
                    <a:pt x="2286000" y="742950"/>
                  </a:lnTo>
                  <a:cubicBezTo>
                    <a:pt x="2286000" y="795555"/>
                    <a:pt x="2243355" y="838200"/>
                    <a:pt x="2190750" y="838200"/>
                  </a:cubicBezTo>
                  <a:lnTo>
                    <a:pt x="95250" y="838200"/>
                  </a:lnTo>
                  <a:cubicBezTo>
                    <a:pt x="42645" y="838200"/>
                    <a:pt x="0" y="795555"/>
                    <a:pt x="0" y="742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89142" y="4140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87618" y="4374832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业务现状与判断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90666" y="46491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统一口径与决策依据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8286750" y="4019550"/>
              <a:ext cx="2286000" cy="838200"/>
            </a:xfrm>
            <a:custGeom>
              <a:avLst/>
              <a:gdLst/>
              <a:ahLst/>
              <a:cxnLst/>
              <a:rect l="l" t="t" r="r" b="b"/>
              <a:pathLst>
                <a:path w="2286000" h="838200">
                  <a:moveTo>
                    <a:pt x="95250" y="0"/>
                  </a:moveTo>
                  <a:lnTo>
                    <a:pt x="2190750" y="0"/>
                  </a:lnTo>
                  <a:cubicBezTo>
                    <a:pt x="2243355" y="0"/>
                    <a:pt x="2286000" y="42645"/>
                    <a:pt x="2286000" y="95250"/>
                  </a:cubicBezTo>
                  <a:lnTo>
                    <a:pt x="2286000" y="742950"/>
                  </a:lnTo>
                  <a:cubicBezTo>
                    <a:pt x="2286000" y="795555"/>
                    <a:pt x="2243355" y="838200"/>
                    <a:pt x="2190750" y="838200"/>
                  </a:cubicBezTo>
                  <a:lnTo>
                    <a:pt x="95250" y="838200"/>
                  </a:lnTo>
                  <a:cubicBezTo>
                    <a:pt x="42645" y="838200"/>
                    <a:pt x="0" y="795555"/>
                    <a:pt x="0" y="742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565642" y="41405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64118" y="4374832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关键模块与价值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67166" y="46491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能力闭环对应经营结果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5810250" y="5067300"/>
              <a:ext cx="4762500" cy="285750"/>
            </a:xfrm>
            <a:custGeom>
              <a:avLst/>
              <a:gdLst/>
              <a:ahLst/>
              <a:cxnLst/>
              <a:rect l="l" t="t" r="r" b="b"/>
              <a:pathLst>
                <a:path w="4762500" h="285750">
                  <a:moveTo>
                    <a:pt x="142875" y="0"/>
                  </a:moveTo>
                  <a:lnTo>
                    <a:pt x="4619625" y="0"/>
                  </a:lnTo>
                  <a:cubicBezTo>
                    <a:pt x="4698533" y="0"/>
                    <a:pt x="4762500" y="63967"/>
                    <a:pt x="4762500" y="142875"/>
                  </a:cubicBezTo>
                  <a:lnTo>
                    <a:pt x="4762500" y="142875"/>
                  </a:lnTo>
                  <a:cubicBezTo>
                    <a:pt x="4762500" y="221783"/>
                    <a:pt x="4698533" y="285750"/>
                    <a:pt x="46196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811528" y="5144452"/>
              <a:ext cx="27599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问题识别 → 能力理解 → 试点验证 → 规模复制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471988" y="1160145"/>
            <a:ext cx="6106096" cy="4494466"/>
            <a:chOff x="4471988" y="1160145"/>
            <a:chExt cx="6106096" cy="4494466"/>
          </a:xfrm>
        </p:grpSpPr>
        <p:sp>
          <p:nvSpPr>
            <p:cNvPr id="63" name="TextBox 63"/>
            <p:cNvSpPr txBox="1"/>
            <p:nvPr/>
          </p:nvSpPr>
          <p:spPr>
            <a:xfrm>
              <a:off x="4471988" y="1160145"/>
              <a:ext cx="16815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module_rail / executive flow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33641" y="5449252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核心判断：先统一底座，再引入智能，最后按试点扩张。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-762000"/>
            <a:ext cx="12477750" cy="8096250"/>
            <a:chOff x="0" y="-762000"/>
            <a:chExt cx="12477750" cy="8096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334250" y="0"/>
              <a:ext cx="4857750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001000" y="-762000"/>
              <a:ext cx="4191000" cy="41910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048750" y="3905250"/>
              <a:ext cx="3429000" cy="3429000"/>
            </a:xfrm>
            <a:prstGeom prst="ellipse">
              <a:avLst/>
            </a:prstGeom>
            <a:solidFill>
              <a:schemeClr val="accent3">
                <a:alpha val="8000"/>
              </a:scheme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0" y="8763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334250" y="876300"/>
              <a:ext cx="9525" cy="5981700"/>
            </a:xfrm>
            <a:custGeom>
              <a:avLst/>
              <a:gdLst/>
              <a:ahLst/>
              <a:cxnLst/>
              <a:rect l="l" t="t" r="r" b="b"/>
              <a:pathLst>
                <a:path w="9525" h="5981700">
                  <a:moveTo>
                    <a:pt x="0" y="0"/>
                  </a:moveTo>
                  <a:lnTo>
                    <a:pt x="0" y="59817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66166" y="401002"/>
            <a:ext cx="11059097" cy="294323"/>
            <a:chOff x="566166" y="401002"/>
            <a:chExt cx="11059097" cy="294323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4010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6858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71647" y="4252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93570" y="425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4736" y="1072515"/>
            <a:ext cx="11065764" cy="5023485"/>
            <a:chOff x="554736" y="1072515"/>
            <a:chExt cx="11065764" cy="5023485"/>
          </a:xfrm>
        </p:grpSpPr>
        <p:sp>
          <p:nvSpPr>
            <p:cNvPr id="14" name="TextBox 14"/>
            <p:cNvSpPr txBox="1"/>
            <p:nvPr/>
          </p:nvSpPr>
          <p:spPr>
            <a:xfrm>
              <a:off x="554736" y="1072515"/>
              <a:ext cx="446928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先做统一，再做智能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71500" y="1828800"/>
              <a:ext cx="6286500" cy="2533650"/>
            </a:xfrm>
            <a:custGeom>
              <a:avLst/>
              <a:gdLst/>
              <a:ahLst/>
              <a:cxnLst/>
              <a:rect l="l" t="t" r="r" b="b"/>
              <a:pathLst>
                <a:path w="6286500" h="2533650">
                  <a:moveTo>
                    <a:pt x="114300" y="0"/>
                  </a:moveTo>
                  <a:lnTo>
                    <a:pt x="6172200" y="0"/>
                  </a:lnTo>
                  <a:cubicBezTo>
                    <a:pt x="6235326" y="0"/>
                    <a:pt x="6286500" y="51174"/>
                    <a:pt x="6286500" y="114300"/>
                  </a:cubicBezTo>
                  <a:lnTo>
                    <a:pt x="6286500" y="2419350"/>
                  </a:lnTo>
                  <a:cubicBezTo>
                    <a:pt x="6286500" y="2482476"/>
                    <a:pt x="6235326" y="2533650"/>
                    <a:pt x="6172200" y="2533650"/>
                  </a:cubicBezTo>
                  <a:lnTo>
                    <a:pt x="114300" y="2533650"/>
                  </a:lnTo>
                  <a:cubicBezTo>
                    <a:pt x="51174" y="2533650"/>
                    <a:pt x="0" y="2482476"/>
                    <a:pt x="0" y="24193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1"/>
            </a:gradFill>
            <a:ln w="14288">
              <a:solidFill>
                <a:schemeClr val="accent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" y="1828800"/>
              <a:ext cx="95250" cy="2533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1451" y="2298859"/>
              <a:ext cx="6463665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多数企业营销问题并不缺工具，而是数据、决策和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1451" y="2717959"/>
              <a:ext cx="617086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执行分散在不同系统里，导致预算投下去却很难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1451" y="3137059"/>
              <a:ext cx="207168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形成持续优化。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7753350" y="1219200"/>
              <a:ext cx="3867150" cy="3848100"/>
            </a:xfrm>
            <a:custGeom>
              <a:avLst/>
              <a:gdLst/>
              <a:ahLst/>
              <a:cxnLst/>
              <a:rect l="l" t="t" r="r" b="b"/>
              <a:pathLst>
                <a:path w="3867150" h="3848100">
                  <a:moveTo>
                    <a:pt x="152400" y="0"/>
                  </a:moveTo>
                  <a:lnTo>
                    <a:pt x="3714750" y="0"/>
                  </a:lnTo>
                  <a:cubicBezTo>
                    <a:pt x="3798918" y="0"/>
                    <a:pt x="3867150" y="68232"/>
                    <a:pt x="3867150" y="152400"/>
                  </a:cubicBezTo>
                  <a:lnTo>
                    <a:pt x="3867150" y="3695700"/>
                  </a:lnTo>
                  <a:cubicBezTo>
                    <a:pt x="3867150" y="3779868"/>
                    <a:pt x="3798918" y="3848100"/>
                    <a:pt x="3714750" y="3848100"/>
                  </a:cubicBezTo>
                  <a:lnTo>
                    <a:pt x="152400" y="3848100"/>
                  </a:lnTo>
                  <a:cubicBezTo>
                    <a:pt x="68232" y="3848100"/>
                    <a:pt x="0" y="3779868"/>
                    <a:pt x="0" y="36957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67294" y="146589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现状信号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8077200" y="2038350"/>
              <a:ext cx="3219450" cy="781050"/>
            </a:xfrm>
            <a:custGeom>
              <a:avLst/>
              <a:gdLst/>
              <a:ahLst/>
              <a:cxnLst/>
              <a:rect l="l" t="t" r="r" b="b"/>
              <a:pathLst>
                <a:path w="3219450" h="781050">
                  <a:moveTo>
                    <a:pt x="95250" y="0"/>
                  </a:moveTo>
                  <a:lnTo>
                    <a:pt x="3124200" y="0"/>
                  </a:lnTo>
                  <a:cubicBezTo>
                    <a:pt x="3176805" y="0"/>
                    <a:pt x="3219450" y="42645"/>
                    <a:pt x="3219450" y="95250"/>
                  </a:cubicBezTo>
                  <a:lnTo>
                    <a:pt x="3219450" y="685800"/>
                  </a:lnTo>
                  <a:cubicBezTo>
                    <a:pt x="3219450" y="738405"/>
                    <a:pt x="3176805" y="781050"/>
                    <a:pt x="3124200" y="781050"/>
                  </a:cubicBezTo>
                  <a:lnTo>
                    <a:pt x="95250" y="781050"/>
                  </a:lnTo>
                  <a:cubicBezTo>
                    <a:pt x="42645" y="781050"/>
                    <a:pt x="0" y="738405"/>
                    <a:pt x="0" y="6858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229600" y="2295525"/>
              <a:ext cx="266700" cy="2667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324850" y="23907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41080" y="2181225"/>
              <a:ext cx="2737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数据散在 CRM、广告、私域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1080" y="2428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与内容平台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077200" y="3009900"/>
              <a:ext cx="3219450" cy="781050"/>
            </a:xfrm>
            <a:custGeom>
              <a:avLst/>
              <a:gdLst/>
              <a:ahLst/>
              <a:cxnLst/>
              <a:rect l="l" t="t" r="r" b="b"/>
              <a:pathLst>
                <a:path w="3219450" h="781050">
                  <a:moveTo>
                    <a:pt x="95250" y="0"/>
                  </a:moveTo>
                  <a:lnTo>
                    <a:pt x="3124200" y="0"/>
                  </a:lnTo>
                  <a:cubicBezTo>
                    <a:pt x="3176805" y="0"/>
                    <a:pt x="3219450" y="42645"/>
                    <a:pt x="3219450" y="95250"/>
                  </a:cubicBezTo>
                  <a:lnTo>
                    <a:pt x="3219450" y="685800"/>
                  </a:lnTo>
                  <a:cubicBezTo>
                    <a:pt x="3219450" y="738405"/>
                    <a:pt x="3176805" y="781050"/>
                    <a:pt x="3124200" y="781050"/>
                  </a:cubicBezTo>
                  <a:lnTo>
                    <a:pt x="95250" y="781050"/>
                  </a:lnTo>
                  <a:cubicBezTo>
                    <a:pt x="42645" y="781050"/>
                    <a:pt x="0" y="738405"/>
                    <a:pt x="0" y="6858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229600" y="3267075"/>
              <a:ext cx="266700" cy="2667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305800" y="3352800"/>
              <a:ext cx="123825" cy="85725"/>
            </a:xfrm>
            <a:custGeom>
              <a:avLst/>
              <a:gdLst/>
              <a:ahLst/>
              <a:cxnLst/>
              <a:rect l="l" t="t" r="r" b="b"/>
              <a:pathLst>
                <a:path w="123825" h="85725">
                  <a:moveTo>
                    <a:pt x="0" y="47625"/>
                  </a:moveTo>
                  <a:lnTo>
                    <a:pt x="38100" y="85725"/>
                  </a:lnTo>
                  <a:lnTo>
                    <a:pt x="123825" y="0"/>
                  </a:lnTo>
                </a:path>
              </a:pathLst>
            </a:custGeom>
            <a:noFill/>
            <a:ln w="20955" cap="rnd">
              <a:solidFill>
                <a:schemeClr val="accent2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41080" y="315277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策略依赖人工汇总，响应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41080" y="34004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速度慢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8077200" y="3981450"/>
              <a:ext cx="3219450" cy="781050"/>
            </a:xfrm>
            <a:custGeom>
              <a:avLst/>
              <a:gdLst/>
              <a:ahLst/>
              <a:cxnLst/>
              <a:rect l="l" t="t" r="r" b="b"/>
              <a:pathLst>
                <a:path w="3219450" h="781050">
                  <a:moveTo>
                    <a:pt x="95250" y="0"/>
                  </a:moveTo>
                  <a:lnTo>
                    <a:pt x="3124200" y="0"/>
                  </a:lnTo>
                  <a:cubicBezTo>
                    <a:pt x="3176805" y="0"/>
                    <a:pt x="3219450" y="42645"/>
                    <a:pt x="3219450" y="95250"/>
                  </a:cubicBezTo>
                  <a:lnTo>
                    <a:pt x="3219450" y="685800"/>
                  </a:lnTo>
                  <a:cubicBezTo>
                    <a:pt x="3219450" y="738405"/>
                    <a:pt x="3176805" y="781050"/>
                    <a:pt x="3124200" y="781050"/>
                  </a:cubicBezTo>
                  <a:lnTo>
                    <a:pt x="95250" y="781050"/>
                  </a:lnTo>
                  <a:cubicBezTo>
                    <a:pt x="42645" y="781050"/>
                    <a:pt x="0" y="738405"/>
                    <a:pt x="0" y="6858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8229600" y="4238625"/>
              <a:ext cx="266700" cy="2667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362950" y="4276725"/>
              <a:ext cx="66675" cy="161925"/>
            </a:xfrm>
            <a:custGeom>
              <a:avLst/>
              <a:gdLst/>
              <a:ahLst/>
              <a:cxnLst/>
              <a:rect l="l" t="t" r="r" b="b"/>
              <a:pathLst>
                <a:path w="66675" h="161925">
                  <a:moveTo>
                    <a:pt x="0" y="0"/>
                  </a:moveTo>
                  <a:lnTo>
                    <a:pt x="0" y="95250"/>
                  </a:lnTo>
                  <a:lnTo>
                    <a:pt x="66675" y="161925"/>
                  </a:lnTo>
                </a:path>
              </a:pathLst>
            </a:custGeom>
            <a:noFill/>
            <a:ln w="20955" cap="rnd">
              <a:solidFill>
                <a:schemeClr val="accent2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41080" y="4124325"/>
              <a:ext cx="2559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结果复盘晚，预算调整常常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41080" y="4371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滞后一周以上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571500" y="4895850"/>
              <a:ext cx="11049000" cy="1200150"/>
            </a:xfrm>
            <a:custGeom>
              <a:avLst/>
              <a:gdLst/>
              <a:ahLst/>
              <a:cxnLst/>
              <a:rect l="l" t="t" r="r" b="b"/>
              <a:pathLst>
                <a:path w="11049000" h="1200150">
                  <a:moveTo>
                    <a:pt x="133350" y="0"/>
                  </a:moveTo>
                  <a:lnTo>
                    <a:pt x="10915650" y="0"/>
                  </a:lnTo>
                  <a:cubicBezTo>
                    <a:pt x="10989297" y="0"/>
                    <a:pt x="11049000" y="59703"/>
                    <a:pt x="11049000" y="133350"/>
                  </a:cubicBezTo>
                  <a:lnTo>
                    <a:pt x="11049000" y="1066800"/>
                  </a:lnTo>
                  <a:cubicBezTo>
                    <a:pt x="11049000" y="1140447"/>
                    <a:pt x="10989297" y="1200150"/>
                    <a:pt x="10915650" y="1200150"/>
                  </a:cubicBezTo>
                  <a:lnTo>
                    <a:pt x="133350" y="1200150"/>
                  </a:lnTo>
                  <a:cubicBezTo>
                    <a:pt x="59703" y="1200150"/>
                    <a:pt x="0" y="1140447"/>
                    <a:pt x="0" y="10668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56310" y="5057775"/>
              <a:ext cx="27691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99794" y="518064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平台建设顺序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00556" y="5577840"/>
              <a:ext cx="57662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先打通数据与流程，再把 AI 放进分析和执行闭环。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858000" y="3048000"/>
            <a:ext cx="2852318" cy="2578037"/>
            <a:chOff x="6858000" y="3048000"/>
            <a:chExt cx="2852318" cy="2578037"/>
          </a:xfrm>
        </p:grpSpPr>
        <p:sp>
          <p:nvSpPr>
            <p:cNvPr id="42" name="Line 42"/>
            <p:cNvSpPr/>
            <p:nvPr/>
          </p:nvSpPr>
          <p:spPr>
            <a:xfrm>
              <a:off x="6858000" y="3095625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7439025" y="30480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Line 44"/>
            <p:cNvSpPr/>
            <p:nvPr/>
          </p:nvSpPr>
          <p:spPr>
            <a:xfrm>
              <a:off x="6858000" y="3657600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250000" sp="250000"/>
              </a:custDash>
            </a:ln>
          </p:spPr>
        </p:sp>
        <p:sp>
          <p:nvSpPr>
            <p:cNvPr id="45" name="Ellipse 45"/>
            <p:cNvSpPr/>
            <p:nvPr/>
          </p:nvSpPr>
          <p:spPr>
            <a:xfrm>
              <a:off x="7439025" y="36099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6858000" y="4219575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7439025" y="41719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90866" y="5420678"/>
              <a:ext cx="20194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统一是 AI 营销工作台的前提层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-457200"/>
            <a:ext cx="12192000" cy="7315200"/>
            <a:chOff x="0" y="-457200"/>
            <a:chExt cx="12192000" cy="73152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alpha val="4000"/>
              </a:scheme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11239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571500" y="8763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124950" y="-457200"/>
              <a:ext cx="2667000" cy="26670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382250" y="609600"/>
              <a:ext cx="1295400" cy="1295400"/>
            </a:xfrm>
            <a:prstGeom prst="ellipse">
              <a:avLst/>
            </a:prstGeom>
            <a:solidFill>
              <a:schemeClr val="accent3">
                <a:alpha val="8000"/>
              </a:scheme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439102"/>
            <a:ext cx="11067479" cy="6129814"/>
            <a:chOff x="557784" y="439102"/>
            <a:chExt cx="11067479" cy="612981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439102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641985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工作方式重构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738" y="64069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93570" y="64069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1314450"/>
            <a:ext cx="11049000" cy="4610100"/>
            <a:chOff x="571500" y="1314450"/>
            <a:chExt cx="11049000" cy="4610100"/>
          </a:xfrm>
        </p:grpSpPr>
        <p:sp>
          <p:nvSpPr>
            <p:cNvPr id="14" name="Freeform 14"/>
            <p:cNvSpPr/>
            <p:nvPr/>
          </p:nvSpPr>
          <p:spPr>
            <a:xfrm>
              <a:off x="571500" y="1314450"/>
              <a:ext cx="11049000" cy="704850"/>
            </a:xfrm>
            <a:custGeom>
              <a:avLst/>
              <a:gdLst/>
              <a:ahLst/>
              <a:cxnLst/>
              <a:rect l="l" t="t" r="r" b="b"/>
              <a:pathLst>
                <a:path w="11049000" h="704850">
                  <a:moveTo>
                    <a:pt x="133350" y="0"/>
                  </a:moveTo>
                  <a:lnTo>
                    <a:pt x="10915650" y="0"/>
                  </a:lnTo>
                  <a:cubicBezTo>
                    <a:pt x="10989297" y="0"/>
                    <a:pt x="11049000" y="59703"/>
                    <a:pt x="11049000" y="133350"/>
                  </a:cubicBezTo>
                  <a:lnTo>
                    <a:pt x="11049000" y="571500"/>
                  </a:lnTo>
                  <a:cubicBezTo>
                    <a:pt x="11049000" y="645147"/>
                    <a:pt x="10989297" y="704850"/>
                    <a:pt x="10915650" y="704850"/>
                  </a:cubicBezTo>
                  <a:lnTo>
                    <a:pt x="133350" y="704850"/>
                  </a:lnTo>
                  <a:cubicBezTo>
                    <a:pt x="59703" y="704850"/>
                    <a:pt x="0" y="645147"/>
                    <a:pt x="0" y="5715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9056" y="1405890"/>
              <a:ext cx="104624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企业AI营销工作台的价值，不是再加一个工具，而是把营销决策链条收拢到同一控制面。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838200" y="1743075"/>
              <a:ext cx="2628900" cy="47625"/>
            </a:xfrm>
            <a:custGeom>
              <a:avLst/>
              <a:gdLst/>
              <a:ahLst/>
              <a:cxnLst/>
              <a:rect l="l" t="t" r="r" b="b"/>
              <a:pathLst>
                <a:path w="2628900" h="47625">
                  <a:moveTo>
                    <a:pt x="23812" y="0"/>
                  </a:moveTo>
                  <a:lnTo>
                    <a:pt x="2605088" y="0"/>
                  </a:lnTo>
                  <a:cubicBezTo>
                    <a:pt x="2618239" y="0"/>
                    <a:pt x="2628900" y="10661"/>
                    <a:pt x="2628900" y="23812"/>
                  </a:cubicBezTo>
                  <a:lnTo>
                    <a:pt x="2628900" y="23812"/>
                  </a:lnTo>
                  <a:cubicBezTo>
                    <a:pt x="2628900" y="36964"/>
                    <a:pt x="2618239" y="47625"/>
                    <a:pt x="2605088" y="47625"/>
                  </a:cubicBezTo>
                  <a:lnTo>
                    <a:pt x="23812" y="47625"/>
                  </a:lnTo>
                  <a:cubicBezTo>
                    <a:pt x="10661" y="47625"/>
                    <a:pt x="0" y="36964"/>
                    <a:pt x="0" y="23812"/>
                  </a:cubicBezTo>
                  <a:lnTo>
                    <a:pt x="0" y="23812"/>
                  </a:lnTo>
                  <a:cubicBezTo>
                    <a:pt x="0" y="10661"/>
                    <a:pt x="10661" y="0"/>
                    <a:pt x="238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571500" y="2266950"/>
              <a:ext cx="3429000" cy="3657600"/>
              <a:chOff x="571500" y="2266950"/>
              <a:chExt cx="3429000" cy="3657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571500" y="2266950"/>
                <a:ext cx="3429000" cy="36576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3657600">
                    <a:moveTo>
                      <a:pt x="152400" y="0"/>
                    </a:moveTo>
                    <a:lnTo>
                      <a:pt x="3276600" y="0"/>
                    </a:lnTo>
                    <a:cubicBezTo>
                      <a:pt x="3360768" y="0"/>
                      <a:pt x="3429000" y="68232"/>
                      <a:pt x="3429000" y="152400"/>
                    </a:cubicBezTo>
                    <a:lnTo>
                      <a:pt x="3429000" y="3505200"/>
                    </a:lnTo>
                    <a:cubicBezTo>
                      <a:pt x="3429000" y="3589368"/>
                      <a:pt x="3360768" y="3657600"/>
                      <a:pt x="3276600" y="3657600"/>
                    </a:cubicBezTo>
                    <a:lnTo>
                      <a:pt x="152400" y="3657600"/>
                    </a:lnTo>
                    <a:cubicBezTo>
                      <a:pt x="68232" y="3657600"/>
                      <a:pt x="0" y="3589368"/>
                      <a:pt x="0" y="35052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71500" y="2266950"/>
                <a:ext cx="34290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114300">
                    <a:moveTo>
                      <a:pt x="152400" y="0"/>
                    </a:moveTo>
                    <a:lnTo>
                      <a:pt x="3276600" y="0"/>
                    </a:lnTo>
                    <a:cubicBezTo>
                      <a:pt x="3360768" y="0"/>
                      <a:pt x="3429000" y="25587"/>
                      <a:pt x="3429000" y="57150"/>
                    </a:cubicBezTo>
                    <a:lnTo>
                      <a:pt x="3429000" y="57150"/>
                    </a:lnTo>
                    <a:cubicBezTo>
                      <a:pt x="3429000" y="88713"/>
                      <a:pt x="3360768" y="114300"/>
                      <a:pt x="3276600" y="114300"/>
                    </a:cubicBezTo>
                    <a:lnTo>
                      <a:pt x="152400" y="114300"/>
                    </a:lnTo>
                    <a:cubicBezTo>
                      <a:pt x="68232" y="114300"/>
                      <a:pt x="0" y="88713"/>
                      <a:pt x="0" y="57150"/>
                    </a:cubicBezTo>
                    <a:lnTo>
                      <a:pt x="0" y="57150"/>
                    </a:lnTo>
                    <a:cubicBezTo>
                      <a:pt x="0" y="25587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781050" y="2562225"/>
                <a:ext cx="342900" cy="342900"/>
              </a:xfrm>
              <a:prstGeom prst="ellipse">
                <a:avLst/>
              </a:prstGeom>
              <a:solidFill>
                <a:schemeClr val="accent6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66775" y="264795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lnTo>
                      <a:pt x="171450" y="85725"/>
                    </a:lnTo>
                    <a:moveTo>
                      <a:pt x="85725" y="0"/>
                    </a:moveTo>
                    <a:lnTo>
                      <a:pt x="85725" y="17145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chemeClr val="accent2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08532" y="2564130"/>
                <a:ext cx="127589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传统模式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29818" y="298418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系统多，动作碎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838200" y="33337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31342" y="35880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数据整合靠导表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31342" y="40071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分析依赖人工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31342" y="442626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投放、内容、私域各自执行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31342" y="484536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复盘常常晚于市场变化</a:t>
                </a:r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838200" y="5305425"/>
                <a:ext cx="28956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400050">
                    <a:moveTo>
                      <a:pt x="95250" y="0"/>
                    </a:moveTo>
                    <a:lnTo>
                      <a:pt x="2800350" y="0"/>
                    </a:lnTo>
                    <a:cubicBezTo>
                      <a:pt x="2852955" y="0"/>
                      <a:pt x="2895600" y="42645"/>
                      <a:pt x="2895600" y="95250"/>
                    </a:cubicBezTo>
                    <a:lnTo>
                      <a:pt x="2895600" y="304800"/>
                    </a:lnTo>
                    <a:cubicBezTo>
                      <a:pt x="2895600" y="357405"/>
                      <a:pt x="2852955" y="400050"/>
                      <a:pt x="2800350" y="400050"/>
                    </a:cubicBezTo>
                    <a:lnTo>
                      <a:pt x="95250" y="400050"/>
                    </a:lnTo>
                    <a:cubicBezTo>
                      <a:pt x="42645" y="400050"/>
                      <a:pt x="0" y="357405"/>
                      <a:pt x="0" y="3048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124864" y="5433060"/>
                <a:ext cx="23222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分散响应 · 串行协同 · 反馈滞后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4381500" y="2266950"/>
              <a:ext cx="3429000" cy="3657600"/>
              <a:chOff x="4381500" y="2266950"/>
              <a:chExt cx="3429000" cy="3657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4381500" y="2266950"/>
                <a:ext cx="3429000" cy="36576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3657600">
                    <a:moveTo>
                      <a:pt x="152400" y="0"/>
                    </a:moveTo>
                    <a:lnTo>
                      <a:pt x="3276600" y="0"/>
                    </a:lnTo>
                    <a:cubicBezTo>
                      <a:pt x="3360768" y="0"/>
                      <a:pt x="3429000" y="68232"/>
                      <a:pt x="3429000" y="152400"/>
                    </a:cubicBezTo>
                    <a:lnTo>
                      <a:pt x="3429000" y="3505200"/>
                    </a:lnTo>
                    <a:cubicBezTo>
                      <a:pt x="3429000" y="3589368"/>
                      <a:pt x="3360768" y="3657600"/>
                      <a:pt x="3276600" y="3657600"/>
                    </a:cubicBezTo>
                    <a:lnTo>
                      <a:pt x="152400" y="3657600"/>
                    </a:lnTo>
                    <a:cubicBezTo>
                      <a:pt x="68232" y="3657600"/>
                      <a:pt x="0" y="3589368"/>
                      <a:pt x="0" y="35052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381500" y="2266950"/>
                <a:ext cx="34290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114300">
                    <a:moveTo>
                      <a:pt x="152400" y="0"/>
                    </a:moveTo>
                    <a:lnTo>
                      <a:pt x="3276600" y="0"/>
                    </a:lnTo>
                    <a:cubicBezTo>
                      <a:pt x="3360768" y="0"/>
                      <a:pt x="3429000" y="25587"/>
                      <a:pt x="3429000" y="57150"/>
                    </a:cubicBezTo>
                    <a:lnTo>
                      <a:pt x="3429000" y="57150"/>
                    </a:lnTo>
                    <a:cubicBezTo>
                      <a:pt x="3429000" y="88713"/>
                      <a:pt x="3360768" y="114300"/>
                      <a:pt x="3276600" y="114300"/>
                    </a:cubicBezTo>
                    <a:lnTo>
                      <a:pt x="152400" y="114300"/>
                    </a:lnTo>
                    <a:cubicBezTo>
                      <a:pt x="68232" y="114300"/>
                      <a:pt x="0" y="88713"/>
                      <a:pt x="0" y="57150"/>
                    </a:cubicBezTo>
                    <a:lnTo>
                      <a:pt x="0" y="57150"/>
                    </a:lnTo>
                    <a:cubicBezTo>
                      <a:pt x="0" y="25587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4591050" y="2562225"/>
                <a:ext cx="342900" cy="342900"/>
              </a:xfrm>
              <a:prstGeom prst="ellipse">
                <a:avLst/>
              </a:prstGeom>
              <a:solidFill>
                <a:schemeClr val="accent6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676775" y="2676525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0" y="57150"/>
                    </a:moveTo>
                    <a:lnTo>
                      <a:pt x="57150" y="114300"/>
                    </a:lnTo>
                    <a:lnTo>
                      <a:pt x="171450" y="0"/>
                    </a:lnTo>
                  </a:path>
                </a:pathLst>
              </a:custGeom>
              <a:noFill/>
              <a:ln w="23812" cap="rnd">
                <a:solidFill>
                  <a:schemeClr val="accent2"/>
                </a:solidFill>
                <a:round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018532" y="2564130"/>
                <a:ext cx="158953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工作台模式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639818" y="298418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统一面，闭环快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4648200" y="33337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641342" y="358806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统一接入业务数据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641342" y="4007168"/>
                <a:ext cx="19051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AI生成洞察与策略建议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641342" y="442626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自动化任务联动执行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641342" y="484536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效果回收形成日内优化</a:t>
                </a:r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4648200" y="5305425"/>
                <a:ext cx="28956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400050">
                    <a:moveTo>
                      <a:pt x="95250" y="0"/>
                    </a:moveTo>
                    <a:lnTo>
                      <a:pt x="2800350" y="0"/>
                    </a:lnTo>
                    <a:cubicBezTo>
                      <a:pt x="2852955" y="0"/>
                      <a:pt x="2895600" y="42645"/>
                      <a:pt x="2895600" y="95250"/>
                    </a:cubicBezTo>
                    <a:lnTo>
                      <a:pt x="2895600" y="304800"/>
                    </a:lnTo>
                    <a:cubicBezTo>
                      <a:pt x="2895600" y="357405"/>
                      <a:pt x="2852955" y="400050"/>
                      <a:pt x="2800350" y="400050"/>
                    </a:cubicBezTo>
                    <a:lnTo>
                      <a:pt x="95250" y="400050"/>
                    </a:lnTo>
                    <a:cubicBezTo>
                      <a:pt x="42645" y="400050"/>
                      <a:pt x="0" y="357405"/>
                      <a:pt x="0" y="3048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>
                <a:solidFill>
                  <a:schemeClr val="accent3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4934864" y="5433060"/>
                <a:ext cx="23222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统一感知 · 并联执行 · 快速迭代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8191500" y="2266950"/>
              <a:ext cx="3429000" cy="3657600"/>
              <a:chOff x="8191500" y="2266950"/>
              <a:chExt cx="3429000" cy="36576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191500" y="2266950"/>
                <a:ext cx="3429000" cy="36576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3657600">
                    <a:moveTo>
                      <a:pt x="152400" y="0"/>
                    </a:moveTo>
                    <a:lnTo>
                      <a:pt x="3276600" y="0"/>
                    </a:lnTo>
                    <a:cubicBezTo>
                      <a:pt x="3360768" y="0"/>
                      <a:pt x="3429000" y="68232"/>
                      <a:pt x="3429000" y="152400"/>
                    </a:cubicBezTo>
                    <a:lnTo>
                      <a:pt x="3429000" y="3505200"/>
                    </a:lnTo>
                    <a:cubicBezTo>
                      <a:pt x="3429000" y="3589368"/>
                      <a:pt x="3360768" y="3657600"/>
                      <a:pt x="3276600" y="3657600"/>
                    </a:cubicBezTo>
                    <a:lnTo>
                      <a:pt x="152400" y="3657600"/>
                    </a:lnTo>
                    <a:cubicBezTo>
                      <a:pt x="68232" y="3657600"/>
                      <a:pt x="0" y="3589368"/>
                      <a:pt x="0" y="35052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91500" y="2266950"/>
                <a:ext cx="34290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114300">
                    <a:moveTo>
                      <a:pt x="152400" y="0"/>
                    </a:moveTo>
                    <a:lnTo>
                      <a:pt x="3276600" y="0"/>
                    </a:lnTo>
                    <a:cubicBezTo>
                      <a:pt x="3360768" y="0"/>
                      <a:pt x="3429000" y="25587"/>
                      <a:pt x="3429000" y="57150"/>
                    </a:cubicBezTo>
                    <a:lnTo>
                      <a:pt x="3429000" y="57150"/>
                    </a:lnTo>
                    <a:cubicBezTo>
                      <a:pt x="3429000" y="88713"/>
                      <a:pt x="3360768" y="114300"/>
                      <a:pt x="3276600" y="114300"/>
                    </a:cubicBezTo>
                    <a:lnTo>
                      <a:pt x="152400" y="114300"/>
                    </a:lnTo>
                    <a:cubicBezTo>
                      <a:pt x="68232" y="114300"/>
                      <a:pt x="0" y="88713"/>
                      <a:pt x="0" y="57150"/>
                    </a:cubicBezTo>
                    <a:lnTo>
                      <a:pt x="0" y="57150"/>
                    </a:lnTo>
                    <a:cubicBezTo>
                      <a:pt x="0" y="25587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8401050" y="2562225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496300" y="2619375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0" y="171450"/>
                    </a:moveTo>
                    <a:lnTo>
                      <a:pt x="0" y="57150"/>
                    </a:lnTo>
                    <a:lnTo>
                      <a:pt x="152400" y="57150"/>
                    </a:lnTo>
                    <a:lnTo>
                      <a:pt x="152400" y="171450"/>
                    </a:lnTo>
                    <a:moveTo>
                      <a:pt x="76200" y="5715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 cap="rnd">
                <a:solidFill>
                  <a:schemeClr val="accent3"/>
                </a:solidFill>
                <a:round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828532" y="2564130"/>
                <a:ext cx="127589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管理视角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449818" y="2984182"/>
                <a:ext cx="11829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决策更可控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8458200" y="333375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451342" y="358806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预算分配在一个视图追踪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451342" y="400716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活动节奏与客群策略同步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451342" y="442626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转化看板集中呈现投入产出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451342" y="484536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高层可按变量快速纠偏</a:t>
                </a:r>
              </a:p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8458200" y="5305425"/>
                <a:ext cx="289560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400050">
                    <a:moveTo>
                      <a:pt x="95250" y="0"/>
                    </a:moveTo>
                    <a:lnTo>
                      <a:pt x="2800350" y="0"/>
                    </a:lnTo>
                    <a:cubicBezTo>
                      <a:pt x="2852955" y="0"/>
                      <a:pt x="2895600" y="42645"/>
                      <a:pt x="2895600" y="95250"/>
                    </a:cubicBezTo>
                    <a:lnTo>
                      <a:pt x="2895600" y="304800"/>
                    </a:lnTo>
                    <a:cubicBezTo>
                      <a:pt x="2895600" y="357405"/>
                      <a:pt x="2852955" y="400050"/>
                      <a:pt x="2800350" y="400050"/>
                    </a:cubicBezTo>
                    <a:lnTo>
                      <a:pt x="95250" y="400050"/>
                    </a:lnTo>
                    <a:cubicBezTo>
                      <a:pt x="42645" y="400050"/>
                      <a:pt x="0" y="357405"/>
                      <a:pt x="0" y="3048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627745" y="5433060"/>
                <a:ext cx="25565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预算 · 节奏 · 客群 · 转化 同屏协同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4000500" y="4057650"/>
              <a:ext cx="4191000" cy="76200"/>
              <a:chOff x="4000500" y="4057650"/>
              <a:chExt cx="4191000" cy="76200"/>
            </a:xfrm>
          </p:grpSpPr>
          <p:sp>
            <p:nvSpPr>
              <p:cNvPr id="59" name="Line 59"/>
              <p:cNvSpPr/>
              <p:nvPr/>
            </p:nvSpPr>
            <p:spPr>
              <a:xfrm>
                <a:off x="4000500" y="40957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60" name="Line 60"/>
              <p:cNvSpPr/>
              <p:nvPr/>
            </p:nvSpPr>
            <p:spPr>
              <a:xfrm>
                <a:off x="7810500" y="40957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4152900" y="405765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7962900" y="4057650"/>
                <a:ext cx="76200" cy="76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</p:grpSp>
      <p:grpSp>
        <p:nvGrpSpPr>
          <p:cNvPr id="70" name="Group 70"/>
          <p:cNvGrpSpPr/>
          <p:nvPr/>
        </p:nvGrpSpPr>
        <p:grpSpPr>
          <a:xfrm>
            <a:off x="571500" y="6096000"/>
            <a:ext cx="11049000" cy="342900"/>
            <a:chOff x="571500" y="6096000"/>
            <a:chExt cx="11049000" cy="342900"/>
          </a:xfrm>
        </p:grpSpPr>
        <p:sp>
          <p:nvSpPr>
            <p:cNvPr id="65" name="Freeform 65"/>
            <p:cNvSpPr/>
            <p:nvPr/>
          </p:nvSpPr>
          <p:spPr>
            <a:xfrm>
              <a:off x="571500" y="6096000"/>
              <a:ext cx="11049000" cy="342900"/>
            </a:xfrm>
            <a:custGeom>
              <a:avLst/>
              <a:gdLst/>
              <a:ahLst/>
              <a:cxnLst/>
              <a:rect l="l" t="t" r="r" b="b"/>
              <a:pathLst>
                <a:path w="11049000" h="34290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247650"/>
                  </a:lnTo>
                  <a:cubicBezTo>
                    <a:pt x="11049000" y="300255"/>
                    <a:pt x="11006355" y="342900"/>
                    <a:pt x="109537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4004" y="618553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从人找数据改为数据找问题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270504" y="618553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从多点执行改为策略统一下发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66154" y="618553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从事后复盘改为过程监控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766554" y="61855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关键变量对比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552450"/>
            <a:ext cx="12763500" cy="7981950"/>
            <a:chOff x="0" y="-552450"/>
            <a:chExt cx="12763500" cy="79819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71500" y="1028700"/>
              <a:ext cx="11049000" cy="5219700"/>
            </a:xfrm>
            <a:custGeom>
              <a:avLst/>
              <a:gdLst/>
              <a:ahLst/>
              <a:cxnLst/>
              <a:rect l="l" t="t" r="r" b="b"/>
              <a:pathLst>
                <a:path w="11049000" h="52197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5105400"/>
                  </a:lnTo>
                  <a:cubicBezTo>
                    <a:pt x="11049000" y="5168526"/>
                    <a:pt x="10997826" y="5219700"/>
                    <a:pt x="10934700" y="5219700"/>
                  </a:cubicBezTo>
                  <a:lnTo>
                    <a:pt x="114300" y="5219700"/>
                  </a:lnTo>
                  <a:cubicBezTo>
                    <a:pt x="51174" y="5219700"/>
                    <a:pt x="0" y="5168526"/>
                    <a:pt x="0" y="5105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620125" y="-552450"/>
              <a:ext cx="3429000" cy="34290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0" y="4572000"/>
              <a:ext cx="2857500" cy="2857500"/>
            </a:xfrm>
            <a:prstGeom prst="ellipse">
              <a:avLst/>
            </a:prstGeom>
            <a:solidFill>
              <a:schemeClr val="accent3">
                <a:alpha val="6000"/>
              </a:scheme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1619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398145"/>
            <a:ext cx="11245263" cy="6246971"/>
            <a:chOff x="557784" y="398145"/>
            <a:chExt cx="11245263" cy="6246971"/>
          </a:xfrm>
        </p:grpSpPr>
        <p:sp>
          <p:nvSpPr>
            <p:cNvPr id="8" name="TextBox 8"/>
            <p:cNvSpPr txBox="1"/>
            <p:nvPr/>
          </p:nvSpPr>
          <p:spPr>
            <a:xfrm>
              <a:off x="566738" y="398145"/>
              <a:ext cx="790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PROOFGRID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584835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价值落在运营链路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9906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091738" y="4062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77488" y="6483191"/>
              <a:ext cx="14255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product-launch / evidence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63880" y="1190625"/>
            <a:ext cx="11056620" cy="4848225"/>
            <a:chOff x="563880" y="1190625"/>
            <a:chExt cx="11056620" cy="4848225"/>
          </a:xfrm>
        </p:grpSpPr>
        <p:sp>
          <p:nvSpPr>
            <p:cNvPr id="15" name="TextBox 15"/>
            <p:cNvSpPr txBox="1"/>
            <p:nvPr/>
          </p:nvSpPr>
          <p:spPr>
            <a:xfrm>
              <a:off x="563880" y="119062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这类平台最先产生价值的地方，通常不是模型精度本身，而是缩短从发现问题到执行动作的时间。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" y="1885950"/>
              <a:ext cx="3429000" cy="609600"/>
            </a:xfrm>
            <a:custGeom>
              <a:avLst/>
              <a:gdLst/>
              <a:ahLst/>
              <a:cxnLst/>
              <a:rect l="l" t="t" r="r" b="b"/>
              <a:pathLst>
                <a:path w="3429000" h="609600">
                  <a:moveTo>
                    <a:pt x="95250" y="0"/>
                  </a:moveTo>
                  <a:lnTo>
                    <a:pt x="3333750" y="0"/>
                  </a:lnTo>
                  <a:cubicBezTo>
                    <a:pt x="3386355" y="0"/>
                    <a:pt x="3429000" y="42645"/>
                    <a:pt x="3429000" y="95250"/>
                  </a:cubicBezTo>
                  <a:lnTo>
                    <a:pt x="3429000" y="514350"/>
                  </a:lnTo>
                  <a:cubicBezTo>
                    <a:pt x="3429000" y="566955"/>
                    <a:pt x="3386355" y="609600"/>
                    <a:pt x="33337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267200" y="1885950"/>
              <a:ext cx="3467100" cy="609600"/>
            </a:xfrm>
            <a:custGeom>
              <a:avLst/>
              <a:gdLst/>
              <a:ahLst/>
              <a:cxnLst/>
              <a:rect l="l" t="t" r="r" b="b"/>
              <a:pathLst>
                <a:path w="3467100" h="609600">
                  <a:moveTo>
                    <a:pt x="95250" y="0"/>
                  </a:moveTo>
                  <a:lnTo>
                    <a:pt x="3371850" y="0"/>
                  </a:lnTo>
                  <a:cubicBezTo>
                    <a:pt x="3424455" y="0"/>
                    <a:pt x="3467100" y="42645"/>
                    <a:pt x="3467100" y="95250"/>
                  </a:cubicBezTo>
                  <a:lnTo>
                    <a:pt x="3467100" y="514350"/>
                  </a:lnTo>
                  <a:cubicBezTo>
                    <a:pt x="3467100" y="566955"/>
                    <a:pt x="3424455" y="609600"/>
                    <a:pt x="33718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001000" y="1885950"/>
              <a:ext cx="3619500" cy="609600"/>
            </a:xfrm>
            <a:custGeom>
              <a:avLst/>
              <a:gdLst/>
              <a:ahLst/>
              <a:cxnLst/>
              <a:rect l="l" t="t" r="r" b="b"/>
              <a:pathLst>
                <a:path w="3619500" h="6096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514350"/>
                  </a:lnTo>
                  <a:cubicBezTo>
                    <a:pt x="3619500" y="566955"/>
                    <a:pt x="3576855" y="609600"/>
                    <a:pt x="3524250" y="609600"/>
                  </a:cubicBezTo>
                  <a:lnTo>
                    <a:pt x="95250" y="609600"/>
                  </a:lnTo>
                  <a:cubicBezTo>
                    <a:pt x="42645" y="609600"/>
                    <a:pt x="0" y="566955"/>
                    <a:pt x="0" y="5143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00100" y="21145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59942" y="2102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减少跨团队来回确认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4495800" y="21145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55642" y="2102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提升策略更新频率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229600" y="21145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89442" y="21021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让复盘进入日常经营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723900" y="2876550"/>
              <a:ext cx="2381250" cy="2533650"/>
            </a:xfrm>
            <a:custGeom>
              <a:avLst/>
              <a:gdLst/>
              <a:ahLst/>
              <a:cxnLst/>
              <a:rect l="l" t="t" r="r" b="b"/>
              <a:pathLst>
                <a:path w="2381250" h="2533650">
                  <a:moveTo>
                    <a:pt x="114300" y="0"/>
                  </a:moveTo>
                  <a:lnTo>
                    <a:pt x="2266950" y="0"/>
                  </a:lnTo>
                  <a:cubicBezTo>
                    <a:pt x="2330076" y="0"/>
                    <a:pt x="2381250" y="51174"/>
                    <a:pt x="2381250" y="114300"/>
                  </a:cubicBezTo>
                  <a:lnTo>
                    <a:pt x="2381250" y="2419350"/>
                  </a:lnTo>
                  <a:cubicBezTo>
                    <a:pt x="2381250" y="2482476"/>
                    <a:pt x="2330076" y="2533650"/>
                    <a:pt x="2266950" y="2533650"/>
                  </a:cubicBezTo>
                  <a:lnTo>
                    <a:pt x="114300" y="2533650"/>
                  </a:lnTo>
                  <a:cubicBezTo>
                    <a:pt x="51174" y="2533650"/>
                    <a:pt x="0" y="2482476"/>
                    <a:pt x="0" y="24193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257550" y="2876550"/>
              <a:ext cx="2381250" cy="2533650"/>
            </a:xfrm>
            <a:custGeom>
              <a:avLst/>
              <a:gdLst/>
              <a:ahLst/>
              <a:cxnLst/>
              <a:rect l="l" t="t" r="r" b="b"/>
              <a:pathLst>
                <a:path w="2381250" h="2533650">
                  <a:moveTo>
                    <a:pt x="114300" y="0"/>
                  </a:moveTo>
                  <a:lnTo>
                    <a:pt x="2266950" y="0"/>
                  </a:lnTo>
                  <a:cubicBezTo>
                    <a:pt x="2330076" y="0"/>
                    <a:pt x="2381250" y="51174"/>
                    <a:pt x="2381250" y="114300"/>
                  </a:cubicBezTo>
                  <a:lnTo>
                    <a:pt x="2381250" y="2419350"/>
                  </a:lnTo>
                  <a:cubicBezTo>
                    <a:pt x="2381250" y="2482476"/>
                    <a:pt x="2330076" y="2533650"/>
                    <a:pt x="2266950" y="2533650"/>
                  </a:cubicBezTo>
                  <a:lnTo>
                    <a:pt x="114300" y="2533650"/>
                  </a:lnTo>
                  <a:cubicBezTo>
                    <a:pt x="51174" y="2533650"/>
                    <a:pt x="0" y="2482476"/>
                    <a:pt x="0" y="24193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5791200" y="2876550"/>
              <a:ext cx="2381250" cy="2533650"/>
            </a:xfrm>
            <a:custGeom>
              <a:avLst/>
              <a:gdLst/>
              <a:ahLst/>
              <a:cxnLst/>
              <a:rect l="l" t="t" r="r" b="b"/>
              <a:pathLst>
                <a:path w="2381250" h="2533650">
                  <a:moveTo>
                    <a:pt x="114300" y="0"/>
                  </a:moveTo>
                  <a:lnTo>
                    <a:pt x="2266950" y="0"/>
                  </a:lnTo>
                  <a:cubicBezTo>
                    <a:pt x="2330076" y="0"/>
                    <a:pt x="2381250" y="51174"/>
                    <a:pt x="2381250" y="114300"/>
                  </a:cubicBezTo>
                  <a:lnTo>
                    <a:pt x="2381250" y="2419350"/>
                  </a:lnTo>
                  <a:cubicBezTo>
                    <a:pt x="2381250" y="2482476"/>
                    <a:pt x="2330076" y="2533650"/>
                    <a:pt x="2266950" y="2533650"/>
                  </a:cubicBezTo>
                  <a:lnTo>
                    <a:pt x="114300" y="2533650"/>
                  </a:lnTo>
                  <a:cubicBezTo>
                    <a:pt x="51174" y="2533650"/>
                    <a:pt x="0" y="2482476"/>
                    <a:pt x="0" y="24193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324850" y="2876550"/>
              <a:ext cx="2381250" cy="2533650"/>
            </a:xfrm>
            <a:custGeom>
              <a:avLst/>
              <a:gdLst/>
              <a:ahLst/>
              <a:cxnLst/>
              <a:rect l="l" t="t" r="r" b="b"/>
              <a:pathLst>
                <a:path w="2381250" h="2533650">
                  <a:moveTo>
                    <a:pt x="114300" y="0"/>
                  </a:moveTo>
                  <a:lnTo>
                    <a:pt x="2266950" y="0"/>
                  </a:lnTo>
                  <a:cubicBezTo>
                    <a:pt x="2330076" y="0"/>
                    <a:pt x="2381250" y="51174"/>
                    <a:pt x="2381250" y="114300"/>
                  </a:cubicBezTo>
                  <a:lnTo>
                    <a:pt x="2381250" y="2419350"/>
                  </a:lnTo>
                  <a:cubicBezTo>
                    <a:pt x="2381250" y="2482476"/>
                    <a:pt x="2330076" y="2533650"/>
                    <a:pt x="2266950" y="2533650"/>
                  </a:cubicBezTo>
                  <a:lnTo>
                    <a:pt x="114300" y="2533650"/>
                  </a:lnTo>
                  <a:cubicBezTo>
                    <a:pt x="51174" y="2533650"/>
                    <a:pt x="0" y="2482476"/>
                    <a:pt x="0" y="24193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23900" y="287655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3257550" y="287655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5791200" y="287655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324850" y="287655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38100"/>
                  </a:lnTo>
                  <a:cubicBezTo>
                    <a:pt x="2381250" y="59142"/>
                    <a:pt x="2364192" y="76200"/>
                    <a:pt x="23431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14400" y="31813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76200" y="0"/>
                  </a:moveTo>
                  <a:lnTo>
                    <a:pt x="285750" y="0"/>
                  </a:lnTo>
                  <a:cubicBezTo>
                    <a:pt x="327834" y="0"/>
                    <a:pt x="361950" y="34116"/>
                    <a:pt x="361950" y="76200"/>
                  </a:cubicBezTo>
                  <a:lnTo>
                    <a:pt x="361950" y="285750"/>
                  </a:lnTo>
                  <a:cubicBezTo>
                    <a:pt x="361950" y="327834"/>
                    <a:pt x="327834" y="361950"/>
                    <a:pt x="285750" y="361950"/>
                  </a:cubicBezTo>
                  <a:lnTo>
                    <a:pt x="76200" y="361950"/>
                  </a:lnTo>
                  <a:cubicBezTo>
                    <a:pt x="34116" y="361950"/>
                    <a:pt x="0" y="327834"/>
                    <a:pt x="0" y="285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3448050" y="31813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76200" y="0"/>
                  </a:moveTo>
                  <a:lnTo>
                    <a:pt x="285750" y="0"/>
                  </a:lnTo>
                  <a:cubicBezTo>
                    <a:pt x="327834" y="0"/>
                    <a:pt x="361950" y="34116"/>
                    <a:pt x="361950" y="76200"/>
                  </a:cubicBezTo>
                  <a:lnTo>
                    <a:pt x="361950" y="285750"/>
                  </a:lnTo>
                  <a:cubicBezTo>
                    <a:pt x="361950" y="327834"/>
                    <a:pt x="327834" y="361950"/>
                    <a:pt x="285750" y="361950"/>
                  </a:cubicBezTo>
                  <a:lnTo>
                    <a:pt x="76200" y="361950"/>
                  </a:lnTo>
                  <a:cubicBezTo>
                    <a:pt x="34116" y="361950"/>
                    <a:pt x="0" y="327834"/>
                    <a:pt x="0" y="285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5981700" y="31813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76200" y="0"/>
                  </a:moveTo>
                  <a:lnTo>
                    <a:pt x="285750" y="0"/>
                  </a:lnTo>
                  <a:cubicBezTo>
                    <a:pt x="327834" y="0"/>
                    <a:pt x="361950" y="34116"/>
                    <a:pt x="361950" y="76200"/>
                  </a:cubicBezTo>
                  <a:lnTo>
                    <a:pt x="361950" y="285750"/>
                  </a:lnTo>
                  <a:cubicBezTo>
                    <a:pt x="361950" y="327834"/>
                    <a:pt x="327834" y="361950"/>
                    <a:pt x="285750" y="361950"/>
                  </a:cubicBezTo>
                  <a:lnTo>
                    <a:pt x="76200" y="361950"/>
                  </a:lnTo>
                  <a:cubicBezTo>
                    <a:pt x="34116" y="361950"/>
                    <a:pt x="0" y="327834"/>
                    <a:pt x="0" y="285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515350" y="31813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76200" y="0"/>
                  </a:moveTo>
                  <a:lnTo>
                    <a:pt x="285750" y="0"/>
                  </a:lnTo>
                  <a:cubicBezTo>
                    <a:pt x="327834" y="0"/>
                    <a:pt x="361950" y="34116"/>
                    <a:pt x="361950" y="76200"/>
                  </a:cubicBezTo>
                  <a:lnTo>
                    <a:pt x="361950" y="285750"/>
                  </a:lnTo>
                  <a:cubicBezTo>
                    <a:pt x="361950" y="327834"/>
                    <a:pt x="327834" y="361950"/>
                    <a:pt x="285750" y="361950"/>
                  </a:cubicBezTo>
                  <a:lnTo>
                    <a:pt x="76200" y="361950"/>
                  </a:lnTo>
                  <a:cubicBezTo>
                    <a:pt x="34116" y="361950"/>
                    <a:pt x="0" y="327834"/>
                    <a:pt x="0" y="2857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42975" y="3181350"/>
              <a:ext cx="304800" cy="238125"/>
            </a:xfrm>
            <a:custGeom>
              <a:avLst/>
              <a:gdLst/>
              <a:ahLst/>
              <a:cxnLst/>
              <a:rect l="l" t="t" r="r" b="b"/>
              <a:pathLst>
                <a:path w="304800" h="238125">
                  <a:moveTo>
                    <a:pt x="57150" y="238125"/>
                  </a:moveTo>
                  <a:lnTo>
                    <a:pt x="57150" y="104775"/>
                  </a:lnTo>
                  <a:lnTo>
                    <a:pt x="247650" y="104775"/>
                  </a:lnTo>
                  <a:lnTo>
                    <a:pt x="247650" y="238125"/>
                  </a:lnTo>
                  <a:moveTo>
                    <a:pt x="152400" y="104775"/>
                  </a:moveTo>
                  <a:lnTo>
                    <a:pt x="152400" y="0"/>
                  </a:lnTo>
                  <a:moveTo>
                    <a:pt x="0" y="171450"/>
                  </a:moveTo>
                  <a:lnTo>
                    <a:pt x="304800" y="1714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3486150" y="3238500"/>
              <a:ext cx="285750" cy="266700"/>
            </a:xfrm>
            <a:custGeom>
              <a:avLst/>
              <a:gdLst/>
              <a:ahLst/>
              <a:cxnLst/>
              <a:rect l="l" t="t" r="r" b="b"/>
              <a:pathLst>
                <a:path w="285750" h="266700">
                  <a:moveTo>
                    <a:pt x="66675" y="57150"/>
                  </a:moveTo>
                  <a:lnTo>
                    <a:pt x="219075" y="57150"/>
                  </a:lnTo>
                  <a:lnTo>
                    <a:pt x="219075" y="209550"/>
                  </a:lnTo>
                  <a:lnTo>
                    <a:pt x="66675" y="209550"/>
                  </a:lnTo>
                  <a:close/>
                  <a:moveTo>
                    <a:pt x="123825" y="0"/>
                  </a:moveTo>
                  <a:lnTo>
                    <a:pt x="161925" y="57150"/>
                  </a:lnTo>
                  <a:lnTo>
                    <a:pt x="200025" y="0"/>
                  </a:lnTo>
                  <a:moveTo>
                    <a:pt x="57150" y="114300"/>
                  </a:moveTo>
                  <a:lnTo>
                    <a:pt x="0" y="152400"/>
                  </a:lnTo>
                  <a:moveTo>
                    <a:pt x="228600" y="114300"/>
                  </a:moveTo>
                  <a:lnTo>
                    <a:pt x="285750" y="76200"/>
                  </a:lnTo>
                  <a:moveTo>
                    <a:pt x="142875" y="209550"/>
                  </a:moveTo>
                  <a:lnTo>
                    <a:pt x="142875" y="26670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</p:spPr>
        </p:sp>
        <p:sp>
          <p:nvSpPr>
            <p:cNvPr id="39" name="Freeform 39"/>
            <p:cNvSpPr/>
            <p:nvPr/>
          </p:nvSpPr>
          <p:spPr>
            <a:xfrm>
              <a:off x="6038850" y="3276600"/>
              <a:ext cx="247650" cy="171450"/>
            </a:xfrm>
            <a:custGeom>
              <a:avLst/>
              <a:gdLst/>
              <a:ahLst/>
              <a:cxnLst/>
              <a:rect l="l" t="t" r="r" b="b"/>
              <a:pathLst>
                <a:path w="247650" h="171450">
                  <a:moveTo>
                    <a:pt x="66675" y="0"/>
                  </a:moveTo>
                  <a:lnTo>
                    <a:pt x="180975" y="0"/>
                  </a:lnTo>
                  <a:lnTo>
                    <a:pt x="180975" y="66675"/>
                  </a:lnTo>
                  <a:lnTo>
                    <a:pt x="114300" y="66675"/>
                  </a:lnTo>
                  <a:lnTo>
                    <a:pt x="114300" y="171450"/>
                  </a:lnTo>
                  <a:lnTo>
                    <a:pt x="0" y="171450"/>
                  </a:lnTo>
                  <a:lnTo>
                    <a:pt x="0" y="104775"/>
                  </a:lnTo>
                  <a:lnTo>
                    <a:pt x="66675" y="104775"/>
                  </a:lnTo>
                  <a:close/>
                  <a:moveTo>
                    <a:pt x="180975" y="66675"/>
                  </a:moveTo>
                  <a:lnTo>
                    <a:pt x="247650" y="66675"/>
                  </a:lnTo>
                  <a:lnTo>
                    <a:pt x="247650" y="171450"/>
                  </a:lnTo>
                  <a:lnTo>
                    <a:pt x="133350" y="1714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round/>
            </a:ln>
          </p:spPr>
        </p:sp>
        <p:sp>
          <p:nvSpPr>
            <p:cNvPr id="40" name="Freeform 40"/>
            <p:cNvSpPr/>
            <p:nvPr/>
          </p:nvSpPr>
          <p:spPr>
            <a:xfrm>
              <a:off x="8591550" y="3238500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38100" y="57150"/>
                  </a:moveTo>
                  <a:lnTo>
                    <a:pt x="38100" y="190500"/>
                  </a:lnTo>
                  <a:lnTo>
                    <a:pt x="209550" y="190500"/>
                  </a:lnTo>
                  <a:moveTo>
                    <a:pt x="133350" y="57150"/>
                  </a:moveTo>
                  <a:lnTo>
                    <a:pt x="133350" y="190500"/>
                  </a:lnTo>
                  <a:moveTo>
                    <a:pt x="0" y="247650"/>
                  </a:moveTo>
                  <a:cubicBezTo>
                    <a:pt x="57150" y="171450"/>
                    <a:pt x="190500" y="171450"/>
                    <a:pt x="247650" y="247650"/>
                  </a:cubicBezTo>
                  <a:moveTo>
                    <a:pt x="19050" y="0"/>
                  </a:moveTo>
                  <a:lnTo>
                    <a:pt x="247650" y="0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4494" y="36185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数据整合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9881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统一汇聚客户、渠道、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4254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内容与交易数据后，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7542" y="45215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管理层首次能在同一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7542" y="4788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视图判断线索质量、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0549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活动效果与预算去向。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38144" y="3618548"/>
              <a:ext cx="1133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 分析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441192" y="39881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平台自动识别高潜客群、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41192" y="4254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异常波动、流失征兆与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41192" y="45215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内容表现，让运营从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41192" y="4788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被动看报表变成主动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441192" y="5054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收任务。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71794" y="3618548"/>
              <a:ext cx="1475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自动化执行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74842" y="39881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基于规则与模型建议，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74842" y="4254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可自动触发分群、内容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74842" y="45215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分发、线索跟进与预算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74842" y="47882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微调，缩短执行链条。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05444" y="36185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效果度量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08492" y="39881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从活动结果扩展到人群、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508492" y="4254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渠道、素材、动作四层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08492" y="45215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归因，帮助团队知道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08492" y="47882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哪些动作真正带来转化。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1914525" y="5562600"/>
              <a:ext cx="76009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64" name="Ellipse 64"/>
            <p:cNvSpPr/>
            <p:nvPr/>
          </p:nvSpPr>
          <p:spPr>
            <a:xfrm>
              <a:off x="1857375" y="5505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4391025" y="5505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6924675" y="5505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9458325" y="55054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4267200" y="5657850"/>
              <a:ext cx="3657600" cy="381000"/>
            </a:xfrm>
            <a:custGeom>
              <a:avLst/>
              <a:gdLst/>
              <a:ahLst/>
              <a:cxnLst/>
              <a:rect l="l" t="t" r="r" b="b"/>
              <a:pathLst>
                <a:path w="3657600" h="381000">
                  <a:moveTo>
                    <a:pt x="190500" y="0"/>
                  </a:moveTo>
                  <a:lnTo>
                    <a:pt x="3467100" y="0"/>
                  </a:lnTo>
                  <a:cubicBezTo>
                    <a:pt x="3572310" y="0"/>
                    <a:pt x="3657600" y="85290"/>
                    <a:pt x="3657600" y="190500"/>
                  </a:cubicBezTo>
                  <a:lnTo>
                    <a:pt x="3657600" y="190500"/>
                  </a:lnTo>
                  <a:cubicBezTo>
                    <a:pt x="3657600" y="295710"/>
                    <a:pt x="3572310" y="381000"/>
                    <a:pt x="34671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230881" y="5759768"/>
              <a:ext cx="3730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发现问题 → 判断优先级 → 触发动作 → 持续复盘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18566" y="2571750"/>
            <a:ext cx="8806434" cy="3673411"/>
            <a:chOff x="718566" y="2571750"/>
            <a:chExt cx="8806434" cy="3673411"/>
          </a:xfrm>
        </p:grpSpPr>
        <p:sp>
          <p:nvSpPr>
            <p:cNvPr id="71" name="Line 71"/>
            <p:cNvSpPr/>
            <p:nvPr/>
          </p:nvSpPr>
          <p:spPr>
            <a:xfrm>
              <a:off x="1914525" y="25717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4448175" y="25717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6981825" y="25717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9515475" y="25717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8566" y="6039802"/>
              <a:ext cx="4533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价值证据不是单点智能，而是四个模块串成闭环后，运营链路显著缩短。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1104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191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1333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925050" y="476250"/>
              <a:ext cx="9525" cy="5905500"/>
            </a:xfrm>
            <a:custGeom>
              <a:avLst/>
              <a:gdLst/>
              <a:ahLst/>
              <a:cxnLst/>
              <a:rect l="l" t="t" r="r" b="b"/>
              <a:pathLst>
                <a:path w="9525" h="5905500">
                  <a:moveTo>
                    <a:pt x="0" y="0"/>
                  </a:moveTo>
                  <a:lnTo>
                    <a:pt x="0" y="5905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0363200" y="476250"/>
              <a:ext cx="9525" cy="5905500"/>
            </a:xfrm>
            <a:custGeom>
              <a:avLst/>
              <a:gdLst/>
              <a:ahLst/>
              <a:cxnLst/>
              <a:rect l="l" t="t" r="r" b="b"/>
              <a:pathLst>
                <a:path w="9525" h="5905500">
                  <a:moveTo>
                    <a:pt x="0" y="0"/>
                  </a:moveTo>
                  <a:lnTo>
                    <a:pt x="0" y="5905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801350" y="476250"/>
              <a:ext cx="9525" cy="5905500"/>
            </a:xfrm>
            <a:custGeom>
              <a:avLst/>
              <a:gdLst/>
              <a:ahLst/>
              <a:cxnLst/>
              <a:rect l="l" t="t" r="r" b="b"/>
              <a:pathLst>
                <a:path w="9525" h="5905500">
                  <a:moveTo>
                    <a:pt x="0" y="0"/>
                  </a:moveTo>
                  <a:lnTo>
                    <a:pt x="0" y="5905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239500" y="476250"/>
              <a:ext cx="9525" cy="5905500"/>
            </a:xfrm>
            <a:custGeom>
              <a:avLst/>
              <a:gdLst/>
              <a:ahLst/>
              <a:cxnLst/>
              <a:rect l="l" t="t" r="r" b="b"/>
              <a:pathLst>
                <a:path w="9525" h="5905500">
                  <a:moveTo>
                    <a:pt x="0" y="0"/>
                  </a:moveTo>
                  <a:lnTo>
                    <a:pt x="0" y="5905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57784" y="629602"/>
            <a:ext cx="10972229" cy="6015514"/>
            <a:chOff x="557784" y="629602"/>
            <a:chExt cx="10972229" cy="6015514"/>
          </a:xfrm>
        </p:grpSpPr>
        <p:sp>
          <p:nvSpPr>
            <p:cNvPr id="12" name="TextBox 12"/>
            <p:cNvSpPr txBox="1"/>
            <p:nvPr/>
          </p:nvSpPr>
          <p:spPr>
            <a:xfrm>
              <a:off x="566166" y="629602"/>
              <a:ext cx="1077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7784" y="727710"/>
              <a:ext cx="405993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管理层关注的四个结果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738" y="64831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98320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1562100"/>
            <a:ext cx="11049000" cy="4438650"/>
            <a:chOff x="571500" y="1562100"/>
            <a:chExt cx="11049000" cy="4438650"/>
          </a:xfrm>
        </p:grpSpPr>
        <p:sp>
          <p:nvSpPr>
            <p:cNvPr id="17" name="Freeform 17"/>
            <p:cNvSpPr/>
            <p:nvPr/>
          </p:nvSpPr>
          <p:spPr>
            <a:xfrm>
              <a:off x="571500" y="1562100"/>
              <a:ext cx="11049000" cy="857250"/>
            </a:xfrm>
            <a:custGeom>
              <a:avLst/>
              <a:gdLst/>
              <a:ahLst/>
              <a:cxnLst/>
              <a:rect l="l" t="t" r="r" b="b"/>
              <a:pathLst>
                <a:path w="11049000" h="857250">
                  <a:moveTo>
                    <a:pt x="133350" y="0"/>
                  </a:moveTo>
                  <a:lnTo>
                    <a:pt x="10915650" y="0"/>
                  </a:lnTo>
                  <a:cubicBezTo>
                    <a:pt x="10989297" y="0"/>
                    <a:pt x="11049000" y="59703"/>
                    <a:pt x="11049000" y="133350"/>
                  </a:cubicBezTo>
                  <a:lnTo>
                    <a:pt x="11049000" y="723900"/>
                  </a:lnTo>
                  <a:cubicBezTo>
                    <a:pt x="11049000" y="797547"/>
                    <a:pt x="10989297" y="857250"/>
                    <a:pt x="10915650" y="857250"/>
                  </a:cubicBezTo>
                  <a:lnTo>
                    <a:pt x="133350" y="857250"/>
                  </a:lnTo>
                  <a:cubicBezTo>
                    <a:pt x="59703" y="857250"/>
                    <a:pt x="0" y="797547"/>
                    <a:pt x="0" y="723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1562100"/>
              <a:ext cx="5715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8680" y="174307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该工作台的采购逻辑，应建立在效率提升、收入改善、治理增强和扩展可行四个结果上。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966" y="207740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先看可见收益，再看组织承接能力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8466" y="2077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指标以试点可验证为准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24016" y="2077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关键数字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33666" y="20774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压力指标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71500" y="2686050"/>
              <a:ext cx="5410200" cy="1524000"/>
            </a:xfrm>
            <a:custGeom>
              <a:avLst/>
              <a:gdLst/>
              <a:ahLst/>
              <a:cxnLst/>
              <a:rect l="l" t="t" r="r" b="b"/>
              <a:pathLst>
                <a:path w="5410200" h="1524000">
                  <a:moveTo>
                    <a:pt x="114300" y="0"/>
                  </a:moveTo>
                  <a:lnTo>
                    <a:pt x="5295900" y="0"/>
                  </a:lnTo>
                  <a:cubicBezTo>
                    <a:pt x="5359026" y="0"/>
                    <a:pt x="5410200" y="51174"/>
                    <a:pt x="5410200" y="114300"/>
                  </a:cubicBezTo>
                  <a:lnTo>
                    <a:pt x="5410200" y="1409700"/>
                  </a:lnTo>
                  <a:cubicBezTo>
                    <a:pt x="5410200" y="1472826"/>
                    <a:pt x="5359026" y="1524000"/>
                    <a:pt x="52959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71500" y="2686050"/>
              <a:ext cx="5410200" cy="1524000"/>
            </a:xfrm>
            <a:custGeom>
              <a:avLst/>
              <a:gdLst/>
              <a:ahLst/>
              <a:cxnLst/>
              <a:rect l="l" t="t" r="r" b="b"/>
              <a:pathLst>
                <a:path w="5410200" h="1524000">
                  <a:moveTo>
                    <a:pt x="114300" y="0"/>
                  </a:moveTo>
                  <a:lnTo>
                    <a:pt x="5295900" y="0"/>
                  </a:lnTo>
                  <a:cubicBezTo>
                    <a:pt x="5359026" y="0"/>
                    <a:pt x="5410200" y="51174"/>
                    <a:pt x="5410200" y="114300"/>
                  </a:cubicBezTo>
                  <a:lnTo>
                    <a:pt x="5410200" y="1409700"/>
                  </a:lnTo>
                  <a:cubicBezTo>
                    <a:pt x="5410200" y="1472826"/>
                    <a:pt x="5359026" y="1524000"/>
                    <a:pt x="52959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>
                <a:alpha val="32000"/>
              </a:scheme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19150" y="2914650"/>
              <a:ext cx="342900" cy="3429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95350" y="3009900"/>
              <a:ext cx="209550" cy="152400"/>
            </a:xfrm>
            <a:custGeom>
              <a:avLst/>
              <a:gdLst/>
              <a:ahLst/>
              <a:cxnLst/>
              <a:rect l="l" t="t" r="r" b="b"/>
              <a:pathLst>
                <a:path w="209550" h="152400">
                  <a:moveTo>
                    <a:pt x="0" y="76200"/>
                  </a:moveTo>
                  <a:lnTo>
                    <a:pt x="76200" y="152400"/>
                  </a:lnTo>
                  <a:lnTo>
                    <a:pt x="209550" y="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89304" y="2937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效率提升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1060" y="327660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30%+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10156" y="34061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报表与复盘耗时下降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0204" y="377571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数据口径统一后，周报、活动复盘和预算审阅显著提速。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76300" y="32956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210300" y="2686050"/>
              <a:ext cx="5410200" cy="1524000"/>
            </a:xfrm>
            <a:custGeom>
              <a:avLst/>
              <a:gdLst/>
              <a:ahLst/>
              <a:cxnLst/>
              <a:rect l="l" t="t" r="r" b="b"/>
              <a:pathLst>
                <a:path w="5410200" h="1524000">
                  <a:moveTo>
                    <a:pt x="114300" y="0"/>
                  </a:moveTo>
                  <a:lnTo>
                    <a:pt x="5295900" y="0"/>
                  </a:lnTo>
                  <a:cubicBezTo>
                    <a:pt x="5359026" y="0"/>
                    <a:pt x="5410200" y="51174"/>
                    <a:pt x="5410200" y="114300"/>
                  </a:cubicBezTo>
                  <a:lnTo>
                    <a:pt x="5410200" y="1409700"/>
                  </a:lnTo>
                  <a:cubicBezTo>
                    <a:pt x="5410200" y="1472826"/>
                    <a:pt x="5359026" y="1524000"/>
                    <a:pt x="52959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6457950" y="2914650"/>
              <a:ext cx="342900" cy="3429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534150" y="2990850"/>
              <a:ext cx="285750" cy="152400"/>
            </a:xfrm>
            <a:custGeom>
              <a:avLst/>
              <a:gdLst/>
              <a:ahLst/>
              <a:cxnLst/>
              <a:rect l="l" t="t" r="r" b="b"/>
              <a:pathLst>
                <a:path w="285750" h="152400">
                  <a:moveTo>
                    <a:pt x="0" y="152400"/>
                  </a:moveTo>
                  <a:lnTo>
                    <a:pt x="95250" y="57150"/>
                  </a:lnTo>
                  <a:lnTo>
                    <a:pt x="171450" y="133350"/>
                  </a:lnTo>
                  <a:lnTo>
                    <a:pt x="285750" y="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28104" y="2937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收入改善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99860" y="3276600"/>
              <a:ext cx="12178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2-3倍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39456" y="34061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策略迭代频率提升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9004" y="3775710"/>
              <a:ext cx="42537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AI分析与自动化任务联动后，营销动作从周级切到日级。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515100" y="32956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71500" y="4476750"/>
              <a:ext cx="5410200" cy="1524000"/>
            </a:xfrm>
            <a:custGeom>
              <a:avLst/>
              <a:gdLst/>
              <a:ahLst/>
              <a:cxnLst/>
              <a:rect l="l" t="t" r="r" b="b"/>
              <a:pathLst>
                <a:path w="5410200" h="1524000">
                  <a:moveTo>
                    <a:pt x="114300" y="0"/>
                  </a:moveTo>
                  <a:lnTo>
                    <a:pt x="5295900" y="0"/>
                  </a:lnTo>
                  <a:cubicBezTo>
                    <a:pt x="5359026" y="0"/>
                    <a:pt x="5410200" y="51174"/>
                    <a:pt x="5410200" y="114300"/>
                  </a:cubicBezTo>
                  <a:lnTo>
                    <a:pt x="5410200" y="1409700"/>
                  </a:lnTo>
                  <a:cubicBezTo>
                    <a:pt x="5410200" y="1472826"/>
                    <a:pt x="5359026" y="1524000"/>
                    <a:pt x="52959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19150" y="4705350"/>
              <a:ext cx="342900" cy="3429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95350" y="47434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cubicBezTo>
                    <a:pt x="66675" y="114300"/>
                    <a:pt x="161925" y="76200"/>
                    <a:pt x="228600" y="0"/>
                  </a:cubicBez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66800" y="474345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289304" y="4728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扩展可行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1060" y="5067300"/>
              <a:ext cx="159867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10-20%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391156" y="51968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线索转化效率改善空间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0204" y="556641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通过客群细分、内容匹配和触达编排优化，优先改善中段转化。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76300" y="50863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6210300" y="4476750"/>
              <a:ext cx="5410200" cy="1524000"/>
            </a:xfrm>
            <a:custGeom>
              <a:avLst/>
              <a:gdLst/>
              <a:ahLst/>
              <a:cxnLst/>
              <a:rect l="l" t="t" r="r" b="b"/>
              <a:pathLst>
                <a:path w="5410200" h="1524000">
                  <a:moveTo>
                    <a:pt x="114300" y="0"/>
                  </a:moveTo>
                  <a:lnTo>
                    <a:pt x="5295900" y="0"/>
                  </a:lnTo>
                  <a:cubicBezTo>
                    <a:pt x="5359026" y="0"/>
                    <a:pt x="5410200" y="51174"/>
                    <a:pt x="5410200" y="114300"/>
                  </a:cubicBezTo>
                  <a:lnTo>
                    <a:pt x="5410200" y="1409700"/>
                  </a:lnTo>
                  <a:cubicBezTo>
                    <a:pt x="5410200" y="1472826"/>
                    <a:pt x="5359026" y="1524000"/>
                    <a:pt x="52959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6210300" y="4476750"/>
              <a:ext cx="5410200" cy="1524000"/>
            </a:xfrm>
            <a:custGeom>
              <a:avLst/>
              <a:gdLst/>
              <a:ahLst/>
              <a:cxnLst/>
              <a:rect l="l" t="t" r="r" b="b"/>
              <a:pathLst>
                <a:path w="5410200" h="1524000">
                  <a:moveTo>
                    <a:pt x="114300" y="0"/>
                  </a:moveTo>
                  <a:lnTo>
                    <a:pt x="5295900" y="0"/>
                  </a:lnTo>
                  <a:cubicBezTo>
                    <a:pt x="5359026" y="0"/>
                    <a:pt x="5410200" y="51174"/>
                    <a:pt x="5410200" y="114300"/>
                  </a:cubicBezTo>
                  <a:lnTo>
                    <a:pt x="5410200" y="1409700"/>
                  </a:lnTo>
                  <a:cubicBezTo>
                    <a:pt x="5410200" y="1472826"/>
                    <a:pt x="5359026" y="1524000"/>
                    <a:pt x="52959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>
                <a:alpha val="65000"/>
              </a:schemeClr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457950" y="4705350"/>
              <a:ext cx="342900" cy="3429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6543675" y="47910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28575" y="0"/>
                  </a:moveTo>
                  <a:lnTo>
                    <a:pt x="142875" y="0"/>
                  </a:lnTo>
                  <a:cubicBezTo>
                    <a:pt x="158657" y="0"/>
                    <a:pt x="171450" y="12793"/>
                    <a:pt x="171450" y="28575"/>
                  </a:cubicBezTo>
                  <a:lnTo>
                    <a:pt x="171450" y="142875"/>
                  </a:lnTo>
                  <a:cubicBezTo>
                    <a:pt x="171450" y="158657"/>
                    <a:pt x="158657" y="171450"/>
                    <a:pt x="142875" y="171450"/>
                  </a:cubicBezTo>
                  <a:lnTo>
                    <a:pt x="28575" y="171450"/>
                  </a:lnTo>
                  <a:cubicBezTo>
                    <a:pt x="12793" y="171450"/>
                    <a:pt x="0" y="158657"/>
                    <a:pt x="0" y="1428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581775" y="4848225"/>
              <a:ext cx="104775" cy="66675"/>
            </a:xfrm>
            <a:custGeom>
              <a:avLst/>
              <a:gdLst/>
              <a:ahLst/>
              <a:cxnLst/>
              <a:rect l="l" t="t" r="r" b="b"/>
              <a:pathLst>
                <a:path w="104775" h="66675">
                  <a:moveTo>
                    <a:pt x="0" y="28575"/>
                  </a:moveTo>
                  <a:lnTo>
                    <a:pt x="38100" y="66675"/>
                  </a:lnTo>
                  <a:lnTo>
                    <a:pt x="104775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28104" y="4728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治理增强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99860" y="506730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100%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39456" y="51968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关键动作可追踪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09004" y="5566410"/>
              <a:ext cx="4858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从洞察生成到执行回收形成日志链路，便于审计、复盘和权限治理。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515100" y="50863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10363200" y="1562100"/>
            <a:ext cx="1257300" cy="857250"/>
            <a:chOff x="10363200" y="1562100"/>
            <a:chExt cx="1257300" cy="857250"/>
          </a:xfrm>
        </p:grpSpPr>
        <p:sp>
          <p:nvSpPr>
            <p:cNvPr id="61" name="Freeform 61"/>
            <p:cNvSpPr/>
            <p:nvPr/>
          </p:nvSpPr>
          <p:spPr>
            <a:xfrm>
              <a:off x="10363200" y="1562100"/>
              <a:ext cx="1257300" cy="857250"/>
            </a:xfrm>
            <a:custGeom>
              <a:avLst/>
              <a:gdLst/>
              <a:ahLst/>
              <a:cxnLst/>
              <a:rect l="l" t="t" r="r" b="b"/>
              <a:pathLst>
                <a:path w="1257300" h="857250">
                  <a:moveTo>
                    <a:pt x="114300" y="0"/>
                  </a:moveTo>
                  <a:lnTo>
                    <a:pt x="1143000" y="0"/>
                  </a:lnTo>
                  <a:cubicBezTo>
                    <a:pt x="1206126" y="0"/>
                    <a:pt x="1257300" y="51174"/>
                    <a:pt x="1257300" y="114300"/>
                  </a:cubicBezTo>
                  <a:lnTo>
                    <a:pt x="1257300" y="742950"/>
                  </a:lnTo>
                  <a:cubicBezTo>
                    <a:pt x="1257300" y="806076"/>
                    <a:pt x="1206126" y="857250"/>
                    <a:pt x="1143000" y="857250"/>
                  </a:cubicBezTo>
                  <a:lnTo>
                    <a:pt x="114300" y="857250"/>
                  </a:lnTo>
                  <a:cubicBezTo>
                    <a:pt x="51174" y="857250"/>
                    <a:pt x="0" y="806076"/>
                    <a:pt x="0" y="742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510838" y="1739741"/>
              <a:ext cx="5551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EXEC VIEW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07218" y="1907858"/>
              <a:ext cx="1523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53166" y="19726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结果维度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10838" y="218884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先收益，后扩展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-952500"/>
            <a:ext cx="12858750" cy="8572500"/>
            <a:chOff x="0" y="-952500"/>
            <a:chExt cx="12858750" cy="8572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3000"/>
                  </a:schemeClr>
                </a:gs>
                <a:gs pos="100000">
                  <a:schemeClr val="accent2">
                    <a:alpha val="3000"/>
                  </a:scheme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715250" y="-952500"/>
              <a:ext cx="4191000" cy="41910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429750" y="4191000"/>
              <a:ext cx="3429000" cy="3429000"/>
            </a:xfrm>
            <a:prstGeom prst="ellipse">
              <a:avLst/>
            </a:prstGeom>
            <a:solidFill>
              <a:schemeClr val="accent3">
                <a:alpha val="6000"/>
              </a:scheme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381952"/>
            <a:ext cx="11048429" cy="6301264"/>
            <a:chOff x="557784" y="381952"/>
            <a:chExt cx="11048429" cy="630126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381952"/>
              <a:ext cx="950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SPREADMAP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613410"/>
              <a:ext cx="20436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四模块闭环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880" y="1076325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这不是四个并列功能，而是一条从数据进入到结果回流的增长操作链。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5212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7452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47700" y="1562100"/>
            <a:ext cx="10896600" cy="4514850"/>
            <a:chOff x="647700" y="1562100"/>
            <a:chExt cx="10896600" cy="4514850"/>
          </a:xfrm>
        </p:grpSpPr>
        <p:sp>
          <p:nvSpPr>
            <p:cNvPr id="15" name="Freeform 15"/>
            <p:cNvSpPr/>
            <p:nvPr/>
          </p:nvSpPr>
          <p:spPr>
            <a:xfrm>
              <a:off x="647700" y="1562100"/>
              <a:ext cx="10896600" cy="4514850"/>
            </a:xfrm>
            <a:custGeom>
              <a:avLst/>
              <a:gdLst/>
              <a:ahLst/>
              <a:cxnLst/>
              <a:rect l="l" t="t" r="r" b="b"/>
              <a:pathLst>
                <a:path w="10896600" h="4514850">
                  <a:moveTo>
                    <a:pt x="171450" y="0"/>
                  </a:moveTo>
                  <a:lnTo>
                    <a:pt x="10725150" y="0"/>
                  </a:lnTo>
                  <a:cubicBezTo>
                    <a:pt x="10819839" y="0"/>
                    <a:pt x="10896600" y="76761"/>
                    <a:pt x="10896600" y="171450"/>
                  </a:cubicBezTo>
                  <a:lnTo>
                    <a:pt x="10896600" y="4343400"/>
                  </a:lnTo>
                  <a:cubicBezTo>
                    <a:pt x="10896600" y="4438089"/>
                    <a:pt x="10819839" y="4514850"/>
                    <a:pt x="10725150" y="4514850"/>
                  </a:cubicBezTo>
                  <a:lnTo>
                    <a:pt x="171450" y="4514850"/>
                  </a:lnTo>
                  <a:cubicBezTo>
                    <a:pt x="76761" y="4514850"/>
                    <a:pt x="0" y="4438089"/>
                    <a:pt x="0" y="43434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714625" y="2428875"/>
              <a:ext cx="6762750" cy="1304925"/>
            </a:xfrm>
            <a:custGeom>
              <a:avLst/>
              <a:gdLst/>
              <a:ahLst/>
              <a:cxnLst/>
              <a:rect l="l" t="t" r="r" b="b"/>
              <a:pathLst>
                <a:path w="6762750" h="1304925">
                  <a:moveTo>
                    <a:pt x="0" y="1304925"/>
                  </a:moveTo>
                  <a:cubicBezTo>
                    <a:pt x="904875" y="476250"/>
                    <a:pt x="1971675" y="0"/>
                    <a:pt x="3381375" y="0"/>
                  </a:cubicBezTo>
                  <a:cubicBezTo>
                    <a:pt x="4791075" y="0"/>
                    <a:pt x="5857875" y="476250"/>
                    <a:pt x="6762750" y="13049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  <a:custDash>
                <a:ds d="0" sp="0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2695575" y="3733800"/>
              <a:ext cx="6800850" cy="1485900"/>
            </a:xfrm>
            <a:custGeom>
              <a:avLst/>
              <a:gdLst/>
              <a:ahLst/>
              <a:cxnLst/>
              <a:rect l="l" t="t" r="r" b="b"/>
              <a:pathLst>
                <a:path w="6800850" h="1485900">
                  <a:moveTo>
                    <a:pt x="6800850" y="0"/>
                  </a:moveTo>
                  <a:cubicBezTo>
                    <a:pt x="5953125" y="933450"/>
                    <a:pt x="4867275" y="1485900"/>
                    <a:pt x="3400425" y="1485900"/>
                  </a:cubicBezTo>
                  <a:cubicBezTo>
                    <a:pt x="1933575" y="1485900"/>
                    <a:pt x="847725" y="933450"/>
                    <a:pt x="0" y="0"/>
                  </a:cubicBezTo>
                </a:path>
              </a:pathLst>
            </a:custGeom>
            <a:noFill/>
            <a:ln w="76200" cap="rnd"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1"/>
              </a:gradFill>
              <a:tailEnd type="triangle" w="lg" len="lg"/>
            </a:ln>
          </p:spPr>
        </p:sp>
        <p:sp>
          <p:nvSpPr>
            <p:cNvPr id="18" name="Ellipse 18"/>
            <p:cNvSpPr/>
            <p:nvPr/>
          </p:nvSpPr>
          <p:spPr>
            <a:xfrm>
              <a:off x="5581650" y="3219450"/>
              <a:ext cx="1028700" cy="10287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5734050" y="3371850"/>
              <a:ext cx="723900" cy="7239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905500" y="37338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chemeClr val="accent2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096000" y="35433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07494" y="4216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增长主轴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47750" y="2266950"/>
              <a:ext cx="2095500" cy="1409700"/>
            </a:xfrm>
            <a:custGeom>
              <a:avLst/>
              <a:gdLst/>
              <a:ahLst/>
              <a:cxnLst/>
              <a:rect l="l" t="t" r="r" b="b"/>
              <a:pathLst>
                <a:path w="2095500" h="1409700">
                  <a:moveTo>
                    <a:pt x="133350" y="0"/>
                  </a:moveTo>
                  <a:lnTo>
                    <a:pt x="1962150" y="0"/>
                  </a:lnTo>
                  <a:cubicBezTo>
                    <a:pt x="2035797" y="0"/>
                    <a:pt x="2095500" y="59703"/>
                    <a:pt x="2095500" y="133350"/>
                  </a:cubicBezTo>
                  <a:lnTo>
                    <a:pt x="2095500" y="1276350"/>
                  </a:lnTo>
                  <a:cubicBezTo>
                    <a:pt x="2095500" y="1349997"/>
                    <a:pt x="2035797" y="1409700"/>
                    <a:pt x="1962150" y="1409700"/>
                  </a:cubicBezTo>
                  <a:lnTo>
                    <a:pt x="133350" y="1409700"/>
                  </a:lnTo>
                  <a:cubicBezTo>
                    <a:pt x="59703" y="1409700"/>
                    <a:pt x="0" y="1349997"/>
                    <a:pt x="0" y="1276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200150" y="24193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114300" y="0"/>
                  </a:moveTo>
                  <a:lnTo>
                    <a:pt x="381000" y="0"/>
                  </a:lnTo>
                  <a:cubicBezTo>
                    <a:pt x="444126" y="0"/>
                    <a:pt x="495300" y="51174"/>
                    <a:pt x="495300" y="114300"/>
                  </a:cubicBezTo>
                  <a:lnTo>
                    <a:pt x="495300" y="381000"/>
                  </a:lnTo>
                  <a:cubicBezTo>
                    <a:pt x="495300" y="444126"/>
                    <a:pt x="444126" y="495300"/>
                    <a:pt x="381000" y="495300"/>
                  </a:cubicBezTo>
                  <a:lnTo>
                    <a:pt x="114300" y="495300"/>
                  </a:lnTo>
                  <a:cubicBezTo>
                    <a:pt x="51174" y="495300"/>
                    <a:pt x="0" y="444126"/>
                    <a:pt x="0" y="381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333500" y="26860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solidFill>
              <a:srgbClr val="000000"/>
            </a:solidFill>
            <a:ln w="23812" cap="rnd">
              <a:solidFill>
                <a:schemeClr val="accent2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447800" y="25717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solidFill>
              <a:srgbClr val="000000"/>
            </a:solidFill>
            <a:ln w="23812" cap="rnd">
              <a:solidFill>
                <a:schemeClr val="accent2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905000" y="2781300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26272" y="28765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89482" y="2954655"/>
              <a:ext cx="12758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数据整合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94054" y="33185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接入客户、渠道、内容、交易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94054" y="35280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与行为数据，形成统一底座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4514850" y="1714500"/>
              <a:ext cx="3162300" cy="1295400"/>
            </a:xfrm>
            <a:custGeom>
              <a:avLst/>
              <a:gdLst/>
              <a:ahLst/>
              <a:cxnLst/>
              <a:rect l="l" t="t" r="r" b="b"/>
              <a:pathLst>
                <a:path w="3162300" h="1295400">
                  <a:moveTo>
                    <a:pt x="133350" y="0"/>
                  </a:moveTo>
                  <a:lnTo>
                    <a:pt x="3028950" y="0"/>
                  </a:lnTo>
                  <a:cubicBezTo>
                    <a:pt x="3102597" y="0"/>
                    <a:pt x="3162300" y="59703"/>
                    <a:pt x="3162300" y="133350"/>
                  </a:cubicBezTo>
                  <a:lnTo>
                    <a:pt x="3162300" y="1162050"/>
                  </a:lnTo>
                  <a:cubicBezTo>
                    <a:pt x="3162300" y="1235697"/>
                    <a:pt x="3102597" y="1295400"/>
                    <a:pt x="3028950" y="1295400"/>
                  </a:cubicBezTo>
                  <a:lnTo>
                    <a:pt x="133350" y="1295400"/>
                  </a:lnTo>
                  <a:cubicBezTo>
                    <a:pt x="59703" y="1295400"/>
                    <a:pt x="0" y="1235697"/>
                    <a:pt x="0" y="11620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4686300" y="18859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114300" y="0"/>
                  </a:moveTo>
                  <a:lnTo>
                    <a:pt x="381000" y="0"/>
                  </a:lnTo>
                  <a:cubicBezTo>
                    <a:pt x="444126" y="0"/>
                    <a:pt x="495300" y="51174"/>
                    <a:pt x="495300" y="114300"/>
                  </a:cubicBezTo>
                  <a:lnTo>
                    <a:pt x="495300" y="381000"/>
                  </a:lnTo>
                  <a:cubicBezTo>
                    <a:pt x="495300" y="444126"/>
                    <a:pt x="444126" y="495300"/>
                    <a:pt x="381000" y="495300"/>
                  </a:cubicBezTo>
                  <a:lnTo>
                    <a:pt x="114300" y="495300"/>
                  </a:lnTo>
                  <a:cubicBezTo>
                    <a:pt x="51174" y="495300"/>
                    <a:pt x="0" y="444126"/>
                    <a:pt x="0" y="381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800600" y="2000250"/>
              <a:ext cx="285750" cy="266700"/>
            </a:xfrm>
            <a:custGeom>
              <a:avLst/>
              <a:gdLst/>
              <a:ahLst/>
              <a:cxnLst/>
              <a:rect l="l" t="t" r="r" b="b"/>
              <a:pathLst>
                <a:path w="285750" h="266700">
                  <a:moveTo>
                    <a:pt x="0" y="133350"/>
                  </a:moveTo>
                  <a:cubicBezTo>
                    <a:pt x="76200" y="0"/>
                    <a:pt x="209550" y="0"/>
                    <a:pt x="285750" y="133350"/>
                  </a:cubicBezTo>
                  <a:cubicBezTo>
                    <a:pt x="209550" y="266700"/>
                    <a:pt x="76200" y="266700"/>
                    <a:pt x="0" y="133350"/>
                  </a:cubicBezTo>
                  <a:close/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5905500" y="2171700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26772" y="22669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75632" y="2402205"/>
              <a:ext cx="12210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 分析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80204" y="27470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输出客群洞察、机会识别、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80204" y="29565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异常预警与策略建议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9029700" y="2266950"/>
              <a:ext cx="2095500" cy="1409700"/>
            </a:xfrm>
            <a:custGeom>
              <a:avLst/>
              <a:gdLst/>
              <a:ahLst/>
              <a:cxnLst/>
              <a:rect l="l" t="t" r="r" b="b"/>
              <a:pathLst>
                <a:path w="2095500" h="1409700">
                  <a:moveTo>
                    <a:pt x="133350" y="0"/>
                  </a:moveTo>
                  <a:lnTo>
                    <a:pt x="1962150" y="0"/>
                  </a:lnTo>
                  <a:cubicBezTo>
                    <a:pt x="2035797" y="0"/>
                    <a:pt x="2095500" y="59703"/>
                    <a:pt x="2095500" y="133350"/>
                  </a:cubicBezTo>
                  <a:lnTo>
                    <a:pt x="2095500" y="1276350"/>
                  </a:lnTo>
                  <a:cubicBezTo>
                    <a:pt x="2095500" y="1349997"/>
                    <a:pt x="2035797" y="1409700"/>
                    <a:pt x="1962150" y="1409700"/>
                  </a:cubicBezTo>
                  <a:lnTo>
                    <a:pt x="133350" y="1409700"/>
                  </a:lnTo>
                  <a:cubicBezTo>
                    <a:pt x="59703" y="1409700"/>
                    <a:pt x="0" y="1349997"/>
                    <a:pt x="0" y="1276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182100" y="24193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114300" y="0"/>
                  </a:moveTo>
                  <a:lnTo>
                    <a:pt x="381000" y="0"/>
                  </a:lnTo>
                  <a:cubicBezTo>
                    <a:pt x="444126" y="0"/>
                    <a:pt x="495300" y="51174"/>
                    <a:pt x="495300" y="114300"/>
                  </a:cubicBezTo>
                  <a:lnTo>
                    <a:pt x="495300" y="381000"/>
                  </a:lnTo>
                  <a:cubicBezTo>
                    <a:pt x="495300" y="444126"/>
                    <a:pt x="444126" y="495300"/>
                    <a:pt x="381000" y="495300"/>
                  </a:cubicBezTo>
                  <a:lnTo>
                    <a:pt x="114300" y="495300"/>
                  </a:lnTo>
                  <a:cubicBezTo>
                    <a:pt x="51174" y="495300"/>
                    <a:pt x="0" y="444126"/>
                    <a:pt x="0" y="381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315450" y="25527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close/>
                </a:path>
              </a:pathLst>
            </a:cu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582150" y="26670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23812" cap="rnd">
              <a:solidFill>
                <a:schemeClr val="accent2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9886950" y="2781300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008222" y="28765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71432" y="2954655"/>
              <a:ext cx="15895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自动化执行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76004" y="33185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将分群、触达、任务、预算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76004" y="35280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与内容动作自动编排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514850" y="4495800"/>
              <a:ext cx="3162300" cy="1295400"/>
            </a:xfrm>
            <a:custGeom>
              <a:avLst/>
              <a:gdLst/>
              <a:ahLst/>
              <a:cxnLst/>
              <a:rect l="l" t="t" r="r" b="b"/>
              <a:pathLst>
                <a:path w="3162300" h="1295400">
                  <a:moveTo>
                    <a:pt x="133350" y="0"/>
                  </a:moveTo>
                  <a:lnTo>
                    <a:pt x="3028950" y="0"/>
                  </a:lnTo>
                  <a:cubicBezTo>
                    <a:pt x="3102597" y="0"/>
                    <a:pt x="3162300" y="59703"/>
                    <a:pt x="3162300" y="133350"/>
                  </a:cubicBezTo>
                  <a:lnTo>
                    <a:pt x="3162300" y="1162050"/>
                  </a:lnTo>
                  <a:cubicBezTo>
                    <a:pt x="3162300" y="1235697"/>
                    <a:pt x="3102597" y="1295400"/>
                    <a:pt x="3028950" y="1295400"/>
                  </a:cubicBezTo>
                  <a:lnTo>
                    <a:pt x="133350" y="1295400"/>
                  </a:lnTo>
                  <a:cubicBezTo>
                    <a:pt x="59703" y="1295400"/>
                    <a:pt x="0" y="1235697"/>
                    <a:pt x="0" y="11620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4686300" y="466725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114300" y="0"/>
                  </a:moveTo>
                  <a:lnTo>
                    <a:pt x="381000" y="0"/>
                  </a:lnTo>
                  <a:cubicBezTo>
                    <a:pt x="444126" y="0"/>
                    <a:pt x="495300" y="51174"/>
                    <a:pt x="495300" y="114300"/>
                  </a:cubicBezTo>
                  <a:lnTo>
                    <a:pt x="495300" y="381000"/>
                  </a:lnTo>
                  <a:cubicBezTo>
                    <a:pt x="495300" y="444126"/>
                    <a:pt x="444126" y="495300"/>
                    <a:pt x="381000" y="495300"/>
                  </a:cubicBezTo>
                  <a:lnTo>
                    <a:pt x="114300" y="495300"/>
                  </a:lnTo>
                  <a:cubicBezTo>
                    <a:pt x="51174" y="495300"/>
                    <a:pt x="0" y="444126"/>
                    <a:pt x="0" y="381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4800600" y="4857750"/>
              <a:ext cx="304800" cy="190500"/>
            </a:xfrm>
            <a:custGeom>
              <a:avLst/>
              <a:gdLst/>
              <a:ahLst/>
              <a:cxnLst/>
              <a:rect l="l" t="t" r="r" b="b"/>
              <a:pathLst>
                <a:path w="304800" h="190500">
                  <a:moveTo>
                    <a:pt x="0" y="190500"/>
                  </a:moveTo>
                  <a:lnTo>
                    <a:pt x="95250" y="95250"/>
                  </a:lnTo>
                  <a:lnTo>
                    <a:pt x="190500" y="152400"/>
                  </a:lnTo>
                  <a:lnTo>
                    <a:pt x="304800" y="0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52" name="Freeform 52"/>
            <p:cNvSpPr/>
            <p:nvPr/>
          </p:nvSpPr>
          <p:spPr>
            <a:xfrm>
              <a:off x="4800600" y="51054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solidFill>
              <a:srgbClr val="000000"/>
            </a:solidFill>
            <a:ln w="23812" cap="rnd">
              <a:solidFill>
                <a:schemeClr val="accent2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5905500" y="4953000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26772" y="504825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675632" y="5183505"/>
              <a:ext cx="12758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效果度量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680204" y="55283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回收活动、渠道、素材与人群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680204" y="57378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表现，反哺模型与策略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3143250" y="2457450"/>
              <a:ext cx="1371600" cy="514350"/>
            </a:xfrm>
            <a:custGeom>
              <a:avLst/>
              <a:gdLst/>
              <a:ahLst/>
              <a:cxnLst/>
              <a:rect l="l" t="t" r="r" b="b"/>
              <a:pathLst>
                <a:path w="1371600" h="514350">
                  <a:moveTo>
                    <a:pt x="0" y="514350"/>
                  </a:moveTo>
                  <a:cubicBezTo>
                    <a:pt x="552450" y="228600"/>
                    <a:pt x="952500" y="114300"/>
                    <a:pt x="1371600" y="0"/>
                  </a:cubicBezTo>
                </a:path>
              </a:pathLst>
            </a:custGeom>
            <a:noFill/>
            <a:ln w="23812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59" name="Freeform 59"/>
            <p:cNvSpPr/>
            <p:nvPr/>
          </p:nvSpPr>
          <p:spPr>
            <a:xfrm>
              <a:off x="7677150" y="2457450"/>
              <a:ext cx="1352550" cy="514350"/>
            </a:xfrm>
            <a:custGeom>
              <a:avLst/>
              <a:gdLst/>
              <a:ahLst/>
              <a:cxnLst/>
              <a:rect l="l" t="t" r="r" b="b"/>
              <a:pathLst>
                <a:path w="1352550" h="514350">
                  <a:moveTo>
                    <a:pt x="0" y="0"/>
                  </a:moveTo>
                  <a:cubicBezTo>
                    <a:pt x="400050" y="114300"/>
                    <a:pt x="838200" y="228600"/>
                    <a:pt x="1352550" y="514350"/>
                  </a:cubicBezTo>
                </a:path>
              </a:pathLst>
            </a:custGeom>
            <a:noFill/>
            <a:ln w="23812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60" name="Freeform 60"/>
            <p:cNvSpPr/>
            <p:nvPr/>
          </p:nvSpPr>
          <p:spPr>
            <a:xfrm>
              <a:off x="7677150" y="3676650"/>
              <a:ext cx="1352550" cy="1085850"/>
            </a:xfrm>
            <a:custGeom>
              <a:avLst/>
              <a:gdLst/>
              <a:ahLst/>
              <a:cxnLst/>
              <a:rect l="l" t="t" r="r" b="b"/>
              <a:pathLst>
                <a:path w="1352550" h="1085850">
                  <a:moveTo>
                    <a:pt x="1352550" y="0"/>
                  </a:moveTo>
                  <a:cubicBezTo>
                    <a:pt x="723900" y="571500"/>
                    <a:pt x="361950" y="800100"/>
                    <a:pt x="0" y="1085850"/>
                  </a:cubicBezTo>
                </a:path>
              </a:pathLst>
            </a:cu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61" name="Freeform 61"/>
            <p:cNvSpPr/>
            <p:nvPr/>
          </p:nvSpPr>
          <p:spPr>
            <a:xfrm>
              <a:off x="3143250" y="3676650"/>
              <a:ext cx="1371600" cy="1085850"/>
            </a:xfrm>
            <a:custGeom>
              <a:avLst/>
              <a:gdLst/>
              <a:ahLst/>
              <a:cxnLst/>
              <a:rect l="l" t="t" r="r" b="b"/>
              <a:pathLst>
                <a:path w="1371600" h="1085850">
                  <a:moveTo>
                    <a:pt x="1371600" y="1085850"/>
                  </a:moveTo>
                  <a:cubicBezTo>
                    <a:pt x="971550" y="800100"/>
                    <a:pt x="609600" y="571500"/>
                    <a:pt x="0" y="0"/>
                  </a:cubicBezTo>
                </a:path>
              </a:pathLst>
            </a:cu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62" name="Freeform 62"/>
            <p:cNvSpPr/>
            <p:nvPr/>
          </p:nvSpPr>
          <p:spPr>
            <a:xfrm>
              <a:off x="1371600" y="4686300"/>
              <a:ext cx="2038350" cy="819150"/>
            </a:xfrm>
            <a:custGeom>
              <a:avLst/>
              <a:gdLst/>
              <a:ahLst/>
              <a:cxnLst/>
              <a:rect l="l" t="t" r="r" b="b"/>
              <a:pathLst>
                <a:path w="2038350" h="819150">
                  <a:moveTo>
                    <a:pt x="114300" y="0"/>
                  </a:moveTo>
                  <a:lnTo>
                    <a:pt x="1924050" y="0"/>
                  </a:lnTo>
                  <a:cubicBezTo>
                    <a:pt x="1987176" y="0"/>
                    <a:pt x="2038350" y="51174"/>
                    <a:pt x="2038350" y="114300"/>
                  </a:cubicBezTo>
                  <a:lnTo>
                    <a:pt x="2038350" y="704850"/>
                  </a:lnTo>
                  <a:cubicBezTo>
                    <a:pt x="2038350" y="767976"/>
                    <a:pt x="1987176" y="819150"/>
                    <a:pt x="1924050" y="819150"/>
                  </a:cubicBezTo>
                  <a:lnTo>
                    <a:pt x="114300" y="819150"/>
                  </a:lnTo>
                  <a:cubicBezTo>
                    <a:pt x="51174" y="819150"/>
                    <a:pt x="0" y="767976"/>
                    <a:pt x="0" y="704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575816" y="48396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主轴关系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575435" y="5079206"/>
              <a:ext cx="12230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前端接入越完整，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575435" y="526970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后端优化越持续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8763000" y="4686300"/>
              <a:ext cx="2038350" cy="819150"/>
            </a:xfrm>
            <a:custGeom>
              <a:avLst/>
              <a:gdLst/>
              <a:ahLst/>
              <a:cxnLst/>
              <a:rect l="l" t="t" r="r" b="b"/>
              <a:pathLst>
                <a:path w="2038350" h="819150">
                  <a:moveTo>
                    <a:pt x="114300" y="0"/>
                  </a:moveTo>
                  <a:lnTo>
                    <a:pt x="1924050" y="0"/>
                  </a:lnTo>
                  <a:cubicBezTo>
                    <a:pt x="1987176" y="0"/>
                    <a:pt x="2038350" y="51174"/>
                    <a:pt x="2038350" y="114300"/>
                  </a:cubicBezTo>
                  <a:lnTo>
                    <a:pt x="2038350" y="704850"/>
                  </a:lnTo>
                  <a:cubicBezTo>
                    <a:pt x="2038350" y="767976"/>
                    <a:pt x="1987176" y="819150"/>
                    <a:pt x="1924050" y="819150"/>
                  </a:cubicBezTo>
                  <a:lnTo>
                    <a:pt x="114300" y="819150"/>
                  </a:lnTo>
                  <a:cubicBezTo>
                    <a:pt x="51174" y="819150"/>
                    <a:pt x="0" y="767976"/>
                    <a:pt x="0" y="704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967216" y="48396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外溢路径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66835" y="5079206"/>
              <a:ext cx="152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执行与度量必须同源，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66835" y="5269706"/>
              <a:ext cx="152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才能沉淀组织复用能力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061847" y="3124200"/>
            <a:ext cx="9053703" cy="2828639"/>
            <a:chOff x="1061847" y="3124200"/>
            <a:chExt cx="9053703" cy="2828639"/>
          </a:xfrm>
        </p:grpSpPr>
        <p:sp>
          <p:nvSpPr>
            <p:cNvPr id="71" name="Ellipse 71"/>
            <p:cNvSpPr/>
            <p:nvPr/>
          </p:nvSpPr>
          <p:spPr>
            <a:xfrm>
              <a:off x="2057400" y="38100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6057900" y="3124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10039350" y="38100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6057900" y="44196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61847" y="5762149"/>
              <a:ext cx="31600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四个模块各占一环，但价值来自首尾相接的持续回流。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914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4008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629650" y="1257300"/>
              <a:ext cx="9525" cy="4648200"/>
            </a:xfrm>
            <a:custGeom>
              <a:avLst/>
              <a:gdLst/>
              <a:ahLst/>
              <a:cxnLst/>
              <a:rect l="l" t="t" r="r" b="b"/>
              <a:pathLst>
                <a:path w="9525" h="4648200">
                  <a:moveTo>
                    <a:pt x="0" y="0"/>
                  </a:moveTo>
                  <a:lnTo>
                    <a:pt x="0" y="46482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381952"/>
            <a:ext cx="10991279" cy="6310789"/>
            <a:chOff x="557784" y="381952"/>
            <a:chExt cx="10991279" cy="6310789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381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508635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建议先试点再放大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880" y="1133475"/>
              <a:ext cx="8334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建议以单业务线和明确转化目标启动8-12周试点，在不改变核心业务系统的前提下验证价值。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738" y="6530816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17370" y="653081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1714500"/>
            <a:ext cx="11049000" cy="4286250"/>
            <a:chOff x="571500" y="1714500"/>
            <a:chExt cx="11049000" cy="4286250"/>
          </a:xfrm>
        </p:grpSpPr>
        <p:sp>
          <p:nvSpPr>
            <p:cNvPr id="14" name="Freeform 14"/>
            <p:cNvSpPr/>
            <p:nvPr/>
          </p:nvSpPr>
          <p:spPr>
            <a:xfrm>
              <a:off x="571500" y="1714500"/>
              <a:ext cx="7791450" cy="914400"/>
            </a:xfrm>
            <a:custGeom>
              <a:avLst/>
              <a:gdLst/>
              <a:ahLst/>
              <a:cxnLst/>
              <a:rect l="l" t="t" r="r" b="b"/>
              <a:pathLst>
                <a:path w="7791450" h="914400">
                  <a:moveTo>
                    <a:pt x="114300" y="0"/>
                  </a:moveTo>
                  <a:lnTo>
                    <a:pt x="7677150" y="0"/>
                  </a:lnTo>
                  <a:cubicBezTo>
                    <a:pt x="7740276" y="0"/>
                    <a:pt x="7791450" y="51174"/>
                    <a:pt x="7791450" y="114300"/>
                  </a:cubicBezTo>
                  <a:lnTo>
                    <a:pt x="7791450" y="800100"/>
                  </a:lnTo>
                  <a:cubicBezTo>
                    <a:pt x="7791450" y="863226"/>
                    <a:pt x="7740276" y="914400"/>
                    <a:pt x="7677150" y="914400"/>
                  </a:cubicBezTo>
                  <a:lnTo>
                    <a:pt x="114300" y="914400"/>
                  </a:lnTo>
                  <a:cubicBezTo>
                    <a:pt x="51174" y="914400"/>
                    <a:pt x="0" y="863226"/>
                    <a:pt x="0" y="800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19150" y="192405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4991" y="197262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71956" y="1901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锁定试点范围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74242" y="221646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优先选择线索量稳定、渠道较多、复盘痛点明显的业务线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71500" y="2838450"/>
              <a:ext cx="7791450" cy="914400"/>
            </a:xfrm>
            <a:custGeom>
              <a:avLst/>
              <a:gdLst/>
              <a:ahLst/>
              <a:cxnLst/>
              <a:rect l="l" t="t" r="r" b="b"/>
              <a:pathLst>
                <a:path w="7791450" h="914400">
                  <a:moveTo>
                    <a:pt x="114300" y="0"/>
                  </a:moveTo>
                  <a:lnTo>
                    <a:pt x="7677150" y="0"/>
                  </a:lnTo>
                  <a:cubicBezTo>
                    <a:pt x="7740276" y="0"/>
                    <a:pt x="7791450" y="51174"/>
                    <a:pt x="7791450" y="114300"/>
                  </a:cubicBezTo>
                  <a:lnTo>
                    <a:pt x="7791450" y="800100"/>
                  </a:lnTo>
                  <a:cubicBezTo>
                    <a:pt x="7791450" y="863226"/>
                    <a:pt x="7740276" y="914400"/>
                    <a:pt x="7677150" y="914400"/>
                  </a:cubicBezTo>
                  <a:lnTo>
                    <a:pt x="114300" y="914400"/>
                  </a:lnTo>
                  <a:cubicBezTo>
                    <a:pt x="51174" y="914400"/>
                    <a:pt x="0" y="863226"/>
                    <a:pt x="0" y="800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819150" y="3048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4991" y="309657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71956" y="30251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定义成功标准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74242" y="3340418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在启动前锁定复盘时效、策略更新频率、线索转化率与投放调整效率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571500" y="3962400"/>
              <a:ext cx="7791450" cy="914400"/>
            </a:xfrm>
            <a:custGeom>
              <a:avLst/>
              <a:gdLst/>
              <a:ahLst/>
              <a:cxnLst/>
              <a:rect l="l" t="t" r="r" b="b"/>
              <a:pathLst>
                <a:path w="7791450" h="914400">
                  <a:moveTo>
                    <a:pt x="114300" y="0"/>
                  </a:moveTo>
                  <a:lnTo>
                    <a:pt x="7677150" y="0"/>
                  </a:lnTo>
                  <a:cubicBezTo>
                    <a:pt x="7740276" y="0"/>
                    <a:pt x="7791450" y="51174"/>
                    <a:pt x="7791450" y="114300"/>
                  </a:cubicBezTo>
                  <a:lnTo>
                    <a:pt x="7791450" y="800100"/>
                  </a:lnTo>
                  <a:cubicBezTo>
                    <a:pt x="7791450" y="863226"/>
                    <a:pt x="7740276" y="914400"/>
                    <a:pt x="7677150" y="914400"/>
                  </a:cubicBezTo>
                  <a:lnTo>
                    <a:pt x="114300" y="914400"/>
                  </a:lnTo>
                  <a:cubicBezTo>
                    <a:pt x="51174" y="914400"/>
                    <a:pt x="0" y="863226"/>
                    <a:pt x="0" y="800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19150" y="417195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4991" y="422052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71956" y="41490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搭建四模块闭环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74242" y="4464368"/>
              <a:ext cx="44590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同步覆盖数据整合、AI 分析、自动化执行、效果度量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571500" y="5086350"/>
              <a:ext cx="7791450" cy="914400"/>
            </a:xfrm>
            <a:custGeom>
              <a:avLst/>
              <a:gdLst/>
              <a:ahLst/>
              <a:cxnLst/>
              <a:rect l="l" t="t" r="r" b="b"/>
              <a:pathLst>
                <a:path w="7791450" h="914400">
                  <a:moveTo>
                    <a:pt x="114300" y="0"/>
                  </a:moveTo>
                  <a:lnTo>
                    <a:pt x="7677150" y="0"/>
                  </a:lnTo>
                  <a:cubicBezTo>
                    <a:pt x="7740276" y="0"/>
                    <a:pt x="7791450" y="51174"/>
                    <a:pt x="7791450" y="114300"/>
                  </a:cubicBezTo>
                  <a:lnTo>
                    <a:pt x="7791450" y="800100"/>
                  </a:lnTo>
                  <a:cubicBezTo>
                    <a:pt x="7791450" y="863226"/>
                    <a:pt x="7740276" y="914400"/>
                    <a:pt x="7677150" y="914400"/>
                  </a:cubicBezTo>
                  <a:lnTo>
                    <a:pt x="114300" y="914400"/>
                  </a:lnTo>
                  <a:cubicBezTo>
                    <a:pt x="51174" y="914400"/>
                    <a:pt x="0" y="863226"/>
                    <a:pt x="0" y="800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>
                <a:alpha val="4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19150" y="52959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4991" y="534447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71956" y="52730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进入共创与数据梳理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74242" y="558831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明确接口清单、试点人群、自动化场景与管理驾驶舱口径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476750" y="2628900"/>
              <a:ext cx="1" cy="209550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5" name="Line 35"/>
            <p:cNvSpPr/>
            <p:nvPr/>
          </p:nvSpPr>
          <p:spPr>
            <a:xfrm>
              <a:off x="4476750" y="3752850"/>
              <a:ext cx="1" cy="209550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6" name="Line 36"/>
            <p:cNvSpPr/>
            <p:nvPr/>
          </p:nvSpPr>
          <p:spPr>
            <a:xfrm>
              <a:off x="4476750" y="4876800"/>
              <a:ext cx="1" cy="209550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934450" y="1714500"/>
              <a:ext cx="2686050" cy="1257300"/>
            </a:xfrm>
            <a:custGeom>
              <a:avLst/>
              <a:gdLst/>
              <a:ahLst/>
              <a:cxnLst/>
              <a:rect l="l" t="t" r="r" b="b"/>
              <a:pathLst>
                <a:path w="2686050" h="1257300">
                  <a:moveTo>
                    <a:pt x="114300" y="0"/>
                  </a:moveTo>
                  <a:lnTo>
                    <a:pt x="2571750" y="0"/>
                  </a:lnTo>
                  <a:cubicBezTo>
                    <a:pt x="2634876" y="0"/>
                    <a:pt x="2686050" y="51174"/>
                    <a:pt x="2686050" y="114300"/>
                  </a:cubicBezTo>
                  <a:lnTo>
                    <a:pt x="2686050" y="1143000"/>
                  </a:lnTo>
                  <a:cubicBezTo>
                    <a:pt x="2686050" y="1206126"/>
                    <a:pt x="2634876" y="1257300"/>
                    <a:pt x="2571750" y="1257300"/>
                  </a:cubicBezTo>
                  <a:lnTo>
                    <a:pt x="114300" y="1257300"/>
                  </a:lnTo>
                  <a:cubicBezTo>
                    <a:pt x="51174" y="1257300"/>
                    <a:pt x="0" y="1206126"/>
                    <a:pt x="0" y="1143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157716" y="19250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试点判断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54668" y="21840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先验证闭环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56192" y="25022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确认数据可联通、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56192" y="27498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策略可执行、结果可归因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934450" y="3181350"/>
              <a:ext cx="2686050" cy="1257300"/>
            </a:xfrm>
            <a:custGeom>
              <a:avLst/>
              <a:gdLst/>
              <a:ahLst/>
              <a:cxnLst/>
              <a:rect l="l" t="t" r="r" b="b"/>
              <a:pathLst>
                <a:path w="2686050" h="1257300">
                  <a:moveTo>
                    <a:pt x="114300" y="0"/>
                  </a:moveTo>
                  <a:lnTo>
                    <a:pt x="2571750" y="0"/>
                  </a:lnTo>
                  <a:cubicBezTo>
                    <a:pt x="2634876" y="0"/>
                    <a:pt x="2686050" y="51174"/>
                    <a:pt x="2686050" y="114300"/>
                  </a:cubicBezTo>
                  <a:lnTo>
                    <a:pt x="2686050" y="1143000"/>
                  </a:lnTo>
                  <a:cubicBezTo>
                    <a:pt x="2686050" y="1206126"/>
                    <a:pt x="2634876" y="1257300"/>
                    <a:pt x="2571750" y="1257300"/>
                  </a:cubicBezTo>
                  <a:lnTo>
                    <a:pt x="114300" y="1257300"/>
                  </a:lnTo>
                  <a:cubicBezTo>
                    <a:pt x="51174" y="1257300"/>
                    <a:pt x="0" y="1206126"/>
                    <a:pt x="0" y="1143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57716" y="33918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规模判断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54668" y="365093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再决定投入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56192" y="39690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把预算、流程与组织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56192" y="4216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扩展到更多业务线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8934450" y="4648200"/>
              <a:ext cx="2686050" cy="1352550"/>
            </a:xfrm>
            <a:custGeom>
              <a:avLst/>
              <a:gdLst/>
              <a:ahLst/>
              <a:cxnLst/>
              <a:rect l="l" t="t" r="r" b="b"/>
              <a:pathLst>
                <a:path w="2686050" h="1352550">
                  <a:moveTo>
                    <a:pt x="114300" y="0"/>
                  </a:moveTo>
                  <a:lnTo>
                    <a:pt x="2571750" y="0"/>
                  </a:lnTo>
                  <a:cubicBezTo>
                    <a:pt x="2634876" y="0"/>
                    <a:pt x="2686050" y="51174"/>
                    <a:pt x="2686050" y="114300"/>
                  </a:cubicBezTo>
                  <a:lnTo>
                    <a:pt x="2686050" y="1238250"/>
                  </a:lnTo>
                  <a:cubicBezTo>
                    <a:pt x="2686050" y="1301376"/>
                    <a:pt x="2634876" y="1352550"/>
                    <a:pt x="2571750" y="1352550"/>
                  </a:cubicBezTo>
                  <a:lnTo>
                    <a:pt x="114300" y="1352550"/>
                  </a:lnTo>
                  <a:cubicBezTo>
                    <a:pt x="51174" y="1352550"/>
                    <a:pt x="0" y="1301376"/>
                    <a:pt x="0" y="1238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157716" y="48587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关键风险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56192" y="51120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数据口径不统一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56192" y="53597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流程不标准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56192" y="5607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组织协同不足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6096000"/>
            <a:ext cx="8172450" cy="225361"/>
            <a:chOff x="571500" y="6096000"/>
            <a:chExt cx="8172450" cy="225361"/>
          </a:xfrm>
        </p:grpSpPr>
        <p:sp>
          <p:nvSpPr>
            <p:cNvPr id="53" name="Freeform 53"/>
            <p:cNvSpPr/>
            <p:nvPr/>
          </p:nvSpPr>
          <p:spPr>
            <a:xfrm>
              <a:off x="571500" y="6096000"/>
              <a:ext cx="3714750" cy="190500"/>
            </a:xfrm>
            <a:custGeom>
              <a:avLst/>
              <a:gdLst/>
              <a:ahLst/>
              <a:cxnLst/>
              <a:rect l="l" t="t" r="r" b="b"/>
              <a:pathLst>
                <a:path w="3714750" h="190500">
                  <a:moveTo>
                    <a:pt x="95250" y="0"/>
                  </a:moveTo>
                  <a:lnTo>
                    <a:pt x="3619500" y="0"/>
                  </a:lnTo>
                  <a:cubicBezTo>
                    <a:pt x="3672105" y="0"/>
                    <a:pt x="3714750" y="42645"/>
                    <a:pt x="3714750" y="95250"/>
                  </a:cubicBezTo>
                  <a:lnTo>
                    <a:pt x="3714750" y="95250"/>
                  </a:lnTo>
                  <a:cubicBezTo>
                    <a:pt x="3714750" y="147855"/>
                    <a:pt x="3672105" y="190500"/>
                    <a:pt x="361950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7616" y="61160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试点成功标准要在启动前锁定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4400550" y="6096000"/>
              <a:ext cx="2800350" cy="190500"/>
            </a:xfrm>
            <a:custGeom>
              <a:avLst/>
              <a:gdLst/>
              <a:ahLst/>
              <a:cxnLst/>
              <a:rect l="l" t="t" r="r" b="b"/>
              <a:pathLst>
                <a:path w="2800350" h="190500">
                  <a:moveTo>
                    <a:pt x="95250" y="0"/>
                  </a:moveTo>
                  <a:lnTo>
                    <a:pt x="2705100" y="0"/>
                  </a:lnTo>
                  <a:cubicBezTo>
                    <a:pt x="2757705" y="0"/>
                    <a:pt x="2800350" y="42645"/>
                    <a:pt x="2800350" y="95250"/>
                  </a:cubicBezTo>
                  <a:lnTo>
                    <a:pt x="2800350" y="95250"/>
                  </a:lnTo>
                  <a:cubicBezTo>
                    <a:pt x="2800350" y="147855"/>
                    <a:pt x="2757705" y="190500"/>
                    <a:pt x="270510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566666" y="611600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先验证闭环，再决定规模化投入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7315200" y="6096000"/>
              <a:ext cx="1428750" cy="190500"/>
            </a:xfrm>
            <a:custGeom>
              <a:avLst/>
              <a:gdLst/>
              <a:ahLst/>
              <a:cxnLst/>
              <a:rect l="l" t="t" r="r" b="b"/>
              <a:pathLst>
                <a:path w="1428750" h="190500">
                  <a:moveTo>
                    <a:pt x="95250" y="0"/>
                  </a:moveTo>
                  <a:lnTo>
                    <a:pt x="1333500" y="0"/>
                  </a:lnTo>
                  <a:cubicBezTo>
                    <a:pt x="1386105" y="0"/>
                    <a:pt x="1428750" y="42645"/>
                    <a:pt x="1428750" y="95250"/>
                  </a:cubicBezTo>
                  <a:lnTo>
                    <a:pt x="1428750" y="95250"/>
                  </a:lnTo>
                  <a:cubicBezTo>
                    <a:pt x="1428750" y="147855"/>
                    <a:pt x="1386105" y="190500"/>
                    <a:pt x="133350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81316" y="6116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收束判断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2026-07-10T15:36:27Z</dcterms:created>
  <dcterms:modified xsi:type="dcterms:W3CDTF">2026-07-10T15:36:27Z</dcterms:modified>
  <cp:category/>
  <cp:contentStatus/>
</cp:coreProperties>
</file>