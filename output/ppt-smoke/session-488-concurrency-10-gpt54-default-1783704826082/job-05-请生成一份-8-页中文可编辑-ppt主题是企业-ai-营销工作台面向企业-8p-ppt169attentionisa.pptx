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SaaS方案覆盖数据整合、AI分析、自动化执行与效果度量，面向管理层快速决策。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执行摘要路线图</a:t>
            </a:r>
          </a:p>
          <a:p>
            <a:endParaRPr lang="en-US" dirty="0"/>
          </a:p>
          <a:p>
            <a:r>
              <a:rPr lang="zh-CN" dirty="0"/>
              <a:t>5个关键节点，20分钟内做出决策。</a:t>
            </a:r>
          </a:p>
          <a:p>
            <a:endParaRPr lang="en-US" dirty="0"/>
          </a:p>
          <a:p>
            <a:r>
              <a:rPr lang="zh-CN" dirty="0"/>
              <a:t>• 面对碎片化数据与实时变化，领导层如何抓住信号</a:t>
            </a:r>
          </a:p>
          <a:p>
            <a:r>
              <a:rPr lang="zh-CN" dirty="0"/>
              <a:t>• 将数据、分析、执行和度量合成一个无人值守的引擎</a:t>
            </a:r>
          </a:p>
          <a:p>
            <a:r>
              <a:rPr lang="zh-CN" dirty="0"/>
              <a:t>• 传统技术栈在速度、归因和规模上的结构性瓶颈</a:t>
            </a:r>
          </a:p>
          <a:p>
            <a:r>
              <a:rPr lang="zh-CN" dirty="0"/>
              <a:t>• 已经跑通的ROI证据与关键业绩指标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为什么营销需要一台AI工作台</a:t>
            </a:r>
          </a:p>
          <a:p>
            <a:endParaRPr lang="en-US" dirty="0"/>
          </a:p>
          <a:p>
            <a:r>
              <a:rPr lang="zh-CN" dirty="0"/>
              <a:t>三个正在扩大的差距，拖慢增长且放大风险。</a:t>
            </a:r>
          </a:p>
          <a:p>
            <a:endParaRPr lang="en-US" dirty="0"/>
          </a:p>
          <a:p>
            <a:r>
              <a:rPr lang="zh-CN" dirty="0"/>
              <a:t>• 数据整合滞后：跨渠道、CRM、交易数据超过72小时未对齐，决策依赖直觉</a:t>
            </a:r>
          </a:p>
          <a:p>
            <a:r>
              <a:rPr lang="zh-CN" dirty="0"/>
              <a:t>• 分析窗口关闭：消费者意图信号平均6-8小时衰减，人工分析无法跟上</a:t>
            </a:r>
          </a:p>
          <a:p>
            <a:r>
              <a:rPr lang="zh-CN" dirty="0"/>
              <a:t>• 执行与度量脱钩：营销活动效果归因需要2-3周，优化指令无法闭环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传统技术栈vsAI营销工作台</a:t>
            </a:r>
          </a:p>
          <a:p>
            <a:endParaRPr lang="en-US" dirty="0"/>
          </a:p>
          <a:p>
            <a:r>
              <a:rPr lang="zh-CN" dirty="0"/>
              <a:t>高管需要立刻回答成本、速度和规模的问题。</a:t>
            </a:r>
          </a:p>
          <a:p>
            <a:endParaRPr lang="en-US" dirty="0"/>
          </a:p>
          <a:p>
            <a:r>
              <a:rPr lang="zh-CN" dirty="0"/>
              <a:t>• 告警到决策：从2天缩短至2分钟</a:t>
            </a:r>
          </a:p>
          <a:p>
            <a:r>
              <a:rPr lang="zh-CN" dirty="0"/>
              <a:t>• 活动上线：从2周缩短至2小时</a:t>
            </a:r>
          </a:p>
          <a:p>
            <a:r>
              <a:rPr lang="zh-CN" dirty="0"/>
              <a:t>• ROI追算：实时归因，每15分钟更新一次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已证实的客户成效</a:t>
            </a:r>
          </a:p>
          <a:p>
            <a:endParaRPr lang="en-US" dirty="0"/>
          </a:p>
          <a:p>
            <a:r>
              <a:rPr lang="zh-CN" dirty="0"/>
              <a:t>某上市零售集团部署6个月后的关键指标。</a:t>
            </a:r>
          </a:p>
          <a:p>
            <a:endParaRPr lang="en-US" dirty="0"/>
          </a:p>
          <a:p>
            <a:r>
              <a:rPr lang="zh-CN" dirty="0"/>
              <a:t>• +32%，AI推荐策略实时触达高意向客户</a:t>
            </a:r>
          </a:p>
          <a:p>
            <a:r>
              <a:rPr lang="zh-CN" dirty="0"/>
              <a:t>• 从14天压缩到2小时，自动编排跨渠道旅程</a:t>
            </a:r>
          </a:p>
          <a:p>
            <a:r>
              <a:rPr lang="zh-CN" dirty="0"/>
              <a:t>• 达到94%，端到端追踪用户决策路径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预期经营影响</a:t>
            </a:r>
          </a:p>
          <a:p>
            <a:endParaRPr lang="en-US" dirty="0"/>
          </a:p>
          <a:p>
            <a:r>
              <a:rPr lang="zh-CN" dirty="0"/>
              <a:t>基于中等规模部署模型的保守预估。</a:t>
            </a:r>
          </a:p>
          <a:p>
            <a:endParaRPr lang="en-US" dirty="0"/>
          </a:p>
          <a:p>
            <a:r>
              <a:rPr lang="zh-CN" dirty="0"/>
              <a:t>• 营销效率</a:t>
            </a:r>
          </a:p>
          <a:p>
            <a:r>
              <a:rPr lang="zh-CN" dirty="0"/>
              <a:t>• ROI提升</a:t>
            </a:r>
          </a:p>
          <a:p>
            <a:r>
              <a:rPr lang="zh-CN" dirty="0"/>
              <a:t>• 数据整合度</a:t>
            </a:r>
          </a:p>
          <a:p>
            <a:r>
              <a:rPr lang="zh-CN" dirty="0"/>
              <a:t>• 上线时间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四大模块效能跃升</a:t>
            </a:r>
          </a:p>
          <a:p>
            <a:endParaRPr lang="en-US" dirty="0"/>
          </a:p>
          <a:p>
            <a:r>
              <a:rPr lang="zh-CN" dirty="0"/>
              <a:t>对比传统手动流程，每个模块的性能基线。</a:t>
            </a:r>
          </a:p>
          <a:p>
            <a:endParaRPr lang="en-US" dirty="0"/>
          </a:p>
          <a:p>
            <a:r>
              <a:rPr lang="zh-CN" dirty="0"/>
              <a:t>• 数据准备时间减少85%，自动ETL与实体匹配</a:t>
            </a:r>
          </a:p>
          <a:p>
            <a:r>
              <a:rPr lang="zh-CN" dirty="0"/>
              <a:t>• 洞察生成速度提升10倍，异常检测与因果推断内置</a:t>
            </a:r>
          </a:p>
          <a:p>
            <a:r>
              <a:rPr lang="zh-CN" dirty="0"/>
              <a:t>• 人工干预率降至8%，90%以上营销操作自动触发</a:t>
            </a:r>
          </a:p>
          <a:p>
            <a:r>
              <a:rPr lang="zh-CN" dirty="0"/>
              <a:t>• 归因延迟从数周压缩到分钟，预算动态调配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启动您的AI营销工作台</a:t>
            </a:r>
          </a:p>
          <a:p>
            <a:endParaRPr lang="en-US" dirty="0"/>
          </a:p>
          <a:p>
            <a:r>
              <a:rPr lang="zh-CN" dirty="0"/>
              <a:t>从快赢到闭环，一个季度建成核心能力。</a:t>
            </a:r>
          </a:p>
          <a:p>
            <a:endParaRPr lang="en-US" dirty="0"/>
          </a:p>
          <a:p>
            <a:r>
              <a:rPr lang="zh-CN" dirty="0"/>
              <a:t>• 整合第一方数据源，部署基础分析仪表盘并定义ROI基线</a:t>
            </a:r>
          </a:p>
          <a:p>
            <a:r>
              <a:rPr lang="zh-CN" dirty="0"/>
              <a:t>• 上线自动化执行引擎，先导3条关键旅程，验证闭环效果</a:t>
            </a:r>
          </a:p>
          <a:p>
            <a:r>
              <a:rPr lang="zh-CN" dirty="0"/>
              <a:t>• 全渠道接入与AI模型调优，启动持续优化飞轮并交付运营手册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0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143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286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429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572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715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58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47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047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1619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2190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2762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3333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3905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4476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504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5619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0" y="6191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>
                  <a:alpha val="40000"/>
                </a:schemeClr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71500" y="476250"/>
            <a:ext cx="11049000" cy="6235541"/>
            <a:chOff x="571500" y="476250"/>
            <a:chExt cx="11049000" cy="6235541"/>
          </a:xfrm>
        </p:grpSpPr>
        <p:sp>
          <p:nvSpPr>
            <p:cNvPr id="38" name="Rectangle 38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6372225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84849" y="654986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2450" y="1029652"/>
            <a:ext cx="6032087" cy="3123248"/>
            <a:chOff x="552450" y="1029652"/>
            <a:chExt cx="6032087" cy="3123248"/>
          </a:xfrm>
        </p:grpSpPr>
        <p:grpSp>
          <p:nvGrpSpPr>
            <p:cNvPr id="47" name="Group 47"/>
            <p:cNvGrpSpPr/>
            <p:nvPr/>
          </p:nvGrpSpPr>
          <p:grpSpPr>
            <a:xfrm>
              <a:off x="552450" y="1029652"/>
              <a:ext cx="6032087" cy="2162937"/>
              <a:chOff x="552450" y="1029652"/>
              <a:chExt cx="6032087" cy="2162937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566166" y="1029652"/>
                <a:ext cx="8792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spc="1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GRIDBRIEF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52450" y="1451610"/>
                <a:ext cx="601740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企业AI营销工作台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571500" y="2190750"/>
                <a:ext cx="762000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63118" y="2584132"/>
                <a:ext cx="60214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SaaS方案覆盖数据整合、AI分析、自动化执行与效果度量，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3118" y="2869882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面向管理层快速决策。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71500" y="3810000"/>
              <a:ext cx="4572000" cy="342900"/>
              <a:chOff x="571500" y="3810000"/>
              <a:chExt cx="4572000" cy="3429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71500" y="3810000"/>
                <a:ext cx="1905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42900">
                    <a:moveTo>
                      <a:pt x="171450" y="0"/>
                    </a:moveTo>
                    <a:lnTo>
                      <a:pt x="1733550" y="0"/>
                    </a:lnTo>
                    <a:cubicBezTo>
                      <a:pt x="1828239" y="0"/>
                      <a:pt x="1905000" y="76761"/>
                      <a:pt x="1905000" y="171450"/>
                    </a:cubicBezTo>
                    <a:lnTo>
                      <a:pt x="1905000" y="171450"/>
                    </a:lnTo>
                    <a:cubicBezTo>
                      <a:pt x="1905000" y="266139"/>
                      <a:pt x="1828239" y="342900"/>
                      <a:pt x="1733550" y="342900"/>
                    </a:cubicBezTo>
                    <a:lnTo>
                      <a:pt x="171450" y="342900"/>
                    </a:lnTo>
                    <a:cubicBezTo>
                      <a:pt x="76761" y="342900"/>
                      <a:pt x="0" y="266139"/>
                      <a:pt x="0" y="1714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46709" y="393477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企业AI营销工作台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2667000" y="3810000"/>
                <a:ext cx="1143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42900">
                    <a:moveTo>
                      <a:pt x="171450" y="0"/>
                    </a:moveTo>
                    <a:lnTo>
                      <a:pt x="971550" y="0"/>
                    </a:lnTo>
                    <a:cubicBezTo>
                      <a:pt x="1066239" y="0"/>
                      <a:pt x="1143000" y="76761"/>
                      <a:pt x="1143000" y="171450"/>
                    </a:cubicBezTo>
                    <a:lnTo>
                      <a:pt x="1143000" y="171450"/>
                    </a:lnTo>
                    <a:cubicBezTo>
                      <a:pt x="1143000" y="266139"/>
                      <a:pt x="1066239" y="342900"/>
                      <a:pt x="971550" y="342900"/>
                    </a:cubicBezTo>
                    <a:lnTo>
                      <a:pt x="171450" y="342900"/>
                    </a:lnTo>
                    <a:cubicBezTo>
                      <a:pt x="76761" y="342900"/>
                      <a:pt x="0" y="266139"/>
                      <a:pt x="0" y="1714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950464" y="39347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现状概览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4000500" y="3810000"/>
                <a:ext cx="1143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42900">
                    <a:moveTo>
                      <a:pt x="171450" y="0"/>
                    </a:moveTo>
                    <a:lnTo>
                      <a:pt x="971550" y="0"/>
                    </a:lnTo>
                    <a:cubicBezTo>
                      <a:pt x="1066239" y="0"/>
                      <a:pt x="1143000" y="76761"/>
                      <a:pt x="1143000" y="171450"/>
                    </a:cubicBezTo>
                    <a:lnTo>
                      <a:pt x="1143000" y="171450"/>
                    </a:lnTo>
                    <a:cubicBezTo>
                      <a:pt x="1143000" y="266139"/>
                      <a:pt x="1066239" y="342900"/>
                      <a:pt x="971550" y="342900"/>
                    </a:cubicBezTo>
                    <a:lnTo>
                      <a:pt x="171450" y="342900"/>
                    </a:lnTo>
                    <a:cubicBezTo>
                      <a:pt x="76761" y="342900"/>
                      <a:pt x="0" y="266139"/>
                      <a:pt x="0" y="1714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283964" y="39347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核心风险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8515350" y="762000"/>
            <a:ext cx="3105150" cy="4667250"/>
            <a:chOff x="8515350" y="762000"/>
            <a:chExt cx="3105150" cy="4667250"/>
          </a:xfrm>
        </p:grpSpPr>
        <p:grpSp>
          <p:nvGrpSpPr>
            <p:cNvPr id="71" name="Group 71"/>
            <p:cNvGrpSpPr/>
            <p:nvPr/>
          </p:nvGrpSpPr>
          <p:grpSpPr>
            <a:xfrm>
              <a:off x="8515350" y="762000"/>
              <a:ext cx="3105150" cy="4667250"/>
              <a:chOff x="8515350" y="762000"/>
              <a:chExt cx="3105150" cy="4667250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9715500" y="1143000"/>
                <a:ext cx="1524000" cy="1524000"/>
              </a:xfrm>
              <a:prstGeom prst="ellipse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9334500" y="762000"/>
                <a:ext cx="2286000" cy="2286000"/>
              </a:xfrm>
              <a:prstGeom prst="ellipse">
                <a:avLst/>
              </a:prstGeom>
              <a:solidFill>
                <a:schemeClr val="accent2">
                  <a:alpha val="4000"/>
                </a:schemeClr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525000" y="4286250"/>
                <a:ext cx="1714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114300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1066800"/>
                    </a:lnTo>
                    <a:cubicBezTo>
                      <a:pt x="1714500" y="1108884"/>
                      <a:pt x="1680384" y="1143000"/>
                      <a:pt x="1638300" y="1143000"/>
                    </a:cubicBezTo>
                    <a:lnTo>
                      <a:pt x="76200" y="1143000"/>
                    </a:lnTo>
                    <a:cubicBezTo>
                      <a:pt x="34116" y="1143000"/>
                      <a:pt x="0" y="1108884"/>
                      <a:pt x="0" y="1066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9715500" y="4572000"/>
                <a:ext cx="133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9525">
                    <a:moveTo>
                      <a:pt x="0" y="0"/>
                    </a:moveTo>
                    <a:lnTo>
                      <a:pt x="13335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710738" y="47605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Consolas"/>
                    <a:ea typeface="Microsoft YaHei"/>
                    <a:cs typeface="Consolas"/>
                  </a:rPr>
                  <a:t>数据整合</a:t>
                </a:r>
              </a:p>
            </p:txBody>
          </p:sp>
          <p:sp>
            <p:nvSpPr>
              <p:cNvPr id="61" name="Line 61"/>
              <p:cNvSpPr/>
              <p:nvPr/>
            </p:nvSpPr>
            <p:spPr>
              <a:xfrm>
                <a:off x="9715500" y="5048250"/>
                <a:ext cx="133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9525">
                    <a:moveTo>
                      <a:pt x="0" y="0"/>
                    </a:moveTo>
                    <a:lnTo>
                      <a:pt x="1333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710738" y="5189220"/>
                <a:ext cx="37437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Consolas"/>
                    <a:ea typeface="Microsoft YaHei"/>
                    <a:cs typeface="Consolas"/>
                  </a:rPr>
                  <a:t>AI分析</a:t>
                </a:r>
              </a:p>
            </p:txBody>
          </p:sp>
          <p:grpSp>
            <p:nvGrpSpPr>
              <p:cNvPr id="66" name="Group 66"/>
              <p:cNvGrpSpPr/>
              <p:nvPr/>
            </p:nvGrpSpPr>
            <p:grpSpPr>
              <a:xfrm>
                <a:off x="8515350" y="4610100"/>
                <a:ext cx="1047750" cy="285750"/>
                <a:chOff x="8515350" y="4610100"/>
                <a:chExt cx="1047750" cy="285750"/>
              </a:xfrm>
            </p:grpSpPr>
            <p:sp>
              <p:nvSpPr>
                <p:cNvPr id="63" name="Line 63"/>
                <p:cNvSpPr/>
                <p:nvPr/>
              </p:nvSpPr>
              <p:spPr>
                <a:xfrm>
                  <a:off x="8572500" y="4667250"/>
                  <a:ext cx="952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190500">
                      <a:moveTo>
                        <a:pt x="0" y="0"/>
                      </a:moveTo>
                      <a:lnTo>
                        <a:pt x="952500" y="190500"/>
                      </a:lnTo>
                    </a:path>
                  </a:pathLst>
                </a:custGeom>
                <a:noFill/>
                <a:ln w="14288">
                  <a:solidFill>
                    <a:schemeClr val="accent2">
                      <a:alpha val="50000"/>
                    </a:schemeClr>
                  </a:solidFill>
                </a:ln>
              </p:spPr>
            </p:sp>
            <p:sp>
              <p:nvSpPr>
                <p:cNvPr id="64" name="Ellipse 64"/>
                <p:cNvSpPr/>
                <p:nvPr/>
              </p:nvSpPr>
              <p:spPr>
                <a:xfrm>
                  <a:off x="8515350" y="46101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5" name="Ellipse 65"/>
                <p:cNvSpPr/>
                <p:nvPr/>
              </p:nvSpPr>
              <p:spPr>
                <a:xfrm>
                  <a:off x="9486900" y="4819650"/>
                  <a:ext cx="76200" cy="76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10420350" y="3143250"/>
                <a:ext cx="114300" cy="571500"/>
                <a:chOff x="10420350" y="3143250"/>
                <a:chExt cx="114300" cy="571500"/>
              </a:xfrm>
            </p:grpSpPr>
            <p:sp>
              <p:nvSpPr>
                <p:cNvPr id="67" name="Line 67"/>
                <p:cNvSpPr/>
                <p:nvPr/>
              </p:nvSpPr>
              <p:spPr>
                <a:xfrm>
                  <a:off x="10477500" y="3143250"/>
                  <a:ext cx="952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0">
                      <a:moveTo>
                        <a:pt x="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alpha val="70000"/>
                    </a:schemeClr>
                  </a:solidFill>
                </a:ln>
              </p:spPr>
            </p:sp>
            <p:sp>
              <p:nvSpPr>
                <p:cNvPr id="68" name="Polygon 68"/>
                <p:cNvSpPr/>
                <p:nvPr/>
              </p:nvSpPr>
              <p:spPr>
                <a:xfrm>
                  <a:off x="10420350" y="3619500"/>
                  <a:ext cx="1143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0">
                      <a:moveTo>
                        <a:pt x="57150" y="95250"/>
                      </a:moveTo>
                      <a:lnTo>
                        <a:pt x="0" y="0"/>
                      </a:lnTo>
                      <a:lnTo>
                        <a:pt x="114300" y="0"/>
                      </a:lnTo>
                      <a:close/>
                    </a:path>
                  </a:pathLst>
                </a:custGeom>
                <a:solidFill>
                  <a:schemeClr val="accent2">
                    <a:alpha val="70000"/>
                  </a:schemeClr>
                </a:solidFill>
                <a:ln>
                  <a:noFill/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10305517" y="3339941"/>
                <a:ext cx="34396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>
                        <a:alphaMod val="80000"/>
                      </a:schemeClr>
                    </a:solidFill>
                    <a:latin typeface="+mn-lt"/>
                    <a:ea typeface="+mn-ea"/>
                    <a:cs typeface="+mn-cs"/>
                  </a:rPr>
                  <a:t>AI引擎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738" y="476250"/>
            <a:ext cx="11058525" cy="6216491"/>
            <a:chOff x="566738" y="476250"/>
            <a:chExt cx="11058525" cy="621649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6372225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65308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94556" y="653081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7784" y="839152"/>
            <a:ext cx="10491216" cy="5104448"/>
            <a:chOff x="557784" y="839152"/>
            <a:chExt cx="10491216" cy="5104448"/>
          </a:xfrm>
        </p:grpSpPr>
        <p:grpSp>
          <p:nvGrpSpPr>
            <p:cNvPr id="20" name="Group 20"/>
            <p:cNvGrpSpPr/>
            <p:nvPr/>
          </p:nvGrpSpPr>
          <p:grpSpPr>
            <a:xfrm>
              <a:off x="557784" y="839152"/>
              <a:ext cx="2850185" cy="4913948"/>
              <a:chOff x="557784" y="839152"/>
              <a:chExt cx="2850185" cy="491394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66166" y="8391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模块目录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7784" y="1137285"/>
                <a:ext cx="285018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执行摘要路线图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4642" y="1664018"/>
                <a:ext cx="26761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5个关键节点，20分钟内做出决策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752475" y="2324100"/>
                <a:ext cx="114300" cy="3429000"/>
                <a:chOff x="752475" y="2324100"/>
                <a:chExt cx="114300" cy="3429000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809625" y="2381250"/>
                  <a:ext cx="9525" cy="333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750">
                      <a:moveTo>
                        <a:pt x="0" y="0"/>
                      </a:moveTo>
                      <a:lnTo>
                        <a:pt x="0" y="3333750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14" name="Ellipse 14"/>
                <p:cNvSpPr/>
                <p:nvPr/>
              </p:nvSpPr>
              <p:spPr>
                <a:xfrm>
                  <a:off x="752475" y="23241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5" name="Ellipse 15"/>
                <p:cNvSpPr/>
                <p:nvPr/>
              </p:nvSpPr>
              <p:spPr>
                <a:xfrm>
                  <a:off x="771525" y="31718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6" name="Ellipse 16"/>
                <p:cNvSpPr/>
                <p:nvPr/>
              </p:nvSpPr>
              <p:spPr>
                <a:xfrm>
                  <a:off x="771525" y="40100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7" name="Ellipse 17"/>
                <p:cNvSpPr/>
                <p:nvPr/>
              </p:nvSpPr>
              <p:spPr>
                <a:xfrm>
                  <a:off x="771525" y="48387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Ellipse 18"/>
                <p:cNvSpPr/>
                <p:nvPr/>
              </p:nvSpPr>
              <p:spPr>
                <a:xfrm>
                  <a:off x="771525" y="56769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1143000" y="2152650"/>
              <a:ext cx="9906000" cy="3657600"/>
              <a:chOff x="1143000" y="2152650"/>
              <a:chExt cx="9906000" cy="365760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1143000" y="2152650"/>
                <a:ext cx="9906000" cy="609600"/>
                <a:chOff x="1143000" y="2152650"/>
                <a:chExt cx="9906000" cy="6096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143000" y="2190750"/>
                  <a:ext cx="9906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571500">
                      <a:moveTo>
                        <a:pt x="76200" y="0"/>
                      </a:moveTo>
                      <a:lnTo>
                        <a:pt x="9829800" y="0"/>
                      </a:lnTo>
                      <a:cubicBezTo>
                        <a:pt x="9871884" y="0"/>
                        <a:pt x="9906000" y="34116"/>
                        <a:pt x="9906000" y="76200"/>
                      </a:cubicBezTo>
                      <a:lnTo>
                        <a:pt x="9906000" y="495300"/>
                      </a:lnTo>
                      <a:cubicBezTo>
                        <a:pt x="9906000" y="537384"/>
                        <a:pt x="9871884" y="571500"/>
                        <a:pt x="9829800" y="571500"/>
                      </a:cubicBezTo>
                      <a:lnTo>
                        <a:pt x="76200" y="571500"/>
                      </a:lnTo>
                      <a:cubicBezTo>
                        <a:pt x="34116" y="571500"/>
                        <a:pt x="0" y="537384"/>
                        <a:pt x="0" y="495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318260" y="2152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01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088642" y="2283142"/>
                  <a:ext cx="230360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面对碎片化数据与实时变化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090166" y="253460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领导层如何抓住信号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2095500" y="2552700"/>
                  <a:ext cx="800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0" h="9525">
                      <a:moveTo>
                        <a:pt x="0" y="0"/>
                      </a:moveTo>
                      <a:lnTo>
                        <a:pt x="800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1143000" y="2914650"/>
                <a:ext cx="9906000" cy="609600"/>
                <a:chOff x="1143000" y="2914650"/>
                <a:chExt cx="9906000" cy="609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143000" y="2952750"/>
                  <a:ext cx="9906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571500">
                      <a:moveTo>
                        <a:pt x="76200" y="0"/>
                      </a:moveTo>
                      <a:lnTo>
                        <a:pt x="9829800" y="0"/>
                      </a:lnTo>
                      <a:cubicBezTo>
                        <a:pt x="9871884" y="0"/>
                        <a:pt x="9906000" y="34116"/>
                        <a:pt x="9906000" y="76200"/>
                      </a:cubicBezTo>
                      <a:lnTo>
                        <a:pt x="9906000" y="495300"/>
                      </a:lnTo>
                      <a:cubicBezTo>
                        <a:pt x="9906000" y="537384"/>
                        <a:pt x="9871884" y="571500"/>
                        <a:pt x="9829800" y="571500"/>
                      </a:cubicBezTo>
                      <a:lnTo>
                        <a:pt x="76200" y="571500"/>
                      </a:lnTo>
                      <a:cubicBezTo>
                        <a:pt x="34116" y="571500"/>
                        <a:pt x="0" y="537384"/>
                        <a:pt x="0" y="495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318260" y="2914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02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088642" y="3045142"/>
                  <a:ext cx="440266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将数据、分析、执行和度量合成一个无人值守的引擎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2095500" y="3314700"/>
                  <a:ext cx="800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0" h="9525">
                      <a:moveTo>
                        <a:pt x="0" y="0"/>
                      </a:moveTo>
                      <a:lnTo>
                        <a:pt x="800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143000" y="3676650"/>
                <a:ext cx="9906000" cy="609600"/>
                <a:chOff x="1143000" y="3676650"/>
                <a:chExt cx="9906000" cy="6096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143000" y="3714750"/>
                  <a:ext cx="9906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571500">
                      <a:moveTo>
                        <a:pt x="76200" y="0"/>
                      </a:moveTo>
                      <a:lnTo>
                        <a:pt x="9829800" y="0"/>
                      </a:lnTo>
                      <a:cubicBezTo>
                        <a:pt x="9871884" y="0"/>
                        <a:pt x="9906000" y="34116"/>
                        <a:pt x="9906000" y="76200"/>
                      </a:cubicBezTo>
                      <a:lnTo>
                        <a:pt x="9906000" y="495300"/>
                      </a:lnTo>
                      <a:cubicBezTo>
                        <a:pt x="9906000" y="537384"/>
                        <a:pt x="9871884" y="571500"/>
                        <a:pt x="9829800" y="571500"/>
                      </a:cubicBezTo>
                      <a:lnTo>
                        <a:pt x="76200" y="571500"/>
                      </a:lnTo>
                      <a:cubicBezTo>
                        <a:pt x="34116" y="571500"/>
                        <a:pt x="0" y="537384"/>
                        <a:pt x="0" y="495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318260" y="3676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03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088642" y="3807142"/>
                  <a:ext cx="402101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传统技术栈在速度、归因和规模上的结构性瓶颈</a:t>
                  </a:r>
                </a:p>
              </p:txBody>
            </p:sp>
            <p:sp>
              <p:nvSpPr>
                <p:cNvPr id="35" name="Line 35"/>
                <p:cNvSpPr/>
                <p:nvPr/>
              </p:nvSpPr>
              <p:spPr>
                <a:xfrm>
                  <a:off x="2095500" y="4076700"/>
                  <a:ext cx="800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0" h="9525">
                      <a:moveTo>
                        <a:pt x="0" y="0"/>
                      </a:moveTo>
                      <a:lnTo>
                        <a:pt x="800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143000" y="4438650"/>
                <a:ext cx="9906000" cy="609600"/>
                <a:chOff x="1143000" y="4438650"/>
                <a:chExt cx="9906000" cy="6096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143000" y="4476750"/>
                  <a:ext cx="9906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571500">
                      <a:moveTo>
                        <a:pt x="76200" y="0"/>
                      </a:moveTo>
                      <a:lnTo>
                        <a:pt x="9829800" y="0"/>
                      </a:lnTo>
                      <a:cubicBezTo>
                        <a:pt x="9871884" y="0"/>
                        <a:pt x="9906000" y="34116"/>
                        <a:pt x="9906000" y="76200"/>
                      </a:cubicBezTo>
                      <a:lnTo>
                        <a:pt x="9906000" y="495300"/>
                      </a:lnTo>
                      <a:cubicBezTo>
                        <a:pt x="9906000" y="537384"/>
                        <a:pt x="9871884" y="571500"/>
                        <a:pt x="9829800" y="571500"/>
                      </a:cubicBezTo>
                      <a:lnTo>
                        <a:pt x="76200" y="571500"/>
                      </a:lnTo>
                      <a:cubicBezTo>
                        <a:pt x="34116" y="571500"/>
                        <a:pt x="0" y="537384"/>
                        <a:pt x="0" y="495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318260" y="4438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04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2088642" y="4569142"/>
                  <a:ext cx="31590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已经跑通的ROI证据与关键业绩指标</a:t>
                  </a:r>
                </a:p>
              </p:txBody>
            </p:sp>
            <p:sp>
              <p:nvSpPr>
                <p:cNvPr id="40" name="Line 40"/>
                <p:cNvSpPr/>
                <p:nvPr/>
              </p:nvSpPr>
              <p:spPr>
                <a:xfrm>
                  <a:off x="2095500" y="4838700"/>
                  <a:ext cx="800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0" h="9525">
                      <a:moveTo>
                        <a:pt x="0" y="0"/>
                      </a:moveTo>
                      <a:lnTo>
                        <a:pt x="800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1143000" y="5200650"/>
                <a:ext cx="9906000" cy="609600"/>
                <a:chOff x="1143000" y="5200650"/>
                <a:chExt cx="9906000" cy="6096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1143000" y="5238750"/>
                  <a:ext cx="9906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571500">
                      <a:moveTo>
                        <a:pt x="76200" y="0"/>
                      </a:moveTo>
                      <a:lnTo>
                        <a:pt x="9829800" y="0"/>
                      </a:lnTo>
                      <a:cubicBezTo>
                        <a:pt x="9871884" y="0"/>
                        <a:pt x="9906000" y="34116"/>
                        <a:pt x="9906000" y="76200"/>
                      </a:cubicBezTo>
                      <a:lnTo>
                        <a:pt x="9906000" y="495300"/>
                      </a:lnTo>
                      <a:cubicBezTo>
                        <a:pt x="9906000" y="537384"/>
                        <a:pt x="9871884" y="571500"/>
                        <a:pt x="9829800" y="571500"/>
                      </a:cubicBezTo>
                      <a:lnTo>
                        <a:pt x="76200" y="571500"/>
                      </a:lnTo>
                      <a:cubicBezTo>
                        <a:pt x="34116" y="571500"/>
                        <a:pt x="0" y="537384"/>
                        <a:pt x="0" y="495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318260" y="5200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05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088642" y="5331142"/>
                  <a:ext cx="344854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分阶段落地方案、风险管控与下一步行动</a:t>
                  </a:r>
                </a:p>
              </p:txBody>
            </p:sp>
            <p:sp>
              <p:nvSpPr>
                <p:cNvPr id="45" name="Line 45"/>
                <p:cNvSpPr/>
                <p:nvPr/>
              </p:nvSpPr>
              <p:spPr>
                <a:xfrm>
                  <a:off x="2095500" y="5600700"/>
                  <a:ext cx="800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0" h="9525">
                      <a:moveTo>
                        <a:pt x="0" y="0"/>
                      </a:moveTo>
                      <a:lnTo>
                        <a:pt x="800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</p:grpSp>
        <p:grpSp>
          <p:nvGrpSpPr>
            <p:cNvPr id="50" name="Group 50"/>
            <p:cNvGrpSpPr/>
            <p:nvPr/>
          </p:nvGrpSpPr>
          <p:grpSpPr>
            <a:xfrm>
              <a:off x="571500" y="5905500"/>
              <a:ext cx="1905000" cy="38100"/>
              <a:chOff x="571500" y="5905500"/>
              <a:chExt cx="1905000" cy="381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71500" y="5905500"/>
                <a:ext cx="1905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8100">
                    <a:moveTo>
                      <a:pt x="19050" y="0"/>
                    </a:moveTo>
                    <a:lnTo>
                      <a:pt x="1885950" y="0"/>
                    </a:lnTo>
                    <a:cubicBezTo>
                      <a:pt x="1896471" y="0"/>
                      <a:pt x="1905000" y="8529"/>
                      <a:pt x="1905000" y="19050"/>
                    </a:cubicBezTo>
                    <a:lnTo>
                      <a:pt x="1905000" y="19050"/>
                    </a:lnTo>
                    <a:cubicBezTo>
                      <a:pt x="1905000" y="29571"/>
                      <a:pt x="1896471" y="38100"/>
                      <a:pt x="1885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71500" y="5905500"/>
                <a:ext cx="4762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">
                    <a:moveTo>
                      <a:pt x="19050" y="0"/>
                    </a:moveTo>
                    <a:lnTo>
                      <a:pt x="457200" y="0"/>
                    </a:lnTo>
                    <a:cubicBezTo>
                      <a:pt x="467721" y="0"/>
                      <a:pt x="476250" y="8529"/>
                      <a:pt x="476250" y="19050"/>
                    </a:cubicBezTo>
                    <a:lnTo>
                      <a:pt x="476250" y="19050"/>
                    </a:lnTo>
                    <a:cubicBezTo>
                      <a:pt x="476250" y="29571"/>
                      <a:pt x="467721" y="38100"/>
                      <a:pt x="4572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53" name="Group 53"/>
          <p:cNvGrpSpPr/>
          <p:nvPr/>
        </p:nvGrpSpPr>
        <p:grpSpPr>
          <a:xfrm>
            <a:off x="11239500" y="476250"/>
            <a:ext cx="381000" cy="381000"/>
            <a:chOff x="11239500" y="476250"/>
            <a:chExt cx="381000" cy="381000"/>
          </a:xfrm>
        </p:grpSpPr>
        <p:sp>
          <p:nvSpPr>
            <p:cNvPr id="52" name="Freeform 52"/>
            <p:cNvSpPr/>
            <p:nvPr/>
          </p:nvSpPr>
          <p:spPr>
            <a:xfrm>
              <a:off x="11239500" y="476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0" y="0"/>
            <a:ext cx="4572000" cy="6858000"/>
            <a:chOff x="0" y="0"/>
            <a:chExt cx="4572000" cy="6858000"/>
          </a:xfrm>
        </p:grpSpPr>
        <p:sp>
          <p:nvSpPr>
            <p:cNvPr id="11" name="Rectangle 11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81000" y="1524000"/>
              <a:ext cx="3810000" cy="3810000"/>
            </a:xfrm>
            <a:prstGeom prst="ellipse">
              <a:avLst/>
            </a:prstGeom>
            <a:noFill/>
            <a:ln w="9525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62000" y="1905000"/>
              <a:ext cx="3048000" cy="3048000"/>
            </a:xfrm>
            <a:prstGeom prst="ellipse">
              <a:avLst/>
            </a:pr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43000" y="2286000"/>
              <a:ext cx="2286000" cy="2286000"/>
            </a:xfrm>
            <a:prstGeom prst="ellipse">
              <a:avLst/>
            </a:prstGeom>
            <a:noFill/>
            <a:ln w="9525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524000" y="2667000"/>
              <a:ext cx="1524000" cy="1524000"/>
            </a:xfrm>
            <a:prstGeom prst="ellipse">
              <a:avLst/>
            </a:prstGeom>
            <a:noFill/>
            <a:ln w="19050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05000" y="3048000"/>
              <a:ext cx="762000" cy="762000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01587" y="2798445"/>
              <a:ext cx="13688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72h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5272" y="3585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数据整合上限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6486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952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9308" y="11696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为什么营销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9308" y="1550670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需要一台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9308" y="1931670"/>
              <a:ext cx="17001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Georgia"/>
                  <a:ea typeface="SimSun"/>
                  <a:cs typeface="Georgia"/>
                </a:rPr>
                <a:t>AI工作台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404" y="25374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三个正在扩大的差距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404" y="2775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拖慢增长且放大风险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143500" y="952500"/>
            <a:ext cx="6477000" cy="4953000"/>
            <a:chOff x="5143500" y="952500"/>
            <a:chExt cx="6477000" cy="4953000"/>
          </a:xfrm>
        </p:grpSpPr>
        <p:sp>
          <p:nvSpPr>
            <p:cNvPr id="28" name="Freeform 28"/>
            <p:cNvSpPr/>
            <p:nvPr/>
          </p:nvSpPr>
          <p:spPr>
            <a:xfrm>
              <a:off x="5143500" y="952500"/>
              <a:ext cx="6477000" cy="1524000"/>
            </a:xfrm>
            <a:custGeom>
              <a:avLst/>
              <a:gdLst/>
              <a:ahLst/>
              <a:cxnLst/>
              <a:rect l="l" t="t" r="r" b="b"/>
              <a:pathLst>
                <a:path w="6477000" h="15240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1409700"/>
                  </a:lnTo>
                  <a:cubicBezTo>
                    <a:pt x="6477000" y="1472826"/>
                    <a:pt x="6425826" y="1524000"/>
                    <a:pt x="6362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353050" y="1447800"/>
              <a:ext cx="533400" cy="5334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10695" y="15773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88380" y="13620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数据整合滞后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90285" y="1669256"/>
              <a:ext cx="3043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跨渠道、CRM、交易数据超过72小时未对齐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90285" y="18978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决策依赖直觉而非实时洞察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1049000" y="1333500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742950"/>
                  </a:lnTo>
                  <a:cubicBezTo>
                    <a:pt x="38100" y="753471"/>
                    <a:pt x="29571" y="762000"/>
                    <a:pt x="19050" y="762000"/>
                  </a:cubicBezTo>
                  <a:lnTo>
                    <a:pt x="19050" y="762000"/>
                  </a:lnTo>
                  <a:cubicBezTo>
                    <a:pt x="8529" y="762000"/>
                    <a:pt x="0" y="753471"/>
                    <a:pt x="0" y="742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53030">
                <a:alpha val="60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143500" y="2667000"/>
              <a:ext cx="6477000" cy="1524000"/>
            </a:xfrm>
            <a:custGeom>
              <a:avLst/>
              <a:gdLst/>
              <a:ahLst/>
              <a:cxnLst/>
              <a:rect l="l" t="t" r="r" b="b"/>
              <a:pathLst>
                <a:path w="6477000" h="15240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1409700"/>
                  </a:lnTo>
                  <a:cubicBezTo>
                    <a:pt x="6477000" y="1472826"/>
                    <a:pt x="6425826" y="1524000"/>
                    <a:pt x="6362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353050" y="3162300"/>
              <a:ext cx="533400" cy="533400"/>
            </a:xfrm>
            <a:prstGeom prst="ellipse">
              <a:avLst/>
            </a:prstGeom>
            <a:solidFill>
              <a:srgbClr val="C53030">
                <a:alpha val="1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51156" y="32585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53030"/>
                  </a:solidFill>
                  <a:latin typeface="+mn-lt"/>
                  <a:ea typeface="+mn-ea"/>
                  <a:cs typeface="+mn-cs"/>
                </a:rPr>
                <a:t>6-8h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14022" y="34623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53030"/>
                  </a:solidFill>
                  <a:latin typeface="+mn-lt"/>
                  <a:ea typeface="+mn-ea"/>
                  <a:cs typeface="+mn-cs"/>
                </a:rPr>
                <a:t>衰减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88380" y="30765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分析窗口关闭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90285" y="3383756"/>
              <a:ext cx="2230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消费者意图信号平均6-8小时衰减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90285" y="36123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人工分析无法跟上实时变化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1049000" y="3048000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742950"/>
                  </a:lnTo>
                  <a:cubicBezTo>
                    <a:pt x="38100" y="753471"/>
                    <a:pt x="29571" y="762000"/>
                    <a:pt x="19050" y="762000"/>
                  </a:cubicBezTo>
                  <a:lnTo>
                    <a:pt x="19050" y="762000"/>
                  </a:lnTo>
                  <a:cubicBezTo>
                    <a:pt x="8529" y="762000"/>
                    <a:pt x="0" y="753471"/>
                    <a:pt x="0" y="742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53030">
                <a:alpha val="60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143500" y="4381500"/>
              <a:ext cx="6477000" cy="1524000"/>
            </a:xfrm>
            <a:custGeom>
              <a:avLst/>
              <a:gdLst/>
              <a:ahLst/>
              <a:cxnLst/>
              <a:rect l="l" t="t" r="r" b="b"/>
              <a:pathLst>
                <a:path w="6477000" h="15240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1409700"/>
                  </a:lnTo>
                  <a:cubicBezTo>
                    <a:pt x="6477000" y="1472826"/>
                    <a:pt x="6425826" y="1524000"/>
                    <a:pt x="6362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353050" y="4876800"/>
              <a:ext cx="533400" cy="533400"/>
            </a:xfrm>
            <a:prstGeom prst="ellipse">
              <a:avLst/>
            </a:prstGeom>
            <a:solidFill>
              <a:srgbClr val="2F855A">
                <a:alpha val="15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46426" y="4989195"/>
              <a:ext cx="346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2-3周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4022" y="51768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归因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88380" y="47910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执行与度量脱钩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90285" y="5098256"/>
              <a:ext cx="1927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营销活动效果归因需要2-3周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90285" y="532685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优化指令无法形成闭环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1049000" y="4762500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742950"/>
                  </a:lnTo>
                  <a:cubicBezTo>
                    <a:pt x="38100" y="753471"/>
                    <a:pt x="29571" y="762000"/>
                    <a:pt x="19050" y="762000"/>
                  </a:cubicBezTo>
                  <a:lnTo>
                    <a:pt x="19050" y="762000"/>
                  </a:lnTo>
                  <a:cubicBezTo>
                    <a:pt x="8529" y="762000"/>
                    <a:pt x="0" y="753471"/>
                    <a:pt x="0" y="742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53030">
                <a:alpha val="60000"/>
              </a:srgbClr>
            </a:solidFill>
            <a:ln>
              <a:noFill/>
            </a:ln>
          </p:spPr>
        </p:sp>
      </p:grpSp>
      <p:sp>
        <p:nvSpPr>
          <p:cNvPr id="52" name="Line 52"/>
          <p:cNvSpPr/>
          <p:nvPr/>
        </p:nvSpPr>
        <p:spPr>
          <a:xfrm>
            <a:off x="5143500" y="62865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862681" y="653081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08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66738" y="6530816"/>
            <a:ext cx="1001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企业 AI 营销工作台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3000"/>
                  </a:schemeClr>
                </a:gs>
                <a:gs pos="100000">
                  <a:schemeClr val="accent3">
                    <a:alpha val="300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166" y="248602"/>
            <a:ext cx="11054334" cy="237173"/>
            <a:chOff x="566166" y="248602"/>
            <a:chExt cx="11054334" cy="237173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24860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57784" y="661035"/>
            <a:ext cx="11062716" cy="5625465"/>
            <a:chOff x="557784" y="661035"/>
            <a:chExt cx="11062716" cy="5625465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6610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传统技术栈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72784" y="6610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44284" y="661035"/>
              <a:ext cx="28919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115633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高管需要立刻回答成本、速度和规模的问题。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571500" y="1571625"/>
              <a:ext cx="11049000" cy="3619500"/>
              <a:chOff x="571500" y="1571625"/>
              <a:chExt cx="11049000" cy="361950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571500" y="1571625"/>
                <a:ext cx="5143500" cy="3619500"/>
                <a:chOff x="571500" y="1571625"/>
                <a:chExt cx="5143500" cy="36195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71500" y="1571625"/>
                  <a:ext cx="5143500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36195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3505200"/>
                      </a:lnTo>
                      <a:cubicBezTo>
                        <a:pt x="5143500" y="3568326"/>
                        <a:pt x="5092326" y="3619500"/>
                        <a:pt x="5029200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71500" y="1571625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grpSp>
              <p:nvGrpSpPr>
                <p:cNvPr id="16" name="Group 16"/>
                <p:cNvGrpSpPr/>
                <p:nvPr/>
              </p:nvGrpSpPr>
              <p:grpSpPr>
                <a:xfrm>
                  <a:off x="762000" y="1857375"/>
                  <a:ext cx="304800" cy="304800"/>
                  <a:chOff x="762000" y="1857375"/>
                  <a:chExt cx="304800" cy="304800"/>
                </a:xfrm>
              </p:grpSpPr>
              <p:sp>
                <p:nvSpPr>
                  <p:cNvPr id="14" name="Ellipse 14"/>
                  <p:cNvSpPr/>
                  <p:nvPr/>
                </p:nvSpPr>
                <p:spPr>
                  <a:xfrm>
                    <a:off x="762000" y="1857375"/>
                    <a:ext cx="304800" cy="304800"/>
                  </a:xfrm>
                  <a:prstGeom prst="ellipse">
                    <a:avLst/>
                  </a:prstGeom>
                  <a:solidFill>
                    <a:schemeClr val="accent1">
                      <a:alpha val="10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68251" y="1944052"/>
                    <a:ext cx="92298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rPr>
                      <a:t>✕</a:t>
                    </a:r>
                  </a:p>
                </p:txBody>
              </p:sp>
            </p:grpSp>
            <p:sp>
              <p:nvSpPr>
                <p:cNvPr id="17" name="TextBox 17"/>
                <p:cNvSpPr txBox="1"/>
                <p:nvPr/>
              </p:nvSpPr>
              <p:spPr>
                <a:xfrm>
                  <a:off x="1136142" y="1864042"/>
                  <a:ext cx="175975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分散工具 + 人工流程</a:t>
                  </a:r>
                </a:p>
              </p:txBody>
            </p:sp>
            <p:sp>
              <p:nvSpPr>
                <p:cNvPr id="18" name="Rectangle 18"/>
                <p:cNvSpPr/>
                <p:nvPr/>
              </p:nvSpPr>
              <p:spPr>
                <a:xfrm>
                  <a:off x="762000" y="2381250"/>
                  <a:ext cx="4762500" cy="95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</p:sp>
            <p:grpSp>
              <p:nvGrpSpPr>
                <p:cNvPr id="22" name="Group 22"/>
                <p:cNvGrpSpPr/>
                <p:nvPr/>
              </p:nvGrpSpPr>
              <p:grpSpPr>
                <a:xfrm>
                  <a:off x="885825" y="2594610"/>
                  <a:ext cx="2997479" cy="421577"/>
                  <a:chOff x="885825" y="2594610"/>
                  <a:chExt cx="2997479" cy="421577"/>
                </a:xfrm>
              </p:grpSpPr>
              <p:sp>
                <p:nvSpPr>
                  <p:cNvPr id="19" name="Ellipse 19"/>
                  <p:cNvSpPr/>
                  <p:nvPr/>
                </p:nvSpPr>
                <p:spPr>
                  <a:xfrm>
                    <a:off x="885825" y="2647950"/>
                    <a:ext cx="57150" cy="57150"/>
                  </a:xfrm>
                  <a:prstGeom prst="ellipse">
                    <a:avLst/>
                  </a:prstGeom>
                  <a:solidFill>
                    <a:srgbClr val="C53030"/>
                  </a:solidFill>
                  <a:ln>
                    <a:noFill/>
                  </a:ln>
                </p:spPr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041654" y="2594610"/>
                    <a:ext cx="658368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数据孤岛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1042416" y="2810828"/>
                    <a:ext cx="2840888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跨渠道、CRM、交易数据超过72小时未对齐</a:t>
                    </a:r>
                  </a:p>
                </p:txBody>
              </p:sp>
            </p:grpSp>
            <p:grpSp>
              <p:nvGrpSpPr>
                <p:cNvPr id="26" name="Group 26"/>
                <p:cNvGrpSpPr/>
                <p:nvPr/>
              </p:nvGrpSpPr>
              <p:grpSpPr>
                <a:xfrm>
                  <a:off x="885825" y="3213735"/>
                  <a:ext cx="2146173" cy="421576"/>
                  <a:chOff x="885825" y="3213735"/>
                  <a:chExt cx="2146173" cy="421576"/>
                </a:xfrm>
              </p:grpSpPr>
              <p:sp>
                <p:nvSpPr>
                  <p:cNvPr id="23" name="Ellipse 23"/>
                  <p:cNvSpPr/>
                  <p:nvPr/>
                </p:nvSpPr>
                <p:spPr>
                  <a:xfrm>
                    <a:off x="885825" y="3267075"/>
                    <a:ext cx="57150" cy="57150"/>
                  </a:xfrm>
                  <a:prstGeom prst="ellipse">
                    <a:avLst/>
                  </a:prstGeom>
                  <a:solidFill>
                    <a:srgbClr val="C53030"/>
                  </a:solidFill>
                  <a:ln>
                    <a:noFill/>
                  </a:ln>
                </p:spPr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1041654" y="3213735"/>
                    <a:ext cx="658368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手动分析</a:t>
                    </a:r>
                  </a:p>
                </p:txBody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1042416" y="3429952"/>
                    <a:ext cx="198958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依赖直觉判断，分析窗口已关闭</a:t>
                    </a:r>
                  </a:p>
                </p:txBody>
              </p:sp>
            </p:grpSp>
            <p:grpSp>
              <p:nvGrpSpPr>
                <p:cNvPr id="30" name="Group 30"/>
                <p:cNvGrpSpPr/>
                <p:nvPr/>
              </p:nvGrpSpPr>
              <p:grpSpPr>
                <a:xfrm>
                  <a:off x="885825" y="3832860"/>
                  <a:ext cx="1799863" cy="421577"/>
                  <a:chOff x="885825" y="3832860"/>
                  <a:chExt cx="1799863" cy="421577"/>
                </a:xfrm>
              </p:grpSpPr>
              <p:sp>
                <p:nvSpPr>
                  <p:cNvPr id="27" name="Ellipse 27"/>
                  <p:cNvSpPr/>
                  <p:nvPr/>
                </p:nvSpPr>
                <p:spPr>
                  <a:xfrm>
                    <a:off x="885825" y="3886200"/>
                    <a:ext cx="57150" cy="57150"/>
                  </a:xfrm>
                  <a:prstGeom prst="ellipse">
                    <a:avLst/>
                  </a:prstGeom>
                  <a:solidFill>
                    <a:srgbClr val="C53030"/>
                  </a:solidFill>
                  <a:ln>
                    <a:noFill/>
                  </a:ln>
                </p:spPr>
              </p:sp>
              <p:sp>
                <p:nvSpPr>
                  <p:cNvPr id="28" name="TextBox 28"/>
                  <p:cNvSpPr txBox="1"/>
                  <p:nvPr/>
                </p:nvSpPr>
                <p:spPr>
                  <a:xfrm>
                    <a:off x="1041654" y="3832860"/>
                    <a:ext cx="114300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长周期活动部署</a:t>
                    </a:r>
                  </a:p>
                </p:txBody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1042416" y="4049078"/>
                    <a:ext cx="164327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从策划到上线需要2周以上</a:t>
                    </a:r>
                  </a:p>
                </p:txBody>
              </p:sp>
            </p:grpSp>
            <p:grpSp>
              <p:nvGrpSpPr>
                <p:cNvPr id="34" name="Group 34"/>
                <p:cNvGrpSpPr/>
                <p:nvPr/>
              </p:nvGrpSpPr>
              <p:grpSpPr>
                <a:xfrm>
                  <a:off x="885825" y="4451985"/>
                  <a:ext cx="1722120" cy="421576"/>
                  <a:chOff x="885825" y="4451985"/>
                  <a:chExt cx="1722120" cy="421576"/>
                </a:xfrm>
              </p:grpSpPr>
              <p:sp>
                <p:nvSpPr>
                  <p:cNvPr id="31" name="Ellipse 31"/>
                  <p:cNvSpPr/>
                  <p:nvPr/>
                </p:nvSpPr>
                <p:spPr>
                  <a:xfrm>
                    <a:off x="885825" y="4505325"/>
                    <a:ext cx="57150" cy="57150"/>
                  </a:xfrm>
                  <a:prstGeom prst="ellipse">
                    <a:avLst/>
                  </a:prstGeom>
                  <a:solidFill>
                    <a:srgbClr val="C53030"/>
                  </a:solidFill>
                  <a:ln>
                    <a:noFill/>
                  </a:ln>
                </p:spPr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1041654" y="4451985"/>
                    <a:ext cx="658368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滞后归因</a:t>
                    </a:r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1042416" y="4668202"/>
                    <a:ext cx="1565529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活动结束后才能评估效果</a:t>
                    </a:r>
                  </a:p>
                </p:txBody>
              </p:sp>
            </p:grpSp>
          </p:grpSp>
          <p:grpSp>
            <p:nvGrpSpPr>
              <p:cNvPr id="59" name="Group 59"/>
              <p:cNvGrpSpPr/>
              <p:nvPr/>
            </p:nvGrpSpPr>
            <p:grpSpPr>
              <a:xfrm>
                <a:off x="6477000" y="1571625"/>
                <a:ext cx="5143500" cy="3619500"/>
                <a:chOff x="6477000" y="1571625"/>
                <a:chExt cx="5143500" cy="36195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477000" y="1571625"/>
                  <a:ext cx="5143500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36195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3505200"/>
                      </a:lnTo>
                      <a:cubicBezTo>
                        <a:pt x="5143500" y="3568326"/>
                        <a:pt x="5092326" y="3619500"/>
                        <a:pt x="5029200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77000" y="1571625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grpSp>
              <p:nvGrpSpPr>
                <p:cNvPr id="40" name="Group 40"/>
                <p:cNvGrpSpPr/>
                <p:nvPr/>
              </p:nvGrpSpPr>
              <p:grpSpPr>
                <a:xfrm>
                  <a:off x="6667500" y="1857375"/>
                  <a:ext cx="304800" cy="304800"/>
                  <a:chOff x="6667500" y="1857375"/>
                  <a:chExt cx="304800" cy="304800"/>
                </a:xfrm>
              </p:grpSpPr>
              <p:sp>
                <p:nvSpPr>
                  <p:cNvPr id="38" name="Ellipse 38"/>
                  <p:cNvSpPr/>
                  <p:nvPr/>
                </p:nvSpPr>
                <p:spPr>
                  <a:xfrm>
                    <a:off x="6667500" y="1857375"/>
                    <a:ext cx="304800" cy="304800"/>
                  </a:xfrm>
                  <a:prstGeom prst="ellipse">
                    <a:avLst/>
                  </a:prstGeom>
                  <a:solidFill>
                    <a:schemeClr val="accent2">
                      <a:alpha val="15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39" name="Freeform 39"/>
                  <p:cNvSpPr/>
                  <p:nvPr/>
                </p:nvSpPr>
                <p:spPr>
                  <a:xfrm>
                    <a:off x="6762750" y="1971675"/>
                    <a:ext cx="1143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76200">
                        <a:moveTo>
                          <a:pt x="0" y="38100"/>
                        </a:moveTo>
                        <a:lnTo>
                          <a:pt x="38100" y="76200"/>
                        </a:lnTo>
                        <a:lnTo>
                          <a:pt x="114300" y="0"/>
                        </a:lnTo>
                      </a:path>
                    </a:pathLst>
                  </a:custGeom>
                  <a:noFill/>
                  <a:ln w="19050" cap="rnd">
                    <a:solidFill>
                      <a:schemeClr val="accent2"/>
                    </a:solidFill>
                    <a:round/>
                  </a:ln>
                </p:spPr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7041642" y="1864042"/>
                  <a:ext cx="2332226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统一数据面 + 自动决策引擎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6667500" y="2381250"/>
                  <a:ext cx="4762500" cy="9525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  <p:grpSp>
              <p:nvGrpSpPr>
                <p:cNvPr id="46" name="Group 46"/>
                <p:cNvGrpSpPr/>
                <p:nvPr/>
              </p:nvGrpSpPr>
              <p:grpSpPr>
                <a:xfrm>
                  <a:off x="6791325" y="2594610"/>
                  <a:ext cx="2570226" cy="421577"/>
                  <a:chOff x="6791325" y="2594610"/>
                  <a:chExt cx="2570226" cy="421577"/>
                </a:xfrm>
              </p:grpSpPr>
              <p:sp>
                <p:nvSpPr>
                  <p:cNvPr id="43" name="Ellipse 43"/>
                  <p:cNvSpPr/>
                  <p:nvPr/>
                </p:nvSpPr>
                <p:spPr>
                  <a:xfrm>
                    <a:off x="6791325" y="2647950"/>
                    <a:ext cx="57150" cy="5715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6947154" y="2594610"/>
                    <a:ext cx="981456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实时数据融合</a:t>
                    </a:r>
                  </a:p>
                </p:txBody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6947916" y="2810828"/>
                    <a:ext cx="2413635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多渠道数据分钟级同步，决策有据可依</a:t>
                    </a:r>
                  </a:p>
                </p:txBody>
              </p:sp>
            </p:grpSp>
            <p:grpSp>
              <p:nvGrpSpPr>
                <p:cNvPr id="50" name="Group 50"/>
                <p:cNvGrpSpPr/>
                <p:nvPr/>
              </p:nvGrpSpPr>
              <p:grpSpPr>
                <a:xfrm>
                  <a:off x="6791325" y="3213735"/>
                  <a:ext cx="2287524" cy="421576"/>
                  <a:chOff x="6791325" y="3213735"/>
                  <a:chExt cx="2287524" cy="421576"/>
                </a:xfrm>
              </p:grpSpPr>
              <p:sp>
                <p:nvSpPr>
                  <p:cNvPr id="47" name="Ellipse 47"/>
                  <p:cNvSpPr/>
                  <p:nvPr/>
                </p:nvSpPr>
                <p:spPr>
                  <a:xfrm>
                    <a:off x="6791325" y="3267075"/>
                    <a:ext cx="57150" cy="5715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6947154" y="3213735"/>
                    <a:ext cx="498653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AI分析</a:t>
                    </a:r>
                  </a:p>
                </p:txBody>
              </p:sp>
              <p:sp>
                <p:nvSpPr>
                  <p:cNvPr id="49" name="TextBox 49"/>
                  <p:cNvSpPr txBox="1"/>
                  <p:nvPr/>
                </p:nvSpPr>
                <p:spPr>
                  <a:xfrm>
                    <a:off x="6947916" y="3429952"/>
                    <a:ext cx="2130933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意图信号实时捕捉，自动生成洞察</a:t>
                    </a:r>
                  </a:p>
                </p:txBody>
              </p:sp>
            </p:grpSp>
            <p:grpSp>
              <p:nvGrpSpPr>
                <p:cNvPr id="54" name="Group 54"/>
                <p:cNvGrpSpPr/>
                <p:nvPr/>
              </p:nvGrpSpPr>
              <p:grpSpPr>
                <a:xfrm>
                  <a:off x="6791325" y="3832860"/>
                  <a:ext cx="2287524" cy="421577"/>
                  <a:chOff x="6791325" y="3832860"/>
                  <a:chExt cx="2287524" cy="421577"/>
                </a:xfrm>
              </p:grpSpPr>
              <p:sp>
                <p:nvSpPr>
                  <p:cNvPr id="51" name="Ellipse 51"/>
                  <p:cNvSpPr/>
                  <p:nvPr/>
                </p:nvSpPr>
                <p:spPr>
                  <a:xfrm>
                    <a:off x="6791325" y="3886200"/>
                    <a:ext cx="57150" cy="5715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6947154" y="3832860"/>
                    <a:ext cx="819912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自动化执行</a:t>
                    </a:r>
                  </a:p>
                </p:txBody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6947916" y="4049078"/>
                    <a:ext cx="2130933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活动秒级上线，即时响应市场变化</a:t>
                    </a:r>
                  </a:p>
                </p:txBody>
              </p:sp>
            </p:grpSp>
            <p:grpSp>
              <p:nvGrpSpPr>
                <p:cNvPr id="58" name="Group 58"/>
                <p:cNvGrpSpPr/>
                <p:nvPr/>
              </p:nvGrpSpPr>
              <p:grpSpPr>
                <a:xfrm>
                  <a:off x="6791325" y="4451985"/>
                  <a:ext cx="2362733" cy="421576"/>
                  <a:chOff x="6791325" y="4451985"/>
                  <a:chExt cx="2362733" cy="421576"/>
                </a:xfrm>
              </p:grpSpPr>
              <p:sp>
                <p:nvSpPr>
                  <p:cNvPr id="55" name="Ellipse 55"/>
                  <p:cNvSpPr/>
                  <p:nvPr/>
                </p:nvSpPr>
                <p:spPr>
                  <a:xfrm>
                    <a:off x="6791325" y="4505325"/>
                    <a:ext cx="57150" cy="5715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6947154" y="4451985"/>
                    <a:ext cx="658368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实时归因</a:t>
                    </a:r>
                  </a:p>
                </p:txBody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6947916" y="4668202"/>
                    <a:ext cx="220614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ROI每15分钟更新，投放效果透明</a:t>
                    </a:r>
                  </a:p>
                </p:txBody>
              </p:sp>
            </p:grpSp>
          </p:grpSp>
          <p:grpSp>
            <p:nvGrpSpPr>
              <p:cNvPr id="62" name="Group 62"/>
              <p:cNvGrpSpPr/>
              <p:nvPr/>
            </p:nvGrpSpPr>
            <p:grpSpPr>
              <a:xfrm>
                <a:off x="5905500" y="3333750"/>
                <a:ext cx="381000" cy="95250"/>
                <a:chOff x="5905500" y="3333750"/>
                <a:chExt cx="381000" cy="95250"/>
              </a:xfrm>
            </p:grpSpPr>
            <p:sp>
              <p:nvSpPr>
                <p:cNvPr id="60" name="Line 60"/>
                <p:cNvSpPr/>
                <p:nvPr/>
              </p:nvSpPr>
              <p:spPr>
                <a:xfrm>
                  <a:off x="5905500" y="3381375"/>
                  <a:ext cx="38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9525">
                      <a:moveTo>
                        <a:pt x="0" y="0"/>
                      </a:moveTo>
                      <a:lnTo>
                        <a:pt x="3810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custDash>
                    <a:ds d="200000" sp="150000"/>
                  </a:custDash>
                </a:ln>
              </p:spPr>
            </p:sp>
            <p:sp>
              <p:nvSpPr>
                <p:cNvPr id="61" name="Polygon 61"/>
                <p:cNvSpPr/>
                <p:nvPr/>
              </p:nvSpPr>
              <p:spPr>
                <a:xfrm>
                  <a:off x="6191250" y="33337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47625"/>
                      </a:moveTo>
                      <a:lnTo>
                        <a:pt x="0" y="0"/>
                      </a:lnTo>
                      <a:lnTo>
                        <a:pt x="0" y="9525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</p:grpSp>
        <p:grpSp>
          <p:nvGrpSpPr>
            <p:cNvPr id="86" name="Group 86"/>
            <p:cNvGrpSpPr/>
            <p:nvPr/>
          </p:nvGrpSpPr>
          <p:grpSpPr>
            <a:xfrm>
              <a:off x="571500" y="5429250"/>
              <a:ext cx="11049000" cy="857250"/>
              <a:chOff x="571500" y="5429250"/>
              <a:chExt cx="11049000" cy="8572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71500" y="5429250"/>
                <a:ext cx="11049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857250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762000"/>
                    </a:lnTo>
                    <a:cubicBezTo>
                      <a:pt x="11049000" y="814605"/>
                      <a:pt x="11006355" y="857250"/>
                      <a:pt x="10953750" y="857250"/>
                    </a:cubicBezTo>
                    <a:lnTo>
                      <a:pt x="95250" y="857250"/>
                    </a:lnTo>
                    <a:cubicBezTo>
                      <a:pt x="42645" y="857250"/>
                      <a:pt x="0" y="814605"/>
                      <a:pt x="0" y="7620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1133094" y="5570220"/>
                <a:ext cx="1476840" cy="534733"/>
                <a:chOff x="1133094" y="5570220"/>
                <a:chExt cx="1476840" cy="534733"/>
              </a:xfrm>
            </p:grpSpPr>
            <p:sp>
              <p:nvSpPr>
                <p:cNvPr id="65" name="TextBox 65"/>
                <p:cNvSpPr txBox="1"/>
                <p:nvPr/>
              </p:nvSpPr>
              <p:spPr>
                <a:xfrm>
                  <a:off x="1138238" y="5570220"/>
                  <a:ext cx="65570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spc="75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告警到决策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1133094" y="5723572"/>
                  <a:ext cx="47122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rgbClr val="FFFFFF"/>
                      </a:solidFill>
                      <a:latin typeface="Georgia"/>
                      <a:ea typeface="SimSun"/>
                      <a:cs typeface="Georgia"/>
                    </a:rPr>
                    <a:t>2天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661541" y="58207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847469" y="5723572"/>
                  <a:ext cx="76246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chemeClr val="accent3"/>
                      </a:solidFill>
                      <a:latin typeface="Georgia"/>
                      <a:ea typeface="SimSun"/>
                      <a:cs typeface="Georgia"/>
                    </a:rPr>
                    <a:t>2分钟</a:t>
                  </a:r>
                </a:p>
              </p:txBody>
            </p:sp>
          </p:grpSp>
          <p:sp>
            <p:nvSpPr>
              <p:cNvPr id="70" name="Line 70"/>
              <p:cNvSpPr/>
              <p:nvPr/>
            </p:nvSpPr>
            <p:spPr>
              <a:xfrm>
                <a:off x="3238500" y="56197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20000"/>
                  </a:srgbClr>
                </a:solidFill>
              </a:ln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3800094" y="5570220"/>
                <a:ext cx="1429215" cy="534733"/>
                <a:chOff x="3800094" y="5570220"/>
                <a:chExt cx="1429215" cy="534733"/>
              </a:xfrm>
            </p:grpSpPr>
            <p:sp>
              <p:nvSpPr>
                <p:cNvPr id="71" name="TextBox 71"/>
                <p:cNvSpPr txBox="1"/>
                <p:nvPr/>
              </p:nvSpPr>
              <p:spPr>
                <a:xfrm>
                  <a:off x="3805238" y="5570220"/>
                  <a:ext cx="52444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spc="75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活动上线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3800094" y="5723572"/>
                  <a:ext cx="47122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rgbClr val="FFFFFF"/>
                      </a:solidFill>
                      <a:latin typeface="Georgia"/>
                      <a:ea typeface="SimSun"/>
                      <a:cs typeface="Georgia"/>
                    </a:rPr>
                    <a:t>2周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4280916" y="58207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4466844" y="5723572"/>
                  <a:ext cx="76246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chemeClr val="accent3"/>
                      </a:solidFill>
                      <a:latin typeface="Georgia"/>
                      <a:ea typeface="SimSun"/>
                      <a:cs typeface="Georgia"/>
                    </a:rPr>
                    <a:t>2小时</a:t>
                  </a:r>
                </a:p>
              </p:txBody>
            </p:sp>
          </p:grpSp>
          <p:sp>
            <p:nvSpPr>
              <p:cNvPr id="76" name="Line 76"/>
              <p:cNvSpPr/>
              <p:nvPr/>
            </p:nvSpPr>
            <p:spPr>
              <a:xfrm>
                <a:off x="5715000" y="56197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20000"/>
                  </a:srgbClr>
                </a:solidFill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6276594" y="5570220"/>
                <a:ext cx="1541770" cy="534733"/>
                <a:chOff x="6276594" y="5570220"/>
                <a:chExt cx="1541770" cy="534733"/>
              </a:xfrm>
            </p:grpSpPr>
            <p:sp>
              <p:nvSpPr>
                <p:cNvPr id="77" name="TextBox 77"/>
                <p:cNvSpPr txBox="1"/>
                <p:nvPr/>
              </p:nvSpPr>
              <p:spPr>
                <a:xfrm>
                  <a:off x="6281738" y="5570220"/>
                  <a:ext cx="51305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spc="75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ROI追算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6276594" y="5723572"/>
                  <a:ext cx="60332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9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T+1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6709791" y="58207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6895719" y="5723572"/>
                  <a:ext cx="92264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chemeClr val="accent3"/>
                      </a:solidFill>
                      <a:latin typeface="Georgia"/>
                      <a:ea typeface="SimSun"/>
                      <a:cs typeface="Georgia"/>
                    </a:rPr>
                    <a:t>15分钟</a:t>
                  </a:r>
                </a:p>
              </p:txBody>
            </p:sp>
          </p:grpSp>
          <p:sp>
            <p:nvSpPr>
              <p:cNvPr id="82" name="Line 82"/>
              <p:cNvSpPr/>
              <p:nvPr/>
            </p:nvSpPr>
            <p:spPr>
              <a:xfrm>
                <a:off x="8191500" y="56197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20000"/>
                  </a:srgbClr>
                </a:solidFill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8753094" y="5570220"/>
                <a:ext cx="1184758" cy="534733"/>
                <a:chOff x="8753094" y="5570220"/>
                <a:chExt cx="1184758" cy="534733"/>
              </a:xfrm>
            </p:grpSpPr>
            <p:sp>
              <p:nvSpPr>
                <p:cNvPr id="83" name="TextBox 83"/>
                <p:cNvSpPr txBox="1"/>
                <p:nvPr/>
              </p:nvSpPr>
              <p:spPr>
                <a:xfrm>
                  <a:off x="8758238" y="5570220"/>
                  <a:ext cx="52444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spc="75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关键变量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8753094" y="5723572"/>
                  <a:ext cx="118475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b="1" dirty="0">
                      <a:solidFill>
                        <a:schemeClr val="accent3"/>
                      </a:solidFill>
                      <a:latin typeface="Georgia"/>
                      <a:ea typeface="SimSun"/>
                      <a:cs typeface="Georgia"/>
                    </a:rPr>
                    <a:t>实时监控</a:t>
                  </a:r>
                </a:p>
              </p:txBody>
            </p:sp>
          </p:grpSp>
        </p:grpSp>
      </p:grpSp>
      <p:grpSp>
        <p:nvGrpSpPr>
          <p:cNvPr id="91" name="Group 91"/>
          <p:cNvGrpSpPr/>
          <p:nvPr/>
        </p:nvGrpSpPr>
        <p:grpSpPr>
          <a:xfrm>
            <a:off x="566738" y="6477000"/>
            <a:ext cx="10487025" cy="310991"/>
            <a:chOff x="566738" y="6477000"/>
            <a:chExt cx="10487025" cy="310991"/>
          </a:xfrm>
        </p:grpSpPr>
        <p:sp>
          <p:nvSpPr>
            <p:cNvPr id="88" name="Rectangle 88"/>
            <p:cNvSpPr/>
            <p:nvPr/>
          </p:nvSpPr>
          <p:spPr>
            <a:xfrm>
              <a:off x="571500" y="6477000"/>
              <a:ext cx="952500" cy="190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6738" y="662606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36062" y="6626066"/>
              <a:ext cx="14177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AI营销工作台 · 企业级方案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39102"/>
            <a:ext cx="11049000" cy="284798"/>
            <a:chOff x="571500" y="439102"/>
            <a:chExt cx="11049000" cy="284798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381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416" y="439102"/>
              <a:ext cx="981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714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57784" y="994410"/>
            <a:ext cx="11062716" cy="5387340"/>
            <a:chOff x="557784" y="994410"/>
            <a:chExt cx="11062716" cy="5387340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994410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已证实的客户成效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504950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某上市零售集团部署6个月后的关键指标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71500" y="2095500"/>
              <a:ext cx="11049000" cy="4286250"/>
              <a:chOff x="571500" y="2095500"/>
              <a:chExt cx="11049000" cy="428625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571500" y="2095500"/>
                <a:ext cx="5191125" cy="2000250"/>
                <a:chOff x="571500" y="2095500"/>
                <a:chExt cx="5191125" cy="200025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571500" y="2095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571500" y="2095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70966" y="236315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线索转化率提升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61060" y="2724150"/>
                  <a:ext cx="110581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rgbClr val="2F855A"/>
                      </a:solidFill>
                      <a:latin typeface="Georgia"/>
                      <a:ea typeface="Georgia"/>
                      <a:cs typeface="Georgia"/>
                    </a:rPr>
                    <a:t>+32%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70585" y="3259931"/>
                  <a:ext cx="142760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AI推荐策略实时触达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70585" y="3479006"/>
                  <a:ext cx="76866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高意向客户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6429375" y="2095500"/>
                <a:ext cx="5191125" cy="2000250"/>
                <a:chOff x="6429375" y="2095500"/>
                <a:chExt cx="5191125" cy="20002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429375" y="2095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429375" y="2095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728841" y="23631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营销部署时效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6721983" y="2788920"/>
                  <a:ext cx="2103364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chemeClr val="accent2"/>
                      </a:solidFill>
                      <a:latin typeface="Georgia"/>
                      <a:ea typeface="SimSun"/>
                      <a:cs typeface="Georgia"/>
                    </a:rPr>
                    <a:t>14天 → 2小时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728460" y="3259931"/>
                  <a:ext cx="137445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自动编排跨渠道旅程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728460" y="3479006"/>
                  <a:ext cx="137445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全流程无需人工干预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71500" y="4381500"/>
                <a:ext cx="5191125" cy="2000250"/>
                <a:chOff x="571500" y="4381500"/>
                <a:chExt cx="5191125" cy="20002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71500" y="4381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71500" y="4381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70966" y="464915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归因置信度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61060" y="501015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Georgia"/>
                      <a:ea typeface="Georgia"/>
                      <a:cs typeface="Georgia"/>
                    </a:rPr>
                    <a:t>94%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70585" y="5545931"/>
                  <a:ext cx="107156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端到端追踪用户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870585" y="5765006"/>
                  <a:ext cx="107156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决策路径全链路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429375" y="4381500"/>
                <a:ext cx="5191125" cy="2000250"/>
                <a:chOff x="6429375" y="4381500"/>
                <a:chExt cx="5191125" cy="20002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429375" y="4381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29375" y="4381500"/>
                  <a:ext cx="51911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1125" h="2000250">
                      <a:moveTo>
                        <a:pt x="114300" y="0"/>
                      </a:moveTo>
                      <a:lnTo>
                        <a:pt x="5076825" y="0"/>
                      </a:lnTo>
                      <a:cubicBezTo>
                        <a:pt x="5139951" y="0"/>
                        <a:pt x="5191125" y="51174"/>
                        <a:pt x="5191125" y="114300"/>
                      </a:cubicBezTo>
                      <a:lnTo>
                        <a:pt x="5191125" y="1885950"/>
                      </a:lnTo>
                      <a:cubicBezTo>
                        <a:pt x="5191125" y="1949076"/>
                        <a:pt x="5139951" y="2000250"/>
                        <a:pt x="5076825" y="2000250"/>
                      </a:cubicBezTo>
                      <a:lnTo>
                        <a:pt x="114300" y="2000250"/>
                      </a:lnTo>
                      <a:cubicBezTo>
                        <a:pt x="51174" y="2000250"/>
                        <a:pt x="0" y="1949076"/>
                        <a:pt x="0" y="18859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728841" y="46491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人力成本释放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718935" y="5010150"/>
                  <a:ext cx="1755496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000" b="1" dirty="0">
                      <a:solidFill>
                        <a:srgbClr val="2F855A"/>
                      </a:solidFill>
                      <a:latin typeface="Georgia"/>
                      <a:ea typeface="SimSun"/>
                      <a:cs typeface="Georgia"/>
                    </a:rPr>
                    <a:t>节省40%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728460" y="5545931"/>
                  <a:ext cx="9201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重复操作工时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728460" y="5765006"/>
                  <a:ext cx="122301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团队转向策略设计</a:t>
                  </a:r>
                </a:p>
              </p:txBody>
            </p:sp>
          </p:grpSp>
        </p:grpSp>
      </p:grpSp>
      <p:grpSp>
        <p:nvGrpSpPr>
          <p:cNvPr id="45" name="Group 45"/>
          <p:cNvGrpSpPr/>
          <p:nvPr/>
        </p:nvGrpSpPr>
        <p:grpSpPr>
          <a:xfrm>
            <a:off x="5343525" y="3057525"/>
            <a:ext cx="1085850" cy="2362200"/>
            <a:chOff x="5343525" y="3057525"/>
            <a:chExt cx="1085850" cy="2362200"/>
          </a:xfrm>
        </p:grpSpPr>
        <p:sp>
          <p:nvSpPr>
            <p:cNvPr id="41" name="Ellipse 41"/>
            <p:cNvSpPr/>
            <p:nvPr/>
          </p:nvSpPr>
          <p:spPr>
            <a:xfrm>
              <a:off x="5343525" y="3057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343525" y="5343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5381625" y="30956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  <p:sp>
          <p:nvSpPr>
            <p:cNvPr id="44" name="Line 44"/>
            <p:cNvSpPr/>
            <p:nvPr/>
          </p:nvSpPr>
          <p:spPr>
            <a:xfrm>
              <a:off x="5381625" y="53816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66738" y="6667500"/>
            <a:ext cx="11058524" cy="215741"/>
            <a:chOff x="566738" y="6667500"/>
            <a:chExt cx="11058524" cy="215741"/>
          </a:xfrm>
        </p:grpSpPr>
        <p:sp>
          <p:nvSpPr>
            <p:cNvPr id="46" name="Line 46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6738" y="672131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65849" y="672131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476250"/>
            <a:ext cx="11049000" cy="5915025"/>
            <a:chOff x="571500" y="476250"/>
            <a:chExt cx="11049000" cy="591502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63817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57784" y="791528"/>
            <a:ext cx="11062716" cy="5780722"/>
            <a:chOff x="557784" y="791528"/>
            <a:chExt cx="11062716" cy="5780722"/>
          </a:xfrm>
        </p:grpSpPr>
        <p:grpSp>
          <p:nvGrpSpPr>
            <p:cNvPr id="11" name="Group 11"/>
            <p:cNvGrpSpPr/>
            <p:nvPr/>
          </p:nvGrpSpPr>
          <p:grpSpPr>
            <a:xfrm>
              <a:off x="557784" y="791528"/>
              <a:ext cx="3050286" cy="1006792"/>
              <a:chOff x="557784" y="791528"/>
              <a:chExt cx="3050286" cy="1006792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66166" y="791528"/>
                <a:ext cx="11532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SIGNALCOUNT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57784" y="1042035"/>
                <a:ext cx="244693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预期经营影响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1504950"/>
                <a:ext cx="30441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基于中等规模部署模型的保守预估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571500" y="2000250"/>
              <a:ext cx="11049000" cy="4572000"/>
              <a:chOff x="571500" y="2000250"/>
              <a:chExt cx="11049000" cy="457200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571500" y="2000250"/>
                <a:ext cx="5238750" cy="2095500"/>
                <a:chOff x="571500" y="2000250"/>
                <a:chExt cx="5238750" cy="20955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71500" y="2000250"/>
                  <a:ext cx="52387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2095500">
                      <a:moveTo>
                        <a:pt x="114300" y="0"/>
                      </a:moveTo>
                      <a:lnTo>
                        <a:pt x="5124450" y="0"/>
                      </a:lnTo>
                      <a:cubicBezTo>
                        <a:pt x="5187576" y="0"/>
                        <a:pt x="5238750" y="51174"/>
                        <a:pt x="5238750" y="114300"/>
                      </a:cubicBezTo>
                      <a:lnTo>
                        <a:pt x="5238750" y="1981200"/>
                      </a:lnTo>
                      <a:cubicBezTo>
                        <a:pt x="5238750" y="2044326"/>
                        <a:pt x="5187576" y="2095500"/>
                        <a:pt x="512445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71500" y="2000250"/>
                  <a:ext cx="5238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57150">
                      <a:moveTo>
                        <a:pt x="28575" y="0"/>
                      </a:moveTo>
                      <a:lnTo>
                        <a:pt x="5210175" y="0"/>
                      </a:lnTo>
                      <a:cubicBezTo>
                        <a:pt x="5225957" y="0"/>
                        <a:pt x="5238750" y="12793"/>
                        <a:pt x="5238750" y="28575"/>
                      </a:cubicBezTo>
                      <a:lnTo>
                        <a:pt x="5238750" y="28575"/>
                      </a:lnTo>
                      <a:cubicBezTo>
                        <a:pt x="5238750" y="44357"/>
                        <a:pt x="5225957" y="57150"/>
                        <a:pt x="52101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33450" y="2244090"/>
                  <a:ext cx="1530767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3.2×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944880" y="3028950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营销效率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7166" y="3363278"/>
                  <a:ext cx="21309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活动准备、测试到放量全流程加速</a:t>
                  </a:r>
                </a:p>
              </p:txBody>
            </p:sp>
            <p:grpSp>
              <p:nvGrpSpPr>
                <p:cNvPr id="19" name="Group 19"/>
                <p:cNvGrpSpPr/>
                <p:nvPr/>
              </p:nvGrpSpPr>
              <p:grpSpPr>
                <a:xfrm>
                  <a:off x="971550" y="3627120"/>
                  <a:ext cx="865061" cy="176212"/>
                  <a:chOff x="971550" y="3627120"/>
                  <a:chExt cx="865061" cy="176212"/>
                </a:xfrm>
              </p:grpSpPr>
              <p:sp>
                <p:nvSpPr>
                  <p:cNvPr id="17" name="Ellipse 17"/>
                  <p:cNvSpPr/>
                  <p:nvPr/>
                </p:nvSpPr>
                <p:spPr>
                  <a:xfrm>
                    <a:off x="971550" y="3638550"/>
                    <a:ext cx="76200" cy="7620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100138" y="3627120"/>
                    <a:ext cx="736473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2F855A"/>
                        </a:solidFill>
                        <a:latin typeface="+mn-lt"/>
                        <a:ea typeface="+mn-ea"/>
                        <a:cs typeface="+mn-cs"/>
                      </a:rPr>
                      <a:t>效率提升显著</a:t>
                    </a:r>
                  </a:p>
                </p:txBody>
              </p:sp>
            </p:grpSp>
          </p:grpSp>
          <p:grpSp>
            <p:nvGrpSpPr>
              <p:cNvPr id="29" name="Group 29"/>
              <p:cNvGrpSpPr/>
              <p:nvPr/>
            </p:nvGrpSpPr>
            <p:grpSpPr>
              <a:xfrm>
                <a:off x="6381750" y="2000250"/>
                <a:ext cx="5238750" cy="2095500"/>
                <a:chOff x="6381750" y="2000250"/>
                <a:chExt cx="5238750" cy="20955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381750" y="2000250"/>
                  <a:ext cx="52387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2095500">
                      <a:moveTo>
                        <a:pt x="114300" y="0"/>
                      </a:moveTo>
                      <a:lnTo>
                        <a:pt x="5124450" y="0"/>
                      </a:lnTo>
                      <a:cubicBezTo>
                        <a:pt x="5187576" y="0"/>
                        <a:pt x="5238750" y="51174"/>
                        <a:pt x="5238750" y="114300"/>
                      </a:cubicBezTo>
                      <a:lnTo>
                        <a:pt x="5238750" y="1981200"/>
                      </a:lnTo>
                      <a:cubicBezTo>
                        <a:pt x="5238750" y="2044326"/>
                        <a:pt x="5187576" y="2095500"/>
                        <a:pt x="512445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381750" y="2000250"/>
                  <a:ext cx="5238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57150">
                      <a:moveTo>
                        <a:pt x="28575" y="0"/>
                      </a:moveTo>
                      <a:lnTo>
                        <a:pt x="5210175" y="0"/>
                      </a:lnTo>
                      <a:cubicBezTo>
                        <a:pt x="5225957" y="0"/>
                        <a:pt x="5238750" y="12793"/>
                        <a:pt x="5238750" y="28575"/>
                      </a:cubicBezTo>
                      <a:lnTo>
                        <a:pt x="5238750" y="28575"/>
                      </a:lnTo>
                      <a:cubicBezTo>
                        <a:pt x="5238750" y="44357"/>
                        <a:pt x="5225957" y="57150"/>
                        <a:pt x="52101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743700" y="2244090"/>
                  <a:ext cx="1666464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210%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755130" y="3028950"/>
                  <a:ext cx="821741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ROI提升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757416" y="3363278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剔除组织成本后的净回报增幅</a:t>
                  </a:r>
                </a:p>
              </p:txBody>
            </p:sp>
            <p:grpSp>
              <p:nvGrpSpPr>
                <p:cNvPr id="28" name="Group 28"/>
                <p:cNvGrpSpPr/>
                <p:nvPr/>
              </p:nvGrpSpPr>
              <p:grpSpPr>
                <a:xfrm>
                  <a:off x="6781800" y="3627120"/>
                  <a:ext cx="986219" cy="176212"/>
                  <a:chOff x="6781800" y="3627120"/>
                  <a:chExt cx="986219" cy="176212"/>
                </a:xfrm>
              </p:grpSpPr>
              <p:sp>
                <p:nvSpPr>
                  <p:cNvPr id="26" name="Ellipse 26"/>
                  <p:cNvSpPr/>
                  <p:nvPr/>
                </p:nvSpPr>
                <p:spPr>
                  <a:xfrm>
                    <a:off x="6781800" y="3638550"/>
                    <a:ext cx="76200" cy="76200"/>
                  </a:xfrm>
                  <a:prstGeom prst="ellipse">
                    <a:avLst/>
                  </a:prstGeom>
                  <a:solidFill>
                    <a:srgbClr val="2F855A"/>
                  </a:solidFill>
                  <a:ln>
                    <a:noFill/>
                  </a:ln>
                </p:spPr>
              </p:sp>
              <p:sp>
                <p:nvSpPr>
                  <p:cNvPr id="27" name="TextBox 27"/>
                  <p:cNvSpPr txBox="1"/>
                  <p:nvPr/>
                </p:nvSpPr>
                <p:spPr>
                  <a:xfrm>
                    <a:off x="6910388" y="3627120"/>
                    <a:ext cx="857631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2F855A"/>
                        </a:solidFill>
                        <a:latin typeface="+mn-lt"/>
                        <a:ea typeface="+mn-ea"/>
                        <a:cs typeface="+mn-cs"/>
                      </a:rPr>
                      <a:t>正向回报周期短</a:t>
                    </a:r>
                  </a:p>
                </p:txBody>
              </p:sp>
            </p:grpSp>
          </p:grpSp>
          <p:grpSp>
            <p:nvGrpSpPr>
              <p:cNvPr id="38" name="Group 38"/>
              <p:cNvGrpSpPr/>
              <p:nvPr/>
            </p:nvGrpSpPr>
            <p:grpSpPr>
              <a:xfrm>
                <a:off x="571500" y="4476750"/>
                <a:ext cx="5238750" cy="2095500"/>
                <a:chOff x="571500" y="4476750"/>
                <a:chExt cx="5238750" cy="20955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71500" y="4476750"/>
                  <a:ext cx="52387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2095500">
                      <a:moveTo>
                        <a:pt x="114300" y="0"/>
                      </a:moveTo>
                      <a:lnTo>
                        <a:pt x="5124450" y="0"/>
                      </a:lnTo>
                      <a:cubicBezTo>
                        <a:pt x="5187576" y="0"/>
                        <a:pt x="5238750" y="51174"/>
                        <a:pt x="5238750" y="114300"/>
                      </a:cubicBezTo>
                      <a:lnTo>
                        <a:pt x="5238750" y="1981200"/>
                      </a:lnTo>
                      <a:cubicBezTo>
                        <a:pt x="5238750" y="2044326"/>
                        <a:pt x="5187576" y="2095500"/>
                        <a:pt x="512445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71500" y="4476750"/>
                  <a:ext cx="5238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57150">
                      <a:moveTo>
                        <a:pt x="28575" y="0"/>
                      </a:moveTo>
                      <a:lnTo>
                        <a:pt x="5210175" y="0"/>
                      </a:lnTo>
                      <a:cubicBezTo>
                        <a:pt x="5225957" y="0"/>
                        <a:pt x="5238750" y="12793"/>
                        <a:pt x="5238750" y="28575"/>
                      </a:cubicBezTo>
                      <a:lnTo>
                        <a:pt x="5238750" y="28575"/>
                      </a:lnTo>
                      <a:cubicBezTo>
                        <a:pt x="5238750" y="44357"/>
                        <a:pt x="5225957" y="57150"/>
                        <a:pt x="52101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33450" y="4720590"/>
                  <a:ext cx="1666464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100%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44880" y="5505450"/>
                  <a:ext cx="107537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数据整合度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47166" y="5839778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所有渠道与交易系统实时打通</a:t>
                  </a:r>
                </a:p>
              </p:txBody>
            </p:sp>
            <p:grpSp>
              <p:nvGrpSpPr>
                <p:cNvPr id="37" name="Group 37"/>
                <p:cNvGrpSpPr/>
                <p:nvPr/>
              </p:nvGrpSpPr>
              <p:grpSpPr>
                <a:xfrm>
                  <a:off x="971550" y="6103620"/>
                  <a:ext cx="865061" cy="176212"/>
                  <a:chOff x="971550" y="6103620"/>
                  <a:chExt cx="865061" cy="176212"/>
                </a:xfrm>
              </p:grpSpPr>
              <p:sp>
                <p:nvSpPr>
                  <p:cNvPr id="35" name="Ellipse 35"/>
                  <p:cNvSpPr/>
                  <p:nvPr/>
                </p:nvSpPr>
                <p:spPr>
                  <a:xfrm>
                    <a:off x="971550" y="6115050"/>
                    <a:ext cx="76200" cy="76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1100138" y="6103620"/>
                    <a:ext cx="736473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rPr>
                      <a:t>全链路可视化</a:t>
                    </a:r>
                  </a:p>
                </p:txBody>
              </p:sp>
            </p:grpSp>
          </p:grpSp>
          <p:grpSp>
            <p:nvGrpSpPr>
              <p:cNvPr id="47" name="Group 47"/>
              <p:cNvGrpSpPr/>
              <p:nvPr/>
            </p:nvGrpSpPr>
            <p:grpSpPr>
              <a:xfrm>
                <a:off x="6381750" y="4476750"/>
                <a:ext cx="5238750" cy="2095500"/>
                <a:chOff x="6381750" y="4476750"/>
                <a:chExt cx="5238750" cy="209550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381750" y="4476750"/>
                  <a:ext cx="52387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2095500">
                      <a:moveTo>
                        <a:pt x="114300" y="0"/>
                      </a:moveTo>
                      <a:lnTo>
                        <a:pt x="5124450" y="0"/>
                      </a:lnTo>
                      <a:cubicBezTo>
                        <a:pt x="5187576" y="0"/>
                        <a:pt x="5238750" y="51174"/>
                        <a:pt x="5238750" y="114300"/>
                      </a:cubicBezTo>
                      <a:lnTo>
                        <a:pt x="5238750" y="1981200"/>
                      </a:lnTo>
                      <a:cubicBezTo>
                        <a:pt x="5238750" y="2044326"/>
                        <a:pt x="5187576" y="2095500"/>
                        <a:pt x="512445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381750" y="4476750"/>
                  <a:ext cx="5238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0" h="57150">
                      <a:moveTo>
                        <a:pt x="28575" y="0"/>
                      </a:moveTo>
                      <a:lnTo>
                        <a:pt x="5210175" y="0"/>
                      </a:lnTo>
                      <a:cubicBezTo>
                        <a:pt x="5225957" y="0"/>
                        <a:pt x="5238750" y="12793"/>
                        <a:pt x="5238750" y="28575"/>
                      </a:cubicBezTo>
                      <a:lnTo>
                        <a:pt x="5238750" y="28575"/>
                      </a:lnTo>
                      <a:cubicBezTo>
                        <a:pt x="5238750" y="44357"/>
                        <a:pt x="5225957" y="57150"/>
                        <a:pt x="52101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743700" y="4720590"/>
                  <a:ext cx="1462918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4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&lt;8周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755130" y="5505450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上线时间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757416" y="5839778"/>
                  <a:ext cx="21309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从签约到首个完整的自动闭环运行</a:t>
                  </a:r>
                </a:p>
              </p:txBody>
            </p:sp>
            <p:grpSp>
              <p:nvGrpSpPr>
                <p:cNvPr id="46" name="Group 46"/>
                <p:cNvGrpSpPr/>
                <p:nvPr/>
              </p:nvGrpSpPr>
              <p:grpSpPr>
                <a:xfrm>
                  <a:off x="6781800" y="6103620"/>
                  <a:ext cx="865061" cy="176212"/>
                  <a:chOff x="6781800" y="6103620"/>
                  <a:chExt cx="865061" cy="176212"/>
                </a:xfrm>
              </p:grpSpPr>
              <p:sp>
                <p:nvSpPr>
                  <p:cNvPr id="44" name="Ellipse 44"/>
                  <p:cNvSpPr/>
                  <p:nvPr/>
                </p:nvSpPr>
                <p:spPr>
                  <a:xfrm>
                    <a:off x="6781800" y="6115050"/>
                    <a:ext cx="76200" cy="76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6910388" y="6103620"/>
                    <a:ext cx="736473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rPr>
                      <a:t>快速部署见效</a:t>
                    </a:r>
                  </a:p>
                </p:txBody>
              </p:sp>
            </p:grpSp>
          </p:grpSp>
        </p:grpSp>
      </p:grpSp>
      <p:grpSp>
        <p:nvGrpSpPr>
          <p:cNvPr id="52" name="Group 52"/>
          <p:cNvGrpSpPr/>
          <p:nvPr/>
        </p:nvGrpSpPr>
        <p:grpSpPr>
          <a:xfrm>
            <a:off x="566738" y="6006941"/>
            <a:ext cx="10933433" cy="161925"/>
            <a:chOff x="566738" y="6006941"/>
            <a:chExt cx="10933433" cy="161925"/>
          </a:xfrm>
        </p:grpSpPr>
        <p:sp>
          <p:nvSpPr>
            <p:cNvPr id="50" name="TextBox 50"/>
            <p:cNvSpPr txBox="1"/>
            <p:nvPr/>
          </p:nvSpPr>
          <p:spPr>
            <a:xfrm>
              <a:off x="10663238" y="600694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6 页 / 共 8 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738" y="60069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379095"/>
            <a:ext cx="3291840" cy="1025080"/>
            <a:chOff x="557784" y="379095"/>
            <a:chExt cx="3291840" cy="1025080"/>
          </a:xfrm>
        </p:grpSpPr>
        <p:sp>
          <p:nvSpPr>
            <p:cNvPr id="5" name="TextBox 5"/>
            <p:cNvSpPr txBox="1"/>
            <p:nvPr/>
          </p:nvSpPr>
          <p:spPr>
            <a:xfrm>
              <a:off x="566738" y="379095"/>
              <a:ext cx="839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619125"/>
              <a:ext cx="381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784" y="708660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四大模块效能跃升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14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对比传统手动流程，每个模块的性能基线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6166" y="1619250"/>
            <a:ext cx="10720959" cy="5000625"/>
            <a:chOff x="566166" y="1619250"/>
            <a:chExt cx="10720959" cy="5000625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619250"/>
              <a:ext cx="2571750" cy="2095500"/>
              <a:chOff x="571500" y="1619250"/>
              <a:chExt cx="2571750" cy="2095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0" y="1619250"/>
                <a:ext cx="2571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20955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1981200"/>
                    </a:lnTo>
                    <a:cubicBezTo>
                      <a:pt x="2571750" y="2044326"/>
                      <a:pt x="2520576" y="2095500"/>
                      <a:pt x="245745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71500" y="1619250"/>
                <a:ext cx="2571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57150">
                    <a:moveTo>
                      <a:pt x="28575" y="0"/>
                    </a:moveTo>
                    <a:lnTo>
                      <a:pt x="2543175" y="0"/>
                    </a:lnTo>
                    <a:cubicBezTo>
                      <a:pt x="2558957" y="0"/>
                      <a:pt x="2571750" y="12793"/>
                      <a:pt x="2571750" y="28575"/>
                    </a:cubicBezTo>
                    <a:lnTo>
                      <a:pt x="2571750" y="28575"/>
                    </a:lnTo>
                    <a:cubicBezTo>
                      <a:pt x="2571750" y="44357"/>
                      <a:pt x="2558957" y="57150"/>
                      <a:pt x="2543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04672" y="1894999"/>
                <a:ext cx="899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95172" y="18949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数据准备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93322" y="2070735"/>
                <a:ext cx="72810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85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29231" y="2329815"/>
                <a:ext cx="2199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%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809625" y="2762250"/>
                <a:ext cx="2095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">
                    <a:moveTo>
                      <a:pt x="38100" y="0"/>
                    </a:moveTo>
                    <a:lnTo>
                      <a:pt x="2057400" y="0"/>
                    </a:lnTo>
                    <a:cubicBezTo>
                      <a:pt x="2078442" y="0"/>
                      <a:pt x="2095500" y="17058"/>
                      <a:pt x="2095500" y="38100"/>
                    </a:cubicBezTo>
                    <a:lnTo>
                      <a:pt x="2095500" y="38100"/>
                    </a:lnTo>
                    <a:cubicBezTo>
                      <a:pt x="2095500" y="59142"/>
                      <a:pt x="2078442" y="76200"/>
                      <a:pt x="20574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9625" y="2762250"/>
                <a:ext cx="17811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81175" h="76200">
                    <a:moveTo>
                      <a:pt x="38100" y="0"/>
                    </a:moveTo>
                    <a:lnTo>
                      <a:pt x="1743075" y="0"/>
                    </a:lnTo>
                    <a:cubicBezTo>
                      <a:pt x="1764117" y="0"/>
                      <a:pt x="1781175" y="17058"/>
                      <a:pt x="1781175" y="38100"/>
                    </a:cubicBezTo>
                    <a:lnTo>
                      <a:pt x="1781175" y="38100"/>
                    </a:lnTo>
                    <a:cubicBezTo>
                      <a:pt x="1781175" y="59142"/>
                      <a:pt x="1764117" y="76200"/>
                      <a:pt x="1743075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4291" y="3029902"/>
                <a:ext cx="14029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数据准备时间减少85%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4862" y="3236595"/>
                <a:ext cx="11168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自动ETL与实体匹配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286125" y="1619250"/>
              <a:ext cx="2571750" cy="2095500"/>
              <a:chOff x="3286125" y="1619250"/>
              <a:chExt cx="2571750" cy="20955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286125" y="1619250"/>
                <a:ext cx="2571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20955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1981200"/>
                    </a:lnTo>
                    <a:cubicBezTo>
                      <a:pt x="2571750" y="2044326"/>
                      <a:pt x="2520576" y="2095500"/>
                      <a:pt x="245745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286125" y="1619250"/>
                <a:ext cx="2571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57150">
                    <a:moveTo>
                      <a:pt x="28575" y="0"/>
                    </a:moveTo>
                    <a:lnTo>
                      <a:pt x="2543175" y="0"/>
                    </a:lnTo>
                    <a:cubicBezTo>
                      <a:pt x="2558957" y="0"/>
                      <a:pt x="2571750" y="12793"/>
                      <a:pt x="2571750" y="28575"/>
                    </a:cubicBezTo>
                    <a:lnTo>
                      <a:pt x="2571750" y="28575"/>
                    </a:lnTo>
                    <a:cubicBezTo>
                      <a:pt x="2571750" y="44357"/>
                      <a:pt x="2558957" y="57150"/>
                      <a:pt x="2543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F855A"/>
                  </a:gs>
                  <a:gs pos="100000">
                    <a:srgbClr val="48BB78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519297" y="1894999"/>
                <a:ext cx="899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09797" y="18949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洞察生成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07947" y="2070735"/>
                <a:ext cx="72810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2F855A"/>
                    </a:solidFill>
                    <a:latin typeface="Georgia"/>
                    <a:ea typeface="Georgia"/>
                    <a:cs typeface="Georgia"/>
                  </a:rPr>
                  <a:t>74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43856" y="2329815"/>
                <a:ext cx="2199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55A"/>
                    </a:solidFill>
                    <a:latin typeface="Georgia"/>
                    <a:ea typeface="Georgia"/>
                    <a:cs typeface="Georgia"/>
                  </a:rPr>
                  <a:t>%</a:t>
                </a: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3524250" y="2762250"/>
                <a:ext cx="2095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">
                    <a:moveTo>
                      <a:pt x="38100" y="0"/>
                    </a:moveTo>
                    <a:lnTo>
                      <a:pt x="2057400" y="0"/>
                    </a:lnTo>
                    <a:cubicBezTo>
                      <a:pt x="2078442" y="0"/>
                      <a:pt x="2095500" y="17058"/>
                      <a:pt x="2095500" y="38100"/>
                    </a:cubicBezTo>
                    <a:lnTo>
                      <a:pt x="2095500" y="38100"/>
                    </a:lnTo>
                    <a:cubicBezTo>
                      <a:pt x="2095500" y="59142"/>
                      <a:pt x="2078442" y="76200"/>
                      <a:pt x="20574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524250" y="2762250"/>
                <a:ext cx="1552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52575" h="76200">
                    <a:moveTo>
                      <a:pt x="38100" y="0"/>
                    </a:moveTo>
                    <a:lnTo>
                      <a:pt x="1514475" y="0"/>
                    </a:lnTo>
                    <a:cubicBezTo>
                      <a:pt x="1535517" y="0"/>
                      <a:pt x="1552575" y="17058"/>
                      <a:pt x="1552575" y="38100"/>
                    </a:cubicBezTo>
                    <a:lnTo>
                      <a:pt x="1552575" y="38100"/>
                    </a:lnTo>
                    <a:cubicBezTo>
                      <a:pt x="1552575" y="59142"/>
                      <a:pt x="1535517" y="76200"/>
                      <a:pt x="1514475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F855A"/>
                  </a:gs>
                  <a:gs pos="100000">
                    <a:srgbClr val="48BB78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518916" y="3029902"/>
                <a:ext cx="14383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洞察生成速度提升10倍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19488" y="323659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异常检测与因果推断内置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000750" y="1619250"/>
              <a:ext cx="2571750" cy="2095500"/>
              <a:chOff x="6000750" y="1619250"/>
              <a:chExt cx="2571750" cy="2095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000750" y="1619250"/>
                <a:ext cx="2571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20955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1981200"/>
                    </a:lnTo>
                    <a:cubicBezTo>
                      <a:pt x="2571750" y="2044326"/>
                      <a:pt x="2520576" y="2095500"/>
                      <a:pt x="245745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00750" y="1619250"/>
                <a:ext cx="2571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57150">
                    <a:moveTo>
                      <a:pt x="28575" y="0"/>
                    </a:moveTo>
                    <a:lnTo>
                      <a:pt x="2543175" y="0"/>
                    </a:lnTo>
                    <a:cubicBezTo>
                      <a:pt x="2558957" y="0"/>
                      <a:pt x="2571750" y="12793"/>
                      <a:pt x="2571750" y="28575"/>
                    </a:cubicBezTo>
                    <a:lnTo>
                      <a:pt x="2571750" y="28575"/>
                    </a:lnTo>
                    <a:cubicBezTo>
                      <a:pt x="2571750" y="44357"/>
                      <a:pt x="2558957" y="57150"/>
                      <a:pt x="2543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2B6CB0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233922" y="1894999"/>
                <a:ext cx="899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24422" y="18949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922572" y="2070735"/>
                <a:ext cx="72810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20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58481" y="2329815"/>
                <a:ext cx="2199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%</a:t>
                </a:r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6238875" y="2762250"/>
                <a:ext cx="2095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">
                    <a:moveTo>
                      <a:pt x="38100" y="0"/>
                    </a:moveTo>
                    <a:lnTo>
                      <a:pt x="2057400" y="0"/>
                    </a:lnTo>
                    <a:cubicBezTo>
                      <a:pt x="2078442" y="0"/>
                      <a:pt x="2095500" y="17058"/>
                      <a:pt x="2095500" y="38100"/>
                    </a:cubicBezTo>
                    <a:lnTo>
                      <a:pt x="2095500" y="38100"/>
                    </a:lnTo>
                    <a:cubicBezTo>
                      <a:pt x="2095500" y="59142"/>
                      <a:pt x="2078442" y="76200"/>
                      <a:pt x="20574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238875" y="2762250"/>
                <a:ext cx="419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76200">
                    <a:moveTo>
                      <a:pt x="38100" y="0"/>
                    </a:moveTo>
                    <a:lnTo>
                      <a:pt x="381000" y="0"/>
                    </a:lnTo>
                    <a:cubicBezTo>
                      <a:pt x="402042" y="0"/>
                      <a:pt x="419100" y="17058"/>
                      <a:pt x="419100" y="38100"/>
                    </a:cubicBezTo>
                    <a:lnTo>
                      <a:pt x="419100" y="38100"/>
                    </a:lnTo>
                    <a:cubicBezTo>
                      <a:pt x="419100" y="59142"/>
                      <a:pt x="402042" y="76200"/>
                      <a:pt x="3810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2B6CB0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233541" y="3029902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人工干预率降至8%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34112" y="3236595"/>
                <a:ext cx="14452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90%以上营销操作自动触发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715375" y="1619250"/>
              <a:ext cx="2571750" cy="2095500"/>
              <a:chOff x="8715375" y="1619250"/>
              <a:chExt cx="2571750" cy="2095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715375" y="1619250"/>
                <a:ext cx="2571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20955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1981200"/>
                    </a:lnTo>
                    <a:cubicBezTo>
                      <a:pt x="2571750" y="2044326"/>
                      <a:pt x="2520576" y="2095500"/>
                      <a:pt x="245745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75" y="1619250"/>
                <a:ext cx="2571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57150">
                    <a:moveTo>
                      <a:pt x="28575" y="0"/>
                    </a:moveTo>
                    <a:lnTo>
                      <a:pt x="2543175" y="0"/>
                    </a:lnTo>
                    <a:cubicBezTo>
                      <a:pt x="2558957" y="0"/>
                      <a:pt x="2571750" y="12793"/>
                      <a:pt x="2571750" y="28575"/>
                    </a:cubicBezTo>
                    <a:lnTo>
                      <a:pt x="2571750" y="28575"/>
                    </a:lnTo>
                    <a:cubicBezTo>
                      <a:pt x="2571750" y="44357"/>
                      <a:pt x="2558957" y="57150"/>
                      <a:pt x="2543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05AD5"/>
                  </a:gs>
                  <a:gs pos="100000">
                    <a:srgbClr val="9F7AE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948547" y="1894999"/>
                <a:ext cx="899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805AD5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139047" y="18949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637197" y="2070735"/>
                <a:ext cx="72810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805AD5"/>
                    </a:solidFill>
                    <a:latin typeface="Georgia"/>
                    <a:ea typeface="Georgia"/>
                    <a:cs typeface="Georgia"/>
                  </a:rPr>
                  <a:t>46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373106" y="2329815"/>
                <a:ext cx="2199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805AD5"/>
                    </a:solidFill>
                    <a:latin typeface="Georgia"/>
                    <a:ea typeface="Georgia"/>
                    <a:cs typeface="Georgia"/>
                  </a:rPr>
                  <a:t>%</a:t>
                </a:r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953500" y="2762250"/>
                <a:ext cx="2095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">
                    <a:moveTo>
                      <a:pt x="38100" y="0"/>
                    </a:moveTo>
                    <a:lnTo>
                      <a:pt x="2057400" y="0"/>
                    </a:lnTo>
                    <a:cubicBezTo>
                      <a:pt x="2078442" y="0"/>
                      <a:pt x="2095500" y="17058"/>
                      <a:pt x="2095500" y="38100"/>
                    </a:cubicBezTo>
                    <a:lnTo>
                      <a:pt x="2095500" y="38100"/>
                    </a:lnTo>
                    <a:cubicBezTo>
                      <a:pt x="2095500" y="59142"/>
                      <a:pt x="2078442" y="76200"/>
                      <a:pt x="20574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953500" y="2762250"/>
                <a:ext cx="9620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62025" h="76200">
                    <a:moveTo>
                      <a:pt x="38100" y="0"/>
                    </a:moveTo>
                    <a:lnTo>
                      <a:pt x="923925" y="0"/>
                    </a:lnTo>
                    <a:cubicBezTo>
                      <a:pt x="944967" y="0"/>
                      <a:pt x="962025" y="17058"/>
                      <a:pt x="962025" y="38100"/>
                    </a:cubicBezTo>
                    <a:lnTo>
                      <a:pt x="962025" y="38100"/>
                    </a:lnTo>
                    <a:cubicBezTo>
                      <a:pt x="962025" y="59142"/>
                      <a:pt x="944967" y="76200"/>
                      <a:pt x="923925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05AD5"/>
                  </a:gs>
                  <a:gs pos="100000">
                    <a:srgbClr val="9F7AE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948166" y="3029902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归因延迟从数周压缩到分钟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948738" y="32365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预算动态调配</a:t>
                </a:r>
              </a:p>
            </p:txBody>
          </p:sp>
        </p:grpSp>
        <p:sp>
          <p:nvSpPr>
            <p:cNvPr id="54" name="Freeform 54"/>
            <p:cNvSpPr/>
            <p:nvPr/>
          </p:nvSpPr>
          <p:spPr>
            <a:xfrm>
              <a:off x="571500" y="4095750"/>
              <a:ext cx="10715625" cy="571500"/>
            </a:xfrm>
            <a:custGeom>
              <a:avLst/>
              <a:gdLst/>
              <a:ahLst/>
              <a:cxnLst/>
              <a:rect l="l" t="t" r="r" b="b"/>
              <a:pathLst>
                <a:path w="10715625" h="571500">
                  <a:moveTo>
                    <a:pt x="76200" y="0"/>
                  </a:moveTo>
                  <a:lnTo>
                    <a:pt x="10639425" y="0"/>
                  </a:lnTo>
                  <a:cubicBezTo>
                    <a:pt x="10681509" y="0"/>
                    <a:pt x="10715625" y="34116"/>
                    <a:pt x="10715625" y="76200"/>
                  </a:cubicBezTo>
                  <a:lnTo>
                    <a:pt x="10715625" y="495300"/>
                  </a:lnTo>
                  <a:cubicBezTo>
                    <a:pt x="10715625" y="537384"/>
                    <a:pt x="10681509" y="571500"/>
                    <a:pt x="10639425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04850" y="4229100"/>
              <a:ext cx="304800" cy="3048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90575" y="43148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75"/>
                  </a:moveTo>
                  <a:lnTo>
                    <a:pt x="66675" y="0"/>
                  </a:lnTo>
                  <a:lnTo>
                    <a:pt x="133350" y="66675"/>
                  </a:lnTo>
                  <a:moveTo>
                    <a:pt x="66675" y="0"/>
                  </a:moveTo>
                  <a:lnTo>
                    <a:pt x="66675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36904" y="429958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综合效能提升：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16505" y="4267200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56%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95041" y="4315778"/>
              <a:ext cx="4603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平均效率增长 | 覆盖数据整合、AI分析、自动化执行、效果度量全链路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566166" y="5030152"/>
              <a:ext cx="9415623" cy="938785"/>
              <a:chOff x="566166" y="5030152"/>
              <a:chExt cx="9415623" cy="938785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566166" y="5030152"/>
                <a:ext cx="20217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效率对比（传统流程 = 100%）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66738" y="53320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传统流程</a:t>
                </a:r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1428750" y="5314950"/>
                <a:ext cx="7620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190500">
                    <a:moveTo>
                      <a:pt x="38100" y="0"/>
                    </a:moveTo>
                    <a:lnTo>
                      <a:pt x="7581900" y="0"/>
                    </a:lnTo>
                    <a:cubicBezTo>
                      <a:pt x="7602942" y="0"/>
                      <a:pt x="7620000" y="17058"/>
                      <a:pt x="7620000" y="38100"/>
                    </a:cubicBezTo>
                    <a:lnTo>
                      <a:pt x="7620000" y="152400"/>
                    </a:lnTo>
                    <a:cubicBezTo>
                      <a:pt x="7620000" y="173442"/>
                      <a:pt x="7602942" y="190500"/>
                      <a:pt x="75819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139238" y="5359241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100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66738" y="5760720"/>
                <a:ext cx="75841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AI营销工作台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1428750" y="5743575"/>
                <a:ext cx="33528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190500">
                    <a:moveTo>
                      <a:pt x="38100" y="0"/>
                    </a:moveTo>
                    <a:lnTo>
                      <a:pt x="3314700" y="0"/>
                    </a:lnTo>
                    <a:cubicBezTo>
                      <a:pt x="3335742" y="0"/>
                      <a:pt x="3352800" y="17058"/>
                      <a:pt x="3352800" y="38100"/>
                    </a:cubicBezTo>
                    <a:lnTo>
                      <a:pt x="3352800" y="152400"/>
                    </a:lnTo>
                    <a:cubicBezTo>
                      <a:pt x="3352800" y="173442"/>
                      <a:pt x="3335742" y="190500"/>
                      <a:pt x="33147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139238" y="578786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44</a:t>
                </a:r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239250" y="5762625"/>
                <a:ext cx="2857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0">
                    <a:moveTo>
                      <a:pt x="0" y="47625"/>
                    </a:moveTo>
                    <a:lnTo>
                      <a:pt x="285750" y="47625"/>
                    </a:lnTo>
                    <a:lnTo>
                      <a:pt x="238125" y="0"/>
                    </a:lnTo>
                    <a:moveTo>
                      <a:pt x="285750" y="47625"/>
                    </a:moveTo>
                    <a:lnTo>
                      <a:pt x="238125" y="95250"/>
                    </a:lnTo>
                  </a:path>
                </a:pathLst>
              </a:custGeom>
              <a:noFill/>
              <a:ln w="19050" cap="rnd">
                <a:solidFill>
                  <a:srgbClr val="2F855A"/>
                </a:solidFill>
                <a:round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614916" y="5763578"/>
                <a:ext cx="3668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-56%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571500" y="6191250"/>
              <a:ext cx="3810000" cy="428625"/>
              <a:chOff x="571500" y="6191250"/>
              <a:chExt cx="3810000" cy="4286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71500" y="6191250"/>
                <a:ext cx="38100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428625">
                    <a:moveTo>
                      <a:pt x="57150" y="0"/>
                    </a:moveTo>
                    <a:lnTo>
                      <a:pt x="3752850" y="0"/>
                    </a:lnTo>
                    <a:cubicBezTo>
                      <a:pt x="3784413" y="0"/>
                      <a:pt x="3810000" y="25587"/>
                      <a:pt x="3810000" y="57150"/>
                    </a:cubicBezTo>
                    <a:lnTo>
                      <a:pt x="3810000" y="371475"/>
                    </a:lnTo>
                    <a:cubicBezTo>
                      <a:pt x="3810000" y="403038"/>
                      <a:pt x="3784413" y="428625"/>
                      <a:pt x="375285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71500" y="6191250"/>
                <a:ext cx="381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28625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409575"/>
                    </a:lnTo>
                    <a:cubicBezTo>
                      <a:pt x="38100" y="420096"/>
                      <a:pt x="29571" y="428625"/>
                      <a:pt x="19050" y="428625"/>
                    </a:cubicBezTo>
                    <a:lnTo>
                      <a:pt x="19050" y="428625"/>
                    </a:lnTo>
                    <a:cubicBezTo>
                      <a:pt x="8529" y="428625"/>
                      <a:pt x="0" y="420096"/>
                      <a:pt x="0" y="40957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57047" y="6343174"/>
                <a:ext cx="274656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💡 关键洞察：四模块协同可将整体营销效率提升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3803904" y="6318885"/>
                <a:ext cx="4871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Georgia"/>
                    <a:ea typeface="SimSun"/>
                    <a:cs typeface="Georgia"/>
                  </a:rPr>
                  <a:t>2.3倍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4524375" y="6191250"/>
              <a:ext cx="3619500" cy="428625"/>
              <a:chOff x="4524375" y="6191250"/>
              <a:chExt cx="3619500" cy="4286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4524375" y="6191250"/>
                <a:ext cx="36195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428625">
                    <a:moveTo>
                      <a:pt x="57150" y="0"/>
                    </a:moveTo>
                    <a:lnTo>
                      <a:pt x="3562350" y="0"/>
                    </a:lnTo>
                    <a:cubicBezTo>
                      <a:pt x="3593913" y="0"/>
                      <a:pt x="3619500" y="25587"/>
                      <a:pt x="3619500" y="57150"/>
                    </a:cubicBezTo>
                    <a:lnTo>
                      <a:pt x="3619500" y="371475"/>
                    </a:lnTo>
                    <a:cubicBezTo>
                      <a:pt x="3619500" y="403038"/>
                      <a:pt x="3593913" y="428625"/>
                      <a:pt x="356235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2F855A">
                  <a:alpha val="5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4524375" y="6191250"/>
                <a:ext cx="381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28625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409575"/>
                    </a:lnTo>
                    <a:cubicBezTo>
                      <a:pt x="38100" y="420096"/>
                      <a:pt x="29571" y="428625"/>
                      <a:pt x="19050" y="428625"/>
                    </a:cubicBezTo>
                    <a:lnTo>
                      <a:pt x="19050" y="428625"/>
                    </a:lnTo>
                    <a:cubicBezTo>
                      <a:pt x="8529" y="428625"/>
                      <a:pt x="0" y="420096"/>
                      <a:pt x="0" y="40957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709922" y="6343174"/>
                <a:ext cx="195903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⚡ 实时响应：异常识别到策略调整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661404" y="6318885"/>
                <a:ext cx="5677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F855A"/>
                    </a:solidFill>
                    <a:latin typeface="Georgia"/>
                    <a:ea typeface="SimSun"/>
                    <a:cs typeface="Georgia"/>
                  </a:rPr>
                  <a:t>&lt;5分钟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286750" y="6191250"/>
              <a:ext cx="3000375" cy="428625"/>
              <a:chOff x="8286750" y="6191250"/>
              <a:chExt cx="3000375" cy="4286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286750" y="6191250"/>
                <a:ext cx="30003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428625">
                    <a:moveTo>
                      <a:pt x="57150" y="0"/>
                    </a:moveTo>
                    <a:lnTo>
                      <a:pt x="2943225" y="0"/>
                    </a:lnTo>
                    <a:cubicBezTo>
                      <a:pt x="2974788" y="0"/>
                      <a:pt x="3000375" y="25587"/>
                      <a:pt x="3000375" y="57150"/>
                    </a:cubicBezTo>
                    <a:lnTo>
                      <a:pt x="3000375" y="371475"/>
                    </a:lnTo>
                    <a:cubicBezTo>
                      <a:pt x="3000375" y="403038"/>
                      <a:pt x="2974788" y="428625"/>
                      <a:pt x="2943225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805AD5">
                  <a:alpha val="5000"/>
                </a:srgbClr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286750" y="6191250"/>
                <a:ext cx="381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28625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409575"/>
                    </a:lnTo>
                    <a:cubicBezTo>
                      <a:pt x="38100" y="420096"/>
                      <a:pt x="29571" y="428625"/>
                      <a:pt x="19050" y="428625"/>
                    </a:cubicBezTo>
                    <a:lnTo>
                      <a:pt x="19050" y="428625"/>
                    </a:lnTo>
                    <a:cubicBezTo>
                      <a:pt x="8529" y="428625"/>
                      <a:pt x="0" y="420096"/>
                      <a:pt x="0" y="40957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72297" y="6343174"/>
                <a:ext cx="7657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🎯 ROI提升：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042654" y="6318885"/>
                <a:ext cx="442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805AD5"/>
                    </a:solidFill>
                    <a:latin typeface="Georgia"/>
                    <a:ea typeface="Georgia"/>
                    <a:cs typeface="Georgia"/>
                  </a:rPr>
                  <a:t>+32%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9520047" y="6343174"/>
                <a:ext cx="12372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AI推荐策略实时触达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571500" y="1476375"/>
            <a:ext cx="11049000" cy="9525"/>
            <a:chOff x="571500" y="1476375"/>
            <a:chExt cx="11049000" cy="9525"/>
          </a:xfrm>
        </p:grpSpPr>
        <p:sp>
          <p:nvSpPr>
            <p:cNvPr id="87" name="Line 87"/>
            <p:cNvSpPr/>
            <p:nvPr/>
          </p:nvSpPr>
          <p:spPr>
            <a:xfrm>
              <a:off x="571500" y="1476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566738" y="6673691"/>
            <a:ext cx="11058524" cy="161925"/>
            <a:chOff x="566738" y="6673691"/>
            <a:chExt cx="11058524" cy="161925"/>
          </a:xfrm>
        </p:grpSpPr>
        <p:sp>
          <p:nvSpPr>
            <p:cNvPr id="89" name="TextBox 89"/>
            <p:cNvSpPr txBox="1"/>
            <p:nvPr/>
          </p:nvSpPr>
          <p:spPr>
            <a:xfrm>
              <a:off x="566738" y="6673691"/>
              <a:ext cx="15350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 · 产品介绍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365849" y="66736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3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49000" cy="390525"/>
            <a:chOff x="571500" y="476250"/>
            <a:chExt cx="11049000" cy="39052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51966" y="5724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54736" y="1120140"/>
            <a:ext cx="11065764" cy="5442299"/>
            <a:chOff x="554736" y="1120140"/>
            <a:chExt cx="11065764" cy="5442299"/>
          </a:xfrm>
        </p:grpSpPr>
        <p:sp>
          <p:nvSpPr>
            <p:cNvPr id="9" name="TextBox 9"/>
            <p:cNvSpPr txBox="1"/>
            <p:nvPr/>
          </p:nvSpPr>
          <p:spPr>
            <a:xfrm>
              <a:off x="554736" y="1120140"/>
              <a:ext cx="592850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启动您的AI营销工作台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17268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从快赢到闭环，一个季度建成核心能力。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952500" y="3108960"/>
              <a:ext cx="9715500" cy="2606040"/>
              <a:chOff x="952500" y="3108960"/>
              <a:chExt cx="9715500" cy="2606040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714500" y="3619500"/>
                <a:ext cx="876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00" h="9525">
                    <a:moveTo>
                      <a:pt x="0" y="0"/>
                    </a:moveTo>
                    <a:lnTo>
                      <a:pt x="8763000" y="0"/>
                    </a:ln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714500" y="3619500"/>
                <a:ext cx="876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00" h="9525">
                    <a:moveTo>
                      <a:pt x="0" y="0"/>
                    </a:moveTo>
                    <a:lnTo>
                      <a:pt x="8763000" y="0"/>
                    </a:lnTo>
                  </a:path>
                </a:pathLst>
              </a:custGeom>
              <a:noFill/>
              <a:ln w="28575">
                <a:gradFill>
                  <a:gsLst>
                    <a:gs pos="0">
                      <a:schemeClr val="accent2">
                        <a:alpha val="15000"/>
                      </a:schemeClr>
                    </a:gs>
                    <a:gs pos="50000">
                      <a:schemeClr val="accent2">
                        <a:alpha val="30000"/>
                      </a:schemeClr>
                    </a:gs>
                    <a:gs pos="100000">
                      <a:schemeClr val="accent1">
                        <a:alpha val="40000"/>
                      </a:schemeClr>
                    </a:gs>
                  </a:gsLst>
                  <a:lin ang="0" scaled="1"/>
                </a:gra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952500" y="3108960"/>
                <a:ext cx="2857500" cy="2606040"/>
                <a:chOff x="952500" y="3108960"/>
                <a:chExt cx="2857500" cy="260604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1714500" y="3429000"/>
                  <a:ext cx="381000" cy="3810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4" name="Ellipse 14"/>
                <p:cNvSpPr/>
                <p:nvPr/>
              </p:nvSpPr>
              <p:spPr>
                <a:xfrm>
                  <a:off x="1809750" y="3524250"/>
                  <a:ext cx="190500" cy="190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648713" y="3108960"/>
                  <a:ext cx="5125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0-4 周</a:t>
                  </a:r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952500" y="4000500"/>
                  <a:ext cx="28575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1714500">
                      <a:moveTo>
                        <a:pt x="114300" y="0"/>
                      </a:moveTo>
                      <a:lnTo>
                        <a:pt x="2743200" y="0"/>
                      </a:lnTo>
                      <a:cubicBezTo>
                        <a:pt x="2806326" y="0"/>
                        <a:pt x="2857500" y="51174"/>
                        <a:pt x="2857500" y="114300"/>
                      </a:cubicBezTo>
                      <a:lnTo>
                        <a:pt x="2857500" y="1600200"/>
                      </a:lnTo>
                      <a:cubicBezTo>
                        <a:pt x="2857500" y="1663326"/>
                        <a:pt x="2806326" y="1714500"/>
                        <a:pt x="27432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52500" y="4000500"/>
                  <a:ext cx="2857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57150">
                      <a:moveTo>
                        <a:pt x="28575" y="0"/>
                      </a:moveTo>
                      <a:lnTo>
                        <a:pt x="2828925" y="0"/>
                      </a:lnTo>
                      <a:cubicBezTo>
                        <a:pt x="2844707" y="0"/>
                        <a:pt x="2857500" y="12793"/>
                        <a:pt x="2857500" y="28575"/>
                      </a:cubicBezTo>
                      <a:lnTo>
                        <a:pt x="2857500" y="28575"/>
                      </a:lnTo>
                      <a:cubicBezTo>
                        <a:pt x="2857500" y="44357"/>
                        <a:pt x="2844707" y="57150"/>
                        <a:pt x="2828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31392" y="4235768"/>
                  <a:ext cx="162671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阶段一：数据整合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32535" y="4593431"/>
                  <a:ext cx="137445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整合第一方数据源，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32535" y="4802981"/>
                  <a:ext cx="137445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部署基础分析仪表盘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232535" y="5012531"/>
                  <a:ext cx="106756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并定义ROI基线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4286250" y="3108960"/>
                <a:ext cx="2857500" cy="2606040"/>
                <a:chOff x="4286250" y="3108960"/>
                <a:chExt cx="2857500" cy="260604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5048250" y="3429000"/>
                  <a:ext cx="381000" cy="3810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5143500" y="3524250"/>
                  <a:ext cx="190500" cy="190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982463" y="3108960"/>
                  <a:ext cx="5125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5-8 周</a:t>
                  </a:r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286250" y="4000500"/>
                  <a:ext cx="28575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1714500">
                      <a:moveTo>
                        <a:pt x="114300" y="0"/>
                      </a:moveTo>
                      <a:lnTo>
                        <a:pt x="2743200" y="0"/>
                      </a:lnTo>
                      <a:cubicBezTo>
                        <a:pt x="2806326" y="0"/>
                        <a:pt x="2857500" y="51174"/>
                        <a:pt x="2857500" y="114300"/>
                      </a:cubicBezTo>
                      <a:lnTo>
                        <a:pt x="2857500" y="1600200"/>
                      </a:lnTo>
                      <a:cubicBezTo>
                        <a:pt x="2857500" y="1663326"/>
                        <a:pt x="2806326" y="1714500"/>
                        <a:pt x="27432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286250" y="4000500"/>
                  <a:ext cx="2857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57150">
                      <a:moveTo>
                        <a:pt x="28575" y="0"/>
                      </a:moveTo>
                      <a:lnTo>
                        <a:pt x="2828925" y="0"/>
                      </a:lnTo>
                      <a:cubicBezTo>
                        <a:pt x="2844707" y="0"/>
                        <a:pt x="2857500" y="12793"/>
                        <a:pt x="2857500" y="28575"/>
                      </a:cubicBezTo>
                      <a:lnTo>
                        <a:pt x="2857500" y="28575"/>
                      </a:lnTo>
                      <a:cubicBezTo>
                        <a:pt x="2857500" y="44357"/>
                        <a:pt x="2844707" y="57150"/>
                        <a:pt x="2828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565142" y="4235768"/>
                  <a:ext cx="162671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阶段二：执行验证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566285" y="4593431"/>
                  <a:ext cx="152590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上线自动化执行引擎，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566285" y="4802981"/>
                  <a:ext cx="130630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先导3条关键旅程，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566285" y="5012531"/>
                  <a:ext cx="9201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验证闭环效果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620000" y="3108960"/>
                <a:ext cx="3048000" cy="2606040"/>
                <a:chOff x="7620000" y="3108960"/>
                <a:chExt cx="3048000" cy="260604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8382000" y="3429000"/>
                  <a:ext cx="381000" cy="3810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8458200" y="35052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269567" y="3108960"/>
                  <a:ext cx="60586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9-14 周</a:t>
                  </a: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620000" y="4000500"/>
                  <a:ext cx="30480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0" h="1714500">
                      <a:moveTo>
                        <a:pt x="114300" y="0"/>
                      </a:moveTo>
                      <a:lnTo>
                        <a:pt x="2933700" y="0"/>
                      </a:lnTo>
                      <a:cubicBezTo>
                        <a:pt x="2996826" y="0"/>
                        <a:pt x="3048000" y="51174"/>
                        <a:pt x="3048000" y="114300"/>
                      </a:cubicBezTo>
                      <a:lnTo>
                        <a:pt x="3048000" y="1600200"/>
                      </a:lnTo>
                      <a:cubicBezTo>
                        <a:pt x="3048000" y="1663326"/>
                        <a:pt x="2996826" y="1714500"/>
                        <a:pt x="29337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620000" y="4000500"/>
                  <a:ext cx="3048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0" h="57150">
                      <a:moveTo>
                        <a:pt x="28575" y="0"/>
                      </a:moveTo>
                      <a:lnTo>
                        <a:pt x="3019425" y="0"/>
                      </a:lnTo>
                      <a:cubicBezTo>
                        <a:pt x="3035207" y="0"/>
                        <a:pt x="3048000" y="12793"/>
                        <a:pt x="3048000" y="28575"/>
                      </a:cubicBezTo>
                      <a:lnTo>
                        <a:pt x="3048000" y="28575"/>
                      </a:lnTo>
                      <a:cubicBezTo>
                        <a:pt x="3048000" y="44357"/>
                        <a:pt x="3035207" y="57150"/>
                        <a:pt x="3019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98892" y="4235768"/>
                  <a:ext cx="162671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阶段三：持续优化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900035" y="4593431"/>
                  <a:ext cx="190766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全渠道接入与AI模型调优，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900035" y="4802981"/>
                  <a:ext cx="122301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启动持续优化飞轮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900035" y="5012531"/>
                  <a:ext cx="107156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并交付运营手册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3143250" y="3524250"/>
                <a:ext cx="3619500" cy="190500"/>
                <a:chOff x="3143250" y="3524250"/>
                <a:chExt cx="3619500" cy="1905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143250" y="3524250"/>
                  <a:ext cx="285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90500">
                      <a:moveTo>
                        <a:pt x="0" y="95250"/>
                      </a:moveTo>
                      <a:lnTo>
                        <a:pt x="285750" y="0"/>
                      </a:lnTo>
                      <a:lnTo>
                        <a:pt x="285750" y="190500"/>
                      </a:lnTo>
                      <a:close/>
                    </a:path>
                  </a:pathLst>
                </a:cu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477000" y="3524250"/>
                  <a:ext cx="285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90500">
                      <a:moveTo>
                        <a:pt x="0" y="95250"/>
                      </a:moveTo>
                      <a:lnTo>
                        <a:pt x="285750" y="0"/>
                      </a:lnTo>
                      <a:lnTo>
                        <a:pt x="285750" y="190500"/>
                      </a:lnTo>
                      <a:close/>
                    </a:path>
                  </a:pathLst>
                </a:cu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54" name="Group 54"/>
            <p:cNvGrpSpPr/>
            <p:nvPr/>
          </p:nvGrpSpPr>
          <p:grpSpPr>
            <a:xfrm>
              <a:off x="571500" y="6191250"/>
              <a:ext cx="11049000" cy="371189"/>
              <a:chOff x="571500" y="6191250"/>
              <a:chExt cx="11049000" cy="371189"/>
            </a:xfrm>
          </p:grpSpPr>
          <p:sp>
            <p:nvSpPr>
              <p:cNvPr id="47" name="Line 47"/>
              <p:cNvSpPr/>
              <p:nvPr/>
            </p:nvSpPr>
            <p:spPr>
              <a:xfrm>
                <a:off x="571500" y="61912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95350" y="63722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90422" y="63717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2228850" y="63722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423922" y="63717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执行验证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3752850" y="6372225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947922" y="63717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持续优化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0984849" y="6387941"/>
            <a:ext cx="259413" cy="161925"/>
            <a:chOff x="10984849" y="6387941"/>
            <a:chExt cx="259413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10984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