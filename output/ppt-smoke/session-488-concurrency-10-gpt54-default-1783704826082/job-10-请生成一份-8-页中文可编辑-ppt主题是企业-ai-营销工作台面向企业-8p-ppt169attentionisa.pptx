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  <Relationship Id="rId15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企业AI营销工作台：从数据到增长的全链路智能</a:t>
            </a:r>
          </a:p>
          <a:p>
            <a:endParaRPr lang="en-US" dirty="0"/>
          </a:p>
          <a:p>
            <a:r>
              <a:rPr lang="zh-CN" dirty="0"/>
              <a:t>一套平台解决数据整合、AI分析、自动化执行与效果度量四大瓶颈。</a:t>
            </a:r>
          </a:p>
          <a:p>
            <a:endParaRPr lang="en-US" dirty="0"/>
          </a:p>
          <a:p>
            <a:r>
              <a:rPr lang="zh-CN" dirty="0"/>
              <a:t>• 企业AI营销工作台：从数据到增长的全链路智能</a:t>
            </a:r>
          </a:p>
          <a:p>
            <a:r>
              <a:rPr lang="zh-CN" dirty="0"/>
              <a:t>• 现状概览</a:t>
            </a:r>
          </a:p>
          <a:p>
            <a:r>
              <a:rPr lang="zh-CN" dirty="0"/>
              <a:t>• 核心风险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决策议程</a:t>
            </a:r>
          </a:p>
          <a:p>
            <a:endParaRPr lang="en-US" dirty="0"/>
          </a:p>
          <a:p>
            <a:r>
              <a:rPr lang="zh-CN" dirty="0"/>
              <a:t>本简报按结论→风险→核心能力→行动的顺序组织。</a:t>
            </a:r>
          </a:p>
          <a:p>
            <a:endParaRPr lang="en-US" dirty="0"/>
          </a:p>
          <a:p>
            <a:r>
              <a:rPr lang="zh-CN" dirty="0"/>
              <a:t>• 平台上线后的预期业务回报及关键风险缓解策略</a:t>
            </a:r>
          </a:p>
          <a:p>
            <a:r>
              <a:rPr lang="zh-CN" dirty="0"/>
              <a:t>• 实时连接全域数据源，消除手动ETL与数据延迟</a:t>
            </a:r>
          </a:p>
          <a:p>
            <a:r>
              <a:rPr lang="zh-CN" dirty="0"/>
              <a:t>• 营销预测、受众细分、内容推荐与异常检测的AI引擎</a:t>
            </a:r>
          </a:p>
          <a:p>
            <a:r>
              <a:rPr lang="zh-CN" dirty="0"/>
              <a:t>• 跨渠道的自动营销工作流，从触发到个性化交付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分散的工具链正在侵蚀你的增长</a:t>
            </a:r>
          </a:p>
          <a:p>
            <a:endParaRPr lang="en-US" dirty="0"/>
          </a:p>
          <a:p>
            <a:r>
              <a:rPr lang="zh-CN" dirty="0"/>
              <a:t>多数企业的营销数据分散在10+系统中，洞察滞后于决策需求。</a:t>
            </a:r>
          </a:p>
          <a:p>
            <a:endParaRPr lang="en-US" dirty="0"/>
          </a:p>
          <a:p>
            <a:r>
              <a:rPr lang="zh-CN" dirty="0"/>
              <a:t>• 营销决策平均滞后3天，错失关键窗口</a:t>
            </a:r>
          </a:p>
          <a:p>
            <a:r>
              <a:rPr lang="zh-CN" dirty="0"/>
              <a:t>• 手工执行使ROI至少损失30%</a:t>
            </a:r>
          </a:p>
          <a:p>
            <a:r>
              <a:rPr lang="zh-CN" dirty="0"/>
              <a:t>• 一个统一的AI工作台是唯一解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现状与平台化转型</a:t>
            </a:r>
          </a:p>
          <a:p>
            <a:endParaRPr lang="en-US" dirty="0"/>
          </a:p>
          <a:p>
            <a:r>
              <a:rPr lang="zh-CN" dirty="0"/>
              <a:t>四大能力维度的现状对比与未来模式。</a:t>
            </a:r>
          </a:p>
          <a:p>
            <a:endParaRPr lang="en-US" dirty="0"/>
          </a:p>
          <a:p>
            <a:r>
              <a:rPr lang="zh-CN" dirty="0"/>
              <a:t>• 与AI工作台：自适应多源实时整合</a:t>
            </a:r>
          </a:p>
          <a:p>
            <a:r>
              <a:rPr lang="zh-CN" dirty="0"/>
              <a:t>• 与AI分析：实时预测与异常检测</a:t>
            </a:r>
          </a:p>
          <a:p>
            <a:r>
              <a:rPr lang="zh-CN" dirty="0"/>
              <a:t>• 与AI执行：全渠道自动化工作流</a:t>
            </a:r>
          </a:p>
          <a:p>
            <a:r>
              <a:rPr lang="zh-CN" dirty="0"/>
              <a:t>• 与AI度量：实时归因与闭环优化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先行者已经看到回报</a:t>
            </a:r>
          </a:p>
          <a:p>
            <a:endParaRPr lang="en-US" dirty="0"/>
          </a:p>
          <a:p>
            <a:r>
              <a:rPr lang="zh-CN" dirty="0"/>
              <a:t>某500强快消品牌试点3个月后，核心指标显著提升。</a:t>
            </a:r>
          </a:p>
          <a:p>
            <a:endParaRPr lang="en-US" dirty="0"/>
          </a:p>
          <a:p>
            <a:r>
              <a:rPr lang="zh-CN" dirty="0"/>
              <a:t>• 自动化工作流取代80%手动操作，团队产出提升60%</a:t>
            </a:r>
          </a:p>
          <a:p>
            <a:r>
              <a:rPr lang="zh-CN" dirty="0"/>
              <a:t>• AI驱动的受众细分使广告支出回报率提高45%，误投减少30%</a:t>
            </a:r>
          </a:p>
          <a:p>
            <a:r>
              <a:rPr lang="zh-CN" dirty="0"/>
              <a:t>• 事实锚点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平台核心性能指标</a:t>
            </a:r>
          </a:p>
          <a:p>
            <a:endParaRPr lang="en-US" dirty="0"/>
          </a:p>
          <a:p>
            <a:r>
              <a:rPr lang="zh-CN" dirty="0"/>
              <a:t>数据整合、分析、执行、度量四大引擎关键数字。</a:t>
            </a:r>
          </a:p>
          <a:p>
            <a:endParaRPr lang="en-US" dirty="0"/>
          </a:p>
          <a:p>
            <a:r>
              <a:rPr lang="zh-CN" dirty="0"/>
              <a:t>• 数据源接入</a:t>
            </a:r>
          </a:p>
          <a:p>
            <a:r>
              <a:rPr lang="zh-CN" dirty="0"/>
              <a:t>• AI分析延迟</a:t>
            </a:r>
          </a:p>
          <a:p>
            <a:r>
              <a:rPr lang="zh-CN" dirty="0"/>
              <a:t>• 自动化执行率</a:t>
            </a:r>
          </a:p>
          <a:p>
            <a:r>
              <a:rPr lang="zh-CN" dirty="0"/>
              <a:t>• 决策响应加速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各渠道营销表现提升</a:t>
            </a:r>
          </a:p>
          <a:p>
            <a:endParaRPr lang="en-US" dirty="0"/>
          </a:p>
          <a:p>
            <a:r>
              <a:rPr lang="zh-CN" dirty="0"/>
              <a:t>平台上线后典型渠道的核心指标变化。</a:t>
            </a:r>
          </a:p>
          <a:p>
            <a:endParaRPr lang="en-US" dirty="0"/>
          </a:p>
          <a:p>
            <a:r>
              <a:rPr lang="zh-CN" dirty="0"/>
              <a:t>• 开信率与转化率提升</a:t>
            </a:r>
          </a:p>
          <a:p>
            <a:r>
              <a:rPr lang="zh-CN" dirty="0"/>
              <a:t>• 受众精准定向与互动</a:t>
            </a:r>
          </a:p>
          <a:p>
            <a:r>
              <a:rPr lang="zh-CN" dirty="0"/>
              <a:t>• 智能出价与关键词优化</a:t>
            </a:r>
          </a:p>
          <a:p>
            <a:r>
              <a:rPr lang="zh-CN" dirty="0"/>
              <a:t>• 跨设备频次与创意优化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下一步：四阶段快速启动</a:t>
            </a:r>
          </a:p>
          <a:p>
            <a:endParaRPr lang="en-US" dirty="0"/>
          </a:p>
          <a:p>
            <a:r>
              <a:rPr lang="zh-CN" dirty="0"/>
              <a:t>建议采用分阶段交付，90天完成核心能力上线。</a:t>
            </a:r>
          </a:p>
          <a:p>
            <a:endParaRPr lang="en-US" dirty="0"/>
          </a:p>
          <a:p>
            <a:r>
              <a:rPr lang="zh-CN" dirty="0"/>
              <a:t>• 试点部门数据源集成与平台部署</a:t>
            </a:r>
          </a:p>
          <a:p>
            <a:r>
              <a:rPr lang="zh-CN" dirty="0"/>
              <a:t>• AI分析模型上线，开始预测性洞察</a:t>
            </a:r>
          </a:p>
          <a:p>
            <a:r>
              <a:rPr lang="zh-CN" dirty="0"/>
              <a:t>• 自动化营销工作流全渠道激活</a:t>
            </a:r>
          </a:p>
        </p:txBody>
      </p:sp>
    </p:spTree>
  </p:cSld>
  <p:clrMapOvr>
    <a:masterClrMapping/>
  </p:clrMapOvr>
</p:note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2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Agenda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2" Type="http://schemas.openxmlformats.org/officeDocument/2006/relationships/theme" Target="../theme/theme1.xml"/>  <Relationship Id="rId13" Type="http://schemas.openxmlformats.org/officeDocument/2006/relationships/slideLayout" Target="../slideLayouts/slideLayout12.xml"/>
  <Relationship Id="rId14" Type="http://schemas.openxmlformats.org/officeDocument/2006/relationships/slideLayout" Target="../slideLayouts/slideLayout13.xml"/>
  <Relationship Id="rId15" Type="http://schemas.openxmlformats.org/officeDocument/2006/relationships/slideLayout" Target="../slideLayouts/slideLayout14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3"/>
    <p:sldLayoutId id="2147483661" r:id="rId14"/>
    <p:sldLayoutId id="2147483662" r:id="rId15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2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3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8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0" y="0"/>
              <a:ext cx="12192000" cy="6858000"/>
              <a:chOff x="0" y="0"/>
              <a:chExt cx="12192000" cy="6858000"/>
            </a:xfrm>
          </p:grpSpPr>
          <p:sp>
            <p:nvSpPr>
              <p:cNvPr id="3" name="Line 3"/>
              <p:cNvSpPr/>
              <p:nvPr/>
            </p:nvSpPr>
            <p:spPr>
              <a:xfrm>
                <a:off x="0" y="1143000"/>
                <a:ext cx="12192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192000" h="9525">
                    <a:moveTo>
                      <a:pt x="0" y="0"/>
                    </a:moveTo>
                    <a:lnTo>
                      <a:pt x="12192000" y="0"/>
                    </a:lnTo>
                  </a:path>
                </a:pathLst>
              </a:custGeom>
              <a:noFill/>
              <a:ln w="4762">
                <a:solidFill>
                  <a:schemeClr val="accent4"/>
                </a:solidFill>
              </a:ln>
            </p:spPr>
          </p:sp>
          <p:sp>
            <p:nvSpPr>
              <p:cNvPr id="4" name="Line 4"/>
              <p:cNvSpPr/>
              <p:nvPr/>
            </p:nvSpPr>
            <p:spPr>
              <a:xfrm>
                <a:off x="0" y="2286000"/>
                <a:ext cx="12192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192000" h="9525">
                    <a:moveTo>
                      <a:pt x="0" y="0"/>
                    </a:moveTo>
                    <a:lnTo>
                      <a:pt x="12192000" y="0"/>
                    </a:lnTo>
                  </a:path>
                </a:pathLst>
              </a:custGeom>
              <a:noFill/>
              <a:ln w="4762">
                <a:solidFill>
                  <a:schemeClr val="accent4"/>
                </a:solidFill>
              </a:ln>
            </p:spPr>
          </p:sp>
          <p:sp>
            <p:nvSpPr>
              <p:cNvPr id="5" name="Line 5"/>
              <p:cNvSpPr/>
              <p:nvPr/>
            </p:nvSpPr>
            <p:spPr>
              <a:xfrm>
                <a:off x="0" y="3429000"/>
                <a:ext cx="12192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192000" h="9525">
                    <a:moveTo>
                      <a:pt x="0" y="0"/>
                    </a:moveTo>
                    <a:lnTo>
                      <a:pt x="12192000" y="0"/>
                    </a:lnTo>
                  </a:path>
                </a:pathLst>
              </a:custGeom>
              <a:noFill/>
              <a:ln w="4762">
                <a:solidFill>
                  <a:schemeClr val="accent4"/>
                </a:solidFill>
              </a:ln>
            </p:spPr>
          </p:sp>
          <p:sp>
            <p:nvSpPr>
              <p:cNvPr id="6" name="Line 6"/>
              <p:cNvSpPr/>
              <p:nvPr/>
            </p:nvSpPr>
            <p:spPr>
              <a:xfrm>
                <a:off x="0" y="4572000"/>
                <a:ext cx="12192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192000" h="9525">
                    <a:moveTo>
                      <a:pt x="0" y="0"/>
                    </a:moveTo>
                    <a:lnTo>
                      <a:pt x="12192000" y="0"/>
                    </a:lnTo>
                  </a:path>
                </a:pathLst>
              </a:custGeom>
              <a:noFill/>
              <a:ln w="4762">
                <a:solidFill>
                  <a:schemeClr val="accent4"/>
                </a:solidFill>
              </a:ln>
            </p:spPr>
          </p:sp>
          <p:sp>
            <p:nvSpPr>
              <p:cNvPr id="7" name="Line 7"/>
              <p:cNvSpPr/>
              <p:nvPr/>
            </p:nvSpPr>
            <p:spPr>
              <a:xfrm>
                <a:off x="0" y="5715000"/>
                <a:ext cx="12192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192000" h="9525">
                    <a:moveTo>
                      <a:pt x="0" y="0"/>
                    </a:moveTo>
                    <a:lnTo>
                      <a:pt x="12192000" y="0"/>
                    </a:lnTo>
                  </a:path>
                </a:pathLst>
              </a:custGeom>
              <a:noFill/>
              <a:ln w="4762">
                <a:solidFill>
                  <a:schemeClr val="accent4"/>
                </a:solidFill>
              </a:ln>
            </p:spPr>
          </p:sp>
          <p:sp>
            <p:nvSpPr>
              <p:cNvPr id="8" name="Line 8"/>
              <p:cNvSpPr/>
              <p:nvPr/>
            </p:nvSpPr>
            <p:spPr>
              <a:xfrm>
                <a:off x="1524000" y="0"/>
                <a:ext cx="9525" cy="6858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858000">
                    <a:moveTo>
                      <a:pt x="0" y="0"/>
                    </a:moveTo>
                    <a:lnTo>
                      <a:pt x="0" y="6858000"/>
                    </a:lnTo>
                  </a:path>
                </a:pathLst>
              </a:custGeom>
              <a:noFill/>
              <a:ln w="4762">
                <a:solidFill>
                  <a:schemeClr val="accent4"/>
                </a:solidFill>
              </a:ln>
            </p:spPr>
          </p:sp>
          <p:sp>
            <p:nvSpPr>
              <p:cNvPr id="9" name="Line 9"/>
              <p:cNvSpPr/>
              <p:nvPr/>
            </p:nvSpPr>
            <p:spPr>
              <a:xfrm>
                <a:off x="3048000" y="0"/>
                <a:ext cx="9525" cy="6858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858000">
                    <a:moveTo>
                      <a:pt x="0" y="0"/>
                    </a:moveTo>
                    <a:lnTo>
                      <a:pt x="0" y="6858000"/>
                    </a:lnTo>
                  </a:path>
                </a:pathLst>
              </a:custGeom>
              <a:noFill/>
              <a:ln w="4762">
                <a:solidFill>
                  <a:schemeClr val="accent4"/>
                </a:solidFill>
              </a:ln>
            </p:spPr>
          </p:sp>
          <p:sp>
            <p:nvSpPr>
              <p:cNvPr id="10" name="Line 10"/>
              <p:cNvSpPr/>
              <p:nvPr/>
            </p:nvSpPr>
            <p:spPr>
              <a:xfrm>
                <a:off x="4572000" y="0"/>
                <a:ext cx="9525" cy="6858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858000">
                    <a:moveTo>
                      <a:pt x="0" y="0"/>
                    </a:moveTo>
                    <a:lnTo>
                      <a:pt x="0" y="6858000"/>
                    </a:lnTo>
                  </a:path>
                </a:pathLst>
              </a:custGeom>
              <a:noFill/>
              <a:ln w="4762">
                <a:solidFill>
                  <a:schemeClr val="accent4"/>
                </a:solidFill>
              </a:ln>
            </p:spPr>
          </p:sp>
          <p:sp>
            <p:nvSpPr>
              <p:cNvPr id="11" name="Line 11"/>
              <p:cNvSpPr/>
              <p:nvPr/>
            </p:nvSpPr>
            <p:spPr>
              <a:xfrm>
                <a:off x="6096000" y="0"/>
                <a:ext cx="9525" cy="6858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858000">
                    <a:moveTo>
                      <a:pt x="0" y="0"/>
                    </a:moveTo>
                    <a:lnTo>
                      <a:pt x="0" y="6858000"/>
                    </a:lnTo>
                  </a:path>
                </a:pathLst>
              </a:custGeom>
              <a:noFill/>
              <a:ln w="4762">
                <a:solidFill>
                  <a:schemeClr val="accent4"/>
                </a:solidFill>
              </a:ln>
            </p:spPr>
          </p:sp>
          <p:sp>
            <p:nvSpPr>
              <p:cNvPr id="12" name="Line 12"/>
              <p:cNvSpPr/>
              <p:nvPr/>
            </p:nvSpPr>
            <p:spPr>
              <a:xfrm>
                <a:off x="7620000" y="0"/>
                <a:ext cx="9525" cy="6858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858000">
                    <a:moveTo>
                      <a:pt x="0" y="0"/>
                    </a:moveTo>
                    <a:lnTo>
                      <a:pt x="0" y="6858000"/>
                    </a:lnTo>
                  </a:path>
                </a:pathLst>
              </a:custGeom>
              <a:noFill/>
              <a:ln w="4762">
                <a:solidFill>
                  <a:schemeClr val="accent4"/>
                </a:solidFill>
              </a:ln>
            </p:spPr>
          </p:sp>
          <p:sp>
            <p:nvSpPr>
              <p:cNvPr id="13" name="Line 13"/>
              <p:cNvSpPr/>
              <p:nvPr/>
            </p:nvSpPr>
            <p:spPr>
              <a:xfrm>
                <a:off x="9144000" y="0"/>
                <a:ext cx="9525" cy="6858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858000">
                    <a:moveTo>
                      <a:pt x="0" y="0"/>
                    </a:moveTo>
                    <a:lnTo>
                      <a:pt x="0" y="6858000"/>
                    </a:lnTo>
                  </a:path>
                </a:pathLst>
              </a:custGeom>
              <a:noFill/>
              <a:ln w="4762">
                <a:solidFill>
                  <a:schemeClr val="accent4"/>
                </a:solidFill>
              </a:ln>
            </p:spPr>
          </p:sp>
          <p:sp>
            <p:nvSpPr>
              <p:cNvPr id="14" name="Line 14"/>
              <p:cNvSpPr/>
              <p:nvPr/>
            </p:nvSpPr>
            <p:spPr>
              <a:xfrm>
                <a:off x="10668000" y="0"/>
                <a:ext cx="9525" cy="6858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858000">
                    <a:moveTo>
                      <a:pt x="0" y="0"/>
                    </a:moveTo>
                    <a:lnTo>
                      <a:pt x="0" y="6858000"/>
                    </a:lnTo>
                  </a:path>
                </a:pathLst>
              </a:custGeom>
              <a:noFill/>
              <a:ln w="4762">
                <a:solidFill>
                  <a:schemeClr val="accent4"/>
                </a:solidFill>
              </a:ln>
            </p:spPr>
          </p:sp>
        </p:grpSp>
      </p:grpSp>
      <p:grpSp>
        <p:nvGrpSpPr>
          <p:cNvPr id="44" name="Group 44"/>
          <p:cNvGrpSpPr/>
          <p:nvPr/>
        </p:nvGrpSpPr>
        <p:grpSpPr>
          <a:xfrm>
            <a:off x="0" y="-762000"/>
            <a:ext cx="12192000" cy="7620000"/>
            <a:chOff x="0" y="-762000"/>
            <a:chExt cx="12192000" cy="7620000"/>
          </a:xfrm>
        </p:grpSpPr>
        <p:sp>
          <p:nvSpPr>
            <p:cNvPr id="17" name="Rectangle 17"/>
            <p:cNvSpPr/>
            <p:nvPr/>
          </p:nvSpPr>
          <p:spPr>
            <a:xfrm>
              <a:off x="0" y="0"/>
              <a:ext cx="121920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0" y="0"/>
              <a:ext cx="5334000" cy="68580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1">
                    <a:alpha val="85000"/>
                  </a:schemeClr>
                </a:gs>
              </a:gsLst>
              <a:lin ang="0" scaled="1"/>
            </a:gradFill>
            <a:ln>
              <a:noFill/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5905500" y="-762000"/>
              <a:ext cx="5334000" cy="5562600"/>
              <a:chOff x="5905500" y="-762000"/>
              <a:chExt cx="5334000" cy="5562600"/>
            </a:xfrm>
          </p:grpSpPr>
          <p:sp>
            <p:nvSpPr>
              <p:cNvPr id="19" name="Ellipse 19"/>
              <p:cNvSpPr/>
              <p:nvPr/>
            </p:nvSpPr>
            <p:spPr>
              <a:xfrm>
                <a:off x="5905500" y="-762000"/>
                <a:ext cx="5334000" cy="5334000"/>
              </a:xfrm>
              <a:prstGeom prst="ellipse">
                <a:avLst/>
              </a:prstGeom>
              <a:noFill/>
              <a:ln w="9525">
                <a:solidFill>
                  <a:schemeClr val="accent2">
                    <a:alpha val="20000"/>
                  </a:schemeClr>
                </a:solidFill>
              </a:ln>
            </p:spPr>
          </p:sp>
          <p:sp>
            <p:nvSpPr>
              <p:cNvPr id="20" name="Ellipse 20"/>
              <p:cNvSpPr/>
              <p:nvPr/>
            </p:nvSpPr>
            <p:spPr>
              <a:xfrm>
                <a:off x="6667500" y="0"/>
                <a:ext cx="3810000" cy="3810000"/>
              </a:xfrm>
              <a:prstGeom prst="ellipse">
                <a:avLst/>
              </a:prstGeom>
              <a:noFill/>
              <a:ln w="9525">
                <a:solidFill>
                  <a:schemeClr val="accent2">
                    <a:alpha val="15000"/>
                  </a:schemeClr>
                </a:solidFill>
              </a:ln>
            </p:spPr>
          </p:sp>
          <p:sp>
            <p:nvSpPr>
              <p:cNvPr id="21" name="Ellipse 21"/>
              <p:cNvSpPr/>
              <p:nvPr/>
            </p:nvSpPr>
            <p:spPr>
              <a:xfrm>
                <a:off x="7429500" y="762000"/>
                <a:ext cx="2286000" cy="2286000"/>
              </a:xfrm>
              <a:prstGeom prst="ellipse">
                <a:avLst/>
              </a:prstGeom>
              <a:noFill/>
              <a:ln w="9525">
                <a:solidFill>
                  <a:schemeClr val="accent2">
                    <a:alpha val="10000"/>
                  </a:schemeClr>
                </a:solidFill>
              </a:ln>
            </p:spPr>
          </p:sp>
          <p:grpSp>
            <p:nvGrpSpPr>
              <p:cNvPr id="31" name="Group 31"/>
              <p:cNvGrpSpPr/>
              <p:nvPr/>
            </p:nvGrpSpPr>
            <p:grpSpPr>
              <a:xfrm>
                <a:off x="6858000" y="2286000"/>
                <a:ext cx="3429000" cy="2476500"/>
                <a:chOff x="6858000" y="2286000"/>
                <a:chExt cx="3429000" cy="2476500"/>
              </a:xfrm>
            </p:grpSpPr>
            <p:sp>
              <p:nvSpPr>
                <p:cNvPr id="22" name="Line 22"/>
                <p:cNvSpPr/>
                <p:nvPr/>
              </p:nvSpPr>
              <p:spPr>
                <a:xfrm>
                  <a:off x="6858000" y="2667000"/>
                  <a:ext cx="952500" cy="762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0" h="762000">
                      <a:moveTo>
                        <a:pt x="0" y="762000"/>
                      </a:moveTo>
                      <a:lnTo>
                        <a:pt x="952500" y="0"/>
                      </a:lnTo>
                    </a:path>
                  </a:pathLst>
                </a:custGeom>
                <a:noFill/>
                <a:ln w="14288">
                  <a:solidFill>
                    <a:schemeClr val="accent3">
                      <a:alpha val="40000"/>
                    </a:schemeClr>
                  </a:solidFill>
                </a:ln>
              </p:spPr>
            </p:sp>
            <p:sp>
              <p:nvSpPr>
                <p:cNvPr id="23" name="Line 23"/>
                <p:cNvSpPr/>
                <p:nvPr/>
              </p:nvSpPr>
              <p:spPr>
                <a:xfrm>
                  <a:off x="7810500" y="2667000"/>
                  <a:ext cx="952500" cy="571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0" h="571500">
                      <a:moveTo>
                        <a:pt x="0" y="0"/>
                      </a:moveTo>
                      <a:lnTo>
                        <a:pt x="952500" y="571500"/>
                      </a:lnTo>
                    </a:path>
                  </a:pathLst>
                </a:custGeom>
                <a:noFill/>
                <a:ln w="14288">
                  <a:solidFill>
                    <a:schemeClr val="accent3">
                      <a:alpha val="40000"/>
                    </a:schemeClr>
                  </a:solidFill>
                </a:ln>
              </p:spPr>
            </p:sp>
            <p:sp>
              <p:nvSpPr>
                <p:cNvPr id="24" name="Line 24"/>
                <p:cNvSpPr/>
                <p:nvPr/>
              </p:nvSpPr>
              <p:spPr>
                <a:xfrm>
                  <a:off x="8382000" y="3238500"/>
                  <a:ext cx="381000" cy="1143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0" h="1143000">
                      <a:moveTo>
                        <a:pt x="381000" y="0"/>
                      </a:moveTo>
                      <a:lnTo>
                        <a:pt x="0" y="1143000"/>
                      </a:lnTo>
                    </a:path>
                  </a:pathLst>
                </a:custGeom>
                <a:noFill/>
                <a:ln w="14288">
                  <a:solidFill>
                    <a:schemeClr val="accent3">
                      <a:alpha val="40000"/>
                    </a:schemeClr>
                  </a:solidFill>
                </a:ln>
              </p:spPr>
            </p:sp>
            <p:sp>
              <p:nvSpPr>
                <p:cNvPr id="25" name="Line 25"/>
                <p:cNvSpPr/>
                <p:nvPr/>
              </p:nvSpPr>
              <p:spPr>
                <a:xfrm>
                  <a:off x="8382000" y="3810000"/>
                  <a:ext cx="1143000" cy="571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0" h="571500">
                      <a:moveTo>
                        <a:pt x="0" y="571500"/>
                      </a:moveTo>
                      <a:lnTo>
                        <a:pt x="1143000" y="0"/>
                      </a:lnTo>
                    </a:path>
                  </a:pathLst>
                </a:custGeom>
                <a:noFill/>
                <a:ln w="14288">
                  <a:solidFill>
                    <a:schemeClr val="accent3">
                      <a:alpha val="40000"/>
                    </a:schemeClr>
                  </a:solidFill>
                </a:ln>
              </p:spPr>
            </p:sp>
            <p:sp>
              <p:nvSpPr>
                <p:cNvPr id="26" name="Line 26"/>
                <p:cNvSpPr/>
                <p:nvPr/>
              </p:nvSpPr>
              <p:spPr>
                <a:xfrm>
                  <a:off x="9525000" y="3810000"/>
                  <a:ext cx="762000" cy="762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0" h="762000">
                      <a:moveTo>
                        <a:pt x="0" y="0"/>
                      </a:moveTo>
                      <a:lnTo>
                        <a:pt x="762000" y="762000"/>
                      </a:lnTo>
                    </a:path>
                  </a:pathLst>
                </a:custGeom>
                <a:noFill/>
                <a:ln w="14288">
                  <a:solidFill>
                    <a:schemeClr val="accent3">
                      <a:alpha val="40000"/>
                    </a:schemeClr>
                  </a:solidFill>
                </a:ln>
              </p:spPr>
            </p:sp>
            <p:sp>
              <p:nvSpPr>
                <p:cNvPr id="27" name="Line 27"/>
                <p:cNvSpPr/>
                <p:nvPr/>
              </p:nvSpPr>
              <p:spPr>
                <a:xfrm>
                  <a:off x="6858000" y="3429000"/>
                  <a:ext cx="381000" cy="133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0" h="1333500">
                      <a:moveTo>
                        <a:pt x="0" y="0"/>
                      </a:moveTo>
                      <a:lnTo>
                        <a:pt x="381000" y="1333500"/>
                      </a:lnTo>
                    </a:path>
                  </a:pathLst>
                </a:custGeom>
                <a:noFill/>
                <a:ln w="14288">
                  <a:solidFill>
                    <a:schemeClr val="accent3">
                      <a:alpha val="40000"/>
                    </a:schemeClr>
                  </a:solidFill>
                </a:ln>
              </p:spPr>
            </p:sp>
            <p:sp>
              <p:nvSpPr>
                <p:cNvPr id="28" name="Line 28"/>
                <p:cNvSpPr/>
                <p:nvPr/>
              </p:nvSpPr>
              <p:spPr>
                <a:xfrm>
                  <a:off x="7239000" y="4381500"/>
                  <a:ext cx="1143000" cy="381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0" h="381000">
                      <a:moveTo>
                        <a:pt x="0" y="381000"/>
                      </a:moveTo>
                      <a:lnTo>
                        <a:pt x="1143000" y="0"/>
                      </a:lnTo>
                    </a:path>
                  </a:pathLst>
                </a:custGeom>
                <a:noFill/>
                <a:ln w="14288">
                  <a:solidFill>
                    <a:schemeClr val="accent3">
                      <a:alpha val="40000"/>
                    </a:schemeClr>
                  </a:solidFill>
                </a:ln>
              </p:spPr>
            </p:sp>
            <p:sp>
              <p:nvSpPr>
                <p:cNvPr id="29" name="Line 29"/>
                <p:cNvSpPr/>
                <p:nvPr/>
              </p:nvSpPr>
              <p:spPr>
                <a:xfrm>
                  <a:off x="8763000" y="2286000"/>
                  <a:ext cx="762000" cy="952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0" h="952500">
                      <a:moveTo>
                        <a:pt x="0" y="952500"/>
                      </a:moveTo>
                      <a:lnTo>
                        <a:pt x="762000" y="0"/>
                      </a:lnTo>
                    </a:path>
                  </a:pathLst>
                </a:custGeom>
                <a:noFill/>
                <a:ln w="14288">
                  <a:solidFill>
                    <a:schemeClr val="accent3">
                      <a:alpha val="40000"/>
                    </a:schemeClr>
                  </a:solidFill>
                </a:ln>
              </p:spPr>
            </p:sp>
            <p:sp>
              <p:nvSpPr>
                <p:cNvPr id="30" name="Line 30"/>
                <p:cNvSpPr/>
                <p:nvPr/>
              </p:nvSpPr>
              <p:spPr>
                <a:xfrm>
                  <a:off x="9525000" y="2286000"/>
                  <a:ext cx="762000" cy="762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0" h="762000">
                      <a:moveTo>
                        <a:pt x="0" y="0"/>
                      </a:moveTo>
                      <a:lnTo>
                        <a:pt x="762000" y="762000"/>
                      </a:lnTo>
                    </a:path>
                  </a:pathLst>
                </a:custGeom>
                <a:noFill/>
                <a:ln w="14288">
                  <a:solidFill>
                    <a:schemeClr val="accent3">
                      <a:alpha val="40000"/>
                    </a:schemeClr>
                  </a:solidFill>
                </a:ln>
              </p:spPr>
            </p:sp>
          </p:grpSp>
          <p:grpSp>
            <p:nvGrpSpPr>
              <p:cNvPr id="41" name="Group 41"/>
              <p:cNvGrpSpPr/>
              <p:nvPr/>
            </p:nvGrpSpPr>
            <p:grpSpPr>
              <a:xfrm>
                <a:off x="6800850" y="2238375"/>
                <a:ext cx="3533775" cy="2562225"/>
                <a:chOff x="6800850" y="2238375"/>
                <a:chExt cx="3533775" cy="2562225"/>
              </a:xfrm>
            </p:grpSpPr>
            <p:sp>
              <p:nvSpPr>
                <p:cNvPr id="32" name="Ellipse 32"/>
                <p:cNvSpPr/>
                <p:nvPr/>
              </p:nvSpPr>
              <p:spPr>
                <a:xfrm>
                  <a:off x="6800850" y="3371850"/>
                  <a:ext cx="114300" cy="1143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33" name="Ellipse 33"/>
                <p:cNvSpPr/>
                <p:nvPr/>
              </p:nvSpPr>
              <p:spPr>
                <a:xfrm>
                  <a:off x="7762875" y="2619375"/>
                  <a:ext cx="95250" cy="9525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34" name="Ellipse 34"/>
                <p:cNvSpPr/>
                <p:nvPr/>
              </p:nvSpPr>
              <p:spPr>
                <a:xfrm>
                  <a:off x="8696325" y="3171825"/>
                  <a:ext cx="133350" cy="13335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35" name="Ellipse 35"/>
                <p:cNvSpPr/>
                <p:nvPr/>
              </p:nvSpPr>
              <p:spPr>
                <a:xfrm>
                  <a:off x="8334375" y="4333875"/>
                  <a:ext cx="95250" cy="9525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36" name="Ellipse 36"/>
                <p:cNvSpPr/>
                <p:nvPr/>
              </p:nvSpPr>
              <p:spPr>
                <a:xfrm>
                  <a:off x="9467850" y="3752850"/>
                  <a:ext cx="114300" cy="1143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37" name="Ellipse 37"/>
                <p:cNvSpPr/>
                <p:nvPr/>
              </p:nvSpPr>
              <p:spPr>
                <a:xfrm>
                  <a:off x="10248900" y="4533900"/>
                  <a:ext cx="76200" cy="762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38" name="Ellipse 38"/>
                <p:cNvSpPr/>
                <p:nvPr/>
              </p:nvSpPr>
              <p:spPr>
                <a:xfrm>
                  <a:off x="7200900" y="4724400"/>
                  <a:ext cx="76200" cy="762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39" name="Ellipse 39"/>
                <p:cNvSpPr/>
                <p:nvPr/>
              </p:nvSpPr>
              <p:spPr>
                <a:xfrm>
                  <a:off x="9477375" y="2238375"/>
                  <a:ext cx="95250" cy="9525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40" name="Ellipse 40"/>
                <p:cNvSpPr/>
                <p:nvPr/>
              </p:nvSpPr>
              <p:spPr>
                <a:xfrm>
                  <a:off x="10239375" y="3000375"/>
                  <a:ext cx="95250" cy="9525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</p:grpSp>
        </p:grpSp>
        <p:sp>
          <p:nvSpPr>
            <p:cNvPr id="43" name="Line 43"/>
            <p:cNvSpPr/>
            <p:nvPr/>
          </p:nvSpPr>
          <p:spPr>
            <a:xfrm>
              <a:off x="571500" y="6477000"/>
              <a:ext cx="4762500" cy="9525"/>
            </a:xfrm>
            <a:custGeom>
              <a:avLst/>
              <a:gdLst/>
              <a:ahLst/>
              <a:cxnLst/>
              <a:rect l="l" t="t" r="r" b="b"/>
              <a:pathLst>
                <a:path w="4762500" h="9525">
                  <a:moveTo>
                    <a:pt x="0" y="0"/>
                  </a:moveTo>
                  <a:lnTo>
                    <a:pt x="4762500" y="0"/>
                  </a:lnTo>
                </a:path>
              </a:pathLst>
            </a:custGeom>
            <a:noFill/>
            <a:ln w="9525">
              <a:solidFill>
                <a:schemeClr val="accent3">
                  <a:alpha val="50000"/>
                </a:schemeClr>
              </a:solidFill>
            </a:ln>
          </p:spPr>
        </p:sp>
      </p:grpSp>
      <p:grpSp>
        <p:nvGrpSpPr>
          <p:cNvPr id="52" name="Group 52"/>
          <p:cNvGrpSpPr/>
          <p:nvPr/>
        </p:nvGrpSpPr>
        <p:grpSpPr>
          <a:xfrm>
            <a:off x="553212" y="952500"/>
            <a:ext cx="3203052" cy="4438650"/>
            <a:chOff x="553212" y="952500"/>
            <a:chExt cx="3203052" cy="4438650"/>
          </a:xfrm>
        </p:grpSpPr>
        <p:sp>
          <p:nvSpPr>
            <p:cNvPr id="45" name="Line 45"/>
            <p:cNvSpPr/>
            <p:nvPr/>
          </p:nvSpPr>
          <p:spPr>
            <a:xfrm>
              <a:off x="571500" y="952500"/>
              <a:ext cx="1333500" cy="9525"/>
            </a:xfrm>
            <a:custGeom>
              <a:avLst/>
              <a:gdLst/>
              <a:ahLst/>
              <a:cxnLst/>
              <a:rect l="l" t="t" r="r" b="b"/>
              <a:pathLst>
                <a:path w="1333500" h="9525">
                  <a:moveTo>
                    <a:pt x="0" y="0"/>
                  </a:moveTo>
                  <a:lnTo>
                    <a:pt x="1333500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553212" y="1516380"/>
              <a:ext cx="320305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企业AI营销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53212" y="2049780"/>
              <a:ext cx="164957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工作台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64642" y="404526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一套平台解决数据整合、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64642" y="4311968"/>
              <a:ext cx="26732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AI分析、自动化执行与效果度量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564642" y="45786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四大瓶颈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571500" y="5334000"/>
              <a:ext cx="762000" cy="5715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2700000" scaled="1"/>
            </a:gradFill>
            <a:ln>
              <a:noFill/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557784" y="381000"/>
            <a:ext cx="4393120" cy="1369695"/>
            <a:chOff x="557784" y="381000"/>
            <a:chExt cx="4393120" cy="1369695"/>
          </a:xfrm>
        </p:grpSpPr>
        <p:sp>
          <p:nvSpPr>
            <p:cNvPr id="2" name="Freeform 2"/>
            <p:cNvSpPr/>
            <p:nvPr/>
          </p:nvSpPr>
          <p:spPr>
            <a:xfrm>
              <a:off x="571500" y="381000"/>
              <a:ext cx="1143000" cy="266700"/>
            </a:xfrm>
            <a:custGeom>
              <a:avLst/>
              <a:gdLst/>
              <a:ahLst/>
              <a:cxnLst/>
              <a:rect l="l" t="t" r="r" b="b"/>
              <a:pathLst>
                <a:path w="1143000" h="266700">
                  <a:moveTo>
                    <a:pt x="38100" y="0"/>
                  </a:moveTo>
                  <a:lnTo>
                    <a:pt x="1104900" y="0"/>
                  </a:lnTo>
                  <a:cubicBezTo>
                    <a:pt x="1125942" y="0"/>
                    <a:pt x="1143000" y="17058"/>
                    <a:pt x="1143000" y="38100"/>
                  </a:cubicBezTo>
                  <a:lnTo>
                    <a:pt x="1143000" y="228600"/>
                  </a:lnTo>
                  <a:cubicBezTo>
                    <a:pt x="1143000" y="249642"/>
                    <a:pt x="1125942" y="266700"/>
                    <a:pt x="1104900" y="266700"/>
                  </a:cubicBezTo>
                  <a:lnTo>
                    <a:pt x="38100" y="266700"/>
                  </a:lnTo>
                  <a:cubicBezTo>
                    <a:pt x="17058" y="266700"/>
                    <a:pt x="0" y="249642"/>
                    <a:pt x="0" y="2286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09612" y="464820"/>
              <a:ext cx="5183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模块目录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57784" y="803910"/>
              <a:ext cx="164043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决策议程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571500" y="1285875"/>
              <a:ext cx="2476500" cy="9525"/>
            </a:xfrm>
            <a:custGeom>
              <a:avLst/>
              <a:gdLst/>
              <a:ahLst/>
              <a:cxnLst/>
              <a:rect l="l" t="t" r="r" b="b"/>
              <a:pathLst>
                <a:path w="2476500" h="9525">
                  <a:moveTo>
                    <a:pt x="0" y="0"/>
                  </a:moveTo>
                  <a:lnTo>
                    <a:pt x="24765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563880" y="1457325"/>
              <a:ext cx="43870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本简报按结论→风险→核心能力→行动的顺序组织。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685800" y="2095500"/>
            <a:ext cx="3880028" cy="4000500"/>
            <a:chOff x="685800" y="2095500"/>
            <a:chExt cx="3880028" cy="4000500"/>
          </a:xfrm>
        </p:grpSpPr>
        <p:sp>
          <p:nvSpPr>
            <p:cNvPr id="8" name="Line 8"/>
            <p:cNvSpPr/>
            <p:nvPr/>
          </p:nvSpPr>
          <p:spPr>
            <a:xfrm>
              <a:off x="857250" y="2095500"/>
              <a:ext cx="9525" cy="4000500"/>
            </a:xfrm>
            <a:custGeom>
              <a:avLst/>
              <a:gdLst/>
              <a:ahLst/>
              <a:cxnLst/>
              <a:rect l="l" t="t" r="r" b="b"/>
              <a:pathLst>
                <a:path w="9525" h="4000500">
                  <a:moveTo>
                    <a:pt x="0" y="0"/>
                  </a:moveTo>
                  <a:lnTo>
                    <a:pt x="0" y="4000500"/>
                  </a:lnTo>
                </a:path>
              </a:pathLst>
            </a:custGeom>
            <a:noFill/>
            <a:ln w="9525">
              <a:solidFill>
                <a:schemeClr val="accent4"/>
              </a:solidFill>
              <a:prstDash val="dash"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685800" y="2143125"/>
              <a:ext cx="3764280" cy="476250"/>
              <a:chOff x="685800" y="2143125"/>
              <a:chExt cx="3764280" cy="476250"/>
            </a:xfrm>
          </p:grpSpPr>
          <p:sp>
            <p:nvSpPr>
              <p:cNvPr id="9" name="Ellipse 9"/>
              <p:cNvSpPr/>
              <p:nvPr/>
            </p:nvSpPr>
            <p:spPr>
              <a:xfrm>
                <a:off x="685800" y="2209800"/>
                <a:ext cx="342900" cy="342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770286" y="2315528"/>
                <a:ext cx="17392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01</a:t>
                </a:r>
              </a:p>
            </p:txBody>
          </p:sp>
          <p:sp>
            <p:nvSpPr>
              <p:cNvPr id="11" name="Rectangle 11"/>
              <p:cNvSpPr/>
              <p:nvPr/>
            </p:nvSpPr>
            <p:spPr>
              <a:xfrm>
                <a:off x="1238250" y="2143125"/>
                <a:ext cx="76200" cy="47625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470279" y="2204085"/>
                <a:ext cx="108752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chemeClr val="accent1"/>
                    </a:solidFill>
                    <a:latin typeface="+mj-lt"/>
                    <a:ea typeface="+mj-ea"/>
                    <a:cs typeface="+mj-cs"/>
                  </a:rPr>
                  <a:t>预期业务回报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471041" y="2410778"/>
                <a:ext cx="297903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平台上线后的预期业务回报及关键风险缓解策略</a:t>
                </a:r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685800" y="2952750"/>
              <a:ext cx="3880028" cy="476250"/>
              <a:chOff x="685800" y="2952750"/>
              <a:chExt cx="3880028" cy="476250"/>
            </a:xfrm>
          </p:grpSpPr>
          <p:sp>
            <p:nvSpPr>
              <p:cNvPr id="15" name="Ellipse 15"/>
              <p:cNvSpPr/>
              <p:nvPr/>
            </p:nvSpPr>
            <p:spPr>
              <a:xfrm>
                <a:off x="685800" y="3019425"/>
                <a:ext cx="342900" cy="342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770286" y="3125152"/>
                <a:ext cx="17392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02</a:t>
                </a:r>
              </a:p>
            </p:txBody>
          </p:sp>
          <p:sp>
            <p:nvSpPr>
              <p:cNvPr id="17" name="Rectangle 17"/>
              <p:cNvSpPr/>
              <p:nvPr/>
            </p:nvSpPr>
            <p:spPr>
              <a:xfrm>
                <a:off x="1238250" y="2952750"/>
                <a:ext cx="76200" cy="47625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1470279" y="3013710"/>
                <a:ext cx="108752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chemeClr val="accent1"/>
                    </a:solidFill>
                    <a:latin typeface="+mj-lt"/>
                    <a:ea typeface="+mj-ea"/>
                    <a:cs typeface="+mj-cs"/>
                  </a:rPr>
                  <a:t>实时数据连接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471041" y="3220402"/>
                <a:ext cx="309478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实时连接全域数据源，消除手动ETL与数据延迟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685800" y="3762375"/>
              <a:ext cx="3481578" cy="476250"/>
              <a:chOff x="685800" y="3762375"/>
              <a:chExt cx="3481578" cy="476250"/>
            </a:xfrm>
          </p:grpSpPr>
          <p:sp>
            <p:nvSpPr>
              <p:cNvPr id="21" name="Ellipse 21"/>
              <p:cNvSpPr/>
              <p:nvPr/>
            </p:nvSpPr>
            <p:spPr>
              <a:xfrm>
                <a:off x="685800" y="3829050"/>
                <a:ext cx="342900" cy="342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770286" y="3934778"/>
                <a:ext cx="17392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03</a:t>
                </a:r>
              </a:p>
            </p:txBody>
          </p:sp>
          <p:sp>
            <p:nvSpPr>
              <p:cNvPr id="23" name="Rectangle 23"/>
              <p:cNvSpPr/>
              <p:nvPr/>
            </p:nvSpPr>
            <p:spPr>
              <a:xfrm>
                <a:off x="1238250" y="3762375"/>
                <a:ext cx="76200" cy="47625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1470279" y="3823335"/>
                <a:ext cx="10676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chemeClr val="accent1"/>
                    </a:solidFill>
                    <a:latin typeface="+mj-lt"/>
                    <a:ea typeface="+mj-ea"/>
                    <a:cs typeface="+mj-cs"/>
                  </a:rPr>
                  <a:t>AI营销引擎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1471041" y="4030028"/>
                <a:ext cx="269633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营销预测、受众细分、内容推荐与异常检测</a:t>
                </a:r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685800" y="4572000"/>
              <a:ext cx="3622929" cy="476250"/>
              <a:chOff x="685800" y="4572000"/>
              <a:chExt cx="3622929" cy="476250"/>
            </a:xfrm>
          </p:grpSpPr>
          <p:sp>
            <p:nvSpPr>
              <p:cNvPr id="27" name="Ellipse 27"/>
              <p:cNvSpPr/>
              <p:nvPr/>
            </p:nvSpPr>
            <p:spPr>
              <a:xfrm>
                <a:off x="685800" y="4638675"/>
                <a:ext cx="342900" cy="342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770286" y="4744402"/>
                <a:ext cx="17392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04</a:t>
                </a:r>
              </a:p>
            </p:txBody>
          </p:sp>
          <p:sp>
            <p:nvSpPr>
              <p:cNvPr id="29" name="Rectangle 29"/>
              <p:cNvSpPr/>
              <p:nvPr/>
            </p:nvSpPr>
            <p:spPr>
              <a:xfrm>
                <a:off x="1238250" y="4572000"/>
                <a:ext cx="76200" cy="47625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1470279" y="4632960"/>
                <a:ext cx="126674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chemeClr val="accent1"/>
                    </a:solidFill>
                    <a:latin typeface="+mj-lt"/>
                    <a:ea typeface="+mj-ea"/>
                    <a:cs typeface="+mj-cs"/>
                  </a:rPr>
                  <a:t>自动营销工作流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1471041" y="4839652"/>
                <a:ext cx="283768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跨渠道自动营销工作流，从触发到个性化交付</a:t>
                </a:r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>
              <a:off x="685800" y="5381625"/>
              <a:ext cx="3723208" cy="476250"/>
              <a:chOff x="685800" y="5381625"/>
              <a:chExt cx="3723208" cy="476250"/>
            </a:xfrm>
          </p:grpSpPr>
          <p:sp>
            <p:nvSpPr>
              <p:cNvPr id="33" name="Ellipse 33"/>
              <p:cNvSpPr/>
              <p:nvPr/>
            </p:nvSpPr>
            <p:spPr>
              <a:xfrm>
                <a:off x="685800" y="5448300"/>
                <a:ext cx="342900" cy="342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770286" y="5554028"/>
                <a:ext cx="17392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05</a:t>
                </a:r>
              </a:p>
            </p:txBody>
          </p:sp>
          <p:sp>
            <p:nvSpPr>
              <p:cNvPr id="35" name="Rectangle 35"/>
              <p:cNvSpPr/>
              <p:nvPr/>
            </p:nvSpPr>
            <p:spPr>
              <a:xfrm>
                <a:off x="1238250" y="5381625"/>
                <a:ext cx="76200" cy="47625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1470279" y="5442585"/>
                <a:ext cx="108752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chemeClr val="accent1"/>
                    </a:solidFill>
                    <a:latin typeface="+mj-lt"/>
                    <a:ea typeface="+mj-ea"/>
                    <a:cs typeface="+mj-cs"/>
                  </a:rPr>
                  <a:t>数据闭环优化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1471041" y="5649278"/>
                <a:ext cx="293796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实时归因、ROI仪表板与持续优化的数据闭环</a:t>
                </a:r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857250" y="2552700"/>
              <a:ext cx="9525" cy="2895600"/>
              <a:chOff x="857250" y="2552700"/>
              <a:chExt cx="9525" cy="289560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857250" y="2552700"/>
                <a:ext cx="9525" cy="4667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66725">
                    <a:moveTo>
                      <a:pt x="0" y="0"/>
                    </a:moveTo>
                    <a:lnTo>
                      <a:pt x="0" y="466725"/>
                    </a:lnTo>
                  </a:path>
                </a:pathLst>
              </a:custGeom>
              <a:noFill/>
              <a:ln w="9525">
                <a:solidFill>
                  <a:schemeClr val="accent3"/>
                </a:solidFill>
                <a:tailEnd type="triangle" w="lg" len="lg"/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857250" y="3362325"/>
                <a:ext cx="9525" cy="4667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66725">
                    <a:moveTo>
                      <a:pt x="0" y="0"/>
                    </a:moveTo>
                    <a:lnTo>
                      <a:pt x="0" y="466725"/>
                    </a:lnTo>
                  </a:path>
                </a:pathLst>
              </a:custGeom>
              <a:noFill/>
              <a:ln w="9525">
                <a:solidFill>
                  <a:schemeClr val="accent3"/>
                </a:solidFill>
                <a:tailEnd type="triangle" w="lg" len="lg"/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857250" y="4171950"/>
                <a:ext cx="9525" cy="4667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66725">
                    <a:moveTo>
                      <a:pt x="0" y="0"/>
                    </a:moveTo>
                    <a:lnTo>
                      <a:pt x="0" y="466725"/>
                    </a:lnTo>
                  </a:path>
                </a:pathLst>
              </a:custGeom>
              <a:noFill/>
              <a:ln w="9525">
                <a:solidFill>
                  <a:schemeClr val="accent3"/>
                </a:solidFill>
                <a:tailEnd type="triangle" w="lg" len="lg"/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857250" y="4981575"/>
                <a:ext cx="9525" cy="4667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66725">
                    <a:moveTo>
                      <a:pt x="0" y="0"/>
                    </a:moveTo>
                    <a:lnTo>
                      <a:pt x="0" y="466725"/>
                    </a:lnTo>
                  </a:path>
                </a:pathLst>
              </a:custGeom>
              <a:noFill/>
              <a:ln w="9525">
                <a:solidFill>
                  <a:schemeClr val="accent3"/>
                </a:solidFill>
                <a:tailEnd type="triangle" w="lg" len="lg"/>
              </a:ln>
            </p:spPr>
          </p:sp>
        </p:grpSp>
      </p:grpSp>
      <p:grpSp>
        <p:nvGrpSpPr>
          <p:cNvPr id="57" name="Group 57"/>
          <p:cNvGrpSpPr/>
          <p:nvPr/>
        </p:nvGrpSpPr>
        <p:grpSpPr>
          <a:xfrm>
            <a:off x="8572500" y="1905000"/>
            <a:ext cx="2286000" cy="4286250"/>
            <a:chOff x="8572500" y="1905000"/>
            <a:chExt cx="2286000" cy="4286250"/>
          </a:xfrm>
        </p:grpSpPr>
        <p:sp>
          <p:nvSpPr>
            <p:cNvPr id="45" name="Line 45"/>
            <p:cNvSpPr/>
            <p:nvPr/>
          </p:nvSpPr>
          <p:spPr>
            <a:xfrm>
              <a:off x="8572500" y="1905000"/>
              <a:ext cx="9525" cy="4286250"/>
            </a:xfrm>
            <a:custGeom>
              <a:avLst/>
              <a:gdLst/>
              <a:ahLst/>
              <a:cxnLst/>
              <a:rect l="l" t="t" r="r" b="b"/>
              <a:pathLst>
                <a:path w="9525" h="4286250">
                  <a:moveTo>
                    <a:pt x="0" y="0"/>
                  </a:moveTo>
                  <a:lnTo>
                    <a:pt x="0" y="428625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46" name="Line 46"/>
            <p:cNvSpPr/>
            <p:nvPr/>
          </p:nvSpPr>
          <p:spPr>
            <a:xfrm>
              <a:off x="9525000" y="1905000"/>
              <a:ext cx="9525" cy="4286250"/>
            </a:xfrm>
            <a:custGeom>
              <a:avLst/>
              <a:gdLst/>
              <a:ahLst/>
              <a:cxnLst/>
              <a:rect l="l" t="t" r="r" b="b"/>
              <a:pathLst>
                <a:path w="9525" h="4286250">
                  <a:moveTo>
                    <a:pt x="0" y="0"/>
                  </a:moveTo>
                  <a:lnTo>
                    <a:pt x="0" y="428625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47" name="Line 47"/>
            <p:cNvSpPr/>
            <p:nvPr/>
          </p:nvSpPr>
          <p:spPr>
            <a:xfrm>
              <a:off x="10477500" y="1905000"/>
              <a:ext cx="9525" cy="4286250"/>
            </a:xfrm>
            <a:custGeom>
              <a:avLst/>
              <a:gdLst/>
              <a:ahLst/>
              <a:cxnLst/>
              <a:rect l="l" t="t" r="r" b="b"/>
              <a:pathLst>
                <a:path w="9525" h="4286250">
                  <a:moveTo>
                    <a:pt x="0" y="0"/>
                  </a:moveTo>
                  <a:lnTo>
                    <a:pt x="0" y="428625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48" name="Freeform 48"/>
            <p:cNvSpPr/>
            <p:nvPr/>
          </p:nvSpPr>
          <p:spPr>
            <a:xfrm>
              <a:off x="8763000" y="3333750"/>
              <a:ext cx="571500" cy="1905000"/>
            </a:xfrm>
            <a:custGeom>
              <a:avLst/>
              <a:gdLst/>
              <a:ahLst/>
              <a:cxnLst/>
              <a:rect l="l" t="t" r="r" b="b"/>
              <a:pathLst>
                <a:path w="571500" h="1905000">
                  <a:moveTo>
                    <a:pt x="38100" y="0"/>
                  </a:moveTo>
                  <a:lnTo>
                    <a:pt x="533400" y="0"/>
                  </a:lnTo>
                  <a:cubicBezTo>
                    <a:pt x="554442" y="0"/>
                    <a:pt x="571500" y="17058"/>
                    <a:pt x="571500" y="38100"/>
                  </a:cubicBezTo>
                  <a:lnTo>
                    <a:pt x="571500" y="1866900"/>
                  </a:lnTo>
                  <a:cubicBezTo>
                    <a:pt x="571500" y="1887942"/>
                    <a:pt x="554442" y="1905000"/>
                    <a:pt x="533400" y="1905000"/>
                  </a:cubicBezTo>
                  <a:lnTo>
                    <a:pt x="38100" y="1905000"/>
                  </a:lnTo>
                  <a:cubicBezTo>
                    <a:pt x="17058" y="1905000"/>
                    <a:pt x="0" y="1887942"/>
                    <a:pt x="0" y="18669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49" name="Freeform 49"/>
            <p:cNvSpPr/>
            <p:nvPr/>
          </p:nvSpPr>
          <p:spPr>
            <a:xfrm>
              <a:off x="9525000" y="2667000"/>
              <a:ext cx="571500" cy="2571750"/>
            </a:xfrm>
            <a:custGeom>
              <a:avLst/>
              <a:gdLst/>
              <a:ahLst/>
              <a:cxnLst/>
              <a:rect l="l" t="t" r="r" b="b"/>
              <a:pathLst>
                <a:path w="571500" h="2571750">
                  <a:moveTo>
                    <a:pt x="38100" y="0"/>
                  </a:moveTo>
                  <a:lnTo>
                    <a:pt x="533400" y="0"/>
                  </a:lnTo>
                  <a:cubicBezTo>
                    <a:pt x="554442" y="0"/>
                    <a:pt x="571500" y="17058"/>
                    <a:pt x="571500" y="38100"/>
                  </a:cubicBezTo>
                  <a:lnTo>
                    <a:pt x="571500" y="2533650"/>
                  </a:lnTo>
                  <a:cubicBezTo>
                    <a:pt x="571500" y="2554692"/>
                    <a:pt x="554442" y="2571750"/>
                    <a:pt x="533400" y="2571750"/>
                  </a:cubicBezTo>
                  <a:lnTo>
                    <a:pt x="38100" y="2571750"/>
                  </a:lnTo>
                  <a:cubicBezTo>
                    <a:pt x="17058" y="2571750"/>
                    <a:pt x="0" y="2554692"/>
                    <a:pt x="0" y="253365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50" name="Freeform 50"/>
            <p:cNvSpPr/>
            <p:nvPr/>
          </p:nvSpPr>
          <p:spPr>
            <a:xfrm>
              <a:off x="10287000" y="3048000"/>
              <a:ext cx="571500" cy="2190750"/>
            </a:xfrm>
            <a:custGeom>
              <a:avLst/>
              <a:gdLst/>
              <a:ahLst/>
              <a:cxnLst/>
              <a:rect l="l" t="t" r="r" b="b"/>
              <a:pathLst>
                <a:path w="571500" h="2190750">
                  <a:moveTo>
                    <a:pt x="38100" y="0"/>
                  </a:moveTo>
                  <a:lnTo>
                    <a:pt x="533400" y="0"/>
                  </a:lnTo>
                  <a:cubicBezTo>
                    <a:pt x="554442" y="0"/>
                    <a:pt x="571500" y="17058"/>
                    <a:pt x="571500" y="38100"/>
                  </a:cubicBezTo>
                  <a:lnTo>
                    <a:pt x="571500" y="2152650"/>
                  </a:lnTo>
                  <a:cubicBezTo>
                    <a:pt x="571500" y="2173692"/>
                    <a:pt x="554442" y="2190750"/>
                    <a:pt x="533400" y="2190750"/>
                  </a:cubicBezTo>
                  <a:lnTo>
                    <a:pt x="38100" y="2190750"/>
                  </a:lnTo>
                  <a:cubicBezTo>
                    <a:pt x="17058" y="2190750"/>
                    <a:pt x="0" y="2173692"/>
                    <a:pt x="0" y="215265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51" name="Freeform 51"/>
            <p:cNvSpPr/>
            <p:nvPr/>
          </p:nvSpPr>
          <p:spPr>
            <a:xfrm>
              <a:off x="8763000" y="4000500"/>
              <a:ext cx="571500" cy="76200"/>
            </a:xfrm>
            <a:custGeom>
              <a:avLst/>
              <a:gdLst/>
              <a:ahLst/>
              <a:cxnLst/>
              <a:rect l="l" t="t" r="r" b="b"/>
              <a:pathLst>
                <a:path w="571500" h="76200">
                  <a:moveTo>
                    <a:pt x="19050" y="0"/>
                  </a:moveTo>
                  <a:lnTo>
                    <a:pt x="552450" y="0"/>
                  </a:lnTo>
                  <a:cubicBezTo>
                    <a:pt x="562971" y="0"/>
                    <a:pt x="571500" y="8529"/>
                    <a:pt x="571500" y="19050"/>
                  </a:cubicBezTo>
                  <a:lnTo>
                    <a:pt x="571500" y="57150"/>
                  </a:lnTo>
                  <a:cubicBezTo>
                    <a:pt x="571500" y="67671"/>
                    <a:pt x="562971" y="76200"/>
                    <a:pt x="552450" y="76200"/>
                  </a:cubicBezTo>
                  <a:lnTo>
                    <a:pt x="19050" y="76200"/>
                  </a:lnTo>
                  <a:cubicBezTo>
                    <a:pt x="8529" y="76200"/>
                    <a:pt x="0" y="67671"/>
                    <a:pt x="0" y="57150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52" name="Freeform 52"/>
            <p:cNvSpPr/>
            <p:nvPr/>
          </p:nvSpPr>
          <p:spPr>
            <a:xfrm>
              <a:off x="9525000" y="3333750"/>
              <a:ext cx="571500" cy="76200"/>
            </a:xfrm>
            <a:custGeom>
              <a:avLst/>
              <a:gdLst/>
              <a:ahLst/>
              <a:cxnLst/>
              <a:rect l="l" t="t" r="r" b="b"/>
              <a:pathLst>
                <a:path w="571500" h="76200">
                  <a:moveTo>
                    <a:pt x="19050" y="0"/>
                  </a:moveTo>
                  <a:lnTo>
                    <a:pt x="552450" y="0"/>
                  </a:lnTo>
                  <a:cubicBezTo>
                    <a:pt x="562971" y="0"/>
                    <a:pt x="571500" y="8529"/>
                    <a:pt x="571500" y="19050"/>
                  </a:cubicBezTo>
                  <a:lnTo>
                    <a:pt x="571500" y="57150"/>
                  </a:lnTo>
                  <a:cubicBezTo>
                    <a:pt x="571500" y="67671"/>
                    <a:pt x="562971" y="76200"/>
                    <a:pt x="552450" y="76200"/>
                  </a:cubicBezTo>
                  <a:lnTo>
                    <a:pt x="19050" y="76200"/>
                  </a:lnTo>
                  <a:cubicBezTo>
                    <a:pt x="8529" y="76200"/>
                    <a:pt x="0" y="67671"/>
                    <a:pt x="0" y="57150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53" name="Freeform 53"/>
            <p:cNvSpPr/>
            <p:nvPr/>
          </p:nvSpPr>
          <p:spPr>
            <a:xfrm>
              <a:off x="10287000" y="3714750"/>
              <a:ext cx="571500" cy="76200"/>
            </a:xfrm>
            <a:custGeom>
              <a:avLst/>
              <a:gdLst/>
              <a:ahLst/>
              <a:cxnLst/>
              <a:rect l="l" t="t" r="r" b="b"/>
              <a:pathLst>
                <a:path w="571500" h="76200">
                  <a:moveTo>
                    <a:pt x="19050" y="0"/>
                  </a:moveTo>
                  <a:lnTo>
                    <a:pt x="552450" y="0"/>
                  </a:lnTo>
                  <a:cubicBezTo>
                    <a:pt x="562971" y="0"/>
                    <a:pt x="571500" y="8529"/>
                    <a:pt x="571500" y="19050"/>
                  </a:cubicBezTo>
                  <a:lnTo>
                    <a:pt x="571500" y="57150"/>
                  </a:lnTo>
                  <a:cubicBezTo>
                    <a:pt x="571500" y="67671"/>
                    <a:pt x="562971" y="76200"/>
                    <a:pt x="552450" y="76200"/>
                  </a:cubicBezTo>
                  <a:lnTo>
                    <a:pt x="19050" y="76200"/>
                  </a:lnTo>
                  <a:cubicBezTo>
                    <a:pt x="8529" y="76200"/>
                    <a:pt x="0" y="67671"/>
                    <a:pt x="0" y="57150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54" name="Ellipse 54"/>
            <p:cNvSpPr/>
            <p:nvPr/>
          </p:nvSpPr>
          <p:spPr>
            <a:xfrm>
              <a:off x="9010650" y="32004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5" name="Ellipse 55"/>
            <p:cNvSpPr/>
            <p:nvPr/>
          </p:nvSpPr>
          <p:spPr>
            <a:xfrm>
              <a:off x="9772650" y="253365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6" name="Ellipse 56"/>
            <p:cNvSpPr/>
            <p:nvPr/>
          </p:nvSpPr>
          <p:spPr>
            <a:xfrm>
              <a:off x="10534650" y="291465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61" name="Group 61"/>
          <p:cNvGrpSpPr/>
          <p:nvPr/>
        </p:nvGrpSpPr>
        <p:grpSpPr>
          <a:xfrm>
            <a:off x="566738" y="6477000"/>
            <a:ext cx="11058525" cy="263366"/>
            <a:chOff x="566738" y="6477000"/>
            <a:chExt cx="11058525" cy="263366"/>
          </a:xfrm>
        </p:grpSpPr>
        <p:sp>
          <p:nvSpPr>
            <p:cNvPr id="58" name="Line 58"/>
            <p:cNvSpPr/>
            <p:nvPr/>
          </p:nvSpPr>
          <p:spPr>
            <a:xfrm>
              <a:off x="571500" y="64770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566738" y="6578441"/>
              <a:ext cx="38158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 / 08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0694556" y="6578441"/>
              <a:ext cx="93070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企业AI营销工作台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66738" y="857250"/>
            <a:ext cx="11058525" cy="5787866"/>
            <a:chOff x="566738" y="857250"/>
            <a:chExt cx="11058525" cy="5787866"/>
          </a:xfrm>
        </p:grpSpPr>
        <p:sp>
          <p:nvSpPr>
            <p:cNvPr id="2" name="Line 2"/>
            <p:cNvSpPr/>
            <p:nvPr/>
          </p:nvSpPr>
          <p:spPr>
            <a:xfrm>
              <a:off x="571500" y="8572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6738" y="6483191"/>
              <a:ext cx="38158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03 / 08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694556" y="6483191"/>
              <a:ext cx="93070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企业AI营销工作台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557784" y="1124902"/>
            <a:ext cx="10491216" cy="4685348"/>
            <a:chOff x="557784" y="1124902"/>
            <a:chExt cx="10491216" cy="4685348"/>
          </a:xfrm>
        </p:grpSpPr>
        <p:grpSp>
          <p:nvGrpSpPr>
            <p:cNvPr id="14" name="Group 14"/>
            <p:cNvGrpSpPr/>
            <p:nvPr/>
          </p:nvGrpSpPr>
          <p:grpSpPr>
            <a:xfrm>
              <a:off x="557784" y="1124902"/>
              <a:ext cx="4585716" cy="4342448"/>
              <a:chOff x="557784" y="1124902"/>
              <a:chExt cx="4585716" cy="4342448"/>
            </a:xfrm>
          </p:grpSpPr>
          <p:sp>
            <p:nvSpPr>
              <p:cNvPr id="6" name="TextBox 6"/>
              <p:cNvSpPr txBox="1"/>
              <p:nvPr/>
            </p:nvSpPr>
            <p:spPr>
              <a:xfrm>
                <a:off x="566166" y="1124902"/>
                <a:ext cx="60434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关键判断</a:t>
                </a:r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557784" y="1423035"/>
                <a:ext cx="2446934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700" b="1" dirty="0">
                    <a:solidFill>
                      <a:schemeClr val="accent1"/>
                    </a:solidFill>
                    <a:latin typeface="+mj-lt"/>
                    <a:ea typeface="+mj-ea"/>
                    <a:cs typeface="+mj-cs"/>
                  </a:rPr>
                  <a:t>分散的工具链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557784" y="1851660"/>
                <a:ext cx="3253435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700" b="1" dirty="0">
                    <a:solidFill>
                      <a:schemeClr val="accent1"/>
                    </a:solidFill>
                    <a:latin typeface="+mj-lt"/>
                    <a:ea typeface="+mj-ea"/>
                    <a:cs typeface="+mj-cs"/>
                  </a:rPr>
                  <a:t>正在侵蚀你的增长</a:t>
                </a:r>
              </a:p>
            </p:txBody>
          </p:sp>
          <p:sp>
            <p:nvSpPr>
              <p:cNvPr id="9" name="Freeform 9"/>
              <p:cNvSpPr/>
              <p:nvPr/>
            </p:nvSpPr>
            <p:spPr>
              <a:xfrm>
                <a:off x="571500" y="2667000"/>
                <a:ext cx="4572000" cy="2667000"/>
              </a:xfrm>
              <a:custGeom>
                <a:avLst/>
                <a:gdLst/>
                <a:ahLst/>
                <a:cxnLst/>
                <a:rect l="l" t="t" r="r" b="b"/>
                <a:pathLst>
                  <a:path w="4572000" h="2667000">
                    <a:moveTo>
                      <a:pt x="114300" y="0"/>
                    </a:moveTo>
                    <a:lnTo>
                      <a:pt x="4457700" y="0"/>
                    </a:lnTo>
                    <a:cubicBezTo>
                      <a:pt x="4520826" y="0"/>
                      <a:pt x="4572000" y="51174"/>
                      <a:pt x="4572000" y="114300"/>
                    </a:cubicBezTo>
                    <a:lnTo>
                      <a:pt x="4572000" y="2552700"/>
                    </a:lnTo>
                    <a:cubicBezTo>
                      <a:pt x="4572000" y="2615826"/>
                      <a:pt x="4520826" y="2667000"/>
                      <a:pt x="4457700" y="2667000"/>
                    </a:cubicBezTo>
                    <a:lnTo>
                      <a:pt x="114300" y="2667000"/>
                    </a:lnTo>
                    <a:cubicBezTo>
                      <a:pt x="51174" y="2667000"/>
                      <a:pt x="0" y="2615826"/>
                      <a:pt x="0" y="2552700"/>
                    </a:cubicBezTo>
                    <a:lnTo>
                      <a:pt x="0" y="114300"/>
                    </a:lnTo>
                    <a:cubicBezTo>
                      <a:pt x="0" y="51174"/>
                      <a:pt x="51174" y="0"/>
                      <a:pt x="11430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>
                <a:solidFill>
                  <a:schemeClr val="accent4"/>
                </a:solidFill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1951299" y="3032760"/>
                <a:ext cx="1812402" cy="13906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7200" b="1" dirty="0">
                    <a:solidFill>
                      <a:schemeClr val="accent1"/>
                    </a:solidFill>
                    <a:latin typeface="+mj-lt"/>
                    <a:ea typeface="+mj-ea"/>
                    <a:cs typeface="+mj-cs"/>
                  </a:rPr>
                  <a:t>10+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2244090" y="4124325"/>
                <a:ext cx="122682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营销数据系统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2216086" y="4649152"/>
                <a:ext cx="128282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洞察滞后于决策需求</a:t>
                </a:r>
              </a:p>
            </p:txBody>
          </p:sp>
          <p:sp>
            <p:nvSpPr>
              <p:cNvPr id="13" name="Freeform 13"/>
              <p:cNvSpPr/>
              <p:nvPr/>
            </p:nvSpPr>
            <p:spPr>
              <a:xfrm>
                <a:off x="571500" y="5429250"/>
                <a:ext cx="45720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4572000" h="38100">
                    <a:moveTo>
                      <a:pt x="19050" y="0"/>
                    </a:moveTo>
                    <a:lnTo>
                      <a:pt x="4552950" y="0"/>
                    </a:lnTo>
                    <a:cubicBezTo>
                      <a:pt x="4563471" y="0"/>
                      <a:pt x="4572000" y="8529"/>
                      <a:pt x="4572000" y="19050"/>
                    </a:cubicBezTo>
                    <a:lnTo>
                      <a:pt x="4572000" y="19050"/>
                    </a:lnTo>
                    <a:cubicBezTo>
                      <a:pt x="4572000" y="29571"/>
                      <a:pt x="4563471" y="38100"/>
                      <a:pt x="4552950" y="38100"/>
                    </a:cubicBezTo>
                    <a:lnTo>
                      <a:pt x="19050" y="38100"/>
                    </a:lnTo>
                    <a:cubicBezTo>
                      <a:pt x="8529" y="38100"/>
                      <a:pt x="0" y="29571"/>
                      <a:pt x="0" y="19050"/>
                    </a:cubicBezTo>
                    <a:lnTo>
                      <a:pt x="0" y="19050"/>
                    </a:lnTo>
                    <a:cubicBezTo>
                      <a:pt x="0" y="8529"/>
                      <a:pt x="8529" y="0"/>
                      <a:pt x="1905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2700000" scaled="1"/>
              </a:gradFill>
              <a:ln>
                <a:noFill/>
              </a:ln>
            </p:spPr>
          </p:sp>
        </p:grpSp>
        <p:grpSp>
          <p:nvGrpSpPr>
            <p:cNvPr id="36" name="Group 36"/>
            <p:cNvGrpSpPr/>
            <p:nvPr/>
          </p:nvGrpSpPr>
          <p:grpSpPr>
            <a:xfrm>
              <a:off x="5715000" y="1238250"/>
              <a:ext cx="5334000" cy="4572000"/>
              <a:chOff x="5715000" y="1238250"/>
              <a:chExt cx="5334000" cy="45720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5715000" y="1238250"/>
                <a:ext cx="5334000" cy="4572000"/>
              </a:xfrm>
              <a:custGeom>
                <a:avLst/>
                <a:gdLst/>
                <a:ahLst/>
                <a:cxnLst/>
                <a:rect l="l" t="t" r="r" b="b"/>
                <a:pathLst>
                  <a:path w="5334000" h="4572000">
                    <a:moveTo>
                      <a:pt x="114300" y="0"/>
                    </a:moveTo>
                    <a:lnTo>
                      <a:pt x="5219700" y="0"/>
                    </a:lnTo>
                    <a:cubicBezTo>
                      <a:pt x="5282826" y="0"/>
                      <a:pt x="5334000" y="51174"/>
                      <a:pt x="5334000" y="114300"/>
                    </a:cubicBezTo>
                    <a:lnTo>
                      <a:pt x="5334000" y="4457700"/>
                    </a:lnTo>
                    <a:cubicBezTo>
                      <a:pt x="5334000" y="4520826"/>
                      <a:pt x="5282826" y="4572000"/>
                      <a:pt x="5219700" y="4572000"/>
                    </a:cubicBezTo>
                    <a:lnTo>
                      <a:pt x="114300" y="4572000"/>
                    </a:lnTo>
                    <a:cubicBezTo>
                      <a:pt x="51174" y="4572000"/>
                      <a:pt x="0" y="4520826"/>
                      <a:pt x="0" y="4457700"/>
                    </a:cubicBezTo>
                    <a:lnTo>
                      <a:pt x="0" y="114300"/>
                    </a:lnTo>
                    <a:cubicBezTo>
                      <a:pt x="0" y="51174"/>
                      <a:pt x="51174" y="0"/>
                      <a:pt x="11430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>
                <a:solidFill>
                  <a:schemeClr val="accent4"/>
                </a:solidFill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6090666" y="1553528"/>
                <a:ext cx="60434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核心洞察</a:t>
                </a:r>
              </a:p>
            </p:txBody>
          </p:sp>
          <p:grpSp>
            <p:nvGrpSpPr>
              <p:cNvPr id="22" name="Group 22"/>
              <p:cNvGrpSpPr/>
              <p:nvPr/>
            </p:nvGrpSpPr>
            <p:grpSpPr>
              <a:xfrm>
                <a:off x="6038850" y="2134552"/>
                <a:ext cx="2288667" cy="943166"/>
                <a:chOff x="6038850" y="2134552"/>
                <a:chExt cx="2288667" cy="943166"/>
              </a:xfrm>
            </p:grpSpPr>
            <p:sp>
              <p:nvSpPr>
                <p:cNvPr id="17" name="Ellipse 17"/>
                <p:cNvSpPr/>
                <p:nvPr/>
              </p:nvSpPr>
              <p:spPr>
                <a:xfrm>
                  <a:off x="6038850" y="2228850"/>
                  <a:ext cx="114300" cy="1143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18" name="TextBox 18"/>
                <p:cNvSpPr txBox="1"/>
                <p:nvPr/>
              </p:nvSpPr>
              <p:spPr>
                <a:xfrm>
                  <a:off x="6281166" y="2134552"/>
                  <a:ext cx="604342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决策滞后</a:t>
                  </a:r>
                </a:p>
              </p:txBody>
            </p:sp>
            <p:sp>
              <p:nvSpPr>
                <p:cNvPr id="19" name="TextBox 19"/>
                <p:cNvSpPr txBox="1"/>
                <p:nvPr/>
              </p:nvSpPr>
              <p:spPr>
                <a:xfrm>
                  <a:off x="6089142" y="2330768"/>
                  <a:ext cx="1467612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35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营销决策平均滞后</a:t>
                  </a:r>
                </a:p>
              </p:txBody>
            </p:sp>
            <p:sp>
              <p:nvSpPr>
                <p:cNvPr id="20" name="TextBox 20"/>
                <p:cNvSpPr txBox="1"/>
                <p:nvPr/>
              </p:nvSpPr>
              <p:spPr>
                <a:xfrm>
                  <a:off x="6077712" y="2373630"/>
                  <a:ext cx="869960" cy="7040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3600" b="1" dirty="0">
                      <a:solidFill>
                        <a:schemeClr val="accent1"/>
                      </a:solidFill>
                      <a:latin typeface="+mj-lt"/>
                      <a:ea typeface="+mj-ea"/>
                      <a:cs typeface="+mj-cs"/>
                    </a:rPr>
                    <a:t>3天</a:t>
                  </a:r>
                </a:p>
              </p:txBody>
            </p:sp>
            <p:sp>
              <p:nvSpPr>
                <p:cNvPr id="21" name="TextBox 21"/>
                <p:cNvSpPr txBox="1"/>
                <p:nvPr/>
              </p:nvSpPr>
              <p:spPr>
                <a:xfrm>
                  <a:off x="7041642" y="2616518"/>
                  <a:ext cx="1285875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35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，错失关键窗口</a:t>
                  </a:r>
                </a:p>
              </p:txBody>
            </p:sp>
          </p:grpSp>
          <p:sp>
            <p:nvSpPr>
              <p:cNvPr id="23" name="Line 23"/>
              <p:cNvSpPr/>
              <p:nvPr/>
            </p:nvSpPr>
            <p:spPr>
              <a:xfrm>
                <a:off x="6096000" y="3048000"/>
                <a:ext cx="4572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572000" h="9525">
                    <a:moveTo>
                      <a:pt x="0" y="0"/>
                    </a:moveTo>
                    <a:lnTo>
                      <a:pt x="457200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  <p:grpSp>
            <p:nvGrpSpPr>
              <p:cNvPr id="28" name="Group 28"/>
              <p:cNvGrpSpPr/>
              <p:nvPr/>
            </p:nvGrpSpPr>
            <p:grpSpPr>
              <a:xfrm>
                <a:off x="6038850" y="3468052"/>
                <a:ext cx="2099462" cy="943166"/>
                <a:chOff x="6038850" y="3468052"/>
                <a:chExt cx="2099462" cy="943166"/>
              </a:xfrm>
            </p:grpSpPr>
            <p:sp>
              <p:nvSpPr>
                <p:cNvPr id="24" name="Ellipse 24"/>
                <p:cNvSpPr/>
                <p:nvPr/>
              </p:nvSpPr>
              <p:spPr>
                <a:xfrm>
                  <a:off x="6038850" y="3562350"/>
                  <a:ext cx="114300" cy="114300"/>
                </a:xfrm>
                <a:prstGeom prst="ellipse">
                  <a:avLst/>
                </a:prstGeom>
                <a:solidFill>
                  <a:srgbClr val="C53030"/>
                </a:solidFill>
                <a:ln>
                  <a:noFill/>
                </a:ln>
              </p:spPr>
            </p:sp>
            <p:sp>
              <p:nvSpPr>
                <p:cNvPr id="25" name="TextBox 25"/>
                <p:cNvSpPr txBox="1"/>
                <p:nvPr/>
              </p:nvSpPr>
              <p:spPr>
                <a:xfrm>
                  <a:off x="6281166" y="3468052"/>
                  <a:ext cx="575219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ROI损失</a:t>
                  </a:r>
                </a:p>
              </p:txBody>
            </p:sp>
            <p:sp>
              <p:nvSpPr>
                <p:cNvPr id="26" name="TextBox 26"/>
                <p:cNvSpPr txBox="1"/>
                <p:nvPr/>
              </p:nvSpPr>
              <p:spPr>
                <a:xfrm>
                  <a:off x="6089142" y="3664268"/>
                  <a:ext cx="2049170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35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手工执行使ROI至少损失</a:t>
                  </a:r>
                </a:p>
              </p:txBody>
            </p:sp>
            <p:sp>
              <p:nvSpPr>
                <p:cNvPr id="27" name="TextBox 27"/>
                <p:cNvSpPr txBox="1"/>
                <p:nvPr/>
              </p:nvSpPr>
              <p:spPr>
                <a:xfrm>
                  <a:off x="6077712" y="3707130"/>
                  <a:ext cx="1031260" cy="7040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3600" b="1" dirty="0">
                      <a:solidFill>
                        <a:srgbClr val="C53030"/>
                      </a:solidFill>
                      <a:latin typeface="+mj-lt"/>
                      <a:ea typeface="+mj-ea"/>
                      <a:cs typeface="+mj-cs"/>
                    </a:rPr>
                    <a:t>30%</a:t>
                  </a:r>
                </a:p>
              </p:txBody>
            </p:sp>
          </p:grpSp>
          <p:sp>
            <p:nvSpPr>
              <p:cNvPr id="29" name="Line 29"/>
              <p:cNvSpPr/>
              <p:nvPr/>
            </p:nvSpPr>
            <p:spPr>
              <a:xfrm>
                <a:off x="6096000" y="4381500"/>
                <a:ext cx="4572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572000" h="9525">
                    <a:moveTo>
                      <a:pt x="0" y="0"/>
                    </a:moveTo>
                    <a:lnTo>
                      <a:pt x="457200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  <p:grpSp>
            <p:nvGrpSpPr>
              <p:cNvPr id="35" name="Group 35"/>
              <p:cNvGrpSpPr/>
              <p:nvPr/>
            </p:nvGrpSpPr>
            <p:grpSpPr>
              <a:xfrm>
                <a:off x="6038850" y="4801552"/>
                <a:ext cx="2682240" cy="859346"/>
                <a:chOff x="6038850" y="4801552"/>
                <a:chExt cx="2682240" cy="859346"/>
              </a:xfrm>
            </p:grpSpPr>
            <p:sp>
              <p:nvSpPr>
                <p:cNvPr id="30" name="Ellipse 30"/>
                <p:cNvSpPr/>
                <p:nvPr/>
              </p:nvSpPr>
              <p:spPr>
                <a:xfrm>
                  <a:off x="6038850" y="4895850"/>
                  <a:ext cx="114300" cy="114300"/>
                </a:xfrm>
                <a:prstGeom prst="ellipse">
                  <a:avLst/>
                </a:prstGeom>
                <a:solidFill>
                  <a:srgbClr val="2F855A"/>
                </a:solidFill>
                <a:ln>
                  <a:noFill/>
                </a:ln>
              </p:spPr>
            </p:sp>
            <p:sp>
              <p:nvSpPr>
                <p:cNvPr id="31" name="TextBox 31"/>
                <p:cNvSpPr txBox="1"/>
                <p:nvPr/>
              </p:nvSpPr>
              <p:spPr>
                <a:xfrm>
                  <a:off x="6281166" y="4801552"/>
                  <a:ext cx="455924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唯一解</a:t>
                  </a:r>
                </a:p>
              </p:txBody>
            </p:sp>
            <p:sp>
              <p:nvSpPr>
                <p:cNvPr id="32" name="TextBox 32"/>
                <p:cNvSpPr txBox="1"/>
                <p:nvPr/>
              </p:nvSpPr>
              <p:spPr>
                <a:xfrm>
                  <a:off x="6088380" y="5029200"/>
                  <a:ext cx="1024890" cy="2933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5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一个统一的</a:t>
                  </a:r>
                </a:p>
              </p:txBody>
            </p:sp>
            <p:sp>
              <p:nvSpPr>
                <p:cNvPr id="33" name="TextBox 33"/>
                <p:cNvSpPr txBox="1"/>
                <p:nvPr/>
              </p:nvSpPr>
              <p:spPr>
                <a:xfrm>
                  <a:off x="6085332" y="5250180"/>
                  <a:ext cx="1487599" cy="41071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2100" b="1" dirty="0">
                      <a:solidFill>
                        <a:srgbClr val="2F855A"/>
                      </a:solidFill>
                      <a:latin typeface="+mj-lt"/>
                      <a:ea typeface="+mj-ea"/>
                      <a:cs typeface="+mj-cs"/>
                    </a:rPr>
                    <a:t>AI工作台</a:t>
                  </a:r>
                </a:p>
              </p:txBody>
            </p:sp>
            <p:sp>
              <p:nvSpPr>
                <p:cNvPr id="34" name="TextBox 34"/>
                <p:cNvSpPr txBox="1"/>
                <p:nvPr/>
              </p:nvSpPr>
              <p:spPr>
                <a:xfrm>
                  <a:off x="7898130" y="5314950"/>
                  <a:ext cx="822960" cy="2933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5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是唯一解</a:t>
                  </a:r>
                </a:p>
              </p:txBody>
            </p:sp>
          </p:grpSp>
        </p:grpSp>
      </p:grpSp>
      <p:grpSp>
        <p:nvGrpSpPr>
          <p:cNvPr id="39" name="Group 39"/>
          <p:cNvGrpSpPr/>
          <p:nvPr/>
        </p:nvGrpSpPr>
        <p:grpSpPr>
          <a:xfrm>
            <a:off x="11021558" y="6768941"/>
            <a:ext cx="603704" cy="161925"/>
            <a:chOff x="11021558" y="6768941"/>
            <a:chExt cx="603704" cy="161925"/>
          </a:xfrm>
        </p:grpSpPr>
        <p:sp>
          <p:nvSpPr>
            <p:cNvPr id="38" name="TextBox 38"/>
            <p:cNvSpPr txBox="1"/>
            <p:nvPr/>
          </p:nvSpPr>
          <p:spPr>
            <a:xfrm>
              <a:off x="11021558" y="6768941"/>
              <a:ext cx="60370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Page 3 of 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2">
                <a:alpha val="30000"/>
              </a:schemeClr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71500" y="904875"/>
            <a:ext cx="11049000" cy="19050"/>
            <a:chOff x="571500" y="904875"/>
            <a:chExt cx="11049000" cy="19050"/>
          </a:xfrm>
        </p:grpSpPr>
        <p:sp>
          <p:nvSpPr>
            <p:cNvPr id="5" name="Line 5"/>
            <p:cNvSpPr/>
            <p:nvPr/>
          </p:nvSpPr>
          <p:spPr>
            <a:xfrm>
              <a:off x="571500" y="904875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571500" y="9144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</p:grpSp>
      <p:grpSp>
        <p:nvGrpSpPr>
          <p:cNvPr id="99" name="Group 99"/>
          <p:cNvGrpSpPr/>
          <p:nvPr/>
        </p:nvGrpSpPr>
        <p:grpSpPr>
          <a:xfrm>
            <a:off x="557784" y="343852"/>
            <a:ext cx="11062716" cy="5942648"/>
            <a:chOff x="557784" y="343852"/>
            <a:chExt cx="11062716" cy="5942648"/>
          </a:xfrm>
        </p:grpSpPr>
        <p:sp>
          <p:nvSpPr>
            <p:cNvPr id="8" name="TextBox 8"/>
            <p:cNvSpPr txBox="1"/>
            <p:nvPr/>
          </p:nvSpPr>
          <p:spPr>
            <a:xfrm>
              <a:off x="566166" y="343852"/>
              <a:ext cx="6649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系统比较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57784" y="432435"/>
              <a:ext cx="3253435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现状与平台化转型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63880" y="1076325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四大能力维度的现状对比与未来模式</a:t>
              </a:r>
            </a:p>
          </p:txBody>
        </p:sp>
        <p:grpSp>
          <p:nvGrpSpPr>
            <p:cNvPr id="84" name="Group 84"/>
            <p:cNvGrpSpPr/>
            <p:nvPr/>
          </p:nvGrpSpPr>
          <p:grpSpPr>
            <a:xfrm>
              <a:off x="571500" y="1619250"/>
              <a:ext cx="11049000" cy="1905000"/>
              <a:chOff x="571500" y="1619250"/>
              <a:chExt cx="11049000" cy="1905000"/>
            </a:xfrm>
          </p:grpSpPr>
          <p:grpSp>
            <p:nvGrpSpPr>
              <p:cNvPr id="28" name="Group 28"/>
              <p:cNvGrpSpPr/>
              <p:nvPr/>
            </p:nvGrpSpPr>
            <p:grpSpPr>
              <a:xfrm>
                <a:off x="571500" y="1619250"/>
                <a:ext cx="2619375" cy="1905000"/>
                <a:chOff x="571500" y="1619250"/>
                <a:chExt cx="2619375" cy="1905000"/>
              </a:xfrm>
            </p:grpSpPr>
            <p:sp>
              <p:nvSpPr>
                <p:cNvPr id="11" name="Freeform 11"/>
                <p:cNvSpPr/>
                <p:nvPr/>
              </p:nvSpPr>
              <p:spPr>
                <a:xfrm>
                  <a:off x="571500" y="1619250"/>
                  <a:ext cx="2619375" cy="1905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19375" h="1905000">
                      <a:moveTo>
                        <a:pt x="76200" y="0"/>
                      </a:moveTo>
                      <a:lnTo>
                        <a:pt x="2543175" y="0"/>
                      </a:lnTo>
                      <a:cubicBezTo>
                        <a:pt x="2585259" y="0"/>
                        <a:pt x="2619375" y="34116"/>
                        <a:pt x="2619375" y="76200"/>
                      </a:cubicBezTo>
                      <a:lnTo>
                        <a:pt x="2619375" y="1828800"/>
                      </a:lnTo>
                      <a:cubicBezTo>
                        <a:pt x="2619375" y="1870884"/>
                        <a:pt x="2585259" y="1905000"/>
                        <a:pt x="2543175" y="1905000"/>
                      </a:cubicBezTo>
                      <a:lnTo>
                        <a:pt x="76200" y="1905000"/>
                      </a:lnTo>
                      <a:cubicBezTo>
                        <a:pt x="34116" y="1905000"/>
                        <a:pt x="0" y="1870884"/>
                        <a:pt x="0" y="1828800"/>
                      </a:cubicBezTo>
                      <a:lnTo>
                        <a:pt x="0" y="76200"/>
                      </a:lnTo>
                      <a:cubicBezTo>
                        <a:pt x="0" y="34116"/>
                        <a:pt x="34116" y="0"/>
                        <a:pt x="7620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9525">
                  <a:solidFill>
                    <a:schemeClr val="accent4"/>
                  </a:solidFill>
                </a:ln>
              </p:spPr>
            </p:sp>
            <p:sp>
              <p:nvSpPr>
                <p:cNvPr id="12" name="Freeform 12"/>
                <p:cNvSpPr/>
                <p:nvPr/>
              </p:nvSpPr>
              <p:spPr>
                <a:xfrm>
                  <a:off x="571500" y="1619250"/>
                  <a:ext cx="2619375" cy="476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19375" h="476250">
                      <a:moveTo>
                        <a:pt x="76200" y="0"/>
                      </a:moveTo>
                      <a:lnTo>
                        <a:pt x="2543175" y="0"/>
                      </a:lnTo>
                      <a:cubicBezTo>
                        <a:pt x="2585259" y="0"/>
                        <a:pt x="2619375" y="34116"/>
                        <a:pt x="2619375" y="76200"/>
                      </a:cubicBezTo>
                      <a:lnTo>
                        <a:pt x="2619375" y="400050"/>
                      </a:lnTo>
                      <a:cubicBezTo>
                        <a:pt x="2619375" y="442134"/>
                        <a:pt x="2585259" y="476250"/>
                        <a:pt x="2543175" y="476250"/>
                      </a:cubicBezTo>
                      <a:lnTo>
                        <a:pt x="76200" y="476250"/>
                      </a:lnTo>
                      <a:cubicBezTo>
                        <a:pt x="34116" y="476250"/>
                        <a:pt x="0" y="442134"/>
                        <a:pt x="0" y="400050"/>
                      </a:cubicBezTo>
                      <a:lnTo>
                        <a:pt x="0" y="76200"/>
                      </a:lnTo>
                      <a:cubicBezTo>
                        <a:pt x="0" y="34116"/>
                        <a:pt x="34116" y="0"/>
                        <a:pt x="7620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13" name="Rectangle 13"/>
                <p:cNvSpPr/>
                <p:nvPr/>
              </p:nvSpPr>
              <p:spPr>
                <a:xfrm>
                  <a:off x="571500" y="2000250"/>
                  <a:ext cx="2619375" cy="142875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14" name="Ellipse 14"/>
                <p:cNvSpPr/>
                <p:nvPr/>
              </p:nvSpPr>
              <p:spPr>
                <a:xfrm>
                  <a:off x="771525" y="1724025"/>
                  <a:ext cx="266700" cy="2667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15" name="Freeform 15"/>
                <p:cNvSpPr/>
                <p:nvPr/>
              </p:nvSpPr>
              <p:spPr>
                <a:xfrm>
                  <a:off x="838200" y="1809750"/>
                  <a:ext cx="133350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95250">
                      <a:moveTo>
                        <a:pt x="19050" y="47625"/>
                      </a:moveTo>
                      <a:lnTo>
                        <a:pt x="114300" y="47625"/>
                      </a:lnTo>
                      <a:moveTo>
                        <a:pt x="66675" y="0"/>
                      </a:moveTo>
                      <a:lnTo>
                        <a:pt x="66675" y="95250"/>
                      </a:lnTo>
                      <a:moveTo>
                        <a:pt x="0" y="19050"/>
                      </a:moveTo>
                      <a:lnTo>
                        <a:pt x="38100" y="57150"/>
                      </a:lnTo>
                      <a:moveTo>
                        <a:pt x="95250" y="19050"/>
                      </a:moveTo>
                      <a:lnTo>
                        <a:pt x="133350" y="57150"/>
                      </a:lnTo>
                    </a:path>
                  </a:pathLst>
                </a:custGeom>
                <a:noFill/>
                <a:ln w="19050" cap="rnd">
                  <a:solidFill>
                    <a:srgbClr val="FFFFFF"/>
                  </a:solidFill>
                </a:ln>
              </p:spPr>
            </p:sp>
            <p:sp>
              <p:nvSpPr>
                <p:cNvPr id="16" name="TextBox 16"/>
                <p:cNvSpPr txBox="1"/>
                <p:nvPr/>
              </p:nvSpPr>
              <p:spPr>
                <a:xfrm>
                  <a:off x="1088517" y="1759268"/>
                  <a:ext cx="777011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350" b="1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数据整合</a:t>
                  </a:r>
                </a:p>
              </p:txBody>
            </p:sp>
            <p:sp>
              <p:nvSpPr>
                <p:cNvPr id="17" name="Freeform 17"/>
                <p:cNvSpPr/>
                <p:nvPr/>
              </p:nvSpPr>
              <p:spPr>
                <a:xfrm>
                  <a:off x="714375" y="2238375"/>
                  <a:ext cx="1095375" cy="1143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5375" h="1143000">
                      <a:moveTo>
                        <a:pt x="57150" y="0"/>
                      </a:moveTo>
                      <a:lnTo>
                        <a:pt x="1038225" y="0"/>
                      </a:lnTo>
                      <a:cubicBezTo>
                        <a:pt x="1069788" y="0"/>
                        <a:pt x="1095375" y="25587"/>
                        <a:pt x="1095375" y="57150"/>
                      </a:cubicBezTo>
                      <a:lnTo>
                        <a:pt x="1095375" y="1085850"/>
                      </a:lnTo>
                      <a:cubicBezTo>
                        <a:pt x="1095375" y="1117413"/>
                        <a:pt x="1069788" y="1143000"/>
                        <a:pt x="1038225" y="1143000"/>
                      </a:cubicBezTo>
                      <a:lnTo>
                        <a:pt x="57150" y="1143000"/>
                      </a:lnTo>
                      <a:cubicBezTo>
                        <a:pt x="25587" y="1143000"/>
                        <a:pt x="0" y="1117413"/>
                        <a:pt x="0" y="1085850"/>
                      </a:cubicBezTo>
                      <a:lnTo>
                        <a:pt x="0" y="57150"/>
                      </a:lnTo>
                      <a:cubicBezTo>
                        <a:pt x="0" y="25587"/>
                        <a:pt x="25587" y="0"/>
                        <a:pt x="57150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</p:sp>
            <p:sp>
              <p:nvSpPr>
                <p:cNvPr id="18" name="TextBox 18"/>
                <p:cNvSpPr txBox="1"/>
                <p:nvPr/>
              </p:nvSpPr>
              <p:spPr>
                <a:xfrm>
                  <a:off x="1131380" y="2379345"/>
                  <a:ext cx="251841" cy="1762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90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现状</a:t>
                  </a:r>
                </a:p>
              </p:txBody>
            </p:sp>
            <p:sp>
              <p:nvSpPr>
                <p:cNvPr id="19" name="Line 19"/>
                <p:cNvSpPr/>
                <p:nvPr/>
              </p:nvSpPr>
              <p:spPr>
                <a:xfrm>
                  <a:off x="904875" y="2571750"/>
                  <a:ext cx="71437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4375" h="9525">
                      <a:moveTo>
                        <a:pt x="0" y="0"/>
                      </a:moveTo>
                      <a:lnTo>
                        <a:pt x="714375" y="0"/>
                      </a:lnTo>
                    </a:path>
                  </a:pathLst>
                </a:custGeom>
                <a:noFill/>
                <a:ln w="9525">
                  <a:solidFill>
                    <a:schemeClr val="accent4"/>
                  </a:solidFill>
                </a:ln>
              </p:spPr>
            </p:sp>
            <p:sp>
              <p:nvSpPr>
                <p:cNvPr id="20" name="TextBox 20"/>
                <p:cNvSpPr txBox="1"/>
                <p:nvPr/>
              </p:nvSpPr>
              <p:spPr>
                <a:xfrm>
                  <a:off x="979399" y="2696528"/>
                  <a:ext cx="555803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05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手动ETL</a:t>
                  </a:r>
                </a:p>
              </p:txBody>
            </p:sp>
            <p:sp>
              <p:nvSpPr>
                <p:cNvPr id="21" name="TextBox 21"/>
                <p:cNvSpPr txBox="1"/>
                <p:nvPr/>
              </p:nvSpPr>
              <p:spPr>
                <a:xfrm>
                  <a:off x="1110615" y="2915602"/>
                  <a:ext cx="293370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05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拼接</a:t>
                  </a:r>
                </a:p>
              </p:txBody>
            </p:sp>
            <p:sp>
              <p:nvSpPr>
                <p:cNvPr id="22" name="Freeform 22"/>
                <p:cNvSpPr/>
                <p:nvPr/>
              </p:nvSpPr>
              <p:spPr>
                <a:xfrm>
                  <a:off x="1905000" y="2762250"/>
                  <a:ext cx="142875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95250">
                      <a:moveTo>
                        <a:pt x="0" y="47625"/>
                      </a:moveTo>
                      <a:lnTo>
                        <a:pt x="142875" y="47625"/>
                      </a:lnTo>
                      <a:moveTo>
                        <a:pt x="95250" y="0"/>
                      </a:moveTo>
                      <a:lnTo>
                        <a:pt x="142875" y="47625"/>
                      </a:lnTo>
                      <a:lnTo>
                        <a:pt x="95250" y="95250"/>
                      </a:lnTo>
                    </a:path>
                  </a:pathLst>
                </a:custGeom>
                <a:noFill/>
                <a:ln w="19050" cap="rnd">
                  <a:solidFill>
                    <a:schemeClr val="accent2"/>
                  </a:solidFill>
                  <a:round/>
                </a:ln>
              </p:spPr>
            </p:sp>
            <p:sp>
              <p:nvSpPr>
                <p:cNvPr id="23" name="Freeform 23"/>
                <p:cNvSpPr/>
                <p:nvPr/>
              </p:nvSpPr>
              <p:spPr>
                <a:xfrm>
                  <a:off x="2143125" y="2238375"/>
                  <a:ext cx="904875" cy="1143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4875" h="1143000">
                      <a:moveTo>
                        <a:pt x="57150" y="0"/>
                      </a:moveTo>
                      <a:lnTo>
                        <a:pt x="847725" y="0"/>
                      </a:lnTo>
                      <a:cubicBezTo>
                        <a:pt x="879288" y="0"/>
                        <a:pt x="904875" y="25587"/>
                        <a:pt x="904875" y="57150"/>
                      </a:cubicBezTo>
                      <a:lnTo>
                        <a:pt x="904875" y="1085850"/>
                      </a:lnTo>
                      <a:cubicBezTo>
                        <a:pt x="904875" y="1117413"/>
                        <a:pt x="879288" y="1143000"/>
                        <a:pt x="847725" y="1143000"/>
                      </a:cubicBezTo>
                      <a:lnTo>
                        <a:pt x="57150" y="1143000"/>
                      </a:lnTo>
                      <a:cubicBezTo>
                        <a:pt x="25587" y="1143000"/>
                        <a:pt x="0" y="1117413"/>
                        <a:pt x="0" y="1085850"/>
                      </a:cubicBezTo>
                      <a:lnTo>
                        <a:pt x="0" y="57150"/>
                      </a:lnTo>
                      <a:cubicBezTo>
                        <a:pt x="0" y="25587"/>
                        <a:pt x="25587" y="0"/>
                        <a:pt x="57150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</p:sp>
            <p:sp>
              <p:nvSpPr>
                <p:cNvPr id="24" name="TextBox 24"/>
                <p:cNvSpPr txBox="1"/>
                <p:nvPr/>
              </p:nvSpPr>
              <p:spPr>
                <a:xfrm>
                  <a:off x="2343722" y="2379345"/>
                  <a:ext cx="494157" cy="1762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900" dirty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rPr>
                    <a:t>平台模式</a:t>
                  </a:r>
                </a:p>
              </p:txBody>
            </p:sp>
            <p:sp>
              <p:nvSpPr>
                <p:cNvPr id="25" name="Line 25"/>
                <p:cNvSpPr/>
                <p:nvPr/>
              </p:nvSpPr>
              <p:spPr>
                <a:xfrm>
                  <a:off x="2333625" y="2571750"/>
                  <a:ext cx="52387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3875" h="9525">
                      <a:moveTo>
                        <a:pt x="0" y="0"/>
                      </a:moveTo>
                      <a:lnTo>
                        <a:pt x="523875" y="0"/>
                      </a:lnTo>
                    </a:path>
                  </a:pathLst>
                </a:custGeom>
                <a:noFill/>
                <a:ln w="9525">
                  <a:solidFill>
                    <a:schemeClr val="accent2"/>
                  </a:solidFill>
                </a:ln>
              </p:spPr>
            </p:sp>
            <p:sp>
              <p:nvSpPr>
                <p:cNvPr id="26" name="TextBox 26"/>
                <p:cNvSpPr txBox="1"/>
                <p:nvPr/>
              </p:nvSpPr>
              <p:spPr>
                <a:xfrm>
                  <a:off x="2232088" y="2696528"/>
                  <a:ext cx="717423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050" dirty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rPr>
                    <a:t>自适应多源</a:t>
                  </a:r>
                </a:p>
              </p:txBody>
            </p:sp>
            <p:sp>
              <p:nvSpPr>
                <p:cNvPr id="27" name="TextBox 27"/>
                <p:cNvSpPr txBox="1"/>
                <p:nvPr/>
              </p:nvSpPr>
              <p:spPr>
                <a:xfrm>
                  <a:off x="2302764" y="2915602"/>
                  <a:ext cx="576072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050" dirty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rPr>
                    <a:t>实时整合</a:t>
                  </a:r>
                </a:p>
              </p:txBody>
            </p:sp>
          </p:grpSp>
          <p:grpSp>
            <p:nvGrpSpPr>
              <p:cNvPr id="47" name="Group 47"/>
              <p:cNvGrpSpPr/>
              <p:nvPr/>
            </p:nvGrpSpPr>
            <p:grpSpPr>
              <a:xfrm>
                <a:off x="3381375" y="1619250"/>
                <a:ext cx="2619375" cy="1905000"/>
                <a:chOff x="3381375" y="1619250"/>
                <a:chExt cx="2619375" cy="1905000"/>
              </a:xfrm>
            </p:grpSpPr>
            <p:sp>
              <p:nvSpPr>
                <p:cNvPr id="29" name="Freeform 29"/>
                <p:cNvSpPr/>
                <p:nvPr/>
              </p:nvSpPr>
              <p:spPr>
                <a:xfrm>
                  <a:off x="3381375" y="1619250"/>
                  <a:ext cx="2619375" cy="1905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19375" h="1905000">
                      <a:moveTo>
                        <a:pt x="76200" y="0"/>
                      </a:moveTo>
                      <a:lnTo>
                        <a:pt x="2543175" y="0"/>
                      </a:lnTo>
                      <a:cubicBezTo>
                        <a:pt x="2585259" y="0"/>
                        <a:pt x="2619375" y="34116"/>
                        <a:pt x="2619375" y="76200"/>
                      </a:cubicBezTo>
                      <a:lnTo>
                        <a:pt x="2619375" y="1828800"/>
                      </a:lnTo>
                      <a:cubicBezTo>
                        <a:pt x="2619375" y="1870884"/>
                        <a:pt x="2585259" y="1905000"/>
                        <a:pt x="2543175" y="1905000"/>
                      </a:cubicBezTo>
                      <a:lnTo>
                        <a:pt x="76200" y="1905000"/>
                      </a:lnTo>
                      <a:cubicBezTo>
                        <a:pt x="34116" y="1905000"/>
                        <a:pt x="0" y="1870884"/>
                        <a:pt x="0" y="1828800"/>
                      </a:cubicBezTo>
                      <a:lnTo>
                        <a:pt x="0" y="76200"/>
                      </a:lnTo>
                      <a:cubicBezTo>
                        <a:pt x="0" y="34116"/>
                        <a:pt x="34116" y="0"/>
                        <a:pt x="7620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9525">
                  <a:solidFill>
                    <a:schemeClr val="accent4"/>
                  </a:solidFill>
                </a:ln>
              </p:spPr>
            </p:sp>
            <p:sp>
              <p:nvSpPr>
                <p:cNvPr id="30" name="Freeform 30"/>
                <p:cNvSpPr/>
                <p:nvPr/>
              </p:nvSpPr>
              <p:spPr>
                <a:xfrm>
                  <a:off x="3381375" y="1619250"/>
                  <a:ext cx="2619375" cy="476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19375" h="476250">
                      <a:moveTo>
                        <a:pt x="76200" y="0"/>
                      </a:moveTo>
                      <a:lnTo>
                        <a:pt x="2543175" y="0"/>
                      </a:lnTo>
                      <a:cubicBezTo>
                        <a:pt x="2585259" y="0"/>
                        <a:pt x="2619375" y="34116"/>
                        <a:pt x="2619375" y="76200"/>
                      </a:cubicBezTo>
                      <a:lnTo>
                        <a:pt x="2619375" y="400050"/>
                      </a:lnTo>
                      <a:cubicBezTo>
                        <a:pt x="2619375" y="442134"/>
                        <a:pt x="2585259" y="476250"/>
                        <a:pt x="2543175" y="476250"/>
                      </a:cubicBezTo>
                      <a:lnTo>
                        <a:pt x="76200" y="476250"/>
                      </a:lnTo>
                      <a:cubicBezTo>
                        <a:pt x="34116" y="476250"/>
                        <a:pt x="0" y="442134"/>
                        <a:pt x="0" y="400050"/>
                      </a:cubicBezTo>
                      <a:lnTo>
                        <a:pt x="0" y="76200"/>
                      </a:lnTo>
                      <a:cubicBezTo>
                        <a:pt x="0" y="34116"/>
                        <a:pt x="34116" y="0"/>
                        <a:pt x="7620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31" name="Rectangle 31"/>
                <p:cNvSpPr/>
                <p:nvPr/>
              </p:nvSpPr>
              <p:spPr>
                <a:xfrm>
                  <a:off x="3381375" y="2000250"/>
                  <a:ext cx="2619375" cy="142875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32" name="Ellipse 32"/>
                <p:cNvSpPr/>
                <p:nvPr/>
              </p:nvSpPr>
              <p:spPr>
                <a:xfrm>
                  <a:off x="3581400" y="1724025"/>
                  <a:ext cx="266700" cy="2667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33" name="Freeform 33"/>
                <p:cNvSpPr/>
                <p:nvPr/>
              </p:nvSpPr>
              <p:spPr>
                <a:xfrm>
                  <a:off x="3648075" y="1828800"/>
                  <a:ext cx="13335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76200">
                      <a:moveTo>
                        <a:pt x="0" y="76200"/>
                      </a:moveTo>
                      <a:cubicBezTo>
                        <a:pt x="44450" y="0"/>
                        <a:pt x="88900" y="0"/>
                        <a:pt x="133350" y="76200"/>
                      </a:cubicBezTo>
                      <a:moveTo>
                        <a:pt x="0" y="76200"/>
                      </a:moveTo>
                      <a:cubicBezTo>
                        <a:pt x="44450" y="25400"/>
                        <a:pt x="88900" y="25400"/>
                        <a:pt x="133350" y="76200"/>
                      </a:cubicBezTo>
                    </a:path>
                  </a:pathLst>
                </a:custGeom>
                <a:noFill/>
                <a:ln w="19050" cap="rnd">
                  <a:solidFill>
                    <a:srgbClr val="FFFFFF"/>
                  </a:solidFill>
                </a:ln>
              </p:spPr>
            </p:sp>
            <p:sp>
              <p:nvSpPr>
                <p:cNvPr id="34" name="Ellipse 34"/>
                <p:cNvSpPr/>
                <p:nvPr/>
              </p:nvSpPr>
              <p:spPr>
                <a:xfrm>
                  <a:off x="3686175" y="1828800"/>
                  <a:ext cx="57150" cy="5715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</p:sp>
            <p:sp>
              <p:nvSpPr>
                <p:cNvPr id="35" name="TextBox 35"/>
                <p:cNvSpPr txBox="1"/>
                <p:nvPr/>
              </p:nvSpPr>
              <p:spPr>
                <a:xfrm>
                  <a:off x="3898392" y="1759268"/>
                  <a:ext cx="588348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350" b="1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AI分析</a:t>
                  </a:r>
                </a:p>
              </p:txBody>
            </p:sp>
            <p:sp>
              <p:nvSpPr>
                <p:cNvPr id="36" name="Freeform 36"/>
                <p:cNvSpPr/>
                <p:nvPr/>
              </p:nvSpPr>
              <p:spPr>
                <a:xfrm>
                  <a:off x="3524250" y="2238375"/>
                  <a:ext cx="1095375" cy="1143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5375" h="1143000">
                      <a:moveTo>
                        <a:pt x="57150" y="0"/>
                      </a:moveTo>
                      <a:lnTo>
                        <a:pt x="1038225" y="0"/>
                      </a:lnTo>
                      <a:cubicBezTo>
                        <a:pt x="1069788" y="0"/>
                        <a:pt x="1095375" y="25587"/>
                        <a:pt x="1095375" y="57150"/>
                      </a:cubicBezTo>
                      <a:lnTo>
                        <a:pt x="1095375" y="1085850"/>
                      </a:lnTo>
                      <a:cubicBezTo>
                        <a:pt x="1095375" y="1117413"/>
                        <a:pt x="1069788" y="1143000"/>
                        <a:pt x="1038225" y="1143000"/>
                      </a:cubicBezTo>
                      <a:lnTo>
                        <a:pt x="57150" y="1143000"/>
                      </a:lnTo>
                      <a:cubicBezTo>
                        <a:pt x="25587" y="1143000"/>
                        <a:pt x="0" y="1117413"/>
                        <a:pt x="0" y="1085850"/>
                      </a:cubicBezTo>
                      <a:lnTo>
                        <a:pt x="0" y="57150"/>
                      </a:lnTo>
                      <a:cubicBezTo>
                        <a:pt x="0" y="25587"/>
                        <a:pt x="25587" y="0"/>
                        <a:pt x="57150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</p:sp>
            <p:sp>
              <p:nvSpPr>
                <p:cNvPr id="37" name="TextBox 37"/>
                <p:cNvSpPr txBox="1"/>
                <p:nvPr/>
              </p:nvSpPr>
              <p:spPr>
                <a:xfrm>
                  <a:off x="3941254" y="2379345"/>
                  <a:ext cx="251841" cy="1762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90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现状</a:t>
                  </a:r>
                </a:p>
              </p:txBody>
            </p:sp>
            <p:sp>
              <p:nvSpPr>
                <p:cNvPr id="38" name="Line 38"/>
                <p:cNvSpPr/>
                <p:nvPr/>
              </p:nvSpPr>
              <p:spPr>
                <a:xfrm>
                  <a:off x="3714750" y="2571750"/>
                  <a:ext cx="71437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4375" h="9525">
                      <a:moveTo>
                        <a:pt x="0" y="0"/>
                      </a:moveTo>
                      <a:lnTo>
                        <a:pt x="714375" y="0"/>
                      </a:lnTo>
                    </a:path>
                  </a:pathLst>
                </a:custGeom>
                <a:noFill/>
                <a:ln w="9525">
                  <a:solidFill>
                    <a:schemeClr val="accent4"/>
                  </a:solidFill>
                </a:ln>
              </p:spPr>
            </p:sp>
            <p:sp>
              <p:nvSpPr>
                <p:cNvPr id="39" name="TextBox 39"/>
                <p:cNvSpPr txBox="1"/>
                <p:nvPr/>
              </p:nvSpPr>
              <p:spPr>
                <a:xfrm>
                  <a:off x="3779139" y="2696528"/>
                  <a:ext cx="576072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05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人工报表</a:t>
                  </a:r>
                </a:p>
              </p:txBody>
            </p:sp>
            <p:sp>
              <p:nvSpPr>
                <p:cNvPr id="40" name="TextBox 40"/>
                <p:cNvSpPr txBox="1"/>
                <p:nvPr/>
              </p:nvSpPr>
              <p:spPr>
                <a:xfrm>
                  <a:off x="3849814" y="2915602"/>
                  <a:ext cx="434721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05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与经验</a:t>
                  </a:r>
                </a:p>
              </p:txBody>
            </p:sp>
            <p:sp>
              <p:nvSpPr>
                <p:cNvPr id="41" name="Freeform 41"/>
                <p:cNvSpPr/>
                <p:nvPr/>
              </p:nvSpPr>
              <p:spPr>
                <a:xfrm>
                  <a:off x="4714875" y="2762250"/>
                  <a:ext cx="142875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95250">
                      <a:moveTo>
                        <a:pt x="0" y="47625"/>
                      </a:moveTo>
                      <a:lnTo>
                        <a:pt x="142875" y="47625"/>
                      </a:lnTo>
                      <a:moveTo>
                        <a:pt x="95250" y="0"/>
                      </a:moveTo>
                      <a:lnTo>
                        <a:pt x="142875" y="47625"/>
                      </a:lnTo>
                      <a:lnTo>
                        <a:pt x="95250" y="95250"/>
                      </a:lnTo>
                    </a:path>
                  </a:pathLst>
                </a:custGeom>
                <a:noFill/>
                <a:ln w="19050" cap="rnd">
                  <a:solidFill>
                    <a:schemeClr val="accent2"/>
                  </a:solidFill>
                  <a:round/>
                </a:ln>
              </p:spPr>
            </p:sp>
            <p:sp>
              <p:nvSpPr>
                <p:cNvPr id="42" name="Freeform 42"/>
                <p:cNvSpPr/>
                <p:nvPr/>
              </p:nvSpPr>
              <p:spPr>
                <a:xfrm>
                  <a:off x="4953000" y="2238375"/>
                  <a:ext cx="904875" cy="1143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4875" h="1143000">
                      <a:moveTo>
                        <a:pt x="57150" y="0"/>
                      </a:moveTo>
                      <a:lnTo>
                        <a:pt x="847725" y="0"/>
                      </a:lnTo>
                      <a:cubicBezTo>
                        <a:pt x="879288" y="0"/>
                        <a:pt x="904875" y="25587"/>
                        <a:pt x="904875" y="57150"/>
                      </a:cubicBezTo>
                      <a:lnTo>
                        <a:pt x="904875" y="1085850"/>
                      </a:lnTo>
                      <a:cubicBezTo>
                        <a:pt x="904875" y="1117413"/>
                        <a:pt x="879288" y="1143000"/>
                        <a:pt x="847725" y="1143000"/>
                      </a:cubicBezTo>
                      <a:lnTo>
                        <a:pt x="57150" y="1143000"/>
                      </a:lnTo>
                      <a:cubicBezTo>
                        <a:pt x="25587" y="1143000"/>
                        <a:pt x="0" y="1117413"/>
                        <a:pt x="0" y="1085850"/>
                      </a:cubicBezTo>
                      <a:lnTo>
                        <a:pt x="0" y="57150"/>
                      </a:lnTo>
                      <a:cubicBezTo>
                        <a:pt x="0" y="25587"/>
                        <a:pt x="25587" y="0"/>
                        <a:pt x="57150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</p:sp>
            <p:sp>
              <p:nvSpPr>
                <p:cNvPr id="43" name="TextBox 43"/>
                <p:cNvSpPr txBox="1"/>
                <p:nvPr/>
              </p:nvSpPr>
              <p:spPr>
                <a:xfrm>
                  <a:off x="5153596" y="2379345"/>
                  <a:ext cx="494157" cy="1762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900" dirty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rPr>
                    <a:t>平台模式</a:t>
                  </a:r>
                </a:p>
              </p:txBody>
            </p:sp>
            <p:sp>
              <p:nvSpPr>
                <p:cNvPr id="44" name="Line 44"/>
                <p:cNvSpPr/>
                <p:nvPr/>
              </p:nvSpPr>
              <p:spPr>
                <a:xfrm>
                  <a:off x="5143500" y="2571750"/>
                  <a:ext cx="52387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3875" h="9525">
                      <a:moveTo>
                        <a:pt x="0" y="0"/>
                      </a:moveTo>
                      <a:lnTo>
                        <a:pt x="523875" y="0"/>
                      </a:lnTo>
                    </a:path>
                  </a:pathLst>
                </a:custGeom>
                <a:noFill/>
                <a:ln w="9525">
                  <a:solidFill>
                    <a:schemeClr val="accent2"/>
                  </a:solidFill>
                </a:ln>
              </p:spPr>
            </p:sp>
            <p:sp>
              <p:nvSpPr>
                <p:cNvPr id="45" name="TextBox 45"/>
                <p:cNvSpPr txBox="1"/>
                <p:nvPr/>
              </p:nvSpPr>
              <p:spPr>
                <a:xfrm>
                  <a:off x="5112639" y="2696528"/>
                  <a:ext cx="576072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050" dirty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rPr>
                    <a:t>实时预测</a:t>
                  </a:r>
                </a:p>
              </p:txBody>
            </p:sp>
            <p:sp>
              <p:nvSpPr>
                <p:cNvPr id="46" name="TextBox 46"/>
                <p:cNvSpPr txBox="1"/>
                <p:nvPr/>
              </p:nvSpPr>
              <p:spPr>
                <a:xfrm>
                  <a:off x="5112639" y="2915602"/>
                  <a:ext cx="576072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050" dirty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rPr>
                    <a:t>异常检测</a:t>
                  </a:r>
                </a:p>
              </p:txBody>
            </p:sp>
          </p:grpSp>
          <p:grpSp>
            <p:nvGrpSpPr>
              <p:cNvPr id="65" name="Group 65"/>
              <p:cNvGrpSpPr/>
              <p:nvPr/>
            </p:nvGrpSpPr>
            <p:grpSpPr>
              <a:xfrm>
                <a:off x="6191250" y="1619250"/>
                <a:ext cx="2619375" cy="1905000"/>
                <a:chOff x="6191250" y="1619250"/>
                <a:chExt cx="2619375" cy="1905000"/>
              </a:xfrm>
            </p:grpSpPr>
            <p:sp>
              <p:nvSpPr>
                <p:cNvPr id="48" name="Freeform 48"/>
                <p:cNvSpPr/>
                <p:nvPr/>
              </p:nvSpPr>
              <p:spPr>
                <a:xfrm>
                  <a:off x="6191250" y="1619250"/>
                  <a:ext cx="2619375" cy="1905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19375" h="1905000">
                      <a:moveTo>
                        <a:pt x="76200" y="0"/>
                      </a:moveTo>
                      <a:lnTo>
                        <a:pt x="2543175" y="0"/>
                      </a:lnTo>
                      <a:cubicBezTo>
                        <a:pt x="2585259" y="0"/>
                        <a:pt x="2619375" y="34116"/>
                        <a:pt x="2619375" y="76200"/>
                      </a:cubicBezTo>
                      <a:lnTo>
                        <a:pt x="2619375" y="1828800"/>
                      </a:lnTo>
                      <a:cubicBezTo>
                        <a:pt x="2619375" y="1870884"/>
                        <a:pt x="2585259" y="1905000"/>
                        <a:pt x="2543175" y="1905000"/>
                      </a:cubicBezTo>
                      <a:lnTo>
                        <a:pt x="76200" y="1905000"/>
                      </a:lnTo>
                      <a:cubicBezTo>
                        <a:pt x="34116" y="1905000"/>
                        <a:pt x="0" y="1870884"/>
                        <a:pt x="0" y="1828800"/>
                      </a:cubicBezTo>
                      <a:lnTo>
                        <a:pt x="0" y="76200"/>
                      </a:lnTo>
                      <a:cubicBezTo>
                        <a:pt x="0" y="34116"/>
                        <a:pt x="34116" y="0"/>
                        <a:pt x="7620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9525">
                  <a:solidFill>
                    <a:schemeClr val="accent4"/>
                  </a:solidFill>
                </a:ln>
              </p:spPr>
            </p:sp>
            <p:sp>
              <p:nvSpPr>
                <p:cNvPr id="49" name="Freeform 49"/>
                <p:cNvSpPr/>
                <p:nvPr/>
              </p:nvSpPr>
              <p:spPr>
                <a:xfrm>
                  <a:off x="6191250" y="1619250"/>
                  <a:ext cx="2619375" cy="476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19375" h="476250">
                      <a:moveTo>
                        <a:pt x="76200" y="0"/>
                      </a:moveTo>
                      <a:lnTo>
                        <a:pt x="2543175" y="0"/>
                      </a:lnTo>
                      <a:cubicBezTo>
                        <a:pt x="2585259" y="0"/>
                        <a:pt x="2619375" y="34116"/>
                        <a:pt x="2619375" y="76200"/>
                      </a:cubicBezTo>
                      <a:lnTo>
                        <a:pt x="2619375" y="400050"/>
                      </a:lnTo>
                      <a:cubicBezTo>
                        <a:pt x="2619375" y="442134"/>
                        <a:pt x="2585259" y="476250"/>
                        <a:pt x="2543175" y="476250"/>
                      </a:cubicBezTo>
                      <a:lnTo>
                        <a:pt x="76200" y="476250"/>
                      </a:lnTo>
                      <a:cubicBezTo>
                        <a:pt x="34116" y="476250"/>
                        <a:pt x="0" y="442134"/>
                        <a:pt x="0" y="400050"/>
                      </a:cubicBezTo>
                      <a:lnTo>
                        <a:pt x="0" y="76200"/>
                      </a:lnTo>
                      <a:cubicBezTo>
                        <a:pt x="0" y="34116"/>
                        <a:pt x="34116" y="0"/>
                        <a:pt x="7620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50" name="Rectangle 50"/>
                <p:cNvSpPr/>
                <p:nvPr/>
              </p:nvSpPr>
              <p:spPr>
                <a:xfrm>
                  <a:off x="6191250" y="2000250"/>
                  <a:ext cx="2619375" cy="142875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51" name="Ellipse 51"/>
                <p:cNvSpPr/>
                <p:nvPr/>
              </p:nvSpPr>
              <p:spPr>
                <a:xfrm>
                  <a:off x="6391275" y="1724025"/>
                  <a:ext cx="266700" cy="2667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52" name="Freeform 52"/>
                <p:cNvSpPr/>
                <p:nvPr/>
              </p:nvSpPr>
              <p:spPr>
                <a:xfrm>
                  <a:off x="6457950" y="1809750"/>
                  <a:ext cx="133350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95250">
                      <a:moveTo>
                        <a:pt x="0" y="0"/>
                      </a:moveTo>
                      <a:lnTo>
                        <a:pt x="133350" y="0"/>
                      </a:lnTo>
                      <a:moveTo>
                        <a:pt x="19050" y="0"/>
                      </a:moveTo>
                      <a:lnTo>
                        <a:pt x="19050" y="95250"/>
                      </a:lnTo>
                      <a:moveTo>
                        <a:pt x="114300" y="0"/>
                      </a:moveTo>
                      <a:lnTo>
                        <a:pt x="114300" y="95250"/>
                      </a:lnTo>
                      <a:moveTo>
                        <a:pt x="19050" y="47625"/>
                      </a:moveTo>
                      <a:lnTo>
                        <a:pt x="114300" y="47625"/>
                      </a:lnTo>
                    </a:path>
                  </a:pathLst>
                </a:custGeom>
                <a:noFill/>
                <a:ln w="19050" cap="rnd">
                  <a:solidFill>
                    <a:srgbClr val="FFFFFF"/>
                  </a:solidFill>
                </a:ln>
              </p:spPr>
            </p:sp>
            <p:sp>
              <p:nvSpPr>
                <p:cNvPr id="53" name="TextBox 53"/>
                <p:cNvSpPr txBox="1"/>
                <p:nvPr/>
              </p:nvSpPr>
              <p:spPr>
                <a:xfrm>
                  <a:off x="6708267" y="1759268"/>
                  <a:ext cx="967835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350" b="1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自动化执行</a:t>
                  </a:r>
                </a:p>
              </p:txBody>
            </p:sp>
            <p:sp>
              <p:nvSpPr>
                <p:cNvPr id="54" name="Freeform 54"/>
                <p:cNvSpPr/>
                <p:nvPr/>
              </p:nvSpPr>
              <p:spPr>
                <a:xfrm>
                  <a:off x="6334125" y="2238375"/>
                  <a:ext cx="1095375" cy="1143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5375" h="1143000">
                      <a:moveTo>
                        <a:pt x="57150" y="0"/>
                      </a:moveTo>
                      <a:lnTo>
                        <a:pt x="1038225" y="0"/>
                      </a:lnTo>
                      <a:cubicBezTo>
                        <a:pt x="1069788" y="0"/>
                        <a:pt x="1095375" y="25587"/>
                        <a:pt x="1095375" y="57150"/>
                      </a:cubicBezTo>
                      <a:lnTo>
                        <a:pt x="1095375" y="1085850"/>
                      </a:lnTo>
                      <a:cubicBezTo>
                        <a:pt x="1095375" y="1117413"/>
                        <a:pt x="1069788" y="1143000"/>
                        <a:pt x="1038225" y="1143000"/>
                      </a:cubicBezTo>
                      <a:lnTo>
                        <a:pt x="57150" y="1143000"/>
                      </a:lnTo>
                      <a:cubicBezTo>
                        <a:pt x="25587" y="1143000"/>
                        <a:pt x="0" y="1117413"/>
                        <a:pt x="0" y="1085850"/>
                      </a:cubicBezTo>
                      <a:lnTo>
                        <a:pt x="0" y="57150"/>
                      </a:lnTo>
                      <a:cubicBezTo>
                        <a:pt x="0" y="25587"/>
                        <a:pt x="25587" y="0"/>
                        <a:pt x="57150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</p:sp>
            <p:sp>
              <p:nvSpPr>
                <p:cNvPr id="55" name="TextBox 55"/>
                <p:cNvSpPr txBox="1"/>
                <p:nvPr/>
              </p:nvSpPr>
              <p:spPr>
                <a:xfrm>
                  <a:off x="6751130" y="2379345"/>
                  <a:ext cx="251841" cy="1762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90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现状</a:t>
                  </a:r>
                </a:p>
              </p:txBody>
            </p:sp>
            <p:sp>
              <p:nvSpPr>
                <p:cNvPr id="56" name="Line 56"/>
                <p:cNvSpPr/>
                <p:nvPr/>
              </p:nvSpPr>
              <p:spPr>
                <a:xfrm>
                  <a:off x="6524625" y="2571750"/>
                  <a:ext cx="71437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4375" h="9525">
                      <a:moveTo>
                        <a:pt x="0" y="0"/>
                      </a:moveTo>
                      <a:lnTo>
                        <a:pt x="714375" y="0"/>
                      </a:lnTo>
                    </a:path>
                  </a:pathLst>
                </a:custGeom>
                <a:noFill/>
                <a:ln w="9525">
                  <a:solidFill>
                    <a:schemeClr val="accent4"/>
                  </a:solidFill>
                </a:ln>
              </p:spPr>
            </p:sp>
            <p:sp>
              <p:nvSpPr>
                <p:cNvPr id="57" name="TextBox 57"/>
                <p:cNvSpPr txBox="1"/>
                <p:nvPr/>
              </p:nvSpPr>
              <p:spPr>
                <a:xfrm>
                  <a:off x="6518338" y="2696528"/>
                  <a:ext cx="717423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05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多平台单点</a:t>
                  </a:r>
                </a:p>
              </p:txBody>
            </p:sp>
            <p:sp>
              <p:nvSpPr>
                <p:cNvPr id="58" name="TextBox 58"/>
                <p:cNvSpPr txBox="1"/>
                <p:nvPr/>
              </p:nvSpPr>
              <p:spPr>
                <a:xfrm>
                  <a:off x="6730365" y="2915602"/>
                  <a:ext cx="293370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05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操作</a:t>
                  </a:r>
                </a:p>
              </p:txBody>
            </p:sp>
            <p:sp>
              <p:nvSpPr>
                <p:cNvPr id="59" name="Freeform 59"/>
                <p:cNvSpPr/>
                <p:nvPr/>
              </p:nvSpPr>
              <p:spPr>
                <a:xfrm>
                  <a:off x="7524750" y="2762250"/>
                  <a:ext cx="142875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95250">
                      <a:moveTo>
                        <a:pt x="0" y="47625"/>
                      </a:moveTo>
                      <a:lnTo>
                        <a:pt x="142875" y="47625"/>
                      </a:lnTo>
                      <a:moveTo>
                        <a:pt x="95250" y="0"/>
                      </a:moveTo>
                      <a:lnTo>
                        <a:pt x="142875" y="47625"/>
                      </a:lnTo>
                      <a:lnTo>
                        <a:pt x="95250" y="95250"/>
                      </a:lnTo>
                    </a:path>
                  </a:pathLst>
                </a:custGeom>
                <a:noFill/>
                <a:ln w="19050" cap="rnd">
                  <a:solidFill>
                    <a:schemeClr val="accent2"/>
                  </a:solidFill>
                  <a:round/>
                </a:ln>
              </p:spPr>
            </p:sp>
            <p:sp>
              <p:nvSpPr>
                <p:cNvPr id="60" name="Freeform 60"/>
                <p:cNvSpPr/>
                <p:nvPr/>
              </p:nvSpPr>
              <p:spPr>
                <a:xfrm>
                  <a:off x="7762875" y="2238375"/>
                  <a:ext cx="904875" cy="1143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4875" h="1143000">
                      <a:moveTo>
                        <a:pt x="57150" y="0"/>
                      </a:moveTo>
                      <a:lnTo>
                        <a:pt x="847725" y="0"/>
                      </a:lnTo>
                      <a:cubicBezTo>
                        <a:pt x="879288" y="0"/>
                        <a:pt x="904875" y="25587"/>
                        <a:pt x="904875" y="57150"/>
                      </a:cubicBezTo>
                      <a:lnTo>
                        <a:pt x="904875" y="1085850"/>
                      </a:lnTo>
                      <a:cubicBezTo>
                        <a:pt x="904875" y="1117413"/>
                        <a:pt x="879288" y="1143000"/>
                        <a:pt x="847725" y="1143000"/>
                      </a:cubicBezTo>
                      <a:lnTo>
                        <a:pt x="57150" y="1143000"/>
                      </a:lnTo>
                      <a:cubicBezTo>
                        <a:pt x="25587" y="1143000"/>
                        <a:pt x="0" y="1117413"/>
                        <a:pt x="0" y="1085850"/>
                      </a:cubicBezTo>
                      <a:lnTo>
                        <a:pt x="0" y="57150"/>
                      </a:lnTo>
                      <a:cubicBezTo>
                        <a:pt x="0" y="25587"/>
                        <a:pt x="25587" y="0"/>
                        <a:pt x="57150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</p:sp>
            <p:sp>
              <p:nvSpPr>
                <p:cNvPr id="61" name="TextBox 61"/>
                <p:cNvSpPr txBox="1"/>
                <p:nvPr/>
              </p:nvSpPr>
              <p:spPr>
                <a:xfrm>
                  <a:off x="7963471" y="2379345"/>
                  <a:ext cx="494157" cy="1762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900" dirty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rPr>
                    <a:t>平台模式</a:t>
                  </a:r>
                </a:p>
              </p:txBody>
            </p:sp>
            <p:sp>
              <p:nvSpPr>
                <p:cNvPr id="62" name="Line 62"/>
                <p:cNvSpPr/>
                <p:nvPr/>
              </p:nvSpPr>
              <p:spPr>
                <a:xfrm>
                  <a:off x="7953375" y="2571750"/>
                  <a:ext cx="52387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3875" h="9525">
                      <a:moveTo>
                        <a:pt x="0" y="0"/>
                      </a:moveTo>
                      <a:lnTo>
                        <a:pt x="523875" y="0"/>
                      </a:lnTo>
                    </a:path>
                  </a:pathLst>
                </a:custGeom>
                <a:noFill/>
                <a:ln w="9525">
                  <a:solidFill>
                    <a:schemeClr val="accent2"/>
                  </a:solidFill>
                </a:ln>
              </p:spPr>
            </p:sp>
            <p:sp>
              <p:nvSpPr>
                <p:cNvPr id="63" name="TextBox 63"/>
                <p:cNvSpPr txBox="1"/>
                <p:nvPr/>
              </p:nvSpPr>
              <p:spPr>
                <a:xfrm>
                  <a:off x="7851838" y="2696528"/>
                  <a:ext cx="717423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050" dirty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rPr>
                    <a:t>全渠道自动</a:t>
                  </a:r>
                </a:p>
              </p:txBody>
            </p:sp>
            <p:sp>
              <p:nvSpPr>
                <p:cNvPr id="64" name="TextBox 64"/>
                <p:cNvSpPr txBox="1"/>
                <p:nvPr/>
              </p:nvSpPr>
              <p:spPr>
                <a:xfrm>
                  <a:off x="7922514" y="2915602"/>
                  <a:ext cx="576072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050" dirty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rPr>
                    <a:t>化工作流</a:t>
                  </a:r>
                </a:p>
              </p:txBody>
            </p:sp>
          </p:grpSp>
          <p:grpSp>
            <p:nvGrpSpPr>
              <p:cNvPr id="83" name="Group 83"/>
              <p:cNvGrpSpPr/>
              <p:nvPr/>
            </p:nvGrpSpPr>
            <p:grpSpPr>
              <a:xfrm>
                <a:off x="9001125" y="1619250"/>
                <a:ext cx="2619375" cy="1905000"/>
                <a:chOff x="9001125" y="1619250"/>
                <a:chExt cx="2619375" cy="1905000"/>
              </a:xfrm>
            </p:grpSpPr>
            <p:sp>
              <p:nvSpPr>
                <p:cNvPr id="66" name="Freeform 66"/>
                <p:cNvSpPr/>
                <p:nvPr/>
              </p:nvSpPr>
              <p:spPr>
                <a:xfrm>
                  <a:off x="9001125" y="1619250"/>
                  <a:ext cx="2619375" cy="1905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19375" h="1905000">
                      <a:moveTo>
                        <a:pt x="76200" y="0"/>
                      </a:moveTo>
                      <a:lnTo>
                        <a:pt x="2543175" y="0"/>
                      </a:lnTo>
                      <a:cubicBezTo>
                        <a:pt x="2585259" y="0"/>
                        <a:pt x="2619375" y="34116"/>
                        <a:pt x="2619375" y="76200"/>
                      </a:cubicBezTo>
                      <a:lnTo>
                        <a:pt x="2619375" y="1828800"/>
                      </a:lnTo>
                      <a:cubicBezTo>
                        <a:pt x="2619375" y="1870884"/>
                        <a:pt x="2585259" y="1905000"/>
                        <a:pt x="2543175" y="1905000"/>
                      </a:cubicBezTo>
                      <a:lnTo>
                        <a:pt x="76200" y="1905000"/>
                      </a:lnTo>
                      <a:cubicBezTo>
                        <a:pt x="34116" y="1905000"/>
                        <a:pt x="0" y="1870884"/>
                        <a:pt x="0" y="1828800"/>
                      </a:cubicBezTo>
                      <a:lnTo>
                        <a:pt x="0" y="76200"/>
                      </a:lnTo>
                      <a:cubicBezTo>
                        <a:pt x="0" y="34116"/>
                        <a:pt x="34116" y="0"/>
                        <a:pt x="7620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9525">
                  <a:solidFill>
                    <a:schemeClr val="accent4"/>
                  </a:solidFill>
                </a:ln>
              </p:spPr>
            </p:sp>
            <p:sp>
              <p:nvSpPr>
                <p:cNvPr id="67" name="Freeform 67"/>
                <p:cNvSpPr/>
                <p:nvPr/>
              </p:nvSpPr>
              <p:spPr>
                <a:xfrm>
                  <a:off x="9001125" y="1619250"/>
                  <a:ext cx="2619375" cy="476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19375" h="476250">
                      <a:moveTo>
                        <a:pt x="76200" y="0"/>
                      </a:moveTo>
                      <a:lnTo>
                        <a:pt x="2543175" y="0"/>
                      </a:lnTo>
                      <a:cubicBezTo>
                        <a:pt x="2585259" y="0"/>
                        <a:pt x="2619375" y="34116"/>
                        <a:pt x="2619375" y="76200"/>
                      </a:cubicBezTo>
                      <a:lnTo>
                        <a:pt x="2619375" y="400050"/>
                      </a:lnTo>
                      <a:cubicBezTo>
                        <a:pt x="2619375" y="442134"/>
                        <a:pt x="2585259" y="476250"/>
                        <a:pt x="2543175" y="476250"/>
                      </a:cubicBezTo>
                      <a:lnTo>
                        <a:pt x="76200" y="476250"/>
                      </a:lnTo>
                      <a:cubicBezTo>
                        <a:pt x="34116" y="476250"/>
                        <a:pt x="0" y="442134"/>
                        <a:pt x="0" y="400050"/>
                      </a:cubicBezTo>
                      <a:lnTo>
                        <a:pt x="0" y="76200"/>
                      </a:lnTo>
                      <a:cubicBezTo>
                        <a:pt x="0" y="34116"/>
                        <a:pt x="34116" y="0"/>
                        <a:pt x="7620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68" name="Rectangle 68"/>
                <p:cNvSpPr/>
                <p:nvPr/>
              </p:nvSpPr>
              <p:spPr>
                <a:xfrm>
                  <a:off x="9001125" y="2000250"/>
                  <a:ext cx="2619375" cy="142875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69" name="Ellipse 69"/>
                <p:cNvSpPr/>
                <p:nvPr/>
              </p:nvSpPr>
              <p:spPr>
                <a:xfrm>
                  <a:off x="9201150" y="1724025"/>
                  <a:ext cx="266700" cy="2667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70" name="Freeform 70"/>
                <p:cNvSpPr/>
                <p:nvPr/>
              </p:nvSpPr>
              <p:spPr>
                <a:xfrm>
                  <a:off x="9267825" y="1790700"/>
                  <a:ext cx="133350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95250">
                      <a:moveTo>
                        <a:pt x="0" y="95250"/>
                      </a:moveTo>
                      <a:lnTo>
                        <a:pt x="66675" y="0"/>
                      </a:lnTo>
                      <a:lnTo>
                        <a:pt x="133350" y="95250"/>
                      </a:lnTo>
                      <a:moveTo>
                        <a:pt x="19050" y="66675"/>
                      </a:moveTo>
                      <a:lnTo>
                        <a:pt x="114300" y="66675"/>
                      </a:lnTo>
                    </a:path>
                  </a:pathLst>
                </a:custGeom>
                <a:noFill/>
                <a:ln w="19050" cap="rnd">
                  <a:solidFill>
                    <a:srgbClr val="FFFFFF"/>
                  </a:solidFill>
                  <a:round/>
                </a:ln>
              </p:spPr>
            </p:sp>
            <p:sp>
              <p:nvSpPr>
                <p:cNvPr id="71" name="TextBox 71"/>
                <p:cNvSpPr txBox="1"/>
                <p:nvPr/>
              </p:nvSpPr>
              <p:spPr>
                <a:xfrm>
                  <a:off x="9518142" y="1759268"/>
                  <a:ext cx="777011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350" b="1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效果度量</a:t>
                  </a:r>
                </a:p>
              </p:txBody>
            </p:sp>
            <p:sp>
              <p:nvSpPr>
                <p:cNvPr id="72" name="Freeform 72"/>
                <p:cNvSpPr/>
                <p:nvPr/>
              </p:nvSpPr>
              <p:spPr>
                <a:xfrm>
                  <a:off x="9144000" y="2238375"/>
                  <a:ext cx="1095375" cy="1143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5375" h="1143000">
                      <a:moveTo>
                        <a:pt x="57150" y="0"/>
                      </a:moveTo>
                      <a:lnTo>
                        <a:pt x="1038225" y="0"/>
                      </a:lnTo>
                      <a:cubicBezTo>
                        <a:pt x="1069788" y="0"/>
                        <a:pt x="1095375" y="25587"/>
                        <a:pt x="1095375" y="57150"/>
                      </a:cubicBezTo>
                      <a:lnTo>
                        <a:pt x="1095375" y="1085850"/>
                      </a:lnTo>
                      <a:cubicBezTo>
                        <a:pt x="1095375" y="1117413"/>
                        <a:pt x="1069788" y="1143000"/>
                        <a:pt x="1038225" y="1143000"/>
                      </a:cubicBezTo>
                      <a:lnTo>
                        <a:pt x="57150" y="1143000"/>
                      </a:lnTo>
                      <a:cubicBezTo>
                        <a:pt x="25587" y="1143000"/>
                        <a:pt x="0" y="1117413"/>
                        <a:pt x="0" y="1085850"/>
                      </a:cubicBezTo>
                      <a:lnTo>
                        <a:pt x="0" y="57150"/>
                      </a:lnTo>
                      <a:cubicBezTo>
                        <a:pt x="0" y="25587"/>
                        <a:pt x="25587" y="0"/>
                        <a:pt x="57150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</p:sp>
            <p:sp>
              <p:nvSpPr>
                <p:cNvPr id="73" name="TextBox 73"/>
                <p:cNvSpPr txBox="1"/>
                <p:nvPr/>
              </p:nvSpPr>
              <p:spPr>
                <a:xfrm>
                  <a:off x="9561004" y="2379345"/>
                  <a:ext cx="251841" cy="1762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90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现状</a:t>
                  </a:r>
                </a:p>
              </p:txBody>
            </p:sp>
            <p:sp>
              <p:nvSpPr>
                <p:cNvPr id="74" name="Line 74"/>
                <p:cNvSpPr/>
                <p:nvPr/>
              </p:nvSpPr>
              <p:spPr>
                <a:xfrm>
                  <a:off x="9334500" y="2571750"/>
                  <a:ext cx="71437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4375" h="9525">
                      <a:moveTo>
                        <a:pt x="0" y="0"/>
                      </a:moveTo>
                      <a:lnTo>
                        <a:pt x="714375" y="0"/>
                      </a:lnTo>
                    </a:path>
                  </a:pathLst>
                </a:custGeom>
                <a:noFill/>
                <a:ln w="9525">
                  <a:solidFill>
                    <a:schemeClr val="accent4"/>
                  </a:solidFill>
                </a:ln>
              </p:spPr>
            </p:sp>
            <p:sp>
              <p:nvSpPr>
                <p:cNvPr id="75" name="TextBox 75"/>
                <p:cNvSpPr txBox="1"/>
                <p:nvPr/>
              </p:nvSpPr>
              <p:spPr>
                <a:xfrm>
                  <a:off x="9398889" y="2696528"/>
                  <a:ext cx="576072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05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滞后归因</a:t>
                  </a:r>
                </a:p>
              </p:txBody>
            </p:sp>
            <p:sp>
              <p:nvSpPr>
                <p:cNvPr id="76" name="TextBox 76"/>
                <p:cNvSpPr txBox="1"/>
                <p:nvPr/>
              </p:nvSpPr>
              <p:spPr>
                <a:xfrm>
                  <a:off x="9469564" y="2915602"/>
                  <a:ext cx="434721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05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与猜测</a:t>
                  </a:r>
                </a:p>
              </p:txBody>
            </p:sp>
            <p:sp>
              <p:nvSpPr>
                <p:cNvPr id="77" name="Freeform 77"/>
                <p:cNvSpPr/>
                <p:nvPr/>
              </p:nvSpPr>
              <p:spPr>
                <a:xfrm>
                  <a:off x="10334625" y="2762250"/>
                  <a:ext cx="142875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95250">
                      <a:moveTo>
                        <a:pt x="0" y="47625"/>
                      </a:moveTo>
                      <a:lnTo>
                        <a:pt x="142875" y="47625"/>
                      </a:lnTo>
                      <a:moveTo>
                        <a:pt x="95250" y="0"/>
                      </a:moveTo>
                      <a:lnTo>
                        <a:pt x="142875" y="47625"/>
                      </a:lnTo>
                      <a:lnTo>
                        <a:pt x="95250" y="95250"/>
                      </a:lnTo>
                    </a:path>
                  </a:pathLst>
                </a:custGeom>
                <a:noFill/>
                <a:ln w="19050" cap="rnd">
                  <a:solidFill>
                    <a:schemeClr val="accent2"/>
                  </a:solidFill>
                  <a:round/>
                </a:ln>
              </p:spPr>
            </p:sp>
            <p:sp>
              <p:nvSpPr>
                <p:cNvPr id="78" name="Freeform 78"/>
                <p:cNvSpPr/>
                <p:nvPr/>
              </p:nvSpPr>
              <p:spPr>
                <a:xfrm>
                  <a:off x="10572750" y="2238375"/>
                  <a:ext cx="904875" cy="1143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4875" h="1143000">
                      <a:moveTo>
                        <a:pt x="57150" y="0"/>
                      </a:moveTo>
                      <a:lnTo>
                        <a:pt x="847725" y="0"/>
                      </a:lnTo>
                      <a:cubicBezTo>
                        <a:pt x="879288" y="0"/>
                        <a:pt x="904875" y="25587"/>
                        <a:pt x="904875" y="57150"/>
                      </a:cubicBezTo>
                      <a:lnTo>
                        <a:pt x="904875" y="1085850"/>
                      </a:lnTo>
                      <a:cubicBezTo>
                        <a:pt x="904875" y="1117413"/>
                        <a:pt x="879288" y="1143000"/>
                        <a:pt x="847725" y="1143000"/>
                      </a:cubicBezTo>
                      <a:lnTo>
                        <a:pt x="57150" y="1143000"/>
                      </a:lnTo>
                      <a:cubicBezTo>
                        <a:pt x="25587" y="1143000"/>
                        <a:pt x="0" y="1117413"/>
                        <a:pt x="0" y="1085850"/>
                      </a:cubicBezTo>
                      <a:lnTo>
                        <a:pt x="0" y="57150"/>
                      </a:lnTo>
                      <a:cubicBezTo>
                        <a:pt x="0" y="25587"/>
                        <a:pt x="25587" y="0"/>
                        <a:pt x="57150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</p:sp>
            <p:sp>
              <p:nvSpPr>
                <p:cNvPr id="79" name="TextBox 79"/>
                <p:cNvSpPr txBox="1"/>
                <p:nvPr/>
              </p:nvSpPr>
              <p:spPr>
                <a:xfrm>
                  <a:off x="10773346" y="2379345"/>
                  <a:ext cx="494157" cy="1762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900" dirty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rPr>
                    <a:t>平台模式</a:t>
                  </a:r>
                </a:p>
              </p:txBody>
            </p:sp>
            <p:sp>
              <p:nvSpPr>
                <p:cNvPr id="80" name="Line 80"/>
                <p:cNvSpPr/>
                <p:nvPr/>
              </p:nvSpPr>
              <p:spPr>
                <a:xfrm>
                  <a:off x="10763250" y="2571750"/>
                  <a:ext cx="52387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3875" h="9525">
                      <a:moveTo>
                        <a:pt x="0" y="0"/>
                      </a:moveTo>
                      <a:lnTo>
                        <a:pt x="523875" y="0"/>
                      </a:lnTo>
                    </a:path>
                  </a:pathLst>
                </a:custGeom>
                <a:noFill/>
                <a:ln w="9525">
                  <a:solidFill>
                    <a:schemeClr val="accent2"/>
                  </a:solidFill>
                </a:ln>
              </p:spPr>
            </p:sp>
            <p:sp>
              <p:nvSpPr>
                <p:cNvPr id="81" name="TextBox 81"/>
                <p:cNvSpPr txBox="1"/>
                <p:nvPr/>
              </p:nvSpPr>
              <p:spPr>
                <a:xfrm>
                  <a:off x="10732389" y="2696528"/>
                  <a:ext cx="576072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050" dirty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rPr>
                    <a:t>实时归因</a:t>
                  </a:r>
                </a:p>
              </p:txBody>
            </p:sp>
            <p:sp>
              <p:nvSpPr>
                <p:cNvPr id="82" name="TextBox 82"/>
                <p:cNvSpPr txBox="1"/>
                <p:nvPr/>
              </p:nvSpPr>
              <p:spPr>
                <a:xfrm>
                  <a:off x="10732389" y="2915602"/>
                  <a:ext cx="576072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050" dirty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rPr>
                    <a:t>闭环优化</a:t>
                  </a:r>
                </a:p>
              </p:txBody>
            </p:sp>
          </p:grpSp>
        </p:grpSp>
        <p:grpSp>
          <p:nvGrpSpPr>
            <p:cNvPr id="87" name="Group 87"/>
            <p:cNvGrpSpPr/>
            <p:nvPr/>
          </p:nvGrpSpPr>
          <p:grpSpPr>
            <a:xfrm>
              <a:off x="571500" y="3905250"/>
              <a:ext cx="11049000" cy="762000"/>
              <a:chOff x="571500" y="3905250"/>
              <a:chExt cx="11049000" cy="762000"/>
            </a:xfrm>
          </p:grpSpPr>
          <p:sp>
            <p:nvSpPr>
              <p:cNvPr id="85" name="Freeform 85"/>
              <p:cNvSpPr/>
              <p:nvPr/>
            </p:nvSpPr>
            <p:spPr>
              <a:xfrm>
                <a:off x="571500" y="3905250"/>
                <a:ext cx="11049000" cy="762000"/>
              </a:xfrm>
              <a:custGeom>
                <a:avLst/>
                <a:gdLst/>
                <a:ahLst/>
                <a:cxnLst/>
                <a:rect l="l" t="t" r="r" b="b"/>
                <a:pathLst>
                  <a:path w="11049000" h="762000">
                    <a:moveTo>
                      <a:pt x="76200" y="0"/>
                    </a:moveTo>
                    <a:lnTo>
                      <a:pt x="10972800" y="0"/>
                    </a:lnTo>
                    <a:cubicBezTo>
                      <a:pt x="11014884" y="0"/>
                      <a:pt x="11049000" y="34116"/>
                      <a:pt x="11049000" y="76200"/>
                    </a:cubicBezTo>
                    <a:lnTo>
                      <a:pt x="11049000" y="685800"/>
                    </a:lnTo>
                    <a:cubicBezTo>
                      <a:pt x="11049000" y="727884"/>
                      <a:pt x="11014884" y="762000"/>
                      <a:pt x="10972800" y="762000"/>
                    </a:cubicBezTo>
                    <a:lnTo>
                      <a:pt x="76200" y="762000"/>
                    </a:lnTo>
                    <a:cubicBezTo>
                      <a:pt x="34116" y="762000"/>
                      <a:pt x="0" y="727884"/>
                      <a:pt x="0" y="685800"/>
                    </a:cubicBez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86" name="TextBox 86"/>
              <p:cNvSpPr txBox="1"/>
              <p:nvPr/>
            </p:nvSpPr>
            <p:spPr>
              <a:xfrm>
                <a:off x="944118" y="4184332"/>
                <a:ext cx="894900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FFFFFF"/>
                    </a:solidFill>
                    <a:latin typeface="+mj-lt"/>
                    <a:ea typeface="+mj-ea"/>
                    <a:cs typeface="+mj-cs"/>
                  </a:rPr>
                  <a:t>AI工作台：统一平台替代分散工具链，实现数据到决策的端到端闭环</a:t>
                </a:r>
              </a:p>
            </p:txBody>
          </p:sp>
        </p:grpSp>
        <p:grpSp>
          <p:nvGrpSpPr>
            <p:cNvPr id="91" name="Group 91"/>
            <p:cNvGrpSpPr/>
            <p:nvPr/>
          </p:nvGrpSpPr>
          <p:grpSpPr>
            <a:xfrm>
              <a:off x="571500" y="4953000"/>
              <a:ext cx="457200" cy="1333500"/>
              <a:chOff x="571500" y="4953000"/>
              <a:chExt cx="457200" cy="1333500"/>
            </a:xfrm>
          </p:grpSpPr>
          <p:sp>
            <p:nvSpPr>
              <p:cNvPr id="88" name="Freeform 88"/>
              <p:cNvSpPr/>
              <p:nvPr/>
            </p:nvSpPr>
            <p:spPr>
              <a:xfrm>
                <a:off x="571500" y="4953000"/>
                <a:ext cx="76200" cy="13335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333500">
                    <a:moveTo>
                      <a:pt x="38100" y="0"/>
                    </a:moveTo>
                    <a:lnTo>
                      <a:pt x="38100" y="0"/>
                    </a:lnTo>
                    <a:cubicBezTo>
                      <a:pt x="59142" y="0"/>
                      <a:pt x="76200" y="17058"/>
                      <a:pt x="76200" y="38100"/>
                    </a:cubicBezTo>
                    <a:lnTo>
                      <a:pt x="76200" y="1295400"/>
                    </a:lnTo>
                    <a:cubicBezTo>
                      <a:pt x="76200" y="1316442"/>
                      <a:pt x="59142" y="1333500"/>
                      <a:pt x="38100" y="1333500"/>
                    </a:cubicBezTo>
                    <a:lnTo>
                      <a:pt x="38100" y="1333500"/>
                    </a:lnTo>
                    <a:cubicBezTo>
                      <a:pt x="17058" y="1333500"/>
                      <a:pt x="0" y="1316442"/>
                      <a:pt x="0" y="1295400"/>
                    </a:cubicBezTo>
                    <a:lnTo>
                      <a:pt x="0" y="38100"/>
                    </a:lnTo>
                    <a:cubicBezTo>
                      <a:pt x="0" y="17058"/>
                      <a:pt x="17058" y="0"/>
                      <a:pt x="3810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89" name="Freeform 89"/>
              <p:cNvSpPr/>
              <p:nvPr/>
            </p:nvSpPr>
            <p:spPr>
              <a:xfrm>
                <a:off x="762000" y="4953000"/>
                <a:ext cx="76200" cy="9525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952500">
                    <a:moveTo>
                      <a:pt x="38100" y="0"/>
                    </a:moveTo>
                    <a:lnTo>
                      <a:pt x="38100" y="0"/>
                    </a:lnTo>
                    <a:cubicBezTo>
                      <a:pt x="59142" y="0"/>
                      <a:pt x="76200" y="17058"/>
                      <a:pt x="76200" y="38100"/>
                    </a:cubicBezTo>
                    <a:lnTo>
                      <a:pt x="76200" y="914400"/>
                    </a:lnTo>
                    <a:cubicBezTo>
                      <a:pt x="76200" y="935442"/>
                      <a:pt x="59142" y="952500"/>
                      <a:pt x="38100" y="952500"/>
                    </a:cubicBezTo>
                    <a:lnTo>
                      <a:pt x="38100" y="952500"/>
                    </a:lnTo>
                    <a:cubicBezTo>
                      <a:pt x="17058" y="952500"/>
                      <a:pt x="0" y="935442"/>
                      <a:pt x="0" y="914400"/>
                    </a:cubicBezTo>
                    <a:lnTo>
                      <a:pt x="0" y="38100"/>
                    </a:lnTo>
                    <a:cubicBezTo>
                      <a:pt x="0" y="17058"/>
                      <a:pt x="17058" y="0"/>
                      <a:pt x="3810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90" name="Freeform 90"/>
              <p:cNvSpPr/>
              <p:nvPr/>
            </p:nvSpPr>
            <p:spPr>
              <a:xfrm>
                <a:off x="952500" y="4953000"/>
                <a:ext cx="76200" cy="5715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571500">
                    <a:moveTo>
                      <a:pt x="38100" y="0"/>
                    </a:moveTo>
                    <a:lnTo>
                      <a:pt x="38100" y="0"/>
                    </a:lnTo>
                    <a:cubicBezTo>
                      <a:pt x="59142" y="0"/>
                      <a:pt x="76200" y="17058"/>
                      <a:pt x="76200" y="38100"/>
                    </a:cubicBezTo>
                    <a:lnTo>
                      <a:pt x="76200" y="533400"/>
                    </a:lnTo>
                    <a:cubicBezTo>
                      <a:pt x="76200" y="554442"/>
                      <a:pt x="59142" y="571500"/>
                      <a:pt x="38100" y="571500"/>
                    </a:cubicBezTo>
                    <a:lnTo>
                      <a:pt x="38100" y="571500"/>
                    </a:lnTo>
                    <a:cubicBezTo>
                      <a:pt x="17058" y="571500"/>
                      <a:pt x="0" y="554442"/>
                      <a:pt x="0" y="533400"/>
                    </a:cubicBezTo>
                    <a:lnTo>
                      <a:pt x="0" y="38100"/>
                    </a:lnTo>
                    <a:cubicBezTo>
                      <a:pt x="0" y="17058"/>
                      <a:pt x="17058" y="0"/>
                      <a:pt x="38100" y="0"/>
                    </a:cubicBezTo>
                    <a:close/>
                  </a:path>
                </a:pathLst>
              </a:custGeom>
              <a:solidFill>
                <a:srgbClr val="A0AEC0"/>
              </a:solidFill>
              <a:ln>
                <a:noFill/>
              </a:ln>
            </p:spPr>
          </p:sp>
        </p:grpSp>
        <p:grpSp>
          <p:nvGrpSpPr>
            <p:cNvPr id="98" name="Group 98"/>
            <p:cNvGrpSpPr/>
            <p:nvPr/>
          </p:nvGrpSpPr>
          <p:grpSpPr>
            <a:xfrm>
              <a:off x="937260" y="4914900"/>
              <a:ext cx="3926586" cy="653987"/>
              <a:chOff x="937260" y="4914900"/>
              <a:chExt cx="3926586" cy="653987"/>
            </a:xfrm>
          </p:grpSpPr>
          <p:sp>
            <p:nvSpPr>
              <p:cNvPr id="92" name="TextBox 92"/>
              <p:cNvSpPr txBox="1"/>
              <p:nvPr/>
            </p:nvSpPr>
            <p:spPr>
              <a:xfrm>
                <a:off x="937260" y="4914900"/>
                <a:ext cx="814978" cy="5867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30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30%</a:t>
                </a:r>
              </a:p>
            </p:txBody>
          </p:sp>
          <p:sp>
            <p:nvSpPr>
              <p:cNvPr id="93" name="TextBox 93"/>
              <p:cNvSpPr txBox="1"/>
              <p:nvPr/>
            </p:nvSpPr>
            <p:spPr>
              <a:xfrm>
                <a:off x="947166" y="5363528"/>
                <a:ext cx="84703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ROI损失风险</a:t>
                </a:r>
              </a:p>
            </p:txBody>
          </p:sp>
          <p:sp>
            <p:nvSpPr>
              <p:cNvPr id="94" name="TextBox 94"/>
              <p:cNvSpPr txBox="1"/>
              <p:nvPr/>
            </p:nvSpPr>
            <p:spPr>
              <a:xfrm>
                <a:off x="2651760" y="4914900"/>
                <a:ext cx="687762" cy="5867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30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3天</a:t>
                </a:r>
              </a:p>
            </p:txBody>
          </p:sp>
          <p:sp>
            <p:nvSpPr>
              <p:cNvPr id="95" name="TextBox 95"/>
              <p:cNvSpPr txBox="1"/>
              <p:nvPr/>
            </p:nvSpPr>
            <p:spPr>
              <a:xfrm>
                <a:off x="2661666" y="5363528"/>
                <a:ext cx="85877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决策滞后周期</a:t>
                </a:r>
              </a:p>
            </p:txBody>
          </p:sp>
          <p:sp>
            <p:nvSpPr>
              <p:cNvPr id="96" name="TextBox 96"/>
              <p:cNvSpPr txBox="1"/>
              <p:nvPr/>
            </p:nvSpPr>
            <p:spPr>
              <a:xfrm>
                <a:off x="3985260" y="4914900"/>
                <a:ext cx="878586" cy="5867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300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实时</a:t>
                </a:r>
              </a:p>
            </p:txBody>
          </p:sp>
          <p:sp>
            <p:nvSpPr>
              <p:cNvPr id="97" name="TextBox 97"/>
              <p:cNvSpPr txBox="1"/>
              <p:nvPr/>
            </p:nvSpPr>
            <p:spPr>
              <a:xfrm>
                <a:off x="3995166" y="5363528"/>
                <a:ext cx="85877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平台响应能力</a:t>
                </a:r>
              </a:p>
            </p:txBody>
          </p:sp>
        </p:grpSp>
      </p:grpSp>
      <p:grpSp>
        <p:nvGrpSpPr>
          <p:cNvPr id="109" name="Group 109"/>
          <p:cNvGrpSpPr/>
          <p:nvPr/>
        </p:nvGrpSpPr>
        <p:grpSpPr>
          <a:xfrm>
            <a:off x="11210925" y="4924425"/>
            <a:ext cx="438150" cy="438150"/>
            <a:chOff x="11210925" y="4924425"/>
            <a:chExt cx="438150" cy="438150"/>
          </a:xfrm>
        </p:grpSpPr>
        <p:sp>
          <p:nvSpPr>
            <p:cNvPr id="100" name="Ellipse 100"/>
            <p:cNvSpPr/>
            <p:nvPr/>
          </p:nvSpPr>
          <p:spPr>
            <a:xfrm>
              <a:off x="11210925" y="4924425"/>
              <a:ext cx="57150" cy="5715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</p:sp>
        <p:sp>
          <p:nvSpPr>
            <p:cNvPr id="101" name="Ellipse 101"/>
            <p:cNvSpPr/>
            <p:nvPr/>
          </p:nvSpPr>
          <p:spPr>
            <a:xfrm>
              <a:off x="11401425" y="4924425"/>
              <a:ext cx="57150" cy="5715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</p:sp>
        <p:sp>
          <p:nvSpPr>
            <p:cNvPr id="102" name="Ellipse 102"/>
            <p:cNvSpPr/>
            <p:nvPr/>
          </p:nvSpPr>
          <p:spPr>
            <a:xfrm>
              <a:off x="11591925" y="4924425"/>
              <a:ext cx="57150" cy="5715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</p:sp>
        <p:sp>
          <p:nvSpPr>
            <p:cNvPr id="103" name="Ellipse 103"/>
            <p:cNvSpPr/>
            <p:nvPr/>
          </p:nvSpPr>
          <p:spPr>
            <a:xfrm>
              <a:off x="11210925" y="5114925"/>
              <a:ext cx="57150" cy="5715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</p:sp>
        <p:sp>
          <p:nvSpPr>
            <p:cNvPr id="104" name="Ellipse 104"/>
            <p:cNvSpPr/>
            <p:nvPr/>
          </p:nvSpPr>
          <p:spPr>
            <a:xfrm>
              <a:off x="11401425" y="5114925"/>
              <a:ext cx="57150" cy="5715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</p:sp>
        <p:sp>
          <p:nvSpPr>
            <p:cNvPr id="105" name="Ellipse 105"/>
            <p:cNvSpPr/>
            <p:nvPr/>
          </p:nvSpPr>
          <p:spPr>
            <a:xfrm>
              <a:off x="11591925" y="5114925"/>
              <a:ext cx="57150" cy="5715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</p:sp>
        <p:sp>
          <p:nvSpPr>
            <p:cNvPr id="106" name="Ellipse 106"/>
            <p:cNvSpPr/>
            <p:nvPr/>
          </p:nvSpPr>
          <p:spPr>
            <a:xfrm>
              <a:off x="11210925" y="5305425"/>
              <a:ext cx="57150" cy="5715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</p:sp>
        <p:sp>
          <p:nvSpPr>
            <p:cNvPr id="107" name="Ellipse 107"/>
            <p:cNvSpPr/>
            <p:nvPr/>
          </p:nvSpPr>
          <p:spPr>
            <a:xfrm>
              <a:off x="11401425" y="5305425"/>
              <a:ext cx="57150" cy="5715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</p:sp>
        <p:sp>
          <p:nvSpPr>
            <p:cNvPr id="108" name="Ellipse 108"/>
            <p:cNvSpPr/>
            <p:nvPr/>
          </p:nvSpPr>
          <p:spPr>
            <a:xfrm>
              <a:off x="11591925" y="5305425"/>
              <a:ext cx="57150" cy="5715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</p:sp>
      </p:grpSp>
      <p:grpSp>
        <p:nvGrpSpPr>
          <p:cNvPr id="113" name="Group 113"/>
          <p:cNvGrpSpPr/>
          <p:nvPr/>
        </p:nvGrpSpPr>
        <p:grpSpPr>
          <a:xfrm>
            <a:off x="566738" y="6477000"/>
            <a:ext cx="11058524" cy="263366"/>
            <a:chOff x="566738" y="6477000"/>
            <a:chExt cx="11058524" cy="263366"/>
          </a:xfrm>
        </p:grpSpPr>
        <p:sp>
          <p:nvSpPr>
            <p:cNvPr id="110" name="Line 110"/>
            <p:cNvSpPr/>
            <p:nvPr/>
          </p:nvSpPr>
          <p:spPr>
            <a:xfrm>
              <a:off x="571500" y="64770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11" name="TextBox 111"/>
            <p:cNvSpPr txBox="1"/>
            <p:nvPr/>
          </p:nvSpPr>
          <p:spPr>
            <a:xfrm>
              <a:off x="566738" y="6578441"/>
              <a:ext cx="100111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企业 AI 营销工作台</a:t>
              </a:r>
            </a:p>
          </p:txBody>
        </p:sp>
        <p:sp>
          <p:nvSpPr>
            <p:cNvPr id="112" name="TextBox 112"/>
            <p:cNvSpPr txBox="1"/>
            <p:nvPr/>
          </p:nvSpPr>
          <p:spPr>
            <a:xfrm>
              <a:off x="11365849" y="6578441"/>
              <a:ext cx="25941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4 / 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2">
                <a:alpha val="30000"/>
              </a:schemeClr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71500" y="762000"/>
            <a:ext cx="11049000" cy="5438775"/>
            <a:chOff x="571500" y="762000"/>
            <a:chExt cx="11049000" cy="5438775"/>
          </a:xfrm>
        </p:grpSpPr>
        <p:sp>
          <p:nvSpPr>
            <p:cNvPr id="5" name="Line 5"/>
            <p:cNvSpPr/>
            <p:nvPr/>
          </p:nvSpPr>
          <p:spPr>
            <a:xfrm>
              <a:off x="571500" y="7620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571500" y="61912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</p:grpSp>
      <p:grpSp>
        <p:nvGrpSpPr>
          <p:cNvPr id="50" name="Group 50"/>
          <p:cNvGrpSpPr/>
          <p:nvPr/>
        </p:nvGrpSpPr>
        <p:grpSpPr>
          <a:xfrm>
            <a:off x="557784" y="331470"/>
            <a:ext cx="11062716" cy="5856541"/>
            <a:chOff x="557784" y="331470"/>
            <a:chExt cx="11062716" cy="5856541"/>
          </a:xfrm>
        </p:grpSpPr>
        <p:sp>
          <p:nvSpPr>
            <p:cNvPr id="8" name="TextBox 8"/>
            <p:cNvSpPr txBox="1"/>
            <p:nvPr/>
          </p:nvSpPr>
          <p:spPr>
            <a:xfrm>
              <a:off x="566738" y="331470"/>
              <a:ext cx="86573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PROOFGRID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57784" y="756285"/>
              <a:ext cx="365668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先行者已经看到回报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63880" y="1314450"/>
              <a:ext cx="47000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某500强快消品牌试点3个月后，核心指标显著提升。</a:t>
              </a:r>
            </a:p>
          </p:txBody>
        </p:sp>
        <p:grpSp>
          <p:nvGrpSpPr>
            <p:cNvPr id="46" name="Group 46"/>
            <p:cNvGrpSpPr/>
            <p:nvPr/>
          </p:nvGrpSpPr>
          <p:grpSpPr>
            <a:xfrm>
              <a:off x="571500" y="1809750"/>
              <a:ext cx="11049000" cy="3810000"/>
              <a:chOff x="571500" y="1809750"/>
              <a:chExt cx="11049000" cy="38100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571500" y="1809750"/>
                <a:ext cx="5238750" cy="3810000"/>
              </a:xfrm>
              <a:custGeom>
                <a:avLst/>
                <a:gdLst/>
                <a:ahLst/>
                <a:cxnLst/>
                <a:rect l="l" t="t" r="r" b="b"/>
                <a:pathLst>
                  <a:path w="5238750" h="3810000">
                    <a:moveTo>
                      <a:pt x="114300" y="0"/>
                    </a:moveTo>
                    <a:lnTo>
                      <a:pt x="5124450" y="0"/>
                    </a:lnTo>
                    <a:cubicBezTo>
                      <a:pt x="5187576" y="0"/>
                      <a:pt x="5238750" y="51174"/>
                      <a:pt x="5238750" y="114300"/>
                    </a:cubicBezTo>
                    <a:lnTo>
                      <a:pt x="5238750" y="3695700"/>
                    </a:lnTo>
                    <a:cubicBezTo>
                      <a:pt x="5238750" y="3758826"/>
                      <a:pt x="5187576" y="3810000"/>
                      <a:pt x="5124450" y="3810000"/>
                    </a:cubicBezTo>
                    <a:lnTo>
                      <a:pt x="114300" y="3810000"/>
                    </a:lnTo>
                    <a:cubicBezTo>
                      <a:pt x="51174" y="3810000"/>
                      <a:pt x="0" y="3758826"/>
                      <a:pt x="0" y="3695700"/>
                    </a:cubicBezTo>
                    <a:lnTo>
                      <a:pt x="0" y="114300"/>
                    </a:lnTo>
                    <a:cubicBezTo>
                      <a:pt x="0" y="51174"/>
                      <a:pt x="51174" y="0"/>
                      <a:pt x="11430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>
                <a:solidFill>
                  <a:schemeClr val="accent4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571500" y="1809750"/>
                <a:ext cx="5238750" cy="762000"/>
              </a:xfrm>
              <a:custGeom>
                <a:avLst/>
                <a:gdLst/>
                <a:ahLst/>
                <a:cxnLst/>
                <a:rect l="l" t="t" r="r" b="b"/>
                <a:pathLst>
                  <a:path w="5238750" h="762000">
                    <a:moveTo>
                      <a:pt x="114300" y="0"/>
                    </a:moveTo>
                    <a:lnTo>
                      <a:pt x="5124450" y="0"/>
                    </a:lnTo>
                    <a:cubicBezTo>
                      <a:pt x="5187576" y="0"/>
                      <a:pt x="5238750" y="51174"/>
                      <a:pt x="5238750" y="114300"/>
                    </a:cubicBezTo>
                    <a:lnTo>
                      <a:pt x="5238750" y="647700"/>
                    </a:lnTo>
                    <a:cubicBezTo>
                      <a:pt x="5238750" y="710826"/>
                      <a:pt x="5187576" y="762000"/>
                      <a:pt x="5124450" y="762000"/>
                    </a:cubicBezTo>
                    <a:lnTo>
                      <a:pt x="114300" y="762000"/>
                    </a:lnTo>
                    <a:cubicBezTo>
                      <a:pt x="51174" y="762000"/>
                      <a:pt x="0" y="710826"/>
                      <a:pt x="0" y="647700"/>
                    </a:cubicBezTo>
                    <a:lnTo>
                      <a:pt x="0" y="114300"/>
                    </a:lnTo>
                    <a:cubicBezTo>
                      <a:pt x="0" y="51174"/>
                      <a:pt x="51174" y="0"/>
                      <a:pt x="11430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3" name="Rectangle 13"/>
              <p:cNvSpPr/>
              <p:nvPr/>
            </p:nvSpPr>
            <p:spPr>
              <a:xfrm>
                <a:off x="571500" y="2286000"/>
                <a:ext cx="5238750" cy="28575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804291" y="2125028"/>
                <a:ext cx="90117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营销效率提升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90575" y="2655570"/>
                <a:ext cx="1530126" cy="1047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5400" b="1" dirty="0">
                    <a:solidFill>
                      <a:schemeClr val="accent2"/>
                    </a:solidFill>
                    <a:latin typeface="+mj-lt"/>
                    <a:ea typeface="+mj-ea"/>
                    <a:cs typeface="+mj-cs"/>
                  </a:rPr>
                  <a:t>60%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803529" y="3394710"/>
                <a:ext cx="98145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团队产出提升</a:t>
                </a:r>
              </a:p>
            </p:txBody>
          </p:sp>
          <p:grpSp>
            <p:nvGrpSpPr>
              <p:cNvPr id="24" name="Group 24"/>
              <p:cNvGrpSpPr/>
              <p:nvPr/>
            </p:nvGrpSpPr>
            <p:grpSpPr>
              <a:xfrm>
                <a:off x="809625" y="3810000"/>
                <a:ext cx="4000500" cy="666750"/>
                <a:chOff x="809625" y="3810000"/>
                <a:chExt cx="4000500" cy="666750"/>
              </a:xfrm>
            </p:grpSpPr>
            <p:sp>
              <p:nvSpPr>
                <p:cNvPr id="17" name="Freeform 17"/>
                <p:cNvSpPr/>
                <p:nvPr/>
              </p:nvSpPr>
              <p:spPr>
                <a:xfrm>
                  <a:off x="809625" y="3810000"/>
                  <a:ext cx="1905000" cy="666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00" h="666750">
                      <a:moveTo>
                        <a:pt x="76200" y="0"/>
                      </a:moveTo>
                      <a:lnTo>
                        <a:pt x="1828800" y="0"/>
                      </a:lnTo>
                      <a:cubicBezTo>
                        <a:pt x="1870884" y="0"/>
                        <a:pt x="1905000" y="34116"/>
                        <a:pt x="1905000" y="76200"/>
                      </a:cubicBezTo>
                      <a:lnTo>
                        <a:pt x="1905000" y="590550"/>
                      </a:lnTo>
                      <a:cubicBezTo>
                        <a:pt x="1905000" y="632634"/>
                        <a:pt x="1870884" y="666750"/>
                        <a:pt x="1828800" y="666750"/>
                      </a:cubicBezTo>
                      <a:lnTo>
                        <a:pt x="76200" y="666750"/>
                      </a:lnTo>
                      <a:cubicBezTo>
                        <a:pt x="34116" y="666750"/>
                        <a:pt x="0" y="632634"/>
                        <a:pt x="0" y="590550"/>
                      </a:cubicBezTo>
                      <a:lnTo>
                        <a:pt x="0" y="76200"/>
                      </a:lnTo>
                      <a:cubicBezTo>
                        <a:pt x="0" y="34116"/>
                        <a:pt x="34116" y="0"/>
                        <a:pt x="76200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</p:sp>
            <p:sp>
              <p:nvSpPr>
                <p:cNvPr id="18" name="TextBox 18"/>
                <p:cNvSpPr txBox="1"/>
                <p:nvPr/>
              </p:nvSpPr>
              <p:spPr>
                <a:xfrm>
                  <a:off x="987933" y="3884295"/>
                  <a:ext cx="687507" cy="46939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2400" b="1" dirty="0">
                      <a:solidFill>
                        <a:schemeClr val="accent1"/>
                      </a:solidFill>
                      <a:latin typeface="+mj-lt"/>
                      <a:ea typeface="+mj-ea"/>
                      <a:cs typeface="+mj-cs"/>
                    </a:rPr>
                    <a:t>80%</a:t>
                  </a:r>
                </a:p>
              </p:txBody>
            </p:sp>
            <p:sp>
              <p:nvSpPr>
                <p:cNvPr id="19" name="TextBox 19"/>
                <p:cNvSpPr txBox="1"/>
                <p:nvPr/>
              </p:nvSpPr>
              <p:spPr>
                <a:xfrm>
                  <a:off x="995362" y="4265295"/>
                  <a:ext cx="857631" cy="1762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手动操作被取代</a:t>
                  </a:r>
                </a:p>
              </p:txBody>
            </p:sp>
            <p:sp>
              <p:nvSpPr>
                <p:cNvPr id="20" name="Freeform 20"/>
                <p:cNvSpPr/>
                <p:nvPr/>
              </p:nvSpPr>
              <p:spPr>
                <a:xfrm>
                  <a:off x="2905125" y="3810000"/>
                  <a:ext cx="1905000" cy="666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00" h="666750">
                      <a:moveTo>
                        <a:pt x="76200" y="0"/>
                      </a:moveTo>
                      <a:lnTo>
                        <a:pt x="1828800" y="0"/>
                      </a:lnTo>
                      <a:cubicBezTo>
                        <a:pt x="1870884" y="0"/>
                        <a:pt x="1905000" y="34116"/>
                        <a:pt x="1905000" y="76200"/>
                      </a:cubicBezTo>
                      <a:lnTo>
                        <a:pt x="1905000" y="590550"/>
                      </a:lnTo>
                      <a:cubicBezTo>
                        <a:pt x="1905000" y="632634"/>
                        <a:pt x="1870884" y="666750"/>
                        <a:pt x="1828800" y="666750"/>
                      </a:cubicBezTo>
                      <a:lnTo>
                        <a:pt x="76200" y="666750"/>
                      </a:lnTo>
                      <a:cubicBezTo>
                        <a:pt x="34116" y="666750"/>
                        <a:pt x="0" y="632634"/>
                        <a:pt x="0" y="590550"/>
                      </a:cubicBezTo>
                      <a:lnTo>
                        <a:pt x="0" y="76200"/>
                      </a:lnTo>
                      <a:cubicBezTo>
                        <a:pt x="0" y="34116"/>
                        <a:pt x="34116" y="0"/>
                        <a:pt x="76200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</p:sp>
            <p:sp>
              <p:nvSpPr>
                <p:cNvPr id="21" name="TextBox 21"/>
                <p:cNvSpPr txBox="1"/>
                <p:nvPr/>
              </p:nvSpPr>
              <p:spPr>
                <a:xfrm>
                  <a:off x="3083433" y="3884295"/>
                  <a:ext cx="221529" cy="46939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2400" b="1" dirty="0">
                      <a:solidFill>
                        <a:schemeClr val="accent1"/>
                      </a:solidFill>
                      <a:latin typeface="+mj-lt"/>
                      <a:ea typeface="+mj-ea"/>
                      <a:cs typeface="+mj-cs"/>
                    </a:rPr>
                    <a:t>3</a:t>
                  </a:r>
                </a:p>
              </p:txBody>
            </p:sp>
            <p:sp>
              <p:nvSpPr>
                <p:cNvPr id="22" name="TextBox 22"/>
                <p:cNvSpPr txBox="1"/>
                <p:nvPr/>
              </p:nvSpPr>
              <p:spPr>
                <a:xfrm>
                  <a:off x="3423666" y="4030028"/>
                  <a:ext cx="293370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个月</a:t>
                  </a:r>
                </a:p>
              </p:txBody>
            </p:sp>
            <p:sp>
              <p:nvSpPr>
                <p:cNvPr id="23" name="TextBox 23"/>
                <p:cNvSpPr txBox="1"/>
                <p:nvPr/>
              </p:nvSpPr>
              <p:spPr>
                <a:xfrm>
                  <a:off x="3090862" y="4265295"/>
                  <a:ext cx="494157" cy="1762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试点周期</a:t>
                  </a:r>
                </a:p>
              </p:txBody>
            </p:sp>
          </p:grpSp>
          <p:grpSp>
            <p:nvGrpSpPr>
              <p:cNvPr id="27" name="Group 27"/>
              <p:cNvGrpSpPr/>
              <p:nvPr/>
            </p:nvGrpSpPr>
            <p:grpSpPr>
              <a:xfrm>
                <a:off x="752475" y="4839652"/>
                <a:ext cx="1640072" cy="205359"/>
                <a:chOff x="752475" y="4839652"/>
                <a:chExt cx="1640072" cy="205359"/>
              </a:xfrm>
            </p:grpSpPr>
            <p:sp>
              <p:nvSpPr>
                <p:cNvPr id="25" name="Ellipse 25"/>
                <p:cNvSpPr/>
                <p:nvPr/>
              </p:nvSpPr>
              <p:spPr>
                <a:xfrm>
                  <a:off x="752475" y="4848225"/>
                  <a:ext cx="114300" cy="114300"/>
                </a:xfrm>
                <a:prstGeom prst="ellipse">
                  <a:avLst/>
                </a:prstGeom>
                <a:solidFill>
                  <a:srgbClr val="2F855A"/>
                </a:solidFill>
                <a:ln>
                  <a:noFill/>
                </a:ln>
              </p:spPr>
            </p:sp>
            <p:sp>
              <p:nvSpPr>
                <p:cNvPr id="26" name="TextBox 26"/>
                <p:cNvSpPr txBox="1"/>
                <p:nvPr/>
              </p:nvSpPr>
              <p:spPr>
                <a:xfrm>
                  <a:off x="947166" y="4839652"/>
                  <a:ext cx="1445381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事实锚点 · 可量化验证</a:t>
                  </a:r>
                </a:p>
              </p:txBody>
            </p:sp>
          </p:grpSp>
          <p:sp>
            <p:nvSpPr>
              <p:cNvPr id="28" name="Freeform 28"/>
              <p:cNvSpPr/>
              <p:nvPr/>
            </p:nvSpPr>
            <p:spPr>
              <a:xfrm>
                <a:off x="6381750" y="1809750"/>
                <a:ext cx="5238750" cy="3810000"/>
              </a:xfrm>
              <a:custGeom>
                <a:avLst/>
                <a:gdLst/>
                <a:ahLst/>
                <a:cxnLst/>
                <a:rect l="l" t="t" r="r" b="b"/>
                <a:pathLst>
                  <a:path w="5238750" h="3810000">
                    <a:moveTo>
                      <a:pt x="114300" y="0"/>
                    </a:moveTo>
                    <a:lnTo>
                      <a:pt x="5124450" y="0"/>
                    </a:lnTo>
                    <a:cubicBezTo>
                      <a:pt x="5187576" y="0"/>
                      <a:pt x="5238750" y="51174"/>
                      <a:pt x="5238750" y="114300"/>
                    </a:cubicBezTo>
                    <a:lnTo>
                      <a:pt x="5238750" y="3695700"/>
                    </a:lnTo>
                    <a:cubicBezTo>
                      <a:pt x="5238750" y="3758826"/>
                      <a:pt x="5187576" y="3810000"/>
                      <a:pt x="5124450" y="3810000"/>
                    </a:cubicBezTo>
                    <a:lnTo>
                      <a:pt x="114300" y="3810000"/>
                    </a:lnTo>
                    <a:cubicBezTo>
                      <a:pt x="51174" y="3810000"/>
                      <a:pt x="0" y="3758826"/>
                      <a:pt x="0" y="3695700"/>
                    </a:cubicBezTo>
                    <a:lnTo>
                      <a:pt x="0" y="114300"/>
                    </a:lnTo>
                    <a:cubicBezTo>
                      <a:pt x="0" y="51174"/>
                      <a:pt x="51174" y="0"/>
                      <a:pt x="11430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>
                <a:solidFill>
                  <a:schemeClr val="accent4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6381750" y="1809750"/>
                <a:ext cx="5238750" cy="762000"/>
              </a:xfrm>
              <a:custGeom>
                <a:avLst/>
                <a:gdLst/>
                <a:ahLst/>
                <a:cxnLst/>
                <a:rect l="l" t="t" r="r" b="b"/>
                <a:pathLst>
                  <a:path w="5238750" h="762000">
                    <a:moveTo>
                      <a:pt x="114300" y="0"/>
                    </a:moveTo>
                    <a:lnTo>
                      <a:pt x="5124450" y="0"/>
                    </a:lnTo>
                    <a:cubicBezTo>
                      <a:pt x="5187576" y="0"/>
                      <a:pt x="5238750" y="51174"/>
                      <a:pt x="5238750" y="114300"/>
                    </a:cubicBezTo>
                    <a:lnTo>
                      <a:pt x="5238750" y="647700"/>
                    </a:lnTo>
                    <a:cubicBezTo>
                      <a:pt x="5238750" y="710826"/>
                      <a:pt x="5187576" y="762000"/>
                      <a:pt x="5124450" y="762000"/>
                    </a:cubicBezTo>
                    <a:lnTo>
                      <a:pt x="114300" y="762000"/>
                    </a:lnTo>
                    <a:cubicBezTo>
                      <a:pt x="51174" y="762000"/>
                      <a:pt x="0" y="710826"/>
                      <a:pt x="0" y="647700"/>
                    </a:cubicBezTo>
                    <a:lnTo>
                      <a:pt x="0" y="114300"/>
                    </a:lnTo>
                    <a:cubicBezTo>
                      <a:pt x="0" y="51174"/>
                      <a:pt x="51174" y="0"/>
                      <a:pt x="11430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0" name="Rectangle 30"/>
              <p:cNvSpPr/>
              <p:nvPr/>
            </p:nvSpPr>
            <p:spPr>
              <a:xfrm>
                <a:off x="6381750" y="2286000"/>
                <a:ext cx="5238750" cy="28575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6614541" y="2125028"/>
                <a:ext cx="57521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ROI攀升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6600825" y="2655570"/>
                <a:ext cx="1530126" cy="1047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5400" b="1" dirty="0">
                    <a:solidFill>
                      <a:srgbClr val="2F855A"/>
                    </a:solidFill>
                    <a:latin typeface="+mj-lt"/>
                    <a:ea typeface="+mj-ea"/>
                    <a:cs typeface="+mj-cs"/>
                  </a:rPr>
                  <a:t>45%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6613779" y="3394710"/>
                <a:ext cx="146608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广告支出回报率提升</a:t>
                </a:r>
              </a:p>
            </p:txBody>
          </p:sp>
          <p:grpSp>
            <p:nvGrpSpPr>
              <p:cNvPr id="42" name="Group 42"/>
              <p:cNvGrpSpPr/>
              <p:nvPr/>
            </p:nvGrpSpPr>
            <p:grpSpPr>
              <a:xfrm>
                <a:off x="6619875" y="3810000"/>
                <a:ext cx="4000500" cy="666750"/>
                <a:chOff x="6619875" y="3810000"/>
                <a:chExt cx="4000500" cy="666750"/>
              </a:xfrm>
            </p:grpSpPr>
            <p:sp>
              <p:nvSpPr>
                <p:cNvPr id="34" name="Freeform 34"/>
                <p:cNvSpPr/>
                <p:nvPr/>
              </p:nvSpPr>
              <p:spPr>
                <a:xfrm>
                  <a:off x="6619875" y="3810000"/>
                  <a:ext cx="1905000" cy="666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00" h="666750">
                      <a:moveTo>
                        <a:pt x="76200" y="0"/>
                      </a:moveTo>
                      <a:lnTo>
                        <a:pt x="1828800" y="0"/>
                      </a:lnTo>
                      <a:cubicBezTo>
                        <a:pt x="1870884" y="0"/>
                        <a:pt x="1905000" y="34116"/>
                        <a:pt x="1905000" y="76200"/>
                      </a:cubicBezTo>
                      <a:lnTo>
                        <a:pt x="1905000" y="590550"/>
                      </a:lnTo>
                      <a:cubicBezTo>
                        <a:pt x="1905000" y="632634"/>
                        <a:pt x="1870884" y="666750"/>
                        <a:pt x="1828800" y="666750"/>
                      </a:cubicBezTo>
                      <a:lnTo>
                        <a:pt x="76200" y="666750"/>
                      </a:lnTo>
                      <a:cubicBezTo>
                        <a:pt x="34116" y="666750"/>
                        <a:pt x="0" y="632634"/>
                        <a:pt x="0" y="590550"/>
                      </a:cubicBezTo>
                      <a:lnTo>
                        <a:pt x="0" y="76200"/>
                      </a:lnTo>
                      <a:cubicBezTo>
                        <a:pt x="0" y="34116"/>
                        <a:pt x="34116" y="0"/>
                        <a:pt x="76200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</p:sp>
            <p:sp>
              <p:nvSpPr>
                <p:cNvPr id="35" name="TextBox 35"/>
                <p:cNvSpPr txBox="1"/>
                <p:nvPr/>
              </p:nvSpPr>
              <p:spPr>
                <a:xfrm>
                  <a:off x="6798183" y="3884295"/>
                  <a:ext cx="687507" cy="46939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2400" b="1" dirty="0">
                      <a:solidFill>
                        <a:schemeClr val="accent1"/>
                      </a:solidFill>
                      <a:latin typeface="+mj-lt"/>
                      <a:ea typeface="+mj-ea"/>
                      <a:cs typeface="+mj-cs"/>
                    </a:rPr>
                    <a:t>30%</a:t>
                  </a:r>
                </a:p>
              </p:txBody>
            </p:sp>
            <p:sp>
              <p:nvSpPr>
                <p:cNvPr id="36" name="TextBox 36"/>
                <p:cNvSpPr txBox="1"/>
                <p:nvPr/>
              </p:nvSpPr>
              <p:spPr>
                <a:xfrm>
                  <a:off x="7614666" y="4030028"/>
                  <a:ext cx="88411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05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↓</a:t>
                  </a:r>
                </a:p>
              </p:txBody>
            </p:sp>
            <p:sp>
              <p:nvSpPr>
                <p:cNvPr id="37" name="TextBox 37"/>
                <p:cNvSpPr txBox="1"/>
                <p:nvPr/>
              </p:nvSpPr>
              <p:spPr>
                <a:xfrm>
                  <a:off x="6805612" y="4265295"/>
                  <a:ext cx="494157" cy="1762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误投减少</a:t>
                  </a:r>
                </a:p>
              </p:txBody>
            </p:sp>
            <p:sp>
              <p:nvSpPr>
                <p:cNvPr id="38" name="Freeform 38"/>
                <p:cNvSpPr/>
                <p:nvPr/>
              </p:nvSpPr>
              <p:spPr>
                <a:xfrm>
                  <a:off x="8715375" y="3810000"/>
                  <a:ext cx="1905000" cy="666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00" h="666750">
                      <a:moveTo>
                        <a:pt x="76200" y="0"/>
                      </a:moveTo>
                      <a:lnTo>
                        <a:pt x="1828800" y="0"/>
                      </a:lnTo>
                      <a:cubicBezTo>
                        <a:pt x="1870884" y="0"/>
                        <a:pt x="1905000" y="34116"/>
                        <a:pt x="1905000" y="76200"/>
                      </a:cubicBezTo>
                      <a:lnTo>
                        <a:pt x="1905000" y="590550"/>
                      </a:lnTo>
                      <a:cubicBezTo>
                        <a:pt x="1905000" y="632634"/>
                        <a:pt x="1870884" y="666750"/>
                        <a:pt x="1828800" y="666750"/>
                      </a:cubicBezTo>
                      <a:lnTo>
                        <a:pt x="76200" y="666750"/>
                      </a:lnTo>
                      <a:cubicBezTo>
                        <a:pt x="34116" y="666750"/>
                        <a:pt x="0" y="632634"/>
                        <a:pt x="0" y="590550"/>
                      </a:cubicBezTo>
                      <a:lnTo>
                        <a:pt x="0" y="76200"/>
                      </a:lnTo>
                      <a:cubicBezTo>
                        <a:pt x="0" y="34116"/>
                        <a:pt x="34116" y="0"/>
                        <a:pt x="76200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</p:sp>
            <p:sp>
              <p:nvSpPr>
                <p:cNvPr id="39" name="TextBox 39"/>
                <p:cNvSpPr txBox="1"/>
                <p:nvPr/>
              </p:nvSpPr>
              <p:spPr>
                <a:xfrm>
                  <a:off x="8893683" y="3884295"/>
                  <a:ext cx="687507" cy="46939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2400" b="1" dirty="0">
                      <a:solidFill>
                        <a:schemeClr val="accent1"/>
                      </a:solidFill>
                      <a:latin typeface="+mj-lt"/>
                      <a:ea typeface="+mj-ea"/>
                      <a:cs typeface="+mj-cs"/>
                    </a:rPr>
                    <a:t>30%</a:t>
                  </a:r>
                </a:p>
              </p:txBody>
            </p:sp>
            <p:sp>
              <p:nvSpPr>
                <p:cNvPr id="40" name="TextBox 40"/>
                <p:cNvSpPr txBox="1"/>
                <p:nvPr/>
              </p:nvSpPr>
              <p:spPr>
                <a:xfrm>
                  <a:off x="9710166" y="4030028"/>
                  <a:ext cx="88411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05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↓</a:t>
                  </a:r>
                </a:p>
              </p:txBody>
            </p:sp>
            <p:sp>
              <p:nvSpPr>
                <p:cNvPr id="41" name="TextBox 41"/>
                <p:cNvSpPr txBox="1"/>
                <p:nvPr/>
              </p:nvSpPr>
              <p:spPr>
                <a:xfrm>
                  <a:off x="8901112" y="4265295"/>
                  <a:ext cx="736473" cy="1762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决策误差降低</a:t>
                  </a:r>
                </a:p>
              </p:txBody>
            </p:sp>
          </p:grpSp>
          <p:grpSp>
            <p:nvGrpSpPr>
              <p:cNvPr id="45" name="Group 45"/>
              <p:cNvGrpSpPr/>
              <p:nvPr/>
            </p:nvGrpSpPr>
            <p:grpSpPr>
              <a:xfrm>
                <a:off x="6562725" y="4839652"/>
                <a:ext cx="1640072" cy="205359"/>
                <a:chOff x="6562725" y="4839652"/>
                <a:chExt cx="1640072" cy="205359"/>
              </a:xfrm>
            </p:grpSpPr>
            <p:sp>
              <p:nvSpPr>
                <p:cNvPr id="43" name="Ellipse 43"/>
                <p:cNvSpPr/>
                <p:nvPr/>
              </p:nvSpPr>
              <p:spPr>
                <a:xfrm>
                  <a:off x="6562725" y="4848225"/>
                  <a:ext cx="114300" cy="114300"/>
                </a:xfrm>
                <a:prstGeom prst="ellipse">
                  <a:avLst/>
                </a:prstGeom>
                <a:solidFill>
                  <a:srgbClr val="2F855A"/>
                </a:solidFill>
                <a:ln>
                  <a:noFill/>
                </a:ln>
              </p:spPr>
            </p:sp>
            <p:sp>
              <p:nvSpPr>
                <p:cNvPr id="44" name="TextBox 44"/>
                <p:cNvSpPr txBox="1"/>
                <p:nvPr/>
              </p:nvSpPr>
              <p:spPr>
                <a:xfrm>
                  <a:off x="6757416" y="4839652"/>
                  <a:ext cx="1445381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事实锚点 · 可量化验证</a:t>
                  </a:r>
                </a:p>
              </p:txBody>
            </p:sp>
          </p:grpSp>
        </p:grpSp>
        <p:grpSp>
          <p:nvGrpSpPr>
            <p:cNvPr id="49" name="Group 49"/>
            <p:cNvGrpSpPr/>
            <p:nvPr/>
          </p:nvGrpSpPr>
          <p:grpSpPr>
            <a:xfrm>
              <a:off x="566166" y="5905500"/>
              <a:ext cx="11054334" cy="282511"/>
              <a:chOff x="566166" y="5905500"/>
              <a:chExt cx="11054334" cy="282511"/>
            </a:xfrm>
          </p:grpSpPr>
          <p:sp>
            <p:nvSpPr>
              <p:cNvPr id="47" name="Line 47"/>
              <p:cNvSpPr/>
              <p:nvPr/>
            </p:nvSpPr>
            <p:spPr>
              <a:xfrm>
                <a:off x="571500" y="5905500"/>
                <a:ext cx="11049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049000" h="9525">
                    <a:moveTo>
                      <a:pt x="0" y="0"/>
                    </a:moveTo>
                    <a:lnTo>
                      <a:pt x="1104900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  <a:prstDash val="dash"/>
              </a:ln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566166" y="5982652"/>
                <a:ext cx="361751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数据来源：某500强快消品牌内部试点报告（2024Q4）</a:t>
                </a:r>
              </a:p>
            </p:txBody>
          </p:sp>
        </p:grpSp>
      </p:grpSp>
      <p:grpSp>
        <p:nvGrpSpPr>
          <p:cNvPr id="54" name="Group 54"/>
          <p:cNvGrpSpPr/>
          <p:nvPr/>
        </p:nvGrpSpPr>
        <p:grpSpPr>
          <a:xfrm>
            <a:off x="5772150" y="-38100"/>
            <a:ext cx="6419850" cy="6206966"/>
            <a:chOff x="5772150" y="-38100"/>
            <a:chExt cx="6419850" cy="6206966"/>
          </a:xfrm>
        </p:grpSpPr>
        <p:sp>
          <p:nvSpPr>
            <p:cNvPr id="51" name="TextBox 51"/>
            <p:cNvSpPr txBox="1"/>
            <p:nvPr/>
          </p:nvSpPr>
          <p:spPr>
            <a:xfrm>
              <a:off x="11365849" y="6006941"/>
              <a:ext cx="25941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5 / 8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5772150" y="-38100"/>
              <a:ext cx="76200" cy="76200"/>
            </a:xfrm>
            <a:prstGeom prst="ellipse">
              <a:avLst/>
            </a:prstGeom>
            <a:solidFill>
              <a:schemeClr val="accent2">
                <a:alpha val="30000"/>
              </a:schemeClr>
            </a:solidFill>
            <a:ln>
              <a:noFill/>
            </a:ln>
          </p:spPr>
        </p:sp>
        <p:sp>
          <p:nvSpPr>
            <p:cNvPr id="53" name="Ellipse 53"/>
            <p:cNvSpPr/>
            <p:nvPr/>
          </p:nvSpPr>
          <p:spPr>
            <a:xfrm>
              <a:off x="11049000" y="476250"/>
              <a:ext cx="1143000" cy="1143000"/>
            </a:xfrm>
            <a:prstGeom prst="ellipse">
              <a:avLst/>
            </a:prstGeom>
            <a:solidFill>
              <a:schemeClr val="accent2">
                <a:alpha val="5000"/>
              </a:schemeClr>
            </a:solidFill>
            <a:ln>
              <a:noFill/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accent2">
                    <a:alpha val="8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lin ang="5400000" scaled="1"/>
            </a:gra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71500" y="571500"/>
            <a:ext cx="11049000" cy="485775"/>
            <a:chOff x="571500" y="571500"/>
            <a:chExt cx="11049000" cy="485775"/>
          </a:xfrm>
        </p:grpSpPr>
        <p:sp>
          <p:nvSpPr>
            <p:cNvPr id="5" name="Rectangle 5"/>
            <p:cNvSpPr/>
            <p:nvPr/>
          </p:nvSpPr>
          <p:spPr>
            <a:xfrm>
              <a:off x="571500" y="571500"/>
              <a:ext cx="76200" cy="381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57238" y="721995"/>
              <a:ext cx="102938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spc="1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SIGNALCOUNT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571500" y="10477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</p:grpSp>
      <p:grpSp>
        <p:nvGrpSpPr>
          <p:cNvPr id="45" name="Group 45"/>
          <p:cNvGrpSpPr/>
          <p:nvPr/>
        </p:nvGrpSpPr>
        <p:grpSpPr>
          <a:xfrm>
            <a:off x="557784" y="1184910"/>
            <a:ext cx="11062716" cy="5387340"/>
            <a:chOff x="557784" y="1184910"/>
            <a:chExt cx="11062716" cy="5387340"/>
          </a:xfrm>
        </p:grpSpPr>
        <p:sp>
          <p:nvSpPr>
            <p:cNvPr id="9" name="TextBox 9"/>
            <p:cNvSpPr txBox="1"/>
            <p:nvPr/>
          </p:nvSpPr>
          <p:spPr>
            <a:xfrm>
              <a:off x="557784" y="1184910"/>
              <a:ext cx="3253435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平台核心性能指标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64642" y="1616392"/>
              <a:ext cx="38301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数据整合、分析、执行、度量四大引擎关键数字</a:t>
              </a:r>
            </a:p>
          </p:txBody>
        </p:sp>
        <p:grpSp>
          <p:nvGrpSpPr>
            <p:cNvPr id="18" name="Group 18"/>
            <p:cNvGrpSpPr/>
            <p:nvPr/>
          </p:nvGrpSpPr>
          <p:grpSpPr>
            <a:xfrm>
              <a:off x="571500" y="2095500"/>
              <a:ext cx="5334000" cy="2095500"/>
              <a:chOff x="571500" y="2095500"/>
              <a:chExt cx="5334000" cy="20955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571500" y="2095500"/>
                <a:ext cx="5334000" cy="2095500"/>
              </a:xfrm>
              <a:custGeom>
                <a:avLst/>
                <a:gdLst/>
                <a:ahLst/>
                <a:cxnLst/>
                <a:rect l="l" t="t" r="r" b="b"/>
                <a:pathLst>
                  <a:path w="5334000" h="2095500">
                    <a:moveTo>
                      <a:pt x="114300" y="0"/>
                    </a:moveTo>
                    <a:lnTo>
                      <a:pt x="5219700" y="0"/>
                    </a:lnTo>
                    <a:cubicBezTo>
                      <a:pt x="5282826" y="0"/>
                      <a:pt x="5334000" y="51174"/>
                      <a:pt x="5334000" y="114300"/>
                    </a:cubicBezTo>
                    <a:lnTo>
                      <a:pt x="5334000" y="1981200"/>
                    </a:lnTo>
                    <a:cubicBezTo>
                      <a:pt x="5334000" y="2044326"/>
                      <a:pt x="5282826" y="2095500"/>
                      <a:pt x="5219700" y="2095500"/>
                    </a:cubicBezTo>
                    <a:lnTo>
                      <a:pt x="114300" y="2095500"/>
                    </a:lnTo>
                    <a:cubicBezTo>
                      <a:pt x="51174" y="2095500"/>
                      <a:pt x="0" y="2044326"/>
                      <a:pt x="0" y="1981200"/>
                    </a:cubicBezTo>
                    <a:lnTo>
                      <a:pt x="0" y="114300"/>
                    </a:lnTo>
                    <a:cubicBezTo>
                      <a:pt x="0" y="51174"/>
                      <a:pt x="51174" y="0"/>
                      <a:pt x="11430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571500" y="2095500"/>
                <a:ext cx="53340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5334000" h="38100">
                    <a:moveTo>
                      <a:pt x="19050" y="0"/>
                    </a:moveTo>
                    <a:lnTo>
                      <a:pt x="5314950" y="0"/>
                    </a:lnTo>
                    <a:cubicBezTo>
                      <a:pt x="5325471" y="0"/>
                      <a:pt x="5334000" y="8529"/>
                      <a:pt x="5334000" y="19050"/>
                    </a:cubicBezTo>
                    <a:lnTo>
                      <a:pt x="5334000" y="19050"/>
                    </a:lnTo>
                    <a:cubicBezTo>
                      <a:pt x="5334000" y="29571"/>
                      <a:pt x="5325471" y="38100"/>
                      <a:pt x="5314950" y="38100"/>
                    </a:cubicBezTo>
                    <a:lnTo>
                      <a:pt x="19050" y="38100"/>
                    </a:lnTo>
                    <a:cubicBezTo>
                      <a:pt x="8529" y="38100"/>
                      <a:pt x="0" y="29571"/>
                      <a:pt x="0" y="19050"/>
                    </a:cubicBezTo>
                    <a:lnTo>
                      <a:pt x="0" y="19050"/>
                    </a:lnTo>
                    <a:cubicBezTo>
                      <a:pt x="0" y="8529"/>
                      <a:pt x="8529" y="0"/>
                      <a:pt x="1905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933450" y="2404110"/>
                <a:ext cx="1073109" cy="819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4200" b="1" dirty="0">
                    <a:solidFill>
                      <a:schemeClr val="accent1"/>
                    </a:solidFill>
                    <a:latin typeface="+mj-lt"/>
                    <a:ea typeface="+mj-ea"/>
                    <a:cs typeface="+mj-cs"/>
                  </a:rPr>
                  <a:t>50+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944880" y="3076575"/>
                <a:ext cx="107537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数据源接入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947166" y="3410902"/>
                <a:ext cx="156552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预置连接器，小时级上线</a:t>
                </a:r>
              </a:p>
            </p:txBody>
          </p:sp>
          <p:sp>
            <p:nvSpPr>
              <p:cNvPr id="16" name="Ellipse 16"/>
              <p:cNvSpPr/>
              <p:nvPr/>
            </p:nvSpPr>
            <p:spPr>
              <a:xfrm>
                <a:off x="5000625" y="2333625"/>
                <a:ext cx="666750" cy="666750"/>
              </a:xfrm>
              <a:prstGeom prst="ellipse">
                <a:avLst/>
              </a:prstGeom>
              <a:solidFill>
                <a:schemeClr val="accent2">
                  <a:alpha val="10000"/>
                </a:schemeClr>
              </a:solidFill>
              <a:ln>
                <a:noFill/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5191125" y="2571750"/>
                <a:ext cx="28575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190500">
                    <a:moveTo>
                      <a:pt x="0" y="95250"/>
                    </a:moveTo>
                    <a:lnTo>
                      <a:pt x="95250" y="190500"/>
                    </a:lnTo>
                    <a:lnTo>
                      <a:pt x="285750" y="0"/>
                    </a:lnTo>
                  </a:path>
                </a:pathLst>
              </a:custGeom>
              <a:noFill/>
              <a:ln w="28575" cap="rnd">
                <a:solidFill>
                  <a:schemeClr val="accent2"/>
                </a:solidFill>
                <a:round/>
              </a:ln>
            </p:spPr>
          </p:sp>
        </p:grpSp>
        <p:grpSp>
          <p:nvGrpSpPr>
            <p:cNvPr id="28" name="Group 28"/>
            <p:cNvGrpSpPr/>
            <p:nvPr/>
          </p:nvGrpSpPr>
          <p:grpSpPr>
            <a:xfrm>
              <a:off x="6286500" y="2095500"/>
              <a:ext cx="5334000" cy="2095500"/>
              <a:chOff x="6286500" y="2095500"/>
              <a:chExt cx="5334000" cy="20955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6286500" y="2095500"/>
                <a:ext cx="5334000" cy="2095500"/>
              </a:xfrm>
              <a:custGeom>
                <a:avLst/>
                <a:gdLst/>
                <a:ahLst/>
                <a:cxnLst/>
                <a:rect l="l" t="t" r="r" b="b"/>
                <a:pathLst>
                  <a:path w="5334000" h="2095500">
                    <a:moveTo>
                      <a:pt x="114300" y="0"/>
                    </a:moveTo>
                    <a:lnTo>
                      <a:pt x="5219700" y="0"/>
                    </a:lnTo>
                    <a:cubicBezTo>
                      <a:pt x="5282826" y="0"/>
                      <a:pt x="5334000" y="51174"/>
                      <a:pt x="5334000" y="114300"/>
                    </a:cubicBezTo>
                    <a:lnTo>
                      <a:pt x="5334000" y="1981200"/>
                    </a:lnTo>
                    <a:cubicBezTo>
                      <a:pt x="5334000" y="2044326"/>
                      <a:pt x="5282826" y="2095500"/>
                      <a:pt x="5219700" y="2095500"/>
                    </a:cubicBezTo>
                    <a:lnTo>
                      <a:pt x="114300" y="2095500"/>
                    </a:lnTo>
                    <a:cubicBezTo>
                      <a:pt x="51174" y="2095500"/>
                      <a:pt x="0" y="2044326"/>
                      <a:pt x="0" y="1981200"/>
                    </a:cubicBezTo>
                    <a:lnTo>
                      <a:pt x="0" y="114300"/>
                    </a:lnTo>
                    <a:cubicBezTo>
                      <a:pt x="0" y="51174"/>
                      <a:pt x="51174" y="0"/>
                      <a:pt x="11430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6286500" y="2095500"/>
                <a:ext cx="53340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5334000" h="38100">
                    <a:moveTo>
                      <a:pt x="19050" y="0"/>
                    </a:moveTo>
                    <a:lnTo>
                      <a:pt x="5314950" y="0"/>
                    </a:lnTo>
                    <a:cubicBezTo>
                      <a:pt x="5325471" y="0"/>
                      <a:pt x="5334000" y="8529"/>
                      <a:pt x="5334000" y="19050"/>
                    </a:cubicBezTo>
                    <a:lnTo>
                      <a:pt x="5334000" y="19050"/>
                    </a:lnTo>
                    <a:cubicBezTo>
                      <a:pt x="5334000" y="29571"/>
                      <a:pt x="5325471" y="38100"/>
                      <a:pt x="5314950" y="38100"/>
                    </a:cubicBezTo>
                    <a:lnTo>
                      <a:pt x="19050" y="38100"/>
                    </a:lnTo>
                    <a:cubicBezTo>
                      <a:pt x="8529" y="38100"/>
                      <a:pt x="0" y="29571"/>
                      <a:pt x="0" y="19050"/>
                    </a:cubicBezTo>
                    <a:lnTo>
                      <a:pt x="0" y="19050"/>
                    </a:lnTo>
                    <a:cubicBezTo>
                      <a:pt x="0" y="8529"/>
                      <a:pt x="8529" y="0"/>
                      <a:pt x="1905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6648450" y="2404110"/>
                <a:ext cx="1073109" cy="819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4200" b="1" dirty="0">
                    <a:solidFill>
                      <a:schemeClr val="accent1"/>
                    </a:solidFill>
                    <a:latin typeface="+mj-lt"/>
                    <a:ea typeface="+mj-ea"/>
                    <a:cs typeface="+mj-cs"/>
                  </a:rPr>
                  <a:t>&lt;2s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6659880" y="3076575"/>
                <a:ext cx="110177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AI分析延迟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6662166" y="3410902"/>
                <a:ext cx="128282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实时特征计算与推理</a:t>
                </a:r>
              </a:p>
            </p:txBody>
          </p:sp>
          <p:sp>
            <p:nvSpPr>
              <p:cNvPr id="24" name="Ellipse 24"/>
              <p:cNvSpPr/>
              <p:nvPr/>
            </p:nvSpPr>
            <p:spPr>
              <a:xfrm>
                <a:off x="10715625" y="2333625"/>
                <a:ext cx="666750" cy="666750"/>
              </a:xfrm>
              <a:prstGeom prst="ellipse">
                <a:avLst/>
              </a:prstGeom>
              <a:solidFill>
                <a:schemeClr val="accent2">
                  <a:alpha val="10000"/>
                </a:schemeClr>
              </a:solidFill>
              <a:ln>
                <a:noFill/>
              </a:ln>
            </p:spPr>
          </p:sp>
          <p:sp>
            <p:nvSpPr>
              <p:cNvPr id="25" name="Ellipse 25"/>
              <p:cNvSpPr/>
              <p:nvPr/>
            </p:nvSpPr>
            <p:spPr>
              <a:xfrm>
                <a:off x="10829925" y="2590800"/>
                <a:ext cx="152400" cy="152400"/>
              </a:xfrm>
              <a:prstGeom prst="ellipse">
                <a:avLst/>
              </a:prstGeom>
              <a:noFill/>
              <a:ln w="19050">
                <a:solidFill>
                  <a:schemeClr val="accent2"/>
                </a:solidFill>
              </a:ln>
            </p:spPr>
          </p:sp>
          <p:sp>
            <p:nvSpPr>
              <p:cNvPr id="26" name="Ellipse 26"/>
              <p:cNvSpPr/>
              <p:nvPr/>
            </p:nvSpPr>
            <p:spPr>
              <a:xfrm>
                <a:off x="10972800" y="2590800"/>
                <a:ext cx="152400" cy="152400"/>
              </a:xfrm>
              <a:prstGeom prst="ellipse">
                <a:avLst/>
              </a:prstGeom>
              <a:noFill/>
              <a:ln w="19050">
                <a:solidFill>
                  <a:schemeClr val="accent2"/>
                </a:solidFill>
              </a:ln>
            </p:spPr>
          </p:sp>
          <p:sp>
            <p:nvSpPr>
              <p:cNvPr id="27" name="Ellipse 27"/>
              <p:cNvSpPr/>
              <p:nvPr/>
            </p:nvSpPr>
            <p:spPr>
              <a:xfrm>
                <a:off x="11115675" y="2590800"/>
                <a:ext cx="152400" cy="152400"/>
              </a:xfrm>
              <a:prstGeom prst="ellipse">
                <a:avLst/>
              </a:prstGeom>
              <a:noFill/>
              <a:ln w="19050">
                <a:solidFill>
                  <a:schemeClr val="accent2"/>
                </a:solidFill>
              </a:ln>
            </p:spPr>
          </p:sp>
        </p:grpSp>
        <p:grpSp>
          <p:nvGrpSpPr>
            <p:cNvPr id="36" name="Group 36"/>
            <p:cNvGrpSpPr/>
            <p:nvPr/>
          </p:nvGrpSpPr>
          <p:grpSpPr>
            <a:xfrm>
              <a:off x="571500" y="4476750"/>
              <a:ext cx="5334000" cy="2095500"/>
              <a:chOff x="571500" y="4476750"/>
              <a:chExt cx="5334000" cy="20955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571500" y="4476750"/>
                <a:ext cx="5334000" cy="2095500"/>
              </a:xfrm>
              <a:custGeom>
                <a:avLst/>
                <a:gdLst/>
                <a:ahLst/>
                <a:cxnLst/>
                <a:rect l="l" t="t" r="r" b="b"/>
                <a:pathLst>
                  <a:path w="5334000" h="2095500">
                    <a:moveTo>
                      <a:pt x="114300" y="0"/>
                    </a:moveTo>
                    <a:lnTo>
                      <a:pt x="5219700" y="0"/>
                    </a:lnTo>
                    <a:cubicBezTo>
                      <a:pt x="5282826" y="0"/>
                      <a:pt x="5334000" y="51174"/>
                      <a:pt x="5334000" y="114300"/>
                    </a:cubicBezTo>
                    <a:lnTo>
                      <a:pt x="5334000" y="1981200"/>
                    </a:lnTo>
                    <a:cubicBezTo>
                      <a:pt x="5334000" y="2044326"/>
                      <a:pt x="5282826" y="2095500"/>
                      <a:pt x="5219700" y="2095500"/>
                    </a:cubicBezTo>
                    <a:lnTo>
                      <a:pt x="114300" y="2095500"/>
                    </a:lnTo>
                    <a:cubicBezTo>
                      <a:pt x="51174" y="2095500"/>
                      <a:pt x="0" y="2044326"/>
                      <a:pt x="0" y="1981200"/>
                    </a:cubicBezTo>
                    <a:lnTo>
                      <a:pt x="0" y="114300"/>
                    </a:lnTo>
                    <a:cubicBezTo>
                      <a:pt x="0" y="51174"/>
                      <a:pt x="51174" y="0"/>
                      <a:pt x="11430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571500" y="4476750"/>
                <a:ext cx="53340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5334000" h="38100">
                    <a:moveTo>
                      <a:pt x="19050" y="0"/>
                    </a:moveTo>
                    <a:lnTo>
                      <a:pt x="5314950" y="0"/>
                    </a:lnTo>
                    <a:cubicBezTo>
                      <a:pt x="5325471" y="0"/>
                      <a:pt x="5334000" y="8529"/>
                      <a:pt x="5334000" y="19050"/>
                    </a:cubicBezTo>
                    <a:lnTo>
                      <a:pt x="5334000" y="19050"/>
                    </a:lnTo>
                    <a:cubicBezTo>
                      <a:pt x="5334000" y="29571"/>
                      <a:pt x="5325471" y="38100"/>
                      <a:pt x="5314950" y="38100"/>
                    </a:cubicBezTo>
                    <a:lnTo>
                      <a:pt x="19050" y="38100"/>
                    </a:lnTo>
                    <a:cubicBezTo>
                      <a:pt x="8529" y="38100"/>
                      <a:pt x="0" y="29571"/>
                      <a:pt x="0" y="19050"/>
                    </a:cubicBezTo>
                    <a:lnTo>
                      <a:pt x="0" y="19050"/>
                    </a:lnTo>
                    <a:cubicBezTo>
                      <a:pt x="0" y="8529"/>
                      <a:pt x="8529" y="0"/>
                      <a:pt x="1905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933450" y="4785360"/>
                <a:ext cx="1198565" cy="819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4200" b="1" dirty="0">
                    <a:solidFill>
                      <a:schemeClr val="accent1"/>
                    </a:solidFill>
                    <a:latin typeface="+mj-lt"/>
                    <a:ea typeface="+mj-ea"/>
                    <a:cs typeface="+mj-cs"/>
                  </a:rPr>
                  <a:t>95%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944880" y="5457825"/>
                <a:ext cx="128739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自动化执行率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947166" y="5792152"/>
                <a:ext cx="128282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跨渠道自动营销触发</a:t>
                </a:r>
              </a:p>
            </p:txBody>
          </p:sp>
          <p:sp>
            <p:nvSpPr>
              <p:cNvPr id="34" name="Ellipse 34"/>
              <p:cNvSpPr/>
              <p:nvPr/>
            </p:nvSpPr>
            <p:spPr>
              <a:xfrm>
                <a:off x="5000625" y="4714875"/>
                <a:ext cx="666750" cy="666750"/>
              </a:xfrm>
              <a:prstGeom prst="ellipse">
                <a:avLst/>
              </a:prstGeom>
              <a:solidFill>
                <a:srgbClr val="2F855A">
                  <a:alpha val="10000"/>
                </a:srgbClr>
              </a:solidFill>
              <a:ln>
                <a:noFill/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5191125" y="4953000"/>
                <a:ext cx="28575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190500">
                    <a:moveTo>
                      <a:pt x="0" y="95250"/>
                    </a:moveTo>
                    <a:lnTo>
                      <a:pt x="95250" y="190500"/>
                    </a:lnTo>
                    <a:lnTo>
                      <a:pt x="285750" y="0"/>
                    </a:lnTo>
                  </a:path>
                </a:pathLst>
              </a:custGeom>
              <a:noFill/>
              <a:ln w="28575" cap="rnd">
                <a:solidFill>
                  <a:srgbClr val="2F855A"/>
                </a:solidFill>
                <a:round/>
              </a:ln>
            </p:spPr>
          </p:sp>
        </p:grpSp>
        <p:grpSp>
          <p:nvGrpSpPr>
            <p:cNvPr id="44" name="Group 44"/>
            <p:cNvGrpSpPr/>
            <p:nvPr/>
          </p:nvGrpSpPr>
          <p:grpSpPr>
            <a:xfrm>
              <a:off x="6286500" y="4476750"/>
              <a:ext cx="5334000" cy="2095500"/>
              <a:chOff x="6286500" y="4476750"/>
              <a:chExt cx="5334000" cy="209550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6286500" y="4476750"/>
                <a:ext cx="5334000" cy="2095500"/>
              </a:xfrm>
              <a:custGeom>
                <a:avLst/>
                <a:gdLst/>
                <a:ahLst/>
                <a:cxnLst/>
                <a:rect l="l" t="t" r="r" b="b"/>
                <a:pathLst>
                  <a:path w="5334000" h="2095500">
                    <a:moveTo>
                      <a:pt x="114300" y="0"/>
                    </a:moveTo>
                    <a:lnTo>
                      <a:pt x="5219700" y="0"/>
                    </a:lnTo>
                    <a:cubicBezTo>
                      <a:pt x="5282826" y="0"/>
                      <a:pt x="5334000" y="51174"/>
                      <a:pt x="5334000" y="114300"/>
                    </a:cubicBezTo>
                    <a:lnTo>
                      <a:pt x="5334000" y="1981200"/>
                    </a:lnTo>
                    <a:cubicBezTo>
                      <a:pt x="5334000" y="2044326"/>
                      <a:pt x="5282826" y="2095500"/>
                      <a:pt x="5219700" y="2095500"/>
                    </a:cubicBezTo>
                    <a:lnTo>
                      <a:pt x="114300" y="2095500"/>
                    </a:lnTo>
                    <a:cubicBezTo>
                      <a:pt x="51174" y="2095500"/>
                      <a:pt x="0" y="2044326"/>
                      <a:pt x="0" y="1981200"/>
                    </a:cubicBezTo>
                    <a:lnTo>
                      <a:pt x="0" y="114300"/>
                    </a:lnTo>
                    <a:cubicBezTo>
                      <a:pt x="0" y="51174"/>
                      <a:pt x="51174" y="0"/>
                      <a:pt x="11430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6286500" y="4476750"/>
                <a:ext cx="53340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5334000" h="38100">
                    <a:moveTo>
                      <a:pt x="19050" y="0"/>
                    </a:moveTo>
                    <a:lnTo>
                      <a:pt x="5314950" y="0"/>
                    </a:lnTo>
                    <a:cubicBezTo>
                      <a:pt x="5325471" y="0"/>
                      <a:pt x="5334000" y="8529"/>
                      <a:pt x="5334000" y="19050"/>
                    </a:cubicBezTo>
                    <a:lnTo>
                      <a:pt x="5334000" y="19050"/>
                    </a:lnTo>
                    <a:cubicBezTo>
                      <a:pt x="5334000" y="29571"/>
                      <a:pt x="5325471" y="38100"/>
                      <a:pt x="5314950" y="38100"/>
                    </a:cubicBezTo>
                    <a:lnTo>
                      <a:pt x="19050" y="38100"/>
                    </a:lnTo>
                    <a:cubicBezTo>
                      <a:pt x="8529" y="38100"/>
                      <a:pt x="0" y="29571"/>
                      <a:pt x="0" y="19050"/>
                    </a:cubicBezTo>
                    <a:lnTo>
                      <a:pt x="0" y="19050"/>
                    </a:lnTo>
                    <a:cubicBezTo>
                      <a:pt x="0" y="8529"/>
                      <a:pt x="8529" y="0"/>
                      <a:pt x="1905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6648450" y="4785360"/>
                <a:ext cx="728106" cy="819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4200" b="1" dirty="0">
                    <a:solidFill>
                      <a:schemeClr val="accent1"/>
                    </a:solidFill>
                    <a:latin typeface="+mj-lt"/>
                    <a:ea typeface="+mj-ea"/>
                    <a:cs typeface="+mj-cs"/>
                  </a:rPr>
                  <a:t>3×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6659880" y="5457825"/>
                <a:ext cx="128739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决策响应加速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6662166" y="5792152"/>
                <a:ext cx="142417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从洞察到行动时间压缩</a:t>
                </a:r>
              </a:p>
            </p:txBody>
          </p:sp>
          <p:sp>
            <p:nvSpPr>
              <p:cNvPr id="42" name="Ellipse 42"/>
              <p:cNvSpPr/>
              <p:nvPr/>
            </p:nvSpPr>
            <p:spPr>
              <a:xfrm>
                <a:off x="10715625" y="4714875"/>
                <a:ext cx="666750" cy="666750"/>
              </a:xfrm>
              <a:prstGeom prst="ellipse">
                <a:avLst/>
              </a:prstGeom>
              <a:solidFill>
                <a:schemeClr val="accent2">
                  <a:alpha val="10000"/>
                </a:schemeClr>
              </a:solidFill>
              <a:ln>
                <a:noFill/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10906125" y="4953000"/>
                <a:ext cx="381000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238125">
                    <a:moveTo>
                      <a:pt x="0" y="238125"/>
                    </a:moveTo>
                    <a:lnTo>
                      <a:pt x="95250" y="95250"/>
                    </a:lnTo>
                    <a:lnTo>
                      <a:pt x="238125" y="238125"/>
                    </a:lnTo>
                    <a:lnTo>
                      <a:pt x="381000" y="0"/>
                    </a:lnTo>
                  </a:path>
                </a:pathLst>
              </a:custGeom>
              <a:noFill/>
              <a:ln w="19050" cap="rnd">
                <a:solidFill>
                  <a:schemeClr val="accent2"/>
                </a:solidFill>
                <a:round/>
              </a:ln>
            </p:spPr>
          </p:sp>
        </p:grpSp>
      </p:grpSp>
      <p:grpSp>
        <p:nvGrpSpPr>
          <p:cNvPr id="49" name="Group 49"/>
          <p:cNvGrpSpPr/>
          <p:nvPr/>
        </p:nvGrpSpPr>
        <p:grpSpPr>
          <a:xfrm>
            <a:off x="566738" y="6667500"/>
            <a:ext cx="11058524" cy="187166"/>
            <a:chOff x="566738" y="6667500"/>
            <a:chExt cx="11058524" cy="187166"/>
          </a:xfrm>
        </p:grpSpPr>
        <p:sp>
          <p:nvSpPr>
            <p:cNvPr id="46" name="Line 46"/>
            <p:cNvSpPr/>
            <p:nvPr/>
          </p:nvSpPr>
          <p:spPr>
            <a:xfrm>
              <a:off x="571500" y="6667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566738" y="6692741"/>
              <a:ext cx="160545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企业 AI 营销工作台 · 性能概览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365849" y="6692741"/>
              <a:ext cx="25941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6 / 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2">
                <a:alpha val="30000"/>
              </a:schemeClr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57784" y="315278"/>
            <a:ext cx="11062716" cy="588073"/>
            <a:chOff x="557784" y="315278"/>
            <a:chExt cx="11062716" cy="588073"/>
          </a:xfrm>
        </p:grpSpPr>
        <p:sp>
          <p:nvSpPr>
            <p:cNvPr id="5" name="Line 5"/>
            <p:cNvSpPr/>
            <p:nvPr/>
          </p:nvSpPr>
          <p:spPr>
            <a:xfrm>
              <a:off x="571500" y="8572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566166" y="315278"/>
              <a:ext cx="8182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SPREADMAP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57784" y="375285"/>
              <a:ext cx="365668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各渠道营销表现提升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563880" y="1143000"/>
            <a:ext cx="10494645" cy="4572000"/>
            <a:chOff x="563880" y="1143000"/>
            <a:chExt cx="10494645" cy="4572000"/>
          </a:xfrm>
        </p:grpSpPr>
        <p:grpSp>
          <p:nvGrpSpPr>
            <p:cNvPr id="11" name="Group 11"/>
            <p:cNvGrpSpPr/>
            <p:nvPr/>
          </p:nvGrpSpPr>
          <p:grpSpPr>
            <a:xfrm>
              <a:off x="563880" y="1171575"/>
              <a:ext cx="2034540" cy="560070"/>
              <a:chOff x="563880" y="1171575"/>
              <a:chExt cx="2034540" cy="560070"/>
            </a:xfrm>
          </p:grpSpPr>
          <p:sp>
            <p:nvSpPr>
              <p:cNvPr id="9" name="TextBox 9"/>
              <p:cNvSpPr txBox="1"/>
              <p:nvPr/>
            </p:nvSpPr>
            <p:spPr>
              <a:xfrm>
                <a:off x="563880" y="1171575"/>
                <a:ext cx="203454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平台上线后典型渠道的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563880" y="1438275"/>
                <a:ext cx="142875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核心指标变化。</a:t>
                </a:r>
              </a:p>
            </p:txBody>
          </p:sp>
        </p:grpSp>
        <p:grpSp>
          <p:nvGrpSpPr>
            <p:cNvPr id="46" name="Group 46"/>
            <p:cNvGrpSpPr/>
            <p:nvPr/>
          </p:nvGrpSpPr>
          <p:grpSpPr>
            <a:xfrm>
              <a:off x="5715000" y="1143000"/>
              <a:ext cx="5334000" cy="4572000"/>
              <a:chOff x="5715000" y="1143000"/>
              <a:chExt cx="5334000" cy="45720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5715000" y="1143000"/>
                <a:ext cx="5334000" cy="4572000"/>
              </a:xfrm>
              <a:custGeom>
                <a:avLst/>
                <a:gdLst/>
                <a:ahLst/>
                <a:cxnLst/>
                <a:rect l="l" t="t" r="r" b="b"/>
                <a:pathLst>
                  <a:path w="5334000" h="4572000">
                    <a:moveTo>
                      <a:pt x="114300" y="0"/>
                    </a:moveTo>
                    <a:lnTo>
                      <a:pt x="5219700" y="0"/>
                    </a:lnTo>
                    <a:cubicBezTo>
                      <a:pt x="5282826" y="0"/>
                      <a:pt x="5334000" y="51174"/>
                      <a:pt x="5334000" y="114300"/>
                    </a:cubicBezTo>
                    <a:lnTo>
                      <a:pt x="5334000" y="4457700"/>
                    </a:lnTo>
                    <a:cubicBezTo>
                      <a:pt x="5334000" y="4520826"/>
                      <a:pt x="5282826" y="4572000"/>
                      <a:pt x="5219700" y="4572000"/>
                    </a:cubicBezTo>
                    <a:lnTo>
                      <a:pt x="114300" y="4572000"/>
                    </a:lnTo>
                    <a:cubicBezTo>
                      <a:pt x="51174" y="4572000"/>
                      <a:pt x="0" y="4520826"/>
                      <a:pt x="0" y="4457700"/>
                    </a:cubicBezTo>
                    <a:lnTo>
                      <a:pt x="0" y="114300"/>
                    </a:lnTo>
                    <a:cubicBezTo>
                      <a:pt x="0" y="51174"/>
                      <a:pt x="51174" y="0"/>
                      <a:pt x="11430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5715000" y="1143000"/>
                <a:ext cx="5334000" cy="4572000"/>
              </a:xfrm>
              <a:custGeom>
                <a:avLst/>
                <a:gdLst/>
                <a:ahLst/>
                <a:cxnLst/>
                <a:rect l="l" t="t" r="r" b="b"/>
                <a:pathLst>
                  <a:path w="5334000" h="4572000">
                    <a:moveTo>
                      <a:pt x="114300" y="0"/>
                    </a:moveTo>
                    <a:lnTo>
                      <a:pt x="5219700" y="0"/>
                    </a:lnTo>
                    <a:cubicBezTo>
                      <a:pt x="5282826" y="0"/>
                      <a:pt x="5334000" y="51174"/>
                      <a:pt x="5334000" y="114300"/>
                    </a:cubicBezTo>
                    <a:lnTo>
                      <a:pt x="5334000" y="4457700"/>
                    </a:lnTo>
                    <a:cubicBezTo>
                      <a:pt x="5334000" y="4520826"/>
                      <a:pt x="5282826" y="4572000"/>
                      <a:pt x="5219700" y="4572000"/>
                    </a:cubicBezTo>
                    <a:lnTo>
                      <a:pt x="114300" y="4572000"/>
                    </a:lnTo>
                    <a:cubicBezTo>
                      <a:pt x="51174" y="4572000"/>
                      <a:pt x="0" y="4520826"/>
                      <a:pt x="0" y="4457700"/>
                    </a:cubicBezTo>
                    <a:lnTo>
                      <a:pt x="0" y="114300"/>
                    </a:lnTo>
                    <a:cubicBezTo>
                      <a:pt x="0" y="51174"/>
                      <a:pt x="51174" y="0"/>
                      <a:pt x="114300" y="0"/>
                    </a:cubicBezTo>
                    <a:close/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  <p:grpSp>
            <p:nvGrpSpPr>
              <p:cNvPr id="19" name="Group 19"/>
              <p:cNvGrpSpPr/>
              <p:nvPr/>
            </p:nvGrpSpPr>
            <p:grpSpPr>
              <a:xfrm>
                <a:off x="6477000" y="1714500"/>
                <a:ext cx="4191000" cy="3438525"/>
                <a:chOff x="6477000" y="1714500"/>
                <a:chExt cx="4191000" cy="3438525"/>
              </a:xfrm>
            </p:grpSpPr>
            <p:sp>
              <p:nvSpPr>
                <p:cNvPr id="14" name="Line 14"/>
                <p:cNvSpPr/>
                <p:nvPr/>
              </p:nvSpPr>
              <p:spPr>
                <a:xfrm>
                  <a:off x="6477000" y="1714500"/>
                  <a:ext cx="41910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91000" h="9525">
                      <a:moveTo>
                        <a:pt x="0" y="0"/>
                      </a:moveTo>
                      <a:lnTo>
                        <a:pt x="4191000" y="0"/>
                      </a:lnTo>
                    </a:path>
                  </a:pathLst>
                </a:custGeom>
                <a:noFill/>
                <a:ln w="9525">
                  <a:solidFill>
                    <a:schemeClr val="accent4"/>
                  </a:solidFill>
                  <a:prstDash val="dash"/>
                </a:ln>
              </p:spPr>
            </p:sp>
            <p:sp>
              <p:nvSpPr>
                <p:cNvPr id="15" name="Line 15"/>
                <p:cNvSpPr/>
                <p:nvPr/>
              </p:nvSpPr>
              <p:spPr>
                <a:xfrm>
                  <a:off x="6477000" y="2571750"/>
                  <a:ext cx="41910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91000" h="9525">
                      <a:moveTo>
                        <a:pt x="0" y="0"/>
                      </a:moveTo>
                      <a:lnTo>
                        <a:pt x="4191000" y="0"/>
                      </a:lnTo>
                    </a:path>
                  </a:pathLst>
                </a:custGeom>
                <a:noFill/>
                <a:ln w="9525">
                  <a:solidFill>
                    <a:schemeClr val="accent4"/>
                  </a:solidFill>
                  <a:prstDash val="dash"/>
                </a:ln>
              </p:spPr>
            </p:sp>
            <p:sp>
              <p:nvSpPr>
                <p:cNvPr id="16" name="Line 16"/>
                <p:cNvSpPr/>
                <p:nvPr/>
              </p:nvSpPr>
              <p:spPr>
                <a:xfrm>
                  <a:off x="6477000" y="3429000"/>
                  <a:ext cx="41910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91000" h="9525">
                      <a:moveTo>
                        <a:pt x="0" y="0"/>
                      </a:moveTo>
                      <a:lnTo>
                        <a:pt x="4191000" y="0"/>
                      </a:lnTo>
                    </a:path>
                  </a:pathLst>
                </a:custGeom>
                <a:noFill/>
                <a:ln w="9525">
                  <a:solidFill>
                    <a:schemeClr val="accent4"/>
                  </a:solidFill>
                  <a:prstDash val="dash"/>
                </a:ln>
              </p:spPr>
            </p:sp>
            <p:sp>
              <p:nvSpPr>
                <p:cNvPr id="17" name="Line 17"/>
                <p:cNvSpPr/>
                <p:nvPr/>
              </p:nvSpPr>
              <p:spPr>
                <a:xfrm>
                  <a:off x="6477000" y="4286250"/>
                  <a:ext cx="41910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91000" h="9525">
                      <a:moveTo>
                        <a:pt x="0" y="0"/>
                      </a:moveTo>
                      <a:lnTo>
                        <a:pt x="4191000" y="0"/>
                      </a:lnTo>
                    </a:path>
                  </a:pathLst>
                </a:custGeom>
                <a:noFill/>
                <a:ln w="9525">
                  <a:solidFill>
                    <a:schemeClr val="accent4"/>
                  </a:solidFill>
                  <a:prstDash val="dash"/>
                </a:ln>
              </p:spPr>
            </p:sp>
            <p:sp>
              <p:nvSpPr>
                <p:cNvPr id="18" name="Line 18"/>
                <p:cNvSpPr/>
                <p:nvPr/>
              </p:nvSpPr>
              <p:spPr>
                <a:xfrm>
                  <a:off x="6477000" y="5143500"/>
                  <a:ext cx="41910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91000" h="9525">
                      <a:moveTo>
                        <a:pt x="0" y="0"/>
                      </a:moveTo>
                      <a:lnTo>
                        <a:pt x="4191000" y="0"/>
                      </a:lnTo>
                    </a:path>
                  </a:pathLst>
                </a:custGeom>
                <a:noFill/>
                <a:ln w="9525">
                  <a:solidFill>
                    <a:schemeClr val="accent4"/>
                  </a:solidFill>
                  <a:prstDash val="dash"/>
                </a:ln>
              </p:spPr>
            </p:sp>
          </p:grpSp>
          <p:grpSp>
            <p:nvGrpSpPr>
              <p:cNvPr id="25" name="Group 25"/>
              <p:cNvGrpSpPr/>
              <p:nvPr/>
            </p:nvGrpSpPr>
            <p:grpSpPr>
              <a:xfrm>
                <a:off x="6224702" y="1655445"/>
                <a:ext cx="209436" cy="3605212"/>
                <a:chOff x="6224702" y="1655445"/>
                <a:chExt cx="209436" cy="3605212"/>
              </a:xfrm>
            </p:grpSpPr>
            <p:sp>
              <p:nvSpPr>
                <p:cNvPr id="20" name="TextBox 20"/>
                <p:cNvSpPr txBox="1"/>
                <p:nvPr/>
              </p:nvSpPr>
              <p:spPr>
                <a:xfrm>
                  <a:off x="6224702" y="1655445"/>
                  <a:ext cx="209436" cy="1762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en-US" sz="900" dirty="0">
                      <a:solidFill>
                        <a:schemeClr val="accent5"/>
                      </a:solidFill>
                      <a:latin typeface="Consolas"/>
                      <a:ea typeface="Consolas"/>
                      <a:cs typeface="Consolas"/>
                    </a:rPr>
                    <a:t>100</a:t>
                  </a:r>
                </a:p>
              </p:txBody>
            </p:sp>
            <p:sp>
              <p:nvSpPr>
                <p:cNvPr id="21" name="TextBox 21"/>
                <p:cNvSpPr txBox="1"/>
                <p:nvPr/>
              </p:nvSpPr>
              <p:spPr>
                <a:xfrm>
                  <a:off x="6291339" y="2512695"/>
                  <a:ext cx="142799" cy="1762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en-US" sz="900" dirty="0">
                      <a:solidFill>
                        <a:schemeClr val="accent5"/>
                      </a:solidFill>
                      <a:latin typeface="Consolas"/>
                      <a:ea typeface="Consolas"/>
                      <a:cs typeface="Consolas"/>
                    </a:rPr>
                    <a:t>75</a:t>
                  </a:r>
                </a:p>
              </p:txBody>
            </p:sp>
            <p:sp>
              <p:nvSpPr>
                <p:cNvPr id="22" name="TextBox 22"/>
                <p:cNvSpPr txBox="1"/>
                <p:nvPr/>
              </p:nvSpPr>
              <p:spPr>
                <a:xfrm>
                  <a:off x="6291339" y="3369945"/>
                  <a:ext cx="142799" cy="1762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en-US" sz="900" dirty="0">
                      <a:solidFill>
                        <a:schemeClr val="accent5"/>
                      </a:solidFill>
                      <a:latin typeface="Consolas"/>
                      <a:ea typeface="Consolas"/>
                      <a:cs typeface="Consolas"/>
                    </a:rPr>
                    <a:t>50</a:t>
                  </a:r>
                </a:p>
              </p:txBody>
            </p:sp>
            <p:sp>
              <p:nvSpPr>
                <p:cNvPr id="23" name="TextBox 23"/>
                <p:cNvSpPr txBox="1"/>
                <p:nvPr/>
              </p:nvSpPr>
              <p:spPr>
                <a:xfrm>
                  <a:off x="6291339" y="4227195"/>
                  <a:ext cx="142799" cy="1762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en-US" sz="900" dirty="0">
                      <a:solidFill>
                        <a:schemeClr val="accent5"/>
                      </a:solidFill>
                      <a:latin typeface="Consolas"/>
                      <a:ea typeface="Consolas"/>
                      <a:cs typeface="Consolas"/>
                    </a:rPr>
                    <a:t>25</a:t>
                  </a:r>
                </a:p>
              </p:txBody>
            </p:sp>
            <p:sp>
              <p:nvSpPr>
                <p:cNvPr id="24" name="TextBox 24"/>
                <p:cNvSpPr txBox="1"/>
                <p:nvPr/>
              </p:nvSpPr>
              <p:spPr>
                <a:xfrm>
                  <a:off x="6357976" y="5084445"/>
                  <a:ext cx="76162" cy="1762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en-US" sz="900" dirty="0">
                      <a:solidFill>
                        <a:schemeClr val="accent5"/>
                      </a:solidFill>
                      <a:latin typeface="Consolas"/>
                      <a:ea typeface="Consolas"/>
                      <a:cs typeface="Consolas"/>
                    </a:rPr>
                    <a:t>0</a:t>
                  </a:r>
                </a:p>
              </p:txBody>
            </p:sp>
          </p:grpSp>
          <p:grpSp>
            <p:nvGrpSpPr>
              <p:cNvPr id="30" name="Group 30"/>
              <p:cNvGrpSpPr/>
              <p:nvPr/>
            </p:nvGrpSpPr>
            <p:grpSpPr>
              <a:xfrm>
                <a:off x="6667500" y="1571625"/>
                <a:ext cx="3724168" cy="343281"/>
                <a:chOff x="6667500" y="1571625"/>
                <a:chExt cx="3724168" cy="343281"/>
              </a:xfrm>
            </p:grpSpPr>
            <p:sp>
              <p:nvSpPr>
                <p:cNvPr id="26" name="Freeform 26"/>
                <p:cNvSpPr/>
                <p:nvPr/>
              </p:nvSpPr>
              <p:spPr>
                <a:xfrm>
                  <a:off x="6667500" y="1571625"/>
                  <a:ext cx="3562350" cy="342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62350" h="342900">
                      <a:moveTo>
                        <a:pt x="38100" y="0"/>
                      </a:moveTo>
                      <a:lnTo>
                        <a:pt x="3524250" y="0"/>
                      </a:lnTo>
                      <a:cubicBezTo>
                        <a:pt x="3545292" y="0"/>
                        <a:pt x="3562350" y="17058"/>
                        <a:pt x="3562350" y="38100"/>
                      </a:cubicBezTo>
                      <a:lnTo>
                        <a:pt x="3562350" y="304800"/>
                      </a:lnTo>
                      <a:cubicBezTo>
                        <a:pt x="3562350" y="325842"/>
                        <a:pt x="3545292" y="342900"/>
                        <a:pt x="3524250" y="342900"/>
                      </a:cubicBezTo>
                      <a:lnTo>
                        <a:pt x="38100" y="342900"/>
                      </a:lnTo>
                      <a:cubicBezTo>
                        <a:pt x="17058" y="342900"/>
                        <a:pt x="0" y="325842"/>
                        <a:pt x="0" y="304800"/>
                      </a:cubicBezTo>
                      <a:lnTo>
                        <a:pt x="0" y="38100"/>
                      </a:lnTo>
                      <a:cubicBezTo>
                        <a:pt x="0" y="17058"/>
                        <a:pt x="17058" y="0"/>
                        <a:pt x="38100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27" name="Freeform 27"/>
                <p:cNvSpPr/>
                <p:nvPr/>
              </p:nvSpPr>
              <p:spPr>
                <a:xfrm>
                  <a:off x="6667500" y="1571625"/>
                  <a:ext cx="3562350" cy="342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62350" h="342900">
                      <a:moveTo>
                        <a:pt x="38100" y="0"/>
                      </a:moveTo>
                      <a:lnTo>
                        <a:pt x="3524250" y="0"/>
                      </a:lnTo>
                      <a:cubicBezTo>
                        <a:pt x="3545292" y="0"/>
                        <a:pt x="3562350" y="17058"/>
                        <a:pt x="3562350" y="38100"/>
                      </a:cubicBezTo>
                      <a:lnTo>
                        <a:pt x="3562350" y="304800"/>
                      </a:lnTo>
                      <a:cubicBezTo>
                        <a:pt x="3562350" y="325842"/>
                        <a:pt x="3545292" y="342900"/>
                        <a:pt x="3524250" y="342900"/>
                      </a:cubicBezTo>
                      <a:lnTo>
                        <a:pt x="38100" y="342900"/>
                      </a:lnTo>
                      <a:cubicBezTo>
                        <a:pt x="17058" y="342900"/>
                        <a:pt x="0" y="325842"/>
                        <a:pt x="0" y="304800"/>
                      </a:cubicBezTo>
                      <a:lnTo>
                        <a:pt x="0" y="38100"/>
                      </a:lnTo>
                      <a:cubicBezTo>
                        <a:pt x="0" y="17058"/>
                        <a:pt x="17058" y="0"/>
                        <a:pt x="38100" y="0"/>
                      </a:cubicBezTo>
                      <a:close/>
                    </a:path>
                  </a:pathLst>
                </a:custGeom>
                <a:noFill/>
                <a:ln w="14288">
                  <a:solidFill>
                    <a:schemeClr val="accent1"/>
                  </a:solidFill>
                </a:ln>
              </p:spPr>
            </p:sp>
            <p:sp>
              <p:nvSpPr>
                <p:cNvPr id="28" name="TextBox 28"/>
                <p:cNvSpPr txBox="1"/>
                <p:nvPr/>
              </p:nvSpPr>
              <p:spPr>
                <a:xfrm>
                  <a:off x="10280904" y="1680210"/>
                  <a:ext cx="110764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200" b="1" dirty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rPr>
                    <a:t>A</a:t>
                  </a:r>
                </a:p>
              </p:txBody>
            </p:sp>
            <p:sp>
              <p:nvSpPr>
                <p:cNvPr id="29" name="TextBox 29"/>
                <p:cNvSpPr txBox="1"/>
                <p:nvPr/>
              </p:nvSpPr>
              <p:spPr>
                <a:xfrm>
                  <a:off x="6738366" y="1696402"/>
                  <a:ext cx="173928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050" b="1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88</a:t>
                  </a:r>
                </a:p>
              </p:txBody>
            </p:sp>
          </p:grpSp>
          <p:grpSp>
            <p:nvGrpSpPr>
              <p:cNvPr id="35" name="Group 35"/>
              <p:cNvGrpSpPr/>
              <p:nvPr/>
            </p:nvGrpSpPr>
            <p:grpSpPr>
              <a:xfrm>
                <a:off x="6667500" y="2571750"/>
                <a:ext cx="3724168" cy="343281"/>
                <a:chOff x="6667500" y="2571750"/>
                <a:chExt cx="3724168" cy="343281"/>
              </a:xfrm>
            </p:grpSpPr>
            <p:sp>
              <p:nvSpPr>
                <p:cNvPr id="31" name="Freeform 31"/>
                <p:cNvSpPr/>
                <p:nvPr/>
              </p:nvSpPr>
              <p:spPr>
                <a:xfrm>
                  <a:off x="6667500" y="2571750"/>
                  <a:ext cx="3000375" cy="342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00375" h="342900">
                      <a:moveTo>
                        <a:pt x="38100" y="0"/>
                      </a:moveTo>
                      <a:lnTo>
                        <a:pt x="2962275" y="0"/>
                      </a:lnTo>
                      <a:cubicBezTo>
                        <a:pt x="2983317" y="0"/>
                        <a:pt x="3000375" y="17058"/>
                        <a:pt x="3000375" y="38100"/>
                      </a:cubicBezTo>
                      <a:lnTo>
                        <a:pt x="3000375" y="304800"/>
                      </a:lnTo>
                      <a:cubicBezTo>
                        <a:pt x="3000375" y="325842"/>
                        <a:pt x="2983317" y="342900"/>
                        <a:pt x="2962275" y="342900"/>
                      </a:cubicBezTo>
                      <a:lnTo>
                        <a:pt x="38100" y="342900"/>
                      </a:lnTo>
                      <a:cubicBezTo>
                        <a:pt x="17058" y="342900"/>
                        <a:pt x="0" y="325842"/>
                        <a:pt x="0" y="304800"/>
                      </a:cubicBezTo>
                      <a:lnTo>
                        <a:pt x="0" y="38100"/>
                      </a:lnTo>
                      <a:cubicBezTo>
                        <a:pt x="0" y="17058"/>
                        <a:pt x="17058" y="0"/>
                        <a:pt x="38100" y="0"/>
                      </a:cubicBezTo>
                      <a:close/>
                    </a:path>
                  </a:pathLst>
                </a:custGeom>
                <a:solidFill>
                  <a:schemeClr val="accent2">
                    <a:alpha val="90000"/>
                  </a:schemeClr>
                </a:solidFill>
                <a:ln>
                  <a:noFill/>
                </a:ln>
              </p:spPr>
            </p:sp>
            <p:sp>
              <p:nvSpPr>
                <p:cNvPr id="32" name="Freeform 32"/>
                <p:cNvSpPr/>
                <p:nvPr/>
              </p:nvSpPr>
              <p:spPr>
                <a:xfrm>
                  <a:off x="6667500" y="2571750"/>
                  <a:ext cx="3000375" cy="342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00375" h="342900">
                      <a:moveTo>
                        <a:pt x="38100" y="0"/>
                      </a:moveTo>
                      <a:lnTo>
                        <a:pt x="2962275" y="0"/>
                      </a:lnTo>
                      <a:cubicBezTo>
                        <a:pt x="2983317" y="0"/>
                        <a:pt x="3000375" y="17058"/>
                        <a:pt x="3000375" y="38100"/>
                      </a:cubicBezTo>
                      <a:lnTo>
                        <a:pt x="3000375" y="304800"/>
                      </a:lnTo>
                      <a:cubicBezTo>
                        <a:pt x="3000375" y="325842"/>
                        <a:pt x="2983317" y="342900"/>
                        <a:pt x="2962275" y="342900"/>
                      </a:cubicBezTo>
                      <a:lnTo>
                        <a:pt x="38100" y="342900"/>
                      </a:lnTo>
                      <a:cubicBezTo>
                        <a:pt x="17058" y="342900"/>
                        <a:pt x="0" y="325842"/>
                        <a:pt x="0" y="304800"/>
                      </a:cubicBezTo>
                      <a:lnTo>
                        <a:pt x="0" y="38100"/>
                      </a:lnTo>
                      <a:cubicBezTo>
                        <a:pt x="0" y="17058"/>
                        <a:pt x="17058" y="0"/>
                        <a:pt x="38100" y="0"/>
                      </a:cubicBezTo>
                      <a:close/>
                    </a:path>
                  </a:pathLst>
                </a:custGeom>
                <a:noFill/>
                <a:ln w="14288">
                  <a:solidFill>
                    <a:schemeClr val="accent1"/>
                  </a:solidFill>
                </a:ln>
              </p:spPr>
            </p:sp>
            <p:sp>
              <p:nvSpPr>
                <p:cNvPr id="33" name="TextBox 33"/>
                <p:cNvSpPr txBox="1"/>
                <p:nvPr/>
              </p:nvSpPr>
              <p:spPr>
                <a:xfrm>
                  <a:off x="10280904" y="2680335"/>
                  <a:ext cx="110764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200" b="1" dirty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rPr>
                    <a:t>B</a:t>
                  </a:r>
                </a:p>
              </p:txBody>
            </p:sp>
            <p:sp>
              <p:nvSpPr>
                <p:cNvPr id="34" name="TextBox 34"/>
                <p:cNvSpPr txBox="1"/>
                <p:nvPr/>
              </p:nvSpPr>
              <p:spPr>
                <a:xfrm>
                  <a:off x="6738366" y="2696528"/>
                  <a:ext cx="173928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050" b="1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74</a:t>
                  </a:r>
                </a:p>
              </p:txBody>
            </p:sp>
          </p:grpSp>
          <p:grpSp>
            <p:nvGrpSpPr>
              <p:cNvPr id="40" name="Group 40"/>
              <p:cNvGrpSpPr/>
              <p:nvPr/>
            </p:nvGrpSpPr>
            <p:grpSpPr>
              <a:xfrm>
                <a:off x="6667500" y="3571875"/>
                <a:ext cx="3724168" cy="343281"/>
                <a:chOff x="6667500" y="3571875"/>
                <a:chExt cx="3724168" cy="343281"/>
              </a:xfrm>
            </p:grpSpPr>
            <p:sp>
              <p:nvSpPr>
                <p:cNvPr id="36" name="Freeform 36"/>
                <p:cNvSpPr/>
                <p:nvPr/>
              </p:nvSpPr>
              <p:spPr>
                <a:xfrm>
                  <a:off x="6667500" y="3571875"/>
                  <a:ext cx="2428875" cy="342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28875" h="342900">
                      <a:moveTo>
                        <a:pt x="38100" y="0"/>
                      </a:moveTo>
                      <a:lnTo>
                        <a:pt x="2390775" y="0"/>
                      </a:lnTo>
                      <a:cubicBezTo>
                        <a:pt x="2411817" y="0"/>
                        <a:pt x="2428875" y="17058"/>
                        <a:pt x="2428875" y="38100"/>
                      </a:cubicBezTo>
                      <a:lnTo>
                        <a:pt x="2428875" y="304800"/>
                      </a:lnTo>
                      <a:cubicBezTo>
                        <a:pt x="2428875" y="325842"/>
                        <a:pt x="2411817" y="342900"/>
                        <a:pt x="2390775" y="342900"/>
                      </a:cubicBezTo>
                      <a:lnTo>
                        <a:pt x="38100" y="342900"/>
                      </a:lnTo>
                      <a:cubicBezTo>
                        <a:pt x="17058" y="342900"/>
                        <a:pt x="0" y="325842"/>
                        <a:pt x="0" y="304800"/>
                      </a:cubicBezTo>
                      <a:lnTo>
                        <a:pt x="0" y="38100"/>
                      </a:lnTo>
                      <a:cubicBezTo>
                        <a:pt x="0" y="17058"/>
                        <a:pt x="17058" y="0"/>
                        <a:pt x="38100" y="0"/>
                      </a:cubicBezTo>
                      <a:close/>
                    </a:path>
                  </a:pathLst>
                </a:custGeom>
                <a:solidFill>
                  <a:schemeClr val="accent3">
                    <a:alpha val="85000"/>
                  </a:schemeClr>
                </a:solidFill>
                <a:ln>
                  <a:noFill/>
                </a:ln>
              </p:spPr>
            </p:sp>
            <p:sp>
              <p:nvSpPr>
                <p:cNvPr id="37" name="Freeform 37"/>
                <p:cNvSpPr/>
                <p:nvPr/>
              </p:nvSpPr>
              <p:spPr>
                <a:xfrm>
                  <a:off x="6667500" y="3571875"/>
                  <a:ext cx="2428875" cy="342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28875" h="342900">
                      <a:moveTo>
                        <a:pt x="38100" y="0"/>
                      </a:moveTo>
                      <a:lnTo>
                        <a:pt x="2390775" y="0"/>
                      </a:lnTo>
                      <a:cubicBezTo>
                        <a:pt x="2411817" y="0"/>
                        <a:pt x="2428875" y="17058"/>
                        <a:pt x="2428875" y="38100"/>
                      </a:cubicBezTo>
                      <a:lnTo>
                        <a:pt x="2428875" y="304800"/>
                      </a:lnTo>
                      <a:cubicBezTo>
                        <a:pt x="2428875" y="325842"/>
                        <a:pt x="2411817" y="342900"/>
                        <a:pt x="2390775" y="342900"/>
                      </a:cubicBezTo>
                      <a:lnTo>
                        <a:pt x="38100" y="342900"/>
                      </a:lnTo>
                      <a:cubicBezTo>
                        <a:pt x="17058" y="342900"/>
                        <a:pt x="0" y="325842"/>
                        <a:pt x="0" y="304800"/>
                      </a:cubicBezTo>
                      <a:lnTo>
                        <a:pt x="0" y="38100"/>
                      </a:lnTo>
                      <a:cubicBezTo>
                        <a:pt x="0" y="17058"/>
                        <a:pt x="17058" y="0"/>
                        <a:pt x="38100" y="0"/>
                      </a:cubicBezTo>
                      <a:close/>
                    </a:path>
                  </a:pathLst>
                </a:custGeom>
                <a:noFill/>
                <a:ln w="14288">
                  <a:solidFill>
                    <a:schemeClr val="accent1"/>
                  </a:solidFill>
                </a:ln>
              </p:spPr>
            </p:sp>
            <p:sp>
              <p:nvSpPr>
                <p:cNvPr id="38" name="TextBox 38"/>
                <p:cNvSpPr txBox="1"/>
                <p:nvPr/>
              </p:nvSpPr>
              <p:spPr>
                <a:xfrm>
                  <a:off x="10280904" y="3680460"/>
                  <a:ext cx="110764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200" b="1" dirty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rPr>
                    <a:t>C</a:t>
                  </a:r>
                </a:p>
              </p:txBody>
            </p:sp>
            <p:sp>
              <p:nvSpPr>
                <p:cNvPr id="39" name="TextBox 39"/>
                <p:cNvSpPr txBox="1"/>
                <p:nvPr/>
              </p:nvSpPr>
              <p:spPr>
                <a:xfrm>
                  <a:off x="6738366" y="3696652"/>
                  <a:ext cx="173928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050" b="1" dirty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rPr>
                    <a:t>60</a:t>
                  </a:r>
                </a:p>
              </p:txBody>
            </p:sp>
          </p:grpSp>
          <p:grpSp>
            <p:nvGrpSpPr>
              <p:cNvPr id="45" name="Group 45"/>
              <p:cNvGrpSpPr/>
              <p:nvPr/>
            </p:nvGrpSpPr>
            <p:grpSpPr>
              <a:xfrm>
                <a:off x="6667500" y="4572000"/>
                <a:ext cx="3724168" cy="343281"/>
                <a:chOff x="6667500" y="4572000"/>
                <a:chExt cx="3724168" cy="343281"/>
              </a:xfrm>
            </p:grpSpPr>
            <p:sp>
              <p:nvSpPr>
                <p:cNvPr id="41" name="Freeform 41"/>
                <p:cNvSpPr/>
                <p:nvPr/>
              </p:nvSpPr>
              <p:spPr>
                <a:xfrm>
                  <a:off x="6667500" y="4572000"/>
                  <a:ext cx="1866900" cy="342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66900" h="342900">
                      <a:moveTo>
                        <a:pt x="38100" y="0"/>
                      </a:moveTo>
                      <a:lnTo>
                        <a:pt x="1828800" y="0"/>
                      </a:lnTo>
                      <a:cubicBezTo>
                        <a:pt x="1849842" y="0"/>
                        <a:pt x="1866900" y="17058"/>
                        <a:pt x="1866900" y="38100"/>
                      </a:cubicBezTo>
                      <a:lnTo>
                        <a:pt x="1866900" y="304800"/>
                      </a:lnTo>
                      <a:cubicBezTo>
                        <a:pt x="1866900" y="325842"/>
                        <a:pt x="1849842" y="342900"/>
                        <a:pt x="1828800" y="342900"/>
                      </a:cubicBezTo>
                      <a:lnTo>
                        <a:pt x="38100" y="342900"/>
                      </a:lnTo>
                      <a:cubicBezTo>
                        <a:pt x="17058" y="342900"/>
                        <a:pt x="0" y="325842"/>
                        <a:pt x="0" y="304800"/>
                      </a:cubicBezTo>
                      <a:lnTo>
                        <a:pt x="0" y="38100"/>
                      </a:lnTo>
                      <a:cubicBezTo>
                        <a:pt x="0" y="17058"/>
                        <a:pt x="17058" y="0"/>
                        <a:pt x="38100" y="0"/>
                      </a:cubicBezTo>
                      <a:close/>
                    </a:path>
                  </a:pathLst>
                </a:custGeom>
                <a:solidFill>
                  <a:schemeClr val="accent3">
                    <a:alpha val="70000"/>
                  </a:schemeClr>
                </a:solidFill>
                <a:ln>
                  <a:noFill/>
                </a:ln>
              </p:spPr>
            </p:sp>
            <p:sp>
              <p:nvSpPr>
                <p:cNvPr id="42" name="Freeform 42"/>
                <p:cNvSpPr/>
                <p:nvPr/>
              </p:nvSpPr>
              <p:spPr>
                <a:xfrm>
                  <a:off x="6667500" y="4572000"/>
                  <a:ext cx="1866900" cy="342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66900" h="342900">
                      <a:moveTo>
                        <a:pt x="38100" y="0"/>
                      </a:moveTo>
                      <a:lnTo>
                        <a:pt x="1828800" y="0"/>
                      </a:lnTo>
                      <a:cubicBezTo>
                        <a:pt x="1849842" y="0"/>
                        <a:pt x="1866900" y="17058"/>
                        <a:pt x="1866900" y="38100"/>
                      </a:cubicBezTo>
                      <a:lnTo>
                        <a:pt x="1866900" y="304800"/>
                      </a:lnTo>
                      <a:cubicBezTo>
                        <a:pt x="1866900" y="325842"/>
                        <a:pt x="1849842" y="342900"/>
                        <a:pt x="1828800" y="342900"/>
                      </a:cubicBezTo>
                      <a:lnTo>
                        <a:pt x="38100" y="342900"/>
                      </a:lnTo>
                      <a:cubicBezTo>
                        <a:pt x="17058" y="342900"/>
                        <a:pt x="0" y="325842"/>
                        <a:pt x="0" y="304800"/>
                      </a:cubicBezTo>
                      <a:lnTo>
                        <a:pt x="0" y="38100"/>
                      </a:lnTo>
                      <a:cubicBezTo>
                        <a:pt x="0" y="17058"/>
                        <a:pt x="17058" y="0"/>
                        <a:pt x="38100" y="0"/>
                      </a:cubicBezTo>
                      <a:close/>
                    </a:path>
                  </a:pathLst>
                </a:custGeom>
                <a:noFill/>
                <a:ln w="14288">
                  <a:solidFill>
                    <a:schemeClr val="accent1"/>
                  </a:solidFill>
                </a:ln>
              </p:spPr>
            </p:sp>
            <p:sp>
              <p:nvSpPr>
                <p:cNvPr id="43" name="TextBox 43"/>
                <p:cNvSpPr txBox="1"/>
                <p:nvPr/>
              </p:nvSpPr>
              <p:spPr>
                <a:xfrm>
                  <a:off x="10280904" y="4680585"/>
                  <a:ext cx="110764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200" b="1" dirty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rPr>
                    <a:t>D</a:t>
                  </a:r>
                </a:p>
              </p:txBody>
            </p:sp>
            <p:sp>
              <p:nvSpPr>
                <p:cNvPr id="44" name="TextBox 44"/>
                <p:cNvSpPr txBox="1"/>
                <p:nvPr/>
              </p:nvSpPr>
              <p:spPr>
                <a:xfrm>
                  <a:off x="6738366" y="4696778"/>
                  <a:ext cx="173928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050" b="1" dirty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rPr>
                    <a:t>46</a:t>
                  </a:r>
                </a:p>
              </p:txBody>
            </p:sp>
          </p:grpSp>
        </p:grpSp>
        <p:grpSp>
          <p:nvGrpSpPr>
            <p:cNvPr id="59" name="Group 59"/>
            <p:cNvGrpSpPr/>
            <p:nvPr/>
          </p:nvGrpSpPr>
          <p:grpSpPr>
            <a:xfrm>
              <a:off x="571500" y="1714500"/>
              <a:ext cx="1647444" cy="1358837"/>
              <a:chOff x="571500" y="1714500"/>
              <a:chExt cx="1647444" cy="1358837"/>
            </a:xfrm>
          </p:grpSpPr>
          <p:grpSp>
            <p:nvGrpSpPr>
              <p:cNvPr id="49" name="Group 49"/>
              <p:cNvGrpSpPr/>
              <p:nvPr/>
            </p:nvGrpSpPr>
            <p:grpSpPr>
              <a:xfrm>
                <a:off x="571500" y="1714500"/>
                <a:ext cx="1506093" cy="215837"/>
                <a:chOff x="571500" y="1714500"/>
                <a:chExt cx="1506093" cy="215837"/>
              </a:xfrm>
            </p:grpSpPr>
            <p:sp>
              <p:nvSpPr>
                <p:cNvPr id="47" name="Freeform 47"/>
                <p:cNvSpPr/>
                <p:nvPr/>
              </p:nvSpPr>
              <p:spPr>
                <a:xfrm>
                  <a:off x="571500" y="1714500"/>
                  <a:ext cx="152400" cy="152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00" h="152400">
                      <a:moveTo>
                        <a:pt x="19050" y="0"/>
                      </a:moveTo>
                      <a:lnTo>
                        <a:pt x="133350" y="0"/>
                      </a:lnTo>
                      <a:cubicBezTo>
                        <a:pt x="143871" y="0"/>
                        <a:pt x="152400" y="8529"/>
                        <a:pt x="152400" y="19050"/>
                      </a:cubicBezTo>
                      <a:lnTo>
                        <a:pt x="152400" y="133350"/>
                      </a:lnTo>
                      <a:cubicBezTo>
                        <a:pt x="152400" y="143871"/>
                        <a:pt x="143871" y="152400"/>
                        <a:pt x="133350" y="152400"/>
                      </a:cubicBezTo>
                      <a:lnTo>
                        <a:pt x="19050" y="152400"/>
                      </a:lnTo>
                      <a:cubicBezTo>
                        <a:pt x="8529" y="152400"/>
                        <a:pt x="0" y="143871"/>
                        <a:pt x="0" y="133350"/>
                      </a:cubicBezTo>
                      <a:lnTo>
                        <a:pt x="0" y="19050"/>
                      </a:lnTo>
                      <a:cubicBezTo>
                        <a:pt x="0" y="8529"/>
                        <a:pt x="8529" y="0"/>
                        <a:pt x="19050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48" name="TextBox 48"/>
                <p:cNvSpPr txBox="1"/>
                <p:nvPr/>
              </p:nvSpPr>
              <p:spPr>
                <a:xfrm>
                  <a:off x="794766" y="1724978"/>
                  <a:ext cx="1282827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开信率与转化率提升</a:t>
                  </a:r>
                </a:p>
              </p:txBody>
            </p:sp>
          </p:grpSp>
          <p:grpSp>
            <p:nvGrpSpPr>
              <p:cNvPr id="52" name="Group 52"/>
              <p:cNvGrpSpPr/>
              <p:nvPr/>
            </p:nvGrpSpPr>
            <p:grpSpPr>
              <a:xfrm>
                <a:off x="571500" y="2095500"/>
                <a:ext cx="1506093" cy="215837"/>
                <a:chOff x="571500" y="2095500"/>
                <a:chExt cx="1506093" cy="215837"/>
              </a:xfrm>
            </p:grpSpPr>
            <p:sp>
              <p:nvSpPr>
                <p:cNvPr id="50" name="Freeform 50"/>
                <p:cNvSpPr/>
                <p:nvPr/>
              </p:nvSpPr>
              <p:spPr>
                <a:xfrm>
                  <a:off x="571500" y="2095500"/>
                  <a:ext cx="152400" cy="152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00" h="152400">
                      <a:moveTo>
                        <a:pt x="19050" y="0"/>
                      </a:moveTo>
                      <a:lnTo>
                        <a:pt x="133350" y="0"/>
                      </a:lnTo>
                      <a:cubicBezTo>
                        <a:pt x="143871" y="0"/>
                        <a:pt x="152400" y="8529"/>
                        <a:pt x="152400" y="19050"/>
                      </a:cubicBezTo>
                      <a:lnTo>
                        <a:pt x="152400" y="133350"/>
                      </a:lnTo>
                      <a:cubicBezTo>
                        <a:pt x="152400" y="143871"/>
                        <a:pt x="143871" y="152400"/>
                        <a:pt x="133350" y="152400"/>
                      </a:cubicBezTo>
                      <a:lnTo>
                        <a:pt x="19050" y="152400"/>
                      </a:lnTo>
                      <a:cubicBezTo>
                        <a:pt x="8529" y="152400"/>
                        <a:pt x="0" y="143871"/>
                        <a:pt x="0" y="133350"/>
                      </a:cubicBezTo>
                      <a:lnTo>
                        <a:pt x="0" y="19050"/>
                      </a:lnTo>
                      <a:cubicBezTo>
                        <a:pt x="0" y="8529"/>
                        <a:pt x="8529" y="0"/>
                        <a:pt x="19050" y="0"/>
                      </a:cubicBezTo>
                      <a:close/>
                    </a:path>
                  </a:pathLst>
                </a:custGeom>
                <a:solidFill>
                  <a:schemeClr val="accent2">
                    <a:alpha val="90000"/>
                  </a:schemeClr>
                </a:solidFill>
                <a:ln>
                  <a:noFill/>
                </a:ln>
              </p:spPr>
            </p:sp>
            <p:sp>
              <p:nvSpPr>
                <p:cNvPr id="51" name="TextBox 51"/>
                <p:cNvSpPr txBox="1"/>
                <p:nvPr/>
              </p:nvSpPr>
              <p:spPr>
                <a:xfrm>
                  <a:off x="794766" y="2105978"/>
                  <a:ext cx="1282827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受众精准定向与互动</a:t>
                  </a:r>
                </a:p>
              </p:txBody>
            </p:sp>
          </p:grpSp>
          <p:grpSp>
            <p:nvGrpSpPr>
              <p:cNvPr id="55" name="Group 55"/>
              <p:cNvGrpSpPr/>
              <p:nvPr/>
            </p:nvGrpSpPr>
            <p:grpSpPr>
              <a:xfrm>
                <a:off x="571500" y="2476500"/>
                <a:ext cx="1647444" cy="215837"/>
                <a:chOff x="571500" y="2476500"/>
                <a:chExt cx="1647444" cy="215837"/>
              </a:xfrm>
            </p:grpSpPr>
            <p:sp>
              <p:nvSpPr>
                <p:cNvPr id="53" name="Freeform 53"/>
                <p:cNvSpPr/>
                <p:nvPr/>
              </p:nvSpPr>
              <p:spPr>
                <a:xfrm>
                  <a:off x="571500" y="2476500"/>
                  <a:ext cx="152400" cy="152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00" h="152400">
                      <a:moveTo>
                        <a:pt x="19050" y="0"/>
                      </a:moveTo>
                      <a:lnTo>
                        <a:pt x="133350" y="0"/>
                      </a:lnTo>
                      <a:cubicBezTo>
                        <a:pt x="143871" y="0"/>
                        <a:pt x="152400" y="8529"/>
                        <a:pt x="152400" y="19050"/>
                      </a:cubicBezTo>
                      <a:lnTo>
                        <a:pt x="152400" y="133350"/>
                      </a:lnTo>
                      <a:cubicBezTo>
                        <a:pt x="152400" y="143871"/>
                        <a:pt x="143871" y="152400"/>
                        <a:pt x="133350" y="152400"/>
                      </a:cubicBezTo>
                      <a:lnTo>
                        <a:pt x="19050" y="152400"/>
                      </a:lnTo>
                      <a:cubicBezTo>
                        <a:pt x="8529" y="152400"/>
                        <a:pt x="0" y="143871"/>
                        <a:pt x="0" y="133350"/>
                      </a:cubicBezTo>
                      <a:lnTo>
                        <a:pt x="0" y="19050"/>
                      </a:lnTo>
                      <a:cubicBezTo>
                        <a:pt x="0" y="8529"/>
                        <a:pt x="8529" y="0"/>
                        <a:pt x="19050" y="0"/>
                      </a:cubicBezTo>
                      <a:close/>
                    </a:path>
                  </a:pathLst>
                </a:custGeom>
                <a:solidFill>
                  <a:schemeClr val="accent3">
                    <a:alpha val="85000"/>
                  </a:schemeClr>
                </a:solidFill>
                <a:ln>
                  <a:noFill/>
                </a:ln>
              </p:spPr>
            </p:sp>
            <p:sp>
              <p:nvSpPr>
                <p:cNvPr id="54" name="TextBox 54"/>
                <p:cNvSpPr txBox="1"/>
                <p:nvPr/>
              </p:nvSpPr>
              <p:spPr>
                <a:xfrm>
                  <a:off x="794766" y="2486978"/>
                  <a:ext cx="1424178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智能出价与关键词优化</a:t>
                  </a:r>
                </a:p>
              </p:txBody>
            </p:sp>
          </p:grpSp>
          <p:grpSp>
            <p:nvGrpSpPr>
              <p:cNvPr id="58" name="Group 58"/>
              <p:cNvGrpSpPr/>
              <p:nvPr/>
            </p:nvGrpSpPr>
            <p:grpSpPr>
              <a:xfrm>
                <a:off x="571500" y="2857500"/>
                <a:ext cx="1647444" cy="215837"/>
                <a:chOff x="571500" y="2857500"/>
                <a:chExt cx="1647444" cy="215837"/>
              </a:xfrm>
            </p:grpSpPr>
            <p:sp>
              <p:nvSpPr>
                <p:cNvPr id="56" name="Freeform 56"/>
                <p:cNvSpPr/>
                <p:nvPr/>
              </p:nvSpPr>
              <p:spPr>
                <a:xfrm>
                  <a:off x="571500" y="2857500"/>
                  <a:ext cx="152400" cy="152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00" h="152400">
                      <a:moveTo>
                        <a:pt x="19050" y="0"/>
                      </a:moveTo>
                      <a:lnTo>
                        <a:pt x="133350" y="0"/>
                      </a:lnTo>
                      <a:cubicBezTo>
                        <a:pt x="143871" y="0"/>
                        <a:pt x="152400" y="8529"/>
                        <a:pt x="152400" y="19050"/>
                      </a:cubicBezTo>
                      <a:lnTo>
                        <a:pt x="152400" y="133350"/>
                      </a:lnTo>
                      <a:cubicBezTo>
                        <a:pt x="152400" y="143871"/>
                        <a:pt x="143871" y="152400"/>
                        <a:pt x="133350" y="152400"/>
                      </a:cubicBezTo>
                      <a:lnTo>
                        <a:pt x="19050" y="152400"/>
                      </a:lnTo>
                      <a:cubicBezTo>
                        <a:pt x="8529" y="152400"/>
                        <a:pt x="0" y="143871"/>
                        <a:pt x="0" y="133350"/>
                      </a:cubicBezTo>
                      <a:lnTo>
                        <a:pt x="0" y="19050"/>
                      </a:lnTo>
                      <a:cubicBezTo>
                        <a:pt x="0" y="8529"/>
                        <a:pt x="8529" y="0"/>
                        <a:pt x="19050" y="0"/>
                      </a:cubicBezTo>
                      <a:close/>
                    </a:path>
                  </a:pathLst>
                </a:custGeom>
                <a:solidFill>
                  <a:schemeClr val="accent3">
                    <a:alpha val="70000"/>
                  </a:schemeClr>
                </a:solidFill>
                <a:ln>
                  <a:noFill/>
                </a:ln>
              </p:spPr>
            </p:sp>
            <p:sp>
              <p:nvSpPr>
                <p:cNvPr id="57" name="TextBox 57"/>
                <p:cNvSpPr txBox="1"/>
                <p:nvPr/>
              </p:nvSpPr>
              <p:spPr>
                <a:xfrm>
                  <a:off x="794766" y="2867978"/>
                  <a:ext cx="1424178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跨设备频次与创意优化</a:t>
                  </a:r>
                </a:p>
              </p:txBody>
            </p:sp>
          </p:grpSp>
        </p:grpSp>
        <p:grpSp>
          <p:nvGrpSpPr>
            <p:cNvPr id="63" name="Group 63"/>
            <p:cNvGrpSpPr/>
            <p:nvPr/>
          </p:nvGrpSpPr>
          <p:grpSpPr>
            <a:xfrm>
              <a:off x="5715000" y="1143000"/>
              <a:ext cx="5343525" cy="4572000"/>
              <a:chOff x="5715000" y="1143000"/>
              <a:chExt cx="5343525" cy="4572000"/>
            </a:xfrm>
          </p:grpSpPr>
          <p:sp>
            <p:nvSpPr>
              <p:cNvPr id="60" name="Line 60"/>
              <p:cNvSpPr/>
              <p:nvPr/>
            </p:nvSpPr>
            <p:spPr>
              <a:xfrm>
                <a:off x="5715000" y="1143000"/>
                <a:ext cx="9525" cy="4572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572000">
                    <a:moveTo>
                      <a:pt x="0" y="0"/>
                    </a:moveTo>
                    <a:lnTo>
                      <a:pt x="0" y="4572000"/>
                    </a:lnTo>
                  </a:path>
                </a:pathLst>
              </a:custGeom>
              <a:noFill/>
              <a:ln w="4762">
                <a:solidFill>
                  <a:schemeClr val="accent1">
                    <a:alpha val="6000"/>
                  </a:schemeClr>
                </a:solidFill>
              </a:ln>
            </p:spPr>
          </p:sp>
          <p:sp>
            <p:nvSpPr>
              <p:cNvPr id="61" name="Line 61"/>
              <p:cNvSpPr/>
              <p:nvPr/>
            </p:nvSpPr>
            <p:spPr>
              <a:xfrm>
                <a:off x="11049000" y="1143000"/>
                <a:ext cx="9525" cy="4572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572000">
                    <a:moveTo>
                      <a:pt x="0" y="0"/>
                    </a:moveTo>
                    <a:lnTo>
                      <a:pt x="0" y="4572000"/>
                    </a:lnTo>
                  </a:path>
                </a:pathLst>
              </a:custGeom>
              <a:noFill/>
              <a:ln w="4762">
                <a:solidFill>
                  <a:schemeClr val="accent1">
                    <a:alpha val="6000"/>
                  </a:schemeClr>
                </a:solidFill>
              </a:ln>
            </p:spPr>
          </p:sp>
          <p:sp>
            <p:nvSpPr>
              <p:cNvPr id="62" name="Line 62"/>
              <p:cNvSpPr/>
              <p:nvPr/>
            </p:nvSpPr>
            <p:spPr>
              <a:xfrm>
                <a:off x="5715000" y="3429000"/>
                <a:ext cx="5334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334000" h="9525">
                    <a:moveTo>
                      <a:pt x="0" y="0"/>
                    </a:moveTo>
                    <a:lnTo>
                      <a:pt x="5334000" y="0"/>
                    </a:lnTo>
                  </a:path>
                </a:pathLst>
              </a:custGeom>
              <a:noFill/>
              <a:ln w="4762">
                <a:solidFill>
                  <a:schemeClr val="accent1">
                    <a:alpha val="6000"/>
                  </a:schemeClr>
                </a:solidFill>
              </a:ln>
            </p:spPr>
          </p:sp>
        </p:grpSp>
      </p:grpSp>
      <p:grpSp>
        <p:nvGrpSpPr>
          <p:cNvPr id="67" name="Group 67"/>
          <p:cNvGrpSpPr/>
          <p:nvPr/>
        </p:nvGrpSpPr>
        <p:grpSpPr>
          <a:xfrm>
            <a:off x="381000" y="6477000"/>
            <a:ext cx="11430000" cy="190500"/>
            <a:chOff x="381000" y="6477000"/>
            <a:chExt cx="11430000" cy="190500"/>
          </a:xfrm>
        </p:grpSpPr>
        <p:sp>
          <p:nvSpPr>
            <p:cNvPr id="65" name="Freeform 65"/>
            <p:cNvSpPr/>
            <p:nvPr/>
          </p:nvSpPr>
          <p:spPr>
            <a:xfrm>
              <a:off x="11620500" y="647700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0" y="190500"/>
                  </a:moveTo>
                  <a:lnTo>
                    <a:pt x="0" y="0"/>
                  </a:lnTo>
                  <a:lnTo>
                    <a:pt x="190500" y="0"/>
                  </a:lnTo>
                  <a:lnTo>
                    <a:pt x="190500" y="190500"/>
                  </a:lnTo>
                  <a:close/>
                </a:path>
              </a:pathLst>
            </a:custGeom>
            <a:solidFill>
              <a:schemeClr val="accent2">
                <a:alpha val="30000"/>
              </a:schemeClr>
            </a:solidFill>
            <a:ln>
              <a:noFill/>
            </a:ln>
          </p:spPr>
        </p:sp>
        <p:sp>
          <p:nvSpPr>
            <p:cNvPr id="66" name="Freeform 66"/>
            <p:cNvSpPr/>
            <p:nvPr/>
          </p:nvSpPr>
          <p:spPr>
            <a:xfrm>
              <a:off x="381000" y="647700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0" y="190500"/>
                  </a:moveTo>
                  <a:lnTo>
                    <a:pt x="0" y="0"/>
                  </a:lnTo>
                  <a:lnTo>
                    <a:pt x="190500" y="0"/>
                  </a:lnTo>
                  <a:lnTo>
                    <a:pt x="190500" y="19050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</p:sp>
      </p:grpSp>
      <p:grpSp>
        <p:nvGrpSpPr>
          <p:cNvPr id="71" name="Group 71"/>
          <p:cNvGrpSpPr/>
          <p:nvPr/>
        </p:nvGrpSpPr>
        <p:grpSpPr>
          <a:xfrm>
            <a:off x="566738" y="6477000"/>
            <a:ext cx="11058525" cy="263366"/>
            <a:chOff x="566738" y="6477000"/>
            <a:chExt cx="11058525" cy="263366"/>
          </a:xfrm>
        </p:grpSpPr>
        <p:sp>
          <p:nvSpPr>
            <p:cNvPr id="68" name="Line 68"/>
            <p:cNvSpPr/>
            <p:nvPr/>
          </p:nvSpPr>
          <p:spPr>
            <a:xfrm>
              <a:off x="571500" y="64770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566738" y="6578441"/>
              <a:ext cx="25941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7 / 8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0624147" y="6578441"/>
              <a:ext cx="100111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企业 AI 营销工作台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accent2">
                    <a:alpha val="899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57784" y="458152"/>
            <a:ext cx="11062716" cy="588074"/>
            <a:chOff x="557784" y="458152"/>
            <a:chExt cx="11062716" cy="588074"/>
          </a:xfrm>
        </p:grpSpPr>
        <p:sp>
          <p:nvSpPr>
            <p:cNvPr id="5" name="Line 5"/>
            <p:cNvSpPr/>
            <p:nvPr/>
          </p:nvSpPr>
          <p:spPr>
            <a:xfrm>
              <a:off x="571500" y="952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566166" y="458152"/>
              <a:ext cx="6346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75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推进序列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57784" y="518160"/>
              <a:ext cx="446318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下一步：四阶段快速启动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563880" y="1219200"/>
            <a:ext cx="11056620" cy="5067300"/>
            <a:chOff x="563880" y="1219200"/>
            <a:chExt cx="11056620" cy="5067300"/>
          </a:xfrm>
        </p:grpSpPr>
        <p:sp>
          <p:nvSpPr>
            <p:cNvPr id="9" name="TextBox 9"/>
            <p:cNvSpPr txBox="1"/>
            <p:nvPr/>
          </p:nvSpPr>
          <p:spPr>
            <a:xfrm>
              <a:off x="563880" y="1219200"/>
              <a:ext cx="42759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建议采用分阶段交付，90天完成核心能力上线。</a:t>
              </a:r>
            </a:p>
          </p:txBody>
        </p:sp>
        <p:grpSp>
          <p:nvGrpSpPr>
            <p:cNvPr id="48" name="Group 48"/>
            <p:cNvGrpSpPr/>
            <p:nvPr/>
          </p:nvGrpSpPr>
          <p:grpSpPr>
            <a:xfrm>
              <a:off x="762000" y="3505200"/>
              <a:ext cx="10477500" cy="1736884"/>
              <a:chOff x="762000" y="3505200"/>
              <a:chExt cx="10477500" cy="1736884"/>
            </a:xfrm>
          </p:grpSpPr>
          <p:sp>
            <p:nvSpPr>
              <p:cNvPr id="10" name="Line 10"/>
              <p:cNvSpPr/>
              <p:nvPr/>
            </p:nvSpPr>
            <p:spPr>
              <a:xfrm>
                <a:off x="952500" y="4000500"/>
                <a:ext cx="10287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287000" h="9525">
                    <a:moveTo>
                      <a:pt x="0" y="0"/>
                    </a:moveTo>
                    <a:lnTo>
                      <a:pt x="10287000" y="0"/>
                    </a:lnTo>
                  </a:path>
                </a:pathLst>
              </a:custGeom>
              <a:noFill/>
              <a:ln w="38100">
                <a:solidFill>
                  <a:schemeClr val="accent4"/>
                </a:solidFill>
              </a:ln>
            </p:spPr>
          </p:sp>
          <p:sp>
            <p:nvSpPr>
              <p:cNvPr id="11" name="Line 11"/>
              <p:cNvSpPr/>
              <p:nvPr/>
            </p:nvSpPr>
            <p:spPr>
              <a:xfrm>
                <a:off x="952500" y="4000500"/>
                <a:ext cx="10287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287000" h="9525">
                    <a:moveTo>
                      <a:pt x="0" y="0"/>
                    </a:moveTo>
                    <a:lnTo>
                      <a:pt x="10287000" y="0"/>
                    </a:lnTo>
                  </a:path>
                </a:pathLst>
              </a:custGeom>
              <a:noFill/>
              <a:ln w="38100">
                <a:solidFill>
                  <a:schemeClr val="accent2"/>
                </a:solidFill>
                <a:custDash>
                  <a:ds d="54000000" sp="54000000"/>
                </a:custDash>
              </a:ln>
            </p:spPr>
          </p:sp>
          <p:grpSp>
            <p:nvGrpSpPr>
              <p:cNvPr id="20" name="Group 20"/>
              <p:cNvGrpSpPr/>
              <p:nvPr/>
            </p:nvGrpSpPr>
            <p:grpSpPr>
              <a:xfrm>
                <a:off x="762000" y="3505200"/>
                <a:ext cx="1905000" cy="1736884"/>
                <a:chOff x="762000" y="3505200"/>
                <a:chExt cx="1905000" cy="1736884"/>
              </a:xfrm>
            </p:grpSpPr>
            <p:sp>
              <p:nvSpPr>
                <p:cNvPr id="12" name="Ellipse 12"/>
                <p:cNvSpPr/>
                <p:nvPr/>
              </p:nvSpPr>
              <p:spPr>
                <a:xfrm>
                  <a:off x="1524000" y="3810000"/>
                  <a:ext cx="381000" cy="3810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13" name="Ellipse 13"/>
                <p:cNvSpPr/>
                <p:nvPr/>
              </p:nvSpPr>
              <p:spPr>
                <a:xfrm>
                  <a:off x="1600200" y="3886200"/>
                  <a:ext cx="228600" cy="2286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</p:sp>
            <p:sp>
              <p:nvSpPr>
                <p:cNvPr id="14" name="TextBox 14"/>
                <p:cNvSpPr txBox="1"/>
                <p:nvPr/>
              </p:nvSpPr>
              <p:spPr>
                <a:xfrm>
                  <a:off x="1677668" y="3959066"/>
                  <a:ext cx="73663" cy="1619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820" b="1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1</a:t>
                  </a:r>
                </a:p>
              </p:txBody>
            </p:sp>
            <p:sp>
              <p:nvSpPr>
                <p:cNvPr id="15" name="TextBox 15"/>
                <p:cNvSpPr txBox="1"/>
                <p:nvPr/>
              </p:nvSpPr>
              <p:spPr>
                <a:xfrm>
                  <a:off x="1421244" y="3505200"/>
                  <a:ext cx="586511" cy="2933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500" b="1" dirty="0">
                      <a:solidFill>
                        <a:schemeClr val="accent1"/>
                      </a:solidFill>
                      <a:latin typeface="+mj-lt"/>
                      <a:ea typeface="+mj-ea"/>
                      <a:cs typeface="+mj-cs"/>
                    </a:rPr>
                    <a:t>第1周</a:t>
                  </a:r>
                </a:p>
              </p:txBody>
            </p:sp>
            <p:sp>
              <p:nvSpPr>
                <p:cNvPr id="16" name="Freeform 16"/>
                <p:cNvSpPr/>
                <p:nvPr/>
              </p:nvSpPr>
              <p:spPr>
                <a:xfrm>
                  <a:off x="762000" y="4286250"/>
                  <a:ext cx="1905000" cy="952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00" h="952500">
                      <a:moveTo>
                        <a:pt x="114300" y="0"/>
                      </a:moveTo>
                      <a:lnTo>
                        <a:pt x="1790700" y="0"/>
                      </a:lnTo>
                      <a:cubicBezTo>
                        <a:pt x="1853826" y="0"/>
                        <a:pt x="1905000" y="51174"/>
                        <a:pt x="1905000" y="114300"/>
                      </a:cubicBezTo>
                      <a:lnTo>
                        <a:pt x="1905000" y="838200"/>
                      </a:lnTo>
                      <a:cubicBezTo>
                        <a:pt x="1905000" y="901326"/>
                        <a:pt x="1853826" y="952500"/>
                        <a:pt x="1790700" y="952500"/>
                      </a:cubicBezTo>
                      <a:lnTo>
                        <a:pt x="114300" y="952500"/>
                      </a:lnTo>
                      <a:cubicBezTo>
                        <a:pt x="51174" y="952500"/>
                        <a:pt x="0" y="901326"/>
                        <a:pt x="0" y="838200"/>
                      </a:cubicBezTo>
                      <a:lnTo>
                        <a:pt x="0" y="114300"/>
                      </a:lnTo>
                      <a:cubicBezTo>
                        <a:pt x="0" y="51174"/>
                        <a:pt x="51174" y="0"/>
                        <a:pt x="114300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>
                  <a:solidFill>
                    <a:schemeClr val="accent4"/>
                  </a:solidFill>
                </a:ln>
              </p:spPr>
            </p:sp>
            <p:sp>
              <p:nvSpPr>
                <p:cNvPr id="17" name="TextBox 17"/>
                <p:cNvSpPr txBox="1"/>
                <p:nvPr/>
              </p:nvSpPr>
              <p:spPr>
                <a:xfrm>
                  <a:off x="1390745" y="4545806"/>
                  <a:ext cx="647510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12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试点部门</a:t>
                  </a:r>
                </a:p>
              </p:txBody>
            </p:sp>
            <p:sp>
              <p:nvSpPr>
                <p:cNvPr id="18" name="TextBox 18"/>
                <p:cNvSpPr txBox="1"/>
                <p:nvPr/>
              </p:nvSpPr>
              <p:spPr>
                <a:xfrm>
                  <a:off x="1311235" y="4783931"/>
                  <a:ext cx="806529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12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数据源集成</a:t>
                  </a:r>
                </a:p>
              </p:txBody>
            </p:sp>
            <p:sp>
              <p:nvSpPr>
                <p:cNvPr id="19" name="TextBox 19"/>
                <p:cNvSpPr txBox="1"/>
                <p:nvPr/>
              </p:nvSpPr>
              <p:spPr>
                <a:xfrm>
                  <a:off x="1330166" y="5022056"/>
                  <a:ext cx="768668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12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与平台部署</a:t>
                  </a:r>
                </a:p>
              </p:txBody>
            </p:sp>
          </p:grpSp>
          <p:grpSp>
            <p:nvGrpSpPr>
              <p:cNvPr id="28" name="Group 28"/>
              <p:cNvGrpSpPr/>
              <p:nvPr/>
            </p:nvGrpSpPr>
            <p:grpSpPr>
              <a:xfrm>
                <a:off x="3429000" y="3505200"/>
                <a:ext cx="1905000" cy="1733550"/>
                <a:chOff x="3429000" y="3505200"/>
                <a:chExt cx="1905000" cy="1733550"/>
              </a:xfrm>
            </p:grpSpPr>
            <p:sp>
              <p:nvSpPr>
                <p:cNvPr id="21" name="Ellipse 21"/>
                <p:cNvSpPr/>
                <p:nvPr/>
              </p:nvSpPr>
              <p:spPr>
                <a:xfrm>
                  <a:off x="4191000" y="3810000"/>
                  <a:ext cx="381000" cy="3810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22" name="Ellipse 22"/>
                <p:cNvSpPr/>
                <p:nvPr/>
              </p:nvSpPr>
              <p:spPr>
                <a:xfrm>
                  <a:off x="4267200" y="3886200"/>
                  <a:ext cx="228600" cy="2286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</p:sp>
            <p:sp>
              <p:nvSpPr>
                <p:cNvPr id="23" name="TextBox 23"/>
                <p:cNvSpPr txBox="1"/>
                <p:nvPr/>
              </p:nvSpPr>
              <p:spPr>
                <a:xfrm>
                  <a:off x="4344668" y="3959066"/>
                  <a:ext cx="73663" cy="1619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820" b="1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2</a:t>
                  </a:r>
                </a:p>
              </p:txBody>
            </p:sp>
            <p:sp>
              <p:nvSpPr>
                <p:cNvPr id="24" name="TextBox 24"/>
                <p:cNvSpPr txBox="1"/>
                <p:nvPr/>
              </p:nvSpPr>
              <p:spPr>
                <a:xfrm>
                  <a:off x="4026637" y="3505200"/>
                  <a:ext cx="709727" cy="2933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500" b="1" dirty="0">
                      <a:solidFill>
                        <a:schemeClr val="accent2"/>
                      </a:solidFill>
                      <a:latin typeface="+mj-lt"/>
                      <a:ea typeface="+mj-ea"/>
                      <a:cs typeface="+mj-cs"/>
                    </a:rPr>
                    <a:t>第30天</a:t>
                  </a:r>
                </a:p>
              </p:txBody>
            </p:sp>
            <p:sp>
              <p:nvSpPr>
                <p:cNvPr id="25" name="Freeform 25"/>
                <p:cNvSpPr/>
                <p:nvPr/>
              </p:nvSpPr>
              <p:spPr>
                <a:xfrm>
                  <a:off x="3429000" y="4286250"/>
                  <a:ext cx="1905000" cy="952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00" h="952500">
                      <a:moveTo>
                        <a:pt x="114300" y="0"/>
                      </a:moveTo>
                      <a:lnTo>
                        <a:pt x="1790700" y="0"/>
                      </a:lnTo>
                      <a:cubicBezTo>
                        <a:pt x="1853826" y="0"/>
                        <a:pt x="1905000" y="51174"/>
                        <a:pt x="1905000" y="114300"/>
                      </a:cubicBezTo>
                      <a:lnTo>
                        <a:pt x="1905000" y="838200"/>
                      </a:lnTo>
                      <a:cubicBezTo>
                        <a:pt x="1905000" y="901326"/>
                        <a:pt x="1853826" y="952500"/>
                        <a:pt x="1790700" y="952500"/>
                      </a:cubicBezTo>
                      <a:lnTo>
                        <a:pt x="114300" y="952500"/>
                      </a:lnTo>
                      <a:cubicBezTo>
                        <a:pt x="51174" y="952500"/>
                        <a:pt x="0" y="901326"/>
                        <a:pt x="0" y="838200"/>
                      </a:cubicBezTo>
                      <a:lnTo>
                        <a:pt x="0" y="114300"/>
                      </a:lnTo>
                      <a:cubicBezTo>
                        <a:pt x="0" y="51174"/>
                        <a:pt x="51174" y="0"/>
                        <a:pt x="114300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9050">
                  <a:solidFill>
                    <a:schemeClr val="accent2"/>
                  </a:solidFill>
                </a:ln>
              </p:spPr>
            </p:sp>
            <p:sp>
              <p:nvSpPr>
                <p:cNvPr id="26" name="TextBox 26"/>
                <p:cNvSpPr txBox="1"/>
                <p:nvPr/>
              </p:nvSpPr>
              <p:spPr>
                <a:xfrm>
                  <a:off x="3800313" y="4545806"/>
                  <a:ext cx="1162374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12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AI分析模型上线</a:t>
                  </a:r>
                </a:p>
              </p:txBody>
            </p:sp>
            <p:sp>
              <p:nvSpPr>
                <p:cNvPr id="27" name="TextBox 27"/>
                <p:cNvSpPr txBox="1"/>
                <p:nvPr/>
              </p:nvSpPr>
              <p:spPr>
                <a:xfrm>
                  <a:off x="3819215" y="4783931"/>
                  <a:ext cx="1124569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12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开始预测性洞察</a:t>
                  </a:r>
                </a:p>
              </p:txBody>
            </p:sp>
          </p:grpSp>
          <p:grpSp>
            <p:nvGrpSpPr>
              <p:cNvPr id="36" name="Group 36"/>
              <p:cNvGrpSpPr/>
              <p:nvPr/>
            </p:nvGrpSpPr>
            <p:grpSpPr>
              <a:xfrm>
                <a:off x="6096000" y="3505200"/>
                <a:ext cx="1905000" cy="1733550"/>
                <a:chOff x="6096000" y="3505200"/>
                <a:chExt cx="1905000" cy="1733550"/>
              </a:xfrm>
            </p:grpSpPr>
            <p:sp>
              <p:nvSpPr>
                <p:cNvPr id="29" name="Ellipse 29"/>
                <p:cNvSpPr/>
                <p:nvPr/>
              </p:nvSpPr>
              <p:spPr>
                <a:xfrm>
                  <a:off x="6858000" y="3810000"/>
                  <a:ext cx="381000" cy="3810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30" name="Ellipse 30"/>
                <p:cNvSpPr/>
                <p:nvPr/>
              </p:nvSpPr>
              <p:spPr>
                <a:xfrm>
                  <a:off x="6934200" y="3886200"/>
                  <a:ext cx="228600" cy="2286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</p:sp>
            <p:sp>
              <p:nvSpPr>
                <p:cNvPr id="31" name="TextBox 31"/>
                <p:cNvSpPr txBox="1"/>
                <p:nvPr/>
              </p:nvSpPr>
              <p:spPr>
                <a:xfrm>
                  <a:off x="7011668" y="3959066"/>
                  <a:ext cx="73663" cy="1619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820" b="1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3</a:t>
                  </a:r>
                </a:p>
              </p:txBody>
            </p:sp>
            <p:sp>
              <p:nvSpPr>
                <p:cNvPr id="32" name="TextBox 32"/>
                <p:cNvSpPr txBox="1"/>
                <p:nvPr/>
              </p:nvSpPr>
              <p:spPr>
                <a:xfrm>
                  <a:off x="6693637" y="3505200"/>
                  <a:ext cx="709727" cy="2933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500" b="1" dirty="0">
                      <a:solidFill>
                        <a:schemeClr val="accent2"/>
                      </a:solidFill>
                      <a:latin typeface="+mj-lt"/>
                      <a:ea typeface="+mj-ea"/>
                      <a:cs typeface="+mj-cs"/>
                    </a:rPr>
                    <a:t>第60天</a:t>
                  </a:r>
                </a:p>
              </p:txBody>
            </p:sp>
            <p:sp>
              <p:nvSpPr>
                <p:cNvPr id="33" name="Freeform 33"/>
                <p:cNvSpPr/>
                <p:nvPr/>
              </p:nvSpPr>
              <p:spPr>
                <a:xfrm>
                  <a:off x="6096000" y="4286250"/>
                  <a:ext cx="1905000" cy="952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00" h="952500">
                      <a:moveTo>
                        <a:pt x="114300" y="0"/>
                      </a:moveTo>
                      <a:lnTo>
                        <a:pt x="1790700" y="0"/>
                      </a:lnTo>
                      <a:cubicBezTo>
                        <a:pt x="1853826" y="0"/>
                        <a:pt x="1905000" y="51174"/>
                        <a:pt x="1905000" y="114300"/>
                      </a:cubicBezTo>
                      <a:lnTo>
                        <a:pt x="1905000" y="838200"/>
                      </a:lnTo>
                      <a:cubicBezTo>
                        <a:pt x="1905000" y="901326"/>
                        <a:pt x="1853826" y="952500"/>
                        <a:pt x="1790700" y="952500"/>
                      </a:cubicBezTo>
                      <a:lnTo>
                        <a:pt x="114300" y="952500"/>
                      </a:lnTo>
                      <a:cubicBezTo>
                        <a:pt x="51174" y="952500"/>
                        <a:pt x="0" y="901326"/>
                        <a:pt x="0" y="838200"/>
                      </a:cubicBezTo>
                      <a:lnTo>
                        <a:pt x="0" y="114300"/>
                      </a:lnTo>
                      <a:cubicBezTo>
                        <a:pt x="0" y="51174"/>
                        <a:pt x="51174" y="0"/>
                        <a:pt x="114300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9050">
                  <a:solidFill>
                    <a:schemeClr val="accent2"/>
                  </a:solidFill>
                </a:ln>
              </p:spPr>
            </p:sp>
            <p:sp>
              <p:nvSpPr>
                <p:cNvPr id="34" name="TextBox 34"/>
                <p:cNvSpPr txBox="1"/>
                <p:nvPr/>
              </p:nvSpPr>
              <p:spPr>
                <a:xfrm>
                  <a:off x="6645235" y="4545806"/>
                  <a:ext cx="806529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12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自动化营销</a:t>
                  </a:r>
                </a:p>
              </p:txBody>
            </p:sp>
            <p:sp>
              <p:nvSpPr>
                <p:cNvPr id="35" name="TextBox 35"/>
                <p:cNvSpPr txBox="1"/>
                <p:nvPr/>
              </p:nvSpPr>
              <p:spPr>
                <a:xfrm>
                  <a:off x="6406706" y="4783931"/>
                  <a:ext cx="1283589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12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工作流全渠道激活</a:t>
                  </a:r>
                </a:p>
              </p:txBody>
            </p:sp>
          </p:grpSp>
          <p:grpSp>
            <p:nvGrpSpPr>
              <p:cNvPr id="44" name="Group 44"/>
              <p:cNvGrpSpPr/>
              <p:nvPr/>
            </p:nvGrpSpPr>
            <p:grpSpPr>
              <a:xfrm>
                <a:off x="8763000" y="3505200"/>
                <a:ext cx="1905000" cy="1733550"/>
                <a:chOff x="8763000" y="3505200"/>
                <a:chExt cx="1905000" cy="1733550"/>
              </a:xfrm>
            </p:grpSpPr>
            <p:sp>
              <p:nvSpPr>
                <p:cNvPr id="37" name="Ellipse 37"/>
                <p:cNvSpPr/>
                <p:nvPr/>
              </p:nvSpPr>
              <p:spPr>
                <a:xfrm>
                  <a:off x="9486900" y="3771900"/>
                  <a:ext cx="457200" cy="457200"/>
                </a:xfrm>
                <a:prstGeom prst="ellipse">
                  <a:avLst/>
                </a:prstGeom>
                <a:solidFill>
                  <a:srgbClr val="2F855A"/>
                </a:solidFill>
                <a:ln>
                  <a:noFill/>
                </a:ln>
              </p:spPr>
            </p:sp>
            <p:sp>
              <p:nvSpPr>
                <p:cNvPr id="38" name="Ellipse 38"/>
                <p:cNvSpPr/>
                <p:nvPr/>
              </p:nvSpPr>
              <p:spPr>
                <a:xfrm>
                  <a:off x="9582150" y="3867150"/>
                  <a:ext cx="266700" cy="2667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</p:sp>
            <p:sp>
              <p:nvSpPr>
                <p:cNvPr id="39" name="TextBox 39"/>
                <p:cNvSpPr txBox="1"/>
                <p:nvPr/>
              </p:nvSpPr>
              <p:spPr>
                <a:xfrm>
                  <a:off x="9675753" y="3950970"/>
                  <a:ext cx="79494" cy="1762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900" b="1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4</a:t>
                  </a:r>
                </a:p>
              </p:txBody>
            </p:sp>
            <p:sp>
              <p:nvSpPr>
                <p:cNvPr id="40" name="TextBox 40"/>
                <p:cNvSpPr txBox="1"/>
                <p:nvPr/>
              </p:nvSpPr>
              <p:spPr>
                <a:xfrm>
                  <a:off x="9360637" y="3505200"/>
                  <a:ext cx="709727" cy="2933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500" b="1" dirty="0">
                      <a:solidFill>
                        <a:srgbClr val="2F855A"/>
                      </a:solidFill>
                      <a:latin typeface="+mj-lt"/>
                      <a:ea typeface="+mj-ea"/>
                      <a:cs typeface="+mj-cs"/>
                    </a:rPr>
                    <a:t>第90天</a:t>
                  </a:r>
                </a:p>
              </p:txBody>
            </p:sp>
            <p:sp>
              <p:nvSpPr>
                <p:cNvPr id="41" name="Freeform 41"/>
                <p:cNvSpPr/>
                <p:nvPr/>
              </p:nvSpPr>
              <p:spPr>
                <a:xfrm>
                  <a:off x="8763000" y="4286250"/>
                  <a:ext cx="1905000" cy="952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00" h="952500">
                      <a:moveTo>
                        <a:pt x="114300" y="0"/>
                      </a:moveTo>
                      <a:lnTo>
                        <a:pt x="1790700" y="0"/>
                      </a:lnTo>
                      <a:cubicBezTo>
                        <a:pt x="1853826" y="0"/>
                        <a:pt x="1905000" y="51174"/>
                        <a:pt x="1905000" y="114300"/>
                      </a:cubicBezTo>
                      <a:lnTo>
                        <a:pt x="1905000" y="838200"/>
                      </a:lnTo>
                      <a:cubicBezTo>
                        <a:pt x="1905000" y="901326"/>
                        <a:pt x="1853826" y="952500"/>
                        <a:pt x="1790700" y="952500"/>
                      </a:cubicBezTo>
                      <a:lnTo>
                        <a:pt x="114300" y="952500"/>
                      </a:lnTo>
                      <a:cubicBezTo>
                        <a:pt x="51174" y="952500"/>
                        <a:pt x="0" y="901326"/>
                        <a:pt x="0" y="838200"/>
                      </a:cubicBezTo>
                      <a:lnTo>
                        <a:pt x="0" y="114300"/>
                      </a:lnTo>
                      <a:cubicBezTo>
                        <a:pt x="0" y="51174"/>
                        <a:pt x="51174" y="0"/>
                        <a:pt x="114300" y="0"/>
                      </a:cubicBezTo>
                      <a:close/>
                    </a:path>
                  </a:pathLst>
                </a:custGeom>
                <a:solidFill>
                  <a:srgbClr val="F0FFF4"/>
                </a:solidFill>
                <a:ln w="19050">
                  <a:solidFill>
                    <a:srgbClr val="2F855A"/>
                  </a:solidFill>
                </a:ln>
              </p:spPr>
            </p:sp>
            <p:sp>
              <p:nvSpPr>
                <p:cNvPr id="42" name="TextBox 42"/>
                <p:cNvSpPr txBox="1"/>
                <p:nvPr/>
              </p:nvSpPr>
              <p:spPr>
                <a:xfrm>
                  <a:off x="8994196" y="4450556"/>
                  <a:ext cx="1442609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12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效果度量仪表板就绪</a:t>
                  </a:r>
                </a:p>
              </p:txBody>
            </p:sp>
            <p:sp>
              <p:nvSpPr>
                <p:cNvPr id="43" name="TextBox 43"/>
                <p:cNvSpPr txBox="1"/>
                <p:nvPr/>
              </p:nvSpPr>
              <p:spPr>
                <a:xfrm>
                  <a:off x="9073706" y="4688681"/>
                  <a:ext cx="1283589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120" b="1" dirty="0">
                      <a:solidFill>
                        <a:srgbClr val="2F855A"/>
                      </a:solidFill>
                      <a:latin typeface="+mn-lt"/>
                      <a:ea typeface="+mn-ea"/>
                      <a:cs typeface="+mn-cs"/>
                    </a:rPr>
                    <a:t>进入持续优化循环</a:t>
                  </a:r>
                </a:p>
              </p:txBody>
            </p:sp>
          </p:grpSp>
          <p:sp>
            <p:nvSpPr>
              <p:cNvPr id="45" name="Freeform 45"/>
              <p:cNvSpPr/>
              <p:nvPr/>
            </p:nvSpPr>
            <p:spPr>
              <a:xfrm>
                <a:off x="2095500" y="4000500"/>
                <a:ext cx="2000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000250" h="9525">
                    <a:moveTo>
                      <a:pt x="0" y="0"/>
                    </a:moveTo>
                    <a:lnTo>
                      <a:pt x="2000250" y="0"/>
                    </a:lnTo>
                  </a:path>
                </a:pathLst>
              </a:custGeom>
              <a:noFill/>
              <a:ln w="19050">
                <a:solidFill>
                  <a:schemeClr val="accent3"/>
                </a:solidFill>
                <a:tailEnd type="triangle" w="lg" len="lg"/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4762500" y="4000500"/>
                <a:ext cx="2000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000250" h="9525">
                    <a:moveTo>
                      <a:pt x="0" y="0"/>
                    </a:moveTo>
                    <a:lnTo>
                      <a:pt x="2000250" y="0"/>
                    </a:lnTo>
                  </a:path>
                </a:pathLst>
              </a:custGeom>
              <a:noFill/>
              <a:ln w="19050">
                <a:solidFill>
                  <a:schemeClr val="accent3"/>
                </a:solidFill>
                <a:tailEnd type="triangle" w="lg" len="lg"/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7429500" y="4000500"/>
                <a:ext cx="2000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000250" h="9525">
                    <a:moveTo>
                      <a:pt x="0" y="0"/>
                    </a:moveTo>
                    <a:lnTo>
                      <a:pt x="2000250" y="0"/>
                    </a:lnTo>
                  </a:path>
                </a:pathLst>
              </a:custGeom>
              <a:noFill/>
              <a:ln w="19050">
                <a:solidFill>
                  <a:schemeClr val="accent3"/>
                </a:solidFill>
                <a:tailEnd type="triangle" w="lg" len="lg"/>
              </a:ln>
            </p:spPr>
          </p:sp>
        </p:grpSp>
        <p:grpSp>
          <p:nvGrpSpPr>
            <p:cNvPr id="54" name="Group 54"/>
            <p:cNvGrpSpPr/>
            <p:nvPr/>
          </p:nvGrpSpPr>
          <p:grpSpPr>
            <a:xfrm>
              <a:off x="571500" y="5619750"/>
              <a:ext cx="11049000" cy="666750"/>
              <a:chOff x="571500" y="5619750"/>
              <a:chExt cx="11049000" cy="666750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571500" y="5619750"/>
                <a:ext cx="11049000" cy="666750"/>
              </a:xfrm>
              <a:custGeom>
                <a:avLst/>
                <a:gdLst/>
                <a:ahLst/>
                <a:cxnLst/>
                <a:rect l="l" t="t" r="r" b="b"/>
                <a:pathLst>
                  <a:path w="11049000" h="666750">
                    <a:moveTo>
                      <a:pt x="76200" y="0"/>
                    </a:moveTo>
                    <a:lnTo>
                      <a:pt x="10972800" y="0"/>
                    </a:lnTo>
                    <a:cubicBezTo>
                      <a:pt x="11014884" y="0"/>
                      <a:pt x="11049000" y="34116"/>
                      <a:pt x="11049000" y="76200"/>
                    </a:cubicBezTo>
                    <a:lnTo>
                      <a:pt x="11049000" y="590550"/>
                    </a:lnTo>
                    <a:cubicBezTo>
                      <a:pt x="11049000" y="632634"/>
                      <a:pt x="11014884" y="666750"/>
                      <a:pt x="10972800" y="666750"/>
                    </a:cubicBezTo>
                    <a:lnTo>
                      <a:pt x="76200" y="666750"/>
                    </a:lnTo>
                    <a:cubicBezTo>
                      <a:pt x="34116" y="666750"/>
                      <a:pt x="0" y="632634"/>
                      <a:pt x="0" y="590550"/>
                    </a:cubicBez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756666" y="5792152"/>
                <a:ext cx="60434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关键路径</a:t>
                </a:r>
              </a:p>
            </p:txBody>
          </p:sp>
          <p:sp>
            <p:nvSpPr>
              <p:cNvPr id="51" name="Line 51"/>
              <p:cNvSpPr/>
              <p:nvPr/>
            </p:nvSpPr>
            <p:spPr>
              <a:xfrm>
                <a:off x="1714500" y="5734050"/>
                <a:ext cx="9525" cy="4381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38150">
                    <a:moveTo>
                      <a:pt x="0" y="0"/>
                    </a:moveTo>
                    <a:lnTo>
                      <a:pt x="0" y="438150"/>
                    </a:lnTo>
                  </a:path>
                </a:pathLst>
              </a:custGeom>
              <a:noFill/>
              <a:ln w="9525">
                <a:solidFill>
                  <a:srgbClr val="FFFFFF">
                    <a:alpha val="30000"/>
                  </a:srgbClr>
                </a:solidFill>
              </a:ln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1899666" y="5792152"/>
                <a:ext cx="289316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数据整合 → AI分析 → 自动化执行 → 效果度量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1900238" y="6046470"/>
                <a:ext cx="1463421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四阶段闭环，持续迭代优化</a:t>
                </a:r>
              </a:p>
            </p:txBody>
          </p:sp>
        </p:grpSp>
      </p:grpSp>
      <p:grpSp>
        <p:nvGrpSpPr>
          <p:cNvPr id="57" name="Group 57"/>
          <p:cNvGrpSpPr/>
          <p:nvPr/>
        </p:nvGrpSpPr>
        <p:grpSpPr>
          <a:xfrm>
            <a:off x="10984849" y="6578441"/>
            <a:ext cx="259413" cy="161925"/>
            <a:chOff x="10984849" y="6578441"/>
            <a:chExt cx="259413" cy="161925"/>
          </a:xfrm>
        </p:grpSpPr>
        <p:sp>
          <p:nvSpPr>
            <p:cNvPr id="56" name="TextBox 56"/>
            <p:cNvSpPr txBox="1"/>
            <p:nvPr/>
          </p:nvSpPr>
          <p:spPr>
            <a:xfrm>
              <a:off x="10984849" y="6578441"/>
              <a:ext cx="25941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8 / 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PPT Master">
      <a:dk1>
        <a:srgbClr val="1A202C"/>
      </a:dk1>
      <a:lt1>
        <a:srgbClr val="FFFFFF"/>
      </a:lt1>
      <a:dk2>
        <a:srgbClr val="4A5568"/>
      </a:dk2>
      <a:lt2>
        <a:srgbClr val="F5F7FA"/>
      </a:lt2>
      <a:accent1>
        <a:srgbClr val="1A365D"/>
      </a:accent1>
      <a:accent2>
        <a:srgbClr val="3182CE"/>
      </a:accent2>
      <a:accent3>
        <a:srgbClr val="63B3ED"/>
      </a:accent3>
      <a:accent4>
        <a:srgbClr val="E2E8F0"/>
      </a:accent4>
      <a:accent5>
        <a:srgbClr val="A0AEC0"/>
      </a:accent5>
      <a:accent6>
        <a:srgbClr val="EBF4FB"/>
      </a:accent6>
      <a:hlink>
        <a:srgbClr val="3182CE"/>
      </a:hlink>
      <a:folHlink>
        <a:srgbClr val="63B3ED"/>
      </a:folHlink>
    </a:clrScheme>
    <a:fontScheme name="PPT Master">
      <a:majorFont>
        <a:latin typeface="Georgia"/>
        <a:ea typeface="Microsoft YaHei"/>
        <a:cs typeface="Georgia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PPT Master">
      <a:dk1>
        <a:srgbClr val="1A202C"/>
      </a:dk1>
      <a:lt1>
        <a:srgbClr val="FFFFFF"/>
      </a:lt1>
      <a:dk2>
        <a:srgbClr val="4A5568"/>
      </a:dk2>
      <a:lt2>
        <a:srgbClr val="F5F7FA"/>
      </a:lt2>
      <a:accent1>
        <a:srgbClr val="1A365D"/>
      </a:accent1>
      <a:accent2>
        <a:srgbClr val="3182CE"/>
      </a:accent2>
      <a:accent3>
        <a:srgbClr val="63B3ED"/>
      </a:accent3>
      <a:accent4>
        <a:srgbClr val="E2E8F0"/>
      </a:accent4>
      <a:accent5>
        <a:srgbClr val="A0AEC0"/>
      </a:accent5>
      <a:accent6>
        <a:srgbClr val="EBF4FB"/>
      </a:accent6>
      <a:hlink>
        <a:srgbClr val="3182CE"/>
      </a:hlink>
      <a:folHlink>
        <a:srgbClr val="63B3ED"/>
      </a:folHlink>
    </a:clrScheme>
    <a:fontScheme name="PPT Master">
      <a:majorFont>
        <a:latin typeface="Georgia"/>
        <a:ea typeface="Microsoft YaHei"/>
        <a:cs typeface="Georgia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2026-07-10T23:16:21Z</dcterms:created>
  <dcterms:modified xsi:type="dcterms:W3CDTF">2026-07-10T23:16:21Z</dcterms:modified>
  <cp:category/>
  <cp:contentStatus/>
</cp:coreProperties>
</file>