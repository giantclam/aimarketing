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AI营销工作台</a:t>
            </a:r>
          </a:p>
          <a:p>
            <a:endParaRPr lang="en-US" dirty="0"/>
          </a:p>
          <a:p>
            <a:r>
              <a:rPr lang="zh-CN" dirty="0"/>
              <a:t>为企业管理层打造的下一代营销智能平台——从全域数据整合到效果实时度量，一个闭环覆盖四大引擎。</a:t>
            </a:r>
          </a:p>
          <a:p>
            <a:endParaRPr lang="en-US" dirty="0"/>
          </a:p>
          <a:p>
            <a:r>
              <a:rPr lang="zh-CN" dirty="0"/>
              <a:t>• 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战略概览：引领智能营销转型</a:t>
            </a:r>
          </a:p>
          <a:p>
            <a:endParaRPr lang="en-US" dirty="0"/>
          </a:p>
          <a:p>
            <a:r>
              <a:rPr lang="zh-CN" dirty="0"/>
              <a:t>本简报将按“连接→洞察→行动→闭环→路线图”的逻辑展开，优先给出结论与下一步。</a:t>
            </a:r>
          </a:p>
          <a:p>
            <a:endParaRPr lang="en-US" dirty="0"/>
          </a:p>
          <a:p>
            <a:r>
              <a:rPr lang="zh-CN" dirty="0"/>
              <a:t>• 打通CRM、广告、社媒、交易系统，构建统一客户数据底座</a:t>
            </a:r>
          </a:p>
          <a:p>
            <a:r>
              <a:rPr lang="zh-CN" dirty="0"/>
              <a:t>• 机器学习识别客户意图、预测行为，驱动精准决策</a:t>
            </a:r>
          </a:p>
          <a:p>
            <a:r>
              <a:rPr lang="zh-CN" dirty="0"/>
              <a:t>• 一键触发多渠道营销，全流程自动化降低人工成本</a:t>
            </a:r>
          </a:p>
          <a:p>
            <a:r>
              <a:rPr lang="zh-CN" dirty="0"/>
              <a:t>• 实时监测ROI，自动回传数据反哺AI模型，持续进化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营销数据割裂正在吞噬企业增长潜力</a:t>
            </a:r>
          </a:p>
          <a:p>
            <a:endParaRPr lang="en-US" dirty="0"/>
          </a:p>
          <a:p>
            <a:r>
              <a:rPr lang="zh-CN" dirty="0"/>
              <a:t>分散的系统导致客户画像残缺，决策滞后。AI营销工作台通过统一数据层、智能分析层和执行层，将数据转化为可行动的洞察。</a:t>
            </a:r>
          </a:p>
          <a:p>
            <a:endParaRPr lang="en-US" dirty="0"/>
          </a:p>
          <a:p>
            <a:r>
              <a:rPr lang="zh-CN" dirty="0"/>
              <a:t>• 平均企业使用12个以上营销工具，数据互不相通</a:t>
            </a:r>
          </a:p>
          <a:p>
            <a:r>
              <a:rPr lang="zh-CN" dirty="0"/>
              <a:t>• 营销决策周期长达数周，错过黄金转化窗口</a:t>
            </a:r>
          </a:p>
          <a:p>
            <a:r>
              <a:rPr lang="zh-CN" dirty="0"/>
              <a:t>• AI工作台将数据整合与洞察释放缩短至分钟级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传统营销模式vsAI驱动模式</a:t>
            </a:r>
          </a:p>
          <a:p>
            <a:endParaRPr lang="en-US" dirty="0"/>
          </a:p>
          <a:p>
            <a:r>
              <a:rPr lang="zh-CN" dirty="0"/>
              <a:t>从数据利用方式到执行效率，AI工作台在每个关键维度上都实现了质的飞跃。</a:t>
            </a:r>
          </a:p>
          <a:p>
            <a:endParaRPr lang="en-US" dirty="0"/>
          </a:p>
          <a:p>
            <a:r>
              <a:rPr lang="zh-CN" dirty="0"/>
              <a:t>• 各部门数据割裂，分析依赖周报，执行靠人工排期，效果反馈滞后又互相矛盾</a:t>
            </a:r>
          </a:p>
          <a:p>
            <a:r>
              <a:rPr lang="zh-CN" dirty="0"/>
              <a:t>• 全域数据自动汇聚，AI主动推送洞察，引擎自动执行任务，实时度量驱动动态优化</a:t>
            </a:r>
          </a:p>
          <a:p>
            <a:r>
              <a:rPr lang="zh-CN" dirty="0"/>
              <a:t>• 关键变量对比</a:t>
            </a:r>
          </a:p>
          <a:p>
            <a:r>
              <a:rPr lang="zh-CN" dirty="0"/>
              <a:t>• 不同路径影响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早期采用者已获得的典型提升</a:t>
            </a:r>
          </a:p>
          <a:p>
            <a:endParaRPr lang="en-US" dirty="0"/>
          </a:p>
          <a:p>
            <a:r>
              <a:rPr lang="zh-CN" dirty="0"/>
              <a:t>基于同类方案交付数据，企业接入后可预期以下核心指标的显著改善。</a:t>
            </a:r>
          </a:p>
          <a:p>
            <a:endParaRPr lang="en-US" dirty="0"/>
          </a:p>
          <a:p>
            <a:r>
              <a:rPr lang="zh-CN" dirty="0"/>
              <a:t>• AI个性化推荐与最佳发送时间预测，显著提高互动意愿</a:t>
            </a:r>
          </a:p>
          <a:p>
            <a:r>
              <a:rPr lang="zh-CN" dirty="0"/>
              <a:t>• 自动化工作流与模板库，将多渠道复杂设置简化为一键配置</a:t>
            </a:r>
          </a:p>
          <a:p>
            <a:r>
              <a:rPr lang="zh-CN" dirty="0"/>
              <a:t>• 实时效果反馈与自动优化，减少无效投放，持续放大收益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平台关键性能指标</a:t>
            </a:r>
          </a:p>
          <a:p>
            <a:endParaRPr lang="en-US" dirty="0"/>
          </a:p>
          <a:p>
            <a:r>
              <a:rPr lang="zh-CN" dirty="0"/>
              <a:t>从数据连接到效果反馈，AI工作台在四个维度建立新的性能基线。</a:t>
            </a:r>
          </a:p>
          <a:p>
            <a:endParaRPr lang="en-US" dirty="0"/>
          </a:p>
          <a:p>
            <a:r>
              <a:rPr lang="zh-CN" dirty="0"/>
              <a:t>• 数据整合覆盖率</a:t>
            </a:r>
          </a:p>
          <a:p>
            <a:r>
              <a:rPr lang="zh-CN" dirty="0"/>
              <a:t>• AI分析延迟</a:t>
            </a:r>
          </a:p>
          <a:p>
            <a:r>
              <a:rPr lang="zh-CN" dirty="0"/>
              <a:t>• 人力成本节省</a:t>
            </a:r>
          </a:p>
          <a:p>
            <a:r>
              <a:rPr lang="zh-CN" dirty="0"/>
              <a:t>• 效果反馈速度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四大引擎能力成熟度评估</a:t>
            </a:r>
          </a:p>
          <a:p>
            <a:endParaRPr lang="en-US" dirty="0"/>
          </a:p>
          <a:p>
            <a:r>
              <a:rPr lang="zh-CN" dirty="0"/>
              <a:t>基于当前平台版本与行业需求匹配度，数据整合与效果度量已高度成熟，AI分析与自动化执行仍有快速提升空间。</a:t>
            </a:r>
          </a:p>
          <a:p>
            <a:endParaRPr lang="en-US" dirty="0"/>
          </a:p>
          <a:p>
            <a:r>
              <a:rPr lang="zh-CN" dirty="0"/>
              <a:t>• 集成度、清洗质量、实时性均达到生产级标准</a:t>
            </a:r>
          </a:p>
          <a:p>
            <a:r>
              <a:rPr lang="zh-CN" dirty="0"/>
              <a:t>• 意图预测准确率高，细分能力强，持续迭代中</a:t>
            </a:r>
          </a:p>
          <a:p>
            <a:r>
              <a:rPr lang="zh-CN" dirty="0"/>
              <a:t>• 覆盖主流渠道，规则引擎灵活，扩展性良好</a:t>
            </a:r>
          </a:p>
          <a:p>
            <a:r>
              <a:rPr lang="zh-CN" dirty="0"/>
              <a:t>• 多归因模型、实时报表、异常预警完备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下一步：4个阶段实现智能营销落地</a:t>
            </a:r>
          </a:p>
          <a:p>
            <a:endParaRPr lang="en-US" dirty="0"/>
          </a:p>
          <a:p>
            <a:r>
              <a:rPr lang="zh-CN" dirty="0"/>
              <a:t>建议以最小可行闭环启动，快速验证价值后规模化推广，控制风险并加速回报。</a:t>
            </a:r>
          </a:p>
          <a:p>
            <a:endParaRPr lang="en-US" dirty="0"/>
          </a:p>
          <a:p>
            <a:r>
              <a:rPr lang="zh-CN" dirty="0"/>
              <a:t>• 基础数据源接入与清洗，搭建统一客户数据底座，完成技术环境准备</a:t>
            </a:r>
          </a:p>
          <a:p>
            <a:r>
              <a:rPr lang="zh-CN" dirty="0"/>
              <a:t>• AI模型训练与场景配置，上线首个自动化营销工作流进行试点</a:t>
            </a:r>
          </a:p>
          <a:p>
            <a:r>
              <a:rPr lang="zh-CN" dirty="0"/>
              <a:t>• 全渠道铺开，启动效果度量闭环，根据数据反馈优化规则与模型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pattFill prst="ltUpDiag">
              <a:fgClr>
                <a:schemeClr val="accent4">
                  <a:alpha val="40000"/>
                </a:schemeClr>
              </a:fgClr>
              <a:bgClr>
                <a:schemeClr val="lt1">
                  <a:alpha val="40000"/>
                </a:schemeClr>
              </a:bgClr>
            </a:patt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6" name="Rectangle 6"/>
            <p:cNvSpPr/>
            <p:nvPr/>
          </p:nvSpPr>
          <p:spPr>
            <a:xfrm>
              <a:off x="0" y="6477000"/>
              <a:ext cx="121920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6738" y="6616541"/>
              <a:ext cx="531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GRIDBRIEF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43681" y="66165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08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52450" y="1029652"/>
            <a:ext cx="9496425" cy="4002405"/>
            <a:chOff x="552450" y="1029652"/>
            <a:chExt cx="9496425" cy="4002405"/>
          </a:xfrm>
        </p:grpSpPr>
        <p:grpSp>
          <p:nvGrpSpPr>
            <p:cNvPr id="24" name="Group 24"/>
            <p:cNvGrpSpPr/>
            <p:nvPr/>
          </p:nvGrpSpPr>
          <p:grpSpPr>
            <a:xfrm>
              <a:off x="552450" y="1029652"/>
              <a:ext cx="5130576" cy="3923348"/>
              <a:chOff x="552450" y="1029652"/>
              <a:chExt cx="5130576" cy="392334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566166" y="1029652"/>
                <a:ext cx="8459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spc="15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GRIDBRIEF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52450" y="1386840"/>
                <a:ext cx="5130576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AI营销工作台</a:t>
                </a:r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571500" y="2190750"/>
                <a:ext cx="762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38100">
                    <a:moveTo>
                      <a:pt x="19050" y="0"/>
                    </a:moveTo>
                    <a:lnTo>
                      <a:pt x="742950" y="0"/>
                    </a:lnTo>
                    <a:cubicBezTo>
                      <a:pt x="753471" y="0"/>
                      <a:pt x="762000" y="8529"/>
                      <a:pt x="762000" y="19050"/>
                    </a:cubicBezTo>
                    <a:lnTo>
                      <a:pt x="762000" y="19050"/>
                    </a:lnTo>
                    <a:cubicBezTo>
                      <a:pt x="762000" y="29571"/>
                      <a:pt x="753471" y="38100"/>
                      <a:pt x="74295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563880" y="2695575"/>
                <a:ext cx="36499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为企业管理层打造的下一代营销智能平台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63880" y="3000375"/>
                <a:ext cx="30441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从全域数据整合到效果实时度量，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63880" y="3305175"/>
                <a:ext cx="2236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一个闭环覆盖四大引擎。</a:t>
                </a:r>
              </a:p>
            </p:txBody>
          </p:sp>
          <p:grpSp>
            <p:nvGrpSpPr>
              <p:cNvPr id="23" name="Group 23"/>
              <p:cNvGrpSpPr/>
              <p:nvPr/>
            </p:nvGrpSpPr>
            <p:grpSpPr>
              <a:xfrm>
                <a:off x="571500" y="4572000"/>
                <a:ext cx="4000500" cy="381000"/>
                <a:chOff x="571500" y="4572000"/>
                <a:chExt cx="4000500" cy="38100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571500" y="4572000"/>
                  <a:ext cx="15240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0" h="381000">
                      <a:moveTo>
                        <a:pt x="190500" y="0"/>
                      </a:moveTo>
                      <a:lnTo>
                        <a:pt x="1333500" y="0"/>
                      </a:lnTo>
                      <a:cubicBezTo>
                        <a:pt x="1438710" y="0"/>
                        <a:pt x="1524000" y="85290"/>
                        <a:pt x="1524000" y="190500"/>
                      </a:cubicBezTo>
                      <a:lnTo>
                        <a:pt x="1524000" y="190500"/>
                      </a:lnTo>
                      <a:cubicBezTo>
                        <a:pt x="1524000" y="295710"/>
                        <a:pt x="1438710" y="381000"/>
                        <a:pt x="1333500" y="381000"/>
                      </a:cubicBezTo>
                      <a:lnTo>
                        <a:pt x="190500" y="381000"/>
                      </a:lnTo>
                      <a:cubicBezTo>
                        <a:pt x="85290" y="381000"/>
                        <a:pt x="0" y="295710"/>
                        <a:pt x="0" y="190500"/>
                      </a:cubicBezTo>
                      <a:lnTo>
                        <a:pt x="0" y="190500"/>
                      </a:lnTo>
                      <a:cubicBezTo>
                        <a:pt x="0" y="85290"/>
                        <a:pt x="85290" y="0"/>
                        <a:pt x="1905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891311" y="4706302"/>
                  <a:ext cx="88437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AI营销工作台</a:t>
                  </a:r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2286000" y="4572000"/>
                  <a:ext cx="11430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0" h="381000">
                      <a:moveTo>
                        <a:pt x="190500" y="0"/>
                      </a:moveTo>
                      <a:lnTo>
                        <a:pt x="952500" y="0"/>
                      </a:lnTo>
                      <a:cubicBezTo>
                        <a:pt x="1057710" y="0"/>
                        <a:pt x="1143000" y="85290"/>
                        <a:pt x="1143000" y="190500"/>
                      </a:cubicBezTo>
                      <a:lnTo>
                        <a:pt x="1143000" y="190500"/>
                      </a:lnTo>
                      <a:cubicBezTo>
                        <a:pt x="1143000" y="295710"/>
                        <a:pt x="1057710" y="381000"/>
                        <a:pt x="952500" y="381000"/>
                      </a:cubicBezTo>
                      <a:lnTo>
                        <a:pt x="190500" y="381000"/>
                      </a:lnTo>
                      <a:cubicBezTo>
                        <a:pt x="85290" y="381000"/>
                        <a:pt x="0" y="295710"/>
                        <a:pt x="0" y="190500"/>
                      </a:cubicBezTo>
                      <a:lnTo>
                        <a:pt x="0" y="190500"/>
                      </a:lnTo>
                      <a:cubicBezTo>
                        <a:pt x="0" y="85290"/>
                        <a:pt x="85290" y="0"/>
                        <a:pt x="190500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chemeClr val="accent4"/>
                  </a:solidFill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2569464" y="470630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现状概览</a:t>
                  </a:r>
                </a:p>
              </p:txBody>
            </p:sp>
            <p:sp>
              <p:nvSpPr>
                <p:cNvPr id="21" name="Freeform 21"/>
                <p:cNvSpPr/>
                <p:nvPr/>
              </p:nvSpPr>
              <p:spPr>
                <a:xfrm>
                  <a:off x="3619500" y="4572000"/>
                  <a:ext cx="9525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0" h="381000">
                      <a:moveTo>
                        <a:pt x="190500" y="0"/>
                      </a:moveTo>
                      <a:lnTo>
                        <a:pt x="762000" y="0"/>
                      </a:lnTo>
                      <a:cubicBezTo>
                        <a:pt x="867210" y="0"/>
                        <a:pt x="952500" y="85290"/>
                        <a:pt x="952500" y="190500"/>
                      </a:cubicBezTo>
                      <a:lnTo>
                        <a:pt x="952500" y="190500"/>
                      </a:lnTo>
                      <a:cubicBezTo>
                        <a:pt x="952500" y="295710"/>
                        <a:pt x="867210" y="381000"/>
                        <a:pt x="762000" y="381000"/>
                      </a:cubicBezTo>
                      <a:lnTo>
                        <a:pt x="190500" y="381000"/>
                      </a:lnTo>
                      <a:cubicBezTo>
                        <a:pt x="85290" y="381000"/>
                        <a:pt x="0" y="295710"/>
                        <a:pt x="0" y="190500"/>
                      </a:cubicBezTo>
                      <a:lnTo>
                        <a:pt x="0" y="190500"/>
                      </a:lnTo>
                      <a:cubicBezTo>
                        <a:pt x="0" y="85290"/>
                        <a:pt x="85290" y="0"/>
                        <a:pt x="190500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chemeClr val="accent4"/>
                  </a:solidFill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3807714" y="470630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核心风险</a:t>
                  </a:r>
                </a:p>
              </p:txBody>
            </p:sp>
          </p:grpSp>
        </p:grpSp>
        <p:grpSp>
          <p:nvGrpSpPr>
            <p:cNvPr id="54" name="Group 54"/>
            <p:cNvGrpSpPr/>
            <p:nvPr/>
          </p:nvGrpSpPr>
          <p:grpSpPr>
            <a:xfrm>
              <a:off x="7477125" y="1571625"/>
              <a:ext cx="2571750" cy="3460432"/>
              <a:chOff x="7477125" y="1571625"/>
              <a:chExt cx="2571750" cy="3460432"/>
            </a:xfrm>
          </p:grpSpPr>
          <p:grpSp>
            <p:nvGrpSpPr>
              <p:cNvPr id="52" name="Group 52"/>
              <p:cNvGrpSpPr/>
              <p:nvPr/>
            </p:nvGrpSpPr>
            <p:grpSpPr>
              <a:xfrm>
                <a:off x="7477125" y="1571625"/>
                <a:ext cx="2571750" cy="2952750"/>
                <a:chOff x="7477125" y="1571625"/>
                <a:chExt cx="2571750" cy="2952750"/>
              </a:xfrm>
            </p:grpSpPr>
            <p:sp>
              <p:nvSpPr>
                <p:cNvPr id="25" name="Ellipse 25"/>
                <p:cNvSpPr/>
                <p:nvPr/>
              </p:nvSpPr>
              <p:spPr>
                <a:xfrm>
                  <a:off x="8191500" y="2476500"/>
                  <a:ext cx="1143000" cy="1143000"/>
                </a:xfrm>
                <a:prstGeom prst="ellipse">
                  <a:avLst/>
                </a:prstGeom>
                <a:noFill/>
                <a:ln w="19050">
                  <a:solidFill>
                    <a:schemeClr val="accent1">
                      <a:alpha val="90000"/>
                    </a:schemeClr>
                  </a:solidFill>
                </a:ln>
              </p:spPr>
            </p:sp>
            <p:sp>
              <p:nvSpPr>
                <p:cNvPr id="26" name="Ellipse 26"/>
                <p:cNvSpPr/>
                <p:nvPr/>
              </p:nvSpPr>
              <p:spPr>
                <a:xfrm>
                  <a:off x="8334375" y="2619375"/>
                  <a:ext cx="857250" cy="857250"/>
                </a:xfrm>
                <a:prstGeom prst="ellipse">
                  <a:avLst/>
                </a:prstGeom>
                <a:noFill/>
                <a:ln w="14288">
                  <a:solidFill>
                    <a:schemeClr val="accent2">
                      <a:alpha val="90000"/>
                    </a:schemeClr>
                  </a:solidFill>
                </a:ln>
              </p:spPr>
            </p:sp>
            <p:sp>
              <p:nvSpPr>
                <p:cNvPr id="27" name="Ellipse 27"/>
                <p:cNvSpPr/>
                <p:nvPr/>
              </p:nvSpPr>
              <p:spPr>
                <a:xfrm>
                  <a:off x="8686800" y="2971800"/>
                  <a:ext cx="152400" cy="152400"/>
                </a:xfrm>
                <a:prstGeom prst="ellipse">
                  <a:avLst/>
                </a:prstGeom>
                <a:solidFill>
                  <a:schemeClr val="accent2">
                    <a:alpha val="90000"/>
                  </a:schemeClr>
                </a:solidFill>
                <a:ln>
                  <a:noFill/>
                </a:ln>
              </p:spPr>
            </p:sp>
            <p:sp>
              <p:nvSpPr>
                <p:cNvPr id="28" name="Ellipse 28"/>
                <p:cNvSpPr/>
                <p:nvPr/>
              </p:nvSpPr>
              <p:spPr>
                <a:xfrm>
                  <a:off x="7477125" y="1571625"/>
                  <a:ext cx="666750" cy="666750"/>
                </a:xfrm>
                <a:prstGeom prst="ellipse">
                  <a:avLst/>
                </a:prstGeom>
                <a:solidFill>
                  <a:schemeClr val="lt2">
                    <a:alpha val="90000"/>
                  </a:schemeClr>
                </a:solidFill>
                <a:ln w="19050">
                  <a:solidFill>
                    <a:schemeClr val="accent1">
                      <a:alpha val="90000"/>
                    </a:schemeClr>
                  </a:solidFill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7583614" y="1863566"/>
                  <a:ext cx="453771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0" dirty="0">
                      <a:solidFill>
                        <a:schemeClr val="accent1">
                          <a:alphaMod val="90000"/>
                        </a:schemeClr>
                      </a:solidFill>
                      <a:latin typeface="+mn-lt"/>
                      <a:ea typeface="+mn-ea"/>
                      <a:cs typeface="+mn-cs"/>
                    </a:rPr>
                    <a:t>数据整合</a:t>
                  </a:r>
                </a:p>
              </p:txBody>
            </p:sp>
            <p:sp>
              <p:nvSpPr>
                <p:cNvPr id="30" name="Line 30"/>
                <p:cNvSpPr/>
                <p:nvPr/>
              </p:nvSpPr>
              <p:spPr>
                <a:xfrm>
                  <a:off x="8096250" y="2190750"/>
                  <a:ext cx="333375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428625">
                      <a:moveTo>
                        <a:pt x="0" y="0"/>
                      </a:moveTo>
                      <a:lnTo>
                        <a:pt x="333375" y="428625"/>
                      </a:lnTo>
                    </a:path>
                  </a:pathLst>
                </a:custGeom>
                <a:noFill/>
                <a:ln w="14288">
                  <a:solidFill>
                    <a:schemeClr val="accent1">
                      <a:alpha val="90000"/>
                    </a:schemeClr>
                  </a:solidFill>
                </a:ln>
              </p:spPr>
            </p:sp>
            <p:sp>
              <p:nvSpPr>
                <p:cNvPr id="31" name="Ellipse 31"/>
                <p:cNvSpPr/>
                <p:nvPr/>
              </p:nvSpPr>
              <p:spPr>
                <a:xfrm>
                  <a:off x="8058150" y="2152650"/>
                  <a:ext cx="76200" cy="76200"/>
                </a:xfrm>
                <a:prstGeom prst="ellipse">
                  <a:avLst/>
                </a:prstGeom>
                <a:solidFill>
                  <a:schemeClr val="accent2">
                    <a:alpha val="90000"/>
                  </a:schemeClr>
                </a:solidFill>
                <a:ln>
                  <a:noFill/>
                </a:ln>
              </p:spPr>
            </p:sp>
            <p:sp>
              <p:nvSpPr>
                <p:cNvPr id="32" name="Ellipse 32"/>
                <p:cNvSpPr/>
                <p:nvPr/>
              </p:nvSpPr>
              <p:spPr>
                <a:xfrm>
                  <a:off x="9382125" y="1571625"/>
                  <a:ext cx="666750" cy="666750"/>
                </a:xfrm>
                <a:prstGeom prst="ellipse">
                  <a:avLst/>
                </a:prstGeom>
                <a:solidFill>
                  <a:schemeClr val="lt2">
                    <a:alpha val="90000"/>
                  </a:schemeClr>
                </a:solidFill>
                <a:ln w="19050">
                  <a:solidFill>
                    <a:schemeClr val="accent1">
                      <a:alpha val="90000"/>
                    </a:schemeClr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9543517" y="1863566"/>
                  <a:ext cx="343967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0" dirty="0">
                      <a:solidFill>
                        <a:schemeClr val="accent1">
                          <a:alphaMod val="90000"/>
                        </a:schemeClr>
                      </a:solidFill>
                      <a:latin typeface="+mn-lt"/>
                      <a:ea typeface="+mn-ea"/>
                      <a:cs typeface="+mn-cs"/>
                    </a:rPr>
                    <a:t>AI分析</a:t>
                  </a:r>
                </a:p>
              </p:txBody>
            </p:sp>
            <p:sp>
              <p:nvSpPr>
                <p:cNvPr id="34" name="Line 34"/>
                <p:cNvSpPr/>
                <p:nvPr/>
              </p:nvSpPr>
              <p:spPr>
                <a:xfrm>
                  <a:off x="9096375" y="2190750"/>
                  <a:ext cx="333375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428625">
                      <a:moveTo>
                        <a:pt x="333375" y="0"/>
                      </a:moveTo>
                      <a:lnTo>
                        <a:pt x="0" y="428625"/>
                      </a:lnTo>
                    </a:path>
                  </a:pathLst>
                </a:custGeom>
                <a:noFill/>
                <a:ln w="14288">
                  <a:solidFill>
                    <a:schemeClr val="accent1">
                      <a:alpha val="90000"/>
                    </a:schemeClr>
                  </a:solidFill>
                </a:ln>
              </p:spPr>
            </p:sp>
            <p:sp>
              <p:nvSpPr>
                <p:cNvPr id="35" name="Ellipse 35"/>
                <p:cNvSpPr/>
                <p:nvPr/>
              </p:nvSpPr>
              <p:spPr>
                <a:xfrm>
                  <a:off x="9391650" y="2152650"/>
                  <a:ext cx="76200" cy="76200"/>
                </a:xfrm>
                <a:prstGeom prst="ellipse">
                  <a:avLst/>
                </a:prstGeom>
                <a:solidFill>
                  <a:schemeClr val="accent2">
                    <a:alpha val="90000"/>
                  </a:schemeClr>
                </a:solidFill>
                <a:ln>
                  <a:noFill/>
                </a:ln>
              </p:spPr>
            </p:sp>
            <p:sp>
              <p:nvSpPr>
                <p:cNvPr id="36" name="Ellipse 36"/>
                <p:cNvSpPr/>
                <p:nvPr/>
              </p:nvSpPr>
              <p:spPr>
                <a:xfrm>
                  <a:off x="7477125" y="3857625"/>
                  <a:ext cx="666750" cy="666750"/>
                </a:xfrm>
                <a:prstGeom prst="ellipse">
                  <a:avLst/>
                </a:prstGeom>
                <a:solidFill>
                  <a:schemeClr val="lt2">
                    <a:alpha val="90000"/>
                  </a:schemeClr>
                </a:solidFill>
                <a:ln w="19050">
                  <a:solidFill>
                    <a:schemeClr val="accent1">
                      <a:alpha val="90000"/>
                    </a:schemeClr>
                  </a:solidFill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7528084" y="4149566"/>
                  <a:ext cx="564832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0" dirty="0">
                      <a:solidFill>
                        <a:schemeClr val="accent1">
                          <a:alphaMod val="90000"/>
                        </a:schemeClr>
                      </a:solidFill>
                      <a:latin typeface="+mn-lt"/>
                      <a:ea typeface="+mn-ea"/>
                      <a:cs typeface="+mn-cs"/>
                    </a:rPr>
                    <a:t>自动化执行</a:t>
                  </a:r>
                </a:p>
              </p:txBody>
            </p:sp>
            <p:sp>
              <p:nvSpPr>
                <p:cNvPr id="38" name="Line 38"/>
                <p:cNvSpPr/>
                <p:nvPr/>
              </p:nvSpPr>
              <p:spPr>
                <a:xfrm>
                  <a:off x="8096250" y="3476625"/>
                  <a:ext cx="333375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428625">
                      <a:moveTo>
                        <a:pt x="0" y="428625"/>
                      </a:moveTo>
                      <a:lnTo>
                        <a:pt x="333375" y="0"/>
                      </a:lnTo>
                    </a:path>
                  </a:pathLst>
                </a:custGeom>
                <a:noFill/>
                <a:ln w="14288">
                  <a:solidFill>
                    <a:schemeClr val="accent1">
                      <a:alpha val="90000"/>
                    </a:schemeClr>
                  </a:solidFill>
                </a:ln>
              </p:spPr>
            </p:sp>
            <p:sp>
              <p:nvSpPr>
                <p:cNvPr id="39" name="Ellipse 39"/>
                <p:cNvSpPr/>
                <p:nvPr/>
              </p:nvSpPr>
              <p:spPr>
                <a:xfrm>
                  <a:off x="8058150" y="3867150"/>
                  <a:ext cx="76200" cy="76200"/>
                </a:xfrm>
                <a:prstGeom prst="ellipse">
                  <a:avLst/>
                </a:prstGeom>
                <a:solidFill>
                  <a:schemeClr val="accent2">
                    <a:alpha val="90000"/>
                  </a:schemeClr>
                </a:solidFill>
                <a:ln>
                  <a:noFill/>
                </a:ln>
              </p:spPr>
            </p:sp>
            <p:sp>
              <p:nvSpPr>
                <p:cNvPr id="40" name="Ellipse 40"/>
                <p:cNvSpPr/>
                <p:nvPr/>
              </p:nvSpPr>
              <p:spPr>
                <a:xfrm>
                  <a:off x="9382125" y="3857625"/>
                  <a:ext cx="666750" cy="666750"/>
                </a:xfrm>
                <a:prstGeom prst="ellipse">
                  <a:avLst/>
                </a:prstGeom>
                <a:solidFill>
                  <a:schemeClr val="lt2">
                    <a:alpha val="90000"/>
                  </a:schemeClr>
                </a:solidFill>
                <a:ln w="19050">
                  <a:solidFill>
                    <a:schemeClr val="accent1">
                      <a:alpha val="90000"/>
                    </a:schemeClr>
                  </a:solidFill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9488614" y="4149566"/>
                  <a:ext cx="453771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0" dirty="0">
                      <a:solidFill>
                        <a:schemeClr val="accent1">
                          <a:alphaMod val="90000"/>
                        </a:schemeClr>
                      </a:solidFill>
                      <a:latin typeface="+mn-lt"/>
                      <a:ea typeface="+mn-ea"/>
                      <a:cs typeface="+mn-cs"/>
                    </a:rPr>
                    <a:t>效果度量</a:t>
                  </a:r>
                </a:p>
              </p:txBody>
            </p:sp>
            <p:sp>
              <p:nvSpPr>
                <p:cNvPr id="42" name="Line 42"/>
                <p:cNvSpPr/>
                <p:nvPr/>
              </p:nvSpPr>
              <p:spPr>
                <a:xfrm>
                  <a:off x="9096375" y="3476625"/>
                  <a:ext cx="333375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428625">
                      <a:moveTo>
                        <a:pt x="333375" y="428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4288">
                  <a:solidFill>
                    <a:schemeClr val="accent1">
                      <a:alpha val="90000"/>
                    </a:schemeClr>
                  </a:solidFill>
                </a:ln>
              </p:spPr>
            </p:sp>
            <p:sp>
              <p:nvSpPr>
                <p:cNvPr id="43" name="Ellipse 43"/>
                <p:cNvSpPr/>
                <p:nvPr/>
              </p:nvSpPr>
              <p:spPr>
                <a:xfrm>
                  <a:off x="9391650" y="3867150"/>
                  <a:ext cx="76200" cy="76200"/>
                </a:xfrm>
                <a:prstGeom prst="ellipse">
                  <a:avLst/>
                </a:prstGeom>
                <a:solidFill>
                  <a:schemeClr val="accent2">
                    <a:alpha val="90000"/>
                  </a:schemeClr>
                </a:solidFill>
                <a:ln>
                  <a:noFill/>
                </a:ln>
              </p:spPr>
            </p:sp>
            <p:sp>
              <p:nvSpPr>
                <p:cNvPr id="44" name="Line 44"/>
                <p:cNvSpPr/>
                <p:nvPr/>
              </p:nvSpPr>
              <p:spPr>
                <a:xfrm>
                  <a:off x="8143875" y="2095500"/>
                  <a:ext cx="238125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762000">
                      <a:moveTo>
                        <a:pt x="238125" y="7620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4288">
                  <a:solidFill>
                    <a:schemeClr val="accent3">
                      <a:alpha val="90000"/>
                    </a:schemeClr>
                  </a:solidFill>
                  <a:custDash>
                    <a:ds d="266666" sp="133333"/>
                  </a:custDash>
                </a:ln>
              </p:spPr>
            </p:sp>
            <p:sp>
              <p:nvSpPr>
                <p:cNvPr id="45" name="Line 45"/>
                <p:cNvSpPr/>
                <p:nvPr/>
              </p:nvSpPr>
              <p:spPr>
                <a:xfrm>
                  <a:off x="9144000" y="2095500"/>
                  <a:ext cx="238125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762000">
                      <a:moveTo>
                        <a:pt x="0" y="762000"/>
                      </a:moveTo>
                      <a:lnTo>
                        <a:pt x="238125" y="0"/>
                      </a:lnTo>
                    </a:path>
                  </a:pathLst>
                </a:custGeom>
                <a:noFill/>
                <a:ln w="14288">
                  <a:solidFill>
                    <a:schemeClr val="accent3">
                      <a:alpha val="90000"/>
                    </a:schemeClr>
                  </a:solidFill>
                  <a:custDash>
                    <a:ds d="266666" sp="133333"/>
                  </a:custDash>
                </a:ln>
              </p:spPr>
            </p:sp>
            <p:sp>
              <p:nvSpPr>
                <p:cNvPr id="46" name="Line 46"/>
                <p:cNvSpPr/>
                <p:nvPr/>
              </p:nvSpPr>
              <p:spPr>
                <a:xfrm>
                  <a:off x="8143875" y="3238500"/>
                  <a:ext cx="238125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762000">
                      <a:moveTo>
                        <a:pt x="238125" y="0"/>
                      </a:moveTo>
                      <a:lnTo>
                        <a:pt x="0" y="762000"/>
                      </a:lnTo>
                    </a:path>
                  </a:pathLst>
                </a:custGeom>
                <a:noFill/>
                <a:ln w="14288">
                  <a:solidFill>
                    <a:schemeClr val="accent3">
                      <a:alpha val="90000"/>
                    </a:schemeClr>
                  </a:solidFill>
                  <a:custDash>
                    <a:ds d="266666" sp="133333"/>
                  </a:custDash>
                </a:ln>
              </p:spPr>
            </p:sp>
            <p:sp>
              <p:nvSpPr>
                <p:cNvPr id="47" name="Line 47"/>
                <p:cNvSpPr/>
                <p:nvPr/>
              </p:nvSpPr>
              <p:spPr>
                <a:xfrm>
                  <a:off x="9144000" y="3238500"/>
                  <a:ext cx="238125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762000">
                      <a:moveTo>
                        <a:pt x="0" y="0"/>
                      </a:moveTo>
                      <a:lnTo>
                        <a:pt x="238125" y="762000"/>
                      </a:lnTo>
                    </a:path>
                  </a:pathLst>
                </a:custGeom>
                <a:noFill/>
                <a:ln w="14288">
                  <a:solidFill>
                    <a:schemeClr val="accent3">
                      <a:alpha val="90000"/>
                    </a:schemeClr>
                  </a:solidFill>
                  <a:custDash>
                    <a:ds d="266666" sp="133333"/>
                  </a:custDash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8477250" y="3429000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95250" y="0"/>
                      </a:moveTo>
                      <a:lnTo>
                        <a:pt x="142875" y="142875"/>
                      </a:lnTo>
                      <a:lnTo>
                        <a:pt x="0" y="142875"/>
                      </a:lnTo>
                      <a:close/>
                    </a:path>
                  </a:pathLst>
                </a:custGeom>
                <a:solidFill>
                  <a:schemeClr val="accent2">
                    <a:alpha val="90000"/>
                  </a:schemeClr>
                </a:solidFill>
                <a:ln>
                  <a:noFill/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8858250" y="3429000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95250" y="0"/>
                      </a:moveTo>
                      <a:lnTo>
                        <a:pt x="142875" y="142875"/>
                      </a:lnTo>
                      <a:lnTo>
                        <a:pt x="0" y="142875"/>
                      </a:lnTo>
                      <a:close/>
                    </a:path>
                  </a:pathLst>
                </a:custGeom>
                <a:solidFill>
                  <a:schemeClr val="accent2">
                    <a:alpha val="90000"/>
                  </a:schemeClr>
                </a:solidFill>
                <a:ln>
                  <a:noFill/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8477250" y="2524125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95250" y="142875"/>
                      </a:moveTo>
                      <a:lnTo>
                        <a:pt x="14287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alpha val="90000"/>
                  </a:schemeClr>
                </a:solidFill>
                <a:ln>
                  <a:noFill/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8858250" y="2524125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95250" y="142875"/>
                      </a:moveTo>
                      <a:lnTo>
                        <a:pt x="14287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alpha val="90000"/>
                  </a:schemeClr>
                </a:solidFill>
                <a:ln>
                  <a:noFill/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8273606" y="4855845"/>
                <a:ext cx="9787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四大引擎协同闭环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571500" y="476250"/>
            <a:ext cx="11049000" cy="5534025"/>
            <a:chOff x="571500" y="476250"/>
            <a:chExt cx="11049000" cy="5534025"/>
          </a:xfrm>
        </p:grpSpPr>
        <p:sp>
          <p:nvSpPr>
            <p:cNvPr id="56" name="Freeform 56"/>
            <p:cNvSpPr/>
            <p:nvPr/>
          </p:nvSpPr>
          <p:spPr>
            <a:xfrm>
              <a:off x="11239500" y="476250"/>
              <a:ext cx="381000" cy="38100"/>
            </a:xfrm>
            <a:custGeom>
              <a:avLst/>
              <a:gdLst/>
              <a:ahLst/>
              <a:cxnLst/>
              <a:rect l="l" t="t" r="r" b="b"/>
              <a:pathLst>
                <a:path w="381000" h="38100">
                  <a:moveTo>
                    <a:pt x="19050" y="0"/>
                  </a:moveTo>
                  <a:lnTo>
                    <a:pt x="361950" y="0"/>
                  </a:lnTo>
                  <a:cubicBezTo>
                    <a:pt x="372471" y="0"/>
                    <a:pt x="381000" y="8529"/>
                    <a:pt x="381000" y="19050"/>
                  </a:cubicBezTo>
                  <a:lnTo>
                    <a:pt x="381000" y="19050"/>
                  </a:lnTo>
                  <a:cubicBezTo>
                    <a:pt x="381000" y="29571"/>
                    <a:pt x="372471" y="38100"/>
                    <a:pt x="361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11430000" y="552450"/>
              <a:ext cx="190500" cy="38100"/>
            </a:xfrm>
            <a:custGeom>
              <a:avLst/>
              <a:gdLst/>
              <a:ahLst/>
              <a:cxnLst/>
              <a:rect l="l" t="t" r="r" b="b"/>
              <a:pathLst>
                <a:path w="190500" h="38100">
                  <a:moveTo>
                    <a:pt x="19050" y="0"/>
                  </a:moveTo>
                  <a:lnTo>
                    <a:pt x="171450" y="0"/>
                  </a:lnTo>
                  <a:cubicBezTo>
                    <a:pt x="181971" y="0"/>
                    <a:pt x="190500" y="8529"/>
                    <a:pt x="190500" y="19050"/>
                  </a:cubicBezTo>
                  <a:lnTo>
                    <a:pt x="190500" y="19050"/>
                  </a:lnTo>
                  <a:cubicBezTo>
                    <a:pt x="190500" y="29571"/>
                    <a:pt x="181971" y="38100"/>
                    <a:pt x="1714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58" name="Line 58"/>
            <p:cNvSpPr/>
            <p:nvPr/>
          </p:nvSpPr>
          <p:spPr>
            <a:xfrm>
              <a:off x="571500" y="5905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571500" y="600075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75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476250"/>
            <a:ext cx="11053762" cy="6264116"/>
            <a:chOff x="571500" y="476250"/>
            <a:chExt cx="11053762" cy="6264116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11049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047750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43681" y="65784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57784" y="696278"/>
            <a:ext cx="11062716" cy="5209222"/>
            <a:chOff x="557784" y="696278"/>
            <a:chExt cx="11062716" cy="5209222"/>
          </a:xfrm>
        </p:grpSpPr>
        <p:grpSp>
          <p:nvGrpSpPr>
            <p:cNvPr id="48" name="Group 48"/>
            <p:cNvGrpSpPr/>
            <p:nvPr/>
          </p:nvGrpSpPr>
          <p:grpSpPr>
            <a:xfrm>
              <a:off x="557784" y="696278"/>
              <a:ext cx="8586216" cy="4142422"/>
              <a:chOff x="557784" y="696278"/>
              <a:chExt cx="8586216" cy="4142422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566166" y="696278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模块目录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57784" y="1232535"/>
                <a:ext cx="164043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战略概览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60832" y="1678305"/>
                <a:ext cx="241096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引领智能营销转型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64642" y="22355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本简报将按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64642" y="2502218"/>
                <a:ext cx="17674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连接→洞察→行动→闭环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64642" y="27689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的逻辑展开</a:t>
                </a:r>
              </a:p>
            </p:txBody>
          </p:sp>
          <p:grpSp>
            <p:nvGrpSpPr>
              <p:cNvPr id="45" name="Group 45"/>
              <p:cNvGrpSpPr/>
              <p:nvPr/>
            </p:nvGrpSpPr>
            <p:grpSpPr>
              <a:xfrm>
                <a:off x="571500" y="3238500"/>
                <a:ext cx="8572500" cy="762000"/>
                <a:chOff x="571500" y="3238500"/>
                <a:chExt cx="8572500" cy="762000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571500" y="3238500"/>
                  <a:ext cx="17145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762000">
                      <a:moveTo>
                        <a:pt x="76200" y="0"/>
                      </a:moveTo>
                      <a:lnTo>
                        <a:pt x="1638300" y="0"/>
                      </a:lnTo>
                      <a:cubicBezTo>
                        <a:pt x="1680384" y="0"/>
                        <a:pt x="1714500" y="34116"/>
                        <a:pt x="1714500" y="76200"/>
                      </a:cubicBezTo>
                      <a:lnTo>
                        <a:pt x="1714500" y="685800"/>
                      </a:lnTo>
                      <a:cubicBezTo>
                        <a:pt x="1714500" y="727884"/>
                        <a:pt x="1680384" y="762000"/>
                        <a:pt x="1638300" y="762000"/>
                      </a:cubicBezTo>
                      <a:lnTo>
                        <a:pt x="76200" y="762000"/>
                      </a:lnTo>
                      <a:cubicBezTo>
                        <a:pt x="34116" y="762000"/>
                        <a:pt x="0" y="727884"/>
                        <a:pt x="0" y="685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4288">
                  <a:solidFill>
                    <a:schemeClr val="accent4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571500" y="3238500"/>
                  <a:ext cx="17145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228600">
                      <a:moveTo>
                        <a:pt x="76200" y="0"/>
                      </a:moveTo>
                      <a:lnTo>
                        <a:pt x="1638300" y="0"/>
                      </a:lnTo>
                      <a:cubicBezTo>
                        <a:pt x="1680384" y="0"/>
                        <a:pt x="1714500" y="34116"/>
                        <a:pt x="1714500" y="76200"/>
                      </a:cubicBezTo>
                      <a:lnTo>
                        <a:pt x="1714500" y="152400"/>
                      </a:lnTo>
                      <a:cubicBezTo>
                        <a:pt x="1714500" y="194484"/>
                        <a:pt x="1680384" y="228600"/>
                        <a:pt x="1638300" y="228600"/>
                      </a:cubicBezTo>
                      <a:lnTo>
                        <a:pt x="76200" y="228600"/>
                      </a:lnTo>
                      <a:cubicBezTo>
                        <a:pt x="34116" y="228600"/>
                        <a:pt x="0" y="194484"/>
                        <a:pt x="0" y="1524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7" name="Rectangle 17"/>
                <p:cNvSpPr/>
                <p:nvPr/>
              </p:nvSpPr>
              <p:spPr>
                <a:xfrm>
                  <a:off x="571500" y="3390900"/>
                  <a:ext cx="1714500" cy="762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359849" y="3311366"/>
                  <a:ext cx="137801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82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01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274997" y="3601402"/>
                  <a:ext cx="30750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连接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201864" y="3797141"/>
                  <a:ext cx="453771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数据整合</a:t>
                  </a:r>
                </a:p>
              </p:txBody>
            </p:sp>
            <p:sp>
              <p:nvSpPr>
                <p:cNvPr id="21" name="Line 21"/>
                <p:cNvSpPr/>
                <p:nvPr/>
              </p:nvSpPr>
              <p:spPr>
                <a:xfrm>
                  <a:off x="2428875" y="3619500"/>
                  <a:ext cx="285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9525">
                      <a:moveTo>
                        <a:pt x="0" y="0"/>
                      </a:moveTo>
                      <a:lnTo>
                        <a:pt x="28575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  <a:custDash>
                    <a:ds d="200000" sp="100000"/>
                  </a:custDash>
                </a:ln>
              </p:spPr>
            </p:sp>
            <p:sp>
              <p:nvSpPr>
                <p:cNvPr id="22" name="Polygon 22"/>
                <p:cNvSpPr/>
                <p:nvPr/>
              </p:nvSpPr>
              <p:spPr>
                <a:xfrm>
                  <a:off x="2647950" y="3581400"/>
                  <a:ext cx="666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76200">
                      <a:moveTo>
                        <a:pt x="66675" y="38100"/>
                      </a:moveTo>
                      <a:lnTo>
                        <a:pt x="0" y="0"/>
                      </a:lnTo>
                      <a:lnTo>
                        <a:pt x="0" y="7620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2857500" y="3238500"/>
                  <a:ext cx="17145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762000">
                      <a:moveTo>
                        <a:pt x="76200" y="0"/>
                      </a:moveTo>
                      <a:lnTo>
                        <a:pt x="1638300" y="0"/>
                      </a:lnTo>
                      <a:cubicBezTo>
                        <a:pt x="1680384" y="0"/>
                        <a:pt x="1714500" y="34116"/>
                        <a:pt x="1714500" y="76200"/>
                      </a:cubicBezTo>
                      <a:lnTo>
                        <a:pt x="1714500" y="685800"/>
                      </a:lnTo>
                      <a:cubicBezTo>
                        <a:pt x="1714500" y="727884"/>
                        <a:pt x="1680384" y="762000"/>
                        <a:pt x="1638300" y="762000"/>
                      </a:cubicBezTo>
                      <a:lnTo>
                        <a:pt x="76200" y="762000"/>
                      </a:lnTo>
                      <a:cubicBezTo>
                        <a:pt x="34116" y="762000"/>
                        <a:pt x="0" y="727884"/>
                        <a:pt x="0" y="685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4288">
                  <a:solidFill>
                    <a:schemeClr val="accent4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2857500" y="3238500"/>
                  <a:ext cx="17145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228600">
                      <a:moveTo>
                        <a:pt x="76200" y="0"/>
                      </a:moveTo>
                      <a:lnTo>
                        <a:pt x="1638300" y="0"/>
                      </a:lnTo>
                      <a:cubicBezTo>
                        <a:pt x="1680384" y="0"/>
                        <a:pt x="1714500" y="34116"/>
                        <a:pt x="1714500" y="76200"/>
                      </a:cubicBezTo>
                      <a:lnTo>
                        <a:pt x="1714500" y="152400"/>
                      </a:lnTo>
                      <a:cubicBezTo>
                        <a:pt x="1714500" y="194484"/>
                        <a:pt x="1680384" y="228600"/>
                        <a:pt x="1638300" y="228600"/>
                      </a:cubicBezTo>
                      <a:lnTo>
                        <a:pt x="76200" y="228600"/>
                      </a:lnTo>
                      <a:cubicBezTo>
                        <a:pt x="34116" y="228600"/>
                        <a:pt x="0" y="194484"/>
                        <a:pt x="0" y="1524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5" name="Rectangle 25"/>
                <p:cNvSpPr/>
                <p:nvPr/>
              </p:nvSpPr>
              <p:spPr>
                <a:xfrm>
                  <a:off x="2857500" y="3390900"/>
                  <a:ext cx="1714500" cy="762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3645849" y="3311366"/>
                  <a:ext cx="137801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82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02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3560997" y="3601402"/>
                  <a:ext cx="30750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洞察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3542767" y="3797141"/>
                  <a:ext cx="343967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AI分析</a:t>
                  </a:r>
                </a:p>
              </p:txBody>
            </p:sp>
            <p:sp>
              <p:nvSpPr>
                <p:cNvPr id="29" name="Line 29"/>
                <p:cNvSpPr/>
                <p:nvPr/>
              </p:nvSpPr>
              <p:spPr>
                <a:xfrm>
                  <a:off x="4714875" y="3619500"/>
                  <a:ext cx="285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9525">
                      <a:moveTo>
                        <a:pt x="0" y="0"/>
                      </a:moveTo>
                      <a:lnTo>
                        <a:pt x="28575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  <a:custDash>
                    <a:ds d="200000" sp="100000"/>
                  </a:custDash>
                </a:ln>
              </p:spPr>
            </p:sp>
            <p:sp>
              <p:nvSpPr>
                <p:cNvPr id="30" name="Polygon 30"/>
                <p:cNvSpPr/>
                <p:nvPr/>
              </p:nvSpPr>
              <p:spPr>
                <a:xfrm>
                  <a:off x="4933950" y="3581400"/>
                  <a:ext cx="666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76200">
                      <a:moveTo>
                        <a:pt x="66675" y="38100"/>
                      </a:moveTo>
                      <a:lnTo>
                        <a:pt x="0" y="0"/>
                      </a:lnTo>
                      <a:lnTo>
                        <a:pt x="0" y="7620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5143500" y="3238500"/>
                  <a:ext cx="17145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762000">
                      <a:moveTo>
                        <a:pt x="76200" y="0"/>
                      </a:moveTo>
                      <a:lnTo>
                        <a:pt x="1638300" y="0"/>
                      </a:lnTo>
                      <a:cubicBezTo>
                        <a:pt x="1680384" y="0"/>
                        <a:pt x="1714500" y="34116"/>
                        <a:pt x="1714500" y="76200"/>
                      </a:cubicBezTo>
                      <a:lnTo>
                        <a:pt x="1714500" y="685800"/>
                      </a:lnTo>
                      <a:cubicBezTo>
                        <a:pt x="1714500" y="727884"/>
                        <a:pt x="1680384" y="762000"/>
                        <a:pt x="1638300" y="762000"/>
                      </a:cubicBezTo>
                      <a:lnTo>
                        <a:pt x="76200" y="762000"/>
                      </a:lnTo>
                      <a:cubicBezTo>
                        <a:pt x="34116" y="762000"/>
                        <a:pt x="0" y="727884"/>
                        <a:pt x="0" y="685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4288">
                  <a:solidFill>
                    <a:schemeClr val="accent4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5143500" y="3238500"/>
                  <a:ext cx="17145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228600">
                      <a:moveTo>
                        <a:pt x="76200" y="0"/>
                      </a:moveTo>
                      <a:lnTo>
                        <a:pt x="1638300" y="0"/>
                      </a:lnTo>
                      <a:cubicBezTo>
                        <a:pt x="1680384" y="0"/>
                        <a:pt x="1714500" y="34116"/>
                        <a:pt x="1714500" y="76200"/>
                      </a:cubicBezTo>
                      <a:lnTo>
                        <a:pt x="1714500" y="152400"/>
                      </a:lnTo>
                      <a:cubicBezTo>
                        <a:pt x="1714500" y="194484"/>
                        <a:pt x="1680384" y="228600"/>
                        <a:pt x="1638300" y="228600"/>
                      </a:cubicBezTo>
                      <a:lnTo>
                        <a:pt x="76200" y="228600"/>
                      </a:lnTo>
                      <a:cubicBezTo>
                        <a:pt x="34116" y="228600"/>
                        <a:pt x="0" y="194484"/>
                        <a:pt x="0" y="1524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3" name="Rectangle 33"/>
                <p:cNvSpPr/>
                <p:nvPr/>
              </p:nvSpPr>
              <p:spPr>
                <a:xfrm>
                  <a:off x="5143500" y="3390900"/>
                  <a:ext cx="1714500" cy="762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5931849" y="3311366"/>
                  <a:ext cx="137801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82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03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5846997" y="3601402"/>
                  <a:ext cx="30750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行动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5718334" y="3797141"/>
                  <a:ext cx="564832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自动化执行</a:t>
                  </a:r>
                </a:p>
              </p:txBody>
            </p:sp>
            <p:sp>
              <p:nvSpPr>
                <p:cNvPr id="37" name="Line 37"/>
                <p:cNvSpPr/>
                <p:nvPr/>
              </p:nvSpPr>
              <p:spPr>
                <a:xfrm>
                  <a:off x="7000875" y="3619500"/>
                  <a:ext cx="285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9525">
                      <a:moveTo>
                        <a:pt x="0" y="0"/>
                      </a:moveTo>
                      <a:lnTo>
                        <a:pt x="28575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  <a:custDash>
                    <a:ds d="200000" sp="100000"/>
                  </a:custDash>
                </a:ln>
              </p:spPr>
            </p:sp>
            <p:sp>
              <p:nvSpPr>
                <p:cNvPr id="38" name="Polygon 38"/>
                <p:cNvSpPr/>
                <p:nvPr/>
              </p:nvSpPr>
              <p:spPr>
                <a:xfrm>
                  <a:off x="7219950" y="3581400"/>
                  <a:ext cx="666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76200">
                      <a:moveTo>
                        <a:pt x="66675" y="38100"/>
                      </a:moveTo>
                      <a:lnTo>
                        <a:pt x="0" y="0"/>
                      </a:lnTo>
                      <a:lnTo>
                        <a:pt x="0" y="7620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429500" y="3238500"/>
                  <a:ext cx="17145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762000">
                      <a:moveTo>
                        <a:pt x="76200" y="0"/>
                      </a:moveTo>
                      <a:lnTo>
                        <a:pt x="1638300" y="0"/>
                      </a:lnTo>
                      <a:cubicBezTo>
                        <a:pt x="1680384" y="0"/>
                        <a:pt x="1714500" y="34116"/>
                        <a:pt x="1714500" y="76200"/>
                      </a:cubicBezTo>
                      <a:lnTo>
                        <a:pt x="1714500" y="685800"/>
                      </a:lnTo>
                      <a:cubicBezTo>
                        <a:pt x="1714500" y="727884"/>
                        <a:pt x="1680384" y="762000"/>
                        <a:pt x="1638300" y="762000"/>
                      </a:cubicBezTo>
                      <a:lnTo>
                        <a:pt x="76200" y="762000"/>
                      </a:lnTo>
                      <a:cubicBezTo>
                        <a:pt x="34116" y="762000"/>
                        <a:pt x="0" y="727884"/>
                        <a:pt x="0" y="685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4288">
                  <a:solidFill>
                    <a:schemeClr val="accent4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429500" y="3238500"/>
                  <a:ext cx="17145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228600">
                      <a:moveTo>
                        <a:pt x="76200" y="0"/>
                      </a:moveTo>
                      <a:lnTo>
                        <a:pt x="1638300" y="0"/>
                      </a:lnTo>
                      <a:cubicBezTo>
                        <a:pt x="1680384" y="0"/>
                        <a:pt x="1714500" y="34116"/>
                        <a:pt x="1714500" y="76200"/>
                      </a:cubicBezTo>
                      <a:lnTo>
                        <a:pt x="1714500" y="152400"/>
                      </a:lnTo>
                      <a:cubicBezTo>
                        <a:pt x="1714500" y="194484"/>
                        <a:pt x="1680384" y="228600"/>
                        <a:pt x="1638300" y="228600"/>
                      </a:cubicBezTo>
                      <a:lnTo>
                        <a:pt x="76200" y="228600"/>
                      </a:lnTo>
                      <a:cubicBezTo>
                        <a:pt x="34116" y="228600"/>
                        <a:pt x="0" y="194484"/>
                        <a:pt x="0" y="1524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41" name="Rectangle 41"/>
                <p:cNvSpPr/>
                <p:nvPr/>
              </p:nvSpPr>
              <p:spPr>
                <a:xfrm>
                  <a:off x="7429500" y="3390900"/>
                  <a:ext cx="1714500" cy="76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8217849" y="3311366"/>
                  <a:ext cx="137801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82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04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8132997" y="3601402"/>
                  <a:ext cx="30750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闭环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8059864" y="3797141"/>
                  <a:ext cx="453771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效果度量</a:t>
                  </a:r>
                </a:p>
              </p:txBody>
            </p:sp>
          </p:grpSp>
          <p:sp>
            <p:nvSpPr>
              <p:cNvPr id="46" name="Freeform 46"/>
              <p:cNvSpPr/>
              <p:nvPr/>
            </p:nvSpPr>
            <p:spPr>
              <a:xfrm>
                <a:off x="571500" y="4381500"/>
                <a:ext cx="80010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8001000" h="457200">
                    <a:moveTo>
                      <a:pt x="57150" y="0"/>
                    </a:moveTo>
                    <a:lnTo>
                      <a:pt x="7943850" y="0"/>
                    </a:lnTo>
                    <a:cubicBezTo>
                      <a:pt x="7975413" y="0"/>
                      <a:pt x="8001000" y="25587"/>
                      <a:pt x="8001000" y="57150"/>
                    </a:cubicBezTo>
                    <a:lnTo>
                      <a:pt x="8001000" y="400050"/>
                    </a:lnTo>
                    <a:cubicBezTo>
                      <a:pt x="8001000" y="431613"/>
                      <a:pt x="7975413" y="457200"/>
                      <a:pt x="7943850" y="457200"/>
                    </a:cubicBezTo>
                    <a:lnTo>
                      <a:pt x="57150" y="457200"/>
                    </a:lnTo>
                    <a:cubicBezTo>
                      <a:pt x="25587" y="457200"/>
                      <a:pt x="0" y="431613"/>
                      <a:pt x="0" y="4000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55904" y="4537710"/>
                <a:ext cx="17084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优先给出结论与下一步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9144000" y="1333500"/>
              <a:ext cx="2476500" cy="4572000"/>
              <a:chOff x="9144000" y="1333500"/>
              <a:chExt cx="2476500" cy="45720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9144000" y="1333500"/>
                <a:ext cx="24765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2476500" h="4572000">
                    <a:moveTo>
                      <a:pt x="76200" y="0"/>
                    </a:moveTo>
                    <a:lnTo>
                      <a:pt x="2400300" y="0"/>
                    </a:lnTo>
                    <a:cubicBezTo>
                      <a:pt x="2442384" y="0"/>
                      <a:pt x="2476500" y="34116"/>
                      <a:pt x="2476500" y="76200"/>
                    </a:cubicBezTo>
                    <a:lnTo>
                      <a:pt x="2476500" y="4495800"/>
                    </a:lnTo>
                    <a:cubicBezTo>
                      <a:pt x="2476500" y="4537884"/>
                      <a:pt x="2442384" y="4572000"/>
                      <a:pt x="2400300" y="4572000"/>
                    </a:cubicBezTo>
                    <a:lnTo>
                      <a:pt x="76200" y="4572000"/>
                    </a:lnTo>
                    <a:cubicBezTo>
                      <a:pt x="34116" y="4572000"/>
                      <a:pt x="0" y="4537884"/>
                      <a:pt x="0" y="449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144000" y="1333500"/>
                <a:ext cx="24765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476500" h="457200">
                    <a:moveTo>
                      <a:pt x="76200" y="0"/>
                    </a:moveTo>
                    <a:lnTo>
                      <a:pt x="2400300" y="0"/>
                    </a:lnTo>
                    <a:cubicBezTo>
                      <a:pt x="2442384" y="0"/>
                      <a:pt x="2476500" y="34116"/>
                      <a:pt x="2476500" y="76200"/>
                    </a:cubicBezTo>
                    <a:lnTo>
                      <a:pt x="2476500" y="381000"/>
                    </a:lnTo>
                    <a:cubicBezTo>
                      <a:pt x="2476500" y="423084"/>
                      <a:pt x="2442384" y="457200"/>
                      <a:pt x="2400300" y="457200"/>
                    </a:cubicBezTo>
                    <a:lnTo>
                      <a:pt x="76200" y="457200"/>
                    </a:lnTo>
                    <a:cubicBezTo>
                      <a:pt x="34116" y="457200"/>
                      <a:pt x="0" y="423084"/>
                      <a:pt x="0" y="3810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9144000" y="1714500"/>
                <a:ext cx="2476500" cy="76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329166" y="1505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议程导航</a:t>
                </a:r>
              </a:p>
            </p:txBody>
          </p:sp>
          <p:grpSp>
            <p:nvGrpSpPr>
              <p:cNvPr id="73" name="Group 73"/>
              <p:cNvGrpSpPr/>
              <p:nvPr/>
            </p:nvGrpSpPr>
            <p:grpSpPr>
              <a:xfrm>
                <a:off x="9334500" y="1990249"/>
                <a:ext cx="1718501" cy="2229327"/>
                <a:chOff x="9334500" y="1990249"/>
                <a:chExt cx="1718501" cy="2229327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9334500" y="20002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38100" y="0"/>
                      </a:moveTo>
                      <a:lnTo>
                        <a:pt x="190500" y="0"/>
                      </a:lnTo>
                      <a:cubicBezTo>
                        <a:pt x="211542" y="0"/>
                        <a:pt x="228600" y="17058"/>
                        <a:pt x="228600" y="38100"/>
                      </a:cubicBezTo>
                      <a:lnTo>
                        <a:pt x="228600" y="190500"/>
                      </a:lnTo>
                      <a:cubicBezTo>
                        <a:pt x="228600" y="211542"/>
                        <a:pt x="211542" y="228600"/>
                        <a:pt x="190500" y="228600"/>
                      </a:cubicBezTo>
                      <a:lnTo>
                        <a:pt x="38100" y="228600"/>
                      </a:lnTo>
                      <a:cubicBezTo>
                        <a:pt x="17058" y="228600"/>
                        <a:pt x="0" y="211542"/>
                        <a:pt x="0" y="1905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9374069" y="2065020"/>
                  <a:ext cx="149462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01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9672447" y="1990249"/>
                  <a:ext cx="56117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数据整合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9672638" y="2166938"/>
                  <a:ext cx="1380363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CRM、广告、社媒、交易系统</a:t>
                  </a:r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9334500" y="247650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38100" y="0"/>
                      </a:moveTo>
                      <a:lnTo>
                        <a:pt x="190500" y="0"/>
                      </a:lnTo>
                      <a:cubicBezTo>
                        <a:pt x="211542" y="0"/>
                        <a:pt x="228600" y="17058"/>
                        <a:pt x="228600" y="38100"/>
                      </a:cubicBezTo>
                      <a:lnTo>
                        <a:pt x="228600" y="190500"/>
                      </a:lnTo>
                      <a:cubicBezTo>
                        <a:pt x="228600" y="211542"/>
                        <a:pt x="211542" y="228600"/>
                        <a:pt x="190500" y="228600"/>
                      </a:cubicBezTo>
                      <a:lnTo>
                        <a:pt x="38100" y="228600"/>
                      </a:lnTo>
                      <a:cubicBezTo>
                        <a:pt x="17058" y="228600"/>
                        <a:pt x="0" y="211542"/>
                        <a:pt x="0" y="1905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9374069" y="2541270"/>
                  <a:ext cx="149462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02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9672447" y="2466499"/>
                  <a:ext cx="42491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AI分析</a:t>
                  </a: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9672638" y="2643188"/>
                  <a:ext cx="1120140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识别客户意图、预测行为</a:t>
                  </a:r>
                </a:p>
              </p:txBody>
            </p:sp>
            <p:sp>
              <p:nvSpPr>
                <p:cNvPr id="61" name="Freeform 61"/>
                <p:cNvSpPr/>
                <p:nvPr/>
              </p:nvSpPr>
              <p:spPr>
                <a:xfrm>
                  <a:off x="9334500" y="29527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38100" y="0"/>
                      </a:moveTo>
                      <a:lnTo>
                        <a:pt x="190500" y="0"/>
                      </a:lnTo>
                      <a:cubicBezTo>
                        <a:pt x="211542" y="0"/>
                        <a:pt x="228600" y="17058"/>
                        <a:pt x="228600" y="38100"/>
                      </a:cubicBezTo>
                      <a:lnTo>
                        <a:pt x="228600" y="190500"/>
                      </a:lnTo>
                      <a:cubicBezTo>
                        <a:pt x="228600" y="211542"/>
                        <a:pt x="211542" y="228600"/>
                        <a:pt x="190500" y="228600"/>
                      </a:cubicBezTo>
                      <a:lnTo>
                        <a:pt x="38100" y="228600"/>
                      </a:lnTo>
                      <a:cubicBezTo>
                        <a:pt x="17058" y="228600"/>
                        <a:pt x="0" y="211542"/>
                        <a:pt x="0" y="1905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9374069" y="3017520"/>
                  <a:ext cx="149462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03</a:t>
                  </a: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9672447" y="2942749"/>
                  <a:ext cx="698992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自动化执行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9672638" y="3119438"/>
                  <a:ext cx="1221105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多渠道营销、全流程自动化</a:t>
                  </a:r>
                </a:p>
              </p:txBody>
            </p:sp>
            <p:sp>
              <p:nvSpPr>
                <p:cNvPr id="65" name="Freeform 65"/>
                <p:cNvSpPr/>
                <p:nvPr/>
              </p:nvSpPr>
              <p:spPr>
                <a:xfrm>
                  <a:off x="9334500" y="342900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38100" y="0"/>
                      </a:moveTo>
                      <a:lnTo>
                        <a:pt x="190500" y="0"/>
                      </a:lnTo>
                      <a:cubicBezTo>
                        <a:pt x="211542" y="0"/>
                        <a:pt x="228600" y="17058"/>
                        <a:pt x="228600" y="38100"/>
                      </a:cubicBezTo>
                      <a:lnTo>
                        <a:pt x="228600" y="190500"/>
                      </a:lnTo>
                      <a:cubicBezTo>
                        <a:pt x="228600" y="211542"/>
                        <a:pt x="211542" y="228600"/>
                        <a:pt x="190500" y="228600"/>
                      </a:cubicBezTo>
                      <a:lnTo>
                        <a:pt x="38100" y="228600"/>
                      </a:lnTo>
                      <a:cubicBezTo>
                        <a:pt x="17058" y="228600"/>
                        <a:pt x="0" y="211542"/>
                        <a:pt x="0" y="1905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9374069" y="3493770"/>
                  <a:ext cx="149462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04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9672447" y="3418999"/>
                  <a:ext cx="56117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效果度量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9672638" y="3595688"/>
                  <a:ext cx="1353693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实时ROI监测、数据反哺模型</a:t>
                  </a:r>
                </a:p>
              </p:txBody>
            </p:sp>
            <p:sp>
              <p:nvSpPr>
                <p:cNvPr id="69" name="Freeform 69"/>
                <p:cNvSpPr/>
                <p:nvPr/>
              </p:nvSpPr>
              <p:spPr>
                <a:xfrm>
                  <a:off x="9334500" y="39052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38100" y="0"/>
                      </a:moveTo>
                      <a:lnTo>
                        <a:pt x="190500" y="0"/>
                      </a:lnTo>
                      <a:cubicBezTo>
                        <a:pt x="211542" y="0"/>
                        <a:pt x="228600" y="17058"/>
                        <a:pt x="228600" y="38100"/>
                      </a:cubicBezTo>
                      <a:lnTo>
                        <a:pt x="228600" y="190500"/>
                      </a:lnTo>
                      <a:cubicBezTo>
                        <a:pt x="228600" y="211542"/>
                        <a:pt x="211542" y="228600"/>
                        <a:pt x="190500" y="228600"/>
                      </a:cubicBezTo>
                      <a:lnTo>
                        <a:pt x="38100" y="228600"/>
                      </a:lnTo>
                      <a:cubicBezTo>
                        <a:pt x="17058" y="228600"/>
                        <a:pt x="0" y="211542"/>
                        <a:pt x="0" y="1905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9374069" y="3970020"/>
                  <a:ext cx="149462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05</a:t>
                  </a: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9672447" y="3895249"/>
                  <a:ext cx="836809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高管行动指南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9672638" y="4071938"/>
                  <a:ext cx="1019175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分阶段部署、控制风险</a:t>
                  </a:r>
                </a:p>
              </p:txBody>
            </p:sp>
          </p:grpSp>
          <p:sp>
            <p:nvSpPr>
              <p:cNvPr id="74" name="Line 74"/>
              <p:cNvSpPr/>
              <p:nvPr/>
            </p:nvSpPr>
            <p:spPr>
              <a:xfrm>
                <a:off x="9334500" y="4381500"/>
                <a:ext cx="209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">
                    <a:moveTo>
                      <a:pt x="0" y="0"/>
                    </a:moveTo>
                    <a:lnTo>
                      <a:pt x="2095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9329738" y="4625816"/>
                <a:ext cx="70921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快速实现价值</a:t>
                </a:r>
              </a:p>
            </p:txBody>
          </p:sp>
          <p:sp>
            <p:nvSpPr>
              <p:cNvPr id="76" name="Ellipse 76"/>
              <p:cNvSpPr/>
              <p:nvPr/>
            </p:nvSpPr>
            <p:spPr>
              <a:xfrm>
                <a:off x="11353800" y="4591050"/>
                <a:ext cx="152400" cy="152400"/>
              </a:xfrm>
              <a:prstGeom prst="ellipse">
                <a:avLst/>
              </a:prstGeom>
              <a:noFill/>
              <a:ln w="14288">
                <a:solidFill>
                  <a:srgbClr val="2F855A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11401425" y="4638675"/>
                <a:ext cx="666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7625">
                    <a:moveTo>
                      <a:pt x="0" y="28575"/>
                    </a:moveTo>
                    <a:lnTo>
                      <a:pt x="19050" y="47625"/>
                    </a:lnTo>
                    <a:lnTo>
                      <a:pt x="66675" y="0"/>
                    </a:lnTo>
                  </a:path>
                </a:pathLst>
              </a:custGeom>
              <a:noFill/>
              <a:ln w="14288" cap="rnd">
                <a:solidFill>
                  <a:srgbClr val="2F855A"/>
                </a:solidFill>
                <a:round/>
              </a:ln>
            </p:spPr>
          </p:sp>
        </p:grpSp>
      </p:grpSp>
      <p:grpSp>
        <p:nvGrpSpPr>
          <p:cNvPr id="90" name="Group 90"/>
          <p:cNvGrpSpPr/>
          <p:nvPr/>
        </p:nvGrpSpPr>
        <p:grpSpPr>
          <a:xfrm>
            <a:off x="11415712" y="938212"/>
            <a:ext cx="314325" cy="314325"/>
            <a:chOff x="11415712" y="938212"/>
            <a:chExt cx="314325" cy="314325"/>
          </a:xfrm>
        </p:grpSpPr>
        <p:grpSp>
          <p:nvGrpSpPr>
            <p:cNvPr id="89" name="Group 89"/>
            <p:cNvGrpSpPr/>
            <p:nvPr/>
          </p:nvGrpSpPr>
          <p:grpSpPr>
            <a:xfrm>
              <a:off x="11415712" y="938212"/>
              <a:ext cx="314325" cy="314325"/>
              <a:chOff x="11415712" y="938212"/>
              <a:chExt cx="314325" cy="314325"/>
            </a:xfrm>
          </p:grpSpPr>
          <p:sp>
            <p:nvSpPr>
              <p:cNvPr id="80" name="Ellipse 80"/>
              <p:cNvSpPr/>
              <p:nvPr/>
            </p:nvSpPr>
            <p:spPr>
              <a:xfrm>
                <a:off x="11415712" y="938212"/>
                <a:ext cx="28575" cy="28575"/>
              </a:xfrm>
              <a:prstGeom prst="ellipse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11558588" y="938212"/>
                <a:ext cx="28575" cy="28575"/>
              </a:xfrm>
              <a:prstGeom prst="ellipse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82" name="Ellipse 82"/>
              <p:cNvSpPr/>
              <p:nvPr/>
            </p:nvSpPr>
            <p:spPr>
              <a:xfrm>
                <a:off x="11701462" y="938212"/>
                <a:ext cx="28575" cy="28575"/>
              </a:xfrm>
              <a:prstGeom prst="ellipse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11415712" y="1081088"/>
                <a:ext cx="28575" cy="28575"/>
              </a:xfrm>
              <a:prstGeom prst="ellipse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84" name="Ellipse 84"/>
              <p:cNvSpPr/>
              <p:nvPr/>
            </p:nvSpPr>
            <p:spPr>
              <a:xfrm>
                <a:off x="11558588" y="1081088"/>
                <a:ext cx="28575" cy="28575"/>
              </a:xfrm>
              <a:prstGeom prst="ellipse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85" name="Ellipse 85"/>
              <p:cNvSpPr/>
              <p:nvPr/>
            </p:nvSpPr>
            <p:spPr>
              <a:xfrm>
                <a:off x="11701462" y="1081088"/>
                <a:ext cx="28575" cy="28575"/>
              </a:xfrm>
              <a:prstGeom prst="ellipse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86" name="Ellipse 86"/>
              <p:cNvSpPr/>
              <p:nvPr/>
            </p:nvSpPr>
            <p:spPr>
              <a:xfrm>
                <a:off x="11415712" y="1223962"/>
                <a:ext cx="28575" cy="28575"/>
              </a:xfrm>
              <a:prstGeom prst="ellipse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11558588" y="1223962"/>
                <a:ext cx="28575" cy="28575"/>
              </a:xfrm>
              <a:prstGeom prst="ellipse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88" name="Ellipse 88"/>
              <p:cNvSpPr/>
              <p:nvPr/>
            </p:nvSpPr>
            <p:spPr>
              <a:xfrm>
                <a:off x="11701462" y="1223962"/>
                <a:ext cx="28575" cy="28575"/>
              </a:xfrm>
              <a:prstGeom prst="ellipse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sp>
        <p:nvSpPr>
          <p:cNvPr id="5" name="Ellipse 5"/>
          <p:cNvSpPr/>
          <p:nvPr/>
        </p:nvSpPr>
        <p:spPr>
          <a:xfrm>
            <a:off x="9715500" y="-762000"/>
            <a:ext cx="3048000" cy="3048000"/>
          </a:xfrm>
          <a:prstGeom prst="ellipse">
            <a:avLst/>
          </a:prstGeom>
          <a:solidFill>
            <a:schemeClr val="accent2">
              <a:alpha val="5000"/>
            </a:scheme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476250"/>
            <a:ext cx="11049000" cy="485775"/>
            <a:chOff x="571500" y="476250"/>
            <a:chExt cx="11049000" cy="485775"/>
          </a:xfrm>
        </p:grpSpPr>
        <p:sp>
          <p:nvSpPr>
            <p:cNvPr id="6" name="Rectangle 6"/>
            <p:cNvSpPr/>
            <p:nvPr/>
          </p:nvSpPr>
          <p:spPr>
            <a:xfrm>
              <a:off x="571500" y="476250"/>
              <a:ext cx="571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616" y="5724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571500" y="952500"/>
            <a:ext cx="7953375" cy="4058031"/>
            <a:chOff x="571500" y="952500"/>
            <a:chExt cx="7953375" cy="4058031"/>
          </a:xfrm>
        </p:grpSpPr>
        <p:sp>
          <p:nvSpPr>
            <p:cNvPr id="10" name="Line 10"/>
            <p:cNvSpPr/>
            <p:nvPr/>
          </p:nvSpPr>
          <p:spPr>
            <a:xfrm>
              <a:off x="4953000" y="9525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571500" y="2000250"/>
              <a:ext cx="4000500" cy="952500"/>
              <a:chOff x="571500" y="2000250"/>
              <a:chExt cx="4000500" cy="952500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571500" y="2095500"/>
                <a:ext cx="952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0">
                    <a:moveTo>
                      <a:pt x="0" y="0"/>
                    </a:moveTo>
                    <a:lnTo>
                      <a:pt x="0" y="76200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62000" y="2000250"/>
                <a:ext cx="38100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00">
                    <a:moveTo>
                      <a:pt x="76200" y="0"/>
                    </a:moveTo>
                    <a:lnTo>
                      <a:pt x="3733800" y="0"/>
                    </a:lnTo>
                    <a:cubicBezTo>
                      <a:pt x="3775884" y="0"/>
                      <a:pt x="3810000" y="34116"/>
                      <a:pt x="3810000" y="76200"/>
                    </a:cubicBezTo>
                    <a:lnTo>
                      <a:pt x="3810000" y="876300"/>
                    </a:lnTo>
                    <a:cubicBezTo>
                      <a:pt x="3810000" y="918384"/>
                      <a:pt x="3775884" y="952500"/>
                      <a:pt x="373380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44880" y="2124075"/>
                <a:ext cx="28422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分散的系统导致客户画像残缺，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4880" y="2138362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决策滞后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715125" y="1476375"/>
              <a:ext cx="1809750" cy="1809750"/>
              <a:chOff x="6715125" y="1476375"/>
              <a:chExt cx="1809750" cy="180975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715125" y="1476375"/>
                <a:ext cx="1809750" cy="1809750"/>
              </a:xfrm>
              <a:prstGeom prst="ellipse">
                <a:avLst/>
              </a:prstGeom>
              <a:solidFill>
                <a:schemeClr val="accent2">
                  <a:alpha val="8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7000875" y="1762125"/>
                <a:ext cx="1238250" cy="1238250"/>
              </a:xfrm>
              <a:prstGeom prst="ellipse">
                <a:avLst/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196625" y="1882140"/>
                <a:ext cx="846750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300" b="1" dirty="0">
                    <a:solidFill>
                      <a:schemeClr val="accent2"/>
                    </a:solidFill>
                    <a:latin typeface="Georgia"/>
                    <a:ea typeface="Georgia"/>
                    <a:cs typeface="Georgia"/>
                  </a:rPr>
                  <a:t>12+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210044" y="242316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个营销工具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190613" y="26489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数据互不相通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04850" y="4013835"/>
              <a:ext cx="3662324" cy="996696"/>
              <a:chOff x="704850" y="4013835"/>
              <a:chExt cx="3662324" cy="996696"/>
            </a:xfrm>
          </p:grpSpPr>
          <p:grpSp>
            <p:nvGrpSpPr>
              <p:cNvPr id="24" name="Group 24"/>
              <p:cNvGrpSpPr/>
              <p:nvPr/>
            </p:nvGrpSpPr>
            <p:grpSpPr>
              <a:xfrm>
                <a:off x="704850" y="4013835"/>
                <a:ext cx="3662324" cy="234696"/>
                <a:chOff x="704850" y="4013835"/>
                <a:chExt cx="3662324" cy="234696"/>
              </a:xfrm>
            </p:grpSpPr>
            <p:sp>
              <p:nvSpPr>
                <p:cNvPr id="22" name="Ellipse 22"/>
                <p:cNvSpPr/>
                <p:nvPr/>
              </p:nvSpPr>
              <p:spPr>
                <a:xfrm>
                  <a:off x="704850" y="403860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946404" y="4013835"/>
                  <a:ext cx="342077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平均企业使用12个以上营销工具，数据互不相通</a:t>
                  </a:r>
                </a:p>
              </p:txBody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704850" y="4394835"/>
                <a:ext cx="3323082" cy="234696"/>
                <a:chOff x="704850" y="4394835"/>
                <a:chExt cx="3323082" cy="234696"/>
              </a:xfrm>
            </p:grpSpPr>
            <p:sp>
              <p:nvSpPr>
                <p:cNvPr id="25" name="Ellipse 25"/>
                <p:cNvSpPr/>
                <p:nvPr/>
              </p:nvSpPr>
              <p:spPr>
                <a:xfrm>
                  <a:off x="704850" y="4419600"/>
                  <a:ext cx="114300" cy="114300"/>
                </a:xfrm>
                <a:prstGeom prst="ellipse">
                  <a:avLst/>
                </a:prstGeom>
                <a:solidFill>
                  <a:srgbClr val="C53030"/>
                </a:soli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946404" y="4394835"/>
                  <a:ext cx="308152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营销决策周期长达数周，错过黄金转化窗口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704850" y="4775835"/>
                <a:ext cx="3641903" cy="234696"/>
                <a:chOff x="704850" y="4775835"/>
                <a:chExt cx="3641903" cy="234696"/>
              </a:xfrm>
            </p:grpSpPr>
            <p:sp>
              <p:nvSpPr>
                <p:cNvPr id="28" name="Ellipse 28"/>
                <p:cNvSpPr/>
                <p:nvPr/>
              </p:nvSpPr>
              <p:spPr>
                <a:xfrm>
                  <a:off x="704850" y="4800600"/>
                  <a:ext cx="114300" cy="1143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946404" y="4775835"/>
                  <a:ext cx="340034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AI工作台将数据整合与洞察释放缩短至分钟级</a:t>
                  </a:r>
                </a:p>
              </p:txBody>
            </p:sp>
          </p:grpSp>
        </p:grpSp>
      </p:grpSp>
      <p:grpSp>
        <p:nvGrpSpPr>
          <p:cNvPr id="36" name="Group 36"/>
          <p:cNvGrpSpPr/>
          <p:nvPr/>
        </p:nvGrpSpPr>
        <p:grpSpPr>
          <a:xfrm>
            <a:off x="566738" y="6286500"/>
            <a:ext cx="11058525" cy="339566"/>
            <a:chOff x="566738" y="6286500"/>
            <a:chExt cx="11058525" cy="339566"/>
          </a:xfrm>
        </p:grpSpPr>
        <p:sp>
          <p:nvSpPr>
            <p:cNvPr id="33" name="Line 33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6738" y="64641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 / 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694556" y="6464141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57784" y="381952"/>
            <a:ext cx="5630452" cy="807149"/>
            <a:chOff x="557784" y="381952"/>
            <a:chExt cx="5630452" cy="807149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381952"/>
              <a:ext cx="664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7784" y="661035"/>
              <a:ext cx="563045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传统营销模式 vs AI驱动模式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1430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571500" y="1428750"/>
            <a:ext cx="11049000" cy="4572000"/>
            <a:chOff x="571500" y="1428750"/>
            <a:chExt cx="11049000" cy="4572000"/>
          </a:xfrm>
        </p:grpSpPr>
        <p:grpSp>
          <p:nvGrpSpPr>
            <p:cNvPr id="41" name="Group 41"/>
            <p:cNvGrpSpPr/>
            <p:nvPr/>
          </p:nvGrpSpPr>
          <p:grpSpPr>
            <a:xfrm>
              <a:off x="571500" y="1428750"/>
              <a:ext cx="4953000" cy="4572000"/>
              <a:chOff x="571500" y="1428750"/>
              <a:chExt cx="4953000" cy="4572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71500" y="1428750"/>
                <a:ext cx="4953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4572000">
                    <a:moveTo>
                      <a:pt x="114300" y="0"/>
                    </a:moveTo>
                    <a:lnTo>
                      <a:pt x="4838700" y="0"/>
                    </a:lnTo>
                    <a:cubicBezTo>
                      <a:pt x="4901826" y="0"/>
                      <a:pt x="4953000" y="51174"/>
                      <a:pt x="4953000" y="114300"/>
                    </a:cubicBezTo>
                    <a:lnTo>
                      <a:pt x="4953000" y="4457700"/>
                    </a:lnTo>
                    <a:cubicBezTo>
                      <a:pt x="4953000" y="4520826"/>
                      <a:pt x="4901826" y="4572000"/>
                      <a:pt x="4838700" y="4572000"/>
                    </a:cubicBezTo>
                    <a:lnTo>
                      <a:pt x="114300" y="4572000"/>
                    </a:lnTo>
                    <a:cubicBezTo>
                      <a:pt x="51174" y="4572000"/>
                      <a:pt x="0" y="4520826"/>
                      <a:pt x="0" y="445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71500" y="1428750"/>
                <a:ext cx="49530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666750">
                    <a:moveTo>
                      <a:pt x="114300" y="0"/>
                    </a:moveTo>
                    <a:lnTo>
                      <a:pt x="4838700" y="0"/>
                    </a:lnTo>
                    <a:cubicBezTo>
                      <a:pt x="4901826" y="0"/>
                      <a:pt x="4953000" y="51174"/>
                      <a:pt x="4953000" y="114300"/>
                    </a:cubicBezTo>
                    <a:lnTo>
                      <a:pt x="4953000" y="552450"/>
                    </a:lnTo>
                    <a:cubicBezTo>
                      <a:pt x="4953000" y="615576"/>
                      <a:pt x="4901826" y="666750"/>
                      <a:pt x="4838700" y="666750"/>
                    </a:cubicBezTo>
                    <a:lnTo>
                      <a:pt x="114300" y="666750"/>
                    </a:lnTo>
                    <a:cubicBezTo>
                      <a:pt x="51174" y="666750"/>
                      <a:pt x="0" y="615576"/>
                      <a:pt x="0" y="55245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53030"/>
                  </a:gs>
                  <a:gs pos="100000">
                    <a:srgbClr val="E53E3E"/>
                  </a:gs>
                </a:gsLst>
                <a:lin ang="5400000" scaled="1"/>
              </a:gra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571500" y="1809750"/>
                <a:ext cx="4953000" cy="285750"/>
              </a:xfrm>
              <a:prstGeom prst="rect">
                <a:avLst/>
              </a:prstGeom>
              <a:gradFill>
                <a:gsLst>
                  <a:gs pos="0">
                    <a:srgbClr val="C53030"/>
                  </a:gs>
                  <a:gs pos="100000">
                    <a:srgbClr val="E53E3E"/>
                  </a:gs>
                </a:gsLst>
                <a:lin ang="5400000" scaled="1"/>
              </a:gra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48868" y="16506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传统营销模式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994404" y="1699260"/>
                <a:ext cx="15145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ED7D7"/>
                    </a:solidFill>
                    <a:latin typeface="+mn-lt"/>
                    <a:ea typeface="+mn-ea"/>
                    <a:cs typeface="+mn-cs"/>
                  </a:rPr>
                  <a:t>离散 · 被动 · 高成本</a:t>
                </a: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4876800" y="1590675"/>
                <a:ext cx="342900" cy="342900"/>
              </a:xfrm>
              <a:prstGeom prst="ellipse">
                <a:avLst/>
              </a:prstGeom>
              <a:solidFill>
                <a:schemeClr val="l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048250" y="1657350"/>
                <a:ext cx="95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">
                    <a:moveTo>
                      <a:pt x="0" y="0"/>
                    </a:moveTo>
                    <a:lnTo>
                      <a:pt x="0" y="95250"/>
                    </a:lnTo>
                    <a:moveTo>
                      <a:pt x="0" y="152400"/>
                    </a:moveTo>
                    <a:lnTo>
                      <a:pt x="0" y="171450"/>
                    </a:lnTo>
                  </a:path>
                </a:pathLst>
              </a:custGeom>
              <a:solidFill>
                <a:srgbClr val="000000"/>
              </a:solidFill>
              <a:ln w="23812" cap="rnd">
                <a:solidFill>
                  <a:srgbClr val="FFFFFF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62000" y="2381250"/>
                <a:ext cx="4572000" cy="3476625"/>
                <a:chOff x="762000" y="2381250"/>
                <a:chExt cx="4572000" cy="3476625"/>
              </a:xfrm>
            </p:grpSpPr>
            <p:grpSp>
              <p:nvGrpSpPr>
                <p:cNvPr id="21" name="Group 21"/>
                <p:cNvGrpSpPr/>
                <p:nvPr/>
              </p:nvGrpSpPr>
              <p:grpSpPr>
                <a:xfrm>
                  <a:off x="762000" y="2381250"/>
                  <a:ext cx="4572000" cy="762000"/>
                  <a:chOff x="762000" y="2381250"/>
                  <a:chExt cx="4572000" cy="762000"/>
                </a:xfrm>
              </p:grpSpPr>
              <p:sp>
                <p:nvSpPr>
                  <p:cNvPr id="16" name="Freeform 16"/>
                  <p:cNvSpPr/>
                  <p:nvPr/>
                </p:nvSpPr>
                <p:spPr>
                  <a:xfrm>
                    <a:off x="762000" y="2381250"/>
                    <a:ext cx="4572000" cy="762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2000" h="762000">
                        <a:moveTo>
                          <a:pt x="76200" y="0"/>
                        </a:moveTo>
                        <a:lnTo>
                          <a:pt x="4495800" y="0"/>
                        </a:lnTo>
                        <a:cubicBezTo>
                          <a:pt x="4537884" y="0"/>
                          <a:pt x="4572000" y="34116"/>
                          <a:pt x="4572000" y="76200"/>
                        </a:cubicBezTo>
                        <a:lnTo>
                          <a:pt x="4572000" y="685800"/>
                        </a:lnTo>
                        <a:cubicBezTo>
                          <a:pt x="4572000" y="727884"/>
                          <a:pt x="4537884" y="762000"/>
                          <a:pt x="4495800" y="762000"/>
                        </a:cubicBezTo>
                        <a:lnTo>
                          <a:pt x="76200" y="762000"/>
                        </a:lnTo>
                        <a:cubicBezTo>
                          <a:pt x="34116" y="762000"/>
                          <a:pt x="0" y="727884"/>
                          <a:pt x="0" y="68580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9525">
                    <a:solidFill>
                      <a:schemeClr val="accent4"/>
                    </a:solidFill>
                  </a:ln>
                </p:spPr>
              </p:sp>
              <p:sp>
                <p:nvSpPr>
                  <p:cNvPr id="17" name="Ellipse 17"/>
                  <p:cNvSpPr/>
                  <p:nvPr/>
                </p:nvSpPr>
                <p:spPr>
                  <a:xfrm>
                    <a:off x="857250" y="2571750"/>
                    <a:ext cx="381000" cy="381000"/>
                  </a:xfrm>
                  <a:prstGeom prst="ellipse">
                    <a:avLst/>
                  </a:prstGeom>
                  <a:solidFill>
                    <a:srgbClr val="FED7D7"/>
                  </a:solidFill>
                  <a:ln>
                    <a:noFill/>
                  </a:ln>
                </p:spPr>
              </p:sp>
              <p:sp>
                <p:nvSpPr>
                  <p:cNvPr id="18" name="Freeform 18"/>
                  <p:cNvSpPr/>
                  <p:nvPr/>
                </p:nvSpPr>
                <p:spPr>
                  <a:xfrm>
                    <a:off x="1047750" y="2667000"/>
                    <a:ext cx="76200" cy="19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190500">
                        <a:moveTo>
                          <a:pt x="0" y="0"/>
                        </a:moveTo>
                        <a:lnTo>
                          <a:pt x="0" y="190500"/>
                        </a:lnTo>
                        <a:moveTo>
                          <a:pt x="0" y="47625"/>
                        </a:moveTo>
                        <a:lnTo>
                          <a:pt x="76200" y="47625"/>
                        </a:lnTo>
                      </a:path>
                    </a:pathLst>
                  </a:custGeom>
                  <a:solidFill>
                    <a:schemeClr val="dk1"/>
                  </a:solidFill>
                  <a:ln w="23812" cap="rnd">
                    <a:solidFill>
                      <a:srgbClr val="C53030"/>
                    </a:solidFill>
                  </a:ln>
                </p:spPr>
              </p:sp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1374267" y="2568892"/>
                    <a:ext cx="1349483" cy="2640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各部门数据割裂</a:t>
                    </a:r>
                  </a:p>
                </p:txBody>
              </p:sp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1375791" y="2820352"/>
                    <a:ext cx="2079193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CRM、广告、社媒数据各自孤立</a:t>
                    </a:r>
                  </a:p>
                </p:txBody>
              </p:sp>
            </p:grpSp>
            <p:grpSp>
              <p:nvGrpSpPr>
                <p:cNvPr id="27" name="Group 27"/>
                <p:cNvGrpSpPr/>
                <p:nvPr/>
              </p:nvGrpSpPr>
              <p:grpSpPr>
                <a:xfrm>
                  <a:off x="762000" y="3286125"/>
                  <a:ext cx="4572000" cy="762000"/>
                  <a:chOff x="762000" y="3286125"/>
                  <a:chExt cx="4572000" cy="762000"/>
                </a:xfrm>
              </p:grpSpPr>
              <p:sp>
                <p:nvSpPr>
                  <p:cNvPr id="22" name="Freeform 22"/>
                  <p:cNvSpPr/>
                  <p:nvPr/>
                </p:nvSpPr>
                <p:spPr>
                  <a:xfrm>
                    <a:off x="762000" y="3286125"/>
                    <a:ext cx="4572000" cy="762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2000" h="762000">
                        <a:moveTo>
                          <a:pt x="76200" y="0"/>
                        </a:moveTo>
                        <a:lnTo>
                          <a:pt x="4495800" y="0"/>
                        </a:lnTo>
                        <a:cubicBezTo>
                          <a:pt x="4537884" y="0"/>
                          <a:pt x="4572000" y="34116"/>
                          <a:pt x="4572000" y="76200"/>
                        </a:cubicBezTo>
                        <a:lnTo>
                          <a:pt x="4572000" y="685800"/>
                        </a:lnTo>
                        <a:cubicBezTo>
                          <a:pt x="4572000" y="727884"/>
                          <a:pt x="4537884" y="762000"/>
                          <a:pt x="4495800" y="762000"/>
                        </a:cubicBezTo>
                        <a:lnTo>
                          <a:pt x="76200" y="762000"/>
                        </a:lnTo>
                        <a:cubicBezTo>
                          <a:pt x="34116" y="762000"/>
                          <a:pt x="0" y="727884"/>
                          <a:pt x="0" y="68580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9525">
                    <a:solidFill>
                      <a:schemeClr val="accent4"/>
                    </a:solidFill>
                  </a:ln>
                </p:spPr>
              </p:sp>
              <p:sp>
                <p:nvSpPr>
                  <p:cNvPr id="23" name="Ellipse 23"/>
                  <p:cNvSpPr/>
                  <p:nvPr/>
                </p:nvSpPr>
                <p:spPr>
                  <a:xfrm>
                    <a:off x="857250" y="3476625"/>
                    <a:ext cx="381000" cy="381000"/>
                  </a:xfrm>
                  <a:prstGeom prst="ellipse">
                    <a:avLst/>
                  </a:prstGeom>
                  <a:solidFill>
                    <a:srgbClr val="FED7D7"/>
                  </a:solidFill>
                  <a:ln>
                    <a:noFill/>
                  </a:ln>
                </p:spPr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1047750" y="3571875"/>
                    <a:ext cx="76200" cy="19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190500">
                        <a:moveTo>
                          <a:pt x="0" y="0"/>
                        </a:moveTo>
                        <a:lnTo>
                          <a:pt x="0" y="190500"/>
                        </a:lnTo>
                        <a:moveTo>
                          <a:pt x="0" y="47625"/>
                        </a:moveTo>
                        <a:lnTo>
                          <a:pt x="76200" y="47625"/>
                        </a:lnTo>
                      </a:path>
                    </a:pathLst>
                  </a:custGeom>
                  <a:solidFill>
                    <a:schemeClr val="dk1"/>
                  </a:solidFill>
                  <a:ln w="23812" cap="rnd">
                    <a:solidFill>
                      <a:srgbClr val="C53030"/>
                    </a:solidFill>
                  </a:ln>
                </p:spPr>
              </p:sp>
              <p:sp>
                <p:nvSpPr>
                  <p:cNvPr id="25" name="TextBox 25"/>
                  <p:cNvSpPr txBox="1"/>
                  <p:nvPr/>
                </p:nvSpPr>
                <p:spPr>
                  <a:xfrm>
                    <a:off x="1374267" y="3473768"/>
                    <a:ext cx="1158659" cy="2640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分析依赖周报</a:t>
                    </a:r>
                  </a:p>
                </p:txBody>
              </p:sp>
              <p:sp>
                <p:nvSpPr>
                  <p:cNvPr id="26" name="TextBox 26"/>
                  <p:cNvSpPr txBox="1"/>
                  <p:nvPr/>
                </p:nvSpPr>
                <p:spPr>
                  <a:xfrm>
                    <a:off x="1375791" y="3725228"/>
                    <a:ext cx="1706880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人工整理报表，响应周期长</a:t>
                    </a:r>
                  </a:p>
                </p:txBody>
              </p:sp>
            </p:grpSp>
            <p:grpSp>
              <p:nvGrpSpPr>
                <p:cNvPr id="33" name="Group 33"/>
                <p:cNvGrpSpPr/>
                <p:nvPr/>
              </p:nvGrpSpPr>
              <p:grpSpPr>
                <a:xfrm>
                  <a:off x="762000" y="4191000"/>
                  <a:ext cx="4572000" cy="762000"/>
                  <a:chOff x="762000" y="4191000"/>
                  <a:chExt cx="4572000" cy="762000"/>
                </a:xfrm>
              </p:grpSpPr>
              <p:sp>
                <p:nvSpPr>
                  <p:cNvPr id="28" name="Freeform 28"/>
                  <p:cNvSpPr/>
                  <p:nvPr/>
                </p:nvSpPr>
                <p:spPr>
                  <a:xfrm>
                    <a:off x="762000" y="4191000"/>
                    <a:ext cx="4572000" cy="762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2000" h="762000">
                        <a:moveTo>
                          <a:pt x="76200" y="0"/>
                        </a:moveTo>
                        <a:lnTo>
                          <a:pt x="4495800" y="0"/>
                        </a:lnTo>
                        <a:cubicBezTo>
                          <a:pt x="4537884" y="0"/>
                          <a:pt x="4572000" y="34116"/>
                          <a:pt x="4572000" y="76200"/>
                        </a:cubicBezTo>
                        <a:lnTo>
                          <a:pt x="4572000" y="685800"/>
                        </a:lnTo>
                        <a:cubicBezTo>
                          <a:pt x="4572000" y="727884"/>
                          <a:pt x="4537884" y="762000"/>
                          <a:pt x="4495800" y="762000"/>
                        </a:cubicBezTo>
                        <a:lnTo>
                          <a:pt x="76200" y="762000"/>
                        </a:lnTo>
                        <a:cubicBezTo>
                          <a:pt x="34116" y="762000"/>
                          <a:pt x="0" y="727884"/>
                          <a:pt x="0" y="68580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9525">
                    <a:solidFill>
                      <a:schemeClr val="accent4"/>
                    </a:solidFill>
                  </a:ln>
                </p:spPr>
              </p:sp>
              <p:sp>
                <p:nvSpPr>
                  <p:cNvPr id="29" name="Ellipse 29"/>
                  <p:cNvSpPr/>
                  <p:nvPr/>
                </p:nvSpPr>
                <p:spPr>
                  <a:xfrm>
                    <a:off x="857250" y="4381500"/>
                    <a:ext cx="381000" cy="381000"/>
                  </a:xfrm>
                  <a:prstGeom prst="ellipse">
                    <a:avLst/>
                  </a:prstGeom>
                  <a:solidFill>
                    <a:srgbClr val="FED7D7"/>
                  </a:solidFill>
                  <a:ln>
                    <a:noFill/>
                  </a:ln>
                </p:spPr>
              </p:sp>
              <p:sp>
                <p:nvSpPr>
                  <p:cNvPr id="30" name="Freeform 30"/>
                  <p:cNvSpPr/>
                  <p:nvPr/>
                </p:nvSpPr>
                <p:spPr>
                  <a:xfrm>
                    <a:off x="1047750" y="4476750"/>
                    <a:ext cx="76200" cy="19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190500">
                        <a:moveTo>
                          <a:pt x="0" y="0"/>
                        </a:moveTo>
                        <a:lnTo>
                          <a:pt x="0" y="190500"/>
                        </a:lnTo>
                        <a:moveTo>
                          <a:pt x="0" y="47625"/>
                        </a:moveTo>
                        <a:lnTo>
                          <a:pt x="76200" y="47625"/>
                        </a:lnTo>
                      </a:path>
                    </a:pathLst>
                  </a:custGeom>
                  <a:solidFill>
                    <a:schemeClr val="dk1"/>
                  </a:solidFill>
                  <a:ln w="23812" cap="rnd">
                    <a:solidFill>
                      <a:srgbClr val="C53030"/>
                    </a:solidFill>
                  </a:ln>
                </p:spPr>
              </p:sp>
              <p:sp>
                <p:nvSpPr>
                  <p:cNvPr id="31" name="TextBox 31"/>
                  <p:cNvSpPr txBox="1"/>
                  <p:nvPr/>
                </p:nvSpPr>
                <p:spPr>
                  <a:xfrm>
                    <a:off x="1374267" y="4378642"/>
                    <a:ext cx="1349483" cy="2640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执行靠人工排期</a:t>
                    </a:r>
                  </a:p>
                </p:txBody>
              </p:sp>
              <p:sp>
                <p:nvSpPr>
                  <p:cNvPr id="32" name="TextBox 32"/>
                  <p:cNvSpPr txBox="1"/>
                  <p:nvPr/>
                </p:nvSpPr>
                <p:spPr>
                  <a:xfrm>
                    <a:off x="1375791" y="4630102"/>
                    <a:ext cx="1706880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跨部门协调效率低、易出错</a:t>
                    </a:r>
                  </a:p>
                </p:txBody>
              </p:sp>
            </p:grpSp>
            <p:grpSp>
              <p:nvGrpSpPr>
                <p:cNvPr id="39" name="Group 39"/>
                <p:cNvGrpSpPr/>
                <p:nvPr/>
              </p:nvGrpSpPr>
              <p:grpSpPr>
                <a:xfrm>
                  <a:off x="762000" y="5095875"/>
                  <a:ext cx="4572000" cy="762000"/>
                  <a:chOff x="762000" y="5095875"/>
                  <a:chExt cx="4572000" cy="762000"/>
                </a:xfrm>
              </p:grpSpPr>
              <p:sp>
                <p:nvSpPr>
                  <p:cNvPr id="34" name="Freeform 34"/>
                  <p:cNvSpPr/>
                  <p:nvPr/>
                </p:nvSpPr>
                <p:spPr>
                  <a:xfrm>
                    <a:off x="762000" y="5095875"/>
                    <a:ext cx="4572000" cy="762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2000" h="762000">
                        <a:moveTo>
                          <a:pt x="76200" y="0"/>
                        </a:moveTo>
                        <a:lnTo>
                          <a:pt x="4495800" y="0"/>
                        </a:lnTo>
                        <a:cubicBezTo>
                          <a:pt x="4537884" y="0"/>
                          <a:pt x="4572000" y="34116"/>
                          <a:pt x="4572000" y="76200"/>
                        </a:cubicBezTo>
                        <a:lnTo>
                          <a:pt x="4572000" y="685800"/>
                        </a:lnTo>
                        <a:cubicBezTo>
                          <a:pt x="4572000" y="727884"/>
                          <a:pt x="4537884" y="762000"/>
                          <a:pt x="4495800" y="762000"/>
                        </a:cubicBezTo>
                        <a:lnTo>
                          <a:pt x="76200" y="762000"/>
                        </a:lnTo>
                        <a:cubicBezTo>
                          <a:pt x="34116" y="762000"/>
                          <a:pt x="0" y="727884"/>
                          <a:pt x="0" y="68580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9525">
                    <a:solidFill>
                      <a:schemeClr val="accent4"/>
                    </a:solidFill>
                  </a:ln>
                </p:spPr>
              </p:sp>
              <p:sp>
                <p:nvSpPr>
                  <p:cNvPr id="35" name="Ellipse 35"/>
                  <p:cNvSpPr/>
                  <p:nvPr/>
                </p:nvSpPr>
                <p:spPr>
                  <a:xfrm>
                    <a:off x="857250" y="5286375"/>
                    <a:ext cx="381000" cy="381000"/>
                  </a:xfrm>
                  <a:prstGeom prst="ellipse">
                    <a:avLst/>
                  </a:prstGeom>
                  <a:solidFill>
                    <a:srgbClr val="FED7D7"/>
                  </a:solidFill>
                  <a:ln>
                    <a:noFill/>
                  </a:ln>
                </p:spPr>
              </p:sp>
              <p:sp>
                <p:nvSpPr>
                  <p:cNvPr id="36" name="Freeform 36"/>
                  <p:cNvSpPr/>
                  <p:nvPr/>
                </p:nvSpPr>
                <p:spPr>
                  <a:xfrm>
                    <a:off x="1047750" y="5381625"/>
                    <a:ext cx="76200" cy="19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190500">
                        <a:moveTo>
                          <a:pt x="0" y="0"/>
                        </a:moveTo>
                        <a:lnTo>
                          <a:pt x="0" y="190500"/>
                        </a:lnTo>
                        <a:moveTo>
                          <a:pt x="0" y="47625"/>
                        </a:moveTo>
                        <a:lnTo>
                          <a:pt x="76200" y="47625"/>
                        </a:lnTo>
                      </a:path>
                    </a:pathLst>
                  </a:custGeom>
                  <a:solidFill>
                    <a:schemeClr val="dk1"/>
                  </a:solidFill>
                  <a:ln w="23812" cap="rnd">
                    <a:solidFill>
                      <a:srgbClr val="C53030"/>
                    </a:solidFill>
                  </a:ln>
                </p:spPr>
              </p:sp>
              <p:sp>
                <p:nvSpPr>
                  <p:cNvPr id="37" name="TextBox 37"/>
                  <p:cNvSpPr txBox="1"/>
                  <p:nvPr/>
                </p:nvSpPr>
                <p:spPr>
                  <a:xfrm>
                    <a:off x="1374267" y="5283518"/>
                    <a:ext cx="1158659" cy="2640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效果反馈滞后</a:t>
                    </a:r>
                  </a:p>
                </p:txBody>
              </p:sp>
              <p:sp>
                <p:nvSpPr>
                  <p:cNvPr id="38" name="TextBox 38"/>
                  <p:cNvSpPr txBox="1"/>
                  <p:nvPr/>
                </p:nvSpPr>
                <p:spPr>
                  <a:xfrm>
                    <a:off x="1375791" y="5534978"/>
                    <a:ext cx="1424178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数据孤岛导致指标矛盾</a:t>
                    </a:r>
                  </a:p>
                </p:txBody>
              </p:sp>
            </p:grpSp>
          </p:grpSp>
        </p:grpSp>
        <p:grpSp>
          <p:nvGrpSpPr>
            <p:cNvPr id="46" name="Group 46"/>
            <p:cNvGrpSpPr/>
            <p:nvPr/>
          </p:nvGrpSpPr>
          <p:grpSpPr>
            <a:xfrm>
              <a:off x="5619750" y="3333750"/>
              <a:ext cx="952500" cy="762000"/>
              <a:chOff x="5619750" y="3333750"/>
              <a:chExt cx="952500" cy="7620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5715000" y="3333750"/>
                <a:ext cx="762000" cy="762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875866" y="3583305"/>
                <a:ext cx="44026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VS</a:t>
                </a:r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5619750" y="3429000"/>
                <a:ext cx="952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571500">
                    <a:moveTo>
                      <a:pt x="95250" y="0"/>
                    </a:moveTo>
                    <a:lnTo>
                      <a:pt x="0" y="285750"/>
                    </a:lnTo>
                    <a:lnTo>
                      <a:pt x="95250" y="571500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round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77000" y="3429000"/>
                <a:ext cx="952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571500">
                    <a:moveTo>
                      <a:pt x="0" y="0"/>
                    </a:moveTo>
                    <a:lnTo>
                      <a:pt x="95250" y="285750"/>
                    </a:lnTo>
                    <a:lnTo>
                      <a:pt x="0" y="571500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round/>
              </a:ln>
            </p:spPr>
          </p:sp>
        </p:grpSp>
        <p:grpSp>
          <p:nvGrpSpPr>
            <p:cNvPr id="79" name="Group 79"/>
            <p:cNvGrpSpPr/>
            <p:nvPr/>
          </p:nvGrpSpPr>
          <p:grpSpPr>
            <a:xfrm>
              <a:off x="6667500" y="1428750"/>
              <a:ext cx="4953000" cy="4572000"/>
              <a:chOff x="6667500" y="1428750"/>
              <a:chExt cx="4953000" cy="45720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667500" y="1428750"/>
                <a:ext cx="4953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4572000">
                    <a:moveTo>
                      <a:pt x="114300" y="0"/>
                    </a:moveTo>
                    <a:lnTo>
                      <a:pt x="4838700" y="0"/>
                    </a:lnTo>
                    <a:cubicBezTo>
                      <a:pt x="4901826" y="0"/>
                      <a:pt x="4953000" y="51174"/>
                      <a:pt x="4953000" y="114300"/>
                    </a:cubicBezTo>
                    <a:lnTo>
                      <a:pt x="4953000" y="4457700"/>
                    </a:lnTo>
                    <a:cubicBezTo>
                      <a:pt x="4953000" y="4520826"/>
                      <a:pt x="4901826" y="4572000"/>
                      <a:pt x="4838700" y="4572000"/>
                    </a:cubicBezTo>
                    <a:lnTo>
                      <a:pt x="114300" y="4572000"/>
                    </a:lnTo>
                    <a:cubicBezTo>
                      <a:pt x="51174" y="4572000"/>
                      <a:pt x="0" y="4520826"/>
                      <a:pt x="0" y="445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667500" y="1428750"/>
                <a:ext cx="49530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666750">
                    <a:moveTo>
                      <a:pt x="114300" y="0"/>
                    </a:moveTo>
                    <a:lnTo>
                      <a:pt x="4838700" y="0"/>
                    </a:lnTo>
                    <a:cubicBezTo>
                      <a:pt x="4901826" y="0"/>
                      <a:pt x="4953000" y="51174"/>
                      <a:pt x="4953000" y="114300"/>
                    </a:cubicBezTo>
                    <a:lnTo>
                      <a:pt x="4953000" y="552450"/>
                    </a:lnTo>
                    <a:cubicBezTo>
                      <a:pt x="4953000" y="615576"/>
                      <a:pt x="4901826" y="666750"/>
                      <a:pt x="4838700" y="666750"/>
                    </a:cubicBezTo>
                    <a:lnTo>
                      <a:pt x="114300" y="666750"/>
                    </a:lnTo>
                    <a:cubicBezTo>
                      <a:pt x="51174" y="666750"/>
                      <a:pt x="0" y="615576"/>
                      <a:pt x="0" y="55245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F855A"/>
                  </a:gs>
                  <a:gs pos="100000">
                    <a:srgbClr val="38A169"/>
                  </a:gs>
                </a:gsLst>
                <a:lin ang="5400000" scaled="1"/>
              </a:gra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6667500" y="1809750"/>
                <a:ext cx="4953000" cy="285750"/>
              </a:xfrm>
              <a:prstGeom prst="rect">
                <a:avLst/>
              </a:prstGeom>
              <a:gradFill>
                <a:gsLst>
                  <a:gs pos="0">
                    <a:srgbClr val="2F855A"/>
                  </a:gs>
                  <a:gs pos="100000">
                    <a:srgbClr val="38A169"/>
                  </a:gs>
                </a:gsLst>
                <a:lin ang="5400000" scaled="1"/>
              </a:gra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944868" y="1650682"/>
                <a:ext cx="153231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AI 营销工作台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899904" y="1699260"/>
                <a:ext cx="16760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C6F6D5"/>
                    </a:solidFill>
                    <a:latin typeface="+mn-lt"/>
                    <a:ea typeface="+mn-ea"/>
                    <a:cs typeface="+mn-cs"/>
                  </a:rPr>
                  <a:t>统一 · 智能 · 实时闭环</a:t>
                </a:r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0972800" y="1590675"/>
                <a:ext cx="342900" cy="342900"/>
              </a:xfrm>
              <a:prstGeom prst="ellipse">
                <a:avLst/>
              </a:prstGeom>
              <a:solidFill>
                <a:schemeClr val="l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068050" y="1704975"/>
                <a:ext cx="1524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14300">
                    <a:moveTo>
                      <a:pt x="0" y="57150"/>
                    </a:moveTo>
                    <a:lnTo>
                      <a:pt x="57150" y="114300"/>
                    </a:lnTo>
                    <a:lnTo>
                      <a:pt x="152400" y="0"/>
                    </a:lnTo>
                  </a:path>
                </a:pathLst>
              </a:custGeom>
              <a:solidFill>
                <a:srgbClr val="000000"/>
              </a:solidFill>
              <a:ln w="23812" cap="rnd">
                <a:solidFill>
                  <a:srgbClr val="FFFFFF"/>
                </a:solidFill>
                <a:round/>
              </a:ln>
            </p:spPr>
          </p:sp>
          <p:grpSp>
            <p:nvGrpSpPr>
              <p:cNvPr id="78" name="Group 78"/>
              <p:cNvGrpSpPr/>
              <p:nvPr/>
            </p:nvGrpSpPr>
            <p:grpSpPr>
              <a:xfrm>
                <a:off x="6858000" y="2381250"/>
                <a:ext cx="4572000" cy="3476625"/>
                <a:chOff x="6858000" y="2381250"/>
                <a:chExt cx="4572000" cy="3476625"/>
              </a:xfrm>
            </p:grpSpPr>
            <p:grpSp>
              <p:nvGrpSpPr>
                <p:cNvPr id="59" name="Group 59"/>
                <p:cNvGrpSpPr/>
                <p:nvPr/>
              </p:nvGrpSpPr>
              <p:grpSpPr>
                <a:xfrm>
                  <a:off x="6858000" y="2381250"/>
                  <a:ext cx="4572000" cy="762000"/>
                  <a:chOff x="6858000" y="2381250"/>
                  <a:chExt cx="4572000" cy="762000"/>
                </a:xfrm>
              </p:grpSpPr>
              <p:sp>
                <p:nvSpPr>
                  <p:cNvPr id="54" name="Freeform 54"/>
                  <p:cNvSpPr/>
                  <p:nvPr/>
                </p:nvSpPr>
                <p:spPr>
                  <a:xfrm>
                    <a:off x="6858000" y="2381250"/>
                    <a:ext cx="4572000" cy="762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2000" h="762000">
                        <a:moveTo>
                          <a:pt x="76200" y="0"/>
                        </a:moveTo>
                        <a:lnTo>
                          <a:pt x="4495800" y="0"/>
                        </a:lnTo>
                        <a:cubicBezTo>
                          <a:pt x="4537884" y="0"/>
                          <a:pt x="4572000" y="34116"/>
                          <a:pt x="4572000" y="76200"/>
                        </a:cubicBezTo>
                        <a:lnTo>
                          <a:pt x="4572000" y="685800"/>
                        </a:lnTo>
                        <a:cubicBezTo>
                          <a:pt x="4572000" y="727884"/>
                          <a:pt x="4537884" y="762000"/>
                          <a:pt x="4495800" y="762000"/>
                        </a:cubicBezTo>
                        <a:lnTo>
                          <a:pt x="76200" y="762000"/>
                        </a:lnTo>
                        <a:cubicBezTo>
                          <a:pt x="34116" y="762000"/>
                          <a:pt x="0" y="727884"/>
                          <a:pt x="0" y="68580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19050">
                    <a:solidFill>
                      <a:srgbClr val="C6F6D5"/>
                    </a:solidFill>
                  </a:ln>
                </p:spPr>
              </p:sp>
              <p:sp>
                <p:nvSpPr>
                  <p:cNvPr id="55" name="Ellipse 55"/>
                  <p:cNvSpPr/>
                  <p:nvPr/>
                </p:nvSpPr>
                <p:spPr>
                  <a:xfrm>
                    <a:off x="6953250" y="2571750"/>
                    <a:ext cx="381000" cy="381000"/>
                  </a:xfrm>
                  <a:prstGeom prst="ellipse">
                    <a:avLst/>
                  </a:prstGeom>
                  <a:solidFill>
                    <a:srgbClr val="C6F6D5"/>
                  </a:solidFill>
                  <a:ln>
                    <a:noFill/>
                  </a:ln>
                </p:spPr>
              </p:sp>
              <p:sp>
                <p:nvSpPr>
                  <p:cNvPr id="56" name="Freeform 56"/>
                  <p:cNvSpPr/>
                  <p:nvPr/>
                </p:nvSpPr>
                <p:spPr>
                  <a:xfrm>
                    <a:off x="7067550" y="2705100"/>
                    <a:ext cx="1524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400" h="114300">
                        <a:moveTo>
                          <a:pt x="0" y="57150"/>
                        </a:moveTo>
                        <a:lnTo>
                          <a:pt x="57150" y="114300"/>
                        </a:lnTo>
                        <a:lnTo>
                          <a:pt x="152400" y="0"/>
                        </a:lnTo>
                      </a:path>
                    </a:pathLst>
                  </a:custGeom>
                  <a:solidFill>
                    <a:schemeClr val="dk1"/>
                  </a:solidFill>
                  <a:ln w="23812" cap="rnd">
                    <a:solidFill>
                      <a:srgbClr val="2F855A"/>
                    </a:solidFill>
                    <a:round/>
                  </a:ln>
                </p:spPr>
              </p:sp>
              <p:sp>
                <p:nvSpPr>
                  <p:cNvPr id="57" name="TextBox 57"/>
                  <p:cNvSpPr txBox="1"/>
                  <p:nvPr/>
                </p:nvSpPr>
                <p:spPr>
                  <a:xfrm>
                    <a:off x="7470267" y="2568892"/>
                    <a:ext cx="1540307" cy="2640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全域数据自动汇聚</a:t>
                    </a:r>
                  </a:p>
                </p:txBody>
              </p:sp>
              <p:sp>
                <p:nvSpPr>
                  <p:cNvPr id="58" name="TextBox 58"/>
                  <p:cNvSpPr txBox="1"/>
                  <p:nvPr/>
                </p:nvSpPr>
                <p:spPr>
                  <a:xfrm>
                    <a:off x="7471791" y="2820352"/>
                    <a:ext cx="1848231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打破系统壁垒，统一客户视图</a:t>
                    </a:r>
                  </a:p>
                </p:txBody>
              </p:sp>
            </p:grpSp>
            <p:grpSp>
              <p:nvGrpSpPr>
                <p:cNvPr id="65" name="Group 65"/>
                <p:cNvGrpSpPr/>
                <p:nvPr/>
              </p:nvGrpSpPr>
              <p:grpSpPr>
                <a:xfrm>
                  <a:off x="6858000" y="3286125"/>
                  <a:ext cx="4572000" cy="762000"/>
                  <a:chOff x="6858000" y="3286125"/>
                  <a:chExt cx="4572000" cy="762000"/>
                </a:xfrm>
              </p:grpSpPr>
              <p:sp>
                <p:nvSpPr>
                  <p:cNvPr id="60" name="Freeform 60"/>
                  <p:cNvSpPr/>
                  <p:nvPr/>
                </p:nvSpPr>
                <p:spPr>
                  <a:xfrm>
                    <a:off x="6858000" y="3286125"/>
                    <a:ext cx="4572000" cy="762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2000" h="762000">
                        <a:moveTo>
                          <a:pt x="76200" y="0"/>
                        </a:moveTo>
                        <a:lnTo>
                          <a:pt x="4495800" y="0"/>
                        </a:lnTo>
                        <a:cubicBezTo>
                          <a:pt x="4537884" y="0"/>
                          <a:pt x="4572000" y="34116"/>
                          <a:pt x="4572000" y="76200"/>
                        </a:cubicBezTo>
                        <a:lnTo>
                          <a:pt x="4572000" y="685800"/>
                        </a:lnTo>
                        <a:cubicBezTo>
                          <a:pt x="4572000" y="727884"/>
                          <a:pt x="4537884" y="762000"/>
                          <a:pt x="4495800" y="762000"/>
                        </a:cubicBezTo>
                        <a:lnTo>
                          <a:pt x="76200" y="762000"/>
                        </a:lnTo>
                        <a:cubicBezTo>
                          <a:pt x="34116" y="762000"/>
                          <a:pt x="0" y="727884"/>
                          <a:pt x="0" y="68580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19050">
                    <a:solidFill>
                      <a:srgbClr val="C6F6D5"/>
                    </a:solidFill>
                  </a:ln>
                </p:spPr>
              </p:sp>
              <p:sp>
                <p:nvSpPr>
                  <p:cNvPr id="61" name="Ellipse 61"/>
                  <p:cNvSpPr/>
                  <p:nvPr/>
                </p:nvSpPr>
                <p:spPr>
                  <a:xfrm>
                    <a:off x="6953250" y="3476625"/>
                    <a:ext cx="381000" cy="381000"/>
                  </a:xfrm>
                  <a:prstGeom prst="ellipse">
                    <a:avLst/>
                  </a:prstGeom>
                  <a:solidFill>
                    <a:srgbClr val="C6F6D5"/>
                  </a:solidFill>
                  <a:ln>
                    <a:noFill/>
                  </a:ln>
                </p:spPr>
              </p:sp>
              <p:sp>
                <p:nvSpPr>
                  <p:cNvPr id="62" name="Freeform 62"/>
                  <p:cNvSpPr/>
                  <p:nvPr/>
                </p:nvSpPr>
                <p:spPr>
                  <a:xfrm>
                    <a:off x="7067550" y="3609975"/>
                    <a:ext cx="1524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400" h="114300">
                        <a:moveTo>
                          <a:pt x="0" y="57150"/>
                        </a:moveTo>
                        <a:lnTo>
                          <a:pt x="57150" y="114300"/>
                        </a:lnTo>
                        <a:lnTo>
                          <a:pt x="152400" y="0"/>
                        </a:lnTo>
                      </a:path>
                    </a:pathLst>
                  </a:custGeom>
                  <a:solidFill>
                    <a:schemeClr val="dk1"/>
                  </a:solidFill>
                  <a:ln w="23812" cap="rnd">
                    <a:solidFill>
                      <a:srgbClr val="2F855A"/>
                    </a:solidFill>
                    <a:round/>
                  </a:ln>
                </p:spPr>
              </p:sp>
              <p:sp>
                <p:nvSpPr>
                  <p:cNvPr id="63" name="TextBox 63"/>
                  <p:cNvSpPr txBox="1"/>
                  <p:nvPr/>
                </p:nvSpPr>
                <p:spPr>
                  <a:xfrm>
                    <a:off x="7470267" y="3473768"/>
                    <a:ext cx="1394849" cy="2640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AI主动推送洞察</a:t>
                    </a:r>
                  </a:p>
                </p:txBody>
              </p:sp>
              <p:sp>
                <p:nvSpPr>
                  <p:cNvPr id="64" name="TextBox 64"/>
                  <p:cNvSpPr txBox="1"/>
                  <p:nvPr/>
                </p:nvSpPr>
                <p:spPr>
                  <a:xfrm>
                    <a:off x="7471791" y="3725228"/>
                    <a:ext cx="1282827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实时识别机会与风险</a:t>
                    </a:r>
                  </a:p>
                </p:txBody>
              </p:sp>
            </p:grpSp>
            <p:grpSp>
              <p:nvGrpSpPr>
                <p:cNvPr id="71" name="Group 71"/>
                <p:cNvGrpSpPr/>
                <p:nvPr/>
              </p:nvGrpSpPr>
              <p:grpSpPr>
                <a:xfrm>
                  <a:off x="6858000" y="4191000"/>
                  <a:ext cx="4572000" cy="762000"/>
                  <a:chOff x="6858000" y="4191000"/>
                  <a:chExt cx="4572000" cy="762000"/>
                </a:xfrm>
              </p:grpSpPr>
              <p:sp>
                <p:nvSpPr>
                  <p:cNvPr id="66" name="Freeform 66"/>
                  <p:cNvSpPr/>
                  <p:nvPr/>
                </p:nvSpPr>
                <p:spPr>
                  <a:xfrm>
                    <a:off x="6858000" y="4191000"/>
                    <a:ext cx="4572000" cy="762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2000" h="762000">
                        <a:moveTo>
                          <a:pt x="76200" y="0"/>
                        </a:moveTo>
                        <a:lnTo>
                          <a:pt x="4495800" y="0"/>
                        </a:lnTo>
                        <a:cubicBezTo>
                          <a:pt x="4537884" y="0"/>
                          <a:pt x="4572000" y="34116"/>
                          <a:pt x="4572000" y="76200"/>
                        </a:cubicBezTo>
                        <a:lnTo>
                          <a:pt x="4572000" y="685800"/>
                        </a:lnTo>
                        <a:cubicBezTo>
                          <a:pt x="4572000" y="727884"/>
                          <a:pt x="4537884" y="762000"/>
                          <a:pt x="4495800" y="762000"/>
                        </a:cubicBezTo>
                        <a:lnTo>
                          <a:pt x="76200" y="762000"/>
                        </a:lnTo>
                        <a:cubicBezTo>
                          <a:pt x="34116" y="762000"/>
                          <a:pt x="0" y="727884"/>
                          <a:pt x="0" y="68580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19050">
                    <a:solidFill>
                      <a:srgbClr val="C6F6D5"/>
                    </a:solidFill>
                  </a:ln>
                </p:spPr>
              </p:sp>
              <p:sp>
                <p:nvSpPr>
                  <p:cNvPr id="67" name="Ellipse 67"/>
                  <p:cNvSpPr/>
                  <p:nvPr/>
                </p:nvSpPr>
                <p:spPr>
                  <a:xfrm>
                    <a:off x="6953250" y="4381500"/>
                    <a:ext cx="381000" cy="381000"/>
                  </a:xfrm>
                  <a:prstGeom prst="ellipse">
                    <a:avLst/>
                  </a:prstGeom>
                  <a:solidFill>
                    <a:srgbClr val="C6F6D5"/>
                  </a:solidFill>
                  <a:ln>
                    <a:noFill/>
                  </a:ln>
                </p:spPr>
              </p:sp>
              <p:sp>
                <p:nvSpPr>
                  <p:cNvPr id="68" name="Freeform 68"/>
                  <p:cNvSpPr/>
                  <p:nvPr/>
                </p:nvSpPr>
                <p:spPr>
                  <a:xfrm>
                    <a:off x="7067550" y="4514850"/>
                    <a:ext cx="1524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400" h="114300">
                        <a:moveTo>
                          <a:pt x="0" y="57150"/>
                        </a:moveTo>
                        <a:lnTo>
                          <a:pt x="57150" y="114300"/>
                        </a:lnTo>
                        <a:lnTo>
                          <a:pt x="152400" y="0"/>
                        </a:lnTo>
                      </a:path>
                    </a:pathLst>
                  </a:custGeom>
                  <a:solidFill>
                    <a:schemeClr val="dk1"/>
                  </a:solidFill>
                  <a:ln w="23812" cap="rnd">
                    <a:solidFill>
                      <a:srgbClr val="2F855A"/>
                    </a:solidFill>
                    <a:round/>
                  </a:ln>
                </p:spPr>
              </p:sp>
              <p:sp>
                <p:nvSpPr>
                  <p:cNvPr id="69" name="TextBox 69"/>
                  <p:cNvSpPr txBox="1"/>
                  <p:nvPr/>
                </p:nvSpPr>
                <p:spPr>
                  <a:xfrm>
                    <a:off x="7470267" y="4378642"/>
                    <a:ext cx="1540307" cy="2640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引擎自动执行任务</a:t>
                    </a:r>
                  </a:p>
                </p:txBody>
              </p:sp>
              <p:sp>
                <p:nvSpPr>
                  <p:cNvPr id="70" name="TextBox 70"/>
                  <p:cNvSpPr txBox="1"/>
                  <p:nvPr/>
                </p:nvSpPr>
                <p:spPr>
                  <a:xfrm>
                    <a:off x="7471791" y="4630102"/>
                    <a:ext cx="1735150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营销自动化，7×24小时运转</a:t>
                    </a:r>
                  </a:p>
                </p:txBody>
              </p:sp>
            </p:grpSp>
            <p:grpSp>
              <p:nvGrpSpPr>
                <p:cNvPr id="77" name="Group 77"/>
                <p:cNvGrpSpPr/>
                <p:nvPr/>
              </p:nvGrpSpPr>
              <p:grpSpPr>
                <a:xfrm>
                  <a:off x="6858000" y="5095875"/>
                  <a:ext cx="4572000" cy="762000"/>
                  <a:chOff x="6858000" y="5095875"/>
                  <a:chExt cx="4572000" cy="762000"/>
                </a:xfrm>
              </p:grpSpPr>
              <p:sp>
                <p:nvSpPr>
                  <p:cNvPr id="72" name="Freeform 72"/>
                  <p:cNvSpPr/>
                  <p:nvPr/>
                </p:nvSpPr>
                <p:spPr>
                  <a:xfrm>
                    <a:off x="6858000" y="5095875"/>
                    <a:ext cx="4572000" cy="762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2000" h="762000">
                        <a:moveTo>
                          <a:pt x="76200" y="0"/>
                        </a:moveTo>
                        <a:lnTo>
                          <a:pt x="4495800" y="0"/>
                        </a:lnTo>
                        <a:cubicBezTo>
                          <a:pt x="4537884" y="0"/>
                          <a:pt x="4572000" y="34116"/>
                          <a:pt x="4572000" y="76200"/>
                        </a:cubicBezTo>
                        <a:lnTo>
                          <a:pt x="4572000" y="685800"/>
                        </a:lnTo>
                        <a:cubicBezTo>
                          <a:pt x="4572000" y="727884"/>
                          <a:pt x="4537884" y="762000"/>
                          <a:pt x="4495800" y="762000"/>
                        </a:cubicBezTo>
                        <a:lnTo>
                          <a:pt x="76200" y="762000"/>
                        </a:lnTo>
                        <a:cubicBezTo>
                          <a:pt x="34116" y="762000"/>
                          <a:pt x="0" y="727884"/>
                          <a:pt x="0" y="68580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19050">
                    <a:solidFill>
                      <a:srgbClr val="C6F6D5"/>
                    </a:solidFill>
                  </a:ln>
                </p:spPr>
              </p:sp>
              <p:sp>
                <p:nvSpPr>
                  <p:cNvPr id="73" name="Ellipse 73"/>
                  <p:cNvSpPr/>
                  <p:nvPr/>
                </p:nvSpPr>
                <p:spPr>
                  <a:xfrm>
                    <a:off x="6953250" y="5286375"/>
                    <a:ext cx="381000" cy="381000"/>
                  </a:xfrm>
                  <a:prstGeom prst="ellipse">
                    <a:avLst/>
                  </a:prstGeom>
                  <a:solidFill>
                    <a:srgbClr val="C6F6D5"/>
                  </a:solidFill>
                  <a:ln>
                    <a:noFill/>
                  </a:ln>
                </p:spPr>
              </p:sp>
              <p:sp>
                <p:nvSpPr>
                  <p:cNvPr id="74" name="Freeform 74"/>
                  <p:cNvSpPr/>
                  <p:nvPr/>
                </p:nvSpPr>
                <p:spPr>
                  <a:xfrm>
                    <a:off x="7067550" y="5419725"/>
                    <a:ext cx="1524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400" h="114300">
                        <a:moveTo>
                          <a:pt x="0" y="57150"/>
                        </a:moveTo>
                        <a:lnTo>
                          <a:pt x="57150" y="114300"/>
                        </a:lnTo>
                        <a:lnTo>
                          <a:pt x="152400" y="0"/>
                        </a:lnTo>
                      </a:path>
                    </a:pathLst>
                  </a:custGeom>
                  <a:solidFill>
                    <a:schemeClr val="dk1"/>
                  </a:solidFill>
                  <a:ln w="23812" cap="rnd">
                    <a:solidFill>
                      <a:srgbClr val="2F855A"/>
                    </a:solidFill>
                    <a:round/>
                  </a:ln>
                </p:spPr>
              </p:sp>
              <p:sp>
                <p:nvSpPr>
                  <p:cNvPr id="75" name="TextBox 75"/>
                  <p:cNvSpPr txBox="1"/>
                  <p:nvPr/>
                </p:nvSpPr>
                <p:spPr>
                  <a:xfrm>
                    <a:off x="7470267" y="5283518"/>
                    <a:ext cx="1540307" cy="2640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实时度量驱动优化</a:t>
                    </a:r>
                  </a:p>
                </p:txBody>
              </p:sp>
              <p:sp>
                <p:nvSpPr>
                  <p:cNvPr id="76" name="TextBox 76"/>
                  <p:cNvSpPr txBox="1"/>
                  <p:nvPr/>
                </p:nvSpPr>
                <p:spPr>
                  <a:xfrm>
                    <a:off x="7471791" y="5534978"/>
                    <a:ext cx="1593799" cy="2053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5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动态调整，持续提升ROI</a:t>
                    </a:r>
                  </a:p>
                </p:txBody>
              </p:sp>
            </p:grpSp>
          </p:grpSp>
        </p:grpSp>
      </p:grpSp>
      <p:grpSp>
        <p:nvGrpSpPr>
          <p:cNvPr id="86" name="Group 86"/>
          <p:cNvGrpSpPr/>
          <p:nvPr/>
        </p:nvGrpSpPr>
        <p:grpSpPr>
          <a:xfrm>
            <a:off x="476250" y="476250"/>
            <a:ext cx="11239500" cy="6191250"/>
            <a:chOff x="476250" y="476250"/>
            <a:chExt cx="11239500" cy="6191250"/>
          </a:xfrm>
        </p:grpSpPr>
        <p:sp>
          <p:nvSpPr>
            <p:cNvPr id="81" name="Freeform 81"/>
            <p:cNvSpPr/>
            <p:nvPr/>
          </p:nvSpPr>
          <p:spPr>
            <a:xfrm>
              <a:off x="571500" y="6191250"/>
              <a:ext cx="11049000" cy="476250"/>
            </a:xfrm>
            <a:custGeom>
              <a:avLst/>
              <a:gdLst/>
              <a:ahLst/>
              <a:cxnLst/>
              <a:rect l="l" t="t" r="r" b="b"/>
              <a:pathLst>
                <a:path w="11049000" h="47625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400050"/>
                  </a:lnTo>
                  <a:cubicBezTo>
                    <a:pt x="11049000" y="442134"/>
                    <a:pt x="11014884" y="476250"/>
                    <a:pt x="10972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46404" y="63665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关键变量对比：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660904" y="63665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不同路径带来截然不同的业务价值</a:t>
              </a:r>
            </a:p>
          </p:txBody>
        </p:sp>
        <p:sp>
          <p:nvSpPr>
            <p:cNvPr id="84" name="Freeform 84"/>
            <p:cNvSpPr/>
            <p:nvPr/>
          </p:nvSpPr>
          <p:spPr>
            <a:xfrm>
              <a:off x="11620500" y="476250"/>
              <a:ext cx="95250" cy="190500"/>
            </a:xfrm>
            <a:custGeom>
              <a:avLst/>
              <a:gdLst/>
              <a:ahLst/>
              <a:cxnLst/>
              <a:rect l="l" t="t" r="r" b="b"/>
              <a:pathLst>
                <a:path w="95250" h="190500">
                  <a:moveTo>
                    <a:pt x="0" y="0"/>
                  </a:moveTo>
                  <a:lnTo>
                    <a:pt x="95250" y="95250"/>
                  </a:lnTo>
                  <a:lnTo>
                    <a:pt x="0" y="190500"/>
                  </a:lnTo>
                </a:path>
              </a:pathLst>
            </a:custGeom>
            <a:noFill/>
            <a:ln w="14288" cap="rnd">
              <a:solidFill>
                <a:schemeClr val="accent4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476250" y="476250"/>
              <a:ext cx="95250" cy="190500"/>
            </a:xfrm>
            <a:custGeom>
              <a:avLst/>
              <a:gdLst/>
              <a:ahLst/>
              <a:cxnLst/>
              <a:rect l="l" t="t" r="r" b="b"/>
              <a:pathLst>
                <a:path w="95250" h="190500">
                  <a:moveTo>
                    <a:pt x="0" y="0"/>
                  </a:moveTo>
                  <a:lnTo>
                    <a:pt x="95250" y="95250"/>
                  </a:lnTo>
                  <a:lnTo>
                    <a:pt x="0" y="190500"/>
                  </a:lnTo>
                </a:path>
              </a:pathLst>
            </a:custGeom>
            <a:noFill/>
            <a:ln w="14288" cap="rnd">
              <a:solidFill>
                <a:schemeClr val="accent4"/>
              </a:solidFill>
            </a:ln>
          </p:spPr>
        </p:sp>
      </p:grpSp>
      <p:grpSp>
        <p:nvGrpSpPr>
          <p:cNvPr id="89" name="Group 89"/>
          <p:cNvGrpSpPr/>
          <p:nvPr/>
        </p:nvGrpSpPr>
        <p:grpSpPr>
          <a:xfrm>
            <a:off x="571500" y="6667500"/>
            <a:ext cx="11053762" cy="168116"/>
            <a:chOff x="571500" y="6667500"/>
            <a:chExt cx="11053762" cy="168116"/>
          </a:xfrm>
        </p:grpSpPr>
        <p:sp>
          <p:nvSpPr>
            <p:cNvPr id="87" name="Line 87"/>
            <p:cNvSpPr/>
            <p:nvPr/>
          </p:nvSpPr>
          <p:spPr>
            <a:xfrm>
              <a:off x="571500" y="66675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1365849" y="667369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476250"/>
              <a:ext cx="11049000" cy="59055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7784" y="518160"/>
            <a:ext cx="6281166" cy="994410"/>
            <a:chOff x="557784" y="518160"/>
            <a:chExt cx="6281166" cy="994410"/>
          </a:xfrm>
        </p:grpSpPr>
        <p:sp>
          <p:nvSpPr>
            <p:cNvPr id="6" name="TextBox 6"/>
            <p:cNvSpPr txBox="1"/>
            <p:nvPr/>
          </p:nvSpPr>
          <p:spPr>
            <a:xfrm>
              <a:off x="557784" y="518160"/>
              <a:ext cx="526968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早期采用者已获得的典型提升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000125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</a:gra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3880" y="1219200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基于同类方案交付数据，企业接入后可预期以下核心指标的显著改善。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1809750"/>
            <a:ext cx="11049000" cy="3619500"/>
            <a:chOff x="571500" y="1809750"/>
            <a:chExt cx="11049000" cy="3619500"/>
          </a:xfrm>
        </p:grpSpPr>
        <p:grpSp>
          <p:nvGrpSpPr>
            <p:cNvPr id="19" name="Group 19"/>
            <p:cNvGrpSpPr/>
            <p:nvPr/>
          </p:nvGrpSpPr>
          <p:grpSpPr>
            <a:xfrm>
              <a:off x="571500" y="1809750"/>
              <a:ext cx="3429000" cy="3619500"/>
              <a:chOff x="571500" y="1809750"/>
              <a:chExt cx="3429000" cy="36195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571500" y="1809750"/>
                <a:ext cx="342900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3619500">
                    <a:moveTo>
                      <a:pt x="114300" y="0"/>
                    </a:moveTo>
                    <a:lnTo>
                      <a:pt x="3314700" y="0"/>
                    </a:lnTo>
                    <a:cubicBezTo>
                      <a:pt x="3377826" y="0"/>
                      <a:pt x="3429000" y="51174"/>
                      <a:pt x="3429000" y="114300"/>
                    </a:cubicBezTo>
                    <a:lnTo>
                      <a:pt x="3429000" y="3505200"/>
                    </a:lnTo>
                    <a:cubicBezTo>
                      <a:pt x="3429000" y="3568326"/>
                      <a:pt x="3377826" y="3619500"/>
                      <a:pt x="3314700" y="3619500"/>
                    </a:cubicBezTo>
                    <a:lnTo>
                      <a:pt x="114300" y="3619500"/>
                    </a:lnTo>
                    <a:cubicBezTo>
                      <a:pt x="51174" y="3619500"/>
                      <a:pt x="0" y="3568326"/>
                      <a:pt x="0" y="3505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71500" y="1809750"/>
                <a:ext cx="3429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76200">
                    <a:moveTo>
                      <a:pt x="38100" y="0"/>
                    </a:moveTo>
                    <a:lnTo>
                      <a:pt x="3390900" y="0"/>
                    </a:lnTo>
                    <a:cubicBezTo>
                      <a:pt x="3411942" y="0"/>
                      <a:pt x="3429000" y="17058"/>
                      <a:pt x="3429000" y="38100"/>
                    </a:cubicBezTo>
                    <a:lnTo>
                      <a:pt x="3429000" y="38100"/>
                    </a:lnTo>
                    <a:cubicBezTo>
                      <a:pt x="3429000" y="59142"/>
                      <a:pt x="3411942" y="76200"/>
                      <a:pt x="33909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000" scaled="1"/>
              </a:gra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1666875" y="2143125"/>
                <a:ext cx="1238250" cy="1238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813339" y="2548890"/>
                <a:ext cx="945322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30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40%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785938" y="35061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客户响应率提升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952500" y="3905250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46404" y="4061460"/>
                <a:ext cx="101071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AI个性化推荐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6404" y="429006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最佳发送时间预测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6404" y="451866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显著提高互动意愿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381500" y="1809750"/>
              <a:ext cx="3429000" cy="3619500"/>
              <a:chOff x="4381500" y="1809750"/>
              <a:chExt cx="3429000" cy="36195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381500" y="1809750"/>
                <a:ext cx="342900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3619500">
                    <a:moveTo>
                      <a:pt x="114300" y="0"/>
                    </a:moveTo>
                    <a:lnTo>
                      <a:pt x="3314700" y="0"/>
                    </a:lnTo>
                    <a:cubicBezTo>
                      <a:pt x="3377826" y="0"/>
                      <a:pt x="3429000" y="51174"/>
                      <a:pt x="3429000" y="114300"/>
                    </a:cubicBezTo>
                    <a:lnTo>
                      <a:pt x="3429000" y="3505200"/>
                    </a:lnTo>
                    <a:cubicBezTo>
                      <a:pt x="3429000" y="3568326"/>
                      <a:pt x="3377826" y="3619500"/>
                      <a:pt x="3314700" y="3619500"/>
                    </a:cubicBezTo>
                    <a:lnTo>
                      <a:pt x="114300" y="3619500"/>
                    </a:lnTo>
                    <a:cubicBezTo>
                      <a:pt x="51174" y="3619500"/>
                      <a:pt x="0" y="3568326"/>
                      <a:pt x="0" y="3505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381500" y="1809750"/>
                <a:ext cx="3429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76200">
                    <a:moveTo>
                      <a:pt x="38100" y="0"/>
                    </a:moveTo>
                    <a:lnTo>
                      <a:pt x="3390900" y="0"/>
                    </a:lnTo>
                    <a:cubicBezTo>
                      <a:pt x="3411942" y="0"/>
                      <a:pt x="3429000" y="17058"/>
                      <a:pt x="3429000" y="38100"/>
                    </a:cubicBezTo>
                    <a:lnTo>
                      <a:pt x="3429000" y="38100"/>
                    </a:lnTo>
                    <a:cubicBezTo>
                      <a:pt x="3429000" y="59142"/>
                      <a:pt x="3411942" y="76200"/>
                      <a:pt x="33909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000" scaled="1"/>
              </a:gra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5476875" y="2143125"/>
                <a:ext cx="1238250" cy="1238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948296" y="2568892"/>
                <a:ext cx="2954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3天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039164" y="279749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→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857427" y="3026092"/>
                <a:ext cx="4771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2小时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666613" y="35061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活动创建时间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4762500" y="3905250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756404" y="406146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自动化工作流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756404" y="429006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模板库快速调用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756404" y="451866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多渠道一键配置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8191500" y="1809750"/>
              <a:ext cx="3429000" cy="3619500"/>
              <a:chOff x="8191500" y="1809750"/>
              <a:chExt cx="3429000" cy="36195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191500" y="1809750"/>
                <a:ext cx="342900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3619500">
                    <a:moveTo>
                      <a:pt x="114300" y="0"/>
                    </a:moveTo>
                    <a:lnTo>
                      <a:pt x="3314700" y="0"/>
                    </a:lnTo>
                    <a:cubicBezTo>
                      <a:pt x="3377826" y="0"/>
                      <a:pt x="3429000" y="51174"/>
                      <a:pt x="3429000" y="114300"/>
                    </a:cubicBezTo>
                    <a:lnTo>
                      <a:pt x="3429000" y="3505200"/>
                    </a:lnTo>
                    <a:cubicBezTo>
                      <a:pt x="3429000" y="3568326"/>
                      <a:pt x="3377826" y="3619500"/>
                      <a:pt x="3314700" y="3619500"/>
                    </a:cubicBezTo>
                    <a:lnTo>
                      <a:pt x="114300" y="3619500"/>
                    </a:lnTo>
                    <a:cubicBezTo>
                      <a:pt x="51174" y="3619500"/>
                      <a:pt x="0" y="3568326"/>
                      <a:pt x="0" y="3505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91500" y="1809750"/>
                <a:ext cx="3429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76200">
                    <a:moveTo>
                      <a:pt x="38100" y="0"/>
                    </a:moveTo>
                    <a:lnTo>
                      <a:pt x="3390900" y="0"/>
                    </a:lnTo>
                    <a:cubicBezTo>
                      <a:pt x="3411942" y="0"/>
                      <a:pt x="3429000" y="17058"/>
                      <a:pt x="3429000" y="38100"/>
                    </a:cubicBezTo>
                    <a:lnTo>
                      <a:pt x="3429000" y="38100"/>
                    </a:lnTo>
                    <a:cubicBezTo>
                      <a:pt x="3429000" y="59142"/>
                      <a:pt x="3411942" y="76200"/>
                      <a:pt x="33909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5400000" scaled="1"/>
              </a:gra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9286875" y="2143125"/>
                <a:ext cx="1238250" cy="1238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297802" y="2548890"/>
                <a:ext cx="1216396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300" b="1" dirty="0">
                    <a:solidFill>
                      <a:srgbClr val="2F855A"/>
                    </a:solidFill>
                    <a:latin typeface="+mj-lt"/>
                    <a:ea typeface="+mj-ea"/>
                    <a:cs typeface="+mj-cs"/>
                  </a:rPr>
                  <a:t>200%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482480" y="3506152"/>
                <a:ext cx="84703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ROI平均提升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8572500" y="3905250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566404" y="406146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实时效果反馈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566404" y="429006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自动优化策略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566404" y="451866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持续放大收益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571500" y="5715000"/>
            <a:ext cx="11049000" cy="381000"/>
            <a:chOff x="571500" y="5715000"/>
            <a:chExt cx="11049000" cy="381000"/>
          </a:xfrm>
        </p:grpSpPr>
        <p:sp>
          <p:nvSpPr>
            <p:cNvPr id="43" name="Freeform 43"/>
            <p:cNvSpPr/>
            <p:nvPr/>
          </p:nvSpPr>
          <p:spPr>
            <a:xfrm>
              <a:off x="571500" y="5715000"/>
              <a:ext cx="11049000" cy="381000"/>
            </a:xfrm>
            <a:custGeom>
              <a:avLst/>
              <a:gdLst/>
              <a:ahLst/>
              <a:cxnLst/>
              <a:rect l="l" t="t" r="r" b="b"/>
              <a:pathLst>
                <a:path w="11049000" h="381000">
                  <a:moveTo>
                    <a:pt x="57150" y="0"/>
                  </a:moveTo>
                  <a:lnTo>
                    <a:pt x="10991850" y="0"/>
                  </a:lnTo>
                  <a:cubicBezTo>
                    <a:pt x="11023413" y="0"/>
                    <a:pt x="11049000" y="25587"/>
                    <a:pt x="11049000" y="57150"/>
                  </a:cubicBezTo>
                  <a:lnTo>
                    <a:pt x="11049000" y="323850"/>
                  </a:lnTo>
                  <a:cubicBezTo>
                    <a:pt x="11049000" y="355413"/>
                    <a:pt x="11023413" y="381000"/>
                    <a:pt x="10991850" y="381000"/>
                  </a:cubicBezTo>
                  <a:lnTo>
                    <a:pt x="57150" y="381000"/>
                  </a:lnTo>
                  <a:cubicBezTo>
                    <a:pt x="25587" y="381000"/>
                    <a:pt x="0" y="355413"/>
                    <a:pt x="0" y="323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6666" y="5849302"/>
              <a:ext cx="7723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PROOFGRID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1876425" y="58769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2066925" y="587692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2257425" y="5876925"/>
              <a:ext cx="57150" cy="57150"/>
            </a:xfrm>
            <a:prstGeom prst="ellipse">
              <a:avLst/>
            </a:prstGeom>
            <a:solidFill>
              <a:srgbClr val="A0AEC0"/>
            </a:solidFill>
            <a:ln>
              <a:noFill/>
            </a:ln>
          </p:spPr>
        </p:sp>
      </p:grpSp>
      <p:sp>
        <p:nvSpPr>
          <p:cNvPr id="49" name="TextBox 49"/>
          <p:cNvSpPr txBox="1"/>
          <p:nvPr/>
        </p:nvSpPr>
        <p:spPr>
          <a:xfrm>
            <a:off x="10243147" y="6387941"/>
            <a:ext cx="100111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企业 AI 营销工作台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449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8284" y="390049"/>
            <a:ext cx="6176772" cy="1122521"/>
            <a:chOff x="748284" y="390049"/>
            <a:chExt cx="6176772" cy="1122521"/>
          </a:xfrm>
        </p:grpSpPr>
        <p:sp>
          <p:nvSpPr>
            <p:cNvPr id="5" name="TextBox 5"/>
            <p:cNvSpPr txBox="1"/>
            <p:nvPr/>
          </p:nvSpPr>
          <p:spPr>
            <a:xfrm>
              <a:off x="757047" y="390049"/>
              <a:ext cx="1329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SIGNALCOUNT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762000" y="647700"/>
              <a:ext cx="457200" cy="38100"/>
            </a:xfrm>
            <a:custGeom>
              <a:avLst/>
              <a:gdLst/>
              <a:ahLst/>
              <a:cxnLst/>
              <a:rect l="l" t="t" r="r" b="b"/>
              <a:pathLst>
                <a:path w="457200" h="38100">
                  <a:moveTo>
                    <a:pt x="19050" y="0"/>
                  </a:moveTo>
                  <a:lnTo>
                    <a:pt x="438150" y="0"/>
                  </a:lnTo>
                  <a:cubicBezTo>
                    <a:pt x="448671" y="0"/>
                    <a:pt x="457200" y="8529"/>
                    <a:pt x="457200" y="19050"/>
                  </a:cubicBezTo>
                  <a:lnTo>
                    <a:pt x="457200" y="19050"/>
                  </a:lnTo>
                  <a:cubicBezTo>
                    <a:pt x="457200" y="29571"/>
                    <a:pt x="448671" y="38100"/>
                    <a:pt x="4381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48284" y="756285"/>
              <a:ext cx="32534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平台关键性能指标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380" y="1219200"/>
              <a:ext cx="61706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从数据连接到效果反馈，AI工作台在四个维度建立新的性能基线。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1905000"/>
            <a:ext cx="10668000" cy="4762500"/>
            <a:chOff x="762000" y="1905000"/>
            <a:chExt cx="10668000" cy="4762500"/>
          </a:xfrm>
        </p:grpSpPr>
        <p:grpSp>
          <p:nvGrpSpPr>
            <p:cNvPr id="17" name="Group 17"/>
            <p:cNvGrpSpPr/>
            <p:nvPr/>
          </p:nvGrpSpPr>
          <p:grpSpPr>
            <a:xfrm>
              <a:off x="762000" y="1905000"/>
              <a:ext cx="5048250" cy="2190750"/>
              <a:chOff x="762000" y="1905000"/>
              <a:chExt cx="5048250" cy="21907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62000" y="1905000"/>
                <a:ext cx="5048250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5048250" h="2190750">
                    <a:moveTo>
                      <a:pt x="114300" y="0"/>
                    </a:moveTo>
                    <a:lnTo>
                      <a:pt x="4933950" y="0"/>
                    </a:lnTo>
                    <a:cubicBezTo>
                      <a:pt x="4997076" y="0"/>
                      <a:pt x="5048250" y="51174"/>
                      <a:pt x="5048250" y="114300"/>
                    </a:cubicBezTo>
                    <a:lnTo>
                      <a:pt x="5048250" y="2076450"/>
                    </a:lnTo>
                    <a:cubicBezTo>
                      <a:pt x="5048250" y="2139576"/>
                      <a:pt x="4997076" y="2190750"/>
                      <a:pt x="4933950" y="2190750"/>
                    </a:cubicBezTo>
                    <a:lnTo>
                      <a:pt x="114300" y="2190750"/>
                    </a:lnTo>
                    <a:cubicBezTo>
                      <a:pt x="51174" y="2190750"/>
                      <a:pt x="0" y="2139576"/>
                      <a:pt x="0" y="207645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62000" y="1905000"/>
                <a:ext cx="50482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048250" h="57150">
                    <a:moveTo>
                      <a:pt x="28575" y="0"/>
                    </a:moveTo>
                    <a:lnTo>
                      <a:pt x="5019675" y="0"/>
                    </a:lnTo>
                    <a:cubicBezTo>
                      <a:pt x="5035457" y="0"/>
                      <a:pt x="5048250" y="12793"/>
                      <a:pt x="5048250" y="28575"/>
                    </a:cubicBezTo>
                    <a:lnTo>
                      <a:pt x="5048250" y="28575"/>
                    </a:lnTo>
                    <a:cubicBezTo>
                      <a:pt x="5048250" y="44357"/>
                      <a:pt x="5035457" y="57150"/>
                      <a:pt x="5019675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23950" y="2118360"/>
                <a:ext cx="1198565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98%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34618" y="27746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数据整合覆盖率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7285" y="3117056"/>
                <a:ext cx="263575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连接主流平台API，全量数据即时可用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5238750" y="3429000"/>
                <a:ext cx="381000" cy="381000"/>
              </a:xfrm>
              <a:prstGeom prst="ellipse">
                <a:avLst/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353050" y="356235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0" y="57150"/>
                    </a:moveTo>
                    <a:lnTo>
                      <a:pt x="57150" y="114300"/>
                    </a:lnTo>
                    <a:lnTo>
                      <a:pt x="171450" y="0"/>
                    </a:lnTo>
                  </a:path>
                </a:pathLst>
              </a:custGeom>
              <a:noFill/>
              <a:ln w="23812" cap="rnd">
                <a:solidFill>
                  <a:schemeClr val="accent2"/>
                </a:solidFill>
                <a:round/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6381750" y="1905000"/>
              <a:ext cx="5048250" cy="2190750"/>
              <a:chOff x="6381750" y="1905000"/>
              <a:chExt cx="5048250" cy="21907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381750" y="1905000"/>
                <a:ext cx="5048250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5048250" h="2190750">
                    <a:moveTo>
                      <a:pt x="114300" y="0"/>
                    </a:moveTo>
                    <a:lnTo>
                      <a:pt x="4933950" y="0"/>
                    </a:lnTo>
                    <a:cubicBezTo>
                      <a:pt x="4997076" y="0"/>
                      <a:pt x="5048250" y="51174"/>
                      <a:pt x="5048250" y="114300"/>
                    </a:cubicBezTo>
                    <a:lnTo>
                      <a:pt x="5048250" y="2076450"/>
                    </a:lnTo>
                    <a:cubicBezTo>
                      <a:pt x="5048250" y="2139576"/>
                      <a:pt x="4997076" y="2190750"/>
                      <a:pt x="4933950" y="2190750"/>
                    </a:cubicBezTo>
                    <a:lnTo>
                      <a:pt x="114300" y="2190750"/>
                    </a:lnTo>
                    <a:cubicBezTo>
                      <a:pt x="51174" y="2190750"/>
                      <a:pt x="0" y="2139576"/>
                      <a:pt x="0" y="207645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381750" y="1905000"/>
                <a:ext cx="50482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048250" h="57150">
                    <a:moveTo>
                      <a:pt x="28575" y="0"/>
                    </a:moveTo>
                    <a:lnTo>
                      <a:pt x="5019675" y="0"/>
                    </a:lnTo>
                    <a:cubicBezTo>
                      <a:pt x="5035457" y="0"/>
                      <a:pt x="5048250" y="12793"/>
                      <a:pt x="5048250" y="28575"/>
                    </a:cubicBezTo>
                    <a:lnTo>
                      <a:pt x="5048250" y="28575"/>
                    </a:lnTo>
                    <a:cubicBezTo>
                      <a:pt x="5048250" y="44357"/>
                      <a:pt x="5035457" y="57150"/>
                      <a:pt x="5019675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744462" y="2087880"/>
                <a:ext cx="923727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&lt;10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753731" y="2282190"/>
                <a:ext cx="44842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min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754368" y="2679382"/>
                <a:ext cx="121195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AI分析延迟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757035" y="3021806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从数据接收至洞察生成的平均耗时</a:t>
                </a: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10858500" y="3429000"/>
                <a:ext cx="381000" cy="381000"/>
              </a:xfrm>
              <a:prstGeom prst="ellipse">
                <a:avLst/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982325" y="35433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0" y="76200"/>
                    </a:moveTo>
                    <a:lnTo>
                      <a:pt x="66675" y="0"/>
                    </a:lnTo>
                    <a:lnTo>
                      <a:pt x="133350" y="76200"/>
                    </a:lnTo>
                    <a:lnTo>
                      <a:pt x="66675" y="152400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11049000" y="35718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762000" y="4476750"/>
              <a:ext cx="5048250" cy="2190750"/>
              <a:chOff x="762000" y="4476750"/>
              <a:chExt cx="5048250" cy="21907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62000" y="4476750"/>
                <a:ext cx="5048250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5048250" h="2190750">
                    <a:moveTo>
                      <a:pt x="114300" y="0"/>
                    </a:moveTo>
                    <a:lnTo>
                      <a:pt x="4933950" y="0"/>
                    </a:lnTo>
                    <a:cubicBezTo>
                      <a:pt x="4997076" y="0"/>
                      <a:pt x="5048250" y="51174"/>
                      <a:pt x="5048250" y="114300"/>
                    </a:cubicBezTo>
                    <a:lnTo>
                      <a:pt x="5048250" y="2076450"/>
                    </a:lnTo>
                    <a:cubicBezTo>
                      <a:pt x="5048250" y="2139576"/>
                      <a:pt x="4997076" y="2190750"/>
                      <a:pt x="4933950" y="2190750"/>
                    </a:cubicBezTo>
                    <a:lnTo>
                      <a:pt x="114300" y="2190750"/>
                    </a:lnTo>
                    <a:cubicBezTo>
                      <a:pt x="51174" y="2190750"/>
                      <a:pt x="0" y="2139576"/>
                      <a:pt x="0" y="207645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62000" y="4476750"/>
                <a:ext cx="50482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048250" h="57150">
                    <a:moveTo>
                      <a:pt x="28575" y="0"/>
                    </a:moveTo>
                    <a:lnTo>
                      <a:pt x="5019675" y="0"/>
                    </a:lnTo>
                    <a:cubicBezTo>
                      <a:pt x="5035457" y="0"/>
                      <a:pt x="5048250" y="12793"/>
                      <a:pt x="5048250" y="28575"/>
                    </a:cubicBezTo>
                    <a:lnTo>
                      <a:pt x="5048250" y="28575"/>
                    </a:lnTo>
                    <a:cubicBezTo>
                      <a:pt x="5048250" y="44357"/>
                      <a:pt x="5035457" y="57150"/>
                      <a:pt x="5019675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123950" y="4690110"/>
                <a:ext cx="1198565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80%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34618" y="5346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人力成本节省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37285" y="5688806"/>
                <a:ext cx="19802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自动化执行取代重复手动操作</a:t>
                </a:r>
              </a:p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5238750" y="6000750"/>
                <a:ext cx="381000" cy="381000"/>
              </a:xfrm>
              <a:prstGeom prst="ellipse">
                <a:avLst/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334000" y="6048375"/>
                <a:ext cx="190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85750">
                    <a:moveTo>
                      <a:pt x="0" y="142875"/>
                    </a:moveTo>
                    <a:lnTo>
                      <a:pt x="95250" y="0"/>
                    </a:lnTo>
                    <a:lnTo>
                      <a:pt x="190500" y="142875"/>
                    </a:lnTo>
                    <a:lnTo>
                      <a:pt x="95250" y="285750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6381750" y="4476750"/>
              <a:ext cx="5048250" cy="2190750"/>
              <a:chOff x="6381750" y="4476750"/>
              <a:chExt cx="5048250" cy="21907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381750" y="4476750"/>
                <a:ext cx="5048250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5048250" h="2190750">
                    <a:moveTo>
                      <a:pt x="114300" y="0"/>
                    </a:moveTo>
                    <a:lnTo>
                      <a:pt x="4933950" y="0"/>
                    </a:lnTo>
                    <a:cubicBezTo>
                      <a:pt x="4997076" y="0"/>
                      <a:pt x="5048250" y="51174"/>
                      <a:pt x="5048250" y="114300"/>
                    </a:cubicBezTo>
                    <a:lnTo>
                      <a:pt x="5048250" y="2076450"/>
                    </a:lnTo>
                    <a:cubicBezTo>
                      <a:pt x="5048250" y="2139576"/>
                      <a:pt x="4997076" y="2190750"/>
                      <a:pt x="4933950" y="2190750"/>
                    </a:cubicBezTo>
                    <a:lnTo>
                      <a:pt x="114300" y="2190750"/>
                    </a:lnTo>
                    <a:cubicBezTo>
                      <a:pt x="51174" y="2190750"/>
                      <a:pt x="0" y="2139576"/>
                      <a:pt x="0" y="207645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381750" y="4476750"/>
                <a:ext cx="50482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048250" h="57150">
                    <a:moveTo>
                      <a:pt x="28575" y="0"/>
                    </a:moveTo>
                    <a:lnTo>
                      <a:pt x="5019675" y="0"/>
                    </a:lnTo>
                    <a:cubicBezTo>
                      <a:pt x="5035457" y="0"/>
                      <a:pt x="5048250" y="12793"/>
                      <a:pt x="5048250" y="28575"/>
                    </a:cubicBezTo>
                    <a:lnTo>
                      <a:pt x="5048250" y="28575"/>
                    </a:lnTo>
                    <a:cubicBezTo>
                      <a:pt x="5048250" y="44357"/>
                      <a:pt x="5035457" y="57150"/>
                      <a:pt x="5019675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744462" y="4754880"/>
                <a:ext cx="1111910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实时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54368" y="525113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效果反馈速度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757035" y="5593556"/>
                <a:ext cx="273748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活动启动后秒级监测关键指标并触发调优</a:t>
                </a:r>
              </a:p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10858500" y="6000750"/>
                <a:ext cx="381000" cy="381000"/>
              </a:xfrm>
              <a:prstGeom prst="ellipse">
                <a:avLst/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10991850" y="6134100"/>
                <a:ext cx="114300" cy="1143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10934700" y="6076950"/>
                <a:ext cx="228600" cy="228600"/>
              </a:xfrm>
              <a:prstGeom prst="ellipse">
                <a:avLst/>
              </a:prstGeom>
              <a:noFill/>
              <a:ln w="14288">
                <a:solidFill>
                  <a:schemeClr val="accent2">
                    <a:alpha val="50000"/>
                  </a:schemeClr>
                </a:solidFill>
              </a:ln>
            </p:spPr>
          </p:sp>
        </p:grpSp>
      </p:grpSp>
      <p:grpSp>
        <p:nvGrpSpPr>
          <p:cNvPr id="48" name="Group 48"/>
          <p:cNvGrpSpPr/>
          <p:nvPr/>
        </p:nvGrpSpPr>
        <p:grpSpPr>
          <a:xfrm>
            <a:off x="762000" y="1905000"/>
            <a:ext cx="9906000" cy="4762500"/>
            <a:chOff x="762000" y="1905000"/>
            <a:chExt cx="9906000" cy="4762500"/>
          </a:xfrm>
        </p:grpSpPr>
        <p:sp>
          <p:nvSpPr>
            <p:cNvPr id="46" name="Line 46"/>
            <p:cNvSpPr/>
            <p:nvPr/>
          </p:nvSpPr>
          <p:spPr>
            <a:xfrm>
              <a:off x="5715000" y="19050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prstDash val="dash"/>
            </a:ln>
          </p:spPr>
        </p:sp>
        <p:sp>
          <p:nvSpPr>
            <p:cNvPr id="47" name="Line 47"/>
            <p:cNvSpPr/>
            <p:nvPr/>
          </p:nvSpPr>
          <p:spPr>
            <a:xfrm>
              <a:off x="762000" y="40957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prstDash val="dash"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757238" y="6667500"/>
            <a:ext cx="10677524" cy="215741"/>
            <a:chOff x="757238" y="6667500"/>
            <a:chExt cx="10677524" cy="215741"/>
          </a:xfrm>
        </p:grpSpPr>
        <p:sp>
          <p:nvSpPr>
            <p:cNvPr id="49" name="Line 49"/>
            <p:cNvSpPr/>
            <p:nvPr/>
          </p:nvSpPr>
          <p:spPr>
            <a:xfrm>
              <a:off x="762000" y="6667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57238" y="6721316"/>
              <a:ext cx="16876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营销工作台 · 企业级解决方案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75349" y="6721316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477000"/>
              <a:ext cx="121920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66166" y="362902"/>
            <a:ext cx="11059096" cy="6377464"/>
            <a:chOff x="566166" y="362902"/>
            <a:chExt cx="11059096" cy="6377464"/>
          </a:xfrm>
        </p:grpSpPr>
        <p:sp>
          <p:nvSpPr>
            <p:cNvPr id="5" name="Line 5"/>
            <p:cNvSpPr/>
            <p:nvPr/>
          </p:nvSpPr>
          <p:spPr>
            <a:xfrm>
              <a:off x="571500" y="666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166" y="362902"/>
              <a:ext cx="8182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SPREADMAP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65849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 / 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33500" y="946785"/>
            <a:ext cx="11144250" cy="5145976"/>
            <a:chOff x="1333500" y="946785"/>
            <a:chExt cx="11144250" cy="5145976"/>
          </a:xfrm>
        </p:grpSpPr>
        <p:sp>
          <p:nvSpPr>
            <p:cNvPr id="9" name="TextBox 9"/>
            <p:cNvSpPr txBox="1"/>
            <p:nvPr/>
          </p:nvSpPr>
          <p:spPr>
            <a:xfrm>
              <a:off x="3864407" y="946785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四大引擎能力成熟度评估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1333500" y="2867025"/>
              <a:ext cx="11144250" cy="3225736"/>
              <a:chOff x="1333500" y="2867025"/>
              <a:chExt cx="11144250" cy="3225736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1333500" y="2867025"/>
                <a:ext cx="2286000" cy="3225736"/>
                <a:chOff x="1333500" y="2867025"/>
                <a:chExt cx="2286000" cy="3225736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333500" y="4953000"/>
                  <a:ext cx="22860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0" h="76200">
                      <a:moveTo>
                        <a:pt x="38100" y="0"/>
                      </a:moveTo>
                      <a:lnTo>
                        <a:pt x="2247900" y="0"/>
                      </a:lnTo>
                      <a:cubicBezTo>
                        <a:pt x="2268942" y="0"/>
                        <a:pt x="2286000" y="17058"/>
                        <a:pt x="2286000" y="38100"/>
                      </a:cubicBezTo>
                      <a:lnTo>
                        <a:pt x="2286000" y="38100"/>
                      </a:lnTo>
                      <a:cubicBezTo>
                        <a:pt x="2286000" y="59142"/>
                        <a:pt x="2268942" y="76200"/>
                        <a:pt x="2247900" y="76200"/>
                      </a:cubicBezTo>
                      <a:lnTo>
                        <a:pt x="38100" y="76200"/>
                      </a:lnTo>
                      <a:cubicBezTo>
                        <a:pt x="17058" y="76200"/>
                        <a:pt x="0" y="59142"/>
                        <a:pt x="0" y="38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333500" y="3429000"/>
                  <a:ext cx="2286000" cy="160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0" h="1600200">
                      <a:moveTo>
                        <a:pt x="38100" y="0"/>
                      </a:moveTo>
                      <a:lnTo>
                        <a:pt x="2247900" y="0"/>
                      </a:lnTo>
                      <a:cubicBezTo>
                        <a:pt x="2268942" y="0"/>
                        <a:pt x="2286000" y="17058"/>
                        <a:pt x="2286000" y="38100"/>
                      </a:cubicBezTo>
                      <a:lnTo>
                        <a:pt x="2286000" y="1562100"/>
                      </a:lnTo>
                      <a:cubicBezTo>
                        <a:pt x="2286000" y="1583142"/>
                        <a:pt x="2268942" y="1600200"/>
                        <a:pt x="2247900" y="1600200"/>
                      </a:cubicBezTo>
                      <a:lnTo>
                        <a:pt x="38100" y="1600200"/>
                      </a:lnTo>
                      <a:cubicBezTo>
                        <a:pt x="17058" y="1600200"/>
                        <a:pt x="0" y="1583142"/>
                        <a:pt x="0" y="1562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16200000" scaled="1"/>
                </a:gradFill>
                <a:ln>
                  <a:noFill/>
                </a:ln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2214829" y="2867025"/>
                  <a:ext cx="523342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95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2044827" y="5362575"/>
                  <a:ext cx="86334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数据整合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623060" y="5696902"/>
                  <a:ext cx="170688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集成度、清洗质量、实时性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905762" y="5887402"/>
                  <a:ext cx="11414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均达到生产级标准</a:t>
                  </a:r>
                </a:p>
              </p:txBody>
            </p:sp>
          </p:grpSp>
          <p:grpSp>
            <p:nvGrpSpPr>
              <p:cNvPr id="23" name="Group 23"/>
              <p:cNvGrpSpPr/>
              <p:nvPr/>
            </p:nvGrpSpPr>
            <p:grpSpPr>
              <a:xfrm>
                <a:off x="4286250" y="3057525"/>
                <a:ext cx="2286000" cy="3035236"/>
                <a:chOff x="4286250" y="3057525"/>
                <a:chExt cx="2286000" cy="3035236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4286250" y="4953000"/>
                  <a:ext cx="22860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0" h="76200">
                      <a:moveTo>
                        <a:pt x="38100" y="0"/>
                      </a:moveTo>
                      <a:lnTo>
                        <a:pt x="2247900" y="0"/>
                      </a:lnTo>
                      <a:cubicBezTo>
                        <a:pt x="2268942" y="0"/>
                        <a:pt x="2286000" y="17058"/>
                        <a:pt x="2286000" y="38100"/>
                      </a:cubicBezTo>
                      <a:lnTo>
                        <a:pt x="2286000" y="38100"/>
                      </a:lnTo>
                      <a:cubicBezTo>
                        <a:pt x="2286000" y="59142"/>
                        <a:pt x="2268942" y="76200"/>
                        <a:pt x="2247900" y="76200"/>
                      </a:cubicBezTo>
                      <a:lnTo>
                        <a:pt x="38100" y="76200"/>
                      </a:lnTo>
                      <a:cubicBezTo>
                        <a:pt x="17058" y="76200"/>
                        <a:pt x="0" y="59142"/>
                        <a:pt x="0" y="38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4286250" y="3619500"/>
                  <a:ext cx="2286000" cy="140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0" h="1409700">
                      <a:moveTo>
                        <a:pt x="38100" y="0"/>
                      </a:moveTo>
                      <a:lnTo>
                        <a:pt x="2247900" y="0"/>
                      </a:lnTo>
                      <a:cubicBezTo>
                        <a:pt x="2268942" y="0"/>
                        <a:pt x="2286000" y="17058"/>
                        <a:pt x="2286000" y="38100"/>
                      </a:cubicBezTo>
                      <a:lnTo>
                        <a:pt x="2286000" y="1371600"/>
                      </a:lnTo>
                      <a:cubicBezTo>
                        <a:pt x="2286000" y="1392642"/>
                        <a:pt x="2268942" y="1409700"/>
                        <a:pt x="2247900" y="1409700"/>
                      </a:cubicBezTo>
                      <a:lnTo>
                        <a:pt x="38100" y="1409700"/>
                      </a:lnTo>
                      <a:cubicBezTo>
                        <a:pt x="17058" y="1409700"/>
                        <a:pt x="0" y="1392642"/>
                        <a:pt x="0" y="13716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299E1"/>
                    </a:gs>
                    <a:gs pos="100000">
                      <a:srgbClr val="2B6CB0"/>
                    </a:gs>
                  </a:gsLst>
                  <a:lin ang="16200000" scaled="1"/>
                </a:gradFill>
                <a:ln>
                  <a:noFill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5167579" y="3057525"/>
                  <a:ext cx="523342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88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5102390" y="5362575"/>
                  <a:ext cx="65372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AI分析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4858512" y="5696902"/>
                  <a:ext cx="11414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意图预测准确率高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4646486" y="5887402"/>
                  <a:ext cx="156552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细分能力强，持续迭代中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7239000" y="3152775"/>
                <a:ext cx="2286000" cy="2939986"/>
                <a:chOff x="7239000" y="3152775"/>
                <a:chExt cx="2286000" cy="2939986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7239000" y="4953000"/>
                  <a:ext cx="22860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0" h="76200">
                      <a:moveTo>
                        <a:pt x="38100" y="0"/>
                      </a:moveTo>
                      <a:lnTo>
                        <a:pt x="2247900" y="0"/>
                      </a:lnTo>
                      <a:cubicBezTo>
                        <a:pt x="2268942" y="0"/>
                        <a:pt x="2286000" y="17058"/>
                        <a:pt x="2286000" y="38100"/>
                      </a:cubicBezTo>
                      <a:lnTo>
                        <a:pt x="2286000" y="38100"/>
                      </a:lnTo>
                      <a:cubicBezTo>
                        <a:pt x="2286000" y="59142"/>
                        <a:pt x="2268942" y="76200"/>
                        <a:pt x="2247900" y="76200"/>
                      </a:cubicBezTo>
                      <a:lnTo>
                        <a:pt x="38100" y="76200"/>
                      </a:lnTo>
                      <a:cubicBezTo>
                        <a:pt x="17058" y="76200"/>
                        <a:pt x="0" y="59142"/>
                        <a:pt x="0" y="38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7239000" y="3714750"/>
                  <a:ext cx="2286000" cy="131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0" h="1314450">
                      <a:moveTo>
                        <a:pt x="38100" y="0"/>
                      </a:moveTo>
                      <a:lnTo>
                        <a:pt x="2247900" y="0"/>
                      </a:lnTo>
                      <a:cubicBezTo>
                        <a:pt x="2268942" y="0"/>
                        <a:pt x="2286000" y="17058"/>
                        <a:pt x="2286000" y="38100"/>
                      </a:cubicBezTo>
                      <a:lnTo>
                        <a:pt x="2286000" y="1276350"/>
                      </a:lnTo>
                      <a:cubicBezTo>
                        <a:pt x="2286000" y="1297392"/>
                        <a:pt x="2268942" y="1314450"/>
                        <a:pt x="2247900" y="1314450"/>
                      </a:cubicBezTo>
                      <a:lnTo>
                        <a:pt x="38100" y="1314450"/>
                      </a:lnTo>
                      <a:cubicBezTo>
                        <a:pt x="17058" y="1314450"/>
                        <a:pt x="0" y="1297392"/>
                        <a:pt x="0" y="127635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accent2"/>
                    </a:gs>
                  </a:gsLst>
                  <a:lin ang="16200000" scaled="1"/>
                </a:gra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8120329" y="3152775"/>
                  <a:ext cx="523342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85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7844314" y="5362575"/>
                  <a:ext cx="1075372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自动化执行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7457884" y="5696902"/>
                  <a:ext cx="184823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覆盖主流渠道，规则引擎灵活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8023288" y="5887402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扩展性良好</a:t>
                  </a:r>
                </a:p>
              </p:txBody>
            </p:sp>
          </p:grpSp>
          <p:grpSp>
            <p:nvGrpSpPr>
              <p:cNvPr id="37" name="Group 37"/>
              <p:cNvGrpSpPr/>
              <p:nvPr/>
            </p:nvGrpSpPr>
            <p:grpSpPr>
              <a:xfrm>
                <a:off x="10191750" y="2962275"/>
                <a:ext cx="2286000" cy="3130486"/>
                <a:chOff x="10191750" y="2962275"/>
                <a:chExt cx="2286000" cy="3130486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10191750" y="4953000"/>
                  <a:ext cx="22860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0" h="76200">
                      <a:moveTo>
                        <a:pt x="38100" y="0"/>
                      </a:moveTo>
                      <a:lnTo>
                        <a:pt x="2247900" y="0"/>
                      </a:lnTo>
                      <a:cubicBezTo>
                        <a:pt x="2268942" y="0"/>
                        <a:pt x="2286000" y="17058"/>
                        <a:pt x="2286000" y="38100"/>
                      </a:cubicBezTo>
                      <a:lnTo>
                        <a:pt x="2286000" y="38100"/>
                      </a:lnTo>
                      <a:cubicBezTo>
                        <a:pt x="2286000" y="59142"/>
                        <a:pt x="2268942" y="76200"/>
                        <a:pt x="2247900" y="76200"/>
                      </a:cubicBezTo>
                      <a:lnTo>
                        <a:pt x="38100" y="76200"/>
                      </a:lnTo>
                      <a:cubicBezTo>
                        <a:pt x="17058" y="76200"/>
                        <a:pt x="0" y="59142"/>
                        <a:pt x="0" y="38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0191750" y="3524250"/>
                  <a:ext cx="2286000" cy="150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0" h="1504950">
                      <a:moveTo>
                        <a:pt x="38100" y="0"/>
                      </a:moveTo>
                      <a:lnTo>
                        <a:pt x="2247900" y="0"/>
                      </a:lnTo>
                      <a:cubicBezTo>
                        <a:pt x="2268942" y="0"/>
                        <a:pt x="2286000" y="17058"/>
                        <a:pt x="2286000" y="38100"/>
                      </a:cubicBezTo>
                      <a:lnTo>
                        <a:pt x="2286000" y="1466850"/>
                      </a:lnTo>
                      <a:cubicBezTo>
                        <a:pt x="2286000" y="1487892"/>
                        <a:pt x="2268942" y="1504950"/>
                        <a:pt x="2247900" y="1504950"/>
                      </a:cubicBezTo>
                      <a:lnTo>
                        <a:pt x="38100" y="1504950"/>
                      </a:lnTo>
                      <a:cubicBezTo>
                        <a:pt x="17058" y="1504950"/>
                        <a:pt x="0" y="1487892"/>
                        <a:pt x="0" y="146685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0CDF4"/>
                    </a:gs>
                    <a:gs pos="100000">
                      <a:srgbClr val="4299E1"/>
                    </a:gs>
                  </a:gsLst>
                  <a:lin ang="16200000" scaled="1"/>
                </a:gradFill>
                <a:ln>
                  <a:noFill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11073079" y="2962275"/>
                  <a:ext cx="523342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92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10903077" y="5362575"/>
                  <a:ext cx="86334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效果度量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10622661" y="5696902"/>
                  <a:ext cx="14241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多归因模型、实时报表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0905363" y="5887402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异常预警完备</a:t>
                  </a:r>
                </a:p>
              </p:txBody>
            </p:sp>
          </p:grpSp>
        </p:grpSp>
      </p:grpSp>
      <p:grpSp>
        <p:nvGrpSpPr>
          <p:cNvPr id="42" name="Group 42"/>
          <p:cNvGrpSpPr/>
          <p:nvPr/>
        </p:nvGrpSpPr>
        <p:grpSpPr>
          <a:xfrm>
            <a:off x="571500" y="4953000"/>
            <a:ext cx="11049000" cy="571500"/>
            <a:chOff x="571500" y="4953000"/>
            <a:chExt cx="11049000" cy="571500"/>
          </a:xfrm>
        </p:grpSpPr>
        <p:sp>
          <p:nvSpPr>
            <p:cNvPr id="40" name="Freeform 40"/>
            <p:cNvSpPr/>
            <p:nvPr/>
          </p:nvSpPr>
          <p:spPr>
            <a:xfrm>
              <a:off x="571500" y="4953000"/>
              <a:ext cx="11049000" cy="571500"/>
            </a:xfrm>
            <a:custGeom>
              <a:avLst/>
              <a:gdLst/>
              <a:ahLst/>
              <a:cxnLst/>
              <a:rect l="l" t="t" r="r" b="b"/>
              <a:pathLst>
                <a:path w="11049000" h="57150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495300"/>
                  </a:lnTo>
                  <a:cubicBezTo>
                    <a:pt x="11049000" y="537384"/>
                    <a:pt x="11014884" y="571500"/>
                    <a:pt x="109728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5904" y="5185410"/>
              <a:ext cx="85209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基于当前平台版本与行业需求匹配度，数据整合与效果度量已高度成熟，AI分析与自动化执行仍有快速提升空间。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477000"/>
              <a:ext cx="121920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</p:grpSp>
      <p:sp>
        <p:nvSpPr>
          <p:cNvPr id="5" name="Rectangle 5"/>
          <p:cNvSpPr/>
          <p:nvPr/>
        </p:nvSpPr>
        <p:spPr>
          <a:xfrm>
            <a:off x="571500" y="476250"/>
            <a:ext cx="76200" cy="381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grpSp>
        <p:nvGrpSpPr>
          <p:cNvPr id="51" name="Group 51"/>
          <p:cNvGrpSpPr/>
          <p:nvPr/>
        </p:nvGrpSpPr>
        <p:grpSpPr>
          <a:xfrm>
            <a:off x="748284" y="572452"/>
            <a:ext cx="10491216" cy="4475798"/>
            <a:chOff x="748284" y="572452"/>
            <a:chExt cx="10491216" cy="4475798"/>
          </a:xfrm>
        </p:grpSpPr>
        <p:sp>
          <p:nvSpPr>
            <p:cNvPr id="6" name="TextBox 6"/>
            <p:cNvSpPr txBox="1"/>
            <p:nvPr/>
          </p:nvSpPr>
          <p:spPr>
            <a:xfrm>
              <a:off x="756666" y="572452"/>
              <a:ext cx="664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8284" y="803910"/>
              <a:ext cx="62979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下一步：4个阶段实现智能营销落地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380" y="126682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建议以最小可行闭环启动，快速验证价值后规模化推广，控制风险并加速回报。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143000" y="2667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676400" y="2438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52258" y="2594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343400" y="2438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19258" y="2594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10400" y="2438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86258" y="2594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9677400" y="24384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53258" y="2594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762000" y="3143250"/>
              <a:ext cx="2476500" cy="1905000"/>
            </a:xfrm>
            <a:custGeom>
              <a:avLst/>
              <a:gdLst/>
              <a:ahLst/>
              <a:cxnLst/>
              <a:rect l="l" t="t" r="r" b="b"/>
              <a:pathLst>
                <a:path w="2476500" h="1905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790700"/>
                  </a:lnTo>
                  <a:cubicBezTo>
                    <a:pt x="2476500" y="1853826"/>
                    <a:pt x="2425326" y="1905000"/>
                    <a:pt x="23622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7166" y="3363278"/>
              <a:ext cx="575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PHASE 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552825"/>
              <a:ext cx="9163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 1–4 周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52500" y="39052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6404" y="40614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基础数据源接入与清洗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42900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搭建统一客户数据底座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404" y="45186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完成技术环境准备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3429000" y="3143250"/>
              <a:ext cx="2476500" cy="1905000"/>
            </a:xfrm>
            <a:custGeom>
              <a:avLst/>
              <a:gdLst/>
              <a:ahLst/>
              <a:cxnLst/>
              <a:rect l="l" t="t" r="r" b="b"/>
              <a:pathLst>
                <a:path w="2476500" h="1905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790700"/>
                  </a:lnTo>
                  <a:cubicBezTo>
                    <a:pt x="2476500" y="1853826"/>
                    <a:pt x="2425326" y="1905000"/>
                    <a:pt x="23622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14166" y="3363278"/>
              <a:ext cx="575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PHASE 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1880" y="3552825"/>
              <a:ext cx="9163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 5–8 周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3619500" y="39052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13404" y="4061460"/>
              <a:ext cx="1693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AI模型训练与场景配置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13404" y="42900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上线首个自动化营销工作流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13404" y="45186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进行试点验证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096000" y="3143250"/>
              <a:ext cx="2476500" cy="1905000"/>
            </a:xfrm>
            <a:custGeom>
              <a:avLst/>
              <a:gdLst/>
              <a:ahLst/>
              <a:cxnLst/>
              <a:rect l="l" t="t" r="r" b="b"/>
              <a:pathLst>
                <a:path w="2476500" h="1905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790700"/>
                  </a:lnTo>
                  <a:cubicBezTo>
                    <a:pt x="2476500" y="1853826"/>
                    <a:pt x="2425326" y="1905000"/>
                    <a:pt x="23622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1166" y="3363278"/>
              <a:ext cx="575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PHASE 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78880" y="3552825"/>
              <a:ext cx="10329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 9–12 周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286500" y="39052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404" y="4061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全渠道铺开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80404" y="42900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启动效果度量闭环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80404" y="45186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根据数据反馈优化规则与模型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763000" y="3143250"/>
              <a:ext cx="2476500" cy="1905000"/>
            </a:xfrm>
            <a:custGeom>
              <a:avLst/>
              <a:gdLst/>
              <a:ahLst/>
              <a:cxnLst/>
              <a:rect l="l" t="t" r="r" b="b"/>
              <a:pathLst>
                <a:path w="2476500" h="1905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790700"/>
                  </a:lnTo>
                  <a:cubicBezTo>
                    <a:pt x="2476500" y="1853826"/>
                    <a:pt x="2425326" y="1905000"/>
                    <a:pt x="23622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948166" y="3363278"/>
              <a:ext cx="575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PHASE 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45880" y="355282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 13 周起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8953500" y="39052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947404" y="4061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全面运营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47404" y="4290060"/>
              <a:ext cx="11814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持续迭代AI引擎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47404" y="45186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扩展新业务线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47404" y="47472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进入常态化增长飞轮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1905000" y="28956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custDash>
                <a:ds d="200000" sp="100000"/>
              </a:custDash>
            </a:ln>
          </p:spPr>
        </p:sp>
        <p:sp>
          <p:nvSpPr>
            <p:cNvPr id="48" name="Line 48"/>
            <p:cNvSpPr/>
            <p:nvPr/>
          </p:nvSpPr>
          <p:spPr>
            <a:xfrm>
              <a:off x="4572000" y="28956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custDash>
                <a:ds d="200000" sp="100000"/>
              </a:custDash>
            </a:ln>
          </p:spPr>
        </p:sp>
        <p:sp>
          <p:nvSpPr>
            <p:cNvPr id="49" name="Line 49"/>
            <p:cNvSpPr/>
            <p:nvPr/>
          </p:nvSpPr>
          <p:spPr>
            <a:xfrm>
              <a:off x="7239000" y="28956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custDash>
                <a:ds d="200000" sp="100000"/>
              </a:custDash>
            </a:ln>
          </p:spPr>
        </p:sp>
        <p:sp>
          <p:nvSpPr>
            <p:cNvPr id="50" name="Line 50"/>
            <p:cNvSpPr/>
            <p:nvPr/>
          </p:nvSpPr>
          <p:spPr>
            <a:xfrm>
              <a:off x="9906000" y="28956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200000" sp="100000"/>
              </a:custDash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0358114" y="2553652"/>
            <a:ext cx="696220" cy="205359"/>
            <a:chOff x="10358114" y="2553652"/>
            <a:chExt cx="696220" cy="205359"/>
          </a:xfrm>
        </p:grpSpPr>
        <p:sp>
          <p:nvSpPr>
            <p:cNvPr id="52" name="TextBox 52"/>
            <p:cNvSpPr txBox="1"/>
            <p:nvPr/>
          </p:nvSpPr>
          <p:spPr>
            <a:xfrm>
              <a:off x="10358114" y="2553652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时间推进 →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6738" y="6635591"/>
            <a:ext cx="11058524" cy="161925"/>
            <a:chOff x="566738" y="6635591"/>
            <a:chExt cx="11058524" cy="161925"/>
          </a:xfrm>
        </p:grpSpPr>
        <p:sp>
          <p:nvSpPr>
            <p:cNvPr id="54" name="TextBox 54"/>
            <p:cNvSpPr txBox="1"/>
            <p:nvPr/>
          </p:nvSpPr>
          <p:spPr>
            <a:xfrm>
              <a:off x="566738" y="6635591"/>
              <a:ext cx="7312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营销工作台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365849" y="663559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2026-07-10T23:16:21Z</dcterms:created>
  <dcterms:modified xsi:type="dcterms:W3CDTF">2026-07-10T23:16:21Z</dcterms:modified>
  <cp:category/>
  <cp:contentStatus/>
</cp:coreProperties>
</file>