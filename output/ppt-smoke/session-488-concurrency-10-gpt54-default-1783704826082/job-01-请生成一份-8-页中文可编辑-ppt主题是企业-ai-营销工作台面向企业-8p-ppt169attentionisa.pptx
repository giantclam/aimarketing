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企业AI营销工作台：从数据碎片到增长闭环</a:t>
            </a:r>
          </a:p>
          <a:p>
            <a:endParaRPr lang="en-US" dirty="0"/>
          </a:p>
          <a:p>
            <a:r>
              <a:rPr lang="zh-CN" dirty="0"/>
              <a:t>整合数据、AI分析与自动化执行，将营销投入转化为可预见的营收增长，减少60%的无效支出。</a:t>
            </a:r>
          </a:p>
          <a:p>
            <a:endParaRPr lang="en-US" dirty="0"/>
          </a:p>
          <a:p>
            <a:r>
              <a:rPr lang="zh-CN" dirty="0"/>
              <a:t>• 企业AI营销工作台：从数据碎片到增长闭环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ExecutiveBriefing议程</a:t>
            </a:r>
          </a:p>
          <a:p>
            <a:endParaRPr lang="en-US" dirty="0"/>
          </a:p>
          <a:p>
            <a:r>
              <a:rPr lang="zh-CN" dirty="0"/>
              <a:t>本次简报围绕决策信号、架构选择、实证成效、关键指标与下一步行动，帮助管理层在15分钟内形成判断。</a:t>
            </a:r>
          </a:p>
          <a:p>
            <a:endParaRPr lang="en-US" dirty="0"/>
          </a:p>
          <a:p>
            <a:r>
              <a:rPr lang="zh-CN" dirty="0"/>
              <a:t>• 数据整合与AI洞察揭示的营销机会与风险</a:t>
            </a:r>
          </a:p>
          <a:p>
            <a:r>
              <a:rPr lang="zh-CN" dirty="0"/>
              <a:t>• 成本、速度与准确率的直接量化对比</a:t>
            </a:r>
          </a:p>
          <a:p>
            <a:r>
              <a:rPr lang="zh-CN" dirty="0"/>
              <a:t>• ROI提升210%、获客成本下降45%的实战数据</a:t>
            </a:r>
          </a:p>
          <a:p>
            <a:r>
              <a:rPr lang="zh-CN" dirty="0"/>
              <a:t>• 实时延迟、预测准确率、响应速度与ROI变化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83%的营销预算仍在盲投</a:t>
            </a:r>
          </a:p>
          <a:p>
            <a:endParaRPr lang="en-US" dirty="0"/>
          </a:p>
          <a:p>
            <a:r>
              <a:rPr lang="zh-CN" dirty="0"/>
              <a:t>大多数企业的营销数据散落在CRM、广告平台与网站分析工具中，高管无法实时判断每一分钱的有效性——这正是AI营销工作台要解决的核心问题。</a:t>
            </a:r>
          </a:p>
          <a:p>
            <a:endParaRPr lang="en-US" dirty="0"/>
          </a:p>
          <a:p>
            <a:r>
              <a:rPr lang="zh-CN" dirty="0"/>
              <a:t>• 83%的营销预算仍在盲投</a:t>
            </a:r>
          </a:p>
          <a:p>
            <a:r>
              <a:rPr lang="zh-CN" dirty="0"/>
              <a:t>• 当前事实</a:t>
            </a:r>
          </a:p>
          <a:p>
            <a:r>
              <a:rPr lang="zh-CN" dirty="0"/>
              <a:t>• 变化趋势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两种营销技术栈的真实差异</a:t>
            </a:r>
          </a:p>
          <a:p>
            <a:endParaRPr lang="en-US" dirty="0"/>
          </a:p>
          <a:p>
            <a:r>
              <a:rPr lang="zh-CN" dirty="0"/>
              <a:t>左侧是大多数企业当前面临的状态，右侧是部署AI工作台后的实际表现——差距直接反映在报表上的营收增速。</a:t>
            </a:r>
          </a:p>
          <a:p>
            <a:endParaRPr lang="en-US" dirty="0"/>
          </a:p>
          <a:p>
            <a:r>
              <a:rPr lang="zh-CN" dirty="0"/>
              <a:t>• 跨平台导出需3–7天，报表静态无下钻，管理层看到的是历史快照</a:t>
            </a:r>
          </a:p>
          <a:p>
            <a:r>
              <a:rPr lang="zh-CN" dirty="0"/>
              <a:t>• 30分钟内全渠道接入并清洗，实时看板支持任意维度下钻</a:t>
            </a:r>
          </a:p>
          <a:p>
            <a:r>
              <a:rPr lang="zh-CN" dirty="0"/>
              <a:t>• 依赖分析师进行事后归因，结果滞后1–2周，无法预测趋势或发出异常预警</a:t>
            </a:r>
          </a:p>
          <a:p>
            <a:r>
              <a:rPr lang="zh-CN" dirty="0"/>
              <a:t>• 内置预训练模型，自动识别投放异常并预测ROI，偏差&lt;5%，预警实时推送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真实客户，可量化的增长</a:t>
            </a:r>
          </a:p>
          <a:p>
            <a:endParaRPr lang="en-US" dirty="0"/>
          </a:p>
          <a:p>
            <a:r>
              <a:rPr lang="zh-CN" dirty="0"/>
              <a:t>以下三家企业在部署工作台后，均在一个季度内实现了核心指标的跨越式提升，且未增加额外人力。</a:t>
            </a:r>
          </a:p>
          <a:p>
            <a:endParaRPr lang="en-US" dirty="0"/>
          </a:p>
          <a:p>
            <a:r>
              <a:rPr lang="zh-CN" dirty="0"/>
              <a:t>• 通过实时优化投放策略，某头部美妆品牌双11GMV较上年增长210%，投放ROI从2.1跃升至4.5</a:t>
            </a:r>
          </a:p>
          <a:p>
            <a:r>
              <a:rPr lang="zh-CN" dirty="0"/>
              <a:t>• AI预测模型筛选高意向用户，优质线索转化率提升68%，单客获取成本降低45%，营销效率翻倍</a:t>
            </a:r>
          </a:p>
          <a:p>
            <a:r>
              <a:rPr lang="zh-CN" dirty="0"/>
              <a:t>• AI分析区域消费趋势并自动化调整促销策略，三个月内滞销品库存下降30%，现金流大幅改善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管理层必须盯住的4个实时指标</a:t>
            </a:r>
          </a:p>
          <a:p>
            <a:endParaRPr lang="en-US" dirty="0"/>
          </a:p>
          <a:p>
            <a:r>
              <a:rPr lang="zh-CN" dirty="0"/>
              <a:t>这四个数字直接反映系统成熟度与业务健康度，建议纳入月度经营会例行审视。</a:t>
            </a:r>
          </a:p>
          <a:p>
            <a:endParaRPr lang="en-US" dirty="0"/>
          </a:p>
          <a:p>
            <a:r>
              <a:rPr lang="zh-CN" dirty="0"/>
              <a:t>• 数据延迟</a:t>
            </a:r>
          </a:p>
          <a:p>
            <a:r>
              <a:rPr lang="zh-CN" dirty="0"/>
              <a:t>• 预测准确率</a:t>
            </a:r>
          </a:p>
          <a:p>
            <a:r>
              <a:rPr lang="zh-CN" dirty="0"/>
              <a:t>• 策略响应</a:t>
            </a:r>
          </a:p>
          <a:p>
            <a:r>
              <a:rPr lang="zh-CN" dirty="0"/>
              <a:t>• 平均ROI提升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部署前后ROI增长曲线</a:t>
            </a:r>
          </a:p>
          <a:p>
            <a:endParaRPr lang="en-US" dirty="0"/>
          </a:p>
          <a:p>
            <a:r>
              <a:rPr lang="zh-CN" dirty="0"/>
              <a:t>实际数据表明，工作台上线越早，复利效应越明显；每延迟一个季度，等效营收损失约12%。</a:t>
            </a:r>
          </a:p>
          <a:p>
            <a:endParaRPr lang="en-US" dirty="0"/>
          </a:p>
          <a:p>
            <a:r>
              <a:rPr lang="zh-CN" dirty="0"/>
              <a:t>• 人工操作，数据延迟3天</a:t>
            </a:r>
          </a:p>
          <a:p>
            <a:r>
              <a:rPr lang="zh-CN" dirty="0"/>
              <a:t>• 实时整合，自动调优</a:t>
            </a:r>
          </a:p>
          <a:p>
            <a:r>
              <a:rPr lang="zh-CN" dirty="0"/>
              <a:t>• AI预测+自动化闭环</a:t>
            </a:r>
          </a:p>
          <a:p>
            <a:r>
              <a:rPr lang="zh-CN" dirty="0"/>
              <a:t>• 主轴关系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90天启动计划与关键风险</a:t>
            </a:r>
          </a:p>
          <a:p>
            <a:endParaRPr lang="en-US" dirty="0"/>
          </a:p>
          <a:p>
            <a:r>
              <a:rPr lang="zh-CN" dirty="0"/>
              <a:t>建议立即立项IT与增长团队联合项目组，以下节点和风险应预先纳入公司风险管理流程。</a:t>
            </a:r>
          </a:p>
          <a:p>
            <a:endParaRPr lang="en-US" dirty="0"/>
          </a:p>
          <a:p>
            <a:r>
              <a:rPr lang="zh-CN" dirty="0"/>
              <a:t>• 完成全渠道数据源接入与基础看板上线。风险：历史数据质量问题可能导致初期模型偏差，必须安排专项数据治理</a:t>
            </a:r>
          </a:p>
          <a:p>
            <a:r>
              <a:rPr lang="zh-CN" dirty="0"/>
              <a:t>• AI推荐与异常检测模型上线，自动化执行模块进入小流量试跑。风险：业务团队流程阻力，需由VP级增长委员会推动落地</a:t>
            </a:r>
          </a:p>
          <a:p>
            <a:r>
              <a:rPr lang="zh-CN" dirty="0"/>
              <a:t>• 全自动闭环优化全面运行，ROI目标提升150%以上。风险：第三方广告平台API稳定性依赖外部，建议建立手动回退预案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2192000" cy="838200"/>
            <a:chOff x="0" y="0"/>
            <a:chExt cx="12192000" cy="8382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571500"/>
              <a:ext cx="7620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3583" y="672941"/>
              <a:ext cx="557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2278380"/>
            <a:ext cx="5433060" cy="2709481"/>
            <a:chOff x="914400" y="2278380"/>
            <a:chExt cx="5433060" cy="2709481"/>
          </a:xfrm>
        </p:grpSpPr>
        <p:grpSp>
          <p:nvGrpSpPr>
            <p:cNvPr id="11" name="Group 11"/>
            <p:cNvGrpSpPr/>
            <p:nvPr/>
          </p:nvGrpSpPr>
          <p:grpSpPr>
            <a:xfrm>
              <a:off x="934212" y="2278380"/>
              <a:ext cx="5413248" cy="1237488"/>
              <a:chOff x="934212" y="2278380"/>
              <a:chExt cx="5413248" cy="1237488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4212" y="2278380"/>
                <a:ext cx="5161697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企业AI营销工作台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4212" y="2811780"/>
                <a:ext cx="5413248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从数据碎片到增长闭环</a:t>
                </a:r>
              </a:p>
            </p:txBody>
          </p:sp>
        </p:grpSp>
        <p:sp>
          <p:nvSpPr>
            <p:cNvPr id="12" name="Rectangle 12"/>
            <p:cNvSpPr/>
            <p:nvPr/>
          </p:nvSpPr>
          <p:spPr>
            <a:xfrm>
              <a:off x="952500" y="3524250"/>
              <a:ext cx="2667000" cy="28575"/>
            </a:xfrm>
            <a:prstGeom prst="rect">
              <a:avLst/>
            </a:prstGeom>
            <a:gradFill>
              <a:gsLst>
                <a:gs pos="0">
                  <a:schemeClr val="accent2">
                    <a:alpha val="0"/>
                  </a:schemeClr>
                </a:gs>
                <a:gs pos="20000">
                  <a:schemeClr val="accent2"/>
                </a:gs>
                <a:gs pos="8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44880" y="3838575"/>
              <a:ext cx="4890516" cy="560070"/>
              <a:chOff x="944880" y="3838575"/>
              <a:chExt cx="4890516" cy="56007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44880" y="3838575"/>
                <a:ext cx="48905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整合数据、AI分析与自动化执行，将营销投入转化为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4880" y="4105275"/>
                <a:ext cx="382162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可预见的营收增长，减少60%的无效支出。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14400" y="4782502"/>
              <a:ext cx="2285238" cy="205359"/>
              <a:chOff x="914400" y="4782502"/>
              <a:chExt cx="2285238" cy="205359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914400" y="48196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99566" y="4782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现状概览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2438400" y="48196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623566" y="47825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核心风险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0" y="1143000"/>
            <a:ext cx="12192000" cy="5715000"/>
            <a:chOff x="0" y="1143000"/>
            <a:chExt cx="12192000" cy="5715000"/>
          </a:xfrm>
        </p:grpSpPr>
        <p:grpSp>
          <p:nvGrpSpPr>
            <p:cNvPr id="32" name="Group 32"/>
            <p:cNvGrpSpPr/>
            <p:nvPr/>
          </p:nvGrpSpPr>
          <p:grpSpPr>
            <a:xfrm>
              <a:off x="7143750" y="1143000"/>
              <a:ext cx="4476750" cy="4572000"/>
              <a:chOff x="7143750" y="1143000"/>
              <a:chExt cx="4476750" cy="4572000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76200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5725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5250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104775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1430000" y="1143000"/>
                <a:ext cx="9525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72000">
                    <a:moveTo>
                      <a:pt x="0" y="0"/>
                    </a:moveTo>
                    <a:lnTo>
                      <a:pt x="0" y="4572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7143750" y="17145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7143750" y="26670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143750" y="36195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7143750" y="45720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7143750" y="55245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8096250" y="1905000"/>
              <a:ext cx="3333750" cy="2095500"/>
              <a:chOff x="8096250" y="1905000"/>
              <a:chExt cx="3333750" cy="20955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096250" y="1905000"/>
                <a:ext cx="952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571500">
                    <a:moveTo>
                      <a:pt x="76200" y="0"/>
                    </a:moveTo>
                    <a:lnTo>
                      <a:pt x="876300" y="0"/>
                    </a:lnTo>
                    <a:cubicBezTo>
                      <a:pt x="918384" y="0"/>
                      <a:pt x="952500" y="34116"/>
                      <a:pt x="952500" y="76200"/>
                    </a:cubicBezTo>
                    <a:lnTo>
                      <a:pt x="952500" y="495300"/>
                    </a:lnTo>
                    <a:cubicBezTo>
                      <a:pt x="952500" y="537384"/>
                      <a:pt x="918384" y="571500"/>
                      <a:pt x="876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334500" y="2667000"/>
                <a:ext cx="952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571500">
                    <a:moveTo>
                      <a:pt x="76200" y="0"/>
                    </a:moveTo>
                    <a:lnTo>
                      <a:pt x="876300" y="0"/>
                    </a:lnTo>
                    <a:cubicBezTo>
                      <a:pt x="918384" y="0"/>
                      <a:pt x="952500" y="34116"/>
                      <a:pt x="952500" y="76200"/>
                    </a:cubicBezTo>
                    <a:lnTo>
                      <a:pt x="952500" y="495300"/>
                    </a:lnTo>
                    <a:cubicBezTo>
                      <a:pt x="952500" y="537384"/>
                      <a:pt x="918384" y="571500"/>
                      <a:pt x="876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477500" y="3429000"/>
                <a:ext cx="952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571500">
                    <a:moveTo>
                      <a:pt x="76200" y="0"/>
                    </a:moveTo>
                    <a:lnTo>
                      <a:pt x="876300" y="0"/>
                    </a:lnTo>
                    <a:cubicBezTo>
                      <a:pt x="918384" y="0"/>
                      <a:pt x="952500" y="34116"/>
                      <a:pt x="952500" y="76200"/>
                    </a:cubicBezTo>
                    <a:lnTo>
                      <a:pt x="952500" y="495300"/>
                    </a:lnTo>
                    <a:cubicBezTo>
                      <a:pt x="952500" y="537384"/>
                      <a:pt x="918384" y="571500"/>
                      <a:pt x="876300" y="571500"/>
                    </a:cubicBezTo>
                    <a:lnTo>
                      <a:pt x="76200" y="571500"/>
                    </a:lnTo>
                    <a:cubicBezTo>
                      <a:pt x="34116" y="571500"/>
                      <a:pt x="0" y="537384"/>
                      <a:pt x="0" y="495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9048750" y="2190750"/>
                <a:ext cx="285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762000">
                    <a:moveTo>
                      <a:pt x="0" y="0"/>
                    </a:moveTo>
                    <a:lnTo>
                      <a:pt x="285750" y="76200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10287000" y="2952750"/>
                <a:ext cx="190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62000">
                    <a:moveTo>
                      <a:pt x="0" y="0"/>
                    </a:moveTo>
                    <a:lnTo>
                      <a:pt x="190500" y="762000"/>
                    </a:lnTo>
                  </a:path>
                </a:pathLst>
              </a:cu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8096250" y="200025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9525000" y="276225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 w="9525">
                <a:solidFill>
                  <a:schemeClr val="accent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0668000" y="3524250"/>
                <a:ext cx="381000" cy="3810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 w="9525">
                <a:solidFill>
                  <a:schemeClr val="accent2"/>
                </a:solidFill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0" y="6096000"/>
              <a:ext cx="12192000" cy="762000"/>
              <a:chOff x="0" y="6096000"/>
              <a:chExt cx="12192000" cy="762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0" y="6096000"/>
                <a:ext cx="12192000" cy="762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47738" y="6387941"/>
                <a:ext cx="93070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rgbClr val="FFFFFF">
                        <a:alphaMod val="70000"/>
                      </a:srgbClr>
                    </a:solidFill>
                    <a:latin typeface="+mn-lt"/>
                    <a:ea typeface="+mn-ea"/>
                    <a:cs typeface="+mn-cs"/>
                  </a:rPr>
                  <a:t>企业AI营销工作台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862681" y="6387941"/>
                <a:ext cx="38158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FFFFFF">
                        <a:alphaMod val="70000"/>
                      </a:srgbClr>
                    </a:solidFill>
                    <a:latin typeface="+mn-lt"/>
                    <a:ea typeface="+mn-ea"/>
                    <a:cs typeface="+mn-cs"/>
                  </a:rPr>
                  <a:t>01 / 08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1371600"/>
            <a:ext cx="12192000" cy="4124325"/>
            <a:chOff x="0" y="1371600"/>
            <a:chExt cx="12192000" cy="4124325"/>
          </a:xfrm>
        </p:grpSpPr>
        <p:sp>
          <p:nvSpPr>
            <p:cNvPr id="2" name="Line 2"/>
            <p:cNvSpPr/>
            <p:nvPr/>
          </p:nvSpPr>
          <p:spPr>
            <a:xfrm>
              <a:off x="0" y="1371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2057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2743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4114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4800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476250"/>
            <a:ext cx="4657695" cy="950976"/>
            <a:chOff x="557784" y="476250"/>
            <a:chExt cx="4657695" cy="950976"/>
          </a:xfrm>
        </p:grpSpPr>
        <p:sp>
          <p:nvSpPr>
            <p:cNvPr id="10" name="Rectangle 10"/>
            <p:cNvSpPr/>
            <p:nvPr/>
          </p:nvSpPr>
          <p:spPr>
            <a:xfrm>
              <a:off x="571500" y="476250"/>
              <a:ext cx="1905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6166" y="6962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899160"/>
              <a:ext cx="46576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Executive Briefing 议程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4642" y="1473518"/>
            <a:ext cx="5829300" cy="511683"/>
            <a:chOff x="564642" y="1473518"/>
            <a:chExt cx="5829300" cy="511683"/>
          </a:xfrm>
        </p:grpSpPr>
        <p:sp>
          <p:nvSpPr>
            <p:cNvPr id="14" name="TextBox 14"/>
            <p:cNvSpPr txBox="1"/>
            <p:nvPr/>
          </p:nvSpPr>
          <p:spPr>
            <a:xfrm>
              <a:off x="564642" y="147351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本次简报围绕决策信号、架构选择、实证成效、关键指标与下一步行动，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172116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帮助管理层在15分钟内形成判断。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" y="2171700"/>
            <a:ext cx="5045126" cy="3848100"/>
            <a:chOff x="647700" y="2171700"/>
            <a:chExt cx="5045126" cy="3848100"/>
          </a:xfrm>
        </p:grpSpPr>
        <p:grpSp>
          <p:nvGrpSpPr>
            <p:cNvPr id="21" name="Group 21"/>
            <p:cNvGrpSpPr/>
            <p:nvPr/>
          </p:nvGrpSpPr>
          <p:grpSpPr>
            <a:xfrm>
              <a:off x="647700" y="2171700"/>
              <a:ext cx="4597070" cy="781050"/>
              <a:chOff x="647700" y="2171700"/>
              <a:chExt cx="4597070" cy="781050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47700" y="21717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39498" y="229266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0630" y="2171700"/>
                <a:ext cx="40141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数据整合与AI洞察揭示的营销机会与风险</a:t>
                </a: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857250" y="2619375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647700" y="3028950"/>
              <a:ext cx="3990594" cy="781050"/>
              <a:chOff x="647700" y="3028950"/>
              <a:chExt cx="3990594" cy="781050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47700" y="30289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9498" y="314991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30630" y="3028950"/>
                <a:ext cx="34076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成本、速度与准确率的直接量化对比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57250" y="3476625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647700" y="3886200"/>
              <a:ext cx="5045126" cy="781050"/>
              <a:chOff x="647700" y="3886200"/>
              <a:chExt cx="5045126" cy="78105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47700" y="388620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39498" y="400716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0630" y="3886200"/>
                <a:ext cx="446219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ROI提升210%、获客成本下降45%的实战数据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857250" y="4333875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647700" y="4743450"/>
              <a:ext cx="4989119" cy="781050"/>
              <a:chOff x="647700" y="4743450"/>
              <a:chExt cx="4989119" cy="7810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47700" y="4743450"/>
                <a:ext cx="419100" cy="419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39498" y="486441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30630" y="4743450"/>
                <a:ext cx="440618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实时延迟、预测准确率、响应速度与ROI变化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857250" y="5191125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647700" y="5600700"/>
              <a:ext cx="4838700" cy="419100"/>
              <a:chOff x="647700" y="5600700"/>
              <a:chExt cx="4838700" cy="4191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47700" y="5600700"/>
                <a:ext cx="419100" cy="419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39498" y="5721668"/>
                <a:ext cx="2355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05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30630" y="5600700"/>
                <a:ext cx="42557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自动化执行闭环、主要风险与下一步决策要点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1201400" y="2095500"/>
            <a:ext cx="114300" cy="3810000"/>
            <a:chOff x="11201400" y="2095500"/>
            <a:chExt cx="114300" cy="3810000"/>
          </a:xfrm>
        </p:grpSpPr>
        <p:sp>
          <p:nvSpPr>
            <p:cNvPr id="42" name="Rectangle 42"/>
            <p:cNvSpPr/>
            <p:nvPr/>
          </p:nvSpPr>
          <p:spPr>
            <a:xfrm>
              <a:off x="11239500" y="2095500"/>
              <a:ext cx="38100" cy="381000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1239500" y="2095500"/>
              <a:ext cx="381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220450" y="2343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220450" y="32004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220450" y="40576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220450" y="49149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201400" y="5753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66738" y="6477000"/>
            <a:ext cx="11053762" cy="263366"/>
            <a:chOff x="566738" y="6477000"/>
            <a:chExt cx="11053762" cy="263366"/>
          </a:xfrm>
        </p:grpSpPr>
        <p:sp>
          <p:nvSpPr>
            <p:cNvPr id="50" name="Line 50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6738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/ 8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43147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2192000" cy="581025"/>
            <a:chOff x="0" y="0"/>
            <a:chExt cx="12192000" cy="58102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57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738" y="321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857250"/>
            <a:ext cx="11049000" cy="5048250"/>
            <a:chOff x="571500" y="857250"/>
            <a:chExt cx="11049000" cy="5048250"/>
          </a:xfrm>
        </p:grpSpPr>
        <p:grpSp>
          <p:nvGrpSpPr>
            <p:cNvPr id="21" name="Group 21"/>
            <p:cNvGrpSpPr/>
            <p:nvPr/>
          </p:nvGrpSpPr>
          <p:grpSpPr>
            <a:xfrm>
              <a:off x="571500" y="857250"/>
              <a:ext cx="5524500" cy="3238500"/>
              <a:chOff x="571500" y="857250"/>
              <a:chExt cx="5524500" cy="3238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71500" y="857250"/>
                <a:ext cx="5524500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3238500">
                    <a:moveTo>
                      <a:pt x="114300" y="0"/>
                    </a:moveTo>
                    <a:lnTo>
                      <a:pt x="5410200" y="0"/>
                    </a:lnTo>
                    <a:cubicBezTo>
                      <a:pt x="5473326" y="0"/>
                      <a:pt x="5524500" y="51174"/>
                      <a:pt x="5524500" y="114300"/>
                    </a:cubicBezTo>
                    <a:lnTo>
                      <a:pt x="5524500" y="3124200"/>
                    </a:lnTo>
                    <a:cubicBezTo>
                      <a:pt x="5524500" y="3187326"/>
                      <a:pt x="5473326" y="3238500"/>
                      <a:pt x="5410200" y="3238500"/>
                    </a:cubicBezTo>
                    <a:lnTo>
                      <a:pt x="114300" y="3238500"/>
                    </a:lnTo>
                    <a:cubicBezTo>
                      <a:pt x="51174" y="3238500"/>
                      <a:pt x="0" y="3187326"/>
                      <a:pt x="0" y="3124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71500" y="857250"/>
                <a:ext cx="5524500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3238500">
                    <a:moveTo>
                      <a:pt x="114300" y="0"/>
                    </a:moveTo>
                    <a:lnTo>
                      <a:pt x="5410200" y="0"/>
                    </a:lnTo>
                    <a:cubicBezTo>
                      <a:pt x="5473326" y="0"/>
                      <a:pt x="5524500" y="51174"/>
                      <a:pt x="5524500" y="114300"/>
                    </a:cubicBezTo>
                    <a:lnTo>
                      <a:pt x="5524500" y="3124200"/>
                    </a:lnTo>
                    <a:cubicBezTo>
                      <a:pt x="5524500" y="3187326"/>
                      <a:pt x="5473326" y="3238500"/>
                      <a:pt x="5410200" y="3238500"/>
                    </a:cubicBezTo>
                    <a:lnTo>
                      <a:pt x="114300" y="3238500"/>
                    </a:lnTo>
                    <a:cubicBezTo>
                      <a:pt x="51174" y="3238500"/>
                      <a:pt x="0" y="3187326"/>
                      <a:pt x="0" y="3124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45058" y="1169670"/>
                <a:ext cx="68750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83%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50392" y="1616392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营销预算仍在盲投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857250" y="200025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51154" y="2204085"/>
                <a:ext cx="2717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大多数企业的营销数据散落在CRM、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1154" y="2432685"/>
                <a:ext cx="24353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广告平台与网站分析工具中，高管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1154" y="2661285"/>
                <a:ext cx="24515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无法实时判断每一分钱的有效性——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51154" y="2889885"/>
                <a:ext cx="220553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这正是AI营销工作台要解决的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51154" y="3118485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核心问题。</a:t>
                </a: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800100" y="3705225"/>
                <a:ext cx="114300" cy="1143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04697" y="37047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核心痛点已定位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286500" y="857250"/>
              <a:ext cx="4953000" cy="3238500"/>
              <a:chOff x="6286500" y="857250"/>
              <a:chExt cx="4953000" cy="32385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286500" y="857250"/>
                <a:ext cx="2381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0" h="952500">
                    <a:moveTo>
                      <a:pt x="76200" y="0"/>
                    </a:moveTo>
                    <a:lnTo>
                      <a:pt x="2305050" y="0"/>
                    </a:lnTo>
                    <a:cubicBezTo>
                      <a:pt x="2347134" y="0"/>
                      <a:pt x="2381250" y="34116"/>
                      <a:pt x="2381250" y="76200"/>
                    </a:cubicBezTo>
                    <a:lnTo>
                      <a:pt x="2381250" y="876300"/>
                    </a:lnTo>
                    <a:cubicBezTo>
                      <a:pt x="2381250" y="918384"/>
                      <a:pt x="2347134" y="952500"/>
                      <a:pt x="23050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286500" y="857250"/>
                <a:ext cx="2381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0" h="952500">
                    <a:moveTo>
                      <a:pt x="76200" y="0"/>
                    </a:moveTo>
                    <a:lnTo>
                      <a:pt x="2305050" y="0"/>
                    </a:lnTo>
                    <a:cubicBezTo>
                      <a:pt x="2347134" y="0"/>
                      <a:pt x="2381250" y="34116"/>
                      <a:pt x="2381250" y="76200"/>
                    </a:cubicBezTo>
                    <a:lnTo>
                      <a:pt x="2381250" y="876300"/>
                    </a:lnTo>
                    <a:cubicBezTo>
                      <a:pt x="2381250" y="918384"/>
                      <a:pt x="2347134" y="952500"/>
                      <a:pt x="23050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463284" y="946785"/>
                <a:ext cx="77344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83%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71666" y="14106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营销预算仍在盲投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858250" y="857250"/>
                <a:ext cx="2381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0" h="952500">
                    <a:moveTo>
                      <a:pt x="76200" y="0"/>
                    </a:moveTo>
                    <a:lnTo>
                      <a:pt x="2305050" y="0"/>
                    </a:lnTo>
                    <a:cubicBezTo>
                      <a:pt x="2347134" y="0"/>
                      <a:pt x="2381250" y="34116"/>
                      <a:pt x="2381250" y="76200"/>
                    </a:cubicBezTo>
                    <a:lnTo>
                      <a:pt x="2381250" y="876300"/>
                    </a:lnTo>
                    <a:cubicBezTo>
                      <a:pt x="2381250" y="918384"/>
                      <a:pt x="2347134" y="952500"/>
                      <a:pt x="23050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858250" y="857250"/>
                <a:ext cx="2381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381250" h="952500">
                    <a:moveTo>
                      <a:pt x="76200" y="0"/>
                    </a:moveTo>
                    <a:lnTo>
                      <a:pt x="2305050" y="0"/>
                    </a:lnTo>
                    <a:cubicBezTo>
                      <a:pt x="2347134" y="0"/>
                      <a:pt x="2381250" y="34116"/>
                      <a:pt x="2381250" y="76200"/>
                    </a:cubicBezTo>
                    <a:lnTo>
                      <a:pt x="2381250" y="876300"/>
                    </a:lnTo>
                    <a:cubicBezTo>
                      <a:pt x="2381250" y="918384"/>
                      <a:pt x="2347134" y="952500"/>
                      <a:pt x="230505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9029700" y="1219200"/>
                <a:ext cx="228600" cy="2286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9086850" y="12763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376791" y="11249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当前事实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377172" y="137112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数据孤岛未打通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6286500" y="2000250"/>
                <a:ext cx="4953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00">
                    <a:moveTo>
                      <a:pt x="76200" y="0"/>
                    </a:moveTo>
                    <a:lnTo>
                      <a:pt x="4876800" y="0"/>
                    </a:lnTo>
                    <a:cubicBezTo>
                      <a:pt x="4918884" y="0"/>
                      <a:pt x="4953000" y="34116"/>
                      <a:pt x="4953000" y="76200"/>
                    </a:cubicBezTo>
                    <a:lnTo>
                      <a:pt x="4953000" y="876300"/>
                    </a:lnTo>
                    <a:cubicBezTo>
                      <a:pt x="4953000" y="918384"/>
                      <a:pt x="4918884" y="952500"/>
                      <a:pt x="4876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86500" y="2000250"/>
                <a:ext cx="4953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00">
                    <a:moveTo>
                      <a:pt x="76200" y="0"/>
                    </a:moveTo>
                    <a:lnTo>
                      <a:pt x="4876800" y="0"/>
                    </a:lnTo>
                    <a:cubicBezTo>
                      <a:pt x="4918884" y="0"/>
                      <a:pt x="4953000" y="34116"/>
                      <a:pt x="4953000" y="76200"/>
                    </a:cubicBezTo>
                    <a:lnTo>
                      <a:pt x="4953000" y="876300"/>
                    </a:lnTo>
                    <a:cubicBezTo>
                      <a:pt x="4953000" y="918384"/>
                      <a:pt x="4918884" y="952500"/>
                      <a:pt x="4876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72250" y="2476500"/>
                <a:ext cx="571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85750">
                    <a:moveTo>
                      <a:pt x="0" y="0"/>
                    </a:moveTo>
                    <a:lnTo>
                      <a:pt x="285750" y="0"/>
                    </a:lnTo>
                    <a:lnTo>
                      <a:pt x="285750" y="285750"/>
                    </a:lnTo>
                    <a:lnTo>
                      <a:pt x="57150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328916" y="23631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变化趋势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29297" y="2609374"/>
                <a:ext cx="209029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高管对实时营销洞察的需求年增47%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6286500" y="3143250"/>
                <a:ext cx="4953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00">
                    <a:moveTo>
                      <a:pt x="76200" y="0"/>
                    </a:moveTo>
                    <a:lnTo>
                      <a:pt x="4876800" y="0"/>
                    </a:lnTo>
                    <a:cubicBezTo>
                      <a:pt x="4918884" y="0"/>
                      <a:pt x="4953000" y="34116"/>
                      <a:pt x="4953000" y="76200"/>
                    </a:cubicBezTo>
                    <a:lnTo>
                      <a:pt x="4953000" y="876300"/>
                    </a:lnTo>
                    <a:cubicBezTo>
                      <a:pt x="4953000" y="918384"/>
                      <a:pt x="4918884" y="952500"/>
                      <a:pt x="4876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286500" y="3143250"/>
                <a:ext cx="4953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952500">
                    <a:moveTo>
                      <a:pt x="76200" y="0"/>
                    </a:moveTo>
                    <a:lnTo>
                      <a:pt x="4876800" y="0"/>
                    </a:lnTo>
                    <a:cubicBezTo>
                      <a:pt x="4918884" y="0"/>
                      <a:pt x="4953000" y="34116"/>
                      <a:pt x="4953000" y="76200"/>
                    </a:cubicBezTo>
                    <a:lnTo>
                      <a:pt x="4953000" y="876300"/>
                    </a:lnTo>
                    <a:cubicBezTo>
                      <a:pt x="4953000" y="918384"/>
                      <a:pt x="4918884" y="952500"/>
                      <a:pt x="4876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noFill/>
              <a:ln w="9525">
                <a:solidFill>
                  <a:schemeClr val="accent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471666" y="3410902"/>
                <a:ext cx="15553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AI营销工作台价值主张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72047" y="3657124"/>
                <a:ext cx="266570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打通数据孤岛 → AI实时分析 → 精准预算分配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571500" y="4381500"/>
              <a:ext cx="11049000" cy="1524000"/>
              <a:chOff x="571500" y="4381500"/>
              <a:chExt cx="11049000" cy="15240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71500" y="4381500"/>
                <a:ext cx="11049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1524000">
                    <a:moveTo>
                      <a:pt x="76200" y="0"/>
                    </a:moveTo>
                    <a:lnTo>
                      <a:pt x="10972800" y="0"/>
                    </a:lnTo>
                    <a:cubicBezTo>
                      <a:pt x="11014884" y="0"/>
                      <a:pt x="11049000" y="34116"/>
                      <a:pt x="11049000" y="76200"/>
                    </a:cubicBezTo>
                    <a:lnTo>
                      <a:pt x="11049000" y="1447800"/>
                    </a:lnTo>
                    <a:cubicBezTo>
                      <a:pt x="11049000" y="1489884"/>
                      <a:pt x="11014884" y="1524000"/>
                      <a:pt x="10972800" y="1524000"/>
                    </a:cubicBezTo>
                    <a:lnTo>
                      <a:pt x="76200" y="1524000"/>
                    </a:lnTo>
                    <a:cubicBezTo>
                      <a:pt x="34116" y="1524000"/>
                      <a:pt x="0" y="1489884"/>
                      <a:pt x="0" y="1447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571500" y="4762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1104900" y="4914900"/>
                <a:ext cx="457200" cy="457200"/>
                <a:chOff x="1104900" y="4914900"/>
                <a:chExt cx="457200" cy="457200"/>
              </a:xfrm>
            </p:grpSpPr>
            <p:sp>
              <p:nvSpPr>
                <p:cNvPr id="44" name="Ellipse 44"/>
                <p:cNvSpPr/>
                <p:nvPr/>
              </p:nvSpPr>
              <p:spPr>
                <a:xfrm>
                  <a:off x="1104900" y="491490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183108" y="5087302"/>
                  <a:ext cx="30078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CRM</a:t>
                  </a:r>
                </a:p>
              </p:txBody>
            </p:sp>
          </p:grpSp>
          <p:sp>
            <p:nvSpPr>
              <p:cNvPr id="47" name="Freeform 47"/>
              <p:cNvSpPr/>
              <p:nvPr/>
            </p:nvSpPr>
            <p:spPr>
              <a:xfrm>
                <a:off x="1714500" y="51435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48" name="Polygon 48"/>
              <p:cNvSpPr/>
              <p:nvPr/>
            </p:nvSpPr>
            <p:spPr>
              <a:xfrm>
                <a:off x="2286000" y="510540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1" name="Group 51"/>
              <p:cNvGrpSpPr/>
              <p:nvPr/>
            </p:nvGrpSpPr>
            <p:grpSpPr>
              <a:xfrm>
                <a:off x="2533650" y="4914900"/>
                <a:ext cx="457200" cy="457200"/>
                <a:chOff x="2533650" y="4914900"/>
                <a:chExt cx="457200" cy="457200"/>
              </a:xfrm>
            </p:grpSpPr>
            <p:sp>
              <p:nvSpPr>
                <p:cNvPr id="49" name="Ellipse 49"/>
                <p:cNvSpPr/>
                <p:nvPr/>
              </p:nvSpPr>
              <p:spPr>
                <a:xfrm>
                  <a:off x="2533650" y="491490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2608497" y="50873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广告</a:t>
                  </a:r>
                </a:p>
              </p:txBody>
            </p:sp>
          </p:grpSp>
          <p:sp>
            <p:nvSpPr>
              <p:cNvPr id="52" name="Freeform 52"/>
              <p:cNvSpPr/>
              <p:nvPr/>
            </p:nvSpPr>
            <p:spPr>
              <a:xfrm>
                <a:off x="3143250" y="51435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53" name="Polygon 53"/>
              <p:cNvSpPr/>
              <p:nvPr/>
            </p:nvSpPr>
            <p:spPr>
              <a:xfrm>
                <a:off x="3714750" y="510540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3962400" y="4914900"/>
                <a:ext cx="457200" cy="457200"/>
                <a:chOff x="3962400" y="4914900"/>
                <a:chExt cx="457200" cy="457200"/>
              </a:xfrm>
            </p:grpSpPr>
            <p:sp>
              <p:nvSpPr>
                <p:cNvPr id="54" name="Ellipse 54"/>
                <p:cNvSpPr/>
                <p:nvPr/>
              </p:nvSpPr>
              <p:spPr>
                <a:xfrm>
                  <a:off x="3962400" y="491490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4037247" y="50873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网站</a:t>
                  </a:r>
                </a:p>
              </p:txBody>
            </p:sp>
          </p:grpSp>
          <p:sp>
            <p:nvSpPr>
              <p:cNvPr id="57" name="Freeform 57"/>
              <p:cNvSpPr/>
              <p:nvPr/>
            </p:nvSpPr>
            <p:spPr>
              <a:xfrm>
                <a:off x="4572000" y="51435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4726114" y="491156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数据孤岛</a:t>
                </a:r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5524500" y="4857750"/>
                <a:ext cx="1143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571500">
                    <a:moveTo>
                      <a:pt x="57150" y="0"/>
                    </a:moveTo>
                    <a:lnTo>
                      <a:pt x="1085850" y="0"/>
                    </a:lnTo>
                    <a:cubicBezTo>
                      <a:pt x="1117413" y="0"/>
                      <a:pt x="1143000" y="25587"/>
                      <a:pt x="1143000" y="57150"/>
                    </a:cubicBezTo>
                    <a:lnTo>
                      <a:pt x="1143000" y="514350"/>
                    </a:lnTo>
                    <a:cubicBezTo>
                      <a:pt x="1143000" y="545913"/>
                      <a:pt x="1117413" y="571500"/>
                      <a:pt x="1085850" y="571500"/>
                    </a:cubicBezTo>
                    <a:lnTo>
                      <a:pt x="57150" y="571500"/>
                    </a:lnTo>
                    <a:cubicBezTo>
                      <a:pt x="25587" y="571500"/>
                      <a:pt x="0" y="545913"/>
                      <a:pt x="0" y="5143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5788788" y="5077778"/>
                <a:ext cx="614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AI整合层</a:t>
                </a:r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6667500" y="5143500"/>
                <a:ext cx="76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9525">
                    <a:moveTo>
                      <a:pt x="0" y="0"/>
                    </a:moveTo>
                    <a:lnTo>
                      <a:pt x="76200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2F855A"/>
                </a:solidFill>
              </a:ln>
            </p:spPr>
          </p:sp>
          <p:sp>
            <p:nvSpPr>
              <p:cNvPr id="62" name="Polygon 62"/>
              <p:cNvSpPr/>
              <p:nvPr/>
            </p:nvSpPr>
            <p:spPr>
              <a:xfrm>
                <a:off x="7429500" y="510540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15250" y="4857750"/>
                <a:ext cx="1524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571500">
                    <a:moveTo>
                      <a:pt x="57150" y="0"/>
                    </a:moveTo>
                    <a:lnTo>
                      <a:pt x="1466850" y="0"/>
                    </a:lnTo>
                    <a:cubicBezTo>
                      <a:pt x="1498413" y="0"/>
                      <a:pt x="1524000" y="25587"/>
                      <a:pt x="1524000" y="57150"/>
                    </a:cubicBezTo>
                    <a:lnTo>
                      <a:pt x="1524000" y="514350"/>
                    </a:lnTo>
                    <a:cubicBezTo>
                      <a:pt x="1524000" y="545913"/>
                      <a:pt x="1498413" y="571500"/>
                      <a:pt x="1466850" y="571500"/>
                    </a:cubicBezTo>
                    <a:lnTo>
                      <a:pt x="57150" y="571500"/>
                    </a:lnTo>
                    <a:cubicBezTo>
                      <a:pt x="25587" y="571500"/>
                      <a:pt x="0" y="545913"/>
                      <a:pt x="0" y="5143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196663" y="4990624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实时洞察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162049" y="5189220"/>
                <a:ext cx="63040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AI分析引擎</a:t>
                </a:r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9239250" y="5143500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2F855A"/>
                </a:solidFill>
              </a:ln>
            </p:spPr>
          </p:sp>
          <p:sp>
            <p:nvSpPr>
              <p:cNvPr id="67" name="Polygon 67"/>
              <p:cNvSpPr/>
              <p:nvPr/>
            </p:nvSpPr>
            <p:spPr>
              <a:xfrm>
                <a:off x="9906000" y="510540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0"/>
                    </a:moveTo>
                    <a:lnTo>
                      <a:pt x="95250" y="381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0191750" y="4857750"/>
                <a:ext cx="1238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571500">
                    <a:moveTo>
                      <a:pt x="57150" y="0"/>
                    </a:moveTo>
                    <a:lnTo>
                      <a:pt x="1181100" y="0"/>
                    </a:lnTo>
                    <a:cubicBezTo>
                      <a:pt x="1212663" y="0"/>
                      <a:pt x="1238250" y="25587"/>
                      <a:pt x="1238250" y="57150"/>
                    </a:cubicBezTo>
                    <a:lnTo>
                      <a:pt x="1238250" y="514350"/>
                    </a:lnTo>
                    <a:cubicBezTo>
                      <a:pt x="1238250" y="545913"/>
                      <a:pt x="1212663" y="571500"/>
                      <a:pt x="1181100" y="571500"/>
                    </a:cubicBezTo>
                    <a:lnTo>
                      <a:pt x="57150" y="571500"/>
                    </a:lnTo>
                    <a:cubicBezTo>
                      <a:pt x="25587" y="571500"/>
                      <a:pt x="0" y="545913"/>
                      <a:pt x="0" y="5143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0530288" y="4990624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精准投放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563796" y="518922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AE6B4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958829" y="5530691"/>
                <a:ext cx="227434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数据整合 → AI分析 → 自动化执行 → 效果度量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571500" y="6141720"/>
            <a:ext cx="3480244" cy="176212"/>
            <a:chOff x="571500" y="6141720"/>
            <a:chExt cx="3480244" cy="176212"/>
          </a:xfrm>
        </p:grpSpPr>
        <p:sp>
          <p:nvSpPr>
            <p:cNvPr id="74" name="Line 74"/>
            <p:cNvSpPr/>
            <p:nvPr/>
          </p:nvSpPr>
          <p:spPr>
            <a:xfrm>
              <a:off x="571500" y="6191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043112" y="6141720"/>
              <a:ext cx="20086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洞察来源：企业营销数字化调研 2024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77" name="Line 77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66738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11049000" cy="590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476250"/>
            <a:ext cx="11049000" cy="5915025"/>
            <a:chOff x="571500" y="476250"/>
            <a:chExt cx="11049000" cy="5915025"/>
          </a:xfrm>
        </p:grpSpPr>
        <p:sp>
          <p:nvSpPr>
            <p:cNvPr id="5" name="Line 5"/>
            <p:cNvSpPr/>
            <p:nvPr/>
          </p:nvSpPr>
          <p:spPr>
            <a:xfrm>
              <a:off x="571500" y="476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48284" y="648652"/>
            <a:ext cx="5285537" cy="885254"/>
            <a:chOff x="748284" y="648652"/>
            <a:chExt cx="5285537" cy="885254"/>
          </a:xfrm>
        </p:grpSpPr>
        <p:sp>
          <p:nvSpPr>
            <p:cNvPr id="8" name="TextBox 8"/>
            <p:cNvSpPr txBox="1"/>
            <p:nvPr/>
          </p:nvSpPr>
          <p:spPr>
            <a:xfrm>
              <a:off x="756666" y="648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284" y="851535"/>
              <a:ext cx="4866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两种营销技术栈的真实差异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904" y="1299210"/>
              <a:ext cx="5277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左侧是大多数企业当前面临的状态，右侧是部署AI工作台后的实际表现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2000" y="-38100"/>
            <a:ext cx="10668000" cy="6134100"/>
            <a:chOff x="762000" y="-38100"/>
            <a:chExt cx="10668000" cy="6134100"/>
          </a:xfrm>
        </p:grpSpPr>
        <p:sp>
          <p:nvSpPr>
            <p:cNvPr id="12" name="Line 12"/>
            <p:cNvSpPr/>
            <p:nvPr/>
          </p:nvSpPr>
          <p:spPr>
            <a:xfrm>
              <a:off x="6096000" y="17145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62000" y="1714500"/>
              <a:ext cx="10668000" cy="476250"/>
              <a:chOff x="762000" y="1714500"/>
              <a:chExt cx="10668000" cy="4762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62000" y="1714500"/>
                <a:ext cx="4953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76250">
                    <a:moveTo>
                      <a:pt x="57150" y="0"/>
                    </a:moveTo>
                    <a:lnTo>
                      <a:pt x="4895850" y="0"/>
                    </a:lnTo>
                    <a:cubicBezTo>
                      <a:pt x="4927413" y="0"/>
                      <a:pt x="4953000" y="25587"/>
                      <a:pt x="4953000" y="57150"/>
                    </a:cubicBezTo>
                    <a:lnTo>
                      <a:pt x="4953000" y="419100"/>
                    </a:lnTo>
                    <a:cubicBezTo>
                      <a:pt x="4953000" y="450663"/>
                      <a:pt x="4927413" y="476250"/>
                      <a:pt x="4895850" y="476250"/>
                    </a:cubicBezTo>
                    <a:lnTo>
                      <a:pt x="57150" y="476250"/>
                    </a:lnTo>
                    <a:cubicBezTo>
                      <a:pt x="25587" y="476250"/>
                      <a:pt x="0" y="450663"/>
                      <a:pt x="0" y="4191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C5303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849994" y="1873568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传统方案</a:t>
                </a:r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6477000" y="1714500"/>
                <a:ext cx="4953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76250">
                    <a:moveTo>
                      <a:pt x="57150" y="0"/>
                    </a:moveTo>
                    <a:lnTo>
                      <a:pt x="4895850" y="0"/>
                    </a:lnTo>
                    <a:cubicBezTo>
                      <a:pt x="4927413" y="0"/>
                      <a:pt x="4953000" y="25587"/>
                      <a:pt x="4953000" y="57150"/>
                    </a:cubicBezTo>
                    <a:lnTo>
                      <a:pt x="4953000" y="419100"/>
                    </a:lnTo>
                    <a:cubicBezTo>
                      <a:pt x="4953000" y="450663"/>
                      <a:pt x="4927413" y="476250"/>
                      <a:pt x="4895850" y="476250"/>
                    </a:cubicBezTo>
                    <a:lnTo>
                      <a:pt x="57150" y="476250"/>
                    </a:lnTo>
                    <a:cubicBezTo>
                      <a:pt x="25587" y="476250"/>
                      <a:pt x="0" y="450663"/>
                      <a:pt x="0" y="4191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2F855A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558513" y="1873568"/>
                <a:ext cx="7899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AI工作台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62000" y="-38100"/>
              <a:ext cx="10477500" cy="3266789"/>
              <a:chOff x="762000" y="-38100"/>
              <a:chExt cx="10477500" cy="326678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62000" y="2381250"/>
                <a:ext cx="1047750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0" h="809625">
                    <a:moveTo>
                      <a:pt x="76200" y="0"/>
                    </a:moveTo>
                    <a:lnTo>
                      <a:pt x="10401300" y="0"/>
                    </a:lnTo>
                    <a:cubicBezTo>
                      <a:pt x="10443384" y="0"/>
                      <a:pt x="10477500" y="34116"/>
                      <a:pt x="10477500" y="76200"/>
                    </a:cubicBezTo>
                    <a:lnTo>
                      <a:pt x="10477500" y="733425"/>
                    </a:lnTo>
                    <a:cubicBezTo>
                      <a:pt x="10477500" y="775509"/>
                      <a:pt x="10443384" y="809625"/>
                      <a:pt x="10401300" y="809625"/>
                    </a:cubicBezTo>
                    <a:lnTo>
                      <a:pt x="76200" y="809625"/>
                    </a:lnTo>
                    <a:cubicBezTo>
                      <a:pt x="34116" y="809625"/>
                      <a:pt x="0" y="775509"/>
                      <a:pt x="0" y="733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52500" y="2524125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38100" y="0"/>
                    </a:moveTo>
                    <a:lnTo>
                      <a:pt x="914400" y="0"/>
                    </a:lnTo>
                    <a:cubicBezTo>
                      <a:pt x="935442" y="0"/>
                      <a:pt x="952500" y="17058"/>
                      <a:pt x="952500" y="38100"/>
                    </a:cubicBezTo>
                    <a:lnTo>
                      <a:pt x="952500" y="228600"/>
                    </a:lnTo>
                    <a:cubicBezTo>
                      <a:pt x="952500" y="249642"/>
                      <a:pt x="935442" y="266700"/>
                      <a:pt x="9144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48163" y="25998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952500" y="2905125"/>
                <a:ext cx="1714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190500">
                    <a:moveTo>
                      <a:pt x="28575" y="0"/>
                    </a:moveTo>
                    <a:lnTo>
                      <a:pt x="1685925" y="0"/>
                    </a:lnTo>
                    <a:cubicBezTo>
                      <a:pt x="1701707" y="0"/>
                      <a:pt x="1714500" y="12793"/>
                      <a:pt x="1714500" y="28575"/>
                    </a:cubicBezTo>
                    <a:lnTo>
                      <a:pt x="1714500" y="161925"/>
                    </a:lnTo>
                    <a:cubicBezTo>
                      <a:pt x="1714500" y="177707"/>
                      <a:pt x="1701707" y="190500"/>
                      <a:pt x="1685925" y="190500"/>
                    </a:cubicBezTo>
                    <a:lnTo>
                      <a:pt x="28575" y="190500"/>
                    </a:lnTo>
                    <a:cubicBezTo>
                      <a:pt x="12793" y="190500"/>
                      <a:pt x="0" y="177707"/>
                      <a:pt x="0" y="1619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C5303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22975" y="2941320"/>
                <a:ext cx="117355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数据孤岛 / 手工报表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3048000" y="2476500"/>
                <a:ext cx="266700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619125">
                    <a:moveTo>
                      <a:pt x="57150" y="0"/>
                    </a:moveTo>
                    <a:lnTo>
                      <a:pt x="2609850" y="0"/>
                    </a:lnTo>
                    <a:cubicBezTo>
                      <a:pt x="2641413" y="0"/>
                      <a:pt x="2667000" y="25587"/>
                      <a:pt x="2667000" y="57150"/>
                    </a:cubicBezTo>
                    <a:lnTo>
                      <a:pt x="2667000" y="561975"/>
                    </a:lnTo>
                    <a:cubicBezTo>
                      <a:pt x="2667000" y="593538"/>
                      <a:pt x="2641413" y="619125"/>
                      <a:pt x="2609850" y="619125"/>
                    </a:cubicBezTo>
                    <a:lnTo>
                      <a:pt x="57150" y="619125"/>
                    </a:lnTo>
                    <a:cubicBezTo>
                      <a:pt x="25587" y="619125"/>
                      <a:pt x="0" y="593538"/>
                      <a:pt x="0" y="5619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248025" y="-38100"/>
                <a:ext cx="76200" cy="762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424047" y="2656999"/>
                <a:ext cx="114525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跨平台导出需3–7天</a:t>
                </a:r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3248025" y="-38100"/>
                <a:ext cx="76200" cy="762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24047" y="28474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报表静态无下钻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3248025" y="-38100"/>
                <a:ext cx="76200" cy="762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424047" y="30379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管理层看到历史快照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6477000" y="2476500"/>
                <a:ext cx="266700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619125">
                    <a:moveTo>
                      <a:pt x="57150" y="0"/>
                    </a:moveTo>
                    <a:lnTo>
                      <a:pt x="2609850" y="0"/>
                    </a:lnTo>
                    <a:cubicBezTo>
                      <a:pt x="2641413" y="0"/>
                      <a:pt x="2667000" y="25587"/>
                      <a:pt x="2667000" y="57150"/>
                    </a:cubicBezTo>
                    <a:lnTo>
                      <a:pt x="2667000" y="561975"/>
                    </a:lnTo>
                    <a:cubicBezTo>
                      <a:pt x="2667000" y="593538"/>
                      <a:pt x="2641413" y="619125"/>
                      <a:pt x="2609850" y="619125"/>
                    </a:cubicBezTo>
                    <a:lnTo>
                      <a:pt x="57150" y="619125"/>
                    </a:lnTo>
                    <a:cubicBezTo>
                      <a:pt x="25587" y="619125"/>
                      <a:pt x="0" y="593538"/>
                      <a:pt x="0" y="5619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677025" y="2676525"/>
                <a:ext cx="76200" cy="762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853047" y="2656999"/>
                <a:ext cx="12043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30分钟内全渠道接入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6677025" y="2867025"/>
                <a:ext cx="76200" cy="762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853047" y="284749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实时看板任意维度下钻</a:t>
                </a: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677025" y="3057525"/>
                <a:ext cx="76200" cy="762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853047" y="30379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数据湖自动清洗对齐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9525000" y="2524125"/>
                <a:ext cx="1524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66700">
                    <a:moveTo>
                      <a:pt x="28575" y="0"/>
                    </a:moveTo>
                    <a:lnTo>
                      <a:pt x="1495425" y="0"/>
                    </a:lnTo>
                    <a:cubicBezTo>
                      <a:pt x="1511207" y="0"/>
                      <a:pt x="1524000" y="12793"/>
                      <a:pt x="1524000" y="28575"/>
                    </a:cubicBezTo>
                    <a:lnTo>
                      <a:pt x="1524000" y="238125"/>
                    </a:lnTo>
                    <a:cubicBezTo>
                      <a:pt x="1524000" y="253907"/>
                      <a:pt x="1511207" y="266700"/>
                      <a:pt x="1495425" y="266700"/>
                    </a:cubicBezTo>
                    <a:lnTo>
                      <a:pt x="28575" y="266700"/>
                    </a:lnTo>
                    <a:cubicBezTo>
                      <a:pt x="12793" y="266700"/>
                      <a:pt x="0" y="253907"/>
                      <a:pt x="0" y="2381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2F85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636617" y="2607945"/>
                <a:ext cx="130076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实时数据湖 / 自动对齐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762000" y="3381375"/>
              <a:ext cx="10477500" cy="847439"/>
              <a:chOff x="762000" y="3381375"/>
              <a:chExt cx="10477500" cy="84743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2000" y="3381375"/>
                <a:ext cx="10477500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0" h="809625">
                    <a:moveTo>
                      <a:pt x="76200" y="0"/>
                    </a:moveTo>
                    <a:lnTo>
                      <a:pt x="10401300" y="0"/>
                    </a:lnTo>
                    <a:cubicBezTo>
                      <a:pt x="10443384" y="0"/>
                      <a:pt x="10477500" y="34116"/>
                      <a:pt x="10477500" y="76200"/>
                    </a:cubicBezTo>
                    <a:lnTo>
                      <a:pt x="10477500" y="733425"/>
                    </a:lnTo>
                    <a:cubicBezTo>
                      <a:pt x="10477500" y="775509"/>
                      <a:pt x="10443384" y="809625"/>
                      <a:pt x="10401300" y="809625"/>
                    </a:cubicBezTo>
                    <a:lnTo>
                      <a:pt x="76200" y="809625"/>
                    </a:lnTo>
                    <a:cubicBezTo>
                      <a:pt x="34116" y="809625"/>
                      <a:pt x="0" y="775509"/>
                      <a:pt x="0" y="733425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52500" y="352425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38100" y="0"/>
                    </a:moveTo>
                    <a:lnTo>
                      <a:pt x="914400" y="0"/>
                    </a:lnTo>
                    <a:cubicBezTo>
                      <a:pt x="935442" y="0"/>
                      <a:pt x="952500" y="17058"/>
                      <a:pt x="952500" y="38100"/>
                    </a:cubicBezTo>
                    <a:lnTo>
                      <a:pt x="952500" y="228600"/>
                    </a:lnTo>
                    <a:cubicBezTo>
                      <a:pt x="952500" y="249642"/>
                      <a:pt x="935442" y="266700"/>
                      <a:pt x="9144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148163" y="3599974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分析能力</a:t>
                </a: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952500" y="3905250"/>
                <a:ext cx="1714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190500">
                    <a:moveTo>
                      <a:pt x="28575" y="0"/>
                    </a:moveTo>
                    <a:lnTo>
                      <a:pt x="1685925" y="0"/>
                    </a:lnTo>
                    <a:cubicBezTo>
                      <a:pt x="1701707" y="0"/>
                      <a:pt x="1714500" y="12793"/>
                      <a:pt x="1714500" y="28575"/>
                    </a:cubicBezTo>
                    <a:lnTo>
                      <a:pt x="1714500" y="161925"/>
                    </a:lnTo>
                    <a:cubicBezTo>
                      <a:pt x="1714500" y="177707"/>
                      <a:pt x="1701707" y="190500"/>
                      <a:pt x="1685925" y="190500"/>
                    </a:cubicBezTo>
                    <a:lnTo>
                      <a:pt x="28575" y="190500"/>
                    </a:lnTo>
                    <a:cubicBezTo>
                      <a:pt x="12793" y="190500"/>
                      <a:pt x="0" y="177707"/>
                      <a:pt x="0" y="1619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C5303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67320" y="3941445"/>
                <a:ext cx="108485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事后BI / 人工归因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3048000" y="3476625"/>
                <a:ext cx="266700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619125">
                    <a:moveTo>
                      <a:pt x="57150" y="0"/>
                    </a:moveTo>
                    <a:lnTo>
                      <a:pt x="2609850" y="0"/>
                    </a:lnTo>
                    <a:cubicBezTo>
                      <a:pt x="2641413" y="0"/>
                      <a:pt x="2667000" y="25587"/>
                      <a:pt x="2667000" y="57150"/>
                    </a:cubicBezTo>
                    <a:lnTo>
                      <a:pt x="2667000" y="561975"/>
                    </a:lnTo>
                    <a:cubicBezTo>
                      <a:pt x="2667000" y="593538"/>
                      <a:pt x="2641413" y="619125"/>
                      <a:pt x="2609850" y="619125"/>
                    </a:cubicBezTo>
                    <a:lnTo>
                      <a:pt x="57150" y="619125"/>
                    </a:lnTo>
                    <a:cubicBezTo>
                      <a:pt x="25587" y="619125"/>
                      <a:pt x="0" y="593538"/>
                      <a:pt x="0" y="5619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3248025" y="3676650"/>
                <a:ext cx="76200" cy="762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424047" y="365712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依赖分析师事后归因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3248025" y="3867150"/>
                <a:ext cx="76200" cy="762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424047" y="3847624"/>
                <a:ext cx="88274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结果滞后1–2周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3248025" y="4057650"/>
                <a:ext cx="76200" cy="76200"/>
              </a:xfrm>
              <a:prstGeom prst="ellipse">
                <a:avLst/>
              </a:prstGeom>
              <a:solidFill>
                <a:srgbClr val="C53030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424047" y="403812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无法预测趋势或预警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477000" y="3476625"/>
                <a:ext cx="2667000" cy="6191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619125">
                    <a:moveTo>
                      <a:pt x="57150" y="0"/>
                    </a:moveTo>
                    <a:lnTo>
                      <a:pt x="2609850" y="0"/>
                    </a:lnTo>
                    <a:cubicBezTo>
                      <a:pt x="2641413" y="0"/>
                      <a:pt x="2667000" y="25587"/>
                      <a:pt x="2667000" y="57150"/>
                    </a:cubicBezTo>
                    <a:lnTo>
                      <a:pt x="2667000" y="561975"/>
                    </a:lnTo>
                    <a:cubicBezTo>
                      <a:pt x="2667000" y="593538"/>
                      <a:pt x="2641413" y="619125"/>
                      <a:pt x="2609850" y="619125"/>
                    </a:cubicBezTo>
                    <a:lnTo>
                      <a:pt x="57150" y="619125"/>
                    </a:lnTo>
                    <a:cubicBezTo>
                      <a:pt x="25587" y="619125"/>
                      <a:pt x="0" y="593538"/>
                      <a:pt x="0" y="5619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6677025" y="3676650"/>
                <a:ext cx="76200" cy="762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853047" y="365712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内置预训练模型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6677025" y="3867150"/>
                <a:ext cx="76200" cy="762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853047" y="38476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自动识别投放异常</a:t>
                </a:r>
              </a:p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6677025" y="4057650"/>
                <a:ext cx="76200" cy="7620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853047" y="4038124"/>
                <a:ext cx="10431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预测ROI偏差&lt;5%</a:t>
                </a:r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9525000" y="3524250"/>
                <a:ext cx="1524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66700">
                    <a:moveTo>
                      <a:pt x="28575" y="0"/>
                    </a:moveTo>
                    <a:lnTo>
                      <a:pt x="1495425" y="0"/>
                    </a:lnTo>
                    <a:cubicBezTo>
                      <a:pt x="1511207" y="0"/>
                      <a:pt x="1524000" y="12793"/>
                      <a:pt x="1524000" y="28575"/>
                    </a:cubicBezTo>
                    <a:lnTo>
                      <a:pt x="1524000" y="238125"/>
                    </a:lnTo>
                    <a:cubicBezTo>
                      <a:pt x="1524000" y="253907"/>
                      <a:pt x="1511207" y="266700"/>
                      <a:pt x="1495425" y="266700"/>
                    </a:cubicBezTo>
                    <a:lnTo>
                      <a:pt x="28575" y="266700"/>
                    </a:lnTo>
                    <a:cubicBezTo>
                      <a:pt x="12793" y="266700"/>
                      <a:pt x="0" y="253907"/>
                      <a:pt x="0" y="2381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2F85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636617" y="3608070"/>
                <a:ext cx="130076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预测性洞察 / 根因分析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762000" y="4381500"/>
              <a:ext cx="10477500" cy="1524000"/>
              <a:chOff x="762000" y="4381500"/>
              <a:chExt cx="10477500" cy="15240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62000" y="4381500"/>
                <a:ext cx="104775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0477500" h="1524000">
                    <a:moveTo>
                      <a:pt x="76200" y="0"/>
                    </a:moveTo>
                    <a:lnTo>
                      <a:pt x="10401300" y="0"/>
                    </a:lnTo>
                    <a:cubicBezTo>
                      <a:pt x="10443384" y="0"/>
                      <a:pt x="10477500" y="34116"/>
                      <a:pt x="10477500" y="76200"/>
                    </a:cubicBezTo>
                    <a:lnTo>
                      <a:pt x="10477500" y="1447800"/>
                    </a:lnTo>
                    <a:cubicBezTo>
                      <a:pt x="10477500" y="1489884"/>
                      <a:pt x="10443384" y="1524000"/>
                      <a:pt x="10401300" y="1524000"/>
                    </a:cubicBezTo>
                    <a:lnTo>
                      <a:pt x="76200" y="1524000"/>
                    </a:lnTo>
                    <a:cubicBezTo>
                      <a:pt x="34116" y="1524000"/>
                      <a:pt x="0" y="1489884"/>
                      <a:pt x="0" y="14478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52500" y="4524375"/>
                <a:ext cx="457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381000">
                    <a:moveTo>
                      <a:pt x="57150" y="0"/>
                    </a:moveTo>
                    <a:lnTo>
                      <a:pt x="4514850" y="0"/>
                    </a:lnTo>
                    <a:cubicBezTo>
                      <a:pt x="4546413" y="0"/>
                      <a:pt x="4572000" y="25587"/>
                      <a:pt x="4572000" y="57150"/>
                    </a:cubicBezTo>
                    <a:lnTo>
                      <a:pt x="4572000" y="323850"/>
                    </a:lnTo>
                    <a:cubicBezTo>
                      <a:pt x="4572000" y="355413"/>
                      <a:pt x="4546413" y="381000"/>
                      <a:pt x="4514850" y="381000"/>
                    </a:cubicBezTo>
                    <a:lnTo>
                      <a:pt x="57150" y="381000"/>
                    </a:lnTo>
                    <a:cubicBezTo>
                      <a:pt x="25587" y="381000"/>
                      <a:pt x="0" y="355413"/>
                      <a:pt x="0" y="323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2639492" y="4668202"/>
                <a:ext cx="1198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传统方案痛点总结</a:t>
                </a: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5905500" y="4524375"/>
                <a:ext cx="457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381000">
                    <a:moveTo>
                      <a:pt x="57150" y="0"/>
                    </a:moveTo>
                    <a:lnTo>
                      <a:pt x="4514850" y="0"/>
                    </a:lnTo>
                    <a:cubicBezTo>
                      <a:pt x="4546413" y="0"/>
                      <a:pt x="4572000" y="25587"/>
                      <a:pt x="4572000" y="57150"/>
                    </a:cubicBezTo>
                    <a:lnTo>
                      <a:pt x="4572000" y="323850"/>
                    </a:lnTo>
                    <a:cubicBezTo>
                      <a:pt x="4572000" y="355413"/>
                      <a:pt x="4546413" y="381000"/>
                      <a:pt x="4514850" y="381000"/>
                    </a:cubicBezTo>
                    <a:lnTo>
                      <a:pt x="57150" y="381000"/>
                    </a:lnTo>
                    <a:cubicBezTo>
                      <a:pt x="25587" y="381000"/>
                      <a:pt x="0" y="355413"/>
                      <a:pt x="0" y="323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7570649" y="4668202"/>
                <a:ext cx="124170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AI工作台优势总结</a:t>
                </a:r>
              </a:p>
            </p:txBody>
          </p:sp>
          <p:sp>
            <p:nvSpPr>
              <p:cNvPr id="67" name="Line 67"/>
              <p:cNvSpPr/>
              <p:nvPr/>
            </p:nvSpPr>
            <p:spPr>
              <a:xfrm>
                <a:off x="3238500" y="4524375"/>
                <a:ext cx="9525" cy="1190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90625">
                    <a:moveTo>
                      <a:pt x="0" y="0"/>
                    </a:moveTo>
                    <a:lnTo>
                      <a:pt x="0" y="1190625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  <p:grpSp>
            <p:nvGrpSpPr>
              <p:cNvPr id="74" name="Group 74"/>
              <p:cNvGrpSpPr/>
              <p:nvPr/>
            </p:nvGrpSpPr>
            <p:grpSpPr>
              <a:xfrm>
                <a:off x="1190625" y="5085874"/>
                <a:ext cx="2164271" cy="666940"/>
                <a:chOff x="1190625" y="5085874"/>
                <a:chExt cx="2164271" cy="666940"/>
              </a:xfrm>
            </p:grpSpPr>
            <p:sp>
              <p:nvSpPr>
                <p:cNvPr id="68" name="Ellipse 68"/>
                <p:cNvSpPr/>
                <p:nvPr/>
              </p:nvSpPr>
              <p:spPr>
                <a:xfrm>
                  <a:off x="1190625" y="5095875"/>
                  <a:ext cx="95250" cy="9525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1376172" y="5085874"/>
                  <a:ext cx="15849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数据导出周期长，时效性差</a:t>
                  </a:r>
                </a:p>
              </p:txBody>
            </p:sp>
            <p:sp>
              <p:nvSpPr>
                <p:cNvPr id="70" name="Ellipse 70"/>
                <p:cNvSpPr/>
                <p:nvPr/>
              </p:nvSpPr>
              <p:spPr>
                <a:xfrm>
                  <a:off x="1190625" y="5334000"/>
                  <a:ext cx="95250" cy="9525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376172" y="5323999"/>
                  <a:ext cx="171621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报表维度固定，无法灵活下钻</a:t>
                  </a:r>
                </a:p>
              </p:txBody>
            </p:sp>
            <p:sp>
              <p:nvSpPr>
                <p:cNvPr id="72" name="Ellipse 72"/>
                <p:cNvSpPr/>
                <p:nvPr/>
              </p:nvSpPr>
              <p:spPr>
                <a:xfrm>
                  <a:off x="1190625" y="5572125"/>
                  <a:ext cx="95250" cy="9525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1376172" y="5562124"/>
                  <a:ext cx="197872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事后分析滞后，错失最佳决策窗口</a:t>
                  </a:r>
                </a:p>
              </p:txBody>
            </p:sp>
          </p:grpSp>
          <p:grpSp>
            <p:nvGrpSpPr>
              <p:cNvPr id="81" name="Group 81"/>
              <p:cNvGrpSpPr/>
              <p:nvPr/>
            </p:nvGrpSpPr>
            <p:grpSpPr>
              <a:xfrm>
                <a:off x="6143625" y="5085874"/>
                <a:ext cx="2476805" cy="666940"/>
                <a:chOff x="6143625" y="5085874"/>
                <a:chExt cx="2476805" cy="666940"/>
              </a:xfrm>
            </p:grpSpPr>
            <p:sp>
              <p:nvSpPr>
                <p:cNvPr id="75" name="Ellipse 75"/>
                <p:cNvSpPr/>
                <p:nvPr/>
              </p:nvSpPr>
              <p:spPr>
                <a:xfrm>
                  <a:off x="6143625" y="5095875"/>
                  <a:ext cx="95250" cy="9525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6329172" y="5085874"/>
                  <a:ext cx="1598085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30分钟完成全渠道数据接入</a:t>
                  </a:r>
                </a:p>
              </p:txBody>
            </p:sp>
            <p:sp>
              <p:nvSpPr>
                <p:cNvPr id="77" name="Ellipse 77"/>
                <p:cNvSpPr/>
                <p:nvPr/>
              </p:nvSpPr>
              <p:spPr>
                <a:xfrm>
                  <a:off x="6143625" y="5334000"/>
                  <a:ext cx="95250" cy="9525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6329172" y="5323999"/>
                  <a:ext cx="15849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实时看板支持任意维度下钻</a:t>
                  </a:r>
                </a:p>
              </p:txBody>
            </p:sp>
            <p:sp>
              <p:nvSpPr>
                <p:cNvPr id="79" name="Ellipse 79"/>
                <p:cNvSpPr/>
                <p:nvPr/>
              </p:nvSpPr>
              <p:spPr>
                <a:xfrm>
                  <a:off x="6143625" y="5572125"/>
                  <a:ext cx="95250" cy="9525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6329172" y="5562124"/>
                  <a:ext cx="229125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异常预警实时推送，ROI预测偏差&lt;5%</a:t>
                  </a:r>
                </a:p>
              </p:txBody>
            </p:sp>
          </p:grpSp>
        </p:grpSp>
      </p:grpSp>
      <p:sp>
        <p:nvSpPr>
          <p:cNvPr id="84" name="TextBox 84"/>
          <p:cNvSpPr txBox="1"/>
          <p:nvPr/>
        </p:nvSpPr>
        <p:spPr>
          <a:xfrm>
            <a:off x="10313556" y="6578441"/>
            <a:ext cx="93070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企业AI营销工作台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10477500" y="476250"/>
            <a:ext cx="1143000" cy="285750"/>
            <a:chOff x="10477500" y="476250"/>
            <a:chExt cx="1143000" cy="285750"/>
          </a:xfrm>
        </p:grpSpPr>
        <p:sp>
          <p:nvSpPr>
            <p:cNvPr id="85" name="Freeform 85"/>
            <p:cNvSpPr/>
            <p:nvPr/>
          </p:nvSpPr>
          <p:spPr>
            <a:xfrm>
              <a:off x="10477500" y="476250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38100" y="0"/>
                  </a:moveTo>
                  <a:lnTo>
                    <a:pt x="1104900" y="0"/>
                  </a:lnTo>
                  <a:cubicBezTo>
                    <a:pt x="1125942" y="0"/>
                    <a:pt x="1143000" y="17058"/>
                    <a:pt x="1143000" y="38100"/>
                  </a:cubicBezTo>
                  <a:lnTo>
                    <a:pt x="1143000" y="247650"/>
                  </a:lnTo>
                  <a:cubicBezTo>
                    <a:pt x="1143000" y="268692"/>
                    <a:pt x="1125942" y="285750"/>
                    <a:pt x="1104900" y="285750"/>
                  </a:cubicBezTo>
                  <a:lnTo>
                    <a:pt x="38100" y="285750"/>
                  </a:lnTo>
                  <a:cubicBezTo>
                    <a:pt x="17058" y="285750"/>
                    <a:pt x="0" y="268692"/>
                    <a:pt x="0" y="2476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901120" y="569595"/>
              <a:ext cx="2957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571500"/>
              <a:ext cx="9525" cy="5715000"/>
            </a:xfrm>
            <a:custGeom>
              <a:avLst/>
              <a:gdLst/>
              <a:ahLst/>
              <a:cxnLst/>
              <a:rect l="l" t="t" r="r" b="b"/>
              <a:pathLst>
                <a:path w="9525" h="5715000">
                  <a:moveTo>
                    <a:pt x="0" y="0"/>
                  </a:moveTo>
                  <a:lnTo>
                    <a:pt x="0" y="57150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48284" y="381952"/>
            <a:ext cx="8017002" cy="1389698"/>
            <a:chOff x="748284" y="381952"/>
            <a:chExt cx="8017002" cy="1389698"/>
          </a:xfrm>
        </p:grpSpPr>
        <p:sp>
          <p:nvSpPr>
            <p:cNvPr id="8" name="TextBox 8"/>
            <p:cNvSpPr txBox="1"/>
            <p:nvPr/>
          </p:nvSpPr>
          <p:spPr>
            <a:xfrm>
              <a:off x="756666" y="381952"/>
              <a:ext cx="810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8284" y="803910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Georgia"/>
                  <a:ea typeface="SimSun"/>
                  <a:cs typeface="Georgia"/>
                </a:rPr>
                <a:t>真实客户，可量化的增长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1378268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以下三家企业在部署工作台后，均在一个季度内实现了核心指标的跨越式提升，且未增加额外人力。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1762125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762000" y="2095500"/>
            <a:ext cx="10668000" cy="4476750"/>
            <a:chOff x="762000" y="2095500"/>
            <a:chExt cx="10668000" cy="4476750"/>
          </a:xfrm>
        </p:grpSpPr>
        <p:grpSp>
          <p:nvGrpSpPr>
            <p:cNvPr id="26" name="Group 26"/>
            <p:cNvGrpSpPr/>
            <p:nvPr/>
          </p:nvGrpSpPr>
          <p:grpSpPr>
            <a:xfrm>
              <a:off x="762000" y="2095500"/>
              <a:ext cx="3333750" cy="3619500"/>
              <a:chOff x="762000" y="2095500"/>
              <a:chExt cx="3333750" cy="3619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62000" y="2095500"/>
                <a:ext cx="333375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619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505200"/>
                    </a:lnTo>
                    <a:cubicBezTo>
                      <a:pt x="3333750" y="3568326"/>
                      <a:pt x="3282576" y="3619500"/>
                      <a:pt x="321945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62000" y="2095500"/>
                <a:ext cx="333375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619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505200"/>
                    </a:lnTo>
                    <a:cubicBezTo>
                      <a:pt x="3333750" y="3568326"/>
                      <a:pt x="3282576" y="3619500"/>
                      <a:pt x="321945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62000" y="2095500"/>
                <a:ext cx="3333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57150">
                    <a:moveTo>
                      <a:pt x="28575" y="0"/>
                    </a:moveTo>
                    <a:lnTo>
                      <a:pt x="3305175" y="0"/>
                    </a:lnTo>
                    <a:cubicBezTo>
                      <a:pt x="3320957" y="0"/>
                      <a:pt x="3333750" y="12793"/>
                      <a:pt x="3333750" y="28575"/>
                    </a:cubicBezTo>
                    <a:lnTo>
                      <a:pt x="3333750" y="28575"/>
                    </a:lnTo>
                    <a:cubicBezTo>
                      <a:pt x="3333750" y="44357"/>
                      <a:pt x="3320957" y="57150"/>
                      <a:pt x="3305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009650" y="2438400"/>
                <a:ext cx="457200" cy="457200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62050" y="2590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152400" y="76200"/>
                    </a:lnTo>
                    <a:moveTo>
                      <a:pt x="76200" y="0"/>
                    </a:moveTo>
                    <a:lnTo>
                      <a:pt x="76200" y="152400"/>
                    </a:lnTo>
                  </a:path>
                </a:pathLst>
              </a:custGeom>
              <a:noFill/>
              <a:ln w="23812" cap="rnd">
                <a:solidFill>
                  <a:schemeClr val="accent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566291" y="25155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电商美妆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3450" y="2960370"/>
                <a:ext cx="1436035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210%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6404" y="3537585"/>
                <a:ext cx="7559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GMV 提升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952500" y="3905250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6785" y="4117181"/>
                <a:ext cx="19953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双11期间实时优化投放策略，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6785" y="4326731"/>
                <a:ext cx="17556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投放ROI从2.1跃升至4.5</a:t>
                </a:r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952500" y="504825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133350" y="0"/>
                    </a:moveTo>
                    <a:lnTo>
                      <a:pt x="819150" y="0"/>
                    </a:lnTo>
                    <a:cubicBezTo>
                      <a:pt x="892797" y="0"/>
                      <a:pt x="952500" y="59703"/>
                      <a:pt x="952500" y="133350"/>
                    </a:cubicBezTo>
                    <a:lnTo>
                      <a:pt x="952500" y="133350"/>
                    </a:lnTo>
                    <a:cubicBezTo>
                      <a:pt x="952500" y="206997"/>
                      <a:pt x="892797" y="266700"/>
                      <a:pt x="819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2F85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69556" y="5132070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季度成果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429125" y="2095500"/>
              <a:ext cx="3333750" cy="3619500"/>
              <a:chOff x="4429125" y="2095500"/>
              <a:chExt cx="3333750" cy="36195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429125" y="2095500"/>
                <a:ext cx="333375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619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505200"/>
                    </a:lnTo>
                    <a:cubicBezTo>
                      <a:pt x="3333750" y="3568326"/>
                      <a:pt x="3282576" y="3619500"/>
                      <a:pt x="321945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429125" y="2095500"/>
                <a:ext cx="333375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619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505200"/>
                    </a:lnTo>
                    <a:cubicBezTo>
                      <a:pt x="3333750" y="3568326"/>
                      <a:pt x="3282576" y="3619500"/>
                      <a:pt x="321945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429125" y="2095500"/>
                <a:ext cx="3333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57150">
                    <a:moveTo>
                      <a:pt x="28575" y="0"/>
                    </a:moveTo>
                    <a:lnTo>
                      <a:pt x="3305175" y="0"/>
                    </a:lnTo>
                    <a:cubicBezTo>
                      <a:pt x="3320957" y="0"/>
                      <a:pt x="3333750" y="12793"/>
                      <a:pt x="3333750" y="28575"/>
                    </a:cubicBezTo>
                    <a:lnTo>
                      <a:pt x="3333750" y="28575"/>
                    </a:lnTo>
                    <a:cubicBezTo>
                      <a:pt x="3333750" y="44357"/>
                      <a:pt x="3320957" y="57150"/>
                      <a:pt x="3305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4676775" y="2438400"/>
                <a:ext cx="457200" cy="457200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829175" y="25527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838700" y="2755900"/>
                <a:ext cx="13335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5400">
                    <a:moveTo>
                      <a:pt x="0" y="25400"/>
                    </a:moveTo>
                    <a:cubicBezTo>
                      <a:pt x="44450" y="0"/>
                      <a:pt x="88900" y="0"/>
                      <a:pt x="133350" y="25400"/>
                    </a:cubicBez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233416" y="25155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消费金融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00575" y="2960370"/>
                <a:ext cx="1115675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45%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13529" y="3537585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获客成本下降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4619625" y="3905250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613910" y="4117181"/>
                <a:ext cx="20676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AI预测模型筛选高意向用户，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13910" y="4326731"/>
                <a:ext cx="13517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线索转化率提升68%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4619625" y="504825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133350" y="0"/>
                    </a:moveTo>
                    <a:lnTo>
                      <a:pt x="819150" y="0"/>
                    </a:lnTo>
                    <a:cubicBezTo>
                      <a:pt x="892797" y="0"/>
                      <a:pt x="952500" y="59703"/>
                      <a:pt x="952500" y="133350"/>
                    </a:cubicBezTo>
                    <a:lnTo>
                      <a:pt x="952500" y="133350"/>
                    </a:lnTo>
                    <a:cubicBezTo>
                      <a:pt x="952500" y="206997"/>
                      <a:pt x="892797" y="266700"/>
                      <a:pt x="819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2F85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836681" y="5132070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季度成果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096250" y="2095500"/>
              <a:ext cx="3333750" cy="3619500"/>
              <a:chOff x="8096250" y="2095500"/>
              <a:chExt cx="3333750" cy="36195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096250" y="2095500"/>
                <a:ext cx="333375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619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505200"/>
                    </a:lnTo>
                    <a:cubicBezTo>
                      <a:pt x="3333750" y="3568326"/>
                      <a:pt x="3282576" y="3619500"/>
                      <a:pt x="321945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096250" y="2095500"/>
                <a:ext cx="333375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3619500">
                    <a:moveTo>
                      <a:pt x="114300" y="0"/>
                    </a:moveTo>
                    <a:lnTo>
                      <a:pt x="3219450" y="0"/>
                    </a:lnTo>
                    <a:cubicBezTo>
                      <a:pt x="3282576" y="0"/>
                      <a:pt x="3333750" y="51174"/>
                      <a:pt x="3333750" y="114300"/>
                    </a:cubicBezTo>
                    <a:lnTo>
                      <a:pt x="3333750" y="3505200"/>
                    </a:lnTo>
                    <a:cubicBezTo>
                      <a:pt x="3333750" y="3568326"/>
                      <a:pt x="3282576" y="3619500"/>
                      <a:pt x="321945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6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096250" y="2095500"/>
                <a:ext cx="33337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57150">
                    <a:moveTo>
                      <a:pt x="28575" y="0"/>
                    </a:moveTo>
                    <a:lnTo>
                      <a:pt x="3305175" y="0"/>
                    </a:lnTo>
                    <a:cubicBezTo>
                      <a:pt x="3320957" y="0"/>
                      <a:pt x="3333750" y="12793"/>
                      <a:pt x="3333750" y="28575"/>
                    </a:cubicBezTo>
                    <a:lnTo>
                      <a:pt x="3333750" y="28575"/>
                    </a:lnTo>
                    <a:cubicBezTo>
                      <a:pt x="3333750" y="44357"/>
                      <a:pt x="3320957" y="57150"/>
                      <a:pt x="3305175" y="57150"/>
                    </a:cubicBezTo>
                    <a:lnTo>
                      <a:pt x="28575" y="57150"/>
                    </a:lnTo>
                    <a:cubicBezTo>
                      <a:pt x="12793" y="57150"/>
                      <a:pt x="0" y="44357"/>
                      <a:pt x="0" y="285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8343900" y="2438400"/>
                <a:ext cx="457200" cy="457200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496300" y="25717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9050" y="0"/>
                    </a:move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8572500" y="25336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8439150" y="264795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900541" y="25155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连锁零售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267700" y="2960370"/>
                <a:ext cx="1115675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30%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80654" y="3537585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滞销库存下降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8286750" y="3905250"/>
                <a:ext cx="2952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9525">
                    <a:moveTo>
                      <a:pt x="0" y="0"/>
                    </a:moveTo>
                    <a:lnTo>
                      <a:pt x="2952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281035" y="4117181"/>
                <a:ext cx="158762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AI分析区域消费趋势，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81035" y="432673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自动化调整促销策略</a:t>
                </a:r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8286750" y="504825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133350" y="0"/>
                    </a:moveTo>
                    <a:lnTo>
                      <a:pt x="819150" y="0"/>
                    </a:lnTo>
                    <a:cubicBezTo>
                      <a:pt x="892797" y="0"/>
                      <a:pt x="952500" y="59703"/>
                      <a:pt x="952500" y="133350"/>
                    </a:cubicBezTo>
                    <a:lnTo>
                      <a:pt x="952500" y="133350"/>
                    </a:lnTo>
                    <a:cubicBezTo>
                      <a:pt x="952500" y="206997"/>
                      <a:pt x="892797" y="266700"/>
                      <a:pt x="819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2F855A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503806" y="5132070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季度成果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62000" y="6096000"/>
              <a:ext cx="10668000" cy="476250"/>
              <a:chOff x="762000" y="6096000"/>
              <a:chExt cx="10668000" cy="47625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62000" y="6096000"/>
                <a:ext cx="10668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476250">
                    <a:moveTo>
                      <a:pt x="76200" y="0"/>
                    </a:moveTo>
                    <a:lnTo>
                      <a:pt x="10591800" y="0"/>
                    </a:lnTo>
                    <a:cubicBezTo>
                      <a:pt x="10633884" y="0"/>
                      <a:pt x="10668000" y="34116"/>
                      <a:pt x="10668000" y="76200"/>
                    </a:cubicBezTo>
                    <a:lnTo>
                      <a:pt x="10668000" y="400050"/>
                    </a:lnTo>
                    <a:cubicBezTo>
                      <a:pt x="10668000" y="442134"/>
                      <a:pt x="10633884" y="476250"/>
                      <a:pt x="10591800" y="476250"/>
                    </a:cubicBezTo>
                    <a:lnTo>
                      <a:pt x="76200" y="476250"/>
                    </a:lnTo>
                    <a:cubicBezTo>
                      <a:pt x="34116" y="476250"/>
                      <a:pt x="0" y="442134"/>
                      <a:pt x="0" y="400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041654" y="6271260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营销效率翻倍</a:t>
                </a:r>
              </a:p>
            </p:txBody>
          </p:sp>
          <p:sp>
            <p:nvSpPr>
              <p:cNvPr id="60" name="Line 60"/>
              <p:cNvSpPr/>
              <p:nvPr/>
            </p:nvSpPr>
            <p:spPr>
              <a:xfrm>
                <a:off x="2571750" y="62388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2756154" y="62712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现金流大幅改善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4286250" y="62388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470654" y="62712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零额外人力投入</a:t>
                </a:r>
              </a:p>
            </p:txBody>
          </p:sp>
          <p:sp>
            <p:nvSpPr>
              <p:cNvPr id="64" name="Line 64"/>
              <p:cNvSpPr/>
              <p:nvPr/>
            </p:nvSpPr>
            <p:spPr>
              <a:xfrm>
                <a:off x="6191250" y="62388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6375654" y="627126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一个季度见效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757238" y="6387941"/>
            <a:ext cx="10677524" cy="161925"/>
            <a:chOff x="757238" y="6387941"/>
            <a:chExt cx="10677524" cy="161925"/>
          </a:xfrm>
        </p:grpSpPr>
        <p:sp>
          <p:nvSpPr>
            <p:cNvPr id="68" name="TextBox 68"/>
            <p:cNvSpPr txBox="1"/>
            <p:nvPr/>
          </p:nvSpPr>
          <p:spPr>
            <a:xfrm>
              <a:off x="111753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5 / 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7238" y="6387941"/>
              <a:ext cx="1605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客户案例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476250"/>
            <a:ext cx="110490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166" y="791528"/>
            <a:ext cx="9515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SIGNALCOUNT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1089660"/>
            <a:ext cx="5491475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管理层必须盯住的4个实时指标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880" y="1552575"/>
            <a:ext cx="42557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这四个数字直接反映系统成熟度与业务健康度，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880" y="1819275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建议纳入月度经营会例行审视。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2286000"/>
            <a:ext cx="5048250" cy="1905000"/>
            <a:chOff x="571500" y="2286000"/>
            <a:chExt cx="5048250" cy="1905000"/>
          </a:xfrm>
        </p:grpSpPr>
        <p:sp>
          <p:nvSpPr>
            <p:cNvPr id="7" name="Freeform 7"/>
            <p:cNvSpPr/>
            <p:nvPr/>
          </p:nvSpPr>
          <p:spPr>
            <a:xfrm>
              <a:off x="571500" y="2286000"/>
              <a:ext cx="5048250" cy="1905000"/>
            </a:xfrm>
            <a:custGeom>
              <a:avLst/>
              <a:gdLst/>
              <a:ahLst/>
              <a:cxnLst/>
              <a:rect l="l" t="t" r="r" b="b"/>
              <a:pathLst>
                <a:path w="5048250" h="1905000">
                  <a:moveTo>
                    <a:pt x="114300" y="0"/>
                  </a:moveTo>
                  <a:lnTo>
                    <a:pt x="4933950" y="0"/>
                  </a:lnTo>
                  <a:cubicBezTo>
                    <a:pt x="4997076" y="0"/>
                    <a:pt x="5048250" y="51174"/>
                    <a:pt x="5048250" y="114300"/>
                  </a:cubicBezTo>
                  <a:lnTo>
                    <a:pt x="5048250" y="1790700"/>
                  </a:lnTo>
                  <a:cubicBezTo>
                    <a:pt x="5048250" y="1853826"/>
                    <a:pt x="4997076" y="1905000"/>
                    <a:pt x="4933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8200" y="2356485"/>
              <a:ext cx="9162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&lt;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0082" y="25831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392" y="3140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数据延迟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1916" y="35061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从事件发生到看板更新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0" y="2286000"/>
            <a:ext cx="5048250" cy="1905000"/>
            <a:chOff x="5905500" y="2286000"/>
            <a:chExt cx="5048250" cy="1905000"/>
          </a:xfrm>
        </p:grpSpPr>
        <p:sp>
          <p:nvSpPr>
            <p:cNvPr id="13" name="Freeform 13"/>
            <p:cNvSpPr/>
            <p:nvPr/>
          </p:nvSpPr>
          <p:spPr>
            <a:xfrm>
              <a:off x="5905500" y="2286000"/>
              <a:ext cx="5048250" cy="1905000"/>
            </a:xfrm>
            <a:custGeom>
              <a:avLst/>
              <a:gdLst/>
              <a:ahLst/>
              <a:cxnLst/>
              <a:rect l="l" t="t" r="r" b="b"/>
              <a:pathLst>
                <a:path w="5048250" h="1905000">
                  <a:moveTo>
                    <a:pt x="114300" y="0"/>
                  </a:moveTo>
                  <a:lnTo>
                    <a:pt x="4933950" y="0"/>
                  </a:lnTo>
                  <a:cubicBezTo>
                    <a:pt x="4997076" y="0"/>
                    <a:pt x="5048250" y="51174"/>
                    <a:pt x="5048250" y="114300"/>
                  </a:cubicBezTo>
                  <a:lnTo>
                    <a:pt x="5048250" y="1790700"/>
                  </a:lnTo>
                  <a:cubicBezTo>
                    <a:pt x="5048250" y="1853826"/>
                    <a:pt x="4997076" y="1905000"/>
                    <a:pt x="4933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72200" y="2356485"/>
              <a:ext cx="11985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92%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4392" y="31403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预测准确率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85916" y="3506152"/>
              <a:ext cx="1295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ROI预估与异常检测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381500"/>
            <a:ext cx="5048250" cy="1905000"/>
            <a:chOff x="571500" y="4381500"/>
            <a:chExt cx="5048250" cy="1905000"/>
          </a:xfrm>
        </p:grpSpPr>
        <p:sp>
          <p:nvSpPr>
            <p:cNvPr id="18" name="Freeform 18"/>
            <p:cNvSpPr/>
            <p:nvPr/>
          </p:nvSpPr>
          <p:spPr>
            <a:xfrm>
              <a:off x="571500" y="4381500"/>
              <a:ext cx="5048250" cy="1905000"/>
            </a:xfrm>
            <a:custGeom>
              <a:avLst/>
              <a:gdLst/>
              <a:ahLst/>
              <a:cxnLst/>
              <a:rect l="l" t="t" r="r" b="b"/>
              <a:pathLst>
                <a:path w="5048250" h="1905000">
                  <a:moveTo>
                    <a:pt x="114300" y="0"/>
                  </a:moveTo>
                  <a:lnTo>
                    <a:pt x="4933950" y="0"/>
                  </a:lnTo>
                  <a:cubicBezTo>
                    <a:pt x="4997076" y="0"/>
                    <a:pt x="5048250" y="51174"/>
                    <a:pt x="5048250" y="114300"/>
                  </a:cubicBezTo>
                  <a:lnTo>
                    <a:pt x="5048250" y="1790700"/>
                  </a:lnTo>
                  <a:cubicBezTo>
                    <a:pt x="5048250" y="1853826"/>
                    <a:pt x="4997076" y="1905000"/>
                    <a:pt x="4933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8200" y="4451985"/>
              <a:ext cx="126129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&lt; 60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75332" y="46786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0392" y="52358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策略响应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1916" y="56016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从决策到跨平台执行生效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05500" y="4381500"/>
            <a:ext cx="5048250" cy="1905000"/>
            <a:chOff x="5905500" y="4381500"/>
            <a:chExt cx="5048250" cy="1905000"/>
          </a:xfrm>
        </p:grpSpPr>
        <p:sp>
          <p:nvSpPr>
            <p:cNvPr id="24" name="Freeform 24"/>
            <p:cNvSpPr/>
            <p:nvPr/>
          </p:nvSpPr>
          <p:spPr>
            <a:xfrm>
              <a:off x="5905500" y="4381500"/>
              <a:ext cx="5048250" cy="1905000"/>
            </a:xfrm>
            <a:custGeom>
              <a:avLst/>
              <a:gdLst/>
              <a:ahLst/>
              <a:cxnLst/>
              <a:rect l="l" t="t" r="r" b="b"/>
              <a:pathLst>
                <a:path w="5048250" h="1905000">
                  <a:moveTo>
                    <a:pt x="114300" y="0"/>
                  </a:moveTo>
                  <a:lnTo>
                    <a:pt x="4933950" y="0"/>
                  </a:lnTo>
                  <a:cubicBezTo>
                    <a:pt x="4997076" y="0"/>
                    <a:pt x="5048250" y="51174"/>
                    <a:pt x="5048250" y="114300"/>
                  </a:cubicBezTo>
                  <a:lnTo>
                    <a:pt x="5048250" y="1790700"/>
                  </a:lnTo>
                  <a:cubicBezTo>
                    <a:pt x="5048250" y="1853826"/>
                    <a:pt x="4997076" y="1905000"/>
                    <a:pt x="4933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72200" y="4451985"/>
              <a:ext cx="18885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+150%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84392" y="5235892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平均ROI提升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5916" y="56016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对标使用传统工具的同体量企业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66738" y="6578441"/>
            <a:ext cx="1316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accent5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738" y="302895"/>
            <a:ext cx="11053762" cy="182880"/>
            <a:chOff x="566738" y="302895"/>
            <a:chExt cx="11053762" cy="182880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302895"/>
              <a:ext cx="8100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SPREADMAP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57784" y="613410"/>
            <a:ext cx="11062716" cy="6006465"/>
            <a:chOff x="557784" y="613410"/>
            <a:chExt cx="11062716" cy="6006465"/>
          </a:xfrm>
        </p:grpSpPr>
        <p:sp>
          <p:nvSpPr>
            <p:cNvPr id="8" name="TextBox 8"/>
            <p:cNvSpPr txBox="1"/>
            <p:nvPr/>
          </p:nvSpPr>
          <p:spPr>
            <a:xfrm>
              <a:off x="557784" y="613410"/>
              <a:ext cx="47281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部署前后ROI增长曲线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4642" y="114014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实际数据表明，工作台上线越早，复利效应越明显；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642" y="1368742"/>
              <a:ext cx="3147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每延迟一个季度，等效营收损失约</a:t>
              </a:r>
              <a:r>
                <a:rPr lang="en-US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12%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59736" y="1673066"/>
              <a:ext cx="8855764" cy="4549616"/>
              <a:chOff x="859736" y="1673066"/>
              <a:chExt cx="8855764" cy="4549616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1143000" y="1714500"/>
                <a:ext cx="9525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00500">
                    <a:moveTo>
                      <a:pt x="0" y="0"/>
                    </a:moveTo>
                    <a:lnTo>
                      <a:pt x="0" y="4000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59736" y="1673066"/>
                <a:ext cx="1927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100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20820" y="262556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75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20820" y="3625691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20820" y="462581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25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1904" y="5625941"/>
                <a:ext cx="706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1143000" y="2714625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143000" y="3714750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1143000" y="4714875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1524000" y="1788795"/>
                <a:ext cx="1143000" cy="4433887"/>
                <a:chOff x="1524000" y="1788795"/>
                <a:chExt cx="1143000" cy="4433887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524000" y="2190750"/>
                  <a:ext cx="1143000" cy="352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3524250">
                      <a:moveTo>
                        <a:pt x="57150" y="0"/>
                      </a:moveTo>
                      <a:lnTo>
                        <a:pt x="1085850" y="0"/>
                      </a:lnTo>
                      <a:cubicBezTo>
                        <a:pt x="1117413" y="0"/>
                        <a:pt x="1143000" y="25587"/>
                        <a:pt x="1143000" y="57150"/>
                      </a:cubicBezTo>
                      <a:lnTo>
                        <a:pt x="1143000" y="3467100"/>
                      </a:lnTo>
                      <a:cubicBezTo>
                        <a:pt x="1143000" y="3498663"/>
                        <a:pt x="1117413" y="3524250"/>
                        <a:pt x="1085850" y="3524250"/>
                      </a:cubicBezTo>
                      <a:lnTo>
                        <a:pt x="57150" y="3524250"/>
                      </a:lnTo>
                      <a:cubicBezTo>
                        <a:pt x="25587" y="3524250"/>
                        <a:pt x="0" y="3498663"/>
                        <a:pt x="0" y="346710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896725" y="1788795"/>
                  <a:ext cx="39755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88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793329" y="583977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人工操作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754524" y="6046470"/>
                  <a:ext cx="681952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数据延迟3天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3238500" y="2350770"/>
                <a:ext cx="1143000" cy="3871912"/>
                <a:chOff x="3238500" y="2350770"/>
                <a:chExt cx="1143000" cy="3871912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238500" y="2752725"/>
                  <a:ext cx="1143000" cy="2962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2962275">
                      <a:moveTo>
                        <a:pt x="57150" y="0"/>
                      </a:moveTo>
                      <a:lnTo>
                        <a:pt x="1085850" y="0"/>
                      </a:lnTo>
                      <a:cubicBezTo>
                        <a:pt x="1117413" y="0"/>
                        <a:pt x="1143000" y="25587"/>
                        <a:pt x="1143000" y="57150"/>
                      </a:cubicBezTo>
                      <a:lnTo>
                        <a:pt x="1143000" y="2905125"/>
                      </a:lnTo>
                      <a:cubicBezTo>
                        <a:pt x="1143000" y="2936688"/>
                        <a:pt x="1117413" y="2962275"/>
                        <a:pt x="1085850" y="2962275"/>
                      </a:cubicBezTo>
                      <a:lnTo>
                        <a:pt x="57150" y="2962275"/>
                      </a:lnTo>
                      <a:cubicBezTo>
                        <a:pt x="25587" y="2962275"/>
                        <a:pt x="0" y="2936688"/>
                        <a:pt x="0" y="2905125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2B6CB0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611225" y="2350770"/>
                  <a:ext cx="39755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74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507829" y="583977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实时整合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562922" y="6046470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自动调优</a:t>
                  </a:r>
                </a:p>
              </p:txBody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4953000" y="2912745"/>
                <a:ext cx="1143000" cy="3309937"/>
                <a:chOff x="4953000" y="2912745"/>
                <a:chExt cx="1143000" cy="3309937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4953000" y="3314700"/>
                  <a:ext cx="1143000" cy="240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2400300">
                      <a:moveTo>
                        <a:pt x="57150" y="0"/>
                      </a:moveTo>
                      <a:lnTo>
                        <a:pt x="1085850" y="0"/>
                      </a:lnTo>
                      <a:cubicBezTo>
                        <a:pt x="1117413" y="0"/>
                        <a:pt x="1143000" y="25587"/>
                        <a:pt x="1143000" y="57150"/>
                      </a:cubicBezTo>
                      <a:lnTo>
                        <a:pt x="1143000" y="2343150"/>
                      </a:lnTo>
                      <a:cubicBezTo>
                        <a:pt x="1143000" y="2374713"/>
                        <a:pt x="1117413" y="2400300"/>
                        <a:pt x="1085850" y="2400300"/>
                      </a:cubicBezTo>
                      <a:lnTo>
                        <a:pt x="57150" y="2400300"/>
                      </a:lnTo>
                      <a:cubicBezTo>
                        <a:pt x="25587" y="2400300"/>
                        <a:pt x="0" y="2374713"/>
                        <a:pt x="0" y="23431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25725" y="2912745"/>
                  <a:ext cx="39755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60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5295698" y="5839778"/>
                  <a:ext cx="45760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AI预测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5216842" y="6046470"/>
                  <a:ext cx="61531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自动化闭环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6667500" y="3474720"/>
                <a:ext cx="1143000" cy="2747962"/>
                <a:chOff x="6667500" y="3474720"/>
                <a:chExt cx="1143000" cy="274796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6667500" y="3876675"/>
                  <a:ext cx="1143000" cy="1838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0" h="1838325">
                      <a:moveTo>
                        <a:pt x="57150" y="0"/>
                      </a:moveTo>
                      <a:lnTo>
                        <a:pt x="1085850" y="0"/>
                      </a:lnTo>
                      <a:cubicBezTo>
                        <a:pt x="1117413" y="0"/>
                        <a:pt x="1143000" y="25587"/>
                        <a:pt x="1143000" y="57150"/>
                      </a:cubicBezTo>
                      <a:lnTo>
                        <a:pt x="1143000" y="1781175"/>
                      </a:lnTo>
                      <a:cubicBezTo>
                        <a:pt x="1143000" y="1812738"/>
                        <a:pt x="1117413" y="1838325"/>
                        <a:pt x="1085850" y="1838325"/>
                      </a:cubicBezTo>
                      <a:lnTo>
                        <a:pt x="57150" y="1838325"/>
                      </a:lnTo>
                      <a:cubicBezTo>
                        <a:pt x="25587" y="1838325"/>
                        <a:pt x="0" y="1812738"/>
                        <a:pt x="0" y="1781175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040225" y="3474720"/>
                  <a:ext cx="39755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46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936829" y="583977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主轴关系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991921" y="6046470"/>
                  <a:ext cx="49415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持续优化</a:t>
                  </a:r>
                </a:p>
              </p:txBody>
            </p:sp>
          </p:grpSp>
          <p:sp>
            <p:nvSpPr>
              <p:cNvPr id="40" name="Freeform 40"/>
              <p:cNvSpPr/>
              <p:nvPr/>
            </p:nvSpPr>
            <p:spPr>
              <a:xfrm>
                <a:off x="2095500" y="2190750"/>
                <a:ext cx="5143500" cy="1685925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685925">
                    <a:moveTo>
                      <a:pt x="0" y="0"/>
                    </a:moveTo>
                    <a:lnTo>
                      <a:pt x="1714500" y="561975"/>
                    </a:lnTo>
                    <a:lnTo>
                      <a:pt x="3429000" y="1123950"/>
                    </a:lnTo>
                    <a:lnTo>
                      <a:pt x="5143500" y="1685925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  <a:prstDash val="lgDash"/>
              </a:ln>
            </p:spPr>
          </p:sp>
          <p:sp>
            <p:nvSpPr>
              <p:cNvPr id="41" name="Polygon 41"/>
              <p:cNvSpPr/>
              <p:nvPr/>
            </p:nvSpPr>
            <p:spPr>
              <a:xfrm>
                <a:off x="7191375" y="378142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142875" y="95250"/>
                    </a:moveTo>
                    <a:lnTo>
                      <a:pt x="0" y="0"/>
                    </a:lnTo>
                    <a:lnTo>
                      <a:pt x="0" y="1905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0001250" y="2095500"/>
              <a:ext cx="1619250" cy="1714500"/>
              <a:chOff x="10001250" y="2095500"/>
              <a:chExt cx="1619250" cy="1714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0001250" y="2095500"/>
                <a:ext cx="161925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1714500">
                    <a:moveTo>
                      <a:pt x="76200" y="0"/>
                    </a:moveTo>
                    <a:lnTo>
                      <a:pt x="1543050" y="0"/>
                    </a:lnTo>
                    <a:cubicBezTo>
                      <a:pt x="1585134" y="0"/>
                      <a:pt x="1619250" y="34116"/>
                      <a:pt x="1619250" y="76200"/>
                    </a:cubicBezTo>
                    <a:lnTo>
                      <a:pt x="1619250" y="1638300"/>
                    </a:lnTo>
                    <a:cubicBezTo>
                      <a:pt x="1619250" y="1680384"/>
                      <a:pt x="1585134" y="1714500"/>
                      <a:pt x="1543050" y="1714500"/>
                    </a:cubicBezTo>
                    <a:lnTo>
                      <a:pt x="76200" y="1714500"/>
                    </a:lnTo>
                    <a:cubicBezTo>
                      <a:pt x="34116" y="1714500"/>
                      <a:pt x="0" y="1680384"/>
                      <a:pt x="0" y="1638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0186988" y="228409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增长路径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10191750" y="2524125"/>
                <a:ext cx="1238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9525">
                    <a:moveTo>
                      <a:pt x="0" y="0"/>
                    </a:moveTo>
                    <a:lnTo>
                      <a:pt x="12382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10277475" y="27051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0472738" y="2711291"/>
                <a:ext cx="49819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基准线 46</a:t>
                </a:r>
              </a:p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10277475" y="2990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472738" y="2997041"/>
                <a:ext cx="50825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AI闭环 60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10277475" y="32766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0472738" y="3282791"/>
                <a:ext cx="60925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整合优化 74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0277475" y="35623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472738" y="3568541"/>
                <a:ext cx="60925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最佳实践 88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571500" y="6238875"/>
              <a:ext cx="11049000" cy="381000"/>
              <a:chOff x="571500" y="6238875"/>
              <a:chExt cx="11049000" cy="3810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571500" y="6238875"/>
                <a:ext cx="11049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381000">
                    <a:moveTo>
                      <a:pt x="57150" y="0"/>
                    </a:moveTo>
                    <a:lnTo>
                      <a:pt x="10991850" y="0"/>
                    </a:lnTo>
                    <a:cubicBezTo>
                      <a:pt x="11023413" y="0"/>
                      <a:pt x="11049000" y="25587"/>
                      <a:pt x="11049000" y="57150"/>
                    </a:cubicBezTo>
                    <a:lnTo>
                      <a:pt x="11049000" y="323850"/>
                    </a:lnTo>
                    <a:cubicBezTo>
                      <a:pt x="11049000" y="355413"/>
                      <a:pt x="11023413" y="381000"/>
                      <a:pt x="10991850" y="381000"/>
                    </a:cubicBezTo>
                    <a:lnTo>
                      <a:pt x="57150" y="381000"/>
                    </a:lnTo>
                    <a:cubicBezTo>
                      <a:pt x="25587" y="381000"/>
                      <a:pt x="0" y="355413"/>
                      <a:pt x="0" y="323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57047" y="6371749"/>
                <a:ext cx="6989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核心洞察：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709547" y="6371749"/>
                <a:ext cx="284599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从人工到AI，每一步自动化带来指数级ROI提升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66738" y="6597491"/>
            <a:ext cx="11058524" cy="174784"/>
            <a:chOff x="566738" y="6597491"/>
            <a:chExt cx="11058524" cy="174784"/>
          </a:xfrm>
        </p:grpSpPr>
        <p:sp>
          <p:nvSpPr>
            <p:cNvPr id="60" name="Rectangle 60"/>
            <p:cNvSpPr/>
            <p:nvPr/>
          </p:nvSpPr>
          <p:spPr>
            <a:xfrm>
              <a:off x="571500" y="676275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66738" y="65974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65849" y="659749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66738" y="3028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推进序列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784" y="613410"/>
            <a:ext cx="450351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90天启动计划与关键风险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4642" y="1187768"/>
            <a:ext cx="747384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建议立即立项IT与增长团队联合项目组，以下节点和风险应预先纳入公司风险管理流程。</a:t>
            </a:r>
          </a:p>
        </p:txBody>
      </p:sp>
      <p:sp>
        <p:nvSpPr>
          <p:cNvPr id="6" name="Line 6"/>
          <p:cNvSpPr/>
          <p:nvPr/>
        </p:nvSpPr>
        <p:spPr>
          <a:xfrm>
            <a:off x="1143000" y="30480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chemeClr val="accent4"/>
            </a:solidFill>
          </a:ln>
        </p:spPr>
      </p:sp>
      <p:sp>
        <p:nvSpPr>
          <p:cNvPr id="7" name="Ellipse 7"/>
          <p:cNvSpPr/>
          <p:nvPr/>
        </p:nvSpPr>
        <p:spPr>
          <a:xfrm>
            <a:off x="1943100" y="2895600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2019300" y="2971800"/>
            <a:ext cx="152400" cy="152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5943600" y="2895600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6019800" y="2971800"/>
            <a:ext cx="152400" cy="152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944100" y="2895600"/>
            <a:ext cx="304800" cy="3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10020300" y="2971800"/>
            <a:ext cx="152400" cy="152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623022" y="2505075"/>
            <a:ext cx="9449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第 1 个月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3522" y="2505075"/>
            <a:ext cx="9449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第 3 个月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24022" y="2505075"/>
            <a:ext cx="94495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第 6 个月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3333750"/>
            <a:ext cx="3238500" cy="2667000"/>
          </a:xfrm>
          <a:custGeom>
            <a:avLst/>
            <a:gdLst/>
            <a:ahLst/>
            <a:cxnLst/>
            <a:rect l="l" t="t" r="r" b="b"/>
            <a:pathLst>
              <a:path w="3238500" h="26670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590800"/>
                </a:lnTo>
                <a:cubicBezTo>
                  <a:pt x="3238500" y="2632884"/>
                  <a:pt x="3204384" y="2667000"/>
                  <a:pt x="31623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chemeClr val="lt2"/>
          </a:solidFill>
          <a:ln w="9525">
            <a:solidFill>
              <a:schemeClr val="accent4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571500" y="3333750"/>
            <a:ext cx="3238500" cy="457200"/>
          </a:xfrm>
          <a:custGeom>
            <a:avLst/>
            <a:gdLst/>
            <a:ahLst/>
            <a:cxnLst/>
            <a:rect l="l" t="t" r="r" b="b"/>
            <a:pathLst>
              <a:path w="3238500" h="4572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81000"/>
                </a:lnTo>
                <a:cubicBezTo>
                  <a:pt x="3238500" y="423084"/>
                  <a:pt x="3204384" y="457200"/>
                  <a:pt x="31623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3638550"/>
            <a:ext cx="32385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5904" y="34709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全渠道数据源接入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666" y="39824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完成全渠道数据源接入与基础看板上线。</a:t>
            </a:r>
          </a:p>
        </p:txBody>
      </p:sp>
      <p:sp>
        <p:nvSpPr>
          <p:cNvPr id="21" name="Ellipse 21"/>
          <p:cNvSpPr/>
          <p:nvPr/>
        </p:nvSpPr>
        <p:spPr>
          <a:xfrm>
            <a:off x="647700" y="4362450"/>
            <a:ext cx="22860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35463" y="4401502"/>
            <a:ext cx="53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C53030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7547" y="4323874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C53030"/>
                </a:solidFill>
                <a:latin typeface="+mn-lt"/>
                <a:ea typeface="+mn-ea"/>
                <a:cs typeface="+mn-cs"/>
              </a:rPr>
              <a:t>风险提示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7738" y="4522470"/>
            <a:ext cx="36442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历史数据质量问题可能导致初期模型偏差，必须安排专项数据治理。</a:t>
            </a:r>
          </a:p>
        </p:txBody>
      </p:sp>
      <p:sp>
        <p:nvSpPr>
          <p:cNvPr id="25" name="Freeform 25"/>
          <p:cNvSpPr/>
          <p:nvPr/>
        </p:nvSpPr>
        <p:spPr>
          <a:xfrm>
            <a:off x="3905250" y="3048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chemeClr val="accent2"/>
            </a:solidFill>
            <a:custDash>
              <a:ds d="300000" sp="200000"/>
            </a:custDash>
          </a:ln>
        </p:spPr>
      </p:sp>
      <p:sp>
        <p:nvSpPr>
          <p:cNvPr id="26" name="Polygon 26"/>
          <p:cNvSpPr/>
          <p:nvPr/>
        </p:nvSpPr>
        <p:spPr>
          <a:xfrm>
            <a:off x="5667375" y="3009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4476750" y="3333750"/>
            <a:ext cx="3238500" cy="2667000"/>
          </a:xfrm>
          <a:custGeom>
            <a:avLst/>
            <a:gdLst/>
            <a:ahLst/>
            <a:cxnLst/>
            <a:rect l="l" t="t" r="r" b="b"/>
            <a:pathLst>
              <a:path w="3238500" h="26670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590800"/>
                </a:lnTo>
                <a:cubicBezTo>
                  <a:pt x="3238500" y="2632884"/>
                  <a:pt x="3204384" y="2667000"/>
                  <a:pt x="31623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chemeClr val="lt2"/>
          </a:solidFill>
          <a:ln w="9525">
            <a:solidFill>
              <a:schemeClr val="accent4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4476750" y="3333750"/>
            <a:ext cx="3238500" cy="457200"/>
          </a:xfrm>
          <a:custGeom>
            <a:avLst/>
            <a:gdLst/>
            <a:ahLst/>
            <a:cxnLst/>
            <a:rect l="l" t="t" r="r" b="b"/>
            <a:pathLst>
              <a:path w="3238500" h="4572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81000"/>
                </a:lnTo>
                <a:cubicBezTo>
                  <a:pt x="3238500" y="423084"/>
                  <a:pt x="3204384" y="457200"/>
                  <a:pt x="31623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476750" y="3638550"/>
            <a:ext cx="3238500" cy="15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661154" y="3470910"/>
            <a:ext cx="1419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AI模型上线与试跑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61916" y="3982402"/>
            <a:ext cx="41701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AI推荐与异常检测模型上线，自动化执行模块进入小流量试跑。</a:t>
            </a:r>
          </a:p>
        </p:txBody>
      </p:sp>
      <p:sp>
        <p:nvSpPr>
          <p:cNvPr id="32" name="Ellipse 32"/>
          <p:cNvSpPr/>
          <p:nvPr/>
        </p:nvSpPr>
        <p:spPr>
          <a:xfrm>
            <a:off x="4552950" y="4362450"/>
            <a:ext cx="22860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4640713" y="4401502"/>
            <a:ext cx="53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C53030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52797" y="4323874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C53030"/>
                </a:solidFill>
                <a:latin typeface="+mn-lt"/>
                <a:ea typeface="+mn-ea"/>
                <a:cs typeface="+mn-cs"/>
              </a:rPr>
              <a:t>风险提示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52988" y="4522470"/>
            <a:ext cx="29666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业务团队流程阻力，需由VP级增长委员会推动落地。</a:t>
            </a:r>
          </a:p>
        </p:txBody>
      </p:sp>
      <p:sp>
        <p:nvSpPr>
          <p:cNvPr id="36" name="Freeform 36"/>
          <p:cNvSpPr/>
          <p:nvPr/>
        </p:nvSpPr>
        <p:spPr>
          <a:xfrm>
            <a:off x="7810500" y="3048000"/>
            <a:ext cx="1714500" cy="9525"/>
          </a:xfrm>
          <a:custGeom>
            <a:avLst/>
            <a:gdLst/>
            <a:ahLst/>
            <a:cxnLst/>
            <a:rect l="l" t="t" r="r" b="b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19050">
            <a:solidFill>
              <a:schemeClr val="accent1"/>
            </a:solidFill>
            <a:custDash>
              <a:ds d="300000" sp="200000"/>
            </a:custDash>
          </a:ln>
        </p:spPr>
      </p:sp>
      <p:sp>
        <p:nvSpPr>
          <p:cNvPr id="37" name="Polygon 37"/>
          <p:cNvSpPr/>
          <p:nvPr/>
        </p:nvSpPr>
        <p:spPr>
          <a:xfrm>
            <a:off x="9572625" y="3009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8382000" y="3333750"/>
            <a:ext cx="3238500" cy="2667000"/>
          </a:xfrm>
          <a:custGeom>
            <a:avLst/>
            <a:gdLst/>
            <a:ahLst/>
            <a:cxnLst/>
            <a:rect l="l" t="t" r="r" b="b"/>
            <a:pathLst>
              <a:path w="3238500" h="26670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2590800"/>
                </a:lnTo>
                <a:cubicBezTo>
                  <a:pt x="3238500" y="2632884"/>
                  <a:pt x="3204384" y="2667000"/>
                  <a:pt x="3162300" y="2667000"/>
                </a:cubicBezTo>
                <a:lnTo>
                  <a:pt x="76200" y="2667000"/>
                </a:lnTo>
                <a:cubicBezTo>
                  <a:pt x="34116" y="2667000"/>
                  <a:pt x="0" y="2632884"/>
                  <a:pt x="0" y="2590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chemeClr val="lt2"/>
          </a:solidFill>
          <a:ln w="19050">
            <a:solidFill>
              <a:schemeClr val="accent1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8382000" y="3333750"/>
            <a:ext cx="3238500" cy="457200"/>
          </a:xfrm>
          <a:custGeom>
            <a:avLst/>
            <a:gdLst/>
            <a:ahLst/>
            <a:cxnLst/>
            <a:rect l="l" t="t" r="r" b="b"/>
            <a:pathLst>
              <a:path w="3238500" h="457200">
                <a:moveTo>
                  <a:pt x="76200" y="0"/>
                </a:moveTo>
                <a:lnTo>
                  <a:pt x="3162300" y="0"/>
                </a:lnTo>
                <a:cubicBezTo>
                  <a:pt x="3204384" y="0"/>
                  <a:pt x="3238500" y="34116"/>
                  <a:pt x="3238500" y="76200"/>
                </a:cubicBezTo>
                <a:lnTo>
                  <a:pt x="3238500" y="381000"/>
                </a:lnTo>
                <a:cubicBezTo>
                  <a:pt x="3238500" y="423084"/>
                  <a:pt x="3204384" y="457200"/>
                  <a:pt x="3162300" y="457200"/>
                </a:cubicBezTo>
                <a:lnTo>
                  <a:pt x="76200" y="457200"/>
                </a:lnTo>
                <a:cubicBezTo>
                  <a:pt x="34116" y="457200"/>
                  <a:pt x="0" y="423084"/>
                  <a:pt x="0" y="3810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8382000" y="3638550"/>
            <a:ext cx="32385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66404" y="3470910"/>
            <a:ext cx="11995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全自动闭环优化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67166" y="3982402"/>
            <a:ext cx="34457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全自动闭环优化全面运行，ROI目标提升150%以上。</a:t>
            </a:r>
          </a:p>
        </p:txBody>
      </p:sp>
      <p:sp>
        <p:nvSpPr>
          <p:cNvPr id="43" name="Ellipse 43"/>
          <p:cNvSpPr/>
          <p:nvPr/>
        </p:nvSpPr>
        <p:spPr>
          <a:xfrm>
            <a:off x="8458200" y="4362450"/>
            <a:ext cx="228600" cy="228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545963" y="4401502"/>
            <a:ext cx="530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C53030"/>
                </a:solidFill>
                <a:latin typeface="+mn-lt"/>
                <a:ea typeface="+mn-ea"/>
                <a:cs typeface="+mn-cs"/>
              </a:rPr>
              <a:t>!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58047" y="4323874"/>
            <a:ext cx="56117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C53030"/>
                </a:solidFill>
                <a:latin typeface="+mn-lt"/>
                <a:ea typeface="+mn-ea"/>
                <a:cs typeface="+mn-cs"/>
              </a:rPr>
              <a:t>风险提示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58238" y="4522470"/>
            <a:ext cx="35171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第三方广告平台API稳定性依赖外部，建议建立手动回退预案。</a:t>
            </a:r>
          </a:p>
        </p:txBody>
      </p:sp>
      <p:sp>
        <p:nvSpPr>
          <p:cNvPr id="47" name="Ellipse 47"/>
          <p:cNvSpPr/>
          <p:nvPr/>
        </p:nvSpPr>
        <p:spPr>
          <a:xfrm>
            <a:off x="5486400" y="-38100"/>
            <a:ext cx="76200" cy="76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5676900" y="-38100"/>
            <a:ext cx="76200" cy="76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5867400" y="-38100"/>
            <a:ext cx="76200" cy="76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0" name="Ellipse 50"/>
          <p:cNvSpPr/>
          <p:nvPr/>
        </p:nvSpPr>
        <p:spPr>
          <a:xfrm>
            <a:off x="6057900" y="-38100"/>
            <a:ext cx="76200" cy="76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1" name="Ellipse 51"/>
          <p:cNvSpPr/>
          <p:nvPr/>
        </p:nvSpPr>
        <p:spPr>
          <a:xfrm>
            <a:off x="6248400" y="-38100"/>
            <a:ext cx="76200" cy="76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2" name="Ellipse 52"/>
          <p:cNvSpPr/>
          <p:nvPr/>
        </p:nvSpPr>
        <p:spPr>
          <a:xfrm>
            <a:off x="6438900" y="-3810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3" name="Ellipse 53"/>
          <p:cNvSpPr/>
          <p:nvPr/>
        </p:nvSpPr>
        <p:spPr>
          <a:xfrm>
            <a:off x="6629400" y="-3810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6819900" y="-38100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1365849" y="6578441"/>
            <a:ext cx="2594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8 / 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