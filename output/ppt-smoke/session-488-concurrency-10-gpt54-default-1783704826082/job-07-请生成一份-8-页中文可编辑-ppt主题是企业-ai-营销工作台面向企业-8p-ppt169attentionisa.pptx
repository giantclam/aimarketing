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为管理层准备的执行简报：聚焦核心结论、关键风险与落地路径，帮助在15分钟内做出决策。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议程</a:t>
            </a:r>
          </a:p>
          <a:p>
            <a:endParaRPr lang="en-US" dirty="0"/>
          </a:p>
          <a:p>
            <a:r>
              <a:rPr lang="zh-CN" dirty="0"/>
              <a:t>本简报围绕结论、断层、架构、证据与行动展开，确保决策者有据可依。</a:t>
            </a:r>
          </a:p>
          <a:p>
            <a:endParaRPr lang="en-US" dirty="0"/>
          </a:p>
          <a:p>
            <a:r>
              <a:rPr lang="zh-CN" dirty="0"/>
              <a:t>• AI营销工作台带来的效率跃迁与不行动的代价</a:t>
            </a:r>
          </a:p>
          <a:p>
            <a:r>
              <a:rPr lang="zh-CN" dirty="0"/>
              <a:t>• 数据孤立、分析滞后、执行脱节如何侵蚀增长</a:t>
            </a:r>
          </a:p>
          <a:p>
            <a:r>
              <a:rPr lang="zh-CN" dirty="0"/>
              <a:t>• 四个引擎如何重塑营销价值链</a:t>
            </a:r>
          </a:p>
          <a:p>
            <a:r>
              <a:rPr lang="zh-CN" dirty="0"/>
              <a:t>• 真实效率提升数据与值得注意的风险敞口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三大关键洞察</a:t>
            </a:r>
          </a:p>
          <a:p>
            <a:endParaRPr lang="en-US" dirty="0"/>
          </a:p>
          <a:p>
            <a:r>
              <a:rPr lang="zh-CN" dirty="0"/>
              <a:t>这三个洞察构成了AI营销工作台的价值基石，也是衡量投入回报的核心参照。</a:t>
            </a:r>
          </a:p>
          <a:p>
            <a:endParaRPr lang="en-US" dirty="0"/>
          </a:p>
          <a:p>
            <a:r>
              <a:rPr lang="zh-CN" dirty="0"/>
              <a:t>• 三大关键洞察</a:t>
            </a:r>
          </a:p>
          <a:p>
            <a:r>
              <a:rPr lang="zh-CN" dirty="0"/>
              <a:t>• 当前事实</a:t>
            </a:r>
          </a:p>
          <a:p>
            <a:r>
              <a:rPr lang="zh-CN" dirty="0"/>
              <a:t>• 变化趋势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传统营销vsAI营销工作台</a:t>
            </a:r>
          </a:p>
          <a:p>
            <a:endParaRPr lang="en-US" dirty="0"/>
          </a:p>
          <a:p>
            <a:r>
              <a:rPr lang="zh-CN" dirty="0"/>
              <a:t>以下四个维度的对比揭示了效率与精度的系统性差距，这正是AI工作台的核心价值所在。</a:t>
            </a:r>
          </a:p>
          <a:p>
            <a:endParaRPr lang="en-US" dirty="0"/>
          </a:p>
          <a:p>
            <a:r>
              <a:rPr lang="zh-CN" dirty="0"/>
              <a:t>• AI工作台：统一CDP，实时同步，自动构建360°客户画像</a:t>
            </a:r>
          </a:p>
          <a:p>
            <a:r>
              <a:rPr lang="zh-CN" dirty="0"/>
              <a:t>• AI工作台：实时预测，客户微细分，流失预警自动触发</a:t>
            </a:r>
          </a:p>
          <a:p>
            <a:r>
              <a:rPr lang="zh-CN" dirty="0"/>
              <a:t>• AI工作台：最佳时机个性化触达，自动化工作流，秒级响应</a:t>
            </a:r>
          </a:p>
          <a:p>
            <a:r>
              <a:rPr lang="zh-CN" dirty="0"/>
              <a:t>• AI工作台：实时A/B测试，自动调优，预算动态分配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落地证据</a:t>
            </a:r>
          </a:p>
          <a:p>
            <a:endParaRPr lang="en-US" dirty="0"/>
          </a:p>
          <a:p>
            <a:r>
              <a:rPr lang="zh-CN" dirty="0"/>
              <a:t>来自早期合作客户与内部验证的关键结果，证明AI营销工作台可快速产生业务影响。</a:t>
            </a:r>
          </a:p>
          <a:p>
            <a:endParaRPr lang="en-US" dirty="0"/>
          </a:p>
          <a:p>
            <a:r>
              <a:rPr lang="zh-CN" dirty="0"/>
              <a:t>• 通过AI生成个性化邮件标题与推荐商品，在2个月内实现显著提升，带动线上销售额增长18%</a:t>
            </a:r>
          </a:p>
          <a:p>
            <a:r>
              <a:rPr lang="zh-CN" dirty="0"/>
              <a:t>• 利用自动线索评分和最佳跟进时机推荐，将MQL到SQL的转化周期缩短50%</a:t>
            </a:r>
          </a:p>
          <a:p>
            <a:r>
              <a:rPr lang="zh-CN" dirty="0"/>
              <a:t>• AI辅助生成广告图片与文案，使营销团队能在一小时内完成原本需要整天的创意迭代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预期核心指标</a:t>
            </a:r>
          </a:p>
          <a:p>
            <a:endParaRPr lang="en-US" dirty="0"/>
          </a:p>
          <a:p>
            <a:r>
              <a:rPr lang="zh-CN" dirty="0"/>
              <a:t>基于当前技术架构与客户验证，以下四个指标为部署后12个月内的保守估算。</a:t>
            </a:r>
          </a:p>
          <a:p>
            <a:endParaRPr lang="en-US" dirty="0"/>
          </a:p>
          <a:p>
            <a:r>
              <a:rPr lang="zh-CN" dirty="0"/>
              <a:t>• 数据接入覆盖率</a:t>
            </a:r>
          </a:p>
          <a:p>
            <a:r>
              <a:rPr lang="zh-CN" dirty="0"/>
              <a:t>• 客户流失预测准确率</a:t>
            </a:r>
          </a:p>
          <a:p>
            <a:r>
              <a:rPr lang="zh-CN" dirty="0"/>
              <a:t>• 运营效率提升</a:t>
            </a:r>
          </a:p>
          <a:p>
            <a:r>
              <a:rPr lang="zh-CN" dirty="0"/>
              <a:t>• 投资回报比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全链路效率提升</a:t>
            </a:r>
          </a:p>
          <a:p>
            <a:endParaRPr lang="en-US" dirty="0"/>
          </a:p>
          <a:p>
            <a:r>
              <a:rPr lang="zh-CN" dirty="0"/>
              <a:t>AI工作台将营销核心流程从“天/周”级压缩至“分钟/小时”级，实现真正的实时营销。</a:t>
            </a:r>
          </a:p>
          <a:p>
            <a:endParaRPr lang="en-US" dirty="0"/>
          </a:p>
          <a:p>
            <a:r>
              <a:rPr lang="zh-CN" dirty="0"/>
              <a:t>• 从3天手动整合到5分钟自动同步</a:t>
            </a:r>
          </a:p>
          <a:p>
            <a:r>
              <a:rPr lang="zh-CN" dirty="0"/>
              <a:t>• 从2周人工分析到1小时AI报告</a:t>
            </a:r>
          </a:p>
          <a:p>
            <a:r>
              <a:rPr lang="zh-CN" dirty="0"/>
              <a:t>• 从1周排期到2小时完成个性化活动配置</a:t>
            </a:r>
          </a:p>
          <a:p>
            <a:r>
              <a:rPr lang="zh-CN" dirty="0"/>
              <a:t>• 从小时级批量发送到分钟级实时触发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即刻启动：三步转型路线</a:t>
            </a:r>
          </a:p>
          <a:p>
            <a:endParaRPr lang="en-US" dirty="0"/>
          </a:p>
          <a:p>
            <a:r>
              <a:rPr lang="zh-CN" dirty="0"/>
              <a:t>我们建议按以下里程碑推进，风险可控、价值可视，最快30天即可看到初步效果。</a:t>
            </a:r>
          </a:p>
          <a:p>
            <a:endParaRPr lang="en-US" dirty="0"/>
          </a:p>
          <a:p>
            <a:r>
              <a:rPr lang="zh-CN" dirty="0"/>
              <a:t>• 完成核心数据源对接与团队培训，上线首批自动化欢迎旅程与触发式邮件，建立基线指标</a:t>
            </a:r>
          </a:p>
          <a:p>
            <a:r>
              <a:rPr lang="zh-CN" dirty="0"/>
              <a:t>• 全渠道个性化推荐与实时触发活动上线；A/B测试覆盖所有主要触点，输出首批优化报告</a:t>
            </a:r>
          </a:p>
          <a:p>
            <a:r>
              <a:rPr lang="zh-CN" dirty="0"/>
              <a:t>• 实现数据驱动的全自动营销闭环，ROI持续优化；形成组织内部AI运营能力，无需外部大力支持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12192000" cy="6858000"/>
              <a:chOff x="0" y="0"/>
              <a:chExt cx="12192000" cy="6858000"/>
            </a:xfrm>
          </p:grpSpPr>
          <p:sp>
            <p:nvSpPr>
              <p:cNvPr id="4" name="Line 4"/>
              <p:cNvSpPr/>
              <p:nvPr/>
            </p:nvSpPr>
            <p:spPr>
              <a:xfrm>
                <a:off x="0" y="1143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5" name="Line 5"/>
              <p:cNvSpPr/>
              <p:nvPr/>
            </p:nvSpPr>
            <p:spPr>
              <a:xfrm>
                <a:off x="0" y="2286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0" y="3429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0" y="4572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0" y="5715000"/>
                <a:ext cx="12192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192000" h="9525">
                    <a:moveTo>
                      <a:pt x="0" y="0"/>
                    </a:moveTo>
                    <a:lnTo>
                      <a:pt x="12192000" y="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4384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48768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73152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753600" y="0"/>
                <a:ext cx="9525" cy="6858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858000">
                    <a:moveTo>
                      <a:pt x="0" y="0"/>
                    </a:moveTo>
                    <a:lnTo>
                      <a:pt x="0" y="6858000"/>
                    </a:lnTo>
                  </a:path>
                </a:pathLst>
              </a:custGeom>
              <a:noFill/>
              <a:ln w="4762">
                <a:solidFill>
                  <a:schemeClr val="accent4">
                    <a:alpha val="40000"/>
                  </a:schemeClr>
                </a:solidFill>
              </a:ln>
            </p:spPr>
          </p:sp>
        </p:grpSp>
      </p:grpSp>
      <p:grpSp>
        <p:nvGrpSpPr>
          <p:cNvPr id="21" name="Group 21"/>
          <p:cNvGrpSpPr/>
          <p:nvPr/>
        </p:nvGrpSpPr>
        <p:grpSpPr>
          <a:xfrm>
            <a:off x="0" y="0"/>
            <a:ext cx="12192000" cy="6740366"/>
            <a:chOff x="0" y="0"/>
            <a:chExt cx="12192000" cy="6740366"/>
          </a:xfrm>
        </p:grpSpPr>
        <p:sp>
          <p:nvSpPr>
            <p:cNvPr id="15" name="Rectangle 15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571500" y="381000"/>
              <a:ext cx="1333500" cy="304800"/>
            </a:xfrm>
            <a:custGeom>
              <a:avLst/>
              <a:gdLst/>
              <a:ahLst/>
              <a:cxnLst/>
              <a:rect l="l" t="t" r="r" b="b"/>
              <a:pathLst>
                <a:path w="1333500" h="304800">
                  <a:moveTo>
                    <a:pt x="19050" y="0"/>
                  </a:moveTo>
                  <a:lnTo>
                    <a:pt x="1314450" y="0"/>
                  </a:lnTo>
                  <a:cubicBezTo>
                    <a:pt x="1324971" y="0"/>
                    <a:pt x="1333500" y="8529"/>
                    <a:pt x="1333500" y="19050"/>
                  </a:cubicBezTo>
                  <a:lnTo>
                    <a:pt x="1333500" y="285750"/>
                  </a:lnTo>
                  <a:cubicBezTo>
                    <a:pt x="1333500" y="296271"/>
                    <a:pt x="1324971" y="304800"/>
                    <a:pt x="1314450" y="304800"/>
                  </a:cubicBezTo>
                  <a:lnTo>
                    <a:pt x="19050" y="304800"/>
                  </a:lnTo>
                  <a:cubicBezTo>
                    <a:pt x="8529" y="304800"/>
                    <a:pt x="0" y="296271"/>
                    <a:pt x="0" y="2857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3953" y="485299"/>
              <a:ext cx="8285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spc="1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 / 8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1143000"/>
            <a:ext cx="9065895" cy="4381500"/>
            <a:chOff x="571500" y="1143000"/>
            <a:chExt cx="9065895" cy="4381500"/>
          </a:xfrm>
        </p:grpSpPr>
        <p:grpSp>
          <p:nvGrpSpPr>
            <p:cNvPr id="25" name="Group 25"/>
            <p:cNvGrpSpPr/>
            <p:nvPr/>
          </p:nvGrpSpPr>
          <p:grpSpPr>
            <a:xfrm>
              <a:off x="571500" y="1143000"/>
              <a:ext cx="3979972" cy="1556385"/>
              <a:chOff x="571500" y="1143000"/>
              <a:chExt cx="3979972" cy="155638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1143000"/>
                <a:ext cx="76200" cy="11430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2700000" scaled="1"/>
              </a:gra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19150" y="1261110"/>
                <a:ext cx="3732322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企业AI营销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19150" y="1880235"/>
                <a:ext cx="1919935" cy="819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4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工作台</a:t>
                </a: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831342" y="2711768"/>
              <a:ext cx="7483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为管理层准备的执行简报：聚焦核心结论、关键风险与落地路径，帮助在15分钟内做出决策。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858000" y="1333500"/>
              <a:ext cx="9525" cy="4191000"/>
            </a:xfrm>
            <a:custGeom>
              <a:avLst/>
              <a:gdLst/>
              <a:ahLst/>
              <a:cxnLst/>
              <a:rect l="l" t="t" r="r" b="b"/>
              <a:pathLst>
                <a:path w="9525" h="4191000">
                  <a:moveTo>
                    <a:pt x="0" y="0"/>
                  </a:moveTo>
                  <a:lnTo>
                    <a:pt x="0" y="419100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>
                      <a:alpha val="60000"/>
                    </a:schemeClr>
                  </a:gs>
                  <a:gs pos="100000">
                    <a:schemeClr val="accent3">
                      <a:alpha val="20000"/>
                    </a:schemeClr>
                  </a:gs>
                </a:gsLst>
                <a:lin ang="0" scaled="1"/>
              </a:gra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429500" y="1714500"/>
              <a:ext cx="2207895" cy="3349561"/>
              <a:chOff x="7429500" y="1714500"/>
              <a:chExt cx="2207895" cy="3349561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7429500" y="1714500"/>
                <a:ext cx="1925193" cy="492061"/>
                <a:chOff x="7429500" y="1714500"/>
                <a:chExt cx="1925193" cy="492061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7429500" y="17145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7533865" y="18573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8070342" y="17592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现状概览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8071866" y="200120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数据整合与现状诊断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7429500" y="2667000"/>
                <a:ext cx="1974799" cy="492061"/>
                <a:chOff x="7429500" y="2667000"/>
                <a:chExt cx="1974799" cy="492061"/>
              </a:xfrm>
            </p:grpSpPr>
            <p:sp>
              <p:nvSpPr>
                <p:cNvPr id="33" name="Freeform 33"/>
                <p:cNvSpPr/>
                <p:nvPr/>
              </p:nvSpPr>
              <p:spPr>
                <a:xfrm>
                  <a:off x="7429500" y="26670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533865" y="28098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70342" y="27117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核心洞察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071866" y="2953702"/>
                  <a:ext cx="13324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三大AI营销关键发现</a:t>
                  </a:r>
                </a:p>
              </p:txBody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7429500" y="3619500"/>
                <a:ext cx="2207895" cy="492061"/>
                <a:chOff x="7429500" y="3619500"/>
                <a:chExt cx="2207895" cy="492061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7429500" y="36195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7533865" y="37623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70342" y="36642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落地路径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8071866" y="390620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三步转型路线与预期指标</a:t>
                  </a: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7429500" y="4572000"/>
                <a:ext cx="1925193" cy="492061"/>
                <a:chOff x="7429500" y="4572000"/>
                <a:chExt cx="1925193" cy="492061"/>
              </a:xfrm>
            </p:grpSpPr>
            <p:sp>
              <p:nvSpPr>
                <p:cNvPr id="43" name="Freeform 43"/>
                <p:cNvSpPr/>
                <p:nvPr/>
              </p:nvSpPr>
              <p:spPr>
                <a:xfrm>
                  <a:off x="7429500" y="4572000"/>
                  <a:ext cx="457200" cy="457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0" h="457200">
                      <a:moveTo>
                        <a:pt x="76200" y="0"/>
                      </a:moveTo>
                      <a:lnTo>
                        <a:pt x="381000" y="0"/>
                      </a:lnTo>
                      <a:cubicBezTo>
                        <a:pt x="423084" y="0"/>
                        <a:pt x="457200" y="34116"/>
                        <a:pt x="457200" y="76200"/>
                      </a:cubicBezTo>
                      <a:lnTo>
                        <a:pt x="457200" y="381000"/>
                      </a:lnTo>
                      <a:cubicBezTo>
                        <a:pt x="457200" y="423084"/>
                        <a:pt x="423084" y="457200"/>
                        <a:pt x="381000" y="457200"/>
                      </a:cubicBezTo>
                      <a:lnTo>
                        <a:pt x="76200" y="457200"/>
                      </a:lnTo>
                      <a:cubicBezTo>
                        <a:pt x="34116" y="457200"/>
                        <a:pt x="0" y="423084"/>
                        <a:pt x="0" y="3810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7533865" y="4714875"/>
                  <a:ext cx="24846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500" b="1" dirty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8070342" y="46167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行动建议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71866" y="4858702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即刻启动的执行要点</a:t>
                  </a:r>
                </a:p>
              </p:txBody>
            </p:sp>
          </p:grpSp>
        </p:grpSp>
      </p:grpSp>
      <p:grpSp>
        <p:nvGrpSpPr>
          <p:cNvPr id="55" name="Group 55"/>
          <p:cNvGrpSpPr/>
          <p:nvPr/>
        </p:nvGrpSpPr>
        <p:grpSpPr>
          <a:xfrm>
            <a:off x="10477500" y="3276600"/>
            <a:ext cx="1524000" cy="3390900"/>
            <a:chOff x="10477500" y="3276600"/>
            <a:chExt cx="1524000" cy="3390900"/>
          </a:xfrm>
        </p:grpSpPr>
        <p:sp>
          <p:nvSpPr>
            <p:cNvPr id="50" name="Ellipse 50"/>
            <p:cNvSpPr/>
            <p:nvPr/>
          </p:nvSpPr>
          <p:spPr>
            <a:xfrm>
              <a:off x="10477500" y="5143500"/>
              <a:ext cx="1524000" cy="1524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11049000" y="5715000"/>
              <a:ext cx="762000" cy="762000"/>
            </a:xfrm>
            <a:prstGeom prst="ellipse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10477500" y="3276600"/>
              <a:ext cx="571500" cy="114300"/>
              <a:chOff x="10477500" y="3276600"/>
              <a:chExt cx="571500" cy="114300"/>
            </a:xfrm>
          </p:grpSpPr>
          <p:sp>
            <p:nvSpPr>
              <p:cNvPr id="52" name="Line 52"/>
              <p:cNvSpPr/>
              <p:nvPr/>
            </p:nvSpPr>
            <p:spPr>
              <a:xfrm>
                <a:off x="10477500" y="333375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53" name="Polygon 53"/>
              <p:cNvSpPr/>
              <p:nvPr/>
            </p:nvSpPr>
            <p:spPr>
              <a:xfrm>
                <a:off x="10953750" y="3276600"/>
                <a:ext cx="952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14300">
                    <a:moveTo>
                      <a:pt x="95250" y="57150"/>
                    </a:moveTo>
                    <a:lnTo>
                      <a:pt x="0" y="0"/>
                    </a:lnTo>
                    <a:lnTo>
                      <a:pt x="0" y="11430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7784" y="381952"/>
            <a:ext cx="11067478" cy="6263164"/>
            <a:chOff x="557784" y="381952"/>
            <a:chExt cx="11067478" cy="6263164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381952"/>
              <a:ext cx="6080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模块目录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6477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7784" y="946785"/>
              <a:ext cx="83393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议程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521142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本简报围绕结论、断层、架构、证据与行动展开，确保决策者有据可依。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43681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" y="2247900"/>
            <a:ext cx="10610850" cy="4610100"/>
            <a:chOff x="628650" y="2247900"/>
            <a:chExt cx="10610850" cy="4610100"/>
          </a:xfrm>
        </p:grpSpPr>
        <p:grpSp>
          <p:nvGrpSpPr>
            <p:cNvPr id="40" name="Group 40"/>
            <p:cNvGrpSpPr/>
            <p:nvPr/>
          </p:nvGrpSpPr>
          <p:grpSpPr>
            <a:xfrm>
              <a:off x="628650" y="2247900"/>
              <a:ext cx="2593848" cy="4610100"/>
              <a:chOff x="628650" y="2247900"/>
              <a:chExt cx="2593848" cy="4610100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628650" y="2247900"/>
                <a:ext cx="2199216" cy="4610100"/>
                <a:chOff x="628650" y="2247900"/>
                <a:chExt cx="2199216" cy="4610100"/>
              </a:xfrm>
            </p:grpSpPr>
            <p:sp>
              <p:nvSpPr>
                <p:cNvPr id="11" name="Ellipse 11"/>
                <p:cNvSpPr/>
                <p:nvPr/>
              </p:nvSpPr>
              <p:spPr>
                <a:xfrm>
                  <a:off x="628650" y="22479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45439" y="239744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231392" y="2292668"/>
                  <a:ext cx="159647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企业AI营销工作台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32916" y="25536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效率跃迁与不行动的代价</a:t>
                  </a:r>
                </a:p>
              </p:txBody>
            </p:sp>
            <p:sp>
              <p:nvSpPr>
                <p:cNvPr id="15" name="Line 15"/>
                <p:cNvSpPr/>
                <p:nvPr/>
              </p:nvSpPr>
              <p:spPr>
                <a:xfrm>
                  <a:off x="857250" y="2857500"/>
                  <a:ext cx="9525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000500">
                      <a:moveTo>
                        <a:pt x="0" y="0"/>
                      </a:moveTo>
                      <a:lnTo>
                        <a:pt x="0" y="400050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  <p:grpSp>
            <p:nvGrpSpPr>
              <p:cNvPr id="22" name="Group 22"/>
              <p:cNvGrpSpPr/>
              <p:nvPr/>
            </p:nvGrpSpPr>
            <p:grpSpPr>
              <a:xfrm>
                <a:off x="628650" y="3105150"/>
                <a:ext cx="2593848" cy="3752850"/>
                <a:chOff x="628650" y="3105150"/>
                <a:chExt cx="2593848" cy="3752850"/>
              </a:xfrm>
            </p:grpSpPr>
            <p:sp>
              <p:nvSpPr>
                <p:cNvPr id="17" name="Ellipse 17"/>
                <p:cNvSpPr/>
                <p:nvPr/>
              </p:nvSpPr>
              <p:spPr>
                <a:xfrm>
                  <a:off x="628650" y="310515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45439" y="325469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231392" y="3149918"/>
                  <a:ext cx="115865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三大关键洞察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232916" y="3410902"/>
                  <a:ext cx="198958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数据孤立、分析滞后、执行脱节</a:t>
                  </a:r>
                </a:p>
              </p:txBody>
            </p:sp>
            <p:sp>
              <p:nvSpPr>
                <p:cNvPr id="21" name="Line 21"/>
                <p:cNvSpPr/>
                <p:nvPr/>
              </p:nvSpPr>
              <p:spPr>
                <a:xfrm>
                  <a:off x="857250" y="3714750"/>
                  <a:ext cx="9525" cy="3143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143250">
                      <a:moveTo>
                        <a:pt x="0" y="0"/>
                      </a:moveTo>
                      <a:lnTo>
                        <a:pt x="0" y="314325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  <p:grpSp>
            <p:nvGrpSpPr>
              <p:cNvPr id="28" name="Group 28"/>
              <p:cNvGrpSpPr/>
              <p:nvPr/>
            </p:nvGrpSpPr>
            <p:grpSpPr>
              <a:xfrm>
                <a:off x="628650" y="3962400"/>
                <a:ext cx="2490402" cy="2895600"/>
                <a:chOff x="628650" y="3962400"/>
                <a:chExt cx="2490402" cy="2895600"/>
              </a:xfrm>
            </p:grpSpPr>
            <p:sp>
              <p:nvSpPr>
                <p:cNvPr id="23" name="Ellipse 23"/>
                <p:cNvSpPr/>
                <p:nvPr/>
              </p:nvSpPr>
              <p:spPr>
                <a:xfrm>
                  <a:off x="628650" y="396240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45439" y="411194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31392" y="4007168"/>
                  <a:ext cx="188766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传统营销 vs AI工作台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232916" y="426815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四个引擎重塑营销价值链</a:t>
                  </a:r>
                </a:p>
              </p:txBody>
            </p:sp>
            <p:sp>
              <p:nvSpPr>
                <p:cNvPr id="27" name="Line 27"/>
                <p:cNvSpPr/>
                <p:nvPr/>
              </p:nvSpPr>
              <p:spPr>
                <a:xfrm>
                  <a:off x="857250" y="4572000"/>
                  <a:ext cx="9525" cy="228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86000">
                      <a:moveTo>
                        <a:pt x="0" y="0"/>
                      </a:moveTo>
                      <a:lnTo>
                        <a:pt x="0" y="228600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  <p:grpSp>
            <p:nvGrpSpPr>
              <p:cNvPr id="34" name="Group 34"/>
              <p:cNvGrpSpPr/>
              <p:nvPr/>
            </p:nvGrpSpPr>
            <p:grpSpPr>
              <a:xfrm>
                <a:off x="628650" y="4819650"/>
                <a:ext cx="2169795" cy="2038350"/>
                <a:chOff x="628650" y="4819650"/>
                <a:chExt cx="2169795" cy="2038350"/>
              </a:xfrm>
            </p:grpSpPr>
            <p:sp>
              <p:nvSpPr>
                <p:cNvPr id="29" name="Ellipse 29"/>
                <p:cNvSpPr/>
                <p:nvPr/>
              </p:nvSpPr>
              <p:spPr>
                <a:xfrm>
                  <a:off x="628650" y="4819650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745439" y="496919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31392" y="486441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落地证据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232916" y="5125402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真实效率提升与风险敞口</a:t>
                  </a:r>
                </a:p>
              </p:txBody>
            </p:sp>
            <p:sp>
              <p:nvSpPr>
                <p:cNvPr id="33" name="Line 33"/>
                <p:cNvSpPr/>
                <p:nvPr/>
              </p:nvSpPr>
              <p:spPr>
                <a:xfrm>
                  <a:off x="857250" y="5429250"/>
                  <a:ext cx="9525" cy="142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428750">
                      <a:moveTo>
                        <a:pt x="0" y="0"/>
                      </a:moveTo>
                      <a:lnTo>
                        <a:pt x="0" y="142875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  <a:prstDash val="dash"/>
                </a:ln>
              </p:spPr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628650" y="5676900"/>
                <a:ext cx="1463040" cy="511111"/>
                <a:chOff x="628650" y="5676900"/>
                <a:chExt cx="1463040" cy="511111"/>
              </a:xfrm>
            </p:grpSpPr>
            <p:sp>
              <p:nvSpPr>
                <p:cNvPr id="35" name="Ellipse 35"/>
                <p:cNvSpPr/>
                <p:nvPr/>
              </p:nvSpPr>
              <p:spPr>
                <a:xfrm>
                  <a:off x="628650" y="5676900"/>
                  <a:ext cx="457200" cy="4572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45439" y="5826442"/>
                  <a:ext cx="22362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1231392" y="5721668"/>
                  <a:ext cx="77701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即刻启动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232916" y="598265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三步转型路线</a:t>
                  </a:r>
                </a:p>
              </p:txBody>
            </p:sp>
          </p:grpSp>
        </p:grpSp>
        <p:grpSp>
          <p:nvGrpSpPr>
            <p:cNvPr id="52" name="Group 52"/>
            <p:cNvGrpSpPr/>
            <p:nvPr/>
          </p:nvGrpSpPr>
          <p:grpSpPr>
            <a:xfrm>
              <a:off x="6667500" y="2286000"/>
              <a:ext cx="4572000" cy="3810000"/>
              <a:chOff x="6667500" y="2286000"/>
              <a:chExt cx="4572000" cy="38100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6667500" y="2286000"/>
                <a:ext cx="4572000" cy="3810000"/>
              </a:xfrm>
              <a:custGeom>
                <a:avLst/>
                <a:gdLst/>
                <a:ahLst/>
                <a:cxnLst/>
                <a:rect l="l" t="t" r="r" b="b"/>
                <a:pathLst>
                  <a:path w="4572000" h="3810000">
                    <a:moveTo>
                      <a:pt x="114300" y="0"/>
                    </a:moveTo>
                    <a:lnTo>
                      <a:pt x="4457700" y="0"/>
                    </a:lnTo>
                    <a:cubicBezTo>
                      <a:pt x="4520826" y="0"/>
                      <a:pt x="4572000" y="51174"/>
                      <a:pt x="4572000" y="114300"/>
                    </a:cubicBezTo>
                    <a:lnTo>
                      <a:pt x="4572000" y="3695700"/>
                    </a:lnTo>
                    <a:cubicBezTo>
                      <a:pt x="4572000" y="3758826"/>
                      <a:pt x="4520826" y="3810000"/>
                      <a:pt x="4457700" y="3810000"/>
                    </a:cubicBezTo>
                    <a:lnTo>
                      <a:pt x="114300" y="3810000"/>
                    </a:lnTo>
                    <a:cubicBezTo>
                      <a:pt x="51174" y="3810000"/>
                      <a:pt x="0" y="3758826"/>
                      <a:pt x="0" y="3695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58000" y="2476500"/>
                <a:ext cx="4191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76200">
                    <a:moveTo>
                      <a:pt x="38100" y="0"/>
                    </a:moveTo>
                    <a:lnTo>
                      <a:pt x="4152900" y="0"/>
                    </a:lnTo>
                    <a:cubicBezTo>
                      <a:pt x="4173942" y="0"/>
                      <a:pt x="4191000" y="17058"/>
                      <a:pt x="4191000" y="38100"/>
                    </a:cubicBezTo>
                    <a:lnTo>
                      <a:pt x="4191000" y="38100"/>
                    </a:lnTo>
                    <a:cubicBezTo>
                      <a:pt x="4191000" y="59142"/>
                      <a:pt x="4173942" y="76200"/>
                      <a:pt x="4152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858000" y="2476500"/>
                <a:ext cx="838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76200">
                    <a:moveTo>
                      <a:pt x="38100" y="0"/>
                    </a:moveTo>
                    <a:lnTo>
                      <a:pt x="800100" y="0"/>
                    </a:lnTo>
                    <a:cubicBezTo>
                      <a:pt x="821142" y="0"/>
                      <a:pt x="838200" y="17058"/>
                      <a:pt x="838200" y="38100"/>
                    </a:cubicBezTo>
                    <a:lnTo>
                      <a:pt x="838200" y="38100"/>
                    </a:lnTo>
                    <a:cubicBezTo>
                      <a:pt x="838200" y="59142"/>
                      <a:pt x="821142" y="76200"/>
                      <a:pt x="8001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858000" y="2762250"/>
                <a:ext cx="4191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76200">
                    <a:moveTo>
                      <a:pt x="38100" y="0"/>
                    </a:moveTo>
                    <a:lnTo>
                      <a:pt x="4152900" y="0"/>
                    </a:lnTo>
                    <a:cubicBezTo>
                      <a:pt x="4173942" y="0"/>
                      <a:pt x="4191000" y="17058"/>
                      <a:pt x="4191000" y="38100"/>
                    </a:cubicBezTo>
                    <a:lnTo>
                      <a:pt x="4191000" y="38100"/>
                    </a:lnTo>
                    <a:cubicBezTo>
                      <a:pt x="4191000" y="59142"/>
                      <a:pt x="4173942" y="76200"/>
                      <a:pt x="4152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58000" y="2762250"/>
                <a:ext cx="838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76200">
                    <a:moveTo>
                      <a:pt x="38100" y="0"/>
                    </a:moveTo>
                    <a:lnTo>
                      <a:pt x="800100" y="0"/>
                    </a:lnTo>
                    <a:cubicBezTo>
                      <a:pt x="821142" y="0"/>
                      <a:pt x="838200" y="17058"/>
                      <a:pt x="838200" y="38100"/>
                    </a:cubicBezTo>
                    <a:lnTo>
                      <a:pt x="838200" y="38100"/>
                    </a:lnTo>
                    <a:cubicBezTo>
                      <a:pt x="838200" y="59142"/>
                      <a:pt x="821142" y="76200"/>
                      <a:pt x="8001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858000" y="3048000"/>
                <a:ext cx="4191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76200">
                    <a:moveTo>
                      <a:pt x="38100" y="0"/>
                    </a:moveTo>
                    <a:lnTo>
                      <a:pt x="4152900" y="0"/>
                    </a:lnTo>
                    <a:cubicBezTo>
                      <a:pt x="4173942" y="0"/>
                      <a:pt x="4191000" y="17058"/>
                      <a:pt x="4191000" y="38100"/>
                    </a:cubicBezTo>
                    <a:lnTo>
                      <a:pt x="4191000" y="38100"/>
                    </a:lnTo>
                    <a:cubicBezTo>
                      <a:pt x="4191000" y="59142"/>
                      <a:pt x="4173942" y="76200"/>
                      <a:pt x="4152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858000" y="3048000"/>
                <a:ext cx="838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76200">
                    <a:moveTo>
                      <a:pt x="38100" y="0"/>
                    </a:moveTo>
                    <a:lnTo>
                      <a:pt x="800100" y="0"/>
                    </a:lnTo>
                    <a:cubicBezTo>
                      <a:pt x="821142" y="0"/>
                      <a:pt x="838200" y="17058"/>
                      <a:pt x="838200" y="38100"/>
                    </a:cubicBezTo>
                    <a:lnTo>
                      <a:pt x="838200" y="38100"/>
                    </a:lnTo>
                    <a:cubicBezTo>
                      <a:pt x="838200" y="59142"/>
                      <a:pt x="821142" y="76200"/>
                      <a:pt x="8001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858000" y="3333750"/>
                <a:ext cx="4191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76200">
                    <a:moveTo>
                      <a:pt x="38100" y="0"/>
                    </a:moveTo>
                    <a:lnTo>
                      <a:pt x="4152900" y="0"/>
                    </a:lnTo>
                    <a:cubicBezTo>
                      <a:pt x="4173942" y="0"/>
                      <a:pt x="4191000" y="17058"/>
                      <a:pt x="4191000" y="38100"/>
                    </a:cubicBezTo>
                    <a:lnTo>
                      <a:pt x="4191000" y="38100"/>
                    </a:lnTo>
                    <a:cubicBezTo>
                      <a:pt x="4191000" y="59142"/>
                      <a:pt x="4173942" y="76200"/>
                      <a:pt x="4152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858000" y="3333750"/>
                <a:ext cx="838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76200">
                    <a:moveTo>
                      <a:pt x="38100" y="0"/>
                    </a:moveTo>
                    <a:lnTo>
                      <a:pt x="800100" y="0"/>
                    </a:lnTo>
                    <a:cubicBezTo>
                      <a:pt x="821142" y="0"/>
                      <a:pt x="838200" y="17058"/>
                      <a:pt x="838200" y="38100"/>
                    </a:cubicBezTo>
                    <a:lnTo>
                      <a:pt x="838200" y="38100"/>
                    </a:lnTo>
                    <a:cubicBezTo>
                      <a:pt x="838200" y="59142"/>
                      <a:pt x="821142" y="76200"/>
                      <a:pt x="8001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858000" y="3619500"/>
                <a:ext cx="4191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76200">
                    <a:moveTo>
                      <a:pt x="38100" y="0"/>
                    </a:moveTo>
                    <a:lnTo>
                      <a:pt x="4152900" y="0"/>
                    </a:lnTo>
                    <a:cubicBezTo>
                      <a:pt x="4173942" y="0"/>
                      <a:pt x="4191000" y="17058"/>
                      <a:pt x="4191000" y="38100"/>
                    </a:cubicBezTo>
                    <a:lnTo>
                      <a:pt x="4191000" y="38100"/>
                    </a:lnTo>
                    <a:cubicBezTo>
                      <a:pt x="4191000" y="59142"/>
                      <a:pt x="4173942" y="76200"/>
                      <a:pt x="4152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858000" y="3619500"/>
                <a:ext cx="838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38200" h="76200">
                    <a:moveTo>
                      <a:pt x="38100" y="0"/>
                    </a:moveTo>
                    <a:lnTo>
                      <a:pt x="800100" y="0"/>
                    </a:lnTo>
                    <a:cubicBezTo>
                      <a:pt x="821142" y="0"/>
                      <a:pt x="838200" y="17058"/>
                      <a:pt x="838200" y="38100"/>
                    </a:cubicBezTo>
                    <a:lnTo>
                      <a:pt x="838200" y="38100"/>
                    </a:lnTo>
                    <a:cubicBezTo>
                      <a:pt x="838200" y="59142"/>
                      <a:pt x="821142" y="76200"/>
                      <a:pt x="8001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64" name="Group 64"/>
            <p:cNvGrpSpPr/>
            <p:nvPr/>
          </p:nvGrpSpPr>
          <p:grpSpPr>
            <a:xfrm>
              <a:off x="6853047" y="2457450"/>
              <a:ext cx="3624453" cy="2723864"/>
              <a:chOff x="6853047" y="2457450"/>
              <a:chExt cx="3624453" cy="2723864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6853047" y="38476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数据整合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853047" y="4133374"/>
                <a:ext cx="40515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AI分析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853047" y="441912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自动化执行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53047" y="470487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效果度量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53047" y="4990624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持续迭代</a:t>
                </a:r>
              </a:p>
            </p:txBody>
          </p:sp>
          <p:grpSp>
            <p:nvGrpSpPr>
              <p:cNvPr id="63" name="Group 63"/>
              <p:cNvGrpSpPr/>
              <p:nvPr/>
            </p:nvGrpSpPr>
            <p:grpSpPr>
              <a:xfrm>
                <a:off x="10382250" y="2457450"/>
                <a:ext cx="95250" cy="1190625"/>
                <a:chOff x="10382250" y="2457450"/>
                <a:chExt cx="95250" cy="1190625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10382250" y="245745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95250" y="47625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10382250" y="274320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95250" y="47625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60" name="Freeform 60"/>
                <p:cNvSpPr/>
                <p:nvPr/>
              </p:nvSpPr>
              <p:spPr>
                <a:xfrm>
                  <a:off x="10382250" y="302895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95250" y="47625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61" name="Freeform 61"/>
                <p:cNvSpPr/>
                <p:nvPr/>
              </p:nvSpPr>
              <p:spPr>
                <a:xfrm>
                  <a:off x="10382250" y="331470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95250" y="47625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10382250" y="3600450"/>
                  <a:ext cx="95250" cy="47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0" h="47625">
                      <a:moveTo>
                        <a:pt x="0" y="47625"/>
                      </a:moveTo>
                      <a:lnTo>
                        <a:pt x="95250" y="47625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</p:grpSp>
        </p:grpSp>
      </p:grpSp>
      <p:grpSp>
        <p:nvGrpSpPr>
          <p:cNvPr id="72" name="Group 72"/>
          <p:cNvGrpSpPr/>
          <p:nvPr/>
        </p:nvGrpSpPr>
        <p:grpSpPr>
          <a:xfrm>
            <a:off x="6667500" y="5334000"/>
            <a:ext cx="4000500" cy="571500"/>
            <a:chOff x="6667500" y="5334000"/>
            <a:chExt cx="4000500" cy="571500"/>
          </a:xfrm>
        </p:grpSpPr>
        <p:sp>
          <p:nvSpPr>
            <p:cNvPr id="66" name="Freeform 66"/>
            <p:cNvSpPr/>
            <p:nvPr/>
          </p:nvSpPr>
          <p:spPr>
            <a:xfrm>
              <a:off x="6667500" y="53340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495300"/>
                  </a:lnTo>
                  <a:cubicBezTo>
                    <a:pt x="1905000" y="537384"/>
                    <a:pt x="1870884" y="571500"/>
                    <a:pt x="1828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852666" y="54587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核心价值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853238" y="5665470"/>
              <a:ext cx="7970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效率提升 3-5×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8763000" y="5334000"/>
              <a:ext cx="1905000" cy="571500"/>
            </a:xfrm>
            <a:custGeom>
              <a:avLst/>
              <a:gdLst/>
              <a:ahLst/>
              <a:cxnLst/>
              <a:rect l="l" t="t" r="r" b="b"/>
              <a:pathLst>
                <a:path w="1905000" h="571500">
                  <a:moveTo>
                    <a:pt x="76200" y="0"/>
                  </a:moveTo>
                  <a:lnTo>
                    <a:pt x="1828800" y="0"/>
                  </a:lnTo>
                  <a:cubicBezTo>
                    <a:pt x="1870884" y="0"/>
                    <a:pt x="1905000" y="34116"/>
                    <a:pt x="1905000" y="76200"/>
                  </a:cubicBezTo>
                  <a:lnTo>
                    <a:pt x="1905000" y="495300"/>
                  </a:lnTo>
                  <a:cubicBezTo>
                    <a:pt x="1905000" y="537384"/>
                    <a:pt x="1870884" y="571500"/>
                    <a:pt x="1828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48166" y="54587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决策周期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48738" y="5665470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从天级到分钟级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57784" y="315278"/>
            <a:ext cx="11062716" cy="635698"/>
            <a:chOff x="557784" y="315278"/>
            <a:chExt cx="11062716" cy="635698"/>
          </a:xfrm>
        </p:grpSpPr>
        <p:sp>
          <p:nvSpPr>
            <p:cNvPr id="5" name="Line 5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166" y="3152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422910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三大关键洞察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1143000"/>
            <a:ext cx="11049000" cy="4857750"/>
            <a:chOff x="571500" y="1143000"/>
            <a:chExt cx="11049000" cy="4857750"/>
          </a:xfrm>
        </p:grpSpPr>
        <p:sp>
          <p:nvSpPr>
            <p:cNvPr id="9" name="Freeform 9"/>
            <p:cNvSpPr/>
            <p:nvPr/>
          </p:nvSpPr>
          <p:spPr>
            <a:xfrm>
              <a:off x="571500" y="1143000"/>
              <a:ext cx="11049000" cy="952500"/>
            </a:xfrm>
            <a:custGeom>
              <a:avLst/>
              <a:gdLst/>
              <a:ahLst/>
              <a:cxnLst/>
              <a:rect l="l" t="t" r="r" b="b"/>
              <a:pathLst>
                <a:path w="11049000" h="9525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876300"/>
                  </a:lnTo>
                  <a:cubicBezTo>
                    <a:pt x="11049000" y="918384"/>
                    <a:pt x="11014884" y="952500"/>
                    <a:pt x="10972800" y="952500"/>
                  </a:cubicBezTo>
                  <a:lnTo>
                    <a:pt x="76200" y="952500"/>
                  </a:lnTo>
                  <a:cubicBezTo>
                    <a:pt x="34116" y="952500"/>
                    <a:pt x="0" y="918384"/>
                    <a:pt x="0" y="876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1362075"/>
              <a:ext cx="42504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这三个洞察构成了AI营销工作台的价值基石，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16478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也是衡量投入回报的核心参照。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71500" y="2381250"/>
              <a:ext cx="3429000" cy="3619500"/>
              <a:chOff x="571500" y="2381250"/>
              <a:chExt cx="3429000" cy="36195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" y="23812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71500" y="23812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1905000" y="2571750"/>
                <a:ext cx="762000" cy="7620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095500" y="2809875"/>
                <a:ext cx="381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85750">
                    <a:moveTo>
                      <a:pt x="0" y="142875"/>
                    </a:moveTo>
                    <a:lnTo>
                      <a:pt x="142875" y="285750"/>
                    </a:lnTo>
                    <a:lnTo>
                      <a:pt x="381000" y="0"/>
                    </a:lnTo>
                  </a:path>
                </a:pathLst>
              </a:custGeom>
              <a:noFill/>
              <a:ln w="28575" cap="rnd">
                <a:solidFill>
                  <a:schemeClr val="accent2"/>
                </a:solidFill>
                <a:round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470355" y="3425190"/>
                <a:ext cx="163129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数据孤岛破除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952500" y="3857625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2488" y="40938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当前事实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1154" y="43472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企业数据分散在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51154" y="4585335"/>
                <a:ext cx="124800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10+个孤立系统中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52488" y="50463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变化趋势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1154" y="5299710"/>
                <a:ext cx="16034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↑ 整合后决策速度提升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1154" y="5537835"/>
                <a:ext cx="4402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3-5倍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4191000" y="2381250"/>
              <a:ext cx="3429000" cy="3619500"/>
              <a:chOff x="4191000" y="2381250"/>
              <a:chExt cx="3429000" cy="36195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191000" y="23812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191000" y="23812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5524500" y="2571750"/>
                <a:ext cx="762000" cy="7620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762625" y="2809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15875"/>
                      <a:pt x="15875" y="0"/>
                      <a:pt x="47625" y="0"/>
                    </a:cubicBezTo>
                    <a:cubicBezTo>
                      <a:pt x="79375" y="0"/>
                      <a:pt x="95250" y="15875"/>
                      <a:pt x="95250" y="47625"/>
                    </a:cubicBezTo>
                    <a:cubicBezTo>
                      <a:pt x="95250" y="79375"/>
                      <a:pt x="79375" y="95250"/>
                      <a:pt x="47625" y="95250"/>
                    </a:cubicBezTo>
                    <a:cubicBezTo>
                      <a:pt x="15875" y="95250"/>
                      <a:pt x="0" y="79375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953125" y="28098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cubicBezTo>
                      <a:pt x="0" y="15875"/>
                      <a:pt x="15875" y="0"/>
                      <a:pt x="47625" y="0"/>
                    </a:cubicBezTo>
                    <a:cubicBezTo>
                      <a:pt x="79375" y="0"/>
                      <a:pt x="95250" y="15875"/>
                      <a:pt x="95250" y="47625"/>
                    </a:cubicBezTo>
                    <a:cubicBezTo>
                      <a:pt x="95250" y="79375"/>
                      <a:pt x="79375" y="95250"/>
                      <a:pt x="47625" y="95250"/>
                    </a:cubicBezTo>
                    <a:cubicBezTo>
                      <a:pt x="15875" y="95250"/>
                      <a:pt x="0" y="79375"/>
                      <a:pt x="0" y="47625"/>
                    </a:cubicBezTo>
                  </a:path>
                </a:pathLst>
              </a:cu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715000" y="2952750"/>
                <a:ext cx="3810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63500">
                    <a:moveTo>
                      <a:pt x="0" y="0"/>
                    </a:moveTo>
                    <a:cubicBezTo>
                      <a:pt x="63500" y="63500"/>
                      <a:pt x="127000" y="63500"/>
                      <a:pt x="190500" y="0"/>
                    </a:cubicBezTo>
                    <a:cubicBezTo>
                      <a:pt x="254000" y="63500"/>
                      <a:pt x="317500" y="63500"/>
                      <a:pt x="381000" y="0"/>
                    </a:cubicBez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955438" y="3425190"/>
                <a:ext cx="19001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智能洞察实时化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4572000" y="3857625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471988" y="40938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当前事实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70654" y="43472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分析报告滞后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470654" y="4585335"/>
                <a:ext cx="7795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24-72小时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471988" y="50463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变化趋势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470654" y="5299710"/>
                <a:ext cx="166786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↑ AI分析缩短至分钟级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470654" y="5537835"/>
                <a:ext cx="14176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↓ 人工成本降低60%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7810500" y="2381250"/>
              <a:ext cx="3429000" cy="3619500"/>
              <a:chOff x="7810500" y="2381250"/>
              <a:chExt cx="3429000" cy="36195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810500" y="2381250"/>
                <a:ext cx="3429000" cy="3619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3619500">
                    <a:moveTo>
                      <a:pt x="114300" y="0"/>
                    </a:moveTo>
                    <a:lnTo>
                      <a:pt x="3314700" y="0"/>
                    </a:lnTo>
                    <a:cubicBezTo>
                      <a:pt x="3377826" y="0"/>
                      <a:pt x="3429000" y="51174"/>
                      <a:pt x="3429000" y="114300"/>
                    </a:cubicBezTo>
                    <a:lnTo>
                      <a:pt x="3429000" y="3505200"/>
                    </a:lnTo>
                    <a:cubicBezTo>
                      <a:pt x="3429000" y="3568326"/>
                      <a:pt x="3377826" y="3619500"/>
                      <a:pt x="3314700" y="3619500"/>
                    </a:cubicBezTo>
                    <a:lnTo>
                      <a:pt x="114300" y="3619500"/>
                    </a:lnTo>
                    <a:cubicBezTo>
                      <a:pt x="51174" y="3619500"/>
                      <a:pt x="0" y="3568326"/>
                      <a:pt x="0" y="35052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810500" y="2381250"/>
                <a:ext cx="34290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429000" h="76200">
                    <a:moveTo>
                      <a:pt x="38100" y="0"/>
                    </a:moveTo>
                    <a:lnTo>
                      <a:pt x="3390900" y="0"/>
                    </a:lnTo>
                    <a:cubicBezTo>
                      <a:pt x="3411942" y="0"/>
                      <a:pt x="3429000" y="17058"/>
                      <a:pt x="3429000" y="38100"/>
                    </a:cubicBezTo>
                    <a:lnTo>
                      <a:pt x="3429000" y="38100"/>
                    </a:lnTo>
                    <a:cubicBezTo>
                      <a:pt x="3429000" y="59142"/>
                      <a:pt x="3411942" y="76200"/>
                      <a:pt x="339090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100000">
                    <a:schemeClr val="accent3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144000" y="2571750"/>
                <a:ext cx="762000" cy="762000"/>
              </a:xfrm>
              <a:prstGeom prst="ellipse">
                <a:avLst/>
              </a:pr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3" name="Line 43"/>
              <p:cNvSpPr/>
              <p:nvPr/>
            </p:nvSpPr>
            <p:spPr>
              <a:xfrm>
                <a:off x="9382125" y="2809875"/>
                <a:ext cx="9525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5750">
                    <a:moveTo>
                      <a:pt x="0" y="285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44" name="Line 44"/>
              <p:cNvSpPr/>
              <p:nvPr/>
            </p:nvSpPr>
            <p:spPr>
              <a:xfrm>
                <a:off x="9525000" y="2714625"/>
                <a:ext cx="9525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0">
                    <a:moveTo>
                      <a:pt x="0" y="381000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9667875" y="2857500"/>
                <a:ext cx="9525" cy="238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">
                    <a:moveTo>
                      <a:pt x="0" y="238125"/>
                    </a:moveTo>
                    <a:lnTo>
                      <a:pt x="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9334500" y="3095625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574938" y="3425190"/>
                <a:ext cx="19001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效果归因自动化</a:t>
                </a:r>
              </a:p>
            </p:txBody>
          </p:sp>
          <p:sp>
            <p:nvSpPr>
              <p:cNvPr id="48" name="Line 48"/>
              <p:cNvSpPr/>
              <p:nvPr/>
            </p:nvSpPr>
            <p:spPr>
              <a:xfrm>
                <a:off x="8191500" y="3857625"/>
                <a:ext cx="266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9525">
                    <a:moveTo>
                      <a:pt x="0" y="0"/>
                    </a:moveTo>
                    <a:lnTo>
                      <a:pt x="2667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091488" y="40938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当前事实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090154" y="434721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效果归因模糊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090154" y="4585335"/>
                <a:ext cx="9680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ROI难以量化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091488" y="5046345"/>
                <a:ext cx="51838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变化趋势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090154" y="5299710"/>
                <a:ext cx="12803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↑ 全链路追踪归因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090154" y="5537835"/>
                <a:ext cx="12838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↑ 营销ROI可视化</a:t>
                </a:r>
              </a:p>
            </p:txBody>
          </p:sp>
        </p:grpSp>
      </p:grpSp>
      <p:grpSp>
        <p:nvGrpSpPr>
          <p:cNvPr id="60" name="Group 60"/>
          <p:cNvGrpSpPr/>
          <p:nvPr/>
        </p:nvGrpSpPr>
        <p:grpSpPr>
          <a:xfrm>
            <a:off x="566738" y="6381750"/>
            <a:ext cx="11053762" cy="310991"/>
            <a:chOff x="566738" y="6381750"/>
            <a:chExt cx="11053762" cy="310991"/>
          </a:xfrm>
        </p:grpSpPr>
        <p:sp>
          <p:nvSpPr>
            <p:cNvPr id="57" name="Line 57"/>
            <p:cNvSpPr/>
            <p:nvPr/>
          </p:nvSpPr>
          <p:spPr>
            <a:xfrm>
              <a:off x="571500" y="6381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6738" y="65308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548252" y="6530816"/>
              <a:ext cx="69601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49000" cy="438150"/>
            <a:chOff x="571500" y="476250"/>
            <a:chExt cx="11049000" cy="438150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76200" cy="304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56666" y="5724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9048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57784" y="1089660"/>
            <a:ext cx="4916123" cy="528066"/>
            <a:chOff x="557784" y="1089660"/>
            <a:chExt cx="4916123" cy="528066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1089660"/>
              <a:ext cx="491612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传统营销vsAI营销工作台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63880" y="1600200"/>
            <a:ext cx="8304276" cy="293370"/>
            <a:chOff x="563880" y="1600200"/>
            <a:chExt cx="8304276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1600200"/>
              <a:ext cx="8304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以下四个维度的对比揭示了效率与精度的系统性差距，这正是AI工作台的核心价值所在。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71500" y="2095500"/>
            <a:ext cx="11049000" cy="476250"/>
            <a:chOff x="571500" y="2095500"/>
            <a:chExt cx="11049000" cy="476250"/>
          </a:xfrm>
        </p:grpSpPr>
        <p:sp>
          <p:nvSpPr>
            <p:cNvPr id="13" name="Freeform 13"/>
            <p:cNvSpPr/>
            <p:nvPr/>
          </p:nvSpPr>
          <p:spPr>
            <a:xfrm>
              <a:off x="571500" y="2095500"/>
              <a:ext cx="2095500" cy="476250"/>
            </a:xfrm>
            <a:custGeom>
              <a:avLst/>
              <a:gdLst/>
              <a:ahLst/>
              <a:cxnLst/>
              <a:rect l="l" t="t" r="r" b="b"/>
              <a:pathLst>
                <a:path w="2095500" h="476250">
                  <a:moveTo>
                    <a:pt x="76200" y="0"/>
                  </a:moveTo>
                  <a:lnTo>
                    <a:pt x="2019300" y="0"/>
                  </a:lnTo>
                  <a:cubicBezTo>
                    <a:pt x="2061384" y="0"/>
                    <a:pt x="2095500" y="34116"/>
                    <a:pt x="2095500" y="76200"/>
                  </a:cubicBezTo>
                  <a:lnTo>
                    <a:pt x="2095500" y="400050"/>
                  </a:lnTo>
                  <a:cubicBezTo>
                    <a:pt x="2095500" y="442134"/>
                    <a:pt x="2061384" y="476250"/>
                    <a:pt x="2019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443533" y="22707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2857500" y="2095500"/>
              <a:ext cx="4191000" cy="476250"/>
            </a:xfrm>
            <a:custGeom>
              <a:avLst/>
              <a:gdLst/>
              <a:ahLst/>
              <a:cxnLst/>
              <a:rect l="l" t="t" r="r" b="b"/>
              <a:pathLst>
                <a:path w="4191000" h="476250">
                  <a:moveTo>
                    <a:pt x="76200" y="0"/>
                  </a:moveTo>
                  <a:lnTo>
                    <a:pt x="4114800" y="0"/>
                  </a:lnTo>
                  <a:cubicBezTo>
                    <a:pt x="4156884" y="0"/>
                    <a:pt x="4191000" y="34116"/>
                    <a:pt x="4191000" y="76200"/>
                  </a:cubicBezTo>
                  <a:lnTo>
                    <a:pt x="4191000" y="400050"/>
                  </a:lnTo>
                  <a:cubicBezTo>
                    <a:pt x="4191000" y="442134"/>
                    <a:pt x="4156884" y="476250"/>
                    <a:pt x="4114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C5303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07662" y="22707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传统营销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239000" y="2095500"/>
              <a:ext cx="4381500" cy="476250"/>
            </a:xfrm>
            <a:custGeom>
              <a:avLst/>
              <a:gdLst/>
              <a:ahLst/>
              <a:cxnLst/>
              <a:rect l="l" t="t" r="r" b="b"/>
              <a:pathLst>
                <a:path w="4381500" h="476250">
                  <a:moveTo>
                    <a:pt x="76200" y="0"/>
                  </a:moveTo>
                  <a:lnTo>
                    <a:pt x="4305300" y="0"/>
                  </a:lnTo>
                  <a:cubicBezTo>
                    <a:pt x="4347384" y="0"/>
                    <a:pt x="4381500" y="34116"/>
                    <a:pt x="4381500" y="76200"/>
                  </a:cubicBezTo>
                  <a:lnTo>
                    <a:pt x="4381500" y="400050"/>
                  </a:lnTo>
                  <a:cubicBezTo>
                    <a:pt x="4381500" y="442134"/>
                    <a:pt x="4347384" y="476250"/>
                    <a:pt x="43053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F855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99428" y="2270760"/>
              <a:ext cx="10606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AI营销工作台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2714625"/>
            <a:ext cx="11049000" cy="3667125"/>
            <a:chOff x="571500" y="2714625"/>
            <a:chExt cx="11049000" cy="3667125"/>
          </a:xfrm>
        </p:grpSpPr>
        <p:grpSp>
          <p:nvGrpSpPr>
            <p:cNvPr id="29" name="Group 29"/>
            <p:cNvGrpSpPr/>
            <p:nvPr/>
          </p:nvGrpSpPr>
          <p:grpSpPr>
            <a:xfrm>
              <a:off x="571500" y="2714625"/>
              <a:ext cx="11049000" cy="857250"/>
              <a:chOff x="571500" y="2714625"/>
              <a:chExt cx="11049000" cy="8572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71500" y="2714625"/>
                <a:ext cx="2095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857250">
                    <a:moveTo>
                      <a:pt x="76200" y="0"/>
                    </a:moveTo>
                    <a:lnTo>
                      <a:pt x="2019300" y="0"/>
                    </a:lnTo>
                    <a:cubicBezTo>
                      <a:pt x="2061384" y="0"/>
                      <a:pt x="2095500" y="34116"/>
                      <a:pt x="2095500" y="76200"/>
                    </a:cubicBezTo>
                    <a:lnTo>
                      <a:pt x="2095500" y="781050"/>
                    </a:lnTo>
                    <a:cubicBezTo>
                      <a:pt x="2095500" y="823134"/>
                      <a:pt x="2061384" y="857250"/>
                      <a:pt x="2019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209142" y="3092768"/>
                <a:ext cx="8202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数据整合</a:t>
                </a:r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2857500" y="2714625"/>
                <a:ext cx="4191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857250">
                    <a:moveTo>
                      <a:pt x="76200" y="0"/>
                    </a:moveTo>
                    <a:lnTo>
                      <a:pt x="4114800" y="0"/>
                    </a:lnTo>
                    <a:cubicBezTo>
                      <a:pt x="4156884" y="0"/>
                      <a:pt x="4191000" y="34116"/>
                      <a:pt x="4191000" y="76200"/>
                    </a:cubicBezTo>
                    <a:lnTo>
                      <a:pt x="4191000" y="781050"/>
                    </a:lnTo>
                    <a:cubicBezTo>
                      <a:pt x="4191000" y="823134"/>
                      <a:pt x="4156884" y="857250"/>
                      <a:pt x="41148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 w="9525">
                <a:solidFill>
                  <a:srgbClr val="FC8181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4240911" y="30299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手工导出，多系统拼接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75099" y="3268028"/>
                <a:ext cx="55580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T+1更新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7191375" y="31432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>
                <a:solidFill>
                  <a:srgbClr val="A0AEC0"/>
                </a:solidFill>
                <a:custDash>
                  <a:ds d="200000" sp="100000"/>
                </a:custDash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39000" y="2714625"/>
                <a:ext cx="4381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857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781050"/>
                    </a:lnTo>
                    <a:cubicBezTo>
                      <a:pt x="4381500" y="823134"/>
                      <a:pt x="4347384" y="857250"/>
                      <a:pt x="4305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 w="9525">
                <a:solidFill>
                  <a:srgbClr val="9AE6B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8778469" y="3029902"/>
                <a:ext cx="130256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统一CDP，实时同步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703526" y="3268028"/>
                <a:ext cx="145244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自动构建360°客户画像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71500" y="3714750"/>
              <a:ext cx="11049000" cy="857250"/>
              <a:chOff x="571500" y="3714750"/>
              <a:chExt cx="11049000" cy="85725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71500" y="3714750"/>
                <a:ext cx="2095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857250">
                    <a:moveTo>
                      <a:pt x="76200" y="0"/>
                    </a:moveTo>
                    <a:lnTo>
                      <a:pt x="2019300" y="0"/>
                    </a:lnTo>
                    <a:cubicBezTo>
                      <a:pt x="2061384" y="0"/>
                      <a:pt x="2095500" y="34116"/>
                      <a:pt x="2095500" y="76200"/>
                    </a:cubicBezTo>
                    <a:lnTo>
                      <a:pt x="2095500" y="781050"/>
                    </a:lnTo>
                    <a:cubicBezTo>
                      <a:pt x="2095500" y="823134"/>
                      <a:pt x="2061384" y="857250"/>
                      <a:pt x="2019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209142" y="4092892"/>
                <a:ext cx="8202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分析能力</a:t>
                </a:r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2857500" y="3714750"/>
                <a:ext cx="4191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857250">
                    <a:moveTo>
                      <a:pt x="76200" y="0"/>
                    </a:moveTo>
                    <a:lnTo>
                      <a:pt x="4114800" y="0"/>
                    </a:lnTo>
                    <a:cubicBezTo>
                      <a:pt x="4156884" y="0"/>
                      <a:pt x="4191000" y="34116"/>
                      <a:pt x="4191000" y="76200"/>
                    </a:cubicBezTo>
                    <a:lnTo>
                      <a:pt x="4191000" y="781050"/>
                    </a:lnTo>
                    <a:cubicBezTo>
                      <a:pt x="4191000" y="823134"/>
                      <a:pt x="4156884" y="857250"/>
                      <a:pt x="41148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 w="9525">
                <a:solidFill>
                  <a:srgbClr val="FC8181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4311586" y="4030028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人工报表，事后归因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664964" y="4268152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样本有限</a:t>
                </a:r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7191375" y="4143375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>
                <a:solidFill>
                  <a:srgbClr val="A0AEC0"/>
                </a:solidFill>
                <a:custDash>
                  <a:ds d="200000" sp="100000"/>
                </a:custDash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239000" y="3714750"/>
                <a:ext cx="4381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857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781050"/>
                    </a:lnTo>
                    <a:cubicBezTo>
                      <a:pt x="4381500" y="823134"/>
                      <a:pt x="4347384" y="857250"/>
                      <a:pt x="4305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 w="9525">
                <a:solidFill>
                  <a:srgbClr val="9AE6B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717661" y="4030028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实时预测，客户微细分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859012" y="42681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流失预警自动触发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71500" y="4714875"/>
              <a:ext cx="11049000" cy="857250"/>
              <a:chOff x="571500" y="4714875"/>
              <a:chExt cx="11049000" cy="8572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71500" y="4714875"/>
                <a:ext cx="2095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857250">
                    <a:moveTo>
                      <a:pt x="76200" y="0"/>
                    </a:moveTo>
                    <a:lnTo>
                      <a:pt x="2019300" y="0"/>
                    </a:lnTo>
                    <a:cubicBezTo>
                      <a:pt x="2061384" y="0"/>
                      <a:pt x="2095500" y="34116"/>
                      <a:pt x="2095500" y="76200"/>
                    </a:cubicBezTo>
                    <a:lnTo>
                      <a:pt x="2095500" y="781050"/>
                    </a:lnTo>
                    <a:cubicBezTo>
                      <a:pt x="2095500" y="823134"/>
                      <a:pt x="2061384" y="857250"/>
                      <a:pt x="2019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209142" y="5093018"/>
                <a:ext cx="8202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执行速度</a:t>
                </a:r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2857500" y="4714875"/>
                <a:ext cx="4191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857250">
                    <a:moveTo>
                      <a:pt x="76200" y="0"/>
                    </a:moveTo>
                    <a:lnTo>
                      <a:pt x="4114800" y="0"/>
                    </a:lnTo>
                    <a:cubicBezTo>
                      <a:pt x="4156884" y="0"/>
                      <a:pt x="4191000" y="34116"/>
                      <a:pt x="4191000" y="76200"/>
                    </a:cubicBezTo>
                    <a:lnTo>
                      <a:pt x="4191000" y="781050"/>
                    </a:lnTo>
                    <a:cubicBezTo>
                      <a:pt x="4191000" y="823134"/>
                      <a:pt x="4156884" y="857250"/>
                      <a:pt x="41148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 w="9525">
                <a:solidFill>
                  <a:srgbClr val="FC8181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311586" y="50301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批量群发，通用模板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64964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依赖排期</a:t>
                </a:r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7191375" y="514350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>
                <a:solidFill>
                  <a:srgbClr val="A0AEC0"/>
                </a:solidFill>
                <a:custDash>
                  <a:ds d="200000" sp="100000"/>
                </a:custDash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39000" y="4714875"/>
                <a:ext cx="43815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8572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781050"/>
                    </a:lnTo>
                    <a:cubicBezTo>
                      <a:pt x="4381500" y="823134"/>
                      <a:pt x="4347384" y="857250"/>
                      <a:pt x="4305300" y="857250"/>
                    </a:cubicBezTo>
                    <a:lnTo>
                      <a:pt x="76200" y="857250"/>
                    </a:lnTo>
                    <a:cubicBezTo>
                      <a:pt x="34116" y="857250"/>
                      <a:pt x="0" y="823134"/>
                      <a:pt x="0" y="781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 w="9525">
                <a:solidFill>
                  <a:srgbClr val="9AE6B4"/>
                </a:solidFill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788336" y="5030152"/>
                <a:ext cx="128282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最佳时机个性化触达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646986" y="5268278"/>
                <a:ext cx="156552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自动化工作流，秒级响应</a:t>
                </a: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571500" y="5715000"/>
              <a:ext cx="11049000" cy="666750"/>
              <a:chOff x="571500" y="5715000"/>
              <a:chExt cx="11049000" cy="66675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571500" y="5715000"/>
                <a:ext cx="2095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095500" h="666750">
                    <a:moveTo>
                      <a:pt x="76200" y="0"/>
                    </a:moveTo>
                    <a:lnTo>
                      <a:pt x="2019300" y="0"/>
                    </a:lnTo>
                    <a:cubicBezTo>
                      <a:pt x="2061384" y="0"/>
                      <a:pt x="2095500" y="34116"/>
                      <a:pt x="2095500" y="76200"/>
                    </a:cubicBezTo>
                    <a:lnTo>
                      <a:pt x="2095500" y="590550"/>
                    </a:lnTo>
                    <a:cubicBezTo>
                      <a:pt x="2095500" y="632634"/>
                      <a:pt x="2061384" y="666750"/>
                      <a:pt x="20193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1209142" y="5978842"/>
                <a:ext cx="8202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优化反馈</a:t>
                </a:r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2857500" y="5715000"/>
                <a:ext cx="41910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191000" h="666750">
                    <a:moveTo>
                      <a:pt x="76200" y="0"/>
                    </a:moveTo>
                    <a:lnTo>
                      <a:pt x="4114800" y="0"/>
                    </a:lnTo>
                    <a:cubicBezTo>
                      <a:pt x="4156884" y="0"/>
                      <a:pt x="4191000" y="34116"/>
                      <a:pt x="4191000" y="76200"/>
                    </a:cubicBezTo>
                    <a:lnTo>
                      <a:pt x="4191000" y="590550"/>
                    </a:lnTo>
                    <a:cubicBezTo>
                      <a:pt x="4191000" y="632634"/>
                      <a:pt x="4156884" y="666750"/>
                      <a:pt x="41148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 w="9525">
                <a:solidFill>
                  <a:srgbClr val="FC8181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3887534" y="5915978"/>
                <a:ext cx="213093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月度复盘，人工调整，试错成本高</a:t>
                </a:r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7191375" y="6076950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solidFill>
                <a:srgbClr val="000000"/>
              </a:solidFill>
              <a:ln w="19050">
                <a:solidFill>
                  <a:srgbClr val="A0AEC0"/>
                </a:solidFill>
                <a:custDash>
                  <a:ds d="200000" sp="100000"/>
                </a:custDash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7239000" y="5715000"/>
                <a:ext cx="438150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4381500" h="666750">
                    <a:moveTo>
                      <a:pt x="76200" y="0"/>
                    </a:moveTo>
                    <a:lnTo>
                      <a:pt x="4305300" y="0"/>
                    </a:lnTo>
                    <a:cubicBezTo>
                      <a:pt x="4347384" y="0"/>
                      <a:pt x="4381500" y="34116"/>
                      <a:pt x="4381500" y="76200"/>
                    </a:cubicBezTo>
                    <a:lnTo>
                      <a:pt x="4381500" y="590550"/>
                    </a:lnTo>
                    <a:cubicBezTo>
                      <a:pt x="4381500" y="632634"/>
                      <a:pt x="4347384" y="666750"/>
                      <a:pt x="430530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 w="9525">
                <a:solidFill>
                  <a:srgbClr val="9AE6B4"/>
                </a:solidFill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8106385" y="5915978"/>
                <a:ext cx="26467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实时A/B测试，自动调优，预算动态分配</a:t>
                </a: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2667000" y="2095500"/>
            <a:ext cx="9334500" cy="4381500"/>
            <a:chOff x="2667000" y="2095500"/>
            <a:chExt cx="9334500" cy="4381500"/>
          </a:xfrm>
        </p:grpSpPr>
        <p:sp>
          <p:nvSpPr>
            <p:cNvPr id="59" name="Ellipse 59"/>
            <p:cNvSpPr/>
            <p:nvPr/>
          </p:nvSpPr>
          <p:spPr>
            <a:xfrm>
              <a:off x="11239500" y="5715000"/>
              <a:ext cx="762000" cy="762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11382375" y="5857875"/>
              <a:ext cx="476250" cy="47625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61" name="Line 61"/>
            <p:cNvSpPr/>
            <p:nvPr/>
          </p:nvSpPr>
          <p:spPr>
            <a:xfrm>
              <a:off x="2667000" y="20955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sp>
          <p:nvSpPr>
            <p:cNvPr id="62" name="Line 62"/>
            <p:cNvSpPr/>
            <p:nvPr/>
          </p:nvSpPr>
          <p:spPr>
            <a:xfrm>
              <a:off x="7048500" y="209550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566738" y="6667500"/>
            <a:ext cx="11058524" cy="215741"/>
            <a:chOff x="566738" y="6667500"/>
            <a:chExt cx="11058524" cy="215741"/>
          </a:xfrm>
        </p:grpSpPr>
        <p:sp>
          <p:nvSpPr>
            <p:cNvPr id="64" name="Line 64"/>
            <p:cNvSpPr/>
            <p:nvPr/>
          </p:nvSpPr>
          <p:spPr>
            <a:xfrm>
              <a:off x="571500" y="6667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66738" y="6721316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365849" y="6721316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476250"/>
            <a:ext cx="11053762" cy="6200775"/>
            <a:chOff x="571500" y="476250"/>
            <a:chExt cx="11053762" cy="620077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19050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71500" y="6667500"/>
              <a:ext cx="11049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65849" y="64641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8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7784" y="518160"/>
            <a:ext cx="11062716" cy="5006340"/>
            <a:chOff x="557784" y="518160"/>
            <a:chExt cx="11062716" cy="5006340"/>
          </a:xfrm>
        </p:grpSpPr>
        <p:grpSp>
          <p:nvGrpSpPr>
            <p:cNvPr id="11" name="Group 11"/>
            <p:cNvGrpSpPr/>
            <p:nvPr/>
          </p:nvGrpSpPr>
          <p:grpSpPr>
            <a:xfrm>
              <a:off x="557784" y="518160"/>
              <a:ext cx="7670292" cy="756285"/>
              <a:chOff x="557784" y="518160"/>
              <a:chExt cx="7670292" cy="75628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57784" y="518160"/>
                <a:ext cx="1640434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落地证据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981075"/>
                <a:ext cx="766419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来自早期合作客户与内部验证的关键结果，证明AI营销工作台可快速产生业务影响</a:t>
                </a: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571500" y="1524000"/>
              <a:ext cx="11049000" cy="4000500"/>
              <a:chOff x="571500" y="1524000"/>
              <a:chExt cx="11049000" cy="4000500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571500" y="1524000"/>
                <a:ext cx="4027475" cy="4000500"/>
                <a:chOff x="571500" y="1524000"/>
                <a:chExt cx="4027475" cy="4000500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571500" y="1524000"/>
                  <a:ext cx="34290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4000500">
                      <a:moveTo>
                        <a:pt x="114300" y="0"/>
                      </a:moveTo>
                      <a:lnTo>
                        <a:pt x="3314700" y="0"/>
                      </a:lnTo>
                      <a:cubicBezTo>
                        <a:pt x="3377826" y="0"/>
                        <a:pt x="3429000" y="51174"/>
                        <a:pt x="3429000" y="114300"/>
                      </a:cubicBezTo>
                      <a:lnTo>
                        <a:pt x="3429000" y="3886200"/>
                      </a:lnTo>
                      <a:cubicBezTo>
                        <a:pt x="3429000" y="3949326"/>
                        <a:pt x="3377826" y="4000500"/>
                        <a:pt x="33147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571500" y="1524000"/>
                  <a:ext cx="3429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">
                      <a:moveTo>
                        <a:pt x="38100" y="0"/>
                      </a:moveTo>
                      <a:lnTo>
                        <a:pt x="3390900" y="0"/>
                      </a:lnTo>
                      <a:cubicBezTo>
                        <a:pt x="3411942" y="0"/>
                        <a:pt x="3429000" y="17058"/>
                        <a:pt x="3429000" y="38100"/>
                      </a:cubicBezTo>
                      <a:lnTo>
                        <a:pt x="3429000" y="38100"/>
                      </a:lnTo>
                      <a:cubicBezTo>
                        <a:pt x="3429000" y="59142"/>
                        <a:pt x="3411942" y="76200"/>
                        <a:pt x="3390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94766" y="1886902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某头部零售品牌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81050" y="2308860"/>
                  <a:ext cx="1543568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+40%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792480" y="2981325"/>
                  <a:ext cx="142875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邮件打开率提升</a:t>
                  </a:r>
                </a:p>
              </p:txBody>
            </p:sp>
            <p:sp>
              <p:nvSpPr>
                <p:cNvPr id="17" name="Line 17"/>
                <p:cNvSpPr/>
                <p:nvPr/>
              </p:nvSpPr>
              <p:spPr>
                <a:xfrm>
                  <a:off x="800100" y="3429000"/>
                  <a:ext cx="297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9525">
                      <a:moveTo>
                        <a:pt x="0" y="0"/>
                      </a:moveTo>
                      <a:lnTo>
                        <a:pt x="29718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94766" y="3649028"/>
                  <a:ext cx="380420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AI生成个性化邮件标题与推荐商品，2个月内实现显著提升</a:t>
                  </a:r>
                </a:p>
              </p:txBody>
            </p:sp>
            <p:sp>
              <p:nvSpPr>
                <p:cNvPr id="19" name="Freeform 19"/>
                <p:cNvSpPr/>
                <p:nvPr/>
              </p:nvSpPr>
              <p:spPr>
                <a:xfrm>
                  <a:off x="800100" y="4048125"/>
                  <a:ext cx="29718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762000">
                      <a:moveTo>
                        <a:pt x="76200" y="0"/>
                      </a:moveTo>
                      <a:lnTo>
                        <a:pt x="2895600" y="0"/>
                      </a:lnTo>
                      <a:cubicBezTo>
                        <a:pt x="2937684" y="0"/>
                        <a:pt x="2971800" y="34116"/>
                        <a:pt x="2971800" y="76200"/>
                      </a:cubicBezTo>
                      <a:lnTo>
                        <a:pt x="2971800" y="685800"/>
                      </a:lnTo>
                      <a:cubicBezTo>
                        <a:pt x="2971800" y="727884"/>
                        <a:pt x="2937684" y="762000"/>
                        <a:pt x="28956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947166" y="422052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带动线上销售额增长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941832" y="4392930"/>
                  <a:ext cx="60156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18%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381500" y="1524000"/>
                <a:ext cx="3429000" cy="4000500"/>
                <a:chOff x="4381500" y="1524000"/>
                <a:chExt cx="3429000" cy="4000500"/>
              </a:xfrm>
            </p:grpSpPr>
            <p:sp>
              <p:nvSpPr>
                <p:cNvPr id="23" name="Freeform 23"/>
                <p:cNvSpPr/>
                <p:nvPr/>
              </p:nvSpPr>
              <p:spPr>
                <a:xfrm>
                  <a:off x="4381500" y="1524000"/>
                  <a:ext cx="34290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4000500">
                      <a:moveTo>
                        <a:pt x="114300" y="0"/>
                      </a:moveTo>
                      <a:lnTo>
                        <a:pt x="3314700" y="0"/>
                      </a:lnTo>
                      <a:cubicBezTo>
                        <a:pt x="3377826" y="0"/>
                        <a:pt x="3429000" y="51174"/>
                        <a:pt x="3429000" y="114300"/>
                      </a:cubicBezTo>
                      <a:lnTo>
                        <a:pt x="3429000" y="3886200"/>
                      </a:lnTo>
                      <a:cubicBezTo>
                        <a:pt x="3429000" y="3949326"/>
                        <a:pt x="3377826" y="4000500"/>
                        <a:pt x="33147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4381500" y="1524000"/>
                  <a:ext cx="3429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">
                      <a:moveTo>
                        <a:pt x="38100" y="0"/>
                      </a:moveTo>
                      <a:lnTo>
                        <a:pt x="3390900" y="0"/>
                      </a:lnTo>
                      <a:cubicBezTo>
                        <a:pt x="3411942" y="0"/>
                        <a:pt x="3429000" y="17058"/>
                        <a:pt x="3429000" y="38100"/>
                      </a:cubicBezTo>
                      <a:lnTo>
                        <a:pt x="3429000" y="38100"/>
                      </a:lnTo>
                      <a:cubicBezTo>
                        <a:pt x="3429000" y="59142"/>
                        <a:pt x="3411942" y="76200"/>
                        <a:pt x="3390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604766" y="1886902"/>
                  <a:ext cx="105946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某B2B SaaS企业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4591050" y="2308860"/>
                  <a:ext cx="1543568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+25%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602480" y="2981325"/>
                  <a:ext cx="142875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销售转化率提升</a:t>
                  </a:r>
                </a:p>
              </p:txBody>
            </p:sp>
            <p:sp>
              <p:nvSpPr>
                <p:cNvPr id="28" name="Line 28"/>
                <p:cNvSpPr/>
                <p:nvPr/>
              </p:nvSpPr>
              <p:spPr>
                <a:xfrm>
                  <a:off x="4610100" y="3429000"/>
                  <a:ext cx="297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9525">
                      <a:moveTo>
                        <a:pt x="0" y="0"/>
                      </a:moveTo>
                      <a:lnTo>
                        <a:pt x="29718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604766" y="3649028"/>
                  <a:ext cx="213093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自动线索评分与最佳跟进时机推荐</a:t>
                  </a:r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4610100" y="4048125"/>
                  <a:ext cx="29718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762000">
                      <a:moveTo>
                        <a:pt x="76200" y="0"/>
                      </a:moveTo>
                      <a:lnTo>
                        <a:pt x="2895600" y="0"/>
                      </a:lnTo>
                      <a:cubicBezTo>
                        <a:pt x="2937684" y="0"/>
                        <a:pt x="2971800" y="34116"/>
                        <a:pt x="2971800" y="76200"/>
                      </a:cubicBezTo>
                      <a:lnTo>
                        <a:pt x="2971800" y="685800"/>
                      </a:lnTo>
                      <a:cubicBezTo>
                        <a:pt x="2971800" y="727884"/>
                        <a:pt x="2937684" y="762000"/>
                        <a:pt x="28956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4757166" y="4220528"/>
                  <a:ext cx="163860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MQL到SQL转化周期缩短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4751832" y="4392930"/>
                  <a:ext cx="601569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50%</a:t>
                  </a:r>
                </a:p>
              </p:txBody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8191500" y="1524000"/>
                <a:ext cx="3429000" cy="4000500"/>
                <a:chOff x="8191500" y="1524000"/>
                <a:chExt cx="3429000" cy="40005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8191500" y="1524000"/>
                  <a:ext cx="3429000" cy="400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4000500">
                      <a:moveTo>
                        <a:pt x="114300" y="0"/>
                      </a:moveTo>
                      <a:lnTo>
                        <a:pt x="3314700" y="0"/>
                      </a:lnTo>
                      <a:cubicBezTo>
                        <a:pt x="3377826" y="0"/>
                        <a:pt x="3429000" y="51174"/>
                        <a:pt x="3429000" y="114300"/>
                      </a:cubicBezTo>
                      <a:lnTo>
                        <a:pt x="3429000" y="3886200"/>
                      </a:lnTo>
                      <a:cubicBezTo>
                        <a:pt x="3429000" y="3949326"/>
                        <a:pt x="3377826" y="4000500"/>
                        <a:pt x="3314700" y="4000500"/>
                      </a:cubicBezTo>
                      <a:lnTo>
                        <a:pt x="114300" y="4000500"/>
                      </a:lnTo>
                      <a:cubicBezTo>
                        <a:pt x="51174" y="4000500"/>
                        <a:pt x="0" y="3949326"/>
                        <a:pt x="0" y="3886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8191500" y="1524000"/>
                  <a:ext cx="3429000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29000" h="76200">
                      <a:moveTo>
                        <a:pt x="38100" y="0"/>
                      </a:moveTo>
                      <a:lnTo>
                        <a:pt x="3390900" y="0"/>
                      </a:lnTo>
                      <a:cubicBezTo>
                        <a:pt x="3411942" y="0"/>
                        <a:pt x="3429000" y="17058"/>
                        <a:pt x="3429000" y="38100"/>
                      </a:cubicBezTo>
                      <a:lnTo>
                        <a:pt x="3429000" y="38100"/>
                      </a:lnTo>
                      <a:cubicBezTo>
                        <a:pt x="3429000" y="59142"/>
                        <a:pt x="3411942" y="76200"/>
                        <a:pt x="3390900" y="76200"/>
                      </a:cubicBezTo>
                      <a:lnTo>
                        <a:pt x="38100" y="76200"/>
                      </a:lnTo>
                      <a:cubicBezTo>
                        <a:pt x="17058" y="76200"/>
                        <a:pt x="0" y="59142"/>
                        <a:pt x="0" y="381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8414766" y="1886902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内部验证结果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401050" y="2308860"/>
                  <a:ext cx="1543568" cy="8191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42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-70%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8412480" y="2981325"/>
                  <a:ext cx="163068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创意素材准备时间</a:t>
                  </a:r>
                </a:p>
              </p:txBody>
            </p:sp>
            <p:sp>
              <p:nvSpPr>
                <p:cNvPr id="39" name="Line 39"/>
                <p:cNvSpPr/>
                <p:nvPr/>
              </p:nvSpPr>
              <p:spPr>
                <a:xfrm>
                  <a:off x="8420100" y="3429000"/>
                  <a:ext cx="29718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9525">
                      <a:moveTo>
                        <a:pt x="0" y="0"/>
                      </a:moveTo>
                      <a:lnTo>
                        <a:pt x="29718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414766" y="3649028"/>
                  <a:ext cx="178048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AI辅助生成广告图片与文案</a:t>
                  </a:r>
                </a:p>
              </p:txBody>
            </p:sp>
            <p:sp>
              <p:nvSpPr>
                <p:cNvPr id="41" name="Freeform 41"/>
                <p:cNvSpPr/>
                <p:nvPr/>
              </p:nvSpPr>
              <p:spPr>
                <a:xfrm>
                  <a:off x="8420100" y="4048125"/>
                  <a:ext cx="2971800" cy="76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00" h="762000">
                      <a:moveTo>
                        <a:pt x="76200" y="0"/>
                      </a:moveTo>
                      <a:lnTo>
                        <a:pt x="2895600" y="0"/>
                      </a:lnTo>
                      <a:cubicBezTo>
                        <a:pt x="2937684" y="0"/>
                        <a:pt x="2971800" y="34116"/>
                        <a:pt x="2971800" y="76200"/>
                      </a:cubicBezTo>
                      <a:lnTo>
                        <a:pt x="2971800" y="685800"/>
                      </a:lnTo>
                      <a:cubicBezTo>
                        <a:pt x="2971800" y="727884"/>
                        <a:pt x="2937684" y="762000"/>
                        <a:pt x="2895600" y="762000"/>
                      </a:cubicBezTo>
                      <a:lnTo>
                        <a:pt x="76200" y="762000"/>
                      </a:lnTo>
                      <a:cubicBezTo>
                        <a:pt x="34116" y="762000"/>
                        <a:pt x="0" y="727884"/>
                        <a:pt x="0" y="68580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8567166" y="4220528"/>
                  <a:ext cx="156552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原本需要整天的创意迭代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8567166" y="450627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现在只需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9228582" y="4392930"/>
                  <a:ext cx="821116" cy="4107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21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1小时</a:t>
                  </a:r>
                </a:p>
              </p:txBody>
            </p:sp>
          </p:grpSp>
        </p:grpSp>
      </p:grpSp>
      <p:grpSp>
        <p:nvGrpSpPr>
          <p:cNvPr id="50" name="Group 50"/>
          <p:cNvGrpSpPr/>
          <p:nvPr/>
        </p:nvGrpSpPr>
        <p:grpSpPr>
          <a:xfrm>
            <a:off x="342900" y="425291"/>
            <a:ext cx="736588" cy="161925"/>
            <a:chOff x="342900" y="425291"/>
            <a:chExt cx="736588" cy="161925"/>
          </a:xfrm>
        </p:grpSpPr>
        <p:sp>
          <p:nvSpPr>
            <p:cNvPr id="48" name="Ellipse 48"/>
            <p:cNvSpPr/>
            <p:nvPr/>
          </p:nvSpPr>
          <p:spPr>
            <a:xfrm>
              <a:off x="342900" y="438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71488" y="425291"/>
              <a:ext cx="60800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66738" y="310991"/>
            <a:ext cx="11053762" cy="174784"/>
            <a:chOff x="566738" y="310991"/>
            <a:chExt cx="11053762" cy="174784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9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310991"/>
              <a:ext cx="7136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SIGNALCOUNT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57784" y="613410"/>
            <a:ext cx="11062716" cy="5006340"/>
            <a:chOff x="557784" y="613410"/>
            <a:chExt cx="11062716" cy="5006340"/>
          </a:xfrm>
        </p:grpSpPr>
        <p:sp>
          <p:nvSpPr>
            <p:cNvPr id="8" name="TextBox 8"/>
            <p:cNvSpPr txBox="1"/>
            <p:nvPr/>
          </p:nvSpPr>
          <p:spPr>
            <a:xfrm>
              <a:off x="557784" y="613410"/>
              <a:ext cx="24469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预期核心指标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3880" y="1123950"/>
              <a:ext cx="6901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基于当前技术架构与客户验证，以下四个指标为部署后12个月内的保守估算。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571500" y="1571625"/>
              <a:ext cx="11049000" cy="4048125"/>
              <a:chOff x="571500" y="1571625"/>
              <a:chExt cx="11049000" cy="4048125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571500" y="1571625"/>
                <a:ext cx="5143500" cy="1905000"/>
                <a:chOff x="571500" y="1571625"/>
                <a:chExt cx="5143500" cy="19050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571500" y="1571625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71500" y="1571625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2" name="Ellipse 12"/>
                <p:cNvSpPr/>
                <p:nvPr/>
              </p:nvSpPr>
              <p:spPr>
                <a:xfrm>
                  <a:off x="857250" y="1857375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971550" y="1971675"/>
                  <a:ext cx="1524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52400">
                      <a:moveTo>
                        <a:pt x="0" y="76200"/>
                      </a:moveTo>
                      <a:lnTo>
                        <a:pt x="76200" y="0"/>
                      </a:lnTo>
                      <a:lnTo>
                        <a:pt x="152400" y="76200"/>
                      </a:lnTo>
                      <a:moveTo>
                        <a:pt x="76200" y="0"/>
                      </a:moveTo>
                      <a:lnTo>
                        <a:pt x="76200" y="15240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032510" y="234315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95%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040892" y="2807018"/>
                  <a:ext cx="1349483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数据接入覆盖率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1042416" y="3077528"/>
                  <a:ext cx="237789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主流广告、CRM、官网数据实时同步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6477000" y="1571625"/>
                <a:ext cx="5143500" cy="1905000"/>
                <a:chOff x="6477000" y="1571625"/>
                <a:chExt cx="5143500" cy="19050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6477000" y="1571625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6477000" y="1571625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6762750" y="1857375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6877050" y="2000250"/>
                  <a:ext cx="152400" cy="190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190500">
                      <a:moveTo>
                        <a:pt x="0" y="95250"/>
                      </a:moveTo>
                      <a:lnTo>
                        <a:pt x="76200" y="0"/>
                      </a:lnTo>
                      <a:lnTo>
                        <a:pt x="152400" y="95250"/>
                      </a:lnTo>
                      <a:moveTo>
                        <a:pt x="0" y="95250"/>
                      </a:moveTo>
                      <a:lnTo>
                        <a:pt x="76200" y="190500"/>
                      </a:lnTo>
                      <a:lnTo>
                        <a:pt x="152400" y="9525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6938010" y="2343150"/>
                  <a:ext cx="859384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92%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6946392" y="2807018"/>
                  <a:ext cx="173113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客户流失预测准确率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947916" y="3077528"/>
                  <a:ext cx="17846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提前7天识别高概率流失客户</a:t>
                  </a:r>
                </a:p>
              </p:txBody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571500" y="3714750"/>
                <a:ext cx="5143500" cy="1905000"/>
                <a:chOff x="571500" y="3714750"/>
                <a:chExt cx="5143500" cy="19050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571500" y="37147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571500" y="37147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8" name="Ellipse 28"/>
                <p:cNvSpPr/>
                <p:nvPr/>
              </p:nvSpPr>
              <p:spPr>
                <a:xfrm>
                  <a:off x="857250" y="4000500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952500" y="4114800"/>
                  <a:ext cx="1905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52400">
                      <a:moveTo>
                        <a:pt x="0" y="76200"/>
                      </a:moveTo>
                      <a:lnTo>
                        <a:pt x="76200" y="152400"/>
                      </a:lnTo>
                      <a:lnTo>
                        <a:pt x="190500" y="0"/>
                      </a:lnTo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1032510" y="4486275"/>
                  <a:ext cx="1352245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+150%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40892" y="4950142"/>
                  <a:ext cx="115865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运营效率提升</a:t>
                  </a: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1042416" y="5220652"/>
                  <a:ext cx="241363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活动创建与管理时间缩短至原三分之一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477000" y="3714750"/>
                <a:ext cx="5143500" cy="1905000"/>
                <a:chOff x="6477000" y="3714750"/>
                <a:chExt cx="5143500" cy="190500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6477000" y="37147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6477000" y="3714750"/>
                  <a:ext cx="5143500" cy="190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43500" h="1905000">
                      <a:moveTo>
                        <a:pt x="114300" y="0"/>
                      </a:moveTo>
                      <a:lnTo>
                        <a:pt x="5029200" y="0"/>
                      </a:lnTo>
                      <a:cubicBezTo>
                        <a:pt x="5092326" y="0"/>
                        <a:pt x="5143500" y="51174"/>
                        <a:pt x="5143500" y="114300"/>
                      </a:cubicBezTo>
                      <a:lnTo>
                        <a:pt x="5143500" y="1790700"/>
                      </a:lnTo>
                      <a:cubicBezTo>
                        <a:pt x="5143500" y="1853826"/>
                        <a:pt x="5092326" y="1905000"/>
                        <a:pt x="5029200" y="1905000"/>
                      </a:cubicBezTo>
                      <a:lnTo>
                        <a:pt x="114300" y="1905000"/>
                      </a:lnTo>
                      <a:cubicBezTo>
                        <a:pt x="51174" y="1905000"/>
                        <a:pt x="0" y="1853826"/>
                        <a:pt x="0" y="17907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6" name="Ellipse 36"/>
                <p:cNvSpPr/>
                <p:nvPr/>
              </p:nvSpPr>
              <p:spPr>
                <a:xfrm>
                  <a:off x="6762750" y="4000500"/>
                  <a:ext cx="381000" cy="381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6858000" y="4114800"/>
                  <a:ext cx="190500" cy="15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152400">
                      <a:moveTo>
                        <a:pt x="0" y="76200"/>
                      </a:moveTo>
                      <a:lnTo>
                        <a:pt x="76200" y="0"/>
                      </a:lnTo>
                      <a:lnTo>
                        <a:pt x="76200" y="76200"/>
                      </a:lnTo>
                      <a:lnTo>
                        <a:pt x="190500" y="76200"/>
                      </a:lnTo>
                      <a:lnTo>
                        <a:pt x="76200" y="76200"/>
                      </a:lnTo>
                      <a:lnTo>
                        <a:pt x="76200" y="152400"/>
                      </a:lnTo>
                      <a:close/>
                    </a:path>
                  </a:pathLst>
                </a:custGeom>
                <a:noFill/>
                <a:ln w="19050" cap="rnd">
                  <a:solidFill>
                    <a:schemeClr val="accent2"/>
                  </a:solidFill>
                  <a:round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6938010" y="4486275"/>
                  <a:ext cx="1016203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2.3x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946392" y="4950142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投资回报比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947916" y="5220652"/>
                  <a:ext cx="2654198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相比传统群发营销方式，12个月ROI提升</a:t>
                  </a:r>
                </a:p>
              </p:txBody>
            </p:sp>
          </p:grpSp>
        </p:grpSp>
      </p:grpSp>
      <p:grpSp>
        <p:nvGrpSpPr>
          <p:cNvPr id="46" name="Group 46"/>
          <p:cNvGrpSpPr/>
          <p:nvPr/>
        </p:nvGrpSpPr>
        <p:grpSpPr>
          <a:xfrm>
            <a:off x="566738" y="6387941"/>
            <a:ext cx="10677524" cy="161925"/>
            <a:chOff x="566738" y="6387941"/>
            <a:chExt cx="10677524" cy="161925"/>
          </a:xfrm>
        </p:grpSpPr>
        <p:sp>
          <p:nvSpPr>
            <p:cNvPr id="44" name="TextBox 44"/>
            <p:cNvSpPr txBox="1"/>
            <p:nvPr/>
          </p:nvSpPr>
          <p:spPr>
            <a:xfrm>
              <a:off x="566738" y="63879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84849" y="63879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8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430000" y="476250"/>
            <a:ext cx="504825" cy="5886450"/>
            <a:chOff x="11430000" y="476250"/>
            <a:chExt cx="504825" cy="5886450"/>
          </a:xfrm>
        </p:grpSpPr>
        <p:sp>
          <p:nvSpPr>
            <p:cNvPr id="47" name="Line 47"/>
            <p:cNvSpPr/>
            <p:nvPr/>
          </p:nvSpPr>
          <p:spPr>
            <a:xfrm>
              <a:off x="11430000" y="476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Ellipse 48"/>
            <p:cNvSpPr/>
            <p:nvPr/>
          </p:nvSpPr>
          <p:spPr>
            <a:xfrm>
              <a:off x="11782425" y="6305550"/>
              <a:ext cx="57150" cy="5715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11877675" y="6305550"/>
              <a:ext cx="57150" cy="57150"/>
            </a:xfrm>
            <a:prstGeom prst="ellipse">
              <a:avLst/>
            </a:prstGeom>
            <a:solidFill>
              <a:schemeClr val="accent2">
                <a:alpha val="15000"/>
              </a:scheme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381000"/>
            <a:ext cx="11049000" cy="390525"/>
            <a:chOff x="571500" y="381000"/>
            <a:chExt cx="11049000" cy="390525"/>
          </a:xfrm>
        </p:grpSpPr>
        <p:sp>
          <p:nvSpPr>
            <p:cNvPr id="5" name="Freeform 5"/>
            <p:cNvSpPr/>
            <p:nvPr/>
          </p:nvSpPr>
          <p:spPr>
            <a:xfrm>
              <a:off x="571500" y="381000"/>
              <a:ext cx="762000" cy="266700"/>
            </a:xfrm>
            <a:custGeom>
              <a:avLst/>
              <a:gdLst/>
              <a:ahLst/>
              <a:cxnLst/>
              <a:rect l="l" t="t" r="r" b="b"/>
              <a:pathLst>
                <a:path w="762000" h="266700">
                  <a:moveTo>
                    <a:pt x="38100" y="0"/>
                  </a:moveTo>
                  <a:lnTo>
                    <a:pt x="723900" y="0"/>
                  </a:lnTo>
                  <a:cubicBezTo>
                    <a:pt x="744942" y="0"/>
                    <a:pt x="762000" y="17058"/>
                    <a:pt x="762000" y="38100"/>
                  </a:cubicBezTo>
                  <a:lnTo>
                    <a:pt x="762000" y="228600"/>
                  </a:lnTo>
                  <a:cubicBezTo>
                    <a:pt x="762000" y="249642"/>
                    <a:pt x="744942" y="266700"/>
                    <a:pt x="723900" y="266700"/>
                  </a:cubicBezTo>
                  <a:lnTo>
                    <a:pt x="38100" y="266700"/>
                  </a:lnTo>
                  <a:cubicBezTo>
                    <a:pt x="17058" y="266700"/>
                    <a:pt x="0" y="249642"/>
                    <a:pt x="0" y="2286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72580" y="466249"/>
              <a:ext cx="75984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762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14350" y="946785"/>
            <a:ext cx="12311539" cy="4513897"/>
            <a:chOff x="514350" y="946785"/>
            <a:chExt cx="12311539" cy="4513897"/>
          </a:xfrm>
        </p:grpSpPr>
        <p:grpSp>
          <p:nvGrpSpPr>
            <p:cNvPr id="11" name="Group 11"/>
            <p:cNvGrpSpPr/>
            <p:nvPr/>
          </p:nvGrpSpPr>
          <p:grpSpPr>
            <a:xfrm>
              <a:off x="557784" y="946785"/>
              <a:ext cx="7947660" cy="756285"/>
              <a:chOff x="557784" y="946785"/>
              <a:chExt cx="7947660" cy="756285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557784" y="946785"/>
                <a:ext cx="2850185" cy="5280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7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全链路效率提升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63880" y="1409700"/>
                <a:ext cx="79415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AI工作台将营销核心流程从"天/周"级压缩至"分钟/小时"级，实现真正的实时营销。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65404" y="1866900"/>
              <a:ext cx="12260485" cy="3158490"/>
              <a:chOff x="565404" y="1866900"/>
              <a:chExt cx="12260485" cy="3158490"/>
            </a:xfrm>
          </p:grpSpPr>
          <p:grpSp>
            <p:nvGrpSpPr>
              <p:cNvPr id="18" name="Group 18"/>
              <p:cNvGrpSpPr/>
              <p:nvPr/>
            </p:nvGrpSpPr>
            <p:grpSpPr>
              <a:xfrm>
                <a:off x="565404" y="1866900"/>
                <a:ext cx="11836432" cy="586740"/>
                <a:chOff x="565404" y="1866900"/>
                <a:chExt cx="11836432" cy="586740"/>
              </a:xfrm>
            </p:grpSpPr>
            <p:sp>
              <p:nvSpPr>
                <p:cNvPr id="12" name="TextBox 12"/>
                <p:cNvSpPr txBox="1"/>
                <p:nvPr/>
              </p:nvSpPr>
              <p:spPr>
                <a:xfrm>
                  <a:off x="565404" y="206121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A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842010" y="186690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88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468755" y="2028825"/>
                  <a:ext cx="16668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%</a:t>
                  </a:r>
                </a:p>
              </p:txBody>
            </p:sp>
            <p:sp>
              <p:nvSpPr>
                <p:cNvPr id="15" name="Freeform 15"/>
                <p:cNvSpPr/>
                <p:nvPr/>
              </p:nvSpPr>
              <p:spPr>
                <a:xfrm>
                  <a:off x="1809750" y="2047875"/>
                  <a:ext cx="83820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266700">
                      <a:moveTo>
                        <a:pt x="38100" y="0"/>
                      </a:moveTo>
                      <a:lnTo>
                        <a:pt x="8343900" y="0"/>
                      </a:lnTo>
                      <a:cubicBezTo>
                        <a:pt x="8364942" y="0"/>
                        <a:pt x="8382000" y="17058"/>
                        <a:pt x="8382000" y="38100"/>
                      </a:cubicBezTo>
                      <a:lnTo>
                        <a:pt x="8382000" y="228600"/>
                      </a:lnTo>
                      <a:cubicBezTo>
                        <a:pt x="8382000" y="249642"/>
                        <a:pt x="8364942" y="266700"/>
                        <a:pt x="83439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1809750" y="2047875"/>
                  <a:ext cx="737235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2350" h="266700">
                      <a:moveTo>
                        <a:pt x="38100" y="0"/>
                      </a:moveTo>
                      <a:lnTo>
                        <a:pt x="7334250" y="0"/>
                      </a:lnTo>
                      <a:cubicBezTo>
                        <a:pt x="7355292" y="0"/>
                        <a:pt x="7372350" y="17058"/>
                        <a:pt x="7372350" y="38100"/>
                      </a:cubicBezTo>
                      <a:lnTo>
                        <a:pt x="7372350" y="228600"/>
                      </a:lnTo>
                      <a:cubicBezTo>
                        <a:pt x="7372350" y="249642"/>
                        <a:pt x="7355292" y="266700"/>
                        <a:pt x="733425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10376916" y="2115502"/>
                  <a:ext cx="2024920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从3天手动整合 → 5分钟自动同步</a:t>
                  </a:r>
                </a:p>
              </p:txBody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565404" y="2724150"/>
                <a:ext cx="11778691" cy="586740"/>
                <a:chOff x="565404" y="2724150"/>
                <a:chExt cx="11778691" cy="586740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565404" y="291846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B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842010" y="27241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74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468755" y="2886075"/>
                  <a:ext cx="16668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%</a:t>
                  </a:r>
                </a:p>
              </p:txBody>
            </p:sp>
            <p:sp>
              <p:nvSpPr>
                <p:cNvPr id="22" name="Freeform 22"/>
                <p:cNvSpPr/>
                <p:nvPr/>
              </p:nvSpPr>
              <p:spPr>
                <a:xfrm>
                  <a:off x="1809750" y="2905125"/>
                  <a:ext cx="83820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266700">
                      <a:moveTo>
                        <a:pt x="38100" y="0"/>
                      </a:moveTo>
                      <a:lnTo>
                        <a:pt x="8343900" y="0"/>
                      </a:lnTo>
                      <a:cubicBezTo>
                        <a:pt x="8364942" y="0"/>
                        <a:pt x="8382000" y="17058"/>
                        <a:pt x="8382000" y="38100"/>
                      </a:cubicBezTo>
                      <a:lnTo>
                        <a:pt x="8382000" y="228600"/>
                      </a:lnTo>
                      <a:cubicBezTo>
                        <a:pt x="8382000" y="249642"/>
                        <a:pt x="8364942" y="266700"/>
                        <a:pt x="83439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1809750" y="2905125"/>
                  <a:ext cx="620077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0775" h="266700">
                      <a:moveTo>
                        <a:pt x="38100" y="0"/>
                      </a:moveTo>
                      <a:lnTo>
                        <a:pt x="6162675" y="0"/>
                      </a:lnTo>
                      <a:cubicBezTo>
                        <a:pt x="6183717" y="0"/>
                        <a:pt x="6200775" y="17058"/>
                        <a:pt x="6200775" y="38100"/>
                      </a:cubicBezTo>
                      <a:lnTo>
                        <a:pt x="6200775" y="228600"/>
                      </a:lnTo>
                      <a:cubicBezTo>
                        <a:pt x="6200775" y="249642"/>
                        <a:pt x="6183717" y="266700"/>
                        <a:pt x="6162675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10376916" y="2972752"/>
                  <a:ext cx="19671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从2周人工分析 → 1小时AI报告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565404" y="3581400"/>
                <a:ext cx="12260485" cy="586740"/>
                <a:chOff x="565404" y="3581400"/>
                <a:chExt cx="12260485" cy="586740"/>
              </a:xfrm>
            </p:grpSpPr>
            <p:sp>
              <p:nvSpPr>
                <p:cNvPr id="26" name="TextBox 26"/>
                <p:cNvSpPr txBox="1"/>
                <p:nvPr/>
              </p:nvSpPr>
              <p:spPr>
                <a:xfrm>
                  <a:off x="565404" y="377571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C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42010" y="358140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60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468755" y="3743325"/>
                  <a:ext cx="16668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%</a:t>
                  </a:r>
                </a:p>
              </p:txBody>
            </p:sp>
            <p:sp>
              <p:nvSpPr>
                <p:cNvPr id="29" name="Freeform 29"/>
                <p:cNvSpPr/>
                <p:nvPr/>
              </p:nvSpPr>
              <p:spPr>
                <a:xfrm>
                  <a:off x="1809750" y="3762375"/>
                  <a:ext cx="83820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266700">
                      <a:moveTo>
                        <a:pt x="38100" y="0"/>
                      </a:moveTo>
                      <a:lnTo>
                        <a:pt x="8343900" y="0"/>
                      </a:lnTo>
                      <a:cubicBezTo>
                        <a:pt x="8364942" y="0"/>
                        <a:pt x="8382000" y="17058"/>
                        <a:pt x="8382000" y="38100"/>
                      </a:cubicBezTo>
                      <a:lnTo>
                        <a:pt x="8382000" y="228600"/>
                      </a:lnTo>
                      <a:cubicBezTo>
                        <a:pt x="8382000" y="249642"/>
                        <a:pt x="8364942" y="266700"/>
                        <a:pt x="83439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809750" y="3762375"/>
                  <a:ext cx="50292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29200" h="266700">
                      <a:moveTo>
                        <a:pt x="38100" y="0"/>
                      </a:moveTo>
                      <a:lnTo>
                        <a:pt x="4991100" y="0"/>
                      </a:lnTo>
                      <a:cubicBezTo>
                        <a:pt x="5012142" y="0"/>
                        <a:pt x="5029200" y="17058"/>
                        <a:pt x="5029200" y="38100"/>
                      </a:cubicBezTo>
                      <a:lnTo>
                        <a:pt x="5029200" y="228600"/>
                      </a:lnTo>
                      <a:cubicBezTo>
                        <a:pt x="5029200" y="249642"/>
                        <a:pt x="5012142" y="266700"/>
                        <a:pt x="49911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0376916" y="3830002"/>
                  <a:ext cx="244897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从1周排期 → 2小时完成个性化活动配置</a:t>
                  </a:r>
                </a:p>
              </p:txBody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565404" y="4438650"/>
                <a:ext cx="12104999" cy="586740"/>
                <a:chOff x="565404" y="4438650"/>
                <a:chExt cx="12104999" cy="586740"/>
              </a:xfrm>
            </p:grpSpPr>
            <p:sp>
              <p:nvSpPr>
                <p:cNvPr id="33" name="TextBox 33"/>
                <p:cNvSpPr txBox="1"/>
                <p:nvPr/>
              </p:nvSpPr>
              <p:spPr>
                <a:xfrm>
                  <a:off x="565404" y="4632960"/>
                  <a:ext cx="1107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D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842010" y="4438650"/>
                  <a:ext cx="523342" cy="5867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30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46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1468755" y="4600575"/>
                  <a:ext cx="166688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%</a:t>
                  </a:r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1809750" y="4619625"/>
                  <a:ext cx="8382000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000" h="266700">
                      <a:moveTo>
                        <a:pt x="38100" y="0"/>
                      </a:moveTo>
                      <a:lnTo>
                        <a:pt x="8343900" y="0"/>
                      </a:lnTo>
                      <a:cubicBezTo>
                        <a:pt x="8364942" y="0"/>
                        <a:pt x="8382000" y="17058"/>
                        <a:pt x="8382000" y="38100"/>
                      </a:cubicBezTo>
                      <a:lnTo>
                        <a:pt x="8382000" y="228600"/>
                      </a:lnTo>
                      <a:cubicBezTo>
                        <a:pt x="8382000" y="249642"/>
                        <a:pt x="8364942" y="266700"/>
                        <a:pt x="8343900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1809750" y="4619625"/>
                  <a:ext cx="3857625" cy="26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7625" h="266700">
                      <a:moveTo>
                        <a:pt x="38100" y="0"/>
                      </a:moveTo>
                      <a:lnTo>
                        <a:pt x="3819525" y="0"/>
                      </a:lnTo>
                      <a:cubicBezTo>
                        <a:pt x="3840567" y="0"/>
                        <a:pt x="3857625" y="17058"/>
                        <a:pt x="3857625" y="38100"/>
                      </a:cubicBezTo>
                      <a:lnTo>
                        <a:pt x="3857625" y="228600"/>
                      </a:lnTo>
                      <a:cubicBezTo>
                        <a:pt x="3857625" y="249642"/>
                        <a:pt x="3840567" y="266700"/>
                        <a:pt x="3819525" y="266700"/>
                      </a:cubicBezTo>
                      <a:lnTo>
                        <a:pt x="38100" y="266700"/>
                      </a:lnTo>
                      <a:cubicBezTo>
                        <a:pt x="17058" y="266700"/>
                        <a:pt x="0" y="249642"/>
                        <a:pt x="0" y="228600"/>
                      </a:cubicBezTo>
                      <a:lnTo>
                        <a:pt x="0" y="38100"/>
                      </a:lnTo>
                      <a:cubicBezTo>
                        <a:pt x="0" y="17058"/>
                        <a:pt x="17058" y="0"/>
                        <a:pt x="3810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chemeClr val="accent3"/>
                    </a:gs>
                  </a:gsLst>
                  <a:lin ang="0" scaled="1"/>
                </a:gradFill>
                <a:ln>
                  <a:noFill/>
                </a:ln>
              </p:spPr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0376916" y="4687252"/>
                  <a:ext cx="229348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从小时级批量发送 → 分钟级实时触发</a:t>
                  </a:r>
                </a:p>
              </p:txBody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514350" y="5276850"/>
              <a:ext cx="7258050" cy="183832"/>
              <a:chOff x="514350" y="5276850"/>
              <a:chExt cx="7258050" cy="183832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5143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Line 42"/>
              <p:cNvSpPr/>
              <p:nvPr/>
            </p:nvSpPr>
            <p:spPr>
              <a:xfrm>
                <a:off x="628650" y="5334000"/>
                <a:ext cx="704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9525">
                    <a:moveTo>
                      <a:pt x="0" y="0"/>
                    </a:moveTo>
                    <a:lnTo>
                      <a:pt x="704850" y="0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423988" y="5284470"/>
                <a:ext cx="736473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效率提升幅度</a:t>
                </a:r>
              </a:p>
            </p:txBody>
          </p:sp>
          <p:sp>
            <p:nvSpPr>
              <p:cNvPr id="44" name="Ellipse 44"/>
              <p:cNvSpPr/>
              <p:nvPr/>
            </p:nvSpPr>
            <p:spPr>
              <a:xfrm>
                <a:off x="2895600" y="5276850"/>
                <a:ext cx="114300" cy="114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3009900" y="5334000"/>
                <a:ext cx="704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9525">
                    <a:moveTo>
                      <a:pt x="0" y="0"/>
                    </a:moveTo>
                    <a:lnTo>
                      <a:pt x="704850" y="0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prstDash val="dash"/>
              </a:ln>
            </p:spPr>
          </p:sp>
          <p:sp>
            <p:nvSpPr>
              <p:cNvPr id="46" name="Ellipse 46"/>
              <p:cNvSpPr/>
              <p:nvPr/>
            </p:nvSpPr>
            <p:spPr>
              <a:xfrm>
                <a:off x="5276850" y="52768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5391150" y="5334000"/>
                <a:ext cx="704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04850" h="9525">
                    <a:moveTo>
                      <a:pt x="0" y="0"/>
                    </a:moveTo>
                    <a:lnTo>
                      <a:pt x="7048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  <a:prstDash val="dash"/>
              </a:ln>
            </p:spPr>
          </p:sp>
          <p:sp>
            <p:nvSpPr>
              <p:cNvPr id="48" name="Ellipse 48"/>
              <p:cNvSpPr/>
              <p:nvPr/>
            </p:nvSpPr>
            <p:spPr>
              <a:xfrm>
                <a:off x="7658100" y="5276850"/>
                <a:ext cx="114300" cy="114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55" name="Group 55"/>
          <p:cNvGrpSpPr/>
          <p:nvPr/>
        </p:nvGrpSpPr>
        <p:grpSpPr>
          <a:xfrm>
            <a:off x="571500" y="5715000"/>
            <a:ext cx="11049000" cy="476250"/>
            <a:chOff x="571500" y="5715000"/>
            <a:chExt cx="11049000" cy="476250"/>
          </a:xfrm>
        </p:grpSpPr>
        <p:sp>
          <p:nvSpPr>
            <p:cNvPr id="51" name="Freeform 51"/>
            <p:cNvSpPr/>
            <p:nvPr/>
          </p:nvSpPr>
          <p:spPr>
            <a:xfrm>
              <a:off x="571500" y="5715000"/>
              <a:ext cx="11049000" cy="476250"/>
            </a:xfrm>
            <a:custGeom>
              <a:avLst/>
              <a:gdLst/>
              <a:ahLst/>
              <a:cxnLst/>
              <a:rect l="l" t="t" r="r" b="b"/>
              <a:pathLst>
                <a:path w="11049000" h="47625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400050"/>
                  </a:lnTo>
                  <a:cubicBezTo>
                    <a:pt x="11049000" y="442134"/>
                    <a:pt x="11014884" y="476250"/>
                    <a:pt x="10972800" y="476250"/>
                  </a:cubicBezTo>
                  <a:lnTo>
                    <a:pt x="76200" y="476250"/>
                  </a:lnTo>
                  <a:cubicBezTo>
                    <a:pt x="34116" y="476250"/>
                    <a:pt x="0" y="442134"/>
                    <a:pt x="0" y="400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55904" y="58712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关键洞察：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03654" y="587121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全流程自动化实现秒级响应，业务响应速度提升最高达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80404" y="5871210"/>
              <a:ext cx="343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88%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6738" y="6477000"/>
            <a:ext cx="11058524" cy="263366"/>
            <a:chOff x="566738" y="6477000"/>
            <a:chExt cx="11058524" cy="263366"/>
          </a:xfrm>
        </p:grpSpPr>
        <p:sp>
          <p:nvSpPr>
            <p:cNvPr id="56" name="Line 56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566738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381952"/>
            <a:ext cx="11062716" cy="1056323"/>
            <a:chOff x="557784" y="381952"/>
            <a:chExt cx="11062716" cy="1056323"/>
          </a:xfrm>
        </p:grpSpPr>
        <p:sp>
          <p:nvSpPr>
            <p:cNvPr id="5" name="TextBox 5"/>
            <p:cNvSpPr txBox="1"/>
            <p:nvPr/>
          </p:nvSpPr>
          <p:spPr>
            <a:xfrm>
              <a:off x="566166" y="381952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6419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即刻启动：三步转型路线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4642" y="1092518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风险可控、价值可视，最快30天即可看到初步效果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571500" y="1762125"/>
            <a:ext cx="11049000" cy="3286125"/>
            <a:chOff x="571500" y="1762125"/>
            <a:chExt cx="11049000" cy="3286125"/>
          </a:xfrm>
        </p:grpSpPr>
        <p:sp>
          <p:nvSpPr>
            <p:cNvPr id="10" name="Line 10"/>
            <p:cNvSpPr/>
            <p:nvPr/>
          </p:nvSpPr>
          <p:spPr>
            <a:xfrm>
              <a:off x="1333500" y="2952750"/>
              <a:ext cx="9525000" cy="9525"/>
            </a:xfrm>
            <a:custGeom>
              <a:avLst/>
              <a:gdLst/>
              <a:ahLst/>
              <a:cxnLst/>
              <a:rect l="l" t="t" r="r" b="b"/>
              <a:pathLst>
                <a:path w="9525000" h="9525">
                  <a:moveTo>
                    <a:pt x="0" y="0"/>
                  </a:moveTo>
                  <a:lnTo>
                    <a:pt x="9525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lgDash"/>
            </a:ln>
          </p:spPr>
        </p:sp>
        <p:sp>
          <p:nvSpPr>
            <p:cNvPr id="11" name="Freeform 11"/>
            <p:cNvSpPr/>
            <p:nvPr/>
          </p:nvSpPr>
          <p:spPr>
            <a:xfrm>
              <a:off x="10763250" y="28575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571500" y="1762125"/>
              <a:ext cx="3238500" cy="3286125"/>
              <a:chOff x="571500" y="1762125"/>
              <a:chExt cx="3238500" cy="32861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571500" y="2000250"/>
                <a:ext cx="32385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048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2933700"/>
                    </a:lnTo>
                    <a:cubicBezTo>
                      <a:pt x="3238500" y="2996826"/>
                      <a:pt x="3187326" y="3048000"/>
                      <a:pt x="3124200" y="3048000"/>
                    </a:cubicBezTo>
                    <a:lnTo>
                      <a:pt x="114300" y="3048000"/>
                    </a:lnTo>
                    <a:cubicBezTo>
                      <a:pt x="51174" y="3048000"/>
                      <a:pt x="0" y="2996826"/>
                      <a:pt x="0" y="2933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962150" y="27241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2135368" y="2880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1</a:t>
                </a:r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1571625" y="1762125"/>
                <a:ext cx="12382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304800">
                    <a:moveTo>
                      <a:pt x="152400" y="0"/>
                    </a:moveTo>
                    <a:lnTo>
                      <a:pt x="1085850" y="0"/>
                    </a:lnTo>
                    <a:cubicBezTo>
                      <a:pt x="1170018" y="0"/>
                      <a:pt x="1238250" y="68232"/>
                      <a:pt x="1238250" y="152400"/>
                    </a:cubicBezTo>
                    <a:lnTo>
                      <a:pt x="1238250" y="152400"/>
                    </a:lnTo>
                    <a:cubicBezTo>
                      <a:pt x="1238250" y="236568"/>
                      <a:pt x="1170018" y="304800"/>
                      <a:pt x="108585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954903" y="1825942"/>
                <a:ext cx="471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30 天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4380" y="2409825"/>
                <a:ext cx="9113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快速启动</a:t>
                </a:r>
              </a:p>
            </p:txBody>
          </p:sp>
          <p:sp>
            <p:nvSpPr>
              <p:cNvPr id="18" name="Ellipse 18"/>
              <p:cNvSpPr/>
              <p:nvPr/>
            </p:nvSpPr>
            <p:spPr>
              <a:xfrm>
                <a:off x="723900" y="28670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08685" y="2831306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完成核心数据源对接</a:t>
                </a:r>
              </a:p>
            </p:txBody>
          </p:sp>
          <p:sp>
            <p:nvSpPr>
              <p:cNvPr id="20" name="Ellipse 20"/>
              <p:cNvSpPr/>
              <p:nvPr/>
            </p:nvSpPr>
            <p:spPr>
              <a:xfrm>
                <a:off x="723900" y="32004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08685" y="316468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完成团队培训</a:t>
                </a:r>
              </a:p>
            </p:txBody>
          </p:sp>
          <p:sp>
            <p:nvSpPr>
              <p:cNvPr id="22" name="Ellipse 22"/>
              <p:cNvSpPr/>
              <p:nvPr/>
            </p:nvSpPr>
            <p:spPr>
              <a:xfrm>
                <a:off x="723900" y="353377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08685" y="3498056"/>
                <a:ext cx="137445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上线首批自动化旅程</a:t>
                </a:r>
              </a:p>
            </p:txBody>
          </p:sp>
          <p:sp>
            <p:nvSpPr>
              <p:cNvPr id="24" name="Ellipse 24"/>
              <p:cNvSpPr/>
              <p:nvPr/>
            </p:nvSpPr>
            <p:spPr>
              <a:xfrm>
                <a:off x="723900" y="38671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908685" y="3831431"/>
                <a:ext cx="9201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建立基线指标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762000" y="4286250"/>
                <a:ext cx="1714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266700">
                    <a:moveTo>
                      <a:pt x="38100" y="0"/>
                    </a:moveTo>
                    <a:lnTo>
                      <a:pt x="1676400" y="0"/>
                    </a:lnTo>
                    <a:cubicBezTo>
                      <a:pt x="1697442" y="0"/>
                      <a:pt x="1714500" y="17058"/>
                      <a:pt x="1714500" y="38100"/>
                    </a:cubicBezTo>
                    <a:lnTo>
                      <a:pt x="1714500" y="228600"/>
                    </a:lnTo>
                    <a:cubicBezTo>
                      <a:pt x="1714500" y="249642"/>
                      <a:pt x="1697442" y="266700"/>
                      <a:pt x="1676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199521" y="4379595"/>
                <a:ext cx="8394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✓ 初步效果可见</a:t>
                </a:r>
              </a:p>
            </p:txBody>
          </p:sp>
        </p:grpSp>
        <p:sp>
          <p:nvSpPr>
            <p:cNvPr id="29" name="Freeform 29"/>
            <p:cNvSpPr/>
            <p:nvPr/>
          </p:nvSpPr>
          <p:spPr>
            <a:xfrm>
              <a:off x="3810000" y="2952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  <a:custDash>
                <a:ds d="200000" sp="100000"/>
              </a:custDash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4476750" y="1762125"/>
              <a:ext cx="3238500" cy="3286125"/>
              <a:chOff x="4476750" y="1762125"/>
              <a:chExt cx="3238500" cy="328612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4476750" y="2000250"/>
                <a:ext cx="32385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048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2933700"/>
                    </a:lnTo>
                    <a:cubicBezTo>
                      <a:pt x="3238500" y="2996826"/>
                      <a:pt x="3187326" y="3048000"/>
                      <a:pt x="3124200" y="3048000"/>
                    </a:cubicBezTo>
                    <a:lnTo>
                      <a:pt x="114300" y="3048000"/>
                    </a:lnTo>
                    <a:cubicBezTo>
                      <a:pt x="51174" y="3048000"/>
                      <a:pt x="0" y="2996826"/>
                      <a:pt x="0" y="2933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5867400" y="2724150"/>
                <a:ext cx="457200" cy="457200"/>
              </a:xfrm>
              <a:prstGeom prst="ellipse">
                <a:avLst/>
              </a:prstGeom>
              <a:solidFill>
                <a:schemeClr val="lt1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040618" y="2880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accent2"/>
                    </a:solidFill>
                    <a:latin typeface="+mj-lt"/>
                    <a:ea typeface="+mj-ea"/>
                    <a:cs typeface="+mj-cs"/>
                  </a:rPr>
                  <a:t>2</a:t>
                </a:r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5476875" y="1762125"/>
                <a:ext cx="12382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304800">
                    <a:moveTo>
                      <a:pt x="152400" y="0"/>
                    </a:moveTo>
                    <a:lnTo>
                      <a:pt x="1085850" y="0"/>
                    </a:lnTo>
                    <a:cubicBezTo>
                      <a:pt x="1170018" y="0"/>
                      <a:pt x="1238250" y="68232"/>
                      <a:pt x="1238250" y="152400"/>
                    </a:cubicBezTo>
                    <a:lnTo>
                      <a:pt x="1238250" y="152400"/>
                    </a:lnTo>
                    <a:cubicBezTo>
                      <a:pt x="1238250" y="236568"/>
                      <a:pt x="1170018" y="304800"/>
                      <a:pt x="108585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860153" y="1825942"/>
                <a:ext cx="4716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90 天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59630" y="2409825"/>
                <a:ext cx="9113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规模扩展</a:t>
                </a:r>
              </a:p>
            </p:txBody>
          </p:sp>
          <p:sp>
            <p:nvSpPr>
              <p:cNvPr id="36" name="Ellipse 36"/>
              <p:cNvSpPr/>
              <p:nvPr/>
            </p:nvSpPr>
            <p:spPr>
              <a:xfrm>
                <a:off x="4629150" y="286702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813935" y="2831306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全渠道个性化推荐</a:t>
                </a:r>
              </a:p>
            </p:txBody>
          </p:sp>
          <p:sp>
            <p:nvSpPr>
              <p:cNvPr id="38" name="Ellipse 38"/>
              <p:cNvSpPr/>
              <p:nvPr/>
            </p:nvSpPr>
            <p:spPr>
              <a:xfrm>
                <a:off x="4629150" y="320040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813935" y="316468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实时触发活动上线</a:t>
                </a:r>
              </a:p>
            </p:txBody>
          </p:sp>
          <p:sp>
            <p:nvSpPr>
              <p:cNvPr id="40" name="Ellipse 40"/>
              <p:cNvSpPr/>
              <p:nvPr/>
            </p:nvSpPr>
            <p:spPr>
              <a:xfrm>
                <a:off x="4629150" y="3533775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813935" y="3498056"/>
                <a:ext cx="155562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A/B测试覆盖主要触点</a:t>
                </a:r>
              </a:p>
            </p:txBody>
          </p:sp>
          <p:sp>
            <p:nvSpPr>
              <p:cNvPr id="42" name="Ellipse 42"/>
              <p:cNvSpPr/>
              <p:nvPr/>
            </p:nvSpPr>
            <p:spPr>
              <a:xfrm>
                <a:off x="4629150" y="3867150"/>
                <a:ext cx="76200" cy="76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4813935" y="38314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输出首批优化报告</a:t>
                </a:r>
              </a:p>
            </p:txBody>
          </p:sp>
          <p:sp>
            <p:nvSpPr>
              <p:cNvPr id="44" name="Freeform 44"/>
              <p:cNvSpPr/>
              <p:nvPr/>
            </p:nvSpPr>
            <p:spPr>
              <a:xfrm>
                <a:off x="4667250" y="4286250"/>
                <a:ext cx="1714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266700">
                    <a:moveTo>
                      <a:pt x="38100" y="0"/>
                    </a:moveTo>
                    <a:lnTo>
                      <a:pt x="1676400" y="0"/>
                    </a:lnTo>
                    <a:cubicBezTo>
                      <a:pt x="1697442" y="0"/>
                      <a:pt x="1714500" y="17058"/>
                      <a:pt x="1714500" y="38100"/>
                    </a:cubicBezTo>
                    <a:lnTo>
                      <a:pt x="1714500" y="228600"/>
                    </a:lnTo>
                    <a:cubicBezTo>
                      <a:pt x="1714500" y="249642"/>
                      <a:pt x="1697442" y="266700"/>
                      <a:pt x="1676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5165350" y="4379595"/>
                <a:ext cx="718299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✓ 效果可量化</a:t>
                </a:r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7715250" y="29527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  <a:custDash>
                <a:ds d="200000" sp="100000"/>
              </a:custDash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8382000" y="1762125"/>
              <a:ext cx="3238500" cy="3286125"/>
              <a:chOff x="8382000" y="1762125"/>
              <a:chExt cx="3238500" cy="32861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382000" y="2000250"/>
                <a:ext cx="3238500" cy="3048000"/>
              </a:xfrm>
              <a:custGeom>
                <a:avLst/>
                <a:gdLst/>
                <a:ahLst/>
                <a:cxnLst/>
                <a:rect l="l" t="t" r="r" b="b"/>
                <a:pathLst>
                  <a:path w="3238500" h="3048000">
                    <a:moveTo>
                      <a:pt x="114300" y="0"/>
                    </a:moveTo>
                    <a:lnTo>
                      <a:pt x="3124200" y="0"/>
                    </a:lnTo>
                    <a:cubicBezTo>
                      <a:pt x="3187326" y="0"/>
                      <a:pt x="3238500" y="51174"/>
                      <a:pt x="3238500" y="114300"/>
                    </a:cubicBezTo>
                    <a:lnTo>
                      <a:pt x="3238500" y="2933700"/>
                    </a:lnTo>
                    <a:cubicBezTo>
                      <a:pt x="3238500" y="2996826"/>
                      <a:pt x="3187326" y="3048000"/>
                      <a:pt x="3124200" y="3048000"/>
                    </a:cubicBezTo>
                    <a:lnTo>
                      <a:pt x="114300" y="3048000"/>
                    </a:lnTo>
                    <a:cubicBezTo>
                      <a:pt x="51174" y="3048000"/>
                      <a:pt x="0" y="2996826"/>
                      <a:pt x="0" y="2933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9" name="Ellipse 49"/>
              <p:cNvSpPr/>
              <p:nvPr/>
            </p:nvSpPr>
            <p:spPr>
              <a:xfrm>
                <a:off x="9772650" y="272415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9945868" y="2880360"/>
                <a:ext cx="1107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3</a:t>
                </a:r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9382125" y="1762125"/>
                <a:ext cx="123825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304800">
                    <a:moveTo>
                      <a:pt x="152400" y="0"/>
                    </a:moveTo>
                    <a:lnTo>
                      <a:pt x="1085850" y="0"/>
                    </a:lnTo>
                    <a:cubicBezTo>
                      <a:pt x="1170018" y="0"/>
                      <a:pt x="1238250" y="68232"/>
                      <a:pt x="1238250" y="152400"/>
                    </a:cubicBezTo>
                    <a:lnTo>
                      <a:pt x="1238250" y="152400"/>
                    </a:lnTo>
                    <a:cubicBezTo>
                      <a:pt x="1238250" y="236568"/>
                      <a:pt x="1170018" y="304800"/>
                      <a:pt x="1085850" y="304800"/>
                    </a:cubicBezTo>
                    <a:lnTo>
                      <a:pt x="152400" y="304800"/>
                    </a:lnTo>
                    <a:cubicBezTo>
                      <a:pt x="68232" y="304800"/>
                      <a:pt x="0" y="236568"/>
                      <a:pt x="0" y="152400"/>
                    </a:cubicBezTo>
                    <a:lnTo>
                      <a:pt x="0" y="152400"/>
                    </a:lnTo>
                    <a:cubicBezTo>
                      <a:pt x="0" y="68232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9712927" y="1825942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180 天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564880" y="2409825"/>
                <a:ext cx="91135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闭环优化</a:t>
                </a:r>
              </a:p>
            </p:txBody>
          </p:sp>
          <p:sp>
            <p:nvSpPr>
              <p:cNvPr id="54" name="Ellipse 54"/>
              <p:cNvSpPr/>
              <p:nvPr/>
            </p:nvSpPr>
            <p:spPr>
              <a:xfrm>
                <a:off x="8534400" y="28670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719185" y="2831306"/>
                <a:ext cx="107156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全自动营销闭环</a:t>
                </a:r>
              </a:p>
            </p:txBody>
          </p:sp>
          <p:sp>
            <p:nvSpPr>
              <p:cNvPr id="56" name="Ellipse 56"/>
              <p:cNvSpPr/>
              <p:nvPr/>
            </p:nvSpPr>
            <p:spPr>
              <a:xfrm>
                <a:off x="8534400" y="32004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719185" y="3164681"/>
                <a:ext cx="9075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ROI持续优化</a:t>
                </a:r>
              </a:p>
            </p:txBody>
          </p:sp>
          <p:sp>
            <p:nvSpPr>
              <p:cNvPr id="58" name="Ellipse 58"/>
              <p:cNvSpPr/>
              <p:nvPr/>
            </p:nvSpPr>
            <p:spPr>
              <a:xfrm>
                <a:off x="8534400" y="35337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719185" y="3498056"/>
                <a:ext cx="110756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内部AI运营能力</a:t>
                </a:r>
              </a:p>
            </p:txBody>
          </p:sp>
          <p:sp>
            <p:nvSpPr>
              <p:cNvPr id="60" name="Ellipse 60"/>
              <p:cNvSpPr/>
              <p:nvPr/>
            </p:nvSpPr>
            <p:spPr>
              <a:xfrm>
                <a:off x="8534400" y="38671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719185" y="3831431"/>
                <a:ext cx="12230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无需外部大力支持</a:t>
                </a:r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8572500" y="4286250"/>
                <a:ext cx="1714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266700">
                    <a:moveTo>
                      <a:pt x="38100" y="0"/>
                    </a:moveTo>
                    <a:lnTo>
                      <a:pt x="1676400" y="0"/>
                    </a:lnTo>
                    <a:cubicBezTo>
                      <a:pt x="1697442" y="0"/>
                      <a:pt x="1714500" y="17058"/>
                      <a:pt x="1714500" y="38100"/>
                    </a:cubicBezTo>
                    <a:lnTo>
                      <a:pt x="1714500" y="228600"/>
                    </a:lnTo>
                    <a:cubicBezTo>
                      <a:pt x="1714500" y="249642"/>
                      <a:pt x="1697442" y="266700"/>
                      <a:pt x="1676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9131179" y="4379595"/>
                <a:ext cx="597141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✓ 自主运营</a:t>
                </a:r>
              </a:p>
            </p:txBody>
          </p:sp>
        </p:grpSp>
      </p:grpSp>
      <p:grpSp>
        <p:nvGrpSpPr>
          <p:cNvPr id="70" name="Group 70"/>
          <p:cNvGrpSpPr/>
          <p:nvPr/>
        </p:nvGrpSpPr>
        <p:grpSpPr>
          <a:xfrm>
            <a:off x="0" y="5905500"/>
            <a:ext cx="12192000" cy="571500"/>
            <a:chOff x="0" y="5905500"/>
            <a:chExt cx="12192000" cy="571500"/>
          </a:xfrm>
        </p:grpSpPr>
        <p:sp>
          <p:nvSpPr>
            <p:cNvPr id="66" name="Rectangle 66"/>
            <p:cNvSpPr/>
            <p:nvPr/>
          </p:nvSpPr>
          <p:spPr>
            <a:xfrm>
              <a:off x="0" y="5905500"/>
              <a:ext cx="12192000" cy="571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565404" y="6137910"/>
              <a:ext cx="24515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下一步行动：从30天快速启动开始</a:t>
              </a:r>
            </a:p>
          </p:txBody>
        </p:sp>
        <p:sp>
          <p:nvSpPr>
            <p:cNvPr id="68" name="Freeform 68"/>
            <p:cNvSpPr/>
            <p:nvPr/>
          </p:nvSpPr>
          <p:spPr>
            <a:xfrm>
              <a:off x="10287000" y="6096000"/>
              <a:ext cx="1333500" cy="342900"/>
            </a:xfrm>
            <a:custGeom>
              <a:avLst/>
              <a:gdLst/>
              <a:ahLst/>
              <a:cxnLst/>
              <a:rect l="l" t="t" r="r" b="b"/>
              <a:pathLst>
                <a:path w="1333500" h="342900">
                  <a:moveTo>
                    <a:pt x="57150" y="0"/>
                  </a:moveTo>
                  <a:lnTo>
                    <a:pt x="1276350" y="0"/>
                  </a:lnTo>
                  <a:cubicBezTo>
                    <a:pt x="1307913" y="0"/>
                    <a:pt x="1333500" y="25587"/>
                    <a:pt x="1333500" y="57150"/>
                  </a:cubicBezTo>
                  <a:lnTo>
                    <a:pt x="1333500" y="285750"/>
                  </a:lnTo>
                  <a:cubicBezTo>
                    <a:pt x="1333500" y="317313"/>
                    <a:pt x="1307913" y="342900"/>
                    <a:pt x="1276350" y="342900"/>
                  </a:cubicBezTo>
                  <a:lnTo>
                    <a:pt x="57150" y="342900"/>
                  </a:lnTo>
                  <a:cubicBezTo>
                    <a:pt x="25587" y="342900"/>
                    <a:pt x="0" y="317313"/>
                    <a:pt x="0" y="2857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51579" y="62207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立即咨询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66738" y="6578441"/>
            <a:ext cx="11058524" cy="161925"/>
            <a:chOff x="566738" y="6578441"/>
            <a:chExt cx="11058524" cy="161925"/>
          </a:xfrm>
        </p:grpSpPr>
        <p:sp>
          <p:nvSpPr>
            <p:cNvPr id="71" name="TextBox 71"/>
            <p:cNvSpPr txBox="1"/>
            <p:nvPr/>
          </p:nvSpPr>
          <p:spPr>
            <a:xfrm>
              <a:off x="566738" y="65784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365849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2026-07-10T23:16:21Z</dcterms:created>
  <dcterms:modified xsi:type="dcterms:W3CDTF">2026-07-10T23:16:21Z</dcterms:modified>
  <cp:category/>
  <cp:contentStatus/>
</cp:coreProperties>
</file>