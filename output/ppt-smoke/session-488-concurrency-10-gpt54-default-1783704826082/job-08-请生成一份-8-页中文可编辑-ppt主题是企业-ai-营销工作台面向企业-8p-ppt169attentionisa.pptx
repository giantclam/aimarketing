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  <Relationship Id="rId15" Type="http://schemas.openxmlformats.org/officeDocument/2006/relationships/notesMaster" Target="notesMasters/notesMaster1.xml"/>
</Relationships>
</file>

<file path=ppt/notesMasters/_rels/notesMaster1.xml.rels><?xml version="1.0" encoding="UTF-8" standalone="yes"?>
<Relationships xmlns="http://schemas.openxmlformats.org/package/2006/relationships">
  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企业AI营销工作台：从数据到决策的智能闭环</a:t>
            </a:r>
          </a:p>
          <a:p>
            <a:endParaRPr lang="en-US" dirty="0"/>
          </a:p>
          <a:p>
            <a:r>
              <a:rPr lang="zh-CN" dirty="0"/>
              <a:t>全域数据整合·AI驱动分析·自动化执行·实时效果度量。</a:t>
            </a:r>
          </a:p>
          <a:p>
            <a:endParaRPr lang="en-US" dirty="0"/>
          </a:p>
          <a:p>
            <a:r>
              <a:rPr lang="zh-CN" dirty="0"/>
              <a:t>• 企业AI营销工作台：从数据到决策的智能闭环</a:t>
            </a:r>
          </a:p>
          <a:p>
            <a:r>
              <a:rPr lang="zh-CN" dirty="0"/>
              <a:t>• 现状概览</a:t>
            </a:r>
          </a:p>
          <a:p>
            <a:r>
              <a:rPr lang="zh-CN" dirty="0"/>
              <a:t>• 核心风险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ExecutiveBrief议题框架</a:t>
            </a:r>
          </a:p>
          <a:p>
            <a:endParaRPr lang="en-US" dirty="0"/>
          </a:p>
          <a:p>
            <a:r>
              <a:rPr lang="zh-CN" dirty="0"/>
              <a:t>从战略必要性到落地路线图，五大议题覆盖决策所需全部信息。</a:t>
            </a:r>
          </a:p>
          <a:p>
            <a:endParaRPr lang="en-US" dirty="0"/>
          </a:p>
          <a:p>
            <a:r>
              <a:rPr lang="zh-CN" dirty="0"/>
              <a:t>• 数据孤岛、手动操作与滞后分析正在侵蚀增长</a:t>
            </a:r>
          </a:p>
          <a:p>
            <a:r>
              <a:rPr lang="zh-CN" dirty="0"/>
              <a:t>• 数据整合、AI分析、自动化执行、效果度量的有机协同</a:t>
            </a:r>
          </a:p>
          <a:p>
            <a:r>
              <a:rPr lang="zh-CN" dirty="0"/>
              <a:t>• 与市面方案的本质差异如何转化为长期竞争优势</a:t>
            </a:r>
          </a:p>
          <a:p>
            <a:r>
              <a:rPr lang="zh-CN" dirty="0"/>
              <a:t>• 已上线客户的转化率、成本与效率改善数据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传统营销技术栈的三重断裂</a:t>
            </a:r>
          </a:p>
          <a:p>
            <a:endParaRPr lang="en-US" dirty="0"/>
          </a:p>
          <a:p>
            <a:r>
              <a:rPr lang="zh-CN" dirty="0"/>
              <a:t>数据、分析与执行环节彼此脱节，企业错失最佳决策窗口期。</a:t>
            </a:r>
          </a:p>
          <a:p>
            <a:endParaRPr lang="en-US" dirty="0"/>
          </a:p>
          <a:p>
            <a:r>
              <a:rPr lang="zh-CN" dirty="0"/>
              <a:t>• 数据碎片化：客户触点分散在CRM、广告、电商等10+系统中</a:t>
            </a:r>
          </a:p>
          <a:p>
            <a:r>
              <a:rPr lang="zh-CN" dirty="0"/>
              <a:t>• 分析滞后性：依赖周报月报，无法对实时行为做出分钟级响应</a:t>
            </a:r>
          </a:p>
          <a:p>
            <a:r>
              <a:rPr lang="zh-CN" dirty="0"/>
              <a:t>• 执行黑箱化：营销活动效果归因混乱，无法识别高杠杆优化点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旧范式vsAI原生工作台</a:t>
            </a:r>
          </a:p>
          <a:p>
            <a:endParaRPr lang="en-US" dirty="0"/>
          </a:p>
          <a:p>
            <a:r>
              <a:rPr lang="zh-CN" dirty="0"/>
              <a:t>两种技术路线的核心差异——从工具堆砌到智能闭环。</a:t>
            </a:r>
          </a:p>
          <a:p>
            <a:endParaRPr lang="en-US" dirty="0"/>
          </a:p>
          <a:p>
            <a:r>
              <a:rPr lang="zh-CN" dirty="0"/>
              <a:t>• 数据管道靠ETL维护，分析依赖BI团队，执行需手动操作多个渠道后台</a:t>
            </a:r>
          </a:p>
          <a:p>
            <a:r>
              <a:rPr lang="zh-CN" dirty="0"/>
              <a:t>• 实时融合全域数据，大模型驱动洞察与策略推荐，一键触发多渠道自动化旅程</a:t>
            </a:r>
          </a:p>
          <a:p>
            <a:r>
              <a:rPr lang="zh-CN" dirty="0"/>
              <a:t>• 关键变量对比</a:t>
            </a:r>
          </a:p>
          <a:p>
            <a:r>
              <a:rPr lang="zh-CN" dirty="0"/>
              <a:t>• 不同路径影响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已交付的客户成果</a:t>
            </a:r>
          </a:p>
          <a:p>
            <a:endParaRPr lang="en-US" dirty="0"/>
          </a:p>
          <a:p>
            <a:r>
              <a:rPr lang="zh-CN" dirty="0"/>
              <a:t>首批合作企业上线90天内获得的量化提升。</a:t>
            </a:r>
          </a:p>
          <a:p>
            <a:endParaRPr lang="en-US" dirty="0"/>
          </a:p>
          <a:p>
            <a:r>
              <a:rPr lang="zh-CN" dirty="0"/>
              <a:t>• 某头部快消品牌通过AI智能投放与个性化推荐，电商转化率从4.2%升至5.8%</a:t>
            </a:r>
          </a:p>
          <a:p>
            <a:r>
              <a:rPr lang="zh-CN" dirty="0"/>
              <a:t>• 某金融科技公司利用预测模型锁定高意向人群，CPA下降显著</a:t>
            </a:r>
          </a:p>
          <a:p>
            <a:r>
              <a:rPr lang="zh-CN" dirty="0"/>
              <a:t>• 某零售集团实现营销活动自动化编排与多触达同步，相应速度大幅提升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性能与影响概览</a:t>
            </a:r>
          </a:p>
          <a:p>
            <a:endParaRPr lang="en-US" dirty="0"/>
          </a:p>
          <a:p>
            <a:r>
              <a:rPr lang="zh-CN" dirty="0"/>
              <a:t>关键指标表明平台已具备规模部署条件。</a:t>
            </a:r>
          </a:p>
          <a:p>
            <a:endParaRPr lang="en-US" dirty="0"/>
          </a:p>
          <a:p>
            <a:r>
              <a:rPr lang="zh-CN" dirty="0"/>
              <a:t>• 预置数据源连接器</a:t>
            </a:r>
          </a:p>
          <a:p>
            <a:r>
              <a:rPr lang="zh-CN" dirty="0"/>
              <a:t>• AI归因准确率</a:t>
            </a:r>
          </a:p>
          <a:p>
            <a:r>
              <a:rPr lang="zh-CN" dirty="0"/>
              <a:t>• 自动化流程覆盖率</a:t>
            </a:r>
          </a:p>
          <a:p>
            <a:r>
              <a:rPr lang="zh-CN" dirty="0"/>
              <a:t>• 客户营销ROI平均提升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典型营销活动ROI提升幅度</a:t>
            </a:r>
          </a:p>
          <a:p>
            <a:endParaRPr lang="en-US" dirty="0"/>
          </a:p>
          <a:p>
            <a:r>
              <a:rPr lang="zh-CN" dirty="0"/>
              <a:t>基于已部署客户的A/B测试数据。</a:t>
            </a:r>
          </a:p>
          <a:p>
            <a:endParaRPr lang="en-US" dirty="0"/>
          </a:p>
          <a:p>
            <a:r>
              <a:rPr lang="zh-CN" dirty="0"/>
              <a:t>• AI动态出价与关键词优化</a:t>
            </a:r>
          </a:p>
          <a:p>
            <a:r>
              <a:rPr lang="zh-CN" dirty="0"/>
              <a:t>• 预测受众分群与创意自适应</a:t>
            </a:r>
          </a:p>
          <a:p>
            <a:r>
              <a:rPr lang="zh-CN" dirty="0"/>
              <a:t>• 个性化时机与内容推荐</a:t>
            </a:r>
          </a:p>
          <a:p>
            <a:r>
              <a:rPr lang="zh-CN" dirty="0"/>
              <a:t>• 触发式沟通与频次优化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建议启动路径与风险提示</a:t>
            </a:r>
          </a:p>
          <a:p>
            <a:endParaRPr lang="en-US" dirty="0"/>
          </a:p>
          <a:p>
            <a:r>
              <a:rPr lang="zh-CN" dirty="0"/>
              <a:t>30天Pilot可验证核心能力，90天实现全渠道覆盖。</a:t>
            </a:r>
          </a:p>
          <a:p>
            <a:endParaRPr lang="en-US" dirty="0"/>
          </a:p>
          <a:p>
            <a:r>
              <a:rPr lang="zh-CN" dirty="0"/>
              <a:t>• 指定业务范围（如电商转化或留资优化），对接2-3个核心数据源</a:t>
            </a:r>
          </a:p>
          <a:p>
            <a:r>
              <a:rPr lang="zh-CN" dirty="0"/>
              <a:t>• 预置连接器即插即用，自动化归因模型基于历史数据训练</a:t>
            </a:r>
          </a:p>
          <a:p>
            <a:r>
              <a:rPr lang="zh-CN" dirty="0"/>
              <a:t>• 系统推荐最优策略，人工审核后一键发布，实时度量看板同步</a:t>
            </a:r>
          </a:p>
        </p:txBody>
      </p:sp>
    </p:spTree>
  </p:cSld>
  <p:clrMapOvr>
    <a:masterClrMapping/>
  </p:clrMapOvr>
</p:note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2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p="http://schemas.openxmlformats.org/presentationml/2006/main" xmlns:p14="http://schemas.microsoft.com/office/powerpoint/2010/main" type="cust" preserve="1" showMasterSp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2" Type="http://schemas.openxmlformats.org/officeDocument/2006/relationships/theme" Target="../theme/theme1.xml"/>  <Relationship Id="rId13" Type="http://schemas.openxmlformats.org/officeDocument/2006/relationships/slideLayout" Target="../slideLayouts/slideLayout12.xml"/>
  <Relationship Id="rId14" Type="http://schemas.openxmlformats.org/officeDocument/2006/relationships/slideLayout" Target="../slideLayouts/slideLayout13.xml"/>
  <Relationship Id="rId15" Type="http://schemas.openxmlformats.org/officeDocument/2006/relationships/slideLayout" Target="../slideLayouts/slideLayout14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3"/>
    <p:sldLayoutId id="2147483661" r:id="rId14"/>
    <p:sldLayoutId id="2147483662" r:id="rId15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2.xml"/>
  <Relationship Id="rId2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3.xml"/>
  <Relationship Id="rId2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14.xml"/>
  <Relationship Id="rId2" Type="http://schemas.openxmlformats.org/officeDocument/2006/relationships/notesSlide" Target="../notesSlides/notesSlide8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6096000" cy="6858000"/>
            </a:xfrm>
            <a:prstGeom prst="rect">
              <a:avLst/>
            </a:prstGeom>
            <a:gradFill>
              <a:gsLst>
                <a:gs pos="0">
                  <a:schemeClr val="accent1">
                    <a:alpha val="95000"/>
                  </a:schemeClr>
                </a:gs>
                <a:gs pos="100000">
                  <a:schemeClr val="accent1">
                    <a:alpha val="85000"/>
                  </a:schemeClr>
                </a:gs>
              </a:gsLst>
              <a:lin ang="2700000" scaled="1"/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0" y="6362700"/>
            <a:ext cx="12192000" cy="495300"/>
            <a:chOff x="0" y="6362700"/>
            <a:chExt cx="12192000" cy="495300"/>
          </a:xfrm>
        </p:grpSpPr>
        <p:sp>
          <p:nvSpPr>
            <p:cNvPr id="5" name="Rectangle 5"/>
            <p:cNvSpPr/>
            <p:nvPr/>
          </p:nvSpPr>
          <p:spPr>
            <a:xfrm>
              <a:off x="0" y="6362700"/>
              <a:ext cx="12192000" cy="4953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0" y="6362700"/>
              <a:ext cx="6096000" cy="495300"/>
            </a:xfrm>
            <a:prstGeom prst="rect">
              <a:avLst/>
            </a:prstGeom>
            <a:solidFill>
              <a:schemeClr val="accent1">
                <a:alpha val="30000"/>
              </a:schemeClr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63627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6096000" y="6362700"/>
              <a:ext cx="9525" cy="495300"/>
            </a:xfrm>
            <a:custGeom>
              <a:avLst/>
              <a:gdLst/>
              <a:ahLst/>
              <a:cxnLst/>
              <a:rect l="l" t="t" r="r" b="b"/>
              <a:pathLst>
                <a:path w="9525" h="495300">
                  <a:moveTo>
                    <a:pt x="0" y="0"/>
                  </a:moveTo>
                  <a:lnTo>
                    <a:pt x="0" y="4953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16" name="Group 16"/>
          <p:cNvGrpSpPr/>
          <p:nvPr/>
        </p:nvGrpSpPr>
        <p:grpSpPr>
          <a:xfrm>
            <a:off x="553212" y="1029652"/>
            <a:ext cx="3138282" cy="3260599"/>
            <a:chOff x="553212" y="1029652"/>
            <a:chExt cx="3138282" cy="3260599"/>
          </a:xfrm>
        </p:grpSpPr>
        <p:sp>
          <p:nvSpPr>
            <p:cNvPr id="10" name="TextBox 10"/>
            <p:cNvSpPr txBox="1"/>
            <p:nvPr/>
          </p:nvSpPr>
          <p:spPr>
            <a:xfrm>
              <a:off x="566166" y="1029652"/>
              <a:ext cx="96454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225" dirty="0">
                  <a:solidFill>
                    <a:schemeClr val="accent3"/>
                  </a:solidFill>
                  <a:latin typeface="+mn-lt"/>
                  <a:ea typeface="+mn-ea"/>
                  <a:cs typeface="+mn-cs"/>
                </a:rPr>
                <a:t>GRIDBRIEF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553212" y="1516380"/>
              <a:ext cx="313828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spc="-75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企业AI营销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553212" y="2049780"/>
              <a:ext cx="1628242" cy="70408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600" b="1" spc="-75" dirty="0">
                  <a:solidFill>
                    <a:srgbClr val="FFFFFF"/>
                  </a:solidFill>
                  <a:latin typeface="+mj-lt"/>
                  <a:ea typeface="+mj-ea"/>
                  <a:cs typeface="+mj-cs"/>
                </a:rPr>
                <a:t>工作台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571500" y="3429000"/>
              <a:ext cx="762000" cy="381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564642" y="3759518"/>
              <a:ext cx="22027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全域数据整合·AI驱动分析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564642" y="4026218"/>
              <a:ext cx="211277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FFFFFF">
                      <a:alphaMod val="75000"/>
                    </a:srgbClr>
                  </a:solidFill>
                  <a:latin typeface="+mn-lt"/>
                  <a:ea typeface="+mn-ea"/>
                  <a:cs typeface="+mn-cs"/>
                </a:rPr>
                <a:t>自动化执行·实时效果度量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286500" y="762000"/>
            <a:ext cx="5143500" cy="5334000"/>
            <a:chOff x="6286500" y="762000"/>
            <a:chExt cx="5143500" cy="5334000"/>
          </a:xfrm>
        </p:grpSpPr>
        <p:sp>
          <p:nvSpPr>
            <p:cNvPr id="17" name="Line 17"/>
            <p:cNvSpPr/>
            <p:nvPr/>
          </p:nvSpPr>
          <p:spPr>
            <a:xfrm>
              <a:off x="6286500" y="11430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8" name="Line 18"/>
            <p:cNvSpPr/>
            <p:nvPr/>
          </p:nvSpPr>
          <p:spPr>
            <a:xfrm>
              <a:off x="6286500" y="22860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286500" y="34290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0" name="Line 20"/>
            <p:cNvSpPr/>
            <p:nvPr/>
          </p:nvSpPr>
          <p:spPr>
            <a:xfrm>
              <a:off x="6286500" y="45720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1" name="Line 21"/>
            <p:cNvSpPr/>
            <p:nvPr/>
          </p:nvSpPr>
          <p:spPr>
            <a:xfrm>
              <a:off x="6286500" y="5715000"/>
              <a:ext cx="5143500" cy="9525"/>
            </a:xfrm>
            <a:custGeom>
              <a:avLst/>
              <a:gdLst/>
              <a:ahLst/>
              <a:cxnLst/>
              <a:rect l="l" t="t" r="r" b="b"/>
              <a:pathLst>
                <a:path w="5143500" h="9525">
                  <a:moveTo>
                    <a:pt x="0" y="0"/>
                  </a:moveTo>
                  <a:lnTo>
                    <a:pt x="51435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2" name="Line 22"/>
            <p:cNvSpPr/>
            <p:nvPr/>
          </p:nvSpPr>
          <p:spPr>
            <a:xfrm>
              <a:off x="7572375" y="762000"/>
              <a:ext cx="9525" cy="5334000"/>
            </a:xfrm>
            <a:custGeom>
              <a:avLst/>
              <a:gdLst/>
              <a:ahLst/>
              <a:cxnLst/>
              <a:rect l="l" t="t" r="r" b="b"/>
              <a:pathLst>
                <a:path w="9525" h="5334000">
                  <a:moveTo>
                    <a:pt x="0" y="0"/>
                  </a:moveTo>
                  <a:lnTo>
                    <a:pt x="0" y="5334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3" name="Line 23"/>
            <p:cNvSpPr/>
            <p:nvPr/>
          </p:nvSpPr>
          <p:spPr>
            <a:xfrm>
              <a:off x="8858250" y="762000"/>
              <a:ext cx="9525" cy="5334000"/>
            </a:xfrm>
            <a:custGeom>
              <a:avLst/>
              <a:gdLst/>
              <a:ahLst/>
              <a:cxnLst/>
              <a:rect l="l" t="t" r="r" b="b"/>
              <a:pathLst>
                <a:path w="9525" h="5334000">
                  <a:moveTo>
                    <a:pt x="0" y="0"/>
                  </a:moveTo>
                  <a:lnTo>
                    <a:pt x="0" y="5334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4" name="Line 24"/>
            <p:cNvSpPr/>
            <p:nvPr/>
          </p:nvSpPr>
          <p:spPr>
            <a:xfrm>
              <a:off x="10144125" y="762000"/>
              <a:ext cx="9525" cy="5334000"/>
            </a:xfrm>
            <a:custGeom>
              <a:avLst/>
              <a:gdLst/>
              <a:ahLst/>
              <a:cxnLst/>
              <a:rect l="l" t="t" r="r" b="b"/>
              <a:pathLst>
                <a:path w="9525" h="5334000">
                  <a:moveTo>
                    <a:pt x="0" y="0"/>
                  </a:moveTo>
                  <a:lnTo>
                    <a:pt x="0" y="533400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25" name="Ellipse 25"/>
            <p:cNvSpPr/>
            <p:nvPr/>
          </p:nvSpPr>
          <p:spPr>
            <a:xfrm>
              <a:off x="7343775" y="1485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6" name="Ellipse 26"/>
            <p:cNvSpPr/>
            <p:nvPr/>
          </p:nvSpPr>
          <p:spPr>
            <a:xfrm>
              <a:off x="8629650" y="1485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7" name="Ellipse 27"/>
            <p:cNvSpPr/>
            <p:nvPr/>
          </p:nvSpPr>
          <p:spPr>
            <a:xfrm>
              <a:off x="9915525" y="1485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28" name="Ellipse 28"/>
            <p:cNvSpPr/>
            <p:nvPr/>
          </p:nvSpPr>
          <p:spPr>
            <a:xfrm>
              <a:off x="7343775" y="2628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29" name="Ellipse 29"/>
            <p:cNvSpPr/>
            <p:nvPr/>
          </p:nvSpPr>
          <p:spPr>
            <a:xfrm>
              <a:off x="8629650" y="2628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0" name="Ellipse 30"/>
            <p:cNvSpPr/>
            <p:nvPr/>
          </p:nvSpPr>
          <p:spPr>
            <a:xfrm>
              <a:off x="9915525" y="2628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1" name="Ellipse 31"/>
            <p:cNvSpPr/>
            <p:nvPr/>
          </p:nvSpPr>
          <p:spPr>
            <a:xfrm>
              <a:off x="7343775" y="3771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2" name="Ellipse 32"/>
            <p:cNvSpPr/>
            <p:nvPr/>
          </p:nvSpPr>
          <p:spPr>
            <a:xfrm>
              <a:off x="8629650" y="3771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3" name="Ellipse 33"/>
            <p:cNvSpPr/>
            <p:nvPr/>
          </p:nvSpPr>
          <p:spPr>
            <a:xfrm>
              <a:off x="9915525" y="3771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34" name="Ellipse 34"/>
            <p:cNvSpPr/>
            <p:nvPr/>
          </p:nvSpPr>
          <p:spPr>
            <a:xfrm>
              <a:off x="7343775" y="4914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5" name="Ellipse 35"/>
            <p:cNvSpPr/>
            <p:nvPr/>
          </p:nvSpPr>
          <p:spPr>
            <a:xfrm>
              <a:off x="8629650" y="4914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6" name="Ellipse 36"/>
            <p:cNvSpPr/>
            <p:nvPr/>
          </p:nvSpPr>
          <p:spPr>
            <a:xfrm>
              <a:off x="9915525" y="491490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3"/>
              </a:solidFill>
            </a:ln>
          </p:spPr>
        </p:sp>
        <p:sp>
          <p:nvSpPr>
            <p:cNvPr id="37" name="Line 37"/>
            <p:cNvSpPr/>
            <p:nvPr/>
          </p:nvSpPr>
          <p:spPr>
            <a:xfrm>
              <a:off x="7572375" y="19431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8" name="Line 38"/>
            <p:cNvSpPr/>
            <p:nvPr/>
          </p:nvSpPr>
          <p:spPr>
            <a:xfrm>
              <a:off x="8858250" y="19431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39" name="Line 39"/>
            <p:cNvSpPr/>
            <p:nvPr/>
          </p:nvSpPr>
          <p:spPr>
            <a:xfrm>
              <a:off x="10144125" y="19431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0" name="Line 40"/>
            <p:cNvSpPr/>
            <p:nvPr/>
          </p:nvSpPr>
          <p:spPr>
            <a:xfrm>
              <a:off x="7572375" y="30861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41" name="Line 41"/>
            <p:cNvSpPr/>
            <p:nvPr/>
          </p:nvSpPr>
          <p:spPr>
            <a:xfrm>
              <a:off x="8858250" y="30861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42" name="Line 42"/>
            <p:cNvSpPr/>
            <p:nvPr/>
          </p:nvSpPr>
          <p:spPr>
            <a:xfrm>
              <a:off x="10144125" y="30861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43" name="Line 43"/>
            <p:cNvSpPr/>
            <p:nvPr/>
          </p:nvSpPr>
          <p:spPr>
            <a:xfrm>
              <a:off x="7572375" y="42291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4" name="Line 44"/>
            <p:cNvSpPr/>
            <p:nvPr/>
          </p:nvSpPr>
          <p:spPr>
            <a:xfrm>
              <a:off x="8858250" y="42291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5" name="Line 45"/>
            <p:cNvSpPr/>
            <p:nvPr/>
          </p:nvSpPr>
          <p:spPr>
            <a:xfrm>
              <a:off x="10144125" y="4229100"/>
              <a:ext cx="9525" cy="685800"/>
            </a:xfrm>
            <a:custGeom>
              <a:avLst/>
              <a:gdLst/>
              <a:ahLst/>
              <a:cxnLst/>
              <a:rect l="l" t="t" r="r" b="b"/>
              <a:pathLst>
                <a:path w="9525" h="685800">
                  <a:moveTo>
                    <a:pt x="0" y="0"/>
                  </a:moveTo>
                  <a:lnTo>
                    <a:pt x="0" y="68580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7800975" y="1714500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5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7" name="Line 47"/>
            <p:cNvSpPr/>
            <p:nvPr/>
          </p:nvSpPr>
          <p:spPr>
            <a:xfrm>
              <a:off x="9086850" y="1714500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5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48" name="Line 48"/>
            <p:cNvSpPr/>
            <p:nvPr/>
          </p:nvSpPr>
          <p:spPr>
            <a:xfrm>
              <a:off x="7800975" y="2857500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49" name="Line 49"/>
            <p:cNvSpPr/>
            <p:nvPr/>
          </p:nvSpPr>
          <p:spPr>
            <a:xfrm>
              <a:off x="9086850" y="2857500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50" name="Line 50"/>
            <p:cNvSpPr/>
            <p:nvPr/>
          </p:nvSpPr>
          <p:spPr>
            <a:xfrm>
              <a:off x="7800975" y="4000500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5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1" name="Line 51"/>
            <p:cNvSpPr/>
            <p:nvPr/>
          </p:nvSpPr>
          <p:spPr>
            <a:xfrm>
              <a:off x="9086850" y="4000500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5" y="0"/>
                  </a:lnTo>
                </a:path>
              </a:pathLst>
            </a:custGeom>
            <a:noFill/>
            <a:ln w="14288">
              <a:solidFill>
                <a:schemeClr val="accent2"/>
              </a:solidFill>
            </a:ln>
          </p:spPr>
        </p:sp>
        <p:sp>
          <p:nvSpPr>
            <p:cNvPr id="52" name="Line 52"/>
            <p:cNvSpPr/>
            <p:nvPr/>
          </p:nvSpPr>
          <p:spPr>
            <a:xfrm>
              <a:off x="7800975" y="5143500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53" name="Line 53"/>
            <p:cNvSpPr/>
            <p:nvPr/>
          </p:nvSpPr>
          <p:spPr>
            <a:xfrm>
              <a:off x="9086850" y="5143500"/>
              <a:ext cx="828675" cy="9525"/>
            </a:xfrm>
            <a:custGeom>
              <a:avLst/>
              <a:gdLst/>
              <a:ahLst/>
              <a:cxnLst/>
              <a:rect l="l" t="t" r="r" b="b"/>
              <a:pathLst>
                <a:path w="828675" h="9525">
                  <a:moveTo>
                    <a:pt x="0" y="0"/>
                  </a:moveTo>
                  <a:lnTo>
                    <a:pt x="828675" y="0"/>
                  </a:lnTo>
                </a:path>
              </a:pathLst>
            </a:custGeom>
            <a:noFill/>
            <a:ln w="14288">
              <a:solidFill>
                <a:schemeClr val="accent3"/>
              </a:solidFill>
            </a:ln>
          </p:spPr>
        </p:sp>
        <p:sp>
          <p:nvSpPr>
            <p:cNvPr id="54" name="Ellipse 54"/>
            <p:cNvSpPr/>
            <p:nvPr/>
          </p:nvSpPr>
          <p:spPr>
            <a:xfrm>
              <a:off x="7515225" y="16573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5" name="Ellipse 55"/>
            <p:cNvSpPr/>
            <p:nvPr/>
          </p:nvSpPr>
          <p:spPr>
            <a:xfrm>
              <a:off x="8801100" y="16573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6" name="Ellipse 56"/>
            <p:cNvSpPr/>
            <p:nvPr/>
          </p:nvSpPr>
          <p:spPr>
            <a:xfrm>
              <a:off x="10086975" y="16573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7" name="Ellipse 57"/>
            <p:cNvSpPr/>
            <p:nvPr/>
          </p:nvSpPr>
          <p:spPr>
            <a:xfrm>
              <a:off x="7515225" y="28003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8" name="Ellipse 58"/>
            <p:cNvSpPr/>
            <p:nvPr/>
          </p:nvSpPr>
          <p:spPr>
            <a:xfrm>
              <a:off x="8801100" y="28003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59" name="Ellipse 59"/>
            <p:cNvSpPr/>
            <p:nvPr/>
          </p:nvSpPr>
          <p:spPr>
            <a:xfrm>
              <a:off x="10086975" y="28003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0" name="Ellipse 60"/>
            <p:cNvSpPr/>
            <p:nvPr/>
          </p:nvSpPr>
          <p:spPr>
            <a:xfrm>
              <a:off x="7515225" y="39433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1" name="Ellipse 61"/>
            <p:cNvSpPr/>
            <p:nvPr/>
          </p:nvSpPr>
          <p:spPr>
            <a:xfrm>
              <a:off x="8801100" y="39433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Ellipse 62"/>
            <p:cNvSpPr/>
            <p:nvPr/>
          </p:nvSpPr>
          <p:spPr>
            <a:xfrm>
              <a:off x="10086975" y="3943350"/>
              <a:ext cx="114300" cy="114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Ellipse 63"/>
            <p:cNvSpPr/>
            <p:nvPr/>
          </p:nvSpPr>
          <p:spPr>
            <a:xfrm>
              <a:off x="7515225" y="50863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4" name="Ellipse 64"/>
            <p:cNvSpPr/>
            <p:nvPr/>
          </p:nvSpPr>
          <p:spPr>
            <a:xfrm>
              <a:off x="8801100" y="50863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5" name="Ellipse 65"/>
            <p:cNvSpPr/>
            <p:nvPr/>
          </p:nvSpPr>
          <p:spPr>
            <a:xfrm>
              <a:off x="10086975" y="5086350"/>
              <a:ext cx="114300" cy="1143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</p:sp>
        <p:sp>
          <p:nvSpPr>
            <p:cNvPr id="66" name="Ellipse 66"/>
            <p:cNvSpPr/>
            <p:nvPr/>
          </p:nvSpPr>
          <p:spPr>
            <a:xfrm>
              <a:off x="8096250" y="2171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7" name="Ellipse 67"/>
            <p:cNvSpPr/>
            <p:nvPr/>
          </p:nvSpPr>
          <p:spPr>
            <a:xfrm>
              <a:off x="9382125" y="2171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8" name="Ellipse 68"/>
            <p:cNvSpPr/>
            <p:nvPr/>
          </p:nvSpPr>
          <p:spPr>
            <a:xfrm>
              <a:off x="8096250" y="3314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69" name="Ellipse 69"/>
            <p:cNvSpPr/>
            <p:nvPr/>
          </p:nvSpPr>
          <p:spPr>
            <a:xfrm>
              <a:off x="9382125" y="3314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0" name="Ellipse 70"/>
            <p:cNvSpPr/>
            <p:nvPr/>
          </p:nvSpPr>
          <p:spPr>
            <a:xfrm>
              <a:off x="8096250" y="4457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1" name="Ellipse 71"/>
            <p:cNvSpPr/>
            <p:nvPr/>
          </p:nvSpPr>
          <p:spPr>
            <a:xfrm>
              <a:off x="9382125" y="4457700"/>
              <a:ext cx="228600" cy="2286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</p:sp>
        <p:sp>
          <p:nvSpPr>
            <p:cNvPr id="72" name="Line 72"/>
            <p:cNvSpPr/>
            <p:nvPr/>
          </p:nvSpPr>
          <p:spPr>
            <a:xfrm>
              <a:off x="8210550" y="24003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73" name="Line 73"/>
            <p:cNvSpPr/>
            <p:nvPr/>
          </p:nvSpPr>
          <p:spPr>
            <a:xfrm>
              <a:off x="9496425" y="24003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74" name="Line 74"/>
            <p:cNvSpPr/>
            <p:nvPr/>
          </p:nvSpPr>
          <p:spPr>
            <a:xfrm>
              <a:off x="8210550" y="35433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75" name="Line 75"/>
            <p:cNvSpPr/>
            <p:nvPr/>
          </p:nvSpPr>
          <p:spPr>
            <a:xfrm>
              <a:off x="9496425" y="3543300"/>
              <a:ext cx="9525" cy="914400"/>
            </a:xfrm>
            <a:custGeom>
              <a:avLst/>
              <a:gdLst/>
              <a:ahLst/>
              <a:cxnLst/>
              <a:rect l="l" t="t" r="r" b="b"/>
              <a:pathLst>
                <a:path w="9525" h="914400">
                  <a:moveTo>
                    <a:pt x="0" y="0"/>
                  </a:moveTo>
                  <a:lnTo>
                    <a:pt x="0" y="91440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  <p:sp>
          <p:nvSpPr>
            <p:cNvPr id="76" name="Line 76"/>
            <p:cNvSpPr/>
            <p:nvPr/>
          </p:nvSpPr>
          <p:spPr>
            <a:xfrm>
              <a:off x="8210550" y="1714500"/>
              <a:ext cx="647700" cy="571500"/>
            </a:xfrm>
            <a:custGeom>
              <a:avLst/>
              <a:gdLst/>
              <a:ahLst/>
              <a:cxnLst/>
              <a:rect l="l" t="t" r="r" b="b"/>
              <a:pathLst>
                <a:path w="647700" h="571500">
                  <a:moveTo>
                    <a:pt x="0" y="571500"/>
                  </a:moveTo>
                  <a:lnTo>
                    <a:pt x="6477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prstDash val="dash"/>
            </a:ln>
          </p:spPr>
        </p:sp>
        <p:sp>
          <p:nvSpPr>
            <p:cNvPr id="77" name="Line 77"/>
            <p:cNvSpPr/>
            <p:nvPr/>
          </p:nvSpPr>
          <p:spPr>
            <a:xfrm>
              <a:off x="9496425" y="1714500"/>
              <a:ext cx="647700" cy="571500"/>
            </a:xfrm>
            <a:custGeom>
              <a:avLst/>
              <a:gdLst/>
              <a:ahLst/>
              <a:cxnLst/>
              <a:rect l="l" t="t" r="r" b="b"/>
              <a:pathLst>
                <a:path w="647700" h="571500">
                  <a:moveTo>
                    <a:pt x="0" y="571500"/>
                  </a:moveTo>
                  <a:lnTo>
                    <a:pt x="6477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prstDash val="dash"/>
            </a:ln>
          </p:spPr>
        </p:sp>
        <p:sp>
          <p:nvSpPr>
            <p:cNvPr id="78" name="Line 78"/>
            <p:cNvSpPr/>
            <p:nvPr/>
          </p:nvSpPr>
          <p:spPr>
            <a:xfrm>
              <a:off x="8210550" y="2857500"/>
              <a:ext cx="647700" cy="571500"/>
            </a:xfrm>
            <a:custGeom>
              <a:avLst/>
              <a:gdLst/>
              <a:ahLst/>
              <a:cxnLst/>
              <a:rect l="l" t="t" r="r" b="b"/>
              <a:pathLst>
                <a:path w="647700" h="571500">
                  <a:moveTo>
                    <a:pt x="0" y="571500"/>
                  </a:moveTo>
                  <a:lnTo>
                    <a:pt x="6477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  <a:prstDash val="dash"/>
            </a:ln>
          </p:spPr>
        </p:sp>
        <p:sp>
          <p:nvSpPr>
            <p:cNvPr id="79" name="Line 79"/>
            <p:cNvSpPr/>
            <p:nvPr/>
          </p:nvSpPr>
          <p:spPr>
            <a:xfrm>
              <a:off x="9496425" y="2857500"/>
              <a:ext cx="647700" cy="571500"/>
            </a:xfrm>
            <a:custGeom>
              <a:avLst/>
              <a:gdLst/>
              <a:ahLst/>
              <a:cxnLst/>
              <a:rect l="l" t="t" r="r" b="b"/>
              <a:pathLst>
                <a:path w="647700" h="571500">
                  <a:moveTo>
                    <a:pt x="0" y="571500"/>
                  </a:moveTo>
                  <a:lnTo>
                    <a:pt x="647700" y="0"/>
                  </a:lnTo>
                </a:path>
              </a:pathLst>
            </a:custGeom>
            <a:noFill/>
            <a:ln w="9525">
              <a:solidFill>
                <a:schemeClr val="accent3"/>
              </a:solidFill>
              <a:prstDash val="dash"/>
            </a:ln>
          </p:spPr>
        </p:sp>
        <p:sp>
          <p:nvSpPr>
            <p:cNvPr id="80" name="Line 80"/>
            <p:cNvSpPr/>
            <p:nvPr/>
          </p:nvSpPr>
          <p:spPr>
            <a:xfrm>
              <a:off x="8210550" y="4000500"/>
              <a:ext cx="647700" cy="571500"/>
            </a:xfrm>
            <a:custGeom>
              <a:avLst/>
              <a:gdLst/>
              <a:ahLst/>
              <a:cxnLst/>
              <a:rect l="l" t="t" r="r" b="b"/>
              <a:pathLst>
                <a:path w="647700" h="571500">
                  <a:moveTo>
                    <a:pt x="0" y="571500"/>
                  </a:moveTo>
                  <a:lnTo>
                    <a:pt x="6477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prstDash val="dash"/>
            </a:ln>
          </p:spPr>
        </p:sp>
        <p:sp>
          <p:nvSpPr>
            <p:cNvPr id="81" name="Line 81"/>
            <p:cNvSpPr/>
            <p:nvPr/>
          </p:nvSpPr>
          <p:spPr>
            <a:xfrm>
              <a:off x="9496425" y="4000500"/>
              <a:ext cx="647700" cy="571500"/>
            </a:xfrm>
            <a:custGeom>
              <a:avLst/>
              <a:gdLst/>
              <a:ahLst/>
              <a:cxnLst/>
              <a:rect l="l" t="t" r="r" b="b"/>
              <a:pathLst>
                <a:path w="647700" h="571500">
                  <a:moveTo>
                    <a:pt x="0" y="571500"/>
                  </a:moveTo>
                  <a:lnTo>
                    <a:pt x="647700" y="0"/>
                  </a:lnTo>
                </a:path>
              </a:pathLst>
            </a:custGeom>
            <a:noFill/>
            <a:ln w="9525">
              <a:solidFill>
                <a:schemeClr val="accent2"/>
              </a:solidFill>
              <a:prstDash val="dash"/>
            </a:ln>
          </p:spPr>
        </p:sp>
      </p:grpSp>
      <p:sp>
        <p:nvSpPr>
          <p:cNvPr id="83" name="TextBox 83"/>
          <p:cNvSpPr txBox="1"/>
          <p:nvPr/>
        </p:nvSpPr>
        <p:spPr>
          <a:xfrm>
            <a:off x="566738" y="6578441"/>
            <a:ext cx="259413" cy="16192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820" dirty="0">
                <a:solidFill>
                  <a:schemeClr val="accent5"/>
                </a:solidFill>
                <a:latin typeface="+mn-lt"/>
                <a:ea typeface="+mn-ea"/>
                <a:cs typeface="+mn-cs"/>
              </a:rPr>
              <a:t>1 / 8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5715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10477500" y="0"/>
              <a:ext cx="1714500" cy="6858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7150" y="0"/>
            <a:ext cx="12134850" cy="6677025"/>
            <a:chOff x="57150" y="0"/>
            <a:chExt cx="12134850" cy="6677025"/>
          </a:xfrm>
        </p:grpSpPr>
        <p:sp>
          <p:nvSpPr>
            <p:cNvPr id="6" name="Rectangle 6"/>
            <p:cNvSpPr/>
            <p:nvPr/>
          </p:nvSpPr>
          <p:spPr>
            <a:xfrm>
              <a:off x="57150" y="0"/>
              <a:ext cx="1213485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" name="Line 7"/>
            <p:cNvSpPr/>
            <p:nvPr/>
          </p:nvSpPr>
          <p:spPr>
            <a:xfrm>
              <a:off x="571500" y="1714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571500" y="6667500"/>
              <a:ext cx="9906000" cy="9525"/>
            </a:xfrm>
            <a:custGeom>
              <a:avLst/>
              <a:gdLst/>
              <a:ahLst/>
              <a:cxnLst/>
              <a:rect l="l" t="t" r="r" b="b"/>
              <a:pathLst>
                <a:path w="9906000" h="9525">
                  <a:moveTo>
                    <a:pt x="0" y="0"/>
                  </a:moveTo>
                  <a:lnTo>
                    <a:pt x="9906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</p:grpSp>
      <p:grpSp>
        <p:nvGrpSpPr>
          <p:cNvPr id="80" name="Group 80"/>
          <p:cNvGrpSpPr/>
          <p:nvPr/>
        </p:nvGrpSpPr>
        <p:grpSpPr>
          <a:xfrm>
            <a:off x="557784" y="381000"/>
            <a:ext cx="11300841" cy="6168866"/>
            <a:chOff x="557784" y="381000"/>
            <a:chExt cx="11300841" cy="6168866"/>
          </a:xfrm>
        </p:grpSpPr>
        <p:grpSp>
          <p:nvGrpSpPr>
            <p:cNvPr id="12" name="Group 12"/>
            <p:cNvGrpSpPr/>
            <p:nvPr/>
          </p:nvGrpSpPr>
          <p:grpSpPr>
            <a:xfrm>
              <a:off x="571500" y="381000"/>
              <a:ext cx="952500" cy="275939"/>
              <a:chOff x="571500" y="381000"/>
              <a:chExt cx="952500" cy="275939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571500" y="381000"/>
                <a:ext cx="9525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952500" h="266700">
                    <a:moveTo>
                      <a:pt x="38100" y="0"/>
                    </a:moveTo>
                    <a:lnTo>
                      <a:pt x="914400" y="0"/>
                    </a:lnTo>
                    <a:cubicBezTo>
                      <a:pt x="935442" y="0"/>
                      <a:pt x="952500" y="17058"/>
                      <a:pt x="952500" y="38100"/>
                    </a:cubicBezTo>
                    <a:lnTo>
                      <a:pt x="952500" y="228600"/>
                    </a:lnTo>
                    <a:cubicBezTo>
                      <a:pt x="952500" y="249642"/>
                      <a:pt x="935442" y="266700"/>
                      <a:pt x="914400" y="266700"/>
                    </a:cubicBez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>
                  <a:alpha val="15000"/>
                </a:schemeClr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661797" y="466249"/>
                <a:ext cx="561175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模块目录</a:t>
                </a:r>
              </a:p>
            </p:txBody>
          </p:sp>
        </p:grpSp>
        <p:sp>
          <p:nvSpPr>
            <p:cNvPr id="13" name="TextBox 13"/>
            <p:cNvSpPr txBox="1"/>
            <p:nvPr/>
          </p:nvSpPr>
          <p:spPr>
            <a:xfrm>
              <a:off x="557784" y="708660"/>
              <a:ext cx="4682094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ExecutiveBrief议题框架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564642" y="1187768"/>
              <a:ext cx="49206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从战略必要性到落地路线图，五大议题覆盖决策所需全部信息</a:t>
              </a:r>
            </a:p>
          </p:txBody>
        </p:sp>
        <p:grpSp>
          <p:nvGrpSpPr>
            <p:cNvPr id="56" name="Group 56"/>
            <p:cNvGrpSpPr/>
            <p:nvPr/>
          </p:nvGrpSpPr>
          <p:grpSpPr>
            <a:xfrm>
              <a:off x="571500" y="2000250"/>
              <a:ext cx="9239250" cy="2000250"/>
              <a:chOff x="571500" y="2000250"/>
              <a:chExt cx="9239250" cy="2000250"/>
            </a:xfrm>
          </p:grpSpPr>
          <p:grpSp>
            <p:nvGrpSpPr>
              <p:cNvPr id="23" name="Group 23"/>
              <p:cNvGrpSpPr/>
              <p:nvPr/>
            </p:nvGrpSpPr>
            <p:grpSpPr>
              <a:xfrm>
                <a:off x="571500" y="2000250"/>
                <a:ext cx="3143250" cy="857250"/>
                <a:chOff x="571500" y="2000250"/>
                <a:chExt cx="3143250" cy="857250"/>
              </a:xfrm>
            </p:grpSpPr>
            <p:sp>
              <p:nvSpPr>
                <p:cNvPr id="15" name="Freeform 15"/>
                <p:cNvSpPr/>
                <p:nvPr/>
              </p:nvSpPr>
              <p:spPr>
                <a:xfrm>
                  <a:off x="571500" y="2000250"/>
                  <a:ext cx="2952750" cy="85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857250">
                      <a:moveTo>
                        <a:pt x="76200" y="0"/>
                      </a:moveTo>
                      <a:lnTo>
                        <a:pt x="2876550" y="0"/>
                      </a:lnTo>
                      <a:cubicBezTo>
                        <a:pt x="2918634" y="0"/>
                        <a:pt x="2952750" y="34116"/>
                        <a:pt x="2952750" y="76200"/>
                      </a:cubicBezTo>
                      <a:lnTo>
                        <a:pt x="2952750" y="781050"/>
                      </a:lnTo>
                      <a:cubicBezTo>
                        <a:pt x="2952750" y="823134"/>
                        <a:pt x="2918634" y="857250"/>
                        <a:pt x="2876550" y="857250"/>
                      </a:cubicBezTo>
                      <a:lnTo>
                        <a:pt x="76200" y="857250"/>
                      </a:lnTo>
                      <a:cubicBezTo>
                        <a:pt x="34116" y="857250"/>
                        <a:pt x="0" y="823134"/>
                        <a:pt x="0" y="7810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6" name="Freeform 16"/>
                <p:cNvSpPr/>
                <p:nvPr/>
              </p:nvSpPr>
              <p:spPr>
                <a:xfrm>
                  <a:off x="571500" y="2000250"/>
                  <a:ext cx="2952750" cy="85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857250">
                      <a:moveTo>
                        <a:pt x="76200" y="0"/>
                      </a:moveTo>
                      <a:lnTo>
                        <a:pt x="2876550" y="0"/>
                      </a:lnTo>
                      <a:cubicBezTo>
                        <a:pt x="2918634" y="0"/>
                        <a:pt x="2952750" y="34116"/>
                        <a:pt x="2952750" y="76200"/>
                      </a:cubicBezTo>
                      <a:lnTo>
                        <a:pt x="2952750" y="781050"/>
                      </a:lnTo>
                      <a:cubicBezTo>
                        <a:pt x="2952750" y="823134"/>
                        <a:pt x="2918634" y="857250"/>
                        <a:pt x="2876550" y="857250"/>
                      </a:cubicBezTo>
                      <a:lnTo>
                        <a:pt x="76200" y="857250"/>
                      </a:lnTo>
                      <a:cubicBezTo>
                        <a:pt x="34116" y="857250"/>
                        <a:pt x="0" y="823134"/>
                        <a:pt x="0" y="7810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accent1">
                    <a:alpha val="0"/>
                  </a:schemeClr>
                </a:solidFill>
                <a:ln>
                  <a:noFill/>
                </a:ln>
              </p:spPr>
            </p:sp>
            <p:sp>
              <p:nvSpPr>
                <p:cNvPr id="17" name="Ellipse 17"/>
                <p:cNvSpPr/>
                <p:nvPr/>
              </p:nvSpPr>
              <p:spPr>
                <a:xfrm>
                  <a:off x="666750" y="2143125"/>
                  <a:ext cx="381000" cy="381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18" name="TextBox 18"/>
                <p:cNvSpPr txBox="1"/>
                <p:nvPr/>
              </p:nvSpPr>
              <p:spPr>
                <a:xfrm>
                  <a:off x="757862" y="2270760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01</a:t>
                  </a:r>
                </a:p>
              </p:txBody>
            </p:sp>
            <p:sp>
              <p:nvSpPr>
                <p:cNvPr id="19" name="TextBox 19"/>
                <p:cNvSpPr txBox="1"/>
                <p:nvPr/>
              </p:nvSpPr>
              <p:spPr>
                <a:xfrm>
                  <a:off x="1136904" y="2156460"/>
                  <a:ext cx="162519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数据孤岛与滞后分析</a:t>
                  </a:r>
                </a:p>
              </p:txBody>
            </p:sp>
            <p:sp>
              <p:nvSpPr>
                <p:cNvPr id="20" name="TextBox 20"/>
                <p:cNvSpPr txBox="1"/>
                <p:nvPr/>
              </p:nvSpPr>
              <p:spPr>
                <a:xfrm>
                  <a:off x="1138238" y="2426970"/>
                  <a:ext cx="146342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数据孤岛、手动操作与滞后</a:t>
                  </a:r>
                </a:p>
              </p:txBody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1138238" y="2588895"/>
                  <a:ext cx="978789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分析正在侵蚀增长</a:t>
                  </a:r>
                </a:p>
              </p:txBody>
            </p:sp>
            <p:sp>
              <p:nvSpPr>
                <p:cNvPr id="22" name="Line 22"/>
                <p:cNvSpPr/>
                <p:nvPr/>
              </p:nvSpPr>
              <p:spPr>
                <a:xfrm>
                  <a:off x="3524250" y="2428875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3619500" y="2000250"/>
                <a:ext cx="3143250" cy="857250"/>
                <a:chOff x="3619500" y="2000250"/>
                <a:chExt cx="3143250" cy="85725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3619500" y="2000250"/>
                  <a:ext cx="2952750" cy="85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857250">
                      <a:moveTo>
                        <a:pt x="76200" y="0"/>
                      </a:moveTo>
                      <a:lnTo>
                        <a:pt x="2876550" y="0"/>
                      </a:lnTo>
                      <a:cubicBezTo>
                        <a:pt x="2918634" y="0"/>
                        <a:pt x="2952750" y="34116"/>
                        <a:pt x="2952750" y="76200"/>
                      </a:cubicBezTo>
                      <a:lnTo>
                        <a:pt x="2952750" y="781050"/>
                      </a:lnTo>
                      <a:cubicBezTo>
                        <a:pt x="2952750" y="823134"/>
                        <a:pt x="2918634" y="857250"/>
                        <a:pt x="2876550" y="857250"/>
                      </a:cubicBezTo>
                      <a:lnTo>
                        <a:pt x="76200" y="857250"/>
                      </a:lnTo>
                      <a:cubicBezTo>
                        <a:pt x="34116" y="857250"/>
                        <a:pt x="0" y="823134"/>
                        <a:pt x="0" y="7810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5" name="Ellipse 25"/>
                <p:cNvSpPr/>
                <p:nvPr/>
              </p:nvSpPr>
              <p:spPr>
                <a:xfrm>
                  <a:off x="3714750" y="2143125"/>
                  <a:ext cx="381000" cy="381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6" name="TextBox 26"/>
                <p:cNvSpPr txBox="1"/>
                <p:nvPr/>
              </p:nvSpPr>
              <p:spPr>
                <a:xfrm>
                  <a:off x="3805862" y="2270760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02</a:t>
                  </a:r>
                </a:p>
              </p:txBody>
            </p:sp>
            <p:sp>
              <p:nvSpPr>
                <p:cNvPr id="27" name="TextBox 27"/>
                <p:cNvSpPr txBox="1"/>
                <p:nvPr/>
              </p:nvSpPr>
              <p:spPr>
                <a:xfrm>
                  <a:off x="4184904" y="2156460"/>
                  <a:ext cx="1445971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四大模块有机协同</a:t>
                  </a:r>
                </a:p>
              </p:txBody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186238" y="2426970"/>
                  <a:ext cx="1526515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数据整合、AI分析、自动化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186238" y="2588895"/>
                  <a:ext cx="146342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执行、效果度量的有机协同</a:t>
                  </a:r>
                </a:p>
              </p:txBody>
            </p:sp>
            <p:sp>
              <p:nvSpPr>
                <p:cNvPr id="30" name="Line 30"/>
                <p:cNvSpPr/>
                <p:nvPr/>
              </p:nvSpPr>
              <p:spPr>
                <a:xfrm>
                  <a:off x="6572250" y="2428875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6667500" y="2000250"/>
                <a:ext cx="3143250" cy="857250"/>
                <a:chOff x="6667500" y="2000250"/>
                <a:chExt cx="3143250" cy="85725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6667500" y="2000250"/>
                  <a:ext cx="2952750" cy="85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857250">
                      <a:moveTo>
                        <a:pt x="76200" y="0"/>
                      </a:moveTo>
                      <a:lnTo>
                        <a:pt x="2876550" y="0"/>
                      </a:lnTo>
                      <a:cubicBezTo>
                        <a:pt x="2918634" y="0"/>
                        <a:pt x="2952750" y="34116"/>
                        <a:pt x="2952750" y="76200"/>
                      </a:cubicBezTo>
                      <a:lnTo>
                        <a:pt x="2952750" y="781050"/>
                      </a:lnTo>
                      <a:cubicBezTo>
                        <a:pt x="2952750" y="823134"/>
                        <a:pt x="2918634" y="857250"/>
                        <a:pt x="2876550" y="857250"/>
                      </a:cubicBezTo>
                      <a:lnTo>
                        <a:pt x="76200" y="857250"/>
                      </a:lnTo>
                      <a:cubicBezTo>
                        <a:pt x="34116" y="857250"/>
                        <a:pt x="0" y="823134"/>
                        <a:pt x="0" y="7810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3" name="Ellipse 33"/>
                <p:cNvSpPr/>
                <p:nvPr/>
              </p:nvSpPr>
              <p:spPr>
                <a:xfrm>
                  <a:off x="6762750" y="2143125"/>
                  <a:ext cx="381000" cy="381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853862" y="2270760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03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232904" y="2156460"/>
                  <a:ext cx="126674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差异化竞争优势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234238" y="2426970"/>
                  <a:ext cx="146342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与市面方案的本质差异如何</a:t>
                  </a:r>
                </a:p>
              </p:txBody>
            </p:sp>
            <p:sp>
              <p:nvSpPr>
                <p:cNvPr id="37" name="TextBox 37"/>
                <p:cNvSpPr txBox="1"/>
                <p:nvPr/>
              </p:nvSpPr>
              <p:spPr>
                <a:xfrm>
                  <a:off x="7234238" y="2588895"/>
                  <a:ext cx="1099947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转化为长期竞争优势</a:t>
                  </a:r>
                </a:p>
              </p:txBody>
            </p:sp>
            <p:sp>
              <p:nvSpPr>
                <p:cNvPr id="38" name="Line 38"/>
                <p:cNvSpPr/>
                <p:nvPr/>
              </p:nvSpPr>
              <p:spPr>
                <a:xfrm>
                  <a:off x="9620250" y="2428875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2095500" y="3143250"/>
                <a:ext cx="3143250" cy="857250"/>
                <a:chOff x="2095500" y="3143250"/>
                <a:chExt cx="3143250" cy="85725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2095500" y="3143250"/>
                  <a:ext cx="2952750" cy="85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857250">
                      <a:moveTo>
                        <a:pt x="76200" y="0"/>
                      </a:moveTo>
                      <a:lnTo>
                        <a:pt x="2876550" y="0"/>
                      </a:lnTo>
                      <a:cubicBezTo>
                        <a:pt x="2918634" y="0"/>
                        <a:pt x="2952750" y="34116"/>
                        <a:pt x="2952750" y="76200"/>
                      </a:cubicBezTo>
                      <a:lnTo>
                        <a:pt x="2952750" y="781050"/>
                      </a:lnTo>
                      <a:cubicBezTo>
                        <a:pt x="2952750" y="823134"/>
                        <a:pt x="2918634" y="857250"/>
                        <a:pt x="2876550" y="857250"/>
                      </a:cubicBezTo>
                      <a:lnTo>
                        <a:pt x="76200" y="857250"/>
                      </a:lnTo>
                      <a:cubicBezTo>
                        <a:pt x="34116" y="857250"/>
                        <a:pt x="0" y="823134"/>
                        <a:pt x="0" y="7810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1" name="Ellipse 41"/>
                <p:cNvSpPr/>
                <p:nvPr/>
              </p:nvSpPr>
              <p:spPr>
                <a:xfrm>
                  <a:off x="2190750" y="3286125"/>
                  <a:ext cx="381000" cy="381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2281862" y="3413760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04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2660904" y="3299460"/>
                  <a:ext cx="108752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客户成果验证</a:t>
                  </a:r>
                </a:p>
              </p:txBody>
            </p:sp>
            <p:sp>
              <p:nvSpPr>
                <p:cNvPr id="44" name="TextBox 44"/>
                <p:cNvSpPr txBox="1"/>
                <p:nvPr/>
              </p:nvSpPr>
              <p:spPr>
                <a:xfrm>
                  <a:off x="2662238" y="3569970"/>
                  <a:ext cx="146342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已上线客户的转化率、成本</a:t>
                  </a:r>
                </a:p>
              </p:txBody>
            </p:sp>
            <p:sp>
              <p:nvSpPr>
                <p:cNvPr id="45" name="TextBox 45"/>
                <p:cNvSpPr txBox="1"/>
                <p:nvPr/>
              </p:nvSpPr>
              <p:spPr>
                <a:xfrm>
                  <a:off x="2662238" y="3731895"/>
                  <a:ext cx="85763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与效率改善数据</a:t>
                  </a:r>
                </a:p>
              </p:txBody>
            </p:sp>
            <p:sp>
              <p:nvSpPr>
                <p:cNvPr id="46" name="Line 46"/>
                <p:cNvSpPr/>
                <p:nvPr/>
              </p:nvSpPr>
              <p:spPr>
                <a:xfrm>
                  <a:off x="5048250" y="3571875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5143500" y="3143250"/>
                <a:ext cx="3143250" cy="857250"/>
                <a:chOff x="5143500" y="3143250"/>
                <a:chExt cx="3143250" cy="857250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5143500" y="3143250"/>
                  <a:ext cx="2952750" cy="857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52750" h="857250">
                      <a:moveTo>
                        <a:pt x="76200" y="0"/>
                      </a:moveTo>
                      <a:lnTo>
                        <a:pt x="2876550" y="0"/>
                      </a:lnTo>
                      <a:cubicBezTo>
                        <a:pt x="2918634" y="0"/>
                        <a:pt x="2952750" y="34116"/>
                        <a:pt x="2952750" y="76200"/>
                      </a:cubicBezTo>
                      <a:lnTo>
                        <a:pt x="2952750" y="781050"/>
                      </a:lnTo>
                      <a:cubicBezTo>
                        <a:pt x="2952750" y="823134"/>
                        <a:pt x="2918634" y="857250"/>
                        <a:pt x="2876550" y="857250"/>
                      </a:cubicBezTo>
                      <a:lnTo>
                        <a:pt x="76200" y="857250"/>
                      </a:lnTo>
                      <a:cubicBezTo>
                        <a:pt x="34116" y="857250"/>
                        <a:pt x="0" y="823134"/>
                        <a:pt x="0" y="781050"/>
                      </a:cubicBezTo>
                      <a:lnTo>
                        <a:pt x="0" y="76200"/>
                      </a:lnTo>
                      <a:cubicBezTo>
                        <a:pt x="0" y="34116"/>
                        <a:pt x="34116" y="0"/>
                        <a:pt x="7620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9" name="Ellipse 49"/>
                <p:cNvSpPr/>
                <p:nvPr/>
              </p:nvSpPr>
              <p:spPr>
                <a:xfrm>
                  <a:off x="5238750" y="3286125"/>
                  <a:ext cx="381000" cy="381000"/>
                </a:xfrm>
                <a:prstGeom prst="ellipse">
                  <a:avLst/>
                </a:pr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50" name="TextBox 50"/>
                <p:cNvSpPr txBox="1"/>
                <p:nvPr/>
              </p:nvSpPr>
              <p:spPr>
                <a:xfrm>
                  <a:off x="5329862" y="3413760"/>
                  <a:ext cx="19877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1200" b="1" dirty="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</a:rPr>
                    <a:t>05</a:t>
                  </a:r>
                </a:p>
              </p:txBody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5708904" y="3299460"/>
                  <a:ext cx="108752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稳健启动路径</a:t>
                  </a:r>
                </a:p>
              </p:txBody>
            </p:sp>
            <p:sp>
              <p:nvSpPr>
                <p:cNvPr id="52" name="TextBox 52"/>
                <p:cNvSpPr txBox="1"/>
                <p:nvPr/>
              </p:nvSpPr>
              <p:spPr>
                <a:xfrm>
                  <a:off x="5710238" y="3569970"/>
                  <a:ext cx="146342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稳健启动与风险缓解方案的</a:t>
                  </a:r>
                </a:p>
              </p:txBody>
            </p:sp>
            <p:sp>
              <p:nvSpPr>
                <p:cNvPr id="53" name="TextBox 53"/>
                <p:cNvSpPr txBox="1"/>
                <p:nvPr/>
              </p:nvSpPr>
              <p:spPr>
                <a:xfrm>
                  <a:off x="5710238" y="3731895"/>
                  <a:ext cx="857631" cy="176212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9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下一步行动建议</a:t>
                  </a:r>
                </a:p>
              </p:txBody>
            </p:sp>
            <p:sp>
              <p:nvSpPr>
                <p:cNvPr id="54" name="Line 54"/>
                <p:cNvSpPr/>
                <p:nvPr/>
              </p:nvSpPr>
              <p:spPr>
                <a:xfrm>
                  <a:off x="8096250" y="3571875"/>
                  <a:ext cx="1905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0500" h="9525">
                      <a:moveTo>
                        <a:pt x="0" y="0"/>
                      </a:moveTo>
                      <a:lnTo>
                        <a:pt x="190500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</p:grpSp>
        <p:grpSp>
          <p:nvGrpSpPr>
            <p:cNvPr id="60" name="Group 60"/>
            <p:cNvGrpSpPr/>
            <p:nvPr/>
          </p:nvGrpSpPr>
          <p:grpSpPr>
            <a:xfrm>
              <a:off x="8286750" y="2428875"/>
              <a:ext cx="2313508" cy="2619375"/>
              <a:chOff x="8286750" y="2428875"/>
              <a:chExt cx="2313508" cy="2619375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286750" y="2428875"/>
                <a:ext cx="1524000" cy="2428875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2428875">
                    <a:moveTo>
                      <a:pt x="1524000" y="0"/>
                    </a:moveTo>
                    <a:lnTo>
                      <a:pt x="1524000" y="523875"/>
                    </a:lnTo>
                    <a:lnTo>
                      <a:pt x="0" y="523875"/>
                    </a:lnTo>
                    <a:lnTo>
                      <a:pt x="0" y="1143000"/>
                    </a:lnTo>
                    <a:lnTo>
                      <a:pt x="1524000" y="1143000"/>
                    </a:lnTo>
                    <a:lnTo>
                      <a:pt x="1524000" y="2428875"/>
                    </a:lnTo>
                  </a:path>
                </a:pathLst>
              </a:custGeom>
              <a:noFill/>
              <a:ln w="19050">
                <a:solidFill>
                  <a:schemeClr val="accent3"/>
                </a:solidFill>
                <a:custDash>
                  <a:ds d="300000" sp="200000"/>
                </a:custDash>
              </a:ln>
            </p:spPr>
          </p:sp>
          <p:sp>
            <p:nvSpPr>
              <p:cNvPr id="58" name="Polygon 58"/>
              <p:cNvSpPr/>
              <p:nvPr/>
            </p:nvSpPr>
            <p:spPr>
              <a:xfrm>
                <a:off x="9715500" y="4762500"/>
                <a:ext cx="19050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285750">
                    <a:moveTo>
                      <a:pt x="95250" y="0"/>
                    </a:moveTo>
                    <a:lnTo>
                      <a:pt x="190500" y="142875"/>
                    </a:lnTo>
                    <a:lnTo>
                      <a:pt x="95250" y="285750"/>
                    </a:lnTo>
                    <a:lnTo>
                      <a:pt x="0" y="142875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59" name="TextBox 59"/>
              <p:cNvSpPr txBox="1"/>
              <p:nvPr/>
            </p:nvSpPr>
            <p:spPr>
              <a:xfrm>
                <a:off x="9995916" y="48396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行动闭环</a:t>
                </a:r>
              </a:p>
            </p:txBody>
          </p:sp>
        </p:grpSp>
        <p:grpSp>
          <p:nvGrpSpPr>
            <p:cNvPr id="72" name="Group 72"/>
            <p:cNvGrpSpPr/>
            <p:nvPr/>
          </p:nvGrpSpPr>
          <p:grpSpPr>
            <a:xfrm>
              <a:off x="10668000" y="2286000"/>
              <a:ext cx="1190625" cy="2073116"/>
              <a:chOff x="10668000" y="2286000"/>
              <a:chExt cx="1190625" cy="2073116"/>
            </a:xfrm>
          </p:grpSpPr>
          <p:sp>
            <p:nvSpPr>
              <p:cNvPr id="61" name="Freeform 61"/>
              <p:cNvSpPr/>
              <p:nvPr/>
            </p:nvSpPr>
            <p:spPr>
              <a:xfrm>
                <a:off x="10668000" y="2286000"/>
                <a:ext cx="1143000" cy="19050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1905000">
                    <a:moveTo>
                      <a:pt x="57150" y="0"/>
                    </a:moveTo>
                    <a:lnTo>
                      <a:pt x="1085850" y="0"/>
                    </a:lnTo>
                    <a:cubicBezTo>
                      <a:pt x="1117413" y="0"/>
                      <a:pt x="1143000" y="25587"/>
                      <a:pt x="1143000" y="57150"/>
                    </a:cubicBezTo>
                    <a:lnTo>
                      <a:pt x="1143000" y="1847850"/>
                    </a:lnTo>
                    <a:cubicBezTo>
                      <a:pt x="1143000" y="1879413"/>
                      <a:pt x="1117413" y="1905000"/>
                      <a:pt x="1085850" y="1905000"/>
                    </a:cubicBezTo>
                    <a:lnTo>
                      <a:pt x="57150" y="1905000"/>
                    </a:lnTo>
                    <a:cubicBezTo>
                      <a:pt x="25587" y="1905000"/>
                      <a:pt x="0" y="1879413"/>
                      <a:pt x="0" y="18478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62" name="TextBox 62"/>
              <p:cNvSpPr txBox="1"/>
              <p:nvPr/>
            </p:nvSpPr>
            <p:spPr>
              <a:xfrm>
                <a:off x="10806112" y="2530316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决策框架</a:t>
                </a:r>
              </a:p>
            </p:txBody>
          </p:sp>
          <p:sp>
            <p:nvSpPr>
              <p:cNvPr id="63" name="Line 63"/>
              <p:cNvSpPr/>
              <p:nvPr/>
            </p:nvSpPr>
            <p:spPr>
              <a:xfrm>
                <a:off x="10810875" y="2714625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9525">
                    <a:moveTo>
                      <a:pt x="0" y="0"/>
                    </a:moveTo>
                    <a:lnTo>
                      <a:pt x="1047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10805922" y="2847499"/>
                <a:ext cx="28554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战略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10806112" y="3054191"/>
                <a:ext cx="342710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必要性</a:t>
                </a:r>
              </a:p>
            </p:txBody>
          </p:sp>
          <p:sp>
            <p:nvSpPr>
              <p:cNvPr id="66" name="Line 66"/>
              <p:cNvSpPr/>
              <p:nvPr/>
            </p:nvSpPr>
            <p:spPr>
              <a:xfrm>
                <a:off x="10810875" y="3286125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9525">
                    <a:moveTo>
                      <a:pt x="0" y="0"/>
                    </a:moveTo>
                    <a:lnTo>
                      <a:pt x="1047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300000" sp="300000"/>
                </a:custDash>
              </a:ln>
            </p:spPr>
          </p:sp>
          <p:sp>
            <p:nvSpPr>
              <p:cNvPr id="67" name="TextBox 67"/>
              <p:cNvSpPr txBox="1"/>
              <p:nvPr/>
            </p:nvSpPr>
            <p:spPr>
              <a:xfrm>
                <a:off x="10805922" y="3418999"/>
                <a:ext cx="28554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方案</a:t>
                </a:r>
              </a:p>
            </p:txBody>
          </p:sp>
          <p:sp>
            <p:nvSpPr>
              <p:cNvPr id="68" name="TextBox 68"/>
              <p:cNvSpPr txBox="1"/>
              <p:nvPr/>
            </p:nvSpPr>
            <p:spPr>
              <a:xfrm>
                <a:off x="10806112" y="36256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对比分析</a:t>
                </a:r>
              </a:p>
            </p:txBody>
          </p:sp>
          <p:sp>
            <p:nvSpPr>
              <p:cNvPr id="69" name="Line 69"/>
              <p:cNvSpPr/>
              <p:nvPr/>
            </p:nvSpPr>
            <p:spPr>
              <a:xfrm>
                <a:off x="10810875" y="3857625"/>
                <a:ext cx="1047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47750" h="9525">
                    <a:moveTo>
                      <a:pt x="0" y="0"/>
                    </a:moveTo>
                    <a:lnTo>
                      <a:pt x="104775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custDash>
                  <a:ds d="300000" sp="300000"/>
                </a:custDash>
              </a:ln>
            </p:spPr>
          </p:sp>
          <p:sp>
            <p:nvSpPr>
              <p:cNvPr id="70" name="TextBox 70"/>
              <p:cNvSpPr txBox="1"/>
              <p:nvPr/>
            </p:nvSpPr>
            <p:spPr>
              <a:xfrm>
                <a:off x="10805922" y="3990499"/>
                <a:ext cx="285540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成果</a:t>
                </a:r>
              </a:p>
            </p:txBody>
          </p:sp>
          <p:sp>
            <p:nvSpPr>
              <p:cNvPr id="71" name="TextBox 71"/>
              <p:cNvSpPr txBox="1"/>
              <p:nvPr/>
            </p:nvSpPr>
            <p:spPr>
              <a:xfrm>
                <a:off x="10806112" y="4197191"/>
                <a:ext cx="45377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实证数据</a:t>
                </a:r>
              </a:p>
            </p:txBody>
          </p:sp>
        </p:grpSp>
        <p:grpSp>
          <p:nvGrpSpPr>
            <p:cNvPr id="76" name="Group 76"/>
            <p:cNvGrpSpPr/>
            <p:nvPr/>
          </p:nvGrpSpPr>
          <p:grpSpPr>
            <a:xfrm>
              <a:off x="571500" y="4572000"/>
              <a:ext cx="10096500" cy="762000"/>
              <a:chOff x="571500" y="4572000"/>
              <a:chExt cx="10096500" cy="762000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571500" y="4572000"/>
                <a:ext cx="10096500" cy="762000"/>
              </a:xfrm>
              <a:custGeom>
                <a:avLst/>
                <a:gdLst/>
                <a:ahLst/>
                <a:cxnLst/>
                <a:rect l="l" t="t" r="r" b="b"/>
                <a:pathLst>
                  <a:path w="10096500" h="762000">
                    <a:moveTo>
                      <a:pt x="57150" y="0"/>
                    </a:moveTo>
                    <a:lnTo>
                      <a:pt x="10039350" y="0"/>
                    </a:lnTo>
                    <a:cubicBezTo>
                      <a:pt x="10070913" y="0"/>
                      <a:pt x="10096500" y="25587"/>
                      <a:pt x="10096500" y="57150"/>
                    </a:cubicBezTo>
                    <a:lnTo>
                      <a:pt x="10096500" y="704850"/>
                    </a:lnTo>
                    <a:cubicBezTo>
                      <a:pt x="10096500" y="736413"/>
                      <a:pt x="10070913" y="762000"/>
                      <a:pt x="10039350" y="762000"/>
                    </a:cubicBezTo>
                    <a:lnTo>
                      <a:pt x="57150" y="762000"/>
                    </a:lnTo>
                    <a:cubicBezTo>
                      <a:pt x="25587" y="762000"/>
                      <a:pt x="0" y="736413"/>
                      <a:pt x="0" y="7048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74" name="TextBox 74"/>
              <p:cNvSpPr txBox="1"/>
              <p:nvPr/>
            </p:nvSpPr>
            <p:spPr>
              <a:xfrm>
                <a:off x="756666" y="4744402"/>
                <a:ext cx="533960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核心观点：</a:t>
                </a:r>
                <a:r>
                  <a:rPr lang="en-US" sz="1050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 xml:space="preserve"> </a:t>
                </a:r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数据孤岛、手动操作与滞后分析正在侵蚀增长 → 需要系统化智能解决方案</a:t>
                </a:r>
              </a:p>
            </p:txBody>
          </p:sp>
          <p:sp>
            <p:nvSpPr>
              <p:cNvPr id="75" name="TextBox 75"/>
              <p:cNvSpPr txBox="1"/>
              <p:nvPr/>
            </p:nvSpPr>
            <p:spPr>
              <a:xfrm>
                <a:off x="756666" y="5030152"/>
                <a:ext cx="382714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已上线客户的转化率、成本与效率改善数据验证了方案有效性</a:t>
                </a:r>
              </a:p>
            </p:txBody>
          </p:sp>
        </p:grpSp>
        <p:grpSp>
          <p:nvGrpSpPr>
            <p:cNvPr id="79" name="Group 79"/>
            <p:cNvGrpSpPr/>
            <p:nvPr/>
          </p:nvGrpSpPr>
          <p:grpSpPr>
            <a:xfrm>
              <a:off x="566738" y="6387941"/>
              <a:ext cx="10677524" cy="161925"/>
              <a:chOff x="566738" y="6387941"/>
              <a:chExt cx="10677524" cy="161925"/>
            </a:xfrm>
          </p:grpSpPr>
          <p:sp>
            <p:nvSpPr>
              <p:cNvPr id="77" name="TextBox 77"/>
              <p:cNvSpPr txBox="1"/>
              <p:nvPr/>
            </p:nvSpPr>
            <p:spPr>
              <a:xfrm>
                <a:off x="566738" y="6387941"/>
                <a:ext cx="1867972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企业AI营销工作台 · Executive Brief</a:t>
                </a:r>
              </a:p>
            </p:txBody>
          </p:sp>
          <p:sp>
            <p:nvSpPr>
              <p:cNvPr id="78" name="TextBox 78"/>
              <p:cNvSpPr txBox="1"/>
              <p:nvPr/>
            </p:nvSpPr>
            <p:spPr>
              <a:xfrm>
                <a:off x="10862681" y="6387941"/>
                <a:ext cx="38158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en-US" sz="82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02 / 08</a:t>
                </a:r>
              </a:p>
            </p:txBody>
          </p:sp>
        </p:grpSp>
      </p:grpSp>
      <p:grpSp>
        <p:nvGrpSpPr>
          <p:cNvPr id="85" name="Group 85"/>
          <p:cNvGrpSpPr/>
          <p:nvPr/>
        </p:nvGrpSpPr>
        <p:grpSpPr>
          <a:xfrm>
            <a:off x="947738" y="5348288"/>
            <a:ext cx="9463087" cy="909637"/>
            <a:chOff x="947738" y="5348288"/>
            <a:chExt cx="9463087" cy="909637"/>
          </a:xfrm>
        </p:grpSpPr>
        <p:sp>
          <p:nvSpPr>
            <p:cNvPr id="81" name="Ellipse 81"/>
            <p:cNvSpPr/>
            <p:nvPr/>
          </p:nvSpPr>
          <p:spPr>
            <a:xfrm>
              <a:off x="10153650" y="6057900"/>
              <a:ext cx="76200" cy="76200"/>
            </a:xfrm>
            <a:prstGeom prst="ellipse">
              <a:avLst/>
            </a:prstGeom>
            <a:solidFill>
              <a:schemeClr val="accent2">
                <a:alpha val="30000"/>
              </a:schemeClr>
            </a:solidFill>
            <a:ln>
              <a:noFill/>
            </a:ln>
          </p:spPr>
        </p:sp>
        <p:sp>
          <p:nvSpPr>
            <p:cNvPr id="82" name="Ellipse 82"/>
            <p:cNvSpPr/>
            <p:nvPr/>
          </p:nvSpPr>
          <p:spPr>
            <a:xfrm>
              <a:off x="10353675" y="6162675"/>
              <a:ext cx="57150" cy="57150"/>
            </a:xfrm>
            <a:prstGeom prst="ellipse">
              <a:avLst/>
            </a:prstGeom>
            <a:solidFill>
              <a:schemeClr val="accent3">
                <a:alpha val="40000"/>
              </a:schemeClr>
            </a:solidFill>
            <a:ln>
              <a:noFill/>
            </a:ln>
          </p:spPr>
        </p:sp>
        <p:sp>
          <p:nvSpPr>
            <p:cNvPr id="83" name="Ellipse 83"/>
            <p:cNvSpPr/>
            <p:nvPr/>
          </p:nvSpPr>
          <p:spPr>
            <a:xfrm>
              <a:off x="10029825" y="6219825"/>
              <a:ext cx="38100" cy="38100"/>
            </a:xfrm>
            <a:prstGeom prst="ellipse">
              <a:avLst/>
            </a:prstGeom>
            <a:solidFill>
              <a:schemeClr val="accent1">
                <a:alpha val="20000"/>
              </a:schemeClr>
            </a:solidFill>
            <a:ln>
              <a:noFill/>
            </a:ln>
          </p:spPr>
        </p:sp>
        <p:sp>
          <p:nvSpPr>
            <p:cNvPr id="84" name="TextBox 84"/>
            <p:cNvSpPr txBox="1"/>
            <p:nvPr/>
          </p:nvSpPr>
          <p:spPr>
            <a:xfrm>
              <a:off x="947738" y="5348288"/>
              <a:ext cx="244221" cy="14763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75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P.02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pattFill prst="ltUpDiag">
              <a:fgClr>
                <a:schemeClr val="accent4">
                  <a:alpha val="40000"/>
                </a:schemeClr>
              </a:fgClr>
              <a:bgClr>
                <a:schemeClr val="lt1">
                  <a:alpha val="40000"/>
                </a:schemeClr>
              </a:bgClr>
            </a:patt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0" y="0"/>
              <a:ext cx="76200" cy="6858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71500" y="952500"/>
            <a:ext cx="11049000" cy="5692616"/>
            <a:chOff x="571500" y="952500"/>
            <a:chExt cx="11049000" cy="5692616"/>
          </a:xfrm>
        </p:grpSpPr>
        <p:sp>
          <p:nvSpPr>
            <p:cNvPr id="6" name="Line 6"/>
            <p:cNvSpPr/>
            <p:nvPr/>
          </p:nvSpPr>
          <p:spPr>
            <a:xfrm>
              <a:off x="571500" y="9525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1053181" y="6483191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745236" y="410528"/>
            <a:ext cx="10284714" cy="6295072"/>
            <a:chOff x="745236" y="410528"/>
            <a:chExt cx="10284714" cy="6295072"/>
          </a:xfrm>
        </p:grpSpPr>
        <p:sp>
          <p:nvSpPr>
            <p:cNvPr id="9" name="TextBox 9"/>
            <p:cNvSpPr txBox="1"/>
            <p:nvPr/>
          </p:nvSpPr>
          <p:spPr>
            <a:xfrm>
              <a:off x="756666" y="410528"/>
              <a:ext cx="66492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关键判断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5236" y="1120140"/>
              <a:ext cx="3976421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传统营销技术栈的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745236" y="1644015"/>
              <a:ext cx="2004974" cy="64541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三重断裂</a:t>
              </a:r>
            </a:p>
          </p:txBody>
        </p:sp>
        <p:grpSp>
          <p:nvGrpSpPr>
            <p:cNvPr id="19" name="Group 19"/>
            <p:cNvGrpSpPr/>
            <p:nvPr/>
          </p:nvGrpSpPr>
          <p:grpSpPr>
            <a:xfrm>
              <a:off x="762000" y="2571750"/>
              <a:ext cx="7459066" cy="4133850"/>
              <a:chOff x="762000" y="2571750"/>
              <a:chExt cx="7459066" cy="4133850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6457950" y="2686050"/>
                <a:ext cx="1763116" cy="401955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21000" b="1" dirty="0">
                    <a:solidFill>
                      <a:schemeClr val="accent2">
                        <a:alphaMod val="12000"/>
                      </a:schemeClr>
                    </a:solidFill>
                    <a:latin typeface="Georgia"/>
                    <a:ea typeface="Georgia"/>
                    <a:cs typeface="Georgia"/>
                  </a:rPr>
                  <a:t>3</a:t>
                </a:r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762000" y="2571750"/>
                <a:ext cx="49530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4953000" h="1333500">
                    <a:moveTo>
                      <a:pt x="76200" y="0"/>
                    </a:moveTo>
                    <a:lnTo>
                      <a:pt x="4876800" y="0"/>
                    </a:lnTo>
                    <a:cubicBezTo>
                      <a:pt x="4918884" y="0"/>
                      <a:pt x="4953000" y="34116"/>
                      <a:pt x="4953000" y="76200"/>
                    </a:cubicBezTo>
                    <a:lnTo>
                      <a:pt x="4953000" y="1257300"/>
                    </a:lnTo>
                    <a:cubicBezTo>
                      <a:pt x="4953000" y="1299384"/>
                      <a:pt x="4918884" y="1333500"/>
                      <a:pt x="4876800" y="1333500"/>
                    </a:cubicBezTo>
                    <a:lnTo>
                      <a:pt x="76200" y="1333500"/>
                    </a:lnTo>
                    <a:cubicBezTo>
                      <a:pt x="34116" y="1333500"/>
                      <a:pt x="0" y="1299384"/>
                      <a:pt x="0" y="1257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895350" y="2800350"/>
                <a:ext cx="304800" cy="3048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012268" y="2864168"/>
                <a:ext cx="7096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</a:rPr>
                  <a:t>!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325880" y="2743200"/>
                <a:ext cx="304419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数据、分析与执行环节彼此脱节，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325880" y="3028950"/>
                <a:ext cx="243840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企业错失最佳决策窗口期。</a:t>
                </a:r>
              </a:p>
            </p:txBody>
          </p:sp>
          <p:sp>
            <p:nvSpPr>
              <p:cNvPr id="18" name="Freeform 18"/>
              <p:cNvSpPr/>
              <p:nvPr/>
            </p:nvSpPr>
            <p:spPr>
              <a:xfrm>
                <a:off x="1333500" y="3381375"/>
                <a:ext cx="3619500" cy="28575"/>
              </a:xfrm>
              <a:custGeom>
                <a:avLst/>
                <a:gdLst/>
                <a:ahLst/>
                <a:cxnLst/>
                <a:rect l="l" t="t" r="r" b="b"/>
                <a:pathLst>
                  <a:path w="3619500" h="28575">
                    <a:moveTo>
                      <a:pt x="14288" y="0"/>
                    </a:moveTo>
                    <a:lnTo>
                      <a:pt x="3605212" y="0"/>
                    </a:lnTo>
                    <a:cubicBezTo>
                      <a:pt x="3613103" y="0"/>
                      <a:pt x="3619500" y="6397"/>
                      <a:pt x="3619500" y="14288"/>
                    </a:cubicBezTo>
                    <a:lnTo>
                      <a:pt x="3619500" y="14288"/>
                    </a:lnTo>
                    <a:cubicBezTo>
                      <a:pt x="3619500" y="22178"/>
                      <a:pt x="3613103" y="28575"/>
                      <a:pt x="3605212" y="28575"/>
                    </a:cubicBezTo>
                    <a:lnTo>
                      <a:pt x="14288" y="28575"/>
                    </a:lnTo>
                    <a:cubicBezTo>
                      <a:pt x="6397" y="28575"/>
                      <a:pt x="0" y="22178"/>
                      <a:pt x="0" y="14288"/>
                    </a:cubicBezTo>
                    <a:lnTo>
                      <a:pt x="0" y="14288"/>
                    </a:lnTo>
                    <a:cubicBezTo>
                      <a:pt x="0" y="6397"/>
                      <a:pt x="6397" y="0"/>
                      <a:pt x="14288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</p:grpSp>
        <p:grpSp>
          <p:nvGrpSpPr>
            <p:cNvPr id="38" name="Group 38"/>
            <p:cNvGrpSpPr/>
            <p:nvPr/>
          </p:nvGrpSpPr>
          <p:grpSpPr>
            <a:xfrm>
              <a:off x="762000" y="4286250"/>
              <a:ext cx="10096500" cy="952500"/>
              <a:chOff x="762000" y="4286250"/>
              <a:chExt cx="10096500" cy="952500"/>
            </a:xfrm>
          </p:grpSpPr>
          <p:grpSp>
            <p:nvGrpSpPr>
              <p:cNvPr id="25" name="Group 25"/>
              <p:cNvGrpSpPr/>
              <p:nvPr/>
            </p:nvGrpSpPr>
            <p:grpSpPr>
              <a:xfrm>
                <a:off x="762000" y="4286250"/>
                <a:ext cx="3238500" cy="952500"/>
                <a:chOff x="762000" y="4286250"/>
                <a:chExt cx="3238500" cy="952500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762000" y="4286250"/>
                  <a:ext cx="323850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00" h="952500">
                      <a:moveTo>
                        <a:pt x="57150" y="0"/>
                      </a:moveTo>
                      <a:lnTo>
                        <a:pt x="3181350" y="0"/>
                      </a:lnTo>
                      <a:cubicBezTo>
                        <a:pt x="3212913" y="0"/>
                        <a:pt x="3238500" y="25587"/>
                        <a:pt x="3238500" y="57150"/>
                      </a:cubicBezTo>
                      <a:lnTo>
                        <a:pt x="3238500" y="895350"/>
                      </a:lnTo>
                      <a:cubicBezTo>
                        <a:pt x="3238500" y="926913"/>
                        <a:pt x="3212913" y="952500"/>
                        <a:pt x="3181350" y="952500"/>
                      </a:cubicBezTo>
                      <a:lnTo>
                        <a:pt x="57150" y="952500"/>
                      </a:lnTo>
                      <a:cubicBezTo>
                        <a:pt x="25587" y="952500"/>
                        <a:pt x="0" y="926913"/>
                        <a:pt x="0" y="8953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762000" y="4286250"/>
                  <a:ext cx="5715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00">
                      <a:moveTo>
                        <a:pt x="28575" y="0"/>
                      </a:moveTo>
                      <a:lnTo>
                        <a:pt x="28575" y="0"/>
                      </a:lnTo>
                      <a:cubicBezTo>
                        <a:pt x="44357" y="0"/>
                        <a:pt x="57150" y="12793"/>
                        <a:pt x="57150" y="28575"/>
                      </a:cubicBezTo>
                      <a:lnTo>
                        <a:pt x="57150" y="923925"/>
                      </a:lnTo>
                      <a:cubicBezTo>
                        <a:pt x="57150" y="939707"/>
                        <a:pt x="44357" y="952500"/>
                        <a:pt x="28575" y="952500"/>
                      </a:cubicBezTo>
                      <a:lnTo>
                        <a:pt x="28575" y="952500"/>
                      </a:lnTo>
                      <a:cubicBezTo>
                        <a:pt x="12793" y="952500"/>
                        <a:pt x="0" y="939707"/>
                        <a:pt x="0" y="9239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993267" y="4473892"/>
                  <a:ext cx="96783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数据碎片化</a:t>
                  </a:r>
                </a:p>
              </p:txBody>
            </p:sp>
            <p:sp>
              <p:nvSpPr>
                <p:cNvPr id="23" name="TextBox 23"/>
                <p:cNvSpPr txBox="1"/>
                <p:nvPr/>
              </p:nvSpPr>
              <p:spPr>
                <a:xfrm>
                  <a:off x="994029" y="4775835"/>
                  <a:ext cx="1693469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客户触点分散在CRM、</a:t>
                  </a:r>
                </a:p>
              </p:txBody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994029" y="4985385"/>
                  <a:ext cx="173263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广告、电商等10+系统中</a:t>
                  </a:r>
                </a:p>
              </p:txBody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4191000" y="4286250"/>
                <a:ext cx="3238500" cy="952500"/>
                <a:chOff x="4191000" y="4286250"/>
                <a:chExt cx="3238500" cy="95250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4191000" y="4286250"/>
                  <a:ext cx="323850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00" h="952500">
                      <a:moveTo>
                        <a:pt x="57150" y="0"/>
                      </a:moveTo>
                      <a:lnTo>
                        <a:pt x="3181350" y="0"/>
                      </a:lnTo>
                      <a:cubicBezTo>
                        <a:pt x="3212913" y="0"/>
                        <a:pt x="3238500" y="25587"/>
                        <a:pt x="3238500" y="57150"/>
                      </a:cubicBezTo>
                      <a:lnTo>
                        <a:pt x="3238500" y="895350"/>
                      </a:lnTo>
                      <a:cubicBezTo>
                        <a:pt x="3238500" y="926913"/>
                        <a:pt x="3212913" y="952500"/>
                        <a:pt x="3181350" y="952500"/>
                      </a:cubicBezTo>
                      <a:lnTo>
                        <a:pt x="57150" y="952500"/>
                      </a:lnTo>
                      <a:cubicBezTo>
                        <a:pt x="25587" y="952500"/>
                        <a:pt x="0" y="926913"/>
                        <a:pt x="0" y="8953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4191000" y="4286250"/>
                  <a:ext cx="5715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00">
                      <a:moveTo>
                        <a:pt x="28575" y="0"/>
                      </a:moveTo>
                      <a:lnTo>
                        <a:pt x="28575" y="0"/>
                      </a:lnTo>
                      <a:cubicBezTo>
                        <a:pt x="44357" y="0"/>
                        <a:pt x="57150" y="12793"/>
                        <a:pt x="57150" y="28575"/>
                      </a:cubicBezTo>
                      <a:lnTo>
                        <a:pt x="57150" y="923925"/>
                      </a:lnTo>
                      <a:cubicBezTo>
                        <a:pt x="57150" y="939707"/>
                        <a:pt x="44357" y="952500"/>
                        <a:pt x="28575" y="952500"/>
                      </a:cubicBezTo>
                      <a:lnTo>
                        <a:pt x="28575" y="952500"/>
                      </a:lnTo>
                      <a:cubicBezTo>
                        <a:pt x="12793" y="952500"/>
                        <a:pt x="0" y="939707"/>
                        <a:pt x="0" y="9239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4422267" y="4473892"/>
                  <a:ext cx="96783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分析滞后性</a:t>
                  </a:r>
                </a:p>
              </p:txBody>
            </p:sp>
            <p:sp>
              <p:nvSpPr>
                <p:cNvPr id="29" name="TextBox 29"/>
                <p:cNvSpPr txBox="1"/>
                <p:nvPr/>
              </p:nvSpPr>
              <p:spPr>
                <a:xfrm>
                  <a:off x="4423029" y="4775835"/>
                  <a:ext cx="162763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依赖周报月报，无法对</a:t>
                  </a:r>
                </a:p>
              </p:txBody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4423029" y="4985385"/>
                  <a:ext cx="178917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实时行为做出分钟级响应</a:t>
                  </a:r>
                </a:p>
              </p:txBody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7620000" y="4286250"/>
                <a:ext cx="3238500" cy="952500"/>
                <a:chOff x="7620000" y="4286250"/>
                <a:chExt cx="3238500" cy="95250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7620000" y="4286250"/>
                  <a:ext cx="323850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38500" h="952500">
                      <a:moveTo>
                        <a:pt x="57150" y="0"/>
                      </a:moveTo>
                      <a:lnTo>
                        <a:pt x="3181350" y="0"/>
                      </a:lnTo>
                      <a:cubicBezTo>
                        <a:pt x="3212913" y="0"/>
                        <a:pt x="3238500" y="25587"/>
                        <a:pt x="3238500" y="57150"/>
                      </a:cubicBezTo>
                      <a:lnTo>
                        <a:pt x="3238500" y="895350"/>
                      </a:lnTo>
                      <a:cubicBezTo>
                        <a:pt x="3238500" y="926913"/>
                        <a:pt x="3212913" y="952500"/>
                        <a:pt x="3181350" y="952500"/>
                      </a:cubicBezTo>
                      <a:lnTo>
                        <a:pt x="57150" y="952500"/>
                      </a:lnTo>
                      <a:cubicBezTo>
                        <a:pt x="25587" y="952500"/>
                        <a:pt x="0" y="926913"/>
                        <a:pt x="0" y="895350"/>
                      </a:cubicBezTo>
                      <a:lnTo>
                        <a:pt x="0" y="57150"/>
                      </a:lnTo>
                      <a:cubicBezTo>
                        <a:pt x="0" y="25587"/>
                        <a:pt x="25587" y="0"/>
                        <a:pt x="57150" y="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w="14288">
                  <a:solidFill>
                    <a:schemeClr val="accent4"/>
                  </a:solidFill>
                </a:ln>
              </p:spPr>
            </p:sp>
            <p:sp>
              <p:nvSpPr>
                <p:cNvPr id="33" name="Freeform 33"/>
                <p:cNvSpPr/>
                <p:nvPr/>
              </p:nvSpPr>
              <p:spPr>
                <a:xfrm>
                  <a:off x="7620000" y="4286250"/>
                  <a:ext cx="57150" cy="952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7150" h="952500">
                      <a:moveTo>
                        <a:pt x="28575" y="0"/>
                      </a:moveTo>
                      <a:lnTo>
                        <a:pt x="28575" y="0"/>
                      </a:lnTo>
                      <a:cubicBezTo>
                        <a:pt x="44357" y="0"/>
                        <a:pt x="57150" y="12793"/>
                        <a:pt x="57150" y="28575"/>
                      </a:cubicBezTo>
                      <a:lnTo>
                        <a:pt x="57150" y="923925"/>
                      </a:lnTo>
                      <a:cubicBezTo>
                        <a:pt x="57150" y="939707"/>
                        <a:pt x="44357" y="952500"/>
                        <a:pt x="28575" y="952500"/>
                      </a:cubicBezTo>
                      <a:lnTo>
                        <a:pt x="28575" y="952500"/>
                      </a:lnTo>
                      <a:cubicBezTo>
                        <a:pt x="12793" y="952500"/>
                        <a:pt x="0" y="939707"/>
                        <a:pt x="0" y="92392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7851267" y="4473892"/>
                  <a:ext cx="967835" cy="264033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350" b="1" dirty="0">
                      <a:solidFill>
                        <a:schemeClr val="accent1"/>
                      </a:solidFill>
                      <a:latin typeface="+mn-lt"/>
                      <a:ea typeface="+mn-ea"/>
                      <a:cs typeface="+mn-cs"/>
                    </a:rPr>
                    <a:t>执行黑箱化</a:t>
                  </a:r>
                </a:p>
              </p:txBody>
            </p:sp>
            <p:sp>
              <p:nvSpPr>
                <p:cNvPr id="35" name="TextBox 35"/>
                <p:cNvSpPr txBox="1"/>
                <p:nvPr/>
              </p:nvSpPr>
              <p:spPr>
                <a:xfrm>
                  <a:off x="7852029" y="4775835"/>
                  <a:ext cx="1789176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营销活动效果归因混乱，</a:t>
                  </a:r>
                </a:p>
              </p:txBody>
            </p:sp>
            <p:sp>
              <p:nvSpPr>
                <p:cNvPr id="36" name="TextBox 36"/>
                <p:cNvSpPr txBox="1"/>
                <p:nvPr/>
              </p:nvSpPr>
              <p:spPr>
                <a:xfrm>
                  <a:off x="7852029" y="4985385"/>
                  <a:ext cx="1627632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无法识别高杠杆优化点</a:t>
                  </a:r>
                </a:p>
              </p:txBody>
            </p:sp>
          </p:grpSp>
        </p:grpSp>
        <p:grpSp>
          <p:nvGrpSpPr>
            <p:cNvPr id="50" name="Group 50"/>
            <p:cNvGrpSpPr/>
            <p:nvPr/>
          </p:nvGrpSpPr>
          <p:grpSpPr>
            <a:xfrm>
              <a:off x="9239250" y="1447800"/>
              <a:ext cx="1790700" cy="3124200"/>
              <a:chOff x="9239250" y="1447800"/>
              <a:chExt cx="1790700" cy="3124200"/>
            </a:xfrm>
          </p:grpSpPr>
          <p:sp>
            <p:nvSpPr>
              <p:cNvPr id="39" name="Ellipse 39"/>
              <p:cNvSpPr/>
              <p:nvPr/>
            </p:nvSpPr>
            <p:spPr>
              <a:xfrm>
                <a:off x="9410700" y="1600200"/>
                <a:ext cx="228600" cy="228600"/>
              </a:xfrm>
              <a:prstGeom prst="ellipse">
                <a:avLst/>
              </a:pr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0" name="Ellipse 40"/>
              <p:cNvSpPr/>
              <p:nvPr/>
            </p:nvSpPr>
            <p:spPr>
              <a:xfrm>
                <a:off x="10191750" y="2190750"/>
                <a:ext cx="190500" cy="19050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1" name="Ellipse 41"/>
              <p:cNvSpPr/>
              <p:nvPr/>
            </p:nvSpPr>
            <p:spPr>
              <a:xfrm>
                <a:off x="10877550" y="1447800"/>
                <a:ext cx="152400" cy="152400"/>
              </a:xfrm>
              <a:prstGeom prst="ellipse">
                <a:avLst/>
              </a:pr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42" name="Ellipse 42"/>
              <p:cNvSpPr/>
              <p:nvPr/>
            </p:nvSpPr>
            <p:spPr>
              <a:xfrm>
                <a:off x="9867900" y="2914650"/>
                <a:ext cx="266700" cy="266700"/>
              </a:xfrm>
              <a:prstGeom prst="ellipse">
                <a:avLst/>
              </a:pr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43" name="Ellipse 43"/>
              <p:cNvSpPr/>
              <p:nvPr/>
            </p:nvSpPr>
            <p:spPr>
              <a:xfrm>
                <a:off x="10772775" y="3533775"/>
                <a:ext cx="171450" cy="171450"/>
              </a:xfrm>
              <a:prstGeom prst="ellipse">
                <a:avLst/>
              </a:prstGeom>
              <a:noFill/>
              <a:ln w="19050">
                <a:solidFill>
                  <a:schemeClr val="accent2"/>
                </a:solidFill>
              </a:ln>
            </p:spPr>
          </p:sp>
          <p:sp>
            <p:nvSpPr>
              <p:cNvPr id="44" name="Ellipse 44"/>
              <p:cNvSpPr/>
              <p:nvPr/>
            </p:nvSpPr>
            <p:spPr>
              <a:xfrm>
                <a:off x="9324975" y="3705225"/>
                <a:ext cx="209550" cy="209550"/>
              </a:xfrm>
              <a:prstGeom prst="ellipse">
                <a:avLst/>
              </a:prstGeom>
              <a:noFill/>
              <a:ln w="19050">
                <a:solidFill>
                  <a:schemeClr val="accent3"/>
                </a:solidFill>
              </a:ln>
            </p:spPr>
          </p:sp>
          <p:sp>
            <p:nvSpPr>
              <p:cNvPr id="45" name="Line 45"/>
              <p:cNvSpPr/>
              <p:nvPr/>
            </p:nvSpPr>
            <p:spPr>
              <a:xfrm>
                <a:off x="9525000" y="1828800"/>
                <a:ext cx="9525" cy="10858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085850">
                    <a:moveTo>
                      <a:pt x="0" y="0"/>
                    </a:moveTo>
                    <a:lnTo>
                      <a:pt x="0" y="108585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46" name="Line 46"/>
              <p:cNvSpPr/>
              <p:nvPr/>
            </p:nvSpPr>
            <p:spPr>
              <a:xfrm>
                <a:off x="10001250" y="2381250"/>
                <a:ext cx="28575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533400">
                    <a:moveTo>
                      <a:pt x="285750" y="0"/>
                    </a:moveTo>
                    <a:lnTo>
                      <a:pt x="0" y="53340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47" name="Line 47"/>
              <p:cNvSpPr/>
              <p:nvPr/>
            </p:nvSpPr>
            <p:spPr>
              <a:xfrm>
                <a:off x="9429750" y="3181350"/>
                <a:ext cx="571500" cy="52387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523875">
                    <a:moveTo>
                      <a:pt x="571500" y="0"/>
                    </a:moveTo>
                    <a:lnTo>
                      <a:pt x="0" y="523875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239250" y="4095750"/>
                <a:ext cx="1714500" cy="476250"/>
              </a:xfrm>
              <a:custGeom>
                <a:avLst/>
                <a:gdLst/>
                <a:ahLst/>
                <a:cxnLst/>
                <a:rect l="l" t="t" r="r" b="b"/>
                <a:pathLst>
                  <a:path w="1714500" h="476250">
                    <a:moveTo>
                      <a:pt x="57150" y="0"/>
                    </a:moveTo>
                    <a:lnTo>
                      <a:pt x="1657350" y="0"/>
                    </a:lnTo>
                    <a:cubicBezTo>
                      <a:pt x="1688913" y="0"/>
                      <a:pt x="1714500" y="25587"/>
                      <a:pt x="1714500" y="57150"/>
                    </a:cubicBezTo>
                    <a:lnTo>
                      <a:pt x="1714500" y="419100"/>
                    </a:lnTo>
                    <a:cubicBezTo>
                      <a:pt x="1714500" y="450663"/>
                      <a:pt x="1688913" y="476250"/>
                      <a:pt x="1657350" y="476250"/>
                    </a:cubicBezTo>
                    <a:lnTo>
                      <a:pt x="57150" y="476250"/>
                    </a:lnTo>
                    <a:cubicBezTo>
                      <a:pt x="25587" y="476250"/>
                      <a:pt x="0" y="450663"/>
                      <a:pt x="0" y="41910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rgbClr val="C53030"/>
                </a:solidFill>
                <a:custDash>
                  <a:ds d="300000" sp="300000"/>
                </a:custDash>
              </a:ln>
            </p:spPr>
          </p:sp>
          <p:sp>
            <p:nvSpPr>
              <p:cNvPr id="49" name="TextBox 49"/>
              <p:cNvSpPr txBox="1"/>
              <p:nvPr/>
            </p:nvSpPr>
            <p:spPr>
              <a:xfrm>
                <a:off x="9550138" y="4249102"/>
                <a:ext cx="10927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断裂点 · BREAK</a:t>
                </a:r>
              </a:p>
            </p:txBody>
          </p:sp>
        </p:grpSp>
      </p:grpSp>
      <p:grpSp>
        <p:nvGrpSpPr>
          <p:cNvPr id="55" name="Group 55"/>
          <p:cNvGrpSpPr/>
          <p:nvPr/>
        </p:nvGrpSpPr>
        <p:grpSpPr>
          <a:xfrm>
            <a:off x="757238" y="3590925"/>
            <a:ext cx="10129837" cy="2203132"/>
            <a:chOff x="757238" y="3590925"/>
            <a:chExt cx="10129837" cy="2203132"/>
          </a:xfrm>
        </p:grpSpPr>
        <p:sp>
          <p:nvSpPr>
            <p:cNvPr id="52" name="Line 52"/>
            <p:cNvSpPr/>
            <p:nvPr/>
          </p:nvSpPr>
          <p:spPr>
            <a:xfrm>
              <a:off x="10858500" y="3619500"/>
              <a:ext cx="9525" cy="476250"/>
            </a:xfrm>
            <a:custGeom>
              <a:avLst/>
              <a:gdLst/>
              <a:ahLst/>
              <a:cxnLst/>
              <a:rect l="l" t="t" r="r" b="b"/>
              <a:pathLst>
                <a:path w="9525" h="476250">
                  <a:moveTo>
                    <a:pt x="0" y="0"/>
                  </a:moveTo>
                  <a:lnTo>
                    <a:pt x="0" y="476250"/>
                  </a:lnTo>
                </a:path>
              </a:pathLst>
            </a:custGeom>
            <a:noFill/>
            <a:ln w="9525">
              <a:solidFill>
                <a:srgbClr val="C53030"/>
              </a:solidFill>
            </a:ln>
          </p:spPr>
        </p:sp>
        <p:sp>
          <p:nvSpPr>
            <p:cNvPr id="53" name="Ellipse 53"/>
            <p:cNvSpPr/>
            <p:nvPr/>
          </p:nvSpPr>
          <p:spPr>
            <a:xfrm>
              <a:off x="10829925" y="3590925"/>
              <a:ext cx="57150" cy="57150"/>
            </a:xfrm>
            <a:prstGeom prst="ellipse">
              <a:avLst/>
            </a:prstGeom>
            <a:solidFill>
              <a:srgbClr val="C53030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757238" y="5617845"/>
              <a:ext cx="1705737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来源：企业营销技术栈现状调研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762000" y="5524500"/>
              <a:ext cx="10668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4" name="Rectangle 4"/>
            <p:cNvSpPr/>
            <p:nvPr/>
          </p:nvSpPr>
          <p:spPr>
            <a:xfrm>
              <a:off x="762000" y="1238250"/>
              <a:ext cx="1905000" cy="38100"/>
            </a:xfrm>
            <a:prstGeom prst="rect">
              <a:avLst/>
            </a:prstGeom>
            <a:solidFill>
              <a:schemeClr val="accent2">
                <a:alpha val="60000"/>
              </a:scheme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748284" y="1371124"/>
            <a:ext cx="4737541" cy="985551"/>
            <a:chOff x="748284" y="1371124"/>
            <a:chExt cx="4737541" cy="985551"/>
          </a:xfrm>
        </p:grpSpPr>
        <p:sp>
          <p:nvSpPr>
            <p:cNvPr id="6" name="TextBox 6"/>
            <p:cNvSpPr txBox="1"/>
            <p:nvPr/>
          </p:nvSpPr>
          <p:spPr>
            <a:xfrm>
              <a:off x="757047" y="1371124"/>
              <a:ext cx="62175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150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系统比较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748284" y="1613535"/>
              <a:ext cx="4737541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旧范式 vs AI原生工作台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755142" y="2092642"/>
              <a:ext cx="403010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两种技术路线的核心差异——从工具堆砌到智能闭环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762000" y="2571750"/>
            <a:ext cx="10668000" cy="2952750"/>
            <a:chOff x="762000" y="2571750"/>
            <a:chExt cx="10668000" cy="2952750"/>
          </a:xfrm>
        </p:grpSpPr>
        <p:grpSp>
          <p:nvGrpSpPr>
            <p:cNvPr id="12" name="Group 12"/>
            <p:cNvGrpSpPr/>
            <p:nvPr/>
          </p:nvGrpSpPr>
          <p:grpSpPr>
            <a:xfrm>
              <a:off x="5791200" y="3124200"/>
              <a:ext cx="609600" cy="609600"/>
              <a:chOff x="5791200" y="3124200"/>
              <a:chExt cx="609600" cy="609600"/>
            </a:xfrm>
          </p:grpSpPr>
          <p:sp>
            <p:nvSpPr>
              <p:cNvPr id="10" name="Ellipse 10"/>
              <p:cNvSpPr/>
              <p:nvPr/>
            </p:nvSpPr>
            <p:spPr>
              <a:xfrm>
                <a:off x="5791200" y="3124200"/>
                <a:ext cx="609600" cy="609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1" name="TextBox 11"/>
              <p:cNvSpPr txBox="1"/>
              <p:nvPr/>
            </p:nvSpPr>
            <p:spPr>
              <a:xfrm>
                <a:off x="5954485" y="3340418"/>
                <a:ext cx="28303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350" b="1" dirty="0">
                    <a:solidFill>
                      <a:srgbClr val="FFFFFF"/>
                    </a:solidFill>
                    <a:latin typeface="Georgia"/>
                    <a:ea typeface="Georgia"/>
                    <a:cs typeface="Georgia"/>
                  </a:rPr>
                  <a:t>VS</a:t>
                </a:r>
              </a:p>
            </p:txBody>
          </p:sp>
        </p:grpSp>
        <p:grpSp>
          <p:nvGrpSpPr>
            <p:cNvPr id="35" name="Group 35"/>
            <p:cNvGrpSpPr/>
            <p:nvPr/>
          </p:nvGrpSpPr>
          <p:grpSpPr>
            <a:xfrm>
              <a:off x="762000" y="2571750"/>
              <a:ext cx="4762500" cy="2952750"/>
              <a:chOff x="762000" y="2571750"/>
              <a:chExt cx="4762500" cy="295275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762000" y="2571750"/>
                <a:ext cx="4762500" cy="295275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2952750">
                    <a:moveTo>
                      <a:pt x="114300" y="0"/>
                    </a:moveTo>
                    <a:lnTo>
                      <a:pt x="4648200" y="0"/>
                    </a:lnTo>
                    <a:cubicBezTo>
                      <a:pt x="4711326" y="0"/>
                      <a:pt x="4762500" y="51174"/>
                      <a:pt x="4762500" y="114300"/>
                    </a:cubicBezTo>
                    <a:lnTo>
                      <a:pt x="4762500" y="2838450"/>
                    </a:lnTo>
                    <a:cubicBezTo>
                      <a:pt x="4762500" y="2901576"/>
                      <a:pt x="4711326" y="2952750"/>
                      <a:pt x="4648200" y="2952750"/>
                    </a:cubicBezTo>
                    <a:lnTo>
                      <a:pt x="114300" y="2952750"/>
                    </a:lnTo>
                    <a:cubicBezTo>
                      <a:pt x="51174" y="2952750"/>
                      <a:pt x="0" y="2901576"/>
                      <a:pt x="0" y="283845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lt2"/>
                  </a:gs>
                  <a:gs pos="100000">
                    <a:srgbClr val="EDF2F7"/>
                  </a:gs>
                </a:gsLst>
                <a:lin ang="2700000" scaled="1"/>
              </a:gradFill>
              <a:ln w="9525">
                <a:solidFill>
                  <a:schemeClr val="accent4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762000" y="2571750"/>
                <a:ext cx="47625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533400">
                    <a:moveTo>
                      <a:pt x="114300" y="0"/>
                    </a:moveTo>
                    <a:lnTo>
                      <a:pt x="4648200" y="0"/>
                    </a:lnTo>
                    <a:cubicBezTo>
                      <a:pt x="4711326" y="0"/>
                      <a:pt x="4762500" y="51174"/>
                      <a:pt x="4762500" y="114300"/>
                    </a:cubicBezTo>
                    <a:lnTo>
                      <a:pt x="4762500" y="419100"/>
                    </a:lnTo>
                    <a:cubicBezTo>
                      <a:pt x="4762500" y="482226"/>
                      <a:pt x="4711326" y="533400"/>
                      <a:pt x="4648200" y="533400"/>
                    </a:cubicBezTo>
                    <a:lnTo>
                      <a:pt x="114300" y="533400"/>
                    </a:lnTo>
                    <a:cubicBezTo>
                      <a:pt x="51174" y="533400"/>
                      <a:pt x="0" y="482226"/>
                      <a:pt x="0" y="4191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15" name="Rectangle 15"/>
              <p:cNvSpPr/>
              <p:nvPr/>
            </p:nvSpPr>
            <p:spPr>
              <a:xfrm>
                <a:off x="762000" y="2876550"/>
                <a:ext cx="4762500" cy="228600"/>
              </a:xfrm>
              <a:prstGeom prst="rect">
                <a:avLst/>
              </a:prstGeom>
              <a:solidFill>
                <a:schemeClr val="accent4"/>
              </a:solidFill>
              <a:ln>
                <a:noFill/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1042988" y="2816066"/>
                <a:ext cx="605219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spc="75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传统营销云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40130" y="2914650"/>
                <a:ext cx="2289124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j-lt"/>
                    <a:ea typeface="+mj-ea"/>
                    <a:cs typeface="+mj-cs"/>
                  </a:rPr>
                  <a:t>分散工具链 + 人工协同</a:t>
                </a:r>
              </a:p>
            </p:txBody>
          </p:sp>
          <p:grpSp>
            <p:nvGrpSpPr>
              <p:cNvPr id="23" name="Group 23"/>
              <p:cNvGrpSpPr/>
              <p:nvPr/>
            </p:nvGrpSpPr>
            <p:grpSpPr>
              <a:xfrm>
                <a:off x="4562475" y="2686050"/>
                <a:ext cx="542925" cy="371475"/>
                <a:chOff x="4562475" y="2686050"/>
                <a:chExt cx="542925" cy="371475"/>
              </a:xfrm>
            </p:grpSpPr>
            <p:sp>
              <p:nvSpPr>
                <p:cNvPr id="18" name="Ellipse 18"/>
                <p:cNvSpPr/>
                <p:nvPr/>
              </p:nvSpPr>
              <p:spPr>
                <a:xfrm>
                  <a:off x="4686300" y="2686050"/>
                  <a:ext cx="152400" cy="152400"/>
                </a:xfrm>
                <a:prstGeom prst="ellipse">
                  <a:avLst/>
                </a:pr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19" name="Ellipse 19"/>
                <p:cNvSpPr/>
                <p:nvPr/>
              </p:nvSpPr>
              <p:spPr>
                <a:xfrm>
                  <a:off x="4991100" y="2847975"/>
                  <a:ext cx="114300" cy="114300"/>
                </a:xfrm>
                <a:prstGeom prst="ellipse">
                  <a:avLst/>
                </a:pr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20" name="Ellipse 20"/>
                <p:cNvSpPr/>
                <p:nvPr/>
              </p:nvSpPr>
              <p:spPr>
                <a:xfrm>
                  <a:off x="4562475" y="2943225"/>
                  <a:ext cx="114300" cy="114300"/>
                </a:xfrm>
                <a:prstGeom prst="ellipse">
                  <a:avLst/>
                </a:prstGeom>
                <a:noFill/>
                <a:ln w="19050">
                  <a:solidFill>
                    <a:schemeClr val="dk2"/>
                  </a:solidFill>
                </a:ln>
              </p:spPr>
            </p:sp>
            <p:sp>
              <p:nvSpPr>
                <p:cNvPr id="21" name="Line 21"/>
                <p:cNvSpPr/>
                <p:nvPr/>
              </p:nvSpPr>
              <p:spPr>
                <a:xfrm>
                  <a:off x="4619625" y="2838450"/>
                  <a:ext cx="142875" cy="10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104775">
                      <a:moveTo>
                        <a:pt x="142875" y="0"/>
                      </a:moveTo>
                      <a:lnTo>
                        <a:pt x="0" y="104775"/>
                      </a:lnTo>
                    </a:path>
                  </a:pathLst>
                </a:custGeom>
                <a:noFill/>
                <a:ln w="14288">
                  <a:solidFill>
                    <a:schemeClr val="dk2"/>
                  </a:solidFill>
                  <a:custDash>
                    <a:ds d="200000" sp="133333"/>
                  </a:custDash>
                </a:ln>
              </p:spPr>
            </p:sp>
            <p:sp>
              <p:nvSpPr>
                <p:cNvPr id="22" name="Line 22"/>
                <p:cNvSpPr/>
                <p:nvPr/>
              </p:nvSpPr>
              <p:spPr>
                <a:xfrm>
                  <a:off x="4838700" y="2809875"/>
                  <a:ext cx="1524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400" h="66675">
                      <a:moveTo>
                        <a:pt x="0" y="0"/>
                      </a:moveTo>
                      <a:lnTo>
                        <a:pt x="152400" y="66675"/>
                      </a:lnTo>
                    </a:path>
                  </a:pathLst>
                </a:custGeom>
                <a:noFill/>
                <a:ln w="14288">
                  <a:solidFill>
                    <a:schemeClr val="dk2"/>
                  </a:solidFill>
                  <a:custDash>
                    <a:ds d="200000" sp="133333"/>
                  </a:custDash>
                </a:ln>
              </p:spPr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1085850" y="3423285"/>
                <a:ext cx="1673047" cy="234696"/>
                <a:chOff x="1085850" y="3423285"/>
                <a:chExt cx="1673047" cy="234696"/>
              </a:xfrm>
            </p:grpSpPr>
            <p:sp>
              <p:nvSpPr>
                <p:cNvPr id="24" name="Ellipse 24"/>
                <p:cNvSpPr/>
                <p:nvPr/>
              </p:nvSpPr>
              <p:spPr>
                <a:xfrm>
                  <a:off x="1085850" y="3467100"/>
                  <a:ext cx="76200" cy="76200"/>
                </a:xfrm>
                <a:prstGeom prst="ellipse">
                  <a:avLst/>
                </a:prstGeom>
                <a:solidFill>
                  <a:srgbClr val="C53030"/>
                </a:solidFill>
                <a:ln>
                  <a:noFill/>
                </a:ln>
              </p:spPr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1270254" y="3423285"/>
                  <a:ext cx="1488643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数据管道靠ETL维护</a:t>
                  </a:r>
                </a:p>
              </p:txBody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1085850" y="3804285"/>
                <a:ext cx="1365809" cy="234696"/>
                <a:chOff x="1085850" y="3804285"/>
                <a:chExt cx="1365809" cy="234696"/>
              </a:xfrm>
            </p:grpSpPr>
            <p:sp>
              <p:nvSpPr>
                <p:cNvPr id="27" name="Ellipse 27"/>
                <p:cNvSpPr/>
                <p:nvPr/>
              </p:nvSpPr>
              <p:spPr>
                <a:xfrm>
                  <a:off x="1085850" y="3848100"/>
                  <a:ext cx="76200" cy="76200"/>
                </a:xfrm>
                <a:prstGeom prst="ellipse">
                  <a:avLst/>
                </a:prstGeom>
                <a:solidFill>
                  <a:srgbClr val="C53030"/>
                </a:solidFill>
                <a:ln>
                  <a:noFill/>
                </a:ln>
              </p:spPr>
            </p:sp>
            <p:sp>
              <p:nvSpPr>
                <p:cNvPr id="28" name="TextBox 28"/>
                <p:cNvSpPr txBox="1"/>
                <p:nvPr/>
              </p:nvSpPr>
              <p:spPr>
                <a:xfrm>
                  <a:off x="1270254" y="3804285"/>
                  <a:ext cx="1181405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分析依赖BI团队</a:t>
                  </a:r>
                </a:p>
              </p:txBody>
            </p:sp>
          </p:grpSp>
          <p:grpSp>
            <p:nvGrpSpPr>
              <p:cNvPr id="32" name="Group 32"/>
              <p:cNvGrpSpPr/>
              <p:nvPr/>
            </p:nvGrpSpPr>
            <p:grpSpPr>
              <a:xfrm>
                <a:off x="1085850" y="4185285"/>
                <a:ext cx="2296668" cy="234696"/>
                <a:chOff x="1085850" y="4185285"/>
                <a:chExt cx="2296668" cy="234696"/>
              </a:xfrm>
            </p:grpSpPr>
            <p:sp>
              <p:nvSpPr>
                <p:cNvPr id="30" name="Ellipse 30"/>
                <p:cNvSpPr/>
                <p:nvPr/>
              </p:nvSpPr>
              <p:spPr>
                <a:xfrm>
                  <a:off x="1085850" y="4229100"/>
                  <a:ext cx="76200" cy="76200"/>
                </a:xfrm>
                <a:prstGeom prst="ellipse">
                  <a:avLst/>
                </a:prstGeom>
                <a:solidFill>
                  <a:srgbClr val="C53030"/>
                </a:solidFill>
                <a:ln>
                  <a:noFill/>
                </a:ln>
              </p:spPr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1270254" y="4185285"/>
                  <a:ext cx="211226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执行需手动操作多个渠道后台</a:t>
                  </a:r>
                </a:p>
              </p:txBody>
            </p:sp>
          </p:grpSp>
          <p:sp>
            <p:nvSpPr>
              <p:cNvPr id="33" name="Freeform 33"/>
              <p:cNvSpPr/>
              <p:nvPr/>
            </p:nvSpPr>
            <p:spPr>
              <a:xfrm>
                <a:off x="1047750" y="4857750"/>
                <a:ext cx="1143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667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228600"/>
                    </a:lnTo>
                    <a:cubicBezTo>
                      <a:pt x="1143000" y="249642"/>
                      <a:pt x="1125942" y="266700"/>
                      <a:pt x="1104900" y="266700"/>
                    </a:cubicBez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FED7D7"/>
              </a:solidFill>
              <a:ln>
                <a:noFill/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1372172" y="494157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C53030"/>
                    </a:solidFill>
                    <a:latin typeface="+mn-lt"/>
                    <a:ea typeface="+mn-ea"/>
                    <a:cs typeface="+mn-cs"/>
                  </a:rPr>
                  <a:t>效率瓶颈</a:t>
                </a:r>
              </a:p>
            </p:txBody>
          </p:sp>
        </p:grpSp>
        <p:grpSp>
          <p:nvGrpSpPr>
            <p:cNvPr id="61" name="Group 61"/>
            <p:cNvGrpSpPr/>
            <p:nvPr/>
          </p:nvGrpSpPr>
          <p:grpSpPr>
            <a:xfrm>
              <a:off x="6667500" y="2571750"/>
              <a:ext cx="4762500" cy="2952750"/>
              <a:chOff x="6667500" y="2571750"/>
              <a:chExt cx="4762500" cy="295275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6667500" y="2571750"/>
                <a:ext cx="4762500" cy="295275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2952750">
                    <a:moveTo>
                      <a:pt x="114300" y="0"/>
                    </a:moveTo>
                    <a:lnTo>
                      <a:pt x="4648200" y="0"/>
                    </a:lnTo>
                    <a:cubicBezTo>
                      <a:pt x="4711326" y="0"/>
                      <a:pt x="4762500" y="51174"/>
                      <a:pt x="4762500" y="114300"/>
                    </a:cubicBezTo>
                    <a:lnTo>
                      <a:pt x="4762500" y="2838450"/>
                    </a:lnTo>
                    <a:cubicBezTo>
                      <a:pt x="4762500" y="2901576"/>
                      <a:pt x="4711326" y="2952750"/>
                      <a:pt x="4648200" y="2952750"/>
                    </a:cubicBezTo>
                    <a:lnTo>
                      <a:pt x="114300" y="2952750"/>
                    </a:lnTo>
                    <a:cubicBezTo>
                      <a:pt x="51174" y="2952750"/>
                      <a:pt x="0" y="2901576"/>
                      <a:pt x="0" y="283845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gradFill>
                <a:gsLst>
                  <a:gs pos="0">
                    <a:schemeClr val="accent6"/>
                  </a:gs>
                  <a:gs pos="100000">
                    <a:srgbClr val="C3DAFE"/>
                  </a:gs>
                </a:gsLst>
                <a:lin ang="2700000" scaled="1"/>
              </a:gradFill>
              <a:ln w="19050">
                <a:solidFill>
                  <a:schemeClr val="accent2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6667500" y="2571750"/>
                <a:ext cx="4762500" cy="533400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533400">
                    <a:moveTo>
                      <a:pt x="114300" y="0"/>
                    </a:moveTo>
                    <a:lnTo>
                      <a:pt x="4648200" y="0"/>
                    </a:lnTo>
                    <a:cubicBezTo>
                      <a:pt x="4711326" y="0"/>
                      <a:pt x="4762500" y="51174"/>
                      <a:pt x="4762500" y="114300"/>
                    </a:cubicBezTo>
                    <a:lnTo>
                      <a:pt x="4762500" y="419100"/>
                    </a:lnTo>
                    <a:cubicBezTo>
                      <a:pt x="4762500" y="482226"/>
                      <a:pt x="4711326" y="533400"/>
                      <a:pt x="4648200" y="533400"/>
                    </a:cubicBezTo>
                    <a:lnTo>
                      <a:pt x="114300" y="533400"/>
                    </a:lnTo>
                    <a:cubicBezTo>
                      <a:pt x="51174" y="533400"/>
                      <a:pt x="0" y="482226"/>
                      <a:pt x="0" y="4191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Rectangle 38"/>
              <p:cNvSpPr/>
              <p:nvPr/>
            </p:nvSpPr>
            <p:spPr>
              <a:xfrm>
                <a:off x="6667500" y="2876550"/>
                <a:ext cx="4762500" cy="228600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948488" y="2816066"/>
                <a:ext cx="805891" cy="16192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0" spc="75" dirty="0">
                    <a:solidFill>
                      <a:srgbClr val="EBF4FB"/>
                    </a:solidFill>
                    <a:latin typeface="+mn-lt"/>
                    <a:ea typeface="+mn-ea"/>
                    <a:cs typeface="+mn-cs"/>
                  </a:rPr>
                  <a:t>AI 营销工作台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6945630" y="2914650"/>
                <a:ext cx="2737180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FFFFFF"/>
                    </a:solidFill>
                    <a:latin typeface="+mj-lt"/>
                    <a:ea typeface="+mj-ea"/>
                    <a:cs typeface="+mj-cs"/>
                  </a:rPr>
                  <a:t>统一数据底座 + 智能自动化</a:t>
                </a:r>
              </a:p>
            </p:txBody>
          </p:sp>
          <p:grpSp>
            <p:nvGrpSpPr>
              <p:cNvPr id="49" name="Group 49"/>
              <p:cNvGrpSpPr/>
              <p:nvPr/>
            </p:nvGrpSpPr>
            <p:grpSpPr>
              <a:xfrm>
                <a:off x="10420350" y="2590800"/>
                <a:ext cx="657225" cy="514350"/>
                <a:chOff x="10420350" y="2590800"/>
                <a:chExt cx="657225" cy="514350"/>
              </a:xfrm>
            </p:grpSpPr>
            <p:sp>
              <p:nvSpPr>
                <p:cNvPr id="41" name="Ellipse 41"/>
                <p:cNvSpPr/>
                <p:nvPr/>
              </p:nvSpPr>
              <p:spPr>
                <a:xfrm>
                  <a:off x="10572750" y="2667000"/>
                  <a:ext cx="190500" cy="190500"/>
                </a:xfrm>
                <a:prstGeom prst="ellipse">
                  <a:avLst/>
                </a:prstGeom>
                <a:solidFill>
                  <a:schemeClr val="accent2"/>
                </a:solidFill>
                <a:ln>
                  <a:noFill/>
                </a:ln>
              </p:spPr>
            </p:sp>
            <p:sp>
              <p:nvSpPr>
                <p:cNvPr id="42" name="Ellipse 42"/>
                <p:cNvSpPr/>
                <p:nvPr/>
              </p:nvSpPr>
              <p:spPr>
                <a:xfrm>
                  <a:off x="10925175" y="2857500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43" name="Ellipse 43"/>
                <p:cNvSpPr/>
                <p:nvPr/>
              </p:nvSpPr>
              <p:spPr>
                <a:xfrm>
                  <a:off x="10420350" y="2952750"/>
                  <a:ext cx="152400" cy="1524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44" name="Ellipse 44"/>
                <p:cNvSpPr/>
                <p:nvPr/>
              </p:nvSpPr>
              <p:spPr>
                <a:xfrm>
                  <a:off x="10877550" y="2590800"/>
                  <a:ext cx="114300" cy="114300"/>
                </a:xfrm>
                <a:prstGeom prst="ellipse">
                  <a:avLst/>
                </a:prstGeom>
                <a:solidFill>
                  <a:schemeClr val="accent3"/>
                </a:solidFill>
                <a:ln>
                  <a:noFill/>
                </a:ln>
              </p:spPr>
            </p:sp>
            <p:sp>
              <p:nvSpPr>
                <p:cNvPr id="45" name="Line 45"/>
                <p:cNvSpPr/>
                <p:nvPr/>
              </p:nvSpPr>
              <p:spPr>
                <a:xfrm>
                  <a:off x="10496550" y="2857500"/>
                  <a:ext cx="171450" cy="95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450" h="95250">
                      <a:moveTo>
                        <a:pt x="171450" y="0"/>
                      </a:moveTo>
                      <a:lnTo>
                        <a:pt x="0" y="952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6" name="Line 46"/>
                <p:cNvSpPr/>
                <p:nvPr/>
              </p:nvSpPr>
              <p:spPr>
                <a:xfrm>
                  <a:off x="10744200" y="2705100"/>
                  <a:ext cx="142875" cy="857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2875" h="85725">
                      <a:moveTo>
                        <a:pt x="0" y="85725"/>
                      </a:moveTo>
                      <a:lnTo>
                        <a:pt x="142875" y="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7" name="Line 47"/>
                <p:cNvSpPr/>
                <p:nvPr/>
              </p:nvSpPr>
              <p:spPr>
                <a:xfrm>
                  <a:off x="10763250" y="2838450"/>
                  <a:ext cx="161925" cy="38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1925" h="38100">
                      <a:moveTo>
                        <a:pt x="0" y="0"/>
                      </a:moveTo>
                      <a:lnTo>
                        <a:pt x="161925" y="3810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  <p:sp>
              <p:nvSpPr>
                <p:cNvPr id="48" name="Line 48"/>
                <p:cNvSpPr/>
                <p:nvPr/>
              </p:nvSpPr>
              <p:spPr>
                <a:xfrm>
                  <a:off x="10668000" y="2762250"/>
                  <a:ext cx="333375" cy="171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75" h="171450">
                      <a:moveTo>
                        <a:pt x="0" y="0"/>
                      </a:moveTo>
                      <a:lnTo>
                        <a:pt x="333375" y="171450"/>
                      </a:lnTo>
                    </a:path>
                  </a:pathLst>
                </a:custGeom>
                <a:noFill/>
                <a:ln w="19050">
                  <a:solidFill>
                    <a:schemeClr val="accent2"/>
                  </a:solidFill>
                </a:ln>
              </p:spPr>
            </p:sp>
          </p:grpSp>
          <p:grpSp>
            <p:nvGrpSpPr>
              <p:cNvPr id="52" name="Group 52"/>
              <p:cNvGrpSpPr/>
              <p:nvPr/>
            </p:nvGrpSpPr>
            <p:grpSpPr>
              <a:xfrm>
                <a:off x="6991350" y="3423285"/>
                <a:ext cx="1488948" cy="234696"/>
                <a:chOff x="6991350" y="3423285"/>
                <a:chExt cx="1488948" cy="234696"/>
              </a:xfrm>
            </p:grpSpPr>
            <p:sp>
              <p:nvSpPr>
                <p:cNvPr id="50" name="Ellipse 50"/>
                <p:cNvSpPr/>
                <p:nvPr/>
              </p:nvSpPr>
              <p:spPr>
                <a:xfrm>
                  <a:off x="6991350" y="3467100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51" name="TextBox 51"/>
                <p:cNvSpPr txBox="1"/>
                <p:nvPr/>
              </p:nvSpPr>
              <p:spPr>
                <a:xfrm>
                  <a:off x="7175754" y="3423285"/>
                  <a:ext cx="1304544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实时融合全域数据</a:t>
                  </a:r>
                </a:p>
              </p:txBody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6991350" y="3804285"/>
                <a:ext cx="2135124" cy="234696"/>
                <a:chOff x="6991350" y="3804285"/>
                <a:chExt cx="2135124" cy="234696"/>
              </a:xfrm>
            </p:grpSpPr>
            <p:sp>
              <p:nvSpPr>
                <p:cNvPr id="53" name="Ellipse 53"/>
                <p:cNvSpPr/>
                <p:nvPr/>
              </p:nvSpPr>
              <p:spPr>
                <a:xfrm>
                  <a:off x="6991350" y="3848100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54" name="TextBox 54"/>
                <p:cNvSpPr txBox="1"/>
                <p:nvPr/>
              </p:nvSpPr>
              <p:spPr>
                <a:xfrm>
                  <a:off x="7175754" y="3804285"/>
                  <a:ext cx="195072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大模型驱动洞察与策略推荐</a:t>
                  </a:r>
                </a:p>
              </p:txBody>
            </p:sp>
          </p:grpSp>
          <p:grpSp>
            <p:nvGrpSpPr>
              <p:cNvPr id="58" name="Group 58"/>
              <p:cNvGrpSpPr/>
              <p:nvPr/>
            </p:nvGrpSpPr>
            <p:grpSpPr>
              <a:xfrm>
                <a:off x="6991350" y="4185285"/>
                <a:ext cx="2135124" cy="234696"/>
                <a:chOff x="6991350" y="4185285"/>
                <a:chExt cx="2135124" cy="234696"/>
              </a:xfrm>
            </p:grpSpPr>
            <p:sp>
              <p:nvSpPr>
                <p:cNvPr id="56" name="Ellipse 56"/>
                <p:cNvSpPr/>
                <p:nvPr/>
              </p:nvSpPr>
              <p:spPr>
                <a:xfrm>
                  <a:off x="6991350" y="4229100"/>
                  <a:ext cx="76200" cy="76200"/>
                </a:xfrm>
                <a:prstGeom prst="ellipse">
                  <a:avLst/>
                </a:prstGeom>
                <a:solidFill>
                  <a:srgbClr val="2F855A"/>
                </a:solidFill>
                <a:ln>
                  <a:noFill/>
                </a:ln>
              </p:spPr>
            </p:sp>
            <p:sp>
              <p:nvSpPr>
                <p:cNvPr id="57" name="TextBox 57"/>
                <p:cNvSpPr txBox="1"/>
                <p:nvPr/>
              </p:nvSpPr>
              <p:spPr>
                <a:xfrm>
                  <a:off x="7175754" y="4185285"/>
                  <a:ext cx="1950720" cy="234696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200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一键触发多渠道自动化旅程</a:t>
                  </a:r>
                </a:p>
              </p:txBody>
            </p:sp>
          </p:grpSp>
          <p:sp>
            <p:nvSpPr>
              <p:cNvPr id="59" name="Freeform 59"/>
              <p:cNvSpPr/>
              <p:nvPr/>
            </p:nvSpPr>
            <p:spPr>
              <a:xfrm>
                <a:off x="6953250" y="4857750"/>
                <a:ext cx="1143000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266700">
                    <a:moveTo>
                      <a:pt x="38100" y="0"/>
                    </a:moveTo>
                    <a:lnTo>
                      <a:pt x="1104900" y="0"/>
                    </a:lnTo>
                    <a:cubicBezTo>
                      <a:pt x="1125942" y="0"/>
                      <a:pt x="1143000" y="17058"/>
                      <a:pt x="1143000" y="38100"/>
                    </a:cubicBezTo>
                    <a:lnTo>
                      <a:pt x="1143000" y="228600"/>
                    </a:lnTo>
                    <a:cubicBezTo>
                      <a:pt x="1143000" y="249642"/>
                      <a:pt x="1125942" y="266700"/>
                      <a:pt x="1104900" y="266700"/>
                    </a:cubicBezTo>
                    <a:lnTo>
                      <a:pt x="38100" y="266700"/>
                    </a:lnTo>
                    <a:cubicBezTo>
                      <a:pt x="17058" y="266700"/>
                      <a:pt x="0" y="249642"/>
                      <a:pt x="0" y="2286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C6F6D5"/>
              </a:solidFill>
              <a:ln>
                <a:noFill/>
              </a:ln>
            </p:spPr>
          </p:sp>
          <p:sp>
            <p:nvSpPr>
              <p:cNvPr id="60" name="TextBox 60"/>
              <p:cNvSpPr txBox="1"/>
              <p:nvPr/>
            </p:nvSpPr>
            <p:spPr>
              <a:xfrm>
                <a:off x="7277671" y="4941570"/>
                <a:ext cx="494157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00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效能跃升</a:t>
                </a:r>
              </a:p>
            </p:txBody>
          </p:sp>
        </p:grpSp>
        <p:grpSp>
          <p:nvGrpSpPr>
            <p:cNvPr id="68" name="Group 68"/>
            <p:cNvGrpSpPr/>
            <p:nvPr/>
          </p:nvGrpSpPr>
          <p:grpSpPr>
            <a:xfrm>
              <a:off x="5524500" y="3381375"/>
              <a:ext cx="381000" cy="857250"/>
              <a:chOff x="5524500" y="3381375"/>
              <a:chExt cx="381000" cy="857250"/>
            </a:xfrm>
          </p:grpSpPr>
          <p:sp>
            <p:nvSpPr>
              <p:cNvPr id="62" name="Line 62"/>
              <p:cNvSpPr/>
              <p:nvPr/>
            </p:nvSpPr>
            <p:spPr>
              <a:xfrm>
                <a:off x="5524500" y="342900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3" name="Polygon 63"/>
              <p:cNvSpPr/>
              <p:nvPr/>
            </p:nvSpPr>
            <p:spPr>
              <a:xfrm>
                <a:off x="5810250" y="3381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4" name="Line 64"/>
              <p:cNvSpPr/>
              <p:nvPr/>
            </p:nvSpPr>
            <p:spPr>
              <a:xfrm>
                <a:off x="5524500" y="381000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5" name="Polygon 65"/>
              <p:cNvSpPr/>
              <p:nvPr/>
            </p:nvSpPr>
            <p:spPr>
              <a:xfrm>
                <a:off x="5810250" y="3762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66" name="Line 66"/>
              <p:cNvSpPr/>
              <p:nvPr/>
            </p:nvSpPr>
            <p:spPr>
              <a:xfrm>
                <a:off x="5524500" y="4191000"/>
                <a:ext cx="2857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9525">
                    <a:moveTo>
                      <a:pt x="0" y="0"/>
                    </a:moveTo>
                    <a:lnTo>
                      <a:pt x="285750" y="0"/>
                    </a:lnTo>
                  </a:path>
                </a:pathLst>
              </a:custGeom>
              <a:noFill/>
              <a:ln w="19050">
                <a:solidFill>
                  <a:schemeClr val="accent1"/>
                </a:solidFill>
              </a:ln>
            </p:spPr>
          </p:sp>
          <p:sp>
            <p:nvSpPr>
              <p:cNvPr id="67" name="Polygon 67"/>
              <p:cNvSpPr/>
              <p:nvPr/>
            </p:nvSpPr>
            <p:spPr>
              <a:xfrm>
                <a:off x="5810250" y="41433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0"/>
                    </a:moveTo>
                    <a:lnTo>
                      <a:pt x="95250" y="47625"/>
                    </a:lnTo>
                    <a:lnTo>
                      <a:pt x="0" y="9525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</p:grpSp>
      </p:grpSp>
      <p:grpSp>
        <p:nvGrpSpPr>
          <p:cNvPr id="74" name="Group 74"/>
          <p:cNvGrpSpPr/>
          <p:nvPr/>
        </p:nvGrpSpPr>
        <p:grpSpPr>
          <a:xfrm>
            <a:off x="757047" y="5800249"/>
            <a:ext cx="10677906" cy="190976"/>
            <a:chOff x="757047" y="5800249"/>
            <a:chExt cx="10677906" cy="190976"/>
          </a:xfrm>
        </p:grpSpPr>
        <p:grpSp>
          <p:nvGrpSpPr>
            <p:cNvPr id="73" name="Group 73"/>
            <p:cNvGrpSpPr/>
            <p:nvPr/>
          </p:nvGrpSpPr>
          <p:grpSpPr>
            <a:xfrm>
              <a:off x="757047" y="5800249"/>
              <a:ext cx="10677906" cy="190976"/>
              <a:chOff x="757047" y="5800249"/>
              <a:chExt cx="10677906" cy="190976"/>
            </a:xfrm>
          </p:grpSpPr>
          <p:sp>
            <p:nvSpPr>
              <p:cNvPr id="70" name="TextBox 70"/>
              <p:cNvSpPr txBox="1"/>
              <p:nvPr/>
            </p:nvSpPr>
            <p:spPr>
              <a:xfrm>
                <a:off x="757047" y="580024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关键变量对比</a:t>
                </a:r>
              </a:p>
            </p:txBody>
          </p:sp>
          <p:sp>
            <p:nvSpPr>
              <p:cNvPr id="71" name="Line 71"/>
              <p:cNvSpPr/>
              <p:nvPr/>
            </p:nvSpPr>
            <p:spPr>
              <a:xfrm>
                <a:off x="762000" y="5981700"/>
                <a:ext cx="10668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0668000" h="9525">
                    <a:moveTo>
                      <a:pt x="0" y="0"/>
                    </a:moveTo>
                    <a:lnTo>
                      <a:pt x="10668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10637520" y="580024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不同路径影响</a:t>
                </a:r>
              </a:p>
            </p:txBody>
          </p:sp>
        </p:grpSp>
      </p:grpSp>
      <p:grpSp>
        <p:nvGrpSpPr>
          <p:cNvPr id="77" name="Group 77"/>
          <p:cNvGrpSpPr/>
          <p:nvPr/>
        </p:nvGrpSpPr>
        <p:grpSpPr>
          <a:xfrm>
            <a:off x="757238" y="6578441"/>
            <a:ext cx="10677525" cy="161925"/>
            <a:chOff x="757238" y="6578441"/>
            <a:chExt cx="10677525" cy="161925"/>
          </a:xfrm>
        </p:grpSpPr>
        <p:sp>
          <p:nvSpPr>
            <p:cNvPr id="75" name="TextBox 75"/>
            <p:cNvSpPr txBox="1"/>
            <p:nvPr/>
          </p:nvSpPr>
          <p:spPr>
            <a:xfrm>
              <a:off x="757238" y="6578441"/>
              <a:ext cx="25941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4 / 8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10504056" y="6578441"/>
              <a:ext cx="930707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企业AI营销工作台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2">
                <a:alpha val="30000"/>
              </a:scheme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66738" y="272891"/>
            <a:ext cx="11058525" cy="6467475"/>
            <a:chOff x="566738" y="272891"/>
            <a:chExt cx="11058525" cy="6467475"/>
          </a:xfrm>
        </p:grpSpPr>
        <p:sp>
          <p:nvSpPr>
            <p:cNvPr id="5" name="Rectangle 5"/>
            <p:cNvSpPr/>
            <p:nvPr/>
          </p:nvSpPr>
          <p:spPr>
            <a:xfrm>
              <a:off x="571500" y="476250"/>
              <a:ext cx="11049000" cy="190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566738" y="272891"/>
              <a:ext cx="69334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spc="75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PROOFGRID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493570" y="6578441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557784" y="661035"/>
            <a:ext cx="11062716" cy="5530215"/>
            <a:chOff x="557784" y="661035"/>
            <a:chExt cx="11062716" cy="5530215"/>
          </a:xfrm>
        </p:grpSpPr>
        <p:sp>
          <p:nvSpPr>
            <p:cNvPr id="9" name="TextBox 9"/>
            <p:cNvSpPr txBox="1"/>
            <p:nvPr/>
          </p:nvSpPr>
          <p:spPr>
            <a:xfrm>
              <a:off x="557784" y="661035"/>
              <a:ext cx="325343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Georgia"/>
                  <a:ea typeface="SimSun"/>
                  <a:cs typeface="Georgia"/>
                </a:rPr>
                <a:t>已交付的客户成果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63880" y="1123950"/>
              <a:ext cx="36701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首批合作企业上线90天内获得的量化提升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571500" y="1619250"/>
              <a:ext cx="11049000" cy="4572000"/>
              <a:chOff x="571500" y="1619250"/>
              <a:chExt cx="11049000" cy="45720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571500" y="1619250"/>
                <a:ext cx="352425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4572000">
                    <a:moveTo>
                      <a:pt x="114300" y="0"/>
                    </a:moveTo>
                    <a:lnTo>
                      <a:pt x="3409950" y="0"/>
                    </a:lnTo>
                    <a:cubicBezTo>
                      <a:pt x="3473076" y="0"/>
                      <a:pt x="3524250" y="51174"/>
                      <a:pt x="3524250" y="114300"/>
                    </a:cubicBezTo>
                    <a:lnTo>
                      <a:pt x="3524250" y="4457700"/>
                    </a:lnTo>
                    <a:cubicBezTo>
                      <a:pt x="3524250" y="4520826"/>
                      <a:pt x="3473076" y="4572000"/>
                      <a:pt x="340995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571500" y="1619250"/>
                <a:ext cx="3524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76200">
                    <a:moveTo>
                      <a:pt x="38100" y="0"/>
                    </a:moveTo>
                    <a:lnTo>
                      <a:pt x="3486150" y="0"/>
                    </a:lnTo>
                    <a:cubicBezTo>
                      <a:pt x="3507192" y="0"/>
                      <a:pt x="3524250" y="17058"/>
                      <a:pt x="3524250" y="38100"/>
                    </a:cubicBezTo>
                    <a:lnTo>
                      <a:pt x="3524250" y="38100"/>
                    </a:lnTo>
                    <a:cubicBezTo>
                      <a:pt x="3524250" y="59142"/>
                      <a:pt x="3507192" y="76200"/>
                      <a:pt x="348615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842010" y="1771650"/>
                <a:ext cx="1105814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00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+37%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849630" y="2266950"/>
                <a:ext cx="1075372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2"/>
                    </a:solidFill>
                    <a:latin typeface="+mn-lt"/>
                    <a:ea typeface="+mn-ea"/>
                    <a:cs typeface="+mn-cs"/>
                  </a:rPr>
                  <a:t>转化率提升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851916" y="26965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某头部快消品牌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851916" y="2934652"/>
                <a:ext cx="18199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电商转化率从4.2%升至5.8%</a:t>
                </a:r>
              </a:p>
            </p:txBody>
          </p:sp>
          <p:sp>
            <p:nvSpPr>
              <p:cNvPr id="17" name="Line 17"/>
              <p:cNvSpPr/>
              <p:nvPr/>
            </p:nvSpPr>
            <p:spPr>
              <a:xfrm>
                <a:off x="857250" y="333375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851916" y="3506152"/>
                <a:ext cx="222854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通过AI智能投放与个性化推荐实现</a:t>
                </a:r>
              </a:p>
            </p:txBody>
          </p:sp>
          <p:sp>
            <p:nvSpPr>
              <p:cNvPr id="19" name="Freeform 19"/>
              <p:cNvSpPr/>
              <p:nvPr/>
            </p:nvSpPr>
            <p:spPr>
              <a:xfrm>
                <a:off x="4333875" y="1619250"/>
                <a:ext cx="352425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4572000">
                    <a:moveTo>
                      <a:pt x="114300" y="0"/>
                    </a:moveTo>
                    <a:lnTo>
                      <a:pt x="3409950" y="0"/>
                    </a:lnTo>
                    <a:cubicBezTo>
                      <a:pt x="3473076" y="0"/>
                      <a:pt x="3524250" y="51174"/>
                      <a:pt x="3524250" y="114300"/>
                    </a:cubicBezTo>
                    <a:lnTo>
                      <a:pt x="3524250" y="4457700"/>
                    </a:lnTo>
                    <a:cubicBezTo>
                      <a:pt x="3524250" y="4520826"/>
                      <a:pt x="3473076" y="4572000"/>
                      <a:pt x="340995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4333875" y="1619250"/>
                <a:ext cx="3524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76200">
                    <a:moveTo>
                      <a:pt x="38100" y="0"/>
                    </a:moveTo>
                    <a:lnTo>
                      <a:pt x="3486150" y="0"/>
                    </a:lnTo>
                    <a:cubicBezTo>
                      <a:pt x="3507192" y="0"/>
                      <a:pt x="3524250" y="17058"/>
                      <a:pt x="3524250" y="38100"/>
                    </a:cubicBezTo>
                    <a:lnTo>
                      <a:pt x="3524250" y="38100"/>
                    </a:lnTo>
                    <a:cubicBezTo>
                      <a:pt x="3524250" y="59142"/>
                      <a:pt x="3507192" y="76200"/>
                      <a:pt x="348615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4604385" y="1771650"/>
                <a:ext cx="1105814" cy="5867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300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-42%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4612005" y="2266950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2F855A"/>
                    </a:solidFill>
                    <a:latin typeface="+mn-lt"/>
                    <a:ea typeface="+mn-ea"/>
                    <a:cs typeface="+mn-cs"/>
                  </a:rPr>
                  <a:t>获客成本降低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4614291" y="2696528"/>
                <a:ext cx="100012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某金融科技公司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4614291" y="2934652"/>
                <a:ext cx="85450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CPA下降显著</a:t>
                </a: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4619625" y="333375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4614291" y="3506152"/>
                <a:ext cx="184823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利用预测模型锁定高意向人群</a:t>
                </a:r>
              </a:p>
            </p:txBody>
          </p:sp>
          <p:sp>
            <p:nvSpPr>
              <p:cNvPr id="27" name="Freeform 27"/>
              <p:cNvSpPr/>
              <p:nvPr/>
            </p:nvSpPr>
            <p:spPr>
              <a:xfrm>
                <a:off x="8096250" y="1619250"/>
                <a:ext cx="3524250" cy="457200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4572000">
                    <a:moveTo>
                      <a:pt x="114300" y="0"/>
                    </a:moveTo>
                    <a:lnTo>
                      <a:pt x="3409950" y="0"/>
                    </a:lnTo>
                    <a:cubicBezTo>
                      <a:pt x="3473076" y="0"/>
                      <a:pt x="3524250" y="51174"/>
                      <a:pt x="3524250" y="114300"/>
                    </a:cubicBezTo>
                    <a:lnTo>
                      <a:pt x="3524250" y="4457700"/>
                    </a:lnTo>
                    <a:cubicBezTo>
                      <a:pt x="3524250" y="4520826"/>
                      <a:pt x="3473076" y="4572000"/>
                      <a:pt x="3409950" y="4572000"/>
                    </a:cubicBezTo>
                    <a:lnTo>
                      <a:pt x="114300" y="4572000"/>
                    </a:lnTo>
                    <a:cubicBezTo>
                      <a:pt x="51174" y="4572000"/>
                      <a:pt x="0" y="4520826"/>
                      <a:pt x="0" y="4457700"/>
                    </a:cubicBezTo>
                    <a:lnTo>
                      <a:pt x="0" y="114300"/>
                    </a:lnTo>
                    <a:cubicBezTo>
                      <a:pt x="0" y="51174"/>
                      <a:pt x="51174" y="0"/>
                      <a:pt x="114300" y="0"/>
                    </a:cubicBezTo>
                    <a:close/>
                  </a:path>
                </a:pathLst>
              </a:custGeom>
              <a:solidFill>
                <a:schemeClr val="lt1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8096250" y="1619250"/>
                <a:ext cx="3524250" cy="76200"/>
              </a:xfrm>
              <a:custGeom>
                <a:avLst/>
                <a:gdLst/>
                <a:ahLst/>
                <a:cxnLst/>
                <a:rect l="l" t="t" r="r" b="b"/>
                <a:pathLst>
                  <a:path w="3524250" h="76200">
                    <a:moveTo>
                      <a:pt x="38100" y="0"/>
                    </a:moveTo>
                    <a:lnTo>
                      <a:pt x="3486150" y="0"/>
                    </a:lnTo>
                    <a:cubicBezTo>
                      <a:pt x="3507192" y="0"/>
                      <a:pt x="3524250" y="17058"/>
                      <a:pt x="3524250" y="38100"/>
                    </a:cubicBezTo>
                    <a:lnTo>
                      <a:pt x="3524250" y="38100"/>
                    </a:lnTo>
                    <a:cubicBezTo>
                      <a:pt x="3524250" y="59142"/>
                      <a:pt x="3507192" y="76200"/>
                      <a:pt x="3486150" y="76200"/>
                    </a:cubicBezTo>
                    <a:lnTo>
                      <a:pt x="38100" y="76200"/>
                    </a:lnTo>
                    <a:cubicBezTo>
                      <a:pt x="17058" y="76200"/>
                      <a:pt x="0" y="59142"/>
                      <a:pt x="0" y="38100"/>
                    </a:cubicBezTo>
                    <a:lnTo>
                      <a:pt x="0" y="38100"/>
                    </a:lnTo>
                    <a:cubicBezTo>
                      <a:pt x="0" y="17058"/>
                      <a:pt x="17058" y="0"/>
                      <a:pt x="3810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8369808" y="1836420"/>
                <a:ext cx="1691152" cy="46939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2400" b="1" dirty="0">
                    <a:solidFill>
                      <a:schemeClr val="accent1"/>
                    </a:solidFill>
                    <a:latin typeface="Georgia"/>
                    <a:ea typeface="SimSun"/>
                    <a:cs typeface="Georgia"/>
                  </a:rPr>
                  <a:t>7天→4小时</a:t>
                </a: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8374380" y="2266950"/>
                <a:ext cx="1287399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chemeClr val="accent1"/>
                    </a:solidFill>
                    <a:latin typeface="+mn-lt"/>
                    <a:ea typeface="+mn-ea"/>
                    <a:cs typeface="+mn-cs"/>
                  </a:rPr>
                  <a:t>上线周期压缩</a:t>
                </a: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8376666" y="2696528"/>
                <a:ext cx="717423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某零售集团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376666" y="2934652"/>
                <a:ext cx="1141476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accent5"/>
                    </a:solidFill>
                    <a:latin typeface="+mn-lt"/>
                    <a:ea typeface="+mn-ea"/>
                    <a:cs typeface="+mn-cs"/>
                  </a:rPr>
                  <a:t>响应速度大幅提升</a:t>
                </a:r>
              </a:p>
            </p:txBody>
          </p:sp>
          <p:sp>
            <p:nvSpPr>
              <p:cNvPr id="33" name="Line 33"/>
              <p:cNvSpPr/>
              <p:nvPr/>
            </p:nvSpPr>
            <p:spPr>
              <a:xfrm>
                <a:off x="8382000" y="3333750"/>
                <a:ext cx="2286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286000" h="9525">
                    <a:moveTo>
                      <a:pt x="0" y="0"/>
                    </a:moveTo>
                    <a:lnTo>
                      <a:pt x="2286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4" name="TextBox 34"/>
              <p:cNvSpPr txBox="1"/>
              <p:nvPr/>
            </p:nvSpPr>
            <p:spPr>
              <a:xfrm>
                <a:off x="8376666" y="3506152"/>
                <a:ext cx="2413635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实现营销活动自动化编排与多触达同步</a:t>
                </a:r>
              </a:p>
            </p:txBody>
          </p:sp>
        </p:grpSp>
      </p:grpSp>
      <p:grpSp>
        <p:nvGrpSpPr>
          <p:cNvPr id="40" name="Group 40"/>
          <p:cNvGrpSpPr/>
          <p:nvPr/>
        </p:nvGrpSpPr>
        <p:grpSpPr>
          <a:xfrm>
            <a:off x="1104900" y="1962150"/>
            <a:ext cx="7600950" cy="76200"/>
            <a:chOff x="1104900" y="1962150"/>
            <a:chExt cx="7600950" cy="76200"/>
          </a:xfrm>
        </p:grpSpPr>
        <p:sp>
          <p:nvSpPr>
            <p:cNvPr id="37" name="Ellipse 37"/>
            <p:cNvSpPr/>
            <p:nvPr/>
          </p:nvSpPr>
          <p:spPr>
            <a:xfrm>
              <a:off x="1104900" y="1962150"/>
              <a:ext cx="76200" cy="76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8" name="Ellipse 38"/>
            <p:cNvSpPr/>
            <p:nvPr/>
          </p:nvSpPr>
          <p:spPr>
            <a:xfrm>
              <a:off x="4867275" y="1962150"/>
              <a:ext cx="76200" cy="762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39" name="Ellipse 39"/>
            <p:cNvSpPr/>
            <p:nvPr/>
          </p:nvSpPr>
          <p:spPr>
            <a:xfrm>
              <a:off x="8629650" y="1962150"/>
              <a:ext cx="76200" cy="762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4000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sp>
        <p:nvSpPr>
          <p:cNvPr id="5" name="Rectangle 5"/>
          <p:cNvSpPr/>
          <p:nvPr/>
        </p:nvSpPr>
        <p:spPr>
          <a:xfrm>
            <a:off x="571500" y="476250"/>
            <a:ext cx="11049000" cy="95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</p:sp>
      <p:grpSp>
        <p:nvGrpSpPr>
          <p:cNvPr id="50" name="Group 50"/>
          <p:cNvGrpSpPr/>
          <p:nvPr/>
        </p:nvGrpSpPr>
        <p:grpSpPr>
          <a:xfrm>
            <a:off x="557784" y="760095"/>
            <a:ext cx="11062716" cy="5716905"/>
            <a:chOff x="557784" y="760095"/>
            <a:chExt cx="11062716" cy="5716905"/>
          </a:xfrm>
        </p:grpSpPr>
        <p:sp>
          <p:nvSpPr>
            <p:cNvPr id="6" name="TextBox 6"/>
            <p:cNvSpPr txBox="1"/>
            <p:nvPr/>
          </p:nvSpPr>
          <p:spPr>
            <a:xfrm>
              <a:off x="566738" y="760095"/>
              <a:ext cx="77762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90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SIGNALCOUNT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57784" y="1089660"/>
              <a:ext cx="2850185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性能与影响概览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64642" y="1616392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关键指标表明平台已具备规模部署条件。</a:t>
              </a:r>
            </a:p>
          </p:txBody>
        </p:sp>
        <p:grpSp>
          <p:nvGrpSpPr>
            <p:cNvPr id="45" name="Group 45"/>
            <p:cNvGrpSpPr/>
            <p:nvPr/>
          </p:nvGrpSpPr>
          <p:grpSpPr>
            <a:xfrm>
              <a:off x="571500" y="2190750"/>
              <a:ext cx="10668000" cy="3619500"/>
              <a:chOff x="571500" y="2190750"/>
              <a:chExt cx="10668000" cy="3619500"/>
            </a:xfrm>
          </p:grpSpPr>
          <p:grpSp>
            <p:nvGrpSpPr>
              <p:cNvPr id="17" name="Group 17"/>
              <p:cNvGrpSpPr/>
              <p:nvPr/>
            </p:nvGrpSpPr>
            <p:grpSpPr>
              <a:xfrm>
                <a:off x="571500" y="2190750"/>
                <a:ext cx="2524125" cy="3619500"/>
                <a:chOff x="571500" y="2190750"/>
                <a:chExt cx="2524125" cy="3619500"/>
              </a:xfrm>
            </p:grpSpPr>
            <p:sp>
              <p:nvSpPr>
                <p:cNvPr id="9" name="Freeform 9"/>
                <p:cNvSpPr/>
                <p:nvPr/>
              </p:nvSpPr>
              <p:spPr>
                <a:xfrm>
                  <a:off x="571500" y="2190750"/>
                  <a:ext cx="2524125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3619500">
                      <a:moveTo>
                        <a:pt x="114300" y="0"/>
                      </a:moveTo>
                      <a:lnTo>
                        <a:pt x="2409825" y="0"/>
                      </a:lnTo>
                      <a:cubicBezTo>
                        <a:pt x="2472951" y="0"/>
                        <a:pt x="2524125" y="51174"/>
                        <a:pt x="2524125" y="114300"/>
                      </a:cubicBezTo>
                      <a:lnTo>
                        <a:pt x="2524125" y="3505200"/>
                      </a:lnTo>
                      <a:cubicBezTo>
                        <a:pt x="2524125" y="3568326"/>
                        <a:pt x="2472951" y="3619500"/>
                        <a:pt x="2409825" y="3619500"/>
                      </a:cubicBezTo>
                      <a:lnTo>
                        <a:pt x="114300" y="3619500"/>
                      </a:lnTo>
                      <a:cubicBezTo>
                        <a:pt x="51174" y="3619500"/>
                        <a:pt x="0" y="3568326"/>
                        <a:pt x="0" y="3505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0" name="Freeform 10"/>
                <p:cNvSpPr/>
                <p:nvPr/>
              </p:nvSpPr>
              <p:spPr>
                <a:xfrm>
                  <a:off x="571500" y="2190750"/>
                  <a:ext cx="25241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57150">
                      <a:moveTo>
                        <a:pt x="28575" y="0"/>
                      </a:moveTo>
                      <a:lnTo>
                        <a:pt x="2495550" y="0"/>
                      </a:lnTo>
                      <a:cubicBezTo>
                        <a:pt x="2511332" y="0"/>
                        <a:pt x="2524125" y="12793"/>
                        <a:pt x="2524125" y="28575"/>
                      </a:cubicBezTo>
                      <a:lnTo>
                        <a:pt x="2524125" y="28575"/>
                      </a:lnTo>
                      <a:cubicBezTo>
                        <a:pt x="2524125" y="44357"/>
                        <a:pt x="2511332" y="57150"/>
                        <a:pt x="2495550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2F855A"/>
                    </a:gs>
                    <a:gs pos="100000">
                      <a:srgbClr val="276749"/>
                    </a:gs>
                  </a:gsLst>
                  <a:lin ang="5400000" scaled="1"/>
                </a:gradFill>
                <a:ln>
                  <a:noFill/>
                </a:ln>
              </p:spPr>
            </p:sp>
            <p:sp>
              <p:nvSpPr>
                <p:cNvPr id="11" name="Freeform 11"/>
                <p:cNvSpPr/>
                <p:nvPr/>
              </p:nvSpPr>
              <p:spPr>
                <a:xfrm>
                  <a:off x="571500" y="2190750"/>
                  <a:ext cx="2524125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3619500">
                      <a:moveTo>
                        <a:pt x="114300" y="0"/>
                      </a:moveTo>
                      <a:lnTo>
                        <a:pt x="2409825" y="0"/>
                      </a:lnTo>
                      <a:cubicBezTo>
                        <a:pt x="2472951" y="0"/>
                        <a:pt x="2524125" y="51174"/>
                        <a:pt x="2524125" y="114300"/>
                      </a:cubicBezTo>
                      <a:lnTo>
                        <a:pt x="2524125" y="3505200"/>
                      </a:lnTo>
                      <a:cubicBezTo>
                        <a:pt x="2524125" y="3568326"/>
                        <a:pt x="2472951" y="3619500"/>
                        <a:pt x="2409825" y="3619500"/>
                      </a:cubicBezTo>
                      <a:lnTo>
                        <a:pt x="114300" y="3619500"/>
                      </a:lnTo>
                      <a:cubicBezTo>
                        <a:pt x="51174" y="3619500"/>
                        <a:pt x="0" y="3568326"/>
                        <a:pt x="0" y="3505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2" name="TextBox 12"/>
                <p:cNvSpPr txBox="1"/>
                <p:nvPr/>
              </p:nvSpPr>
              <p:spPr>
                <a:xfrm>
                  <a:off x="1169030" y="2626995"/>
                  <a:ext cx="131954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3900" b="1" dirty="0">
                      <a:solidFill>
                        <a:srgbClr val="2F855A"/>
                      </a:solidFill>
                      <a:latin typeface="+mj-lt"/>
                      <a:ea typeface="+mj-ea"/>
                      <a:cs typeface="+mj-cs"/>
                    </a:rPr>
                    <a:t>120+</a:t>
                  </a:r>
                </a:p>
              </p:txBody>
            </p:sp>
            <p:sp>
              <p:nvSpPr>
                <p:cNvPr id="13" name="TextBox 13"/>
                <p:cNvSpPr txBox="1"/>
                <p:nvPr/>
              </p:nvSpPr>
              <p:spPr>
                <a:xfrm>
                  <a:off x="973074" y="3457575"/>
                  <a:ext cx="171145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预置数据源连接器</a:t>
                  </a:r>
                </a:p>
              </p:txBody>
            </p:sp>
            <p:sp>
              <p:nvSpPr>
                <p:cNvPr id="14" name="Line 14"/>
                <p:cNvSpPr/>
                <p:nvPr/>
              </p:nvSpPr>
              <p:spPr>
                <a:xfrm>
                  <a:off x="952500" y="3905250"/>
                  <a:ext cx="1752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600" h="9525">
                      <a:moveTo>
                        <a:pt x="0" y="0"/>
                      </a:moveTo>
                      <a:lnTo>
                        <a:pt x="17526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5" name="TextBox 15"/>
                <p:cNvSpPr txBox="1"/>
                <p:nvPr/>
              </p:nvSpPr>
              <p:spPr>
                <a:xfrm>
                  <a:off x="947166" y="4125278"/>
                  <a:ext cx="148178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主流CRM、电商、广告</a:t>
                  </a:r>
                </a:p>
              </p:txBody>
            </p:sp>
            <p:sp>
              <p:nvSpPr>
                <p:cNvPr id="16" name="TextBox 16"/>
                <p:cNvSpPr txBox="1"/>
                <p:nvPr/>
              </p:nvSpPr>
              <p:spPr>
                <a:xfrm>
                  <a:off x="947166" y="4334828"/>
                  <a:ext cx="717423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平台全覆盖</a:t>
                  </a:r>
                </a:p>
              </p:txBody>
            </p:sp>
          </p:grpSp>
          <p:grpSp>
            <p:nvGrpSpPr>
              <p:cNvPr id="26" name="Group 26"/>
              <p:cNvGrpSpPr/>
              <p:nvPr/>
            </p:nvGrpSpPr>
            <p:grpSpPr>
              <a:xfrm>
                <a:off x="3286125" y="2190750"/>
                <a:ext cx="2524125" cy="3619500"/>
                <a:chOff x="3286125" y="2190750"/>
                <a:chExt cx="2524125" cy="3619500"/>
              </a:xfrm>
            </p:grpSpPr>
            <p:sp>
              <p:nvSpPr>
                <p:cNvPr id="18" name="Freeform 18"/>
                <p:cNvSpPr/>
                <p:nvPr/>
              </p:nvSpPr>
              <p:spPr>
                <a:xfrm>
                  <a:off x="3286125" y="2190750"/>
                  <a:ext cx="2524125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3619500">
                      <a:moveTo>
                        <a:pt x="114300" y="0"/>
                      </a:moveTo>
                      <a:lnTo>
                        <a:pt x="2409825" y="0"/>
                      </a:lnTo>
                      <a:cubicBezTo>
                        <a:pt x="2472951" y="0"/>
                        <a:pt x="2524125" y="51174"/>
                        <a:pt x="2524125" y="114300"/>
                      </a:cubicBezTo>
                      <a:lnTo>
                        <a:pt x="2524125" y="3505200"/>
                      </a:lnTo>
                      <a:cubicBezTo>
                        <a:pt x="2524125" y="3568326"/>
                        <a:pt x="2472951" y="3619500"/>
                        <a:pt x="2409825" y="3619500"/>
                      </a:cubicBezTo>
                      <a:lnTo>
                        <a:pt x="114300" y="3619500"/>
                      </a:lnTo>
                      <a:cubicBezTo>
                        <a:pt x="51174" y="3619500"/>
                        <a:pt x="0" y="3568326"/>
                        <a:pt x="0" y="3505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19" name="Freeform 19"/>
                <p:cNvSpPr/>
                <p:nvPr/>
              </p:nvSpPr>
              <p:spPr>
                <a:xfrm>
                  <a:off x="3286125" y="2190750"/>
                  <a:ext cx="25241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57150">
                      <a:moveTo>
                        <a:pt x="28575" y="0"/>
                      </a:moveTo>
                      <a:lnTo>
                        <a:pt x="2495550" y="0"/>
                      </a:lnTo>
                      <a:cubicBezTo>
                        <a:pt x="2511332" y="0"/>
                        <a:pt x="2524125" y="12793"/>
                        <a:pt x="2524125" y="28575"/>
                      </a:cubicBezTo>
                      <a:lnTo>
                        <a:pt x="2524125" y="28575"/>
                      </a:lnTo>
                      <a:cubicBezTo>
                        <a:pt x="2524125" y="44357"/>
                        <a:pt x="2511332" y="57150"/>
                        <a:pt x="2495550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2"/>
                    </a:gs>
                    <a:gs pos="100000">
                      <a:srgbClr val="2B6CB0"/>
                    </a:gs>
                  </a:gsLst>
                  <a:lin ang="5400000" scaled="1"/>
                </a:gradFill>
                <a:ln>
                  <a:noFill/>
                </a:ln>
              </p:spPr>
            </p:sp>
            <p:sp>
              <p:nvSpPr>
                <p:cNvPr id="20" name="Freeform 20"/>
                <p:cNvSpPr/>
                <p:nvPr/>
              </p:nvSpPr>
              <p:spPr>
                <a:xfrm>
                  <a:off x="3286125" y="2190750"/>
                  <a:ext cx="2524125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3619500">
                      <a:moveTo>
                        <a:pt x="114300" y="0"/>
                      </a:moveTo>
                      <a:lnTo>
                        <a:pt x="2409825" y="0"/>
                      </a:lnTo>
                      <a:cubicBezTo>
                        <a:pt x="2472951" y="0"/>
                        <a:pt x="2524125" y="51174"/>
                        <a:pt x="2524125" y="114300"/>
                      </a:cubicBezTo>
                      <a:lnTo>
                        <a:pt x="2524125" y="3505200"/>
                      </a:lnTo>
                      <a:cubicBezTo>
                        <a:pt x="2524125" y="3568326"/>
                        <a:pt x="2472951" y="3619500"/>
                        <a:pt x="2409825" y="3619500"/>
                      </a:cubicBezTo>
                      <a:lnTo>
                        <a:pt x="114300" y="3619500"/>
                      </a:lnTo>
                      <a:cubicBezTo>
                        <a:pt x="51174" y="3619500"/>
                        <a:pt x="0" y="3568326"/>
                        <a:pt x="0" y="3505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1" name="TextBox 21"/>
                <p:cNvSpPr txBox="1"/>
                <p:nvPr/>
              </p:nvSpPr>
              <p:spPr>
                <a:xfrm>
                  <a:off x="3985588" y="2626995"/>
                  <a:ext cx="1115675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39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94%</a:t>
                  </a:r>
                </a:p>
              </p:txBody>
            </p:sp>
            <p:sp>
              <p:nvSpPr>
                <p:cNvPr id="22" name="TextBox 22"/>
                <p:cNvSpPr txBox="1"/>
                <p:nvPr/>
              </p:nvSpPr>
              <p:spPr>
                <a:xfrm>
                  <a:off x="3880523" y="3457575"/>
                  <a:ext cx="1325804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AI归因准确率</a:t>
                  </a:r>
                </a:p>
              </p:txBody>
            </p:sp>
            <p:sp>
              <p:nvSpPr>
                <p:cNvPr id="23" name="Line 23"/>
                <p:cNvSpPr/>
                <p:nvPr/>
              </p:nvSpPr>
              <p:spPr>
                <a:xfrm>
                  <a:off x="3667125" y="3905250"/>
                  <a:ext cx="1752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600" h="9525">
                      <a:moveTo>
                        <a:pt x="0" y="0"/>
                      </a:moveTo>
                      <a:lnTo>
                        <a:pt x="17526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4" name="TextBox 24"/>
                <p:cNvSpPr txBox="1"/>
                <p:nvPr/>
              </p:nvSpPr>
              <p:spPr>
                <a:xfrm>
                  <a:off x="3661791" y="41252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行为级多触点</a:t>
                  </a:r>
                </a:p>
              </p:txBody>
            </p:sp>
            <p:sp>
              <p:nvSpPr>
                <p:cNvPr id="25" name="TextBox 25"/>
                <p:cNvSpPr txBox="1"/>
                <p:nvPr/>
              </p:nvSpPr>
              <p:spPr>
                <a:xfrm>
                  <a:off x="3661791" y="4334828"/>
                  <a:ext cx="57607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归因模型</a:t>
                  </a:r>
                </a:p>
              </p:txBody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6000750" y="2190750"/>
                <a:ext cx="2524125" cy="3619500"/>
                <a:chOff x="6000750" y="2190750"/>
                <a:chExt cx="2524125" cy="3619500"/>
              </a:xfrm>
            </p:grpSpPr>
            <p:sp>
              <p:nvSpPr>
                <p:cNvPr id="27" name="Freeform 27"/>
                <p:cNvSpPr/>
                <p:nvPr/>
              </p:nvSpPr>
              <p:spPr>
                <a:xfrm>
                  <a:off x="6000750" y="2190750"/>
                  <a:ext cx="2524125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3619500">
                      <a:moveTo>
                        <a:pt x="114300" y="0"/>
                      </a:moveTo>
                      <a:lnTo>
                        <a:pt x="2409825" y="0"/>
                      </a:lnTo>
                      <a:cubicBezTo>
                        <a:pt x="2472951" y="0"/>
                        <a:pt x="2524125" y="51174"/>
                        <a:pt x="2524125" y="114300"/>
                      </a:cubicBezTo>
                      <a:lnTo>
                        <a:pt x="2524125" y="3505200"/>
                      </a:lnTo>
                      <a:cubicBezTo>
                        <a:pt x="2524125" y="3568326"/>
                        <a:pt x="2472951" y="3619500"/>
                        <a:pt x="2409825" y="3619500"/>
                      </a:cubicBezTo>
                      <a:lnTo>
                        <a:pt x="114300" y="3619500"/>
                      </a:lnTo>
                      <a:cubicBezTo>
                        <a:pt x="51174" y="3619500"/>
                        <a:pt x="0" y="3568326"/>
                        <a:pt x="0" y="3505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6000750" y="2190750"/>
                  <a:ext cx="25241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57150">
                      <a:moveTo>
                        <a:pt x="28575" y="0"/>
                      </a:moveTo>
                      <a:lnTo>
                        <a:pt x="2495550" y="0"/>
                      </a:lnTo>
                      <a:cubicBezTo>
                        <a:pt x="2511332" y="0"/>
                        <a:pt x="2524125" y="12793"/>
                        <a:pt x="2524125" y="28575"/>
                      </a:cubicBezTo>
                      <a:lnTo>
                        <a:pt x="2524125" y="28575"/>
                      </a:lnTo>
                      <a:cubicBezTo>
                        <a:pt x="2524125" y="44357"/>
                        <a:pt x="2511332" y="57150"/>
                        <a:pt x="2495550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1"/>
                    </a:gs>
                    <a:gs pos="100000">
                      <a:srgbClr val="2D3748"/>
                    </a:gs>
                  </a:gsLst>
                  <a:lin ang="5400000" scaled="1"/>
                </a:gradFill>
                <a:ln>
                  <a:noFill/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6000750" y="2190750"/>
                  <a:ext cx="2524125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3619500">
                      <a:moveTo>
                        <a:pt x="114300" y="0"/>
                      </a:moveTo>
                      <a:lnTo>
                        <a:pt x="2409825" y="0"/>
                      </a:lnTo>
                      <a:cubicBezTo>
                        <a:pt x="2472951" y="0"/>
                        <a:pt x="2524125" y="51174"/>
                        <a:pt x="2524125" y="114300"/>
                      </a:cubicBezTo>
                      <a:lnTo>
                        <a:pt x="2524125" y="3505200"/>
                      </a:lnTo>
                      <a:cubicBezTo>
                        <a:pt x="2524125" y="3568326"/>
                        <a:pt x="2472951" y="3619500"/>
                        <a:pt x="2409825" y="3619500"/>
                      </a:cubicBezTo>
                      <a:lnTo>
                        <a:pt x="114300" y="3619500"/>
                      </a:lnTo>
                      <a:cubicBezTo>
                        <a:pt x="51174" y="3619500"/>
                        <a:pt x="0" y="3568326"/>
                        <a:pt x="0" y="3505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0" name="TextBox 30"/>
                <p:cNvSpPr txBox="1"/>
                <p:nvPr/>
              </p:nvSpPr>
              <p:spPr>
                <a:xfrm>
                  <a:off x="6700213" y="2626995"/>
                  <a:ext cx="1115675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3900" b="1" dirty="0">
                      <a:solidFill>
                        <a:schemeClr val="accent1"/>
                      </a:solidFill>
                      <a:latin typeface="+mj-lt"/>
                      <a:ea typeface="+mj-ea"/>
                      <a:cs typeface="+mj-cs"/>
                    </a:rPr>
                    <a:t>85%</a:t>
                  </a:r>
                </a:p>
              </p:txBody>
            </p:sp>
            <p:sp>
              <p:nvSpPr>
                <p:cNvPr id="31" name="TextBox 31"/>
                <p:cNvSpPr txBox="1"/>
                <p:nvPr/>
              </p:nvSpPr>
              <p:spPr>
                <a:xfrm>
                  <a:off x="6402324" y="3457575"/>
                  <a:ext cx="1711452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自动化流程覆盖率</a:t>
                  </a:r>
                </a:p>
              </p:txBody>
            </p:sp>
            <p:sp>
              <p:nvSpPr>
                <p:cNvPr id="32" name="Line 32"/>
                <p:cNvSpPr/>
                <p:nvPr/>
              </p:nvSpPr>
              <p:spPr>
                <a:xfrm>
                  <a:off x="6381750" y="3905250"/>
                  <a:ext cx="1752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600" h="9525">
                      <a:moveTo>
                        <a:pt x="0" y="0"/>
                      </a:moveTo>
                      <a:lnTo>
                        <a:pt x="17526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3" name="TextBox 33"/>
                <p:cNvSpPr txBox="1"/>
                <p:nvPr/>
              </p:nvSpPr>
              <p:spPr>
                <a:xfrm>
                  <a:off x="6376416" y="4125278"/>
                  <a:ext cx="1451915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可触发A/B、重定向、</a:t>
                  </a:r>
                </a:p>
              </p:txBody>
            </p:sp>
            <p:sp>
              <p:nvSpPr>
                <p:cNvPr id="34" name="TextBox 34"/>
                <p:cNvSpPr txBox="1"/>
                <p:nvPr/>
              </p:nvSpPr>
              <p:spPr>
                <a:xfrm>
                  <a:off x="6376416" y="4334828"/>
                  <a:ext cx="95065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挽留等50+动作</a:t>
                  </a:r>
                </a:p>
              </p:txBody>
            </p:sp>
          </p:grpSp>
          <p:grpSp>
            <p:nvGrpSpPr>
              <p:cNvPr id="44" name="Group 44"/>
              <p:cNvGrpSpPr/>
              <p:nvPr/>
            </p:nvGrpSpPr>
            <p:grpSpPr>
              <a:xfrm>
                <a:off x="8715375" y="2190750"/>
                <a:ext cx="2524125" cy="3619500"/>
                <a:chOff x="8715375" y="2190750"/>
                <a:chExt cx="2524125" cy="361950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8715375" y="2190750"/>
                  <a:ext cx="2524125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3619500">
                      <a:moveTo>
                        <a:pt x="114300" y="0"/>
                      </a:moveTo>
                      <a:lnTo>
                        <a:pt x="2409825" y="0"/>
                      </a:lnTo>
                      <a:cubicBezTo>
                        <a:pt x="2472951" y="0"/>
                        <a:pt x="2524125" y="51174"/>
                        <a:pt x="2524125" y="114300"/>
                      </a:cubicBezTo>
                      <a:lnTo>
                        <a:pt x="2524125" y="3505200"/>
                      </a:lnTo>
                      <a:cubicBezTo>
                        <a:pt x="2524125" y="3568326"/>
                        <a:pt x="2472951" y="3619500"/>
                        <a:pt x="2409825" y="3619500"/>
                      </a:cubicBezTo>
                      <a:lnTo>
                        <a:pt x="114300" y="3619500"/>
                      </a:lnTo>
                      <a:cubicBezTo>
                        <a:pt x="51174" y="3619500"/>
                        <a:pt x="0" y="3568326"/>
                        <a:pt x="0" y="3505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7" name="Freeform 37"/>
                <p:cNvSpPr/>
                <p:nvPr/>
              </p:nvSpPr>
              <p:spPr>
                <a:xfrm>
                  <a:off x="8715375" y="2190750"/>
                  <a:ext cx="2524125" cy="571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57150">
                      <a:moveTo>
                        <a:pt x="28575" y="0"/>
                      </a:moveTo>
                      <a:lnTo>
                        <a:pt x="2495550" y="0"/>
                      </a:lnTo>
                      <a:cubicBezTo>
                        <a:pt x="2511332" y="0"/>
                        <a:pt x="2524125" y="12793"/>
                        <a:pt x="2524125" y="28575"/>
                      </a:cubicBezTo>
                      <a:lnTo>
                        <a:pt x="2524125" y="28575"/>
                      </a:lnTo>
                      <a:cubicBezTo>
                        <a:pt x="2524125" y="44357"/>
                        <a:pt x="2511332" y="57150"/>
                        <a:pt x="2495550" y="57150"/>
                      </a:cubicBezTo>
                      <a:lnTo>
                        <a:pt x="28575" y="57150"/>
                      </a:lnTo>
                      <a:cubicBezTo>
                        <a:pt x="12793" y="57150"/>
                        <a:pt x="0" y="44357"/>
                        <a:pt x="0" y="28575"/>
                      </a:cubicBezTo>
                      <a:lnTo>
                        <a:pt x="0" y="28575"/>
                      </a:lnTo>
                      <a:cubicBezTo>
                        <a:pt x="0" y="12793"/>
                        <a:pt x="12793" y="0"/>
                        <a:pt x="28575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chemeClr val="accent3"/>
                    </a:gs>
                    <a:gs pos="100000">
                      <a:schemeClr val="accent2"/>
                    </a:gs>
                  </a:gsLst>
                  <a:lin ang="5400000" scaled="1"/>
                </a:gradFill>
                <a:ln>
                  <a:noFill/>
                </a:ln>
              </p:spPr>
            </p:sp>
            <p:sp>
              <p:nvSpPr>
                <p:cNvPr id="38" name="Freeform 38"/>
                <p:cNvSpPr/>
                <p:nvPr/>
              </p:nvSpPr>
              <p:spPr>
                <a:xfrm>
                  <a:off x="8715375" y="2190750"/>
                  <a:ext cx="2524125" cy="36195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24125" h="3619500">
                      <a:moveTo>
                        <a:pt x="114300" y="0"/>
                      </a:moveTo>
                      <a:lnTo>
                        <a:pt x="2409825" y="0"/>
                      </a:lnTo>
                      <a:cubicBezTo>
                        <a:pt x="2472951" y="0"/>
                        <a:pt x="2524125" y="51174"/>
                        <a:pt x="2524125" y="114300"/>
                      </a:cubicBezTo>
                      <a:lnTo>
                        <a:pt x="2524125" y="3505200"/>
                      </a:lnTo>
                      <a:cubicBezTo>
                        <a:pt x="2524125" y="3568326"/>
                        <a:pt x="2472951" y="3619500"/>
                        <a:pt x="2409825" y="3619500"/>
                      </a:cubicBezTo>
                      <a:lnTo>
                        <a:pt x="114300" y="3619500"/>
                      </a:lnTo>
                      <a:cubicBezTo>
                        <a:pt x="51174" y="3619500"/>
                        <a:pt x="0" y="3568326"/>
                        <a:pt x="0" y="3505200"/>
                      </a:cubicBezTo>
                      <a:lnTo>
                        <a:pt x="0" y="114300"/>
                      </a:lnTo>
                      <a:cubicBezTo>
                        <a:pt x="0" y="51174"/>
                        <a:pt x="51174" y="0"/>
                        <a:pt x="114300" y="0"/>
                      </a:cubicBezTo>
                      <a:close/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39" name="TextBox 39"/>
                <p:cNvSpPr txBox="1"/>
                <p:nvPr/>
              </p:nvSpPr>
              <p:spPr>
                <a:xfrm>
                  <a:off x="9312905" y="2626995"/>
                  <a:ext cx="1319540" cy="76200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en-US" sz="3900" b="1" dirty="0">
                      <a:solidFill>
                        <a:schemeClr val="accent2"/>
                      </a:solidFill>
                      <a:latin typeface="+mj-lt"/>
                      <a:ea typeface="+mj-ea"/>
                      <a:cs typeface="+mj-cs"/>
                    </a:rPr>
                    <a:t>2.8×</a:t>
                  </a:r>
                </a:p>
              </p:txBody>
            </p:sp>
            <p:sp>
              <p:nvSpPr>
                <p:cNvPr id="40" name="TextBox 40"/>
                <p:cNvSpPr txBox="1"/>
                <p:nvPr/>
              </p:nvSpPr>
              <p:spPr>
                <a:xfrm>
                  <a:off x="8889721" y="3457575"/>
                  <a:ext cx="2165909" cy="293370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ctr"/>
                  <a:r>
                    <a:rPr lang="zh-CN" sz="1500" b="1" dirty="0">
                      <a:solidFill>
                        <a:schemeClr val="dk1"/>
                      </a:solidFill>
                      <a:latin typeface="+mn-lt"/>
                      <a:ea typeface="+mn-ea"/>
                      <a:cs typeface="+mn-cs"/>
                    </a:rPr>
                    <a:t>客户营销ROI平均提升</a:t>
                  </a:r>
                </a:p>
              </p:txBody>
            </p:sp>
            <p:sp>
              <p:nvSpPr>
                <p:cNvPr id="41" name="Line 41"/>
                <p:cNvSpPr/>
                <p:nvPr/>
              </p:nvSpPr>
              <p:spPr>
                <a:xfrm>
                  <a:off x="9096375" y="3905250"/>
                  <a:ext cx="1752600" cy="95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52600" h="9525">
                      <a:moveTo>
                        <a:pt x="0" y="0"/>
                      </a:moveTo>
                      <a:lnTo>
                        <a:pt x="1752600" y="0"/>
                      </a:lnTo>
                    </a:path>
                  </a:pathLst>
                </a:custGeom>
                <a:noFill/>
                <a:ln w="9525">
                  <a:solidFill>
                    <a:schemeClr val="accent4"/>
                  </a:solidFill>
                </a:ln>
              </p:spPr>
            </p:sp>
            <p:sp>
              <p:nvSpPr>
                <p:cNvPr id="42" name="TextBox 42"/>
                <p:cNvSpPr txBox="1"/>
                <p:nvPr/>
              </p:nvSpPr>
              <p:spPr>
                <a:xfrm>
                  <a:off x="9091041" y="4125278"/>
                  <a:ext cx="858774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同期行业平均</a:t>
                  </a:r>
                </a:p>
              </p:txBody>
            </p:sp>
            <p:sp>
              <p:nvSpPr>
                <p:cNvPr id="43" name="TextBox 43"/>
                <p:cNvSpPr txBox="1"/>
                <p:nvPr/>
              </p:nvSpPr>
              <p:spPr>
                <a:xfrm>
                  <a:off x="9091041" y="4334828"/>
                  <a:ext cx="604342" cy="205359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anchor="t" anchorCtr="0">
                  <a:spAutoFit/>
                </a:bodyPr>
                <a:lstStyle/>
                <a:p>
                  <a:pPr algn="l"/>
                  <a:r>
                    <a:rPr lang="zh-CN" sz="1050" dirty="0">
                      <a:solidFill>
                        <a:schemeClr val="dk2"/>
                      </a:solidFill>
                      <a:latin typeface="+mn-lt"/>
                      <a:ea typeface="+mn-ea"/>
                      <a:cs typeface="+mn-cs"/>
                    </a:rPr>
                    <a:t>提升1.2×</a:t>
                  </a:r>
                </a:p>
              </p:txBody>
            </p:sp>
          </p:grpSp>
        </p:grpSp>
        <p:grpSp>
          <p:nvGrpSpPr>
            <p:cNvPr id="49" name="Group 49"/>
            <p:cNvGrpSpPr/>
            <p:nvPr/>
          </p:nvGrpSpPr>
          <p:grpSpPr>
            <a:xfrm>
              <a:off x="571500" y="6096000"/>
              <a:ext cx="11049000" cy="381000"/>
              <a:chOff x="571500" y="6096000"/>
              <a:chExt cx="11049000" cy="381000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571500" y="6096000"/>
                <a:ext cx="11049000" cy="381000"/>
              </a:xfrm>
              <a:custGeom>
                <a:avLst/>
                <a:gdLst/>
                <a:ahLst/>
                <a:cxnLst/>
                <a:rect l="l" t="t" r="r" b="b"/>
                <a:pathLst>
                  <a:path w="11049000" h="381000">
                    <a:moveTo>
                      <a:pt x="57150" y="0"/>
                    </a:moveTo>
                    <a:lnTo>
                      <a:pt x="10991850" y="0"/>
                    </a:lnTo>
                    <a:cubicBezTo>
                      <a:pt x="11023413" y="0"/>
                      <a:pt x="11049000" y="25587"/>
                      <a:pt x="11049000" y="57150"/>
                    </a:cubicBezTo>
                    <a:lnTo>
                      <a:pt x="11049000" y="323850"/>
                    </a:lnTo>
                    <a:cubicBezTo>
                      <a:pt x="11049000" y="355413"/>
                      <a:pt x="11023413" y="381000"/>
                      <a:pt x="10991850" y="381000"/>
                    </a:cubicBezTo>
                    <a:lnTo>
                      <a:pt x="57150" y="381000"/>
                    </a:lnTo>
                    <a:cubicBezTo>
                      <a:pt x="25587" y="381000"/>
                      <a:pt x="0" y="355413"/>
                      <a:pt x="0" y="3238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</p:sp>
          <p:sp>
            <p:nvSpPr>
              <p:cNvPr id="47" name="Ellipse 47"/>
              <p:cNvSpPr/>
              <p:nvPr/>
            </p:nvSpPr>
            <p:spPr>
              <a:xfrm>
                <a:off x="762000" y="6238875"/>
                <a:ext cx="95250" cy="95250"/>
              </a:xfrm>
              <a:prstGeom prst="ellipse">
                <a:avLst/>
              </a:prstGeom>
              <a:solidFill>
                <a:srgbClr val="2F855A"/>
              </a:solidFill>
              <a:ln>
                <a:noFill/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947547" y="6228874"/>
                <a:ext cx="25477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ROI提升幅度远超行业基准：2.8× vs 1.2×</a:t>
                </a:r>
              </a:p>
            </p:txBody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3"/>
          <p:cNvGrpSpPr/>
          <p:nvPr/>
        </p:nvGrpSpPr>
        <p:grpSpPr>
          <a:xfrm>
            <a:off x="0" y="571500"/>
            <a:ext cx="12192000" cy="5724525"/>
            <a:chOff x="0" y="571500"/>
            <a:chExt cx="12192000" cy="5724525"/>
          </a:xfrm>
        </p:grpSpPr>
        <p:sp>
          <p:nvSpPr>
            <p:cNvPr id="2" name="Line 2"/>
            <p:cNvSpPr/>
            <p:nvPr/>
          </p:nvSpPr>
          <p:spPr>
            <a:xfrm>
              <a:off x="0" y="571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3" name="Line 3"/>
            <p:cNvSpPr/>
            <p:nvPr/>
          </p:nvSpPr>
          <p:spPr>
            <a:xfrm>
              <a:off x="0" y="1143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4" name="Line 4"/>
            <p:cNvSpPr/>
            <p:nvPr/>
          </p:nvSpPr>
          <p:spPr>
            <a:xfrm>
              <a:off x="0" y="1714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5" name="Line 5"/>
            <p:cNvSpPr/>
            <p:nvPr/>
          </p:nvSpPr>
          <p:spPr>
            <a:xfrm>
              <a:off x="0" y="2286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6" name="Line 6"/>
            <p:cNvSpPr/>
            <p:nvPr/>
          </p:nvSpPr>
          <p:spPr>
            <a:xfrm>
              <a:off x="0" y="2857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7" name="Line 7"/>
            <p:cNvSpPr/>
            <p:nvPr/>
          </p:nvSpPr>
          <p:spPr>
            <a:xfrm>
              <a:off x="0" y="3429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8" name="Line 8"/>
            <p:cNvSpPr/>
            <p:nvPr/>
          </p:nvSpPr>
          <p:spPr>
            <a:xfrm>
              <a:off x="0" y="4000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9" name="Line 9"/>
            <p:cNvSpPr/>
            <p:nvPr/>
          </p:nvSpPr>
          <p:spPr>
            <a:xfrm>
              <a:off x="0" y="4572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10" name="Line 10"/>
            <p:cNvSpPr/>
            <p:nvPr/>
          </p:nvSpPr>
          <p:spPr>
            <a:xfrm>
              <a:off x="0" y="5143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11" name="Line 11"/>
            <p:cNvSpPr/>
            <p:nvPr/>
          </p:nvSpPr>
          <p:spPr>
            <a:xfrm>
              <a:off x="0" y="57150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  <p:sp>
          <p:nvSpPr>
            <p:cNvPr id="12" name="Line 12"/>
            <p:cNvSpPr/>
            <p:nvPr/>
          </p:nvSpPr>
          <p:spPr>
            <a:xfrm>
              <a:off x="0" y="6286500"/>
              <a:ext cx="12192000" cy="9525"/>
            </a:xfrm>
            <a:custGeom>
              <a:avLst/>
              <a:gdLst/>
              <a:ahLst/>
              <a:cxnLst/>
              <a:rect l="l" t="t" r="r" b="b"/>
              <a:pathLst>
                <a:path w="12192000" h="9525">
                  <a:moveTo>
                    <a:pt x="0" y="0"/>
                  </a:moveTo>
                  <a:lnTo>
                    <a:pt x="12192000" y="0"/>
                  </a:lnTo>
                </a:path>
              </a:pathLst>
            </a:custGeom>
            <a:noFill/>
            <a:ln w="4762">
              <a:solidFill>
                <a:schemeClr val="accent4"/>
              </a:solidFill>
            </a:ln>
          </p:spPr>
        </p:sp>
      </p:grpSp>
      <p:grpSp>
        <p:nvGrpSpPr>
          <p:cNvPr id="17" name="Group 17"/>
          <p:cNvGrpSpPr/>
          <p:nvPr/>
        </p:nvGrpSpPr>
        <p:grpSpPr>
          <a:xfrm>
            <a:off x="557784" y="410528"/>
            <a:ext cx="11062716" cy="540448"/>
            <a:chOff x="557784" y="410528"/>
            <a:chExt cx="11062716" cy="540448"/>
          </a:xfrm>
        </p:grpSpPr>
        <p:sp>
          <p:nvSpPr>
            <p:cNvPr id="14" name="Line 14"/>
            <p:cNvSpPr/>
            <p:nvPr/>
          </p:nvSpPr>
          <p:spPr>
            <a:xfrm>
              <a:off x="571500" y="85725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566166" y="410528"/>
              <a:ext cx="98897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050" b="1" spc="150" dirty="0">
                  <a:solidFill>
                    <a:schemeClr val="accent2"/>
                  </a:solidFill>
                  <a:latin typeface="Consolas"/>
                  <a:ea typeface="Consolas"/>
                  <a:cs typeface="Consolas"/>
                </a:rPr>
                <a:t>SPREADMAP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557784" y="422910"/>
              <a:ext cx="5707502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典型营销活动ROI提升幅度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563880" y="1076325"/>
            <a:ext cx="11056620" cy="4505325"/>
            <a:chOff x="563880" y="1076325"/>
            <a:chExt cx="11056620" cy="4505325"/>
          </a:xfrm>
        </p:grpSpPr>
        <p:sp>
          <p:nvSpPr>
            <p:cNvPr id="18" name="TextBox 18"/>
            <p:cNvSpPr txBox="1"/>
            <p:nvPr/>
          </p:nvSpPr>
          <p:spPr>
            <a:xfrm>
              <a:off x="563880" y="1076325"/>
              <a:ext cx="314096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基于已部署客户的A/B测试数据。</a:t>
              </a:r>
            </a:p>
          </p:txBody>
        </p:sp>
        <p:sp>
          <p:nvSpPr>
            <p:cNvPr id="19" name="Freeform 19"/>
            <p:cNvSpPr/>
            <p:nvPr/>
          </p:nvSpPr>
          <p:spPr>
            <a:xfrm>
              <a:off x="571500" y="1524000"/>
              <a:ext cx="11049000" cy="4000500"/>
            </a:xfrm>
            <a:custGeom>
              <a:avLst/>
              <a:gdLst/>
              <a:ahLst/>
              <a:cxnLst/>
              <a:rect l="l" t="t" r="r" b="b"/>
              <a:pathLst>
                <a:path w="11049000" h="4000500">
                  <a:moveTo>
                    <a:pt x="114300" y="0"/>
                  </a:moveTo>
                  <a:lnTo>
                    <a:pt x="10934700" y="0"/>
                  </a:lnTo>
                  <a:cubicBezTo>
                    <a:pt x="10997826" y="0"/>
                    <a:pt x="11049000" y="51174"/>
                    <a:pt x="11049000" y="114300"/>
                  </a:cubicBezTo>
                  <a:lnTo>
                    <a:pt x="11049000" y="3886200"/>
                  </a:lnTo>
                  <a:cubicBezTo>
                    <a:pt x="11049000" y="3949326"/>
                    <a:pt x="10997826" y="4000500"/>
                    <a:pt x="10934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850392" y="1759268"/>
              <a:ext cx="114281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ROI提升指数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2667000" y="2381250"/>
              <a:ext cx="7810500" cy="2581275"/>
              <a:chOff x="2667000" y="2381250"/>
              <a:chExt cx="7810500" cy="2581275"/>
            </a:xfrm>
          </p:grpSpPr>
          <p:sp>
            <p:nvSpPr>
              <p:cNvPr id="21" name="Line 21"/>
              <p:cNvSpPr/>
              <p:nvPr/>
            </p:nvSpPr>
            <p:spPr>
              <a:xfrm>
                <a:off x="2667000" y="2381250"/>
                <a:ext cx="781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10500" h="9525">
                    <a:moveTo>
                      <a:pt x="0" y="0"/>
                    </a:moveTo>
                    <a:lnTo>
                      <a:pt x="7810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2667000" y="3238500"/>
                <a:ext cx="781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10500" h="9525">
                    <a:moveTo>
                      <a:pt x="0" y="0"/>
                    </a:moveTo>
                    <a:lnTo>
                      <a:pt x="7810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2667000" y="4095750"/>
                <a:ext cx="781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10500" h="9525">
                    <a:moveTo>
                      <a:pt x="0" y="0"/>
                    </a:moveTo>
                    <a:lnTo>
                      <a:pt x="7810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  <p:sp>
            <p:nvSpPr>
              <p:cNvPr id="24" name="Line 24"/>
              <p:cNvSpPr/>
              <p:nvPr/>
            </p:nvSpPr>
            <p:spPr>
              <a:xfrm>
                <a:off x="2667000" y="4953000"/>
                <a:ext cx="7810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810500" h="9525">
                    <a:moveTo>
                      <a:pt x="0" y="0"/>
                    </a:moveTo>
                    <a:lnTo>
                      <a:pt x="78105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  <a:prstDash val="dash"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237937" y="2315528"/>
              <a:ext cx="243897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100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2315680" y="31727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75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2315680" y="403002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50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2315680" y="4887278"/>
              <a:ext cx="166154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10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25</a:t>
              </a:r>
            </a:p>
          </p:txBody>
        </p:sp>
        <p:grpSp>
          <p:nvGrpSpPr>
            <p:cNvPr id="33" name="Group 33"/>
            <p:cNvGrpSpPr/>
            <p:nvPr/>
          </p:nvGrpSpPr>
          <p:grpSpPr>
            <a:xfrm>
              <a:off x="2762250" y="2381250"/>
              <a:ext cx="7626553" cy="430339"/>
              <a:chOff x="2762250" y="2381250"/>
              <a:chExt cx="7626553" cy="430339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2762250" y="2381250"/>
                <a:ext cx="544830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5448300" h="419100">
                    <a:moveTo>
                      <a:pt x="57150" y="0"/>
                    </a:moveTo>
                    <a:lnTo>
                      <a:pt x="5391150" y="0"/>
                    </a:lnTo>
                    <a:cubicBezTo>
                      <a:pt x="5422713" y="0"/>
                      <a:pt x="5448300" y="25587"/>
                      <a:pt x="5448300" y="57150"/>
                    </a:cubicBezTo>
                    <a:lnTo>
                      <a:pt x="5448300" y="361950"/>
                    </a:lnTo>
                    <a:cubicBezTo>
                      <a:pt x="5448300" y="393513"/>
                      <a:pt x="5422713" y="419100"/>
                      <a:pt x="5391150" y="419100"/>
                    </a:cubicBezTo>
                    <a:lnTo>
                      <a:pt x="57150" y="419100"/>
                    </a:lnTo>
                    <a:cubicBezTo>
                      <a:pt x="25587" y="419100"/>
                      <a:pt x="0" y="393513"/>
                      <a:pt x="0" y="3619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8297418" y="2488882"/>
                <a:ext cx="4726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88%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8757666" y="2553652"/>
                <a:ext cx="1631137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AI动态出价与关键词优化</a:t>
                </a:r>
              </a:p>
            </p:txBody>
          </p:sp>
        </p:grpSp>
        <p:grpSp>
          <p:nvGrpSpPr>
            <p:cNvPr id="37" name="Group 37"/>
            <p:cNvGrpSpPr/>
            <p:nvPr/>
          </p:nvGrpSpPr>
          <p:grpSpPr>
            <a:xfrm>
              <a:off x="2762250" y="3238500"/>
              <a:ext cx="7702296" cy="430339"/>
              <a:chOff x="2762250" y="3238500"/>
              <a:chExt cx="7702296" cy="430339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2762250" y="3238500"/>
                <a:ext cx="458152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4581525" h="419100">
                    <a:moveTo>
                      <a:pt x="57150" y="0"/>
                    </a:moveTo>
                    <a:lnTo>
                      <a:pt x="4524375" y="0"/>
                    </a:lnTo>
                    <a:cubicBezTo>
                      <a:pt x="4555938" y="0"/>
                      <a:pt x="4581525" y="25587"/>
                      <a:pt x="4581525" y="57150"/>
                    </a:cubicBezTo>
                    <a:lnTo>
                      <a:pt x="4581525" y="361950"/>
                    </a:lnTo>
                    <a:cubicBezTo>
                      <a:pt x="4581525" y="393513"/>
                      <a:pt x="4555938" y="419100"/>
                      <a:pt x="4524375" y="419100"/>
                    </a:cubicBezTo>
                    <a:lnTo>
                      <a:pt x="57150" y="419100"/>
                    </a:lnTo>
                    <a:cubicBezTo>
                      <a:pt x="25587" y="419100"/>
                      <a:pt x="0" y="393513"/>
                      <a:pt x="0" y="3619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2">
                  <a:alpha val="85000"/>
                </a:schemeClr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7430643" y="3346132"/>
                <a:ext cx="4726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74%</a:t>
                </a:r>
              </a:p>
            </p:txBody>
          </p:sp>
          <p:sp>
            <p:nvSpPr>
              <p:cNvPr id="36" name="TextBox 36"/>
              <p:cNvSpPr txBox="1"/>
              <p:nvPr/>
            </p:nvSpPr>
            <p:spPr>
              <a:xfrm>
                <a:off x="8757666" y="3410902"/>
                <a:ext cx="1706880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预测受众分群与创意自适应</a:t>
                </a:r>
              </a:p>
            </p:txBody>
          </p:sp>
        </p:grpSp>
        <p:grpSp>
          <p:nvGrpSpPr>
            <p:cNvPr id="41" name="Group 41"/>
            <p:cNvGrpSpPr/>
            <p:nvPr/>
          </p:nvGrpSpPr>
          <p:grpSpPr>
            <a:xfrm>
              <a:off x="2762250" y="4095750"/>
              <a:ext cx="7419594" cy="430339"/>
              <a:chOff x="2762250" y="4095750"/>
              <a:chExt cx="7419594" cy="430339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2762250" y="4095750"/>
                <a:ext cx="3714750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3714750" h="419100">
                    <a:moveTo>
                      <a:pt x="57150" y="0"/>
                    </a:moveTo>
                    <a:lnTo>
                      <a:pt x="3657600" y="0"/>
                    </a:lnTo>
                    <a:cubicBezTo>
                      <a:pt x="3689163" y="0"/>
                      <a:pt x="3714750" y="25587"/>
                      <a:pt x="3714750" y="57150"/>
                    </a:cubicBezTo>
                    <a:lnTo>
                      <a:pt x="3714750" y="361950"/>
                    </a:lnTo>
                    <a:cubicBezTo>
                      <a:pt x="3714750" y="393513"/>
                      <a:pt x="3689163" y="419100"/>
                      <a:pt x="3657600" y="419100"/>
                    </a:cubicBezTo>
                    <a:lnTo>
                      <a:pt x="57150" y="419100"/>
                    </a:lnTo>
                    <a:cubicBezTo>
                      <a:pt x="25587" y="419100"/>
                      <a:pt x="0" y="393513"/>
                      <a:pt x="0" y="3619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2">
                  <a:alpha val="70000"/>
                </a:schemeClr>
              </a:solidFill>
              <a:ln>
                <a:noFill/>
              </a:ln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6563868" y="4203382"/>
                <a:ext cx="4726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60%</a:t>
                </a: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8757666" y="426815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个性化时机与内容推荐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2762250" y="4953000"/>
              <a:ext cx="7419594" cy="430339"/>
              <a:chOff x="2762250" y="4953000"/>
              <a:chExt cx="7419594" cy="430339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2762250" y="4953000"/>
                <a:ext cx="2847975" cy="419100"/>
              </a:xfrm>
              <a:custGeom>
                <a:avLst/>
                <a:gdLst/>
                <a:ahLst/>
                <a:cxnLst/>
                <a:rect l="l" t="t" r="r" b="b"/>
                <a:pathLst>
                  <a:path w="2847975" h="419100">
                    <a:moveTo>
                      <a:pt x="57150" y="0"/>
                    </a:moveTo>
                    <a:lnTo>
                      <a:pt x="2790825" y="0"/>
                    </a:lnTo>
                    <a:cubicBezTo>
                      <a:pt x="2822388" y="0"/>
                      <a:pt x="2847975" y="25587"/>
                      <a:pt x="2847975" y="57150"/>
                    </a:cubicBezTo>
                    <a:lnTo>
                      <a:pt x="2847975" y="361950"/>
                    </a:lnTo>
                    <a:cubicBezTo>
                      <a:pt x="2847975" y="393513"/>
                      <a:pt x="2822388" y="419100"/>
                      <a:pt x="2790825" y="419100"/>
                    </a:cubicBezTo>
                    <a:lnTo>
                      <a:pt x="57150" y="419100"/>
                    </a:lnTo>
                    <a:cubicBezTo>
                      <a:pt x="25587" y="419100"/>
                      <a:pt x="0" y="393513"/>
                      <a:pt x="0" y="3619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chemeClr val="accent2">
                  <a:alpha val="55000"/>
                </a:schemeClr>
              </a:solidFill>
              <a:ln>
                <a:noFill/>
              </a:ln>
            </p:spPr>
          </p:sp>
          <p:sp>
            <p:nvSpPr>
              <p:cNvPr id="43" name="TextBox 43"/>
              <p:cNvSpPr txBox="1"/>
              <p:nvPr/>
            </p:nvSpPr>
            <p:spPr>
              <a:xfrm>
                <a:off x="5697093" y="5060632"/>
                <a:ext cx="472661" cy="32270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650" b="1" dirty="0">
                    <a:solidFill>
                      <a:schemeClr val="accent1"/>
                    </a:solidFill>
                    <a:latin typeface="Georgia"/>
                    <a:ea typeface="Georgia"/>
                    <a:cs typeface="Georgia"/>
                  </a:rPr>
                  <a:t>46%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8757666" y="5125402"/>
                <a:ext cx="142417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触发式沟通与频次优化</a:t>
                </a:r>
              </a:p>
            </p:txBody>
          </p:sp>
        </p:grpSp>
        <p:sp>
          <p:nvSpPr>
            <p:cNvPr id="46" name="Line 46"/>
            <p:cNvSpPr/>
            <p:nvPr/>
          </p:nvSpPr>
          <p:spPr>
            <a:xfrm>
              <a:off x="2667000" y="5572125"/>
              <a:ext cx="7810500" cy="9525"/>
            </a:xfrm>
            <a:custGeom>
              <a:avLst/>
              <a:gdLst/>
              <a:ahLst/>
              <a:cxnLst/>
              <a:rect l="l" t="t" r="r" b="b"/>
              <a:pathLst>
                <a:path w="7810500" h="9525">
                  <a:moveTo>
                    <a:pt x="0" y="0"/>
                  </a:moveTo>
                  <a:lnTo>
                    <a:pt x="7810500" y="0"/>
                  </a:lnTo>
                </a:path>
              </a:pathLst>
            </a:custGeom>
            <a:noFill/>
            <a:ln w="14288">
              <a:solidFill>
                <a:schemeClr val="accent1"/>
              </a:solidFill>
            </a:ln>
          </p:spPr>
        </p:sp>
      </p:grpSp>
      <p:grpSp>
        <p:nvGrpSpPr>
          <p:cNvPr id="51" name="Group 51"/>
          <p:cNvGrpSpPr/>
          <p:nvPr/>
        </p:nvGrpSpPr>
        <p:grpSpPr>
          <a:xfrm>
            <a:off x="7847343" y="2141220"/>
            <a:ext cx="726415" cy="487680"/>
            <a:chOff x="7847343" y="2141220"/>
            <a:chExt cx="726415" cy="487680"/>
          </a:xfrm>
        </p:grpSpPr>
        <p:sp>
          <p:nvSpPr>
            <p:cNvPr id="48" name="Ellipse 48"/>
            <p:cNvSpPr/>
            <p:nvPr/>
          </p:nvSpPr>
          <p:spPr>
            <a:xfrm>
              <a:off x="8172450" y="2552700"/>
              <a:ext cx="76200" cy="76200"/>
            </a:xfrm>
            <a:prstGeom prst="ellipse">
              <a:avLst/>
            </a:prstGeom>
            <a:solidFill>
              <a:srgbClr val="2F855A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847343" y="2141220"/>
              <a:ext cx="72641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dirty="0">
                  <a:solidFill>
                    <a:srgbClr val="2F855A"/>
                  </a:solidFill>
                  <a:latin typeface="+mn-lt"/>
                  <a:ea typeface="+mn-ea"/>
                  <a:cs typeface="+mn-cs"/>
                </a:rPr>
                <a:t>最高ROI提升</a:t>
              </a:r>
            </a:p>
          </p:txBody>
        </p:sp>
        <p:sp>
          <p:nvSpPr>
            <p:cNvPr id="50" name="Line 50"/>
            <p:cNvSpPr/>
            <p:nvPr/>
          </p:nvSpPr>
          <p:spPr>
            <a:xfrm>
              <a:off x="8210550" y="2266950"/>
              <a:ext cx="9525" cy="95250"/>
            </a:xfrm>
            <a:custGeom>
              <a:avLst/>
              <a:gdLst/>
              <a:ahLst/>
              <a:cxnLst/>
              <a:rect l="l" t="t" r="r" b="b"/>
              <a:pathLst>
                <a:path w="9525" h="95250">
                  <a:moveTo>
                    <a:pt x="0" y="0"/>
                  </a:moveTo>
                  <a:lnTo>
                    <a:pt x="0" y="95250"/>
                  </a:lnTo>
                </a:path>
              </a:pathLst>
            </a:custGeom>
            <a:noFill/>
            <a:ln w="9525">
              <a:solidFill>
                <a:srgbClr val="2F855A"/>
              </a:solidFill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566738" y="6477000"/>
            <a:ext cx="11058525" cy="310991"/>
            <a:chOff x="566738" y="6477000"/>
            <a:chExt cx="11058525" cy="310991"/>
          </a:xfrm>
        </p:grpSpPr>
        <p:sp>
          <p:nvSpPr>
            <p:cNvPr id="52" name="Line 52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566738" y="6626066"/>
              <a:ext cx="131693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07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624147" y="662606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</p:grpSp>
      <p:sp>
        <p:nvSpPr>
          <p:cNvPr id="56" name="Rectangle 56"/>
          <p:cNvSpPr/>
          <p:nvPr/>
        </p:nvSpPr>
        <p:spPr>
          <a:xfrm>
            <a:off x="11239500" y="0"/>
            <a:ext cx="952500" cy="762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  <p:sp>
        <p:nvSpPr>
          <p:cNvPr id="57" name="Rectangle 57"/>
          <p:cNvSpPr/>
          <p:nvPr/>
        </p:nvSpPr>
        <p:spPr>
          <a:xfrm>
            <a:off x="12115800" y="0"/>
            <a:ext cx="76200" cy="952500"/>
          </a:xfrm>
          <a:prstGeom prst="rect">
            <a:avLst/>
          </a:prstGeom>
          <a:solidFill>
            <a:schemeClr val="accent2">
              <a:alpha val="30000"/>
            </a:schemeClr>
          </a:solidFill>
          <a:ln>
            <a:noFill/>
          </a:ln>
        </p:spPr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chemeClr val="accent2">
                    <a:alpha val="449"/>
                  </a:schemeClr>
                </a:gs>
                <a:gs pos="100000">
                  <a:schemeClr val="accent2">
                    <a:alpha val="0"/>
                  </a:schemeClr>
                </a:gs>
              </a:gsLst>
              <a:path path="circle">
                <a:fillToRect l="50000" t="50000" r="50000" b="50000"/>
              </a:path>
            </a:gra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57784" y="390049"/>
            <a:ext cx="4605985" cy="1122521"/>
            <a:chOff x="557784" y="390049"/>
            <a:chExt cx="4605985" cy="1122521"/>
          </a:xfrm>
        </p:grpSpPr>
        <p:sp>
          <p:nvSpPr>
            <p:cNvPr id="5" name="TextBox 5"/>
            <p:cNvSpPr txBox="1"/>
            <p:nvPr/>
          </p:nvSpPr>
          <p:spPr>
            <a:xfrm>
              <a:off x="566547" y="390049"/>
              <a:ext cx="591464" cy="19069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b="1" spc="75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推进序列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57784" y="613410"/>
              <a:ext cx="4463186" cy="52806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700" b="1" dirty="0">
                  <a:solidFill>
                    <a:schemeClr val="accent1"/>
                  </a:solidFill>
                  <a:latin typeface="+mj-lt"/>
                  <a:ea typeface="+mj-ea"/>
                  <a:cs typeface="+mj-cs"/>
                </a:rPr>
                <a:t>建议启动路径与风险提示</a:t>
              </a:r>
            </a:p>
          </p:txBody>
        </p:sp>
        <p:sp>
          <p:nvSpPr>
            <p:cNvPr id="7" name="Line 7"/>
            <p:cNvSpPr/>
            <p:nvPr/>
          </p:nvSpPr>
          <p:spPr>
            <a:xfrm>
              <a:off x="571500" y="1095375"/>
              <a:ext cx="1524000" cy="9525"/>
            </a:xfrm>
            <a:custGeom>
              <a:avLst/>
              <a:gdLst/>
              <a:ahLst/>
              <a:cxnLst/>
              <a:rect l="l" t="t" r="r" b="b"/>
              <a:pathLst>
                <a:path w="1524000" h="9525">
                  <a:moveTo>
                    <a:pt x="0" y="0"/>
                  </a:moveTo>
                  <a:lnTo>
                    <a:pt x="1524000" y="0"/>
                  </a:lnTo>
                </a:path>
              </a:pathLst>
            </a:custGeom>
            <a:noFill/>
            <a:ln w="19050">
              <a:solidFill>
                <a:schemeClr val="accent2"/>
              </a:solidFill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563880" y="1219200"/>
              <a:ext cx="459988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30天Pilot可验证核心能力，90天实现全渠道覆盖。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571500" y="2933700"/>
            <a:ext cx="10668000" cy="2447925"/>
            <a:chOff x="571500" y="2933700"/>
            <a:chExt cx="10668000" cy="2447925"/>
          </a:xfrm>
        </p:grpSpPr>
        <p:sp>
          <p:nvSpPr>
            <p:cNvPr id="10" name="Line 10"/>
            <p:cNvSpPr/>
            <p:nvPr/>
          </p:nvSpPr>
          <p:spPr>
            <a:xfrm>
              <a:off x="952500" y="3238500"/>
              <a:ext cx="10287000" cy="9525"/>
            </a:xfrm>
            <a:custGeom>
              <a:avLst/>
              <a:gdLst/>
              <a:ahLst/>
              <a:cxnLst/>
              <a:rect l="l" t="t" r="r" b="b"/>
              <a:pathLst>
                <a:path w="10287000" h="9525">
                  <a:moveTo>
                    <a:pt x="0" y="0"/>
                  </a:moveTo>
                  <a:lnTo>
                    <a:pt x="10287000" y="0"/>
                  </a:lnTo>
                </a:path>
              </a:pathLst>
            </a:custGeom>
            <a:noFill/>
            <a:ln w="19050">
              <a:solidFill>
                <a:schemeClr val="accent4"/>
              </a:solidFill>
              <a:prstDash val="lgDash"/>
            </a:ln>
          </p:spPr>
        </p:sp>
        <p:grpSp>
          <p:nvGrpSpPr>
            <p:cNvPr id="22" name="Group 22"/>
            <p:cNvGrpSpPr/>
            <p:nvPr/>
          </p:nvGrpSpPr>
          <p:grpSpPr>
            <a:xfrm>
              <a:off x="571500" y="3009900"/>
              <a:ext cx="1524000" cy="2371725"/>
              <a:chOff x="571500" y="3009900"/>
              <a:chExt cx="1524000" cy="2371725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1104900" y="3009900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1287351" y="31823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0</a:t>
                </a:r>
              </a:p>
            </p:txBody>
          </p:sp>
          <p:sp>
            <p:nvSpPr>
              <p:cNvPr id="13" name="Freeform 13"/>
              <p:cNvSpPr/>
              <p:nvPr/>
            </p:nvSpPr>
            <p:spPr>
              <a:xfrm>
                <a:off x="571500" y="3667125"/>
                <a:ext cx="15240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714500">
                    <a:moveTo>
                      <a:pt x="76200" y="0"/>
                    </a:moveTo>
                    <a:lnTo>
                      <a:pt x="1447800" y="0"/>
                    </a:lnTo>
                    <a:cubicBezTo>
                      <a:pt x="1489884" y="0"/>
                      <a:pt x="1524000" y="34116"/>
                      <a:pt x="1524000" y="76200"/>
                    </a:cubicBezTo>
                    <a:lnTo>
                      <a:pt x="1524000" y="1638300"/>
                    </a:lnTo>
                    <a:cubicBezTo>
                      <a:pt x="1524000" y="1680384"/>
                      <a:pt x="1489884" y="1714500"/>
                      <a:pt x="1447800" y="1714500"/>
                    </a:cubicBezTo>
                    <a:lnTo>
                      <a:pt x="76200" y="1714500"/>
                    </a:lnTo>
                    <a:cubicBezTo>
                      <a:pt x="34116" y="1714500"/>
                      <a:pt x="0" y="1680384"/>
                      <a:pt x="0" y="1638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073334" y="3868102"/>
                <a:ext cx="5203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WEEK 0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791337" y="4090035"/>
                <a:ext cx="1084326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签署Pilot协议</a:t>
                </a:r>
              </a:p>
            </p:txBody>
          </p:sp>
          <p:sp>
            <p:nvSpPr>
              <p:cNvPr id="16" name="Line 16"/>
              <p:cNvSpPr/>
              <p:nvPr/>
            </p:nvSpPr>
            <p:spPr>
              <a:xfrm>
                <a:off x="762000" y="4362450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757047" y="4495324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指定业务范围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757047" y="4666774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（电商转化或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757047" y="481917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留资优化）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757047" y="4990624"/>
                <a:ext cx="62023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对接2-3个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757047" y="5143024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核心数据源</a:t>
                </a:r>
              </a:p>
            </p:txBody>
          </p:sp>
        </p:grpSp>
        <p:sp>
          <p:nvSpPr>
            <p:cNvPr id="23" name="Line 23"/>
            <p:cNvSpPr/>
            <p:nvPr/>
          </p:nvSpPr>
          <p:spPr>
            <a:xfrm>
              <a:off x="1562100" y="3238500"/>
              <a:ext cx="1295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35" name="Group 35"/>
            <p:cNvGrpSpPr/>
            <p:nvPr/>
          </p:nvGrpSpPr>
          <p:grpSpPr>
            <a:xfrm>
              <a:off x="3429000" y="3009900"/>
              <a:ext cx="1524000" cy="2371725"/>
              <a:chOff x="3429000" y="3009900"/>
              <a:chExt cx="1524000" cy="2371725"/>
            </a:xfrm>
          </p:grpSpPr>
          <p:sp>
            <p:nvSpPr>
              <p:cNvPr id="24" name="Ellipse 24"/>
              <p:cNvSpPr/>
              <p:nvPr/>
            </p:nvSpPr>
            <p:spPr>
              <a:xfrm>
                <a:off x="3962400" y="3009900"/>
                <a:ext cx="457200" cy="4572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4144851" y="31823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2</a:t>
                </a:r>
              </a:p>
            </p:txBody>
          </p:sp>
          <p:sp>
            <p:nvSpPr>
              <p:cNvPr id="26" name="Freeform 26"/>
              <p:cNvSpPr/>
              <p:nvPr/>
            </p:nvSpPr>
            <p:spPr>
              <a:xfrm>
                <a:off x="3429000" y="3667125"/>
                <a:ext cx="15240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714500">
                    <a:moveTo>
                      <a:pt x="76200" y="0"/>
                    </a:moveTo>
                    <a:lnTo>
                      <a:pt x="1447800" y="0"/>
                    </a:lnTo>
                    <a:cubicBezTo>
                      <a:pt x="1489884" y="0"/>
                      <a:pt x="1524000" y="34116"/>
                      <a:pt x="1524000" y="76200"/>
                    </a:cubicBezTo>
                    <a:lnTo>
                      <a:pt x="1524000" y="1638300"/>
                    </a:lnTo>
                    <a:cubicBezTo>
                      <a:pt x="1524000" y="1680384"/>
                      <a:pt x="1489884" y="1714500"/>
                      <a:pt x="1447800" y="1714500"/>
                    </a:cubicBezTo>
                    <a:lnTo>
                      <a:pt x="76200" y="1714500"/>
                    </a:lnTo>
                    <a:cubicBezTo>
                      <a:pt x="34116" y="1714500"/>
                      <a:pt x="0" y="1680384"/>
                      <a:pt x="0" y="1638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lt2"/>
              </a:solidFill>
              <a:ln w="9525">
                <a:solidFill>
                  <a:schemeClr val="accent4"/>
                </a:solidFill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3930834" y="3868102"/>
                <a:ext cx="5203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1"/>
                    </a:solidFill>
                    <a:latin typeface="Consolas"/>
                    <a:ea typeface="Consolas"/>
                    <a:cs typeface="Consolas"/>
                  </a:rPr>
                  <a:t>WEEK 2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3760851" y="4090035"/>
                <a:ext cx="860298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平台交付与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3845662" y="42710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模型训练</a:t>
                </a: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3619500" y="4543425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9525">
                <a:solidFill>
                  <a:schemeClr val="accent4"/>
                </a:solidFill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3614547" y="4676299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预置连接器</a:t>
                </a: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3614547" y="484774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即插即用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3614547" y="5019199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自动化归因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3614547" y="517159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模型训练</a:t>
                </a:r>
              </a:p>
            </p:txBody>
          </p:sp>
        </p:grpSp>
        <p:sp>
          <p:nvSpPr>
            <p:cNvPr id="36" name="Line 36"/>
            <p:cNvSpPr/>
            <p:nvPr/>
          </p:nvSpPr>
          <p:spPr>
            <a:xfrm>
              <a:off x="4419600" y="3238500"/>
              <a:ext cx="1295400" cy="1"/>
            </a:xfrm>
            <a:prstGeom prst="line">
              <a:avLst/>
            </a:prstGeom>
            <a:noFill/>
            <a:ln w="19050">
              <a:solidFill>
                <a:schemeClr val="accent2"/>
              </a:solidFill>
              <a:tailEnd type="triangle" w="lg" len="lg"/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6286500" y="3009900"/>
              <a:ext cx="1524000" cy="2371725"/>
              <a:chOff x="6286500" y="3009900"/>
              <a:chExt cx="1524000" cy="2371725"/>
            </a:xfrm>
          </p:grpSpPr>
          <p:sp>
            <p:nvSpPr>
              <p:cNvPr id="37" name="Ellipse 37"/>
              <p:cNvSpPr/>
              <p:nvPr/>
            </p:nvSpPr>
            <p:spPr>
              <a:xfrm>
                <a:off x="6819900" y="3009900"/>
                <a:ext cx="457200" cy="457200"/>
              </a:xfrm>
              <a:prstGeom prst="ellipse">
                <a:avLst/>
              </a:prstGeom>
              <a:solidFill>
                <a:schemeClr val="accent2"/>
              </a:solidFill>
              <a:ln>
                <a:noFill/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7002351" y="3182302"/>
                <a:ext cx="9229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Consolas"/>
                    <a:ea typeface="Consolas"/>
                    <a:cs typeface="Consolas"/>
                  </a:rPr>
                  <a:t>4</a:t>
                </a:r>
              </a:p>
            </p:txBody>
          </p:sp>
          <p:sp>
            <p:nvSpPr>
              <p:cNvPr id="39" name="Freeform 39"/>
              <p:cNvSpPr/>
              <p:nvPr/>
            </p:nvSpPr>
            <p:spPr>
              <a:xfrm>
                <a:off x="6286500" y="3667125"/>
                <a:ext cx="1524000" cy="1714500"/>
              </a:xfrm>
              <a:custGeom>
                <a:avLst/>
                <a:gdLst/>
                <a:ahLst/>
                <a:cxnLst/>
                <a:rect l="l" t="t" r="r" b="b"/>
                <a:pathLst>
                  <a:path w="1524000" h="1714500">
                    <a:moveTo>
                      <a:pt x="76200" y="0"/>
                    </a:moveTo>
                    <a:lnTo>
                      <a:pt x="1447800" y="0"/>
                    </a:lnTo>
                    <a:cubicBezTo>
                      <a:pt x="1489884" y="0"/>
                      <a:pt x="1524000" y="34116"/>
                      <a:pt x="1524000" y="76200"/>
                    </a:cubicBezTo>
                    <a:lnTo>
                      <a:pt x="1524000" y="1638300"/>
                    </a:lnTo>
                    <a:cubicBezTo>
                      <a:pt x="1524000" y="1680384"/>
                      <a:pt x="1489884" y="1714500"/>
                      <a:pt x="1447800" y="1714500"/>
                    </a:cubicBezTo>
                    <a:lnTo>
                      <a:pt x="76200" y="1714500"/>
                    </a:lnTo>
                    <a:cubicBezTo>
                      <a:pt x="34116" y="1714500"/>
                      <a:pt x="0" y="1680384"/>
                      <a:pt x="0" y="1638300"/>
                    </a:cubicBezTo>
                    <a:lnTo>
                      <a:pt x="0" y="76200"/>
                    </a:lnTo>
                    <a:cubicBezTo>
                      <a:pt x="0" y="34116"/>
                      <a:pt x="34116" y="0"/>
                      <a:pt x="762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9050">
                <a:solidFill>
                  <a:schemeClr val="accent2"/>
                </a:solidFill>
              </a:ln>
            </p:spPr>
          </p:sp>
          <p:sp>
            <p:nvSpPr>
              <p:cNvPr id="40" name="TextBox 40"/>
              <p:cNvSpPr txBox="1"/>
              <p:nvPr/>
            </p:nvSpPr>
            <p:spPr>
              <a:xfrm>
                <a:off x="6788334" y="3868102"/>
                <a:ext cx="52033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chemeClr val="accent2"/>
                    </a:solidFill>
                    <a:latin typeface="Consolas"/>
                    <a:ea typeface="Consolas"/>
                    <a:cs typeface="Consolas"/>
                  </a:rPr>
                  <a:t>WEEK 4</a:t>
                </a:r>
              </a:p>
            </p:txBody>
          </p:sp>
          <p:sp>
            <p:nvSpPr>
              <p:cNvPr id="41" name="TextBox 41"/>
              <p:cNvSpPr txBox="1"/>
              <p:nvPr/>
            </p:nvSpPr>
            <p:spPr>
              <a:xfrm>
                <a:off x="6607790" y="4090035"/>
                <a:ext cx="88142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AI驱动活动</a:t>
                </a:r>
              </a:p>
            </p:txBody>
          </p:sp>
          <p:sp>
            <p:nvSpPr>
              <p:cNvPr id="42" name="TextBox 42"/>
              <p:cNvSpPr txBox="1"/>
              <p:nvPr/>
            </p:nvSpPr>
            <p:spPr>
              <a:xfrm>
                <a:off x="6703162" y="4271010"/>
                <a:ext cx="690677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20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正式上线</a:t>
                </a:r>
              </a:p>
            </p:txBody>
          </p:sp>
          <p:sp>
            <p:nvSpPr>
              <p:cNvPr id="43" name="Line 43"/>
              <p:cNvSpPr/>
              <p:nvPr/>
            </p:nvSpPr>
            <p:spPr>
              <a:xfrm>
                <a:off x="6477000" y="4543425"/>
                <a:ext cx="1143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143000" h="9525">
                    <a:moveTo>
                      <a:pt x="0" y="0"/>
                    </a:moveTo>
                    <a:lnTo>
                      <a:pt x="1143000" y="0"/>
                    </a:lnTo>
                  </a:path>
                </a:pathLst>
              </a:custGeom>
              <a:noFill/>
              <a:ln w="9525">
                <a:solidFill>
                  <a:schemeClr val="accent2"/>
                </a:solidFill>
              </a:ln>
            </p:spPr>
          </p:sp>
          <p:sp>
            <p:nvSpPr>
              <p:cNvPr id="44" name="TextBox 44"/>
              <p:cNvSpPr txBox="1"/>
              <p:nvPr/>
            </p:nvSpPr>
            <p:spPr>
              <a:xfrm>
                <a:off x="6472047" y="4676299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系统推荐最优策略</a:t>
                </a:r>
              </a:p>
            </p:txBody>
          </p:sp>
          <p:sp>
            <p:nvSpPr>
              <p:cNvPr id="45" name="TextBox 45"/>
              <p:cNvSpPr txBox="1"/>
              <p:nvPr/>
            </p:nvSpPr>
            <p:spPr>
              <a:xfrm>
                <a:off x="6472047" y="4847749"/>
                <a:ext cx="66617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人工审核后</a:t>
                </a: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6472047" y="5000149"/>
                <a:ext cx="53492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一键发布</a:t>
                </a:r>
              </a:p>
            </p:txBody>
          </p:sp>
          <p:sp>
            <p:nvSpPr>
              <p:cNvPr id="47" name="TextBox 47"/>
              <p:cNvSpPr txBox="1"/>
              <p:nvPr/>
            </p:nvSpPr>
            <p:spPr>
              <a:xfrm>
                <a:off x="6472047" y="5171599"/>
                <a:ext cx="797433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实时度量看板</a:t>
                </a:r>
              </a:p>
            </p:txBody>
          </p:sp>
        </p:grpSp>
        <p:sp>
          <p:nvSpPr>
            <p:cNvPr id="49" name="Ellipse 49"/>
            <p:cNvSpPr/>
            <p:nvPr/>
          </p:nvSpPr>
          <p:spPr>
            <a:xfrm>
              <a:off x="6743700" y="2933700"/>
              <a:ext cx="609600" cy="609600"/>
            </a:xfrm>
            <a:prstGeom prst="ellipse">
              <a:avLst/>
            </a:prstGeom>
            <a:noFill/>
            <a:ln w="19050">
              <a:solidFill>
                <a:schemeClr val="accent2"/>
              </a:solidFill>
              <a:custDash>
                <a:ds d="200000" sp="100000"/>
              </a:custDash>
            </a:ln>
          </p:spPr>
        </p:sp>
      </p:grpSp>
      <p:grpSp>
        <p:nvGrpSpPr>
          <p:cNvPr id="79" name="Group 79"/>
          <p:cNvGrpSpPr/>
          <p:nvPr/>
        </p:nvGrpSpPr>
        <p:grpSpPr>
          <a:xfrm>
            <a:off x="8572500" y="1857375"/>
            <a:ext cx="3048000" cy="4000500"/>
            <a:chOff x="8572500" y="1857375"/>
            <a:chExt cx="3048000" cy="4000500"/>
          </a:xfrm>
        </p:grpSpPr>
        <p:sp>
          <p:nvSpPr>
            <p:cNvPr id="51" name="Freeform 51"/>
            <p:cNvSpPr/>
            <p:nvPr/>
          </p:nvSpPr>
          <p:spPr>
            <a:xfrm>
              <a:off x="8572500" y="1857375"/>
              <a:ext cx="3048000" cy="4000500"/>
            </a:xfrm>
            <a:custGeom>
              <a:avLst/>
              <a:gdLst/>
              <a:ahLst/>
              <a:cxnLst/>
              <a:rect l="l" t="t" r="r" b="b"/>
              <a:pathLst>
                <a:path w="3048000" h="4000500">
                  <a:moveTo>
                    <a:pt x="114300" y="0"/>
                  </a:moveTo>
                  <a:lnTo>
                    <a:pt x="2933700" y="0"/>
                  </a:lnTo>
                  <a:cubicBezTo>
                    <a:pt x="2996826" y="0"/>
                    <a:pt x="3048000" y="51174"/>
                    <a:pt x="3048000" y="114300"/>
                  </a:cubicBezTo>
                  <a:lnTo>
                    <a:pt x="3048000" y="3886200"/>
                  </a:lnTo>
                  <a:cubicBezTo>
                    <a:pt x="3048000" y="3949326"/>
                    <a:pt x="2996826" y="4000500"/>
                    <a:pt x="2933700" y="4000500"/>
                  </a:cubicBezTo>
                  <a:lnTo>
                    <a:pt x="114300" y="4000500"/>
                  </a:lnTo>
                  <a:cubicBezTo>
                    <a:pt x="51174" y="4000500"/>
                    <a:pt x="0" y="3949326"/>
                    <a:pt x="0" y="3886200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lt2"/>
            </a:solidFill>
            <a:ln w="9525">
              <a:solidFill>
                <a:schemeClr val="accent4"/>
              </a:solidFill>
            </a:ln>
          </p:spPr>
        </p:sp>
        <p:sp>
          <p:nvSpPr>
            <p:cNvPr id="52" name="Freeform 52"/>
            <p:cNvSpPr/>
            <p:nvPr/>
          </p:nvSpPr>
          <p:spPr>
            <a:xfrm>
              <a:off x="8572500" y="1857375"/>
              <a:ext cx="3048000" cy="428625"/>
            </a:xfrm>
            <a:custGeom>
              <a:avLst/>
              <a:gdLst/>
              <a:ahLst/>
              <a:cxnLst/>
              <a:rect l="l" t="t" r="r" b="b"/>
              <a:pathLst>
                <a:path w="3048000" h="428625">
                  <a:moveTo>
                    <a:pt x="114300" y="0"/>
                  </a:moveTo>
                  <a:lnTo>
                    <a:pt x="2933700" y="0"/>
                  </a:lnTo>
                  <a:cubicBezTo>
                    <a:pt x="2996826" y="0"/>
                    <a:pt x="3048000" y="51174"/>
                    <a:pt x="3048000" y="114300"/>
                  </a:cubicBezTo>
                  <a:lnTo>
                    <a:pt x="3048000" y="314325"/>
                  </a:lnTo>
                  <a:cubicBezTo>
                    <a:pt x="3048000" y="377451"/>
                    <a:pt x="2996826" y="428625"/>
                    <a:pt x="2933700" y="428625"/>
                  </a:cubicBezTo>
                  <a:lnTo>
                    <a:pt x="114300" y="428625"/>
                  </a:lnTo>
                  <a:cubicBezTo>
                    <a:pt x="51174" y="428625"/>
                    <a:pt x="0" y="377451"/>
                    <a:pt x="0" y="314325"/>
                  </a:cubicBezTo>
                  <a:lnTo>
                    <a:pt x="0" y="114300"/>
                  </a:lnTo>
                  <a:cubicBezTo>
                    <a:pt x="0" y="51174"/>
                    <a:pt x="51174" y="0"/>
                    <a:pt x="1143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53" name="Rectangle 53"/>
            <p:cNvSpPr/>
            <p:nvPr/>
          </p:nvSpPr>
          <p:spPr>
            <a:xfrm>
              <a:off x="8572500" y="2095500"/>
              <a:ext cx="3048000" cy="190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9613725" y="2021681"/>
              <a:ext cx="96554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风险缓解措施</a:t>
              </a:r>
            </a:p>
          </p:txBody>
        </p:sp>
        <p:grpSp>
          <p:nvGrpSpPr>
            <p:cNvPr id="60" name="Group 60"/>
            <p:cNvGrpSpPr/>
            <p:nvPr/>
          </p:nvGrpSpPr>
          <p:grpSpPr>
            <a:xfrm>
              <a:off x="8758047" y="2476500"/>
              <a:ext cx="1322451" cy="733139"/>
              <a:chOff x="8758047" y="2476500"/>
              <a:chExt cx="1322451" cy="73313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8763000" y="24765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57150" y="0"/>
                    </a:move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285750"/>
                    </a:lnTo>
                    <a:cubicBezTo>
                      <a:pt x="342900" y="317313"/>
                      <a:pt x="317313" y="342900"/>
                      <a:pt x="285750" y="342900"/>
                    </a:cubicBezTo>
                    <a:lnTo>
                      <a:pt x="57150" y="342900"/>
                    </a:lnTo>
                    <a:cubicBezTo>
                      <a:pt x="25587" y="342900"/>
                      <a:pt x="0" y="317313"/>
                      <a:pt x="0" y="2857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C5303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8877300" y="2590800"/>
                <a:ext cx="17145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14300">
                    <a:moveTo>
                      <a:pt x="0" y="57150"/>
                    </a:moveTo>
                    <a:lnTo>
                      <a:pt x="57150" y="0"/>
                    </a:lnTo>
                    <a:lnTo>
                      <a:pt x="114300" y="114300"/>
                    </a:lnTo>
                    <a:lnTo>
                      <a:pt x="171450" y="38100"/>
                    </a:lnTo>
                  </a:path>
                </a:pathLst>
              </a:custGeom>
              <a:noFill/>
              <a:ln w="19050" cap="rnd">
                <a:solidFill>
                  <a:srgbClr val="C53030"/>
                </a:solidFill>
                <a:round/>
              </a:ln>
            </p:spPr>
          </p:sp>
          <p:sp>
            <p:nvSpPr>
              <p:cNvPr id="57" name="TextBox 57"/>
              <p:cNvSpPr txBox="1"/>
              <p:nvPr/>
            </p:nvSpPr>
            <p:spPr>
              <a:xfrm>
                <a:off x="9214485" y="2526506"/>
                <a:ext cx="6475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数据安全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8758047" y="2847499"/>
                <a:ext cx="928688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私有化部署可选</a:t>
                </a:r>
              </a:p>
            </p:txBody>
          </p:sp>
          <p:sp>
            <p:nvSpPr>
              <p:cNvPr id="59" name="TextBox 59"/>
              <p:cNvSpPr txBox="1"/>
              <p:nvPr/>
            </p:nvSpPr>
            <p:spPr>
              <a:xfrm>
                <a:off x="8758047" y="3018949"/>
                <a:ext cx="1322451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联邦学习保障数据隔离</a:t>
                </a:r>
              </a:p>
            </p:txBody>
          </p:sp>
        </p:grpSp>
        <p:sp>
          <p:nvSpPr>
            <p:cNvPr id="61" name="Line 61"/>
            <p:cNvSpPr/>
            <p:nvPr/>
          </p:nvSpPr>
          <p:spPr>
            <a:xfrm>
              <a:off x="8763000" y="3286125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grpSp>
          <p:nvGrpSpPr>
            <p:cNvPr id="68" name="Group 68"/>
            <p:cNvGrpSpPr/>
            <p:nvPr/>
          </p:nvGrpSpPr>
          <p:grpSpPr>
            <a:xfrm>
              <a:off x="8758047" y="3476625"/>
              <a:ext cx="1103948" cy="904589"/>
              <a:chOff x="8758047" y="3476625"/>
              <a:chExt cx="1103948" cy="904589"/>
            </a:xfrm>
          </p:grpSpPr>
          <p:sp>
            <p:nvSpPr>
              <p:cNvPr id="62" name="Freeform 62"/>
              <p:cNvSpPr/>
              <p:nvPr/>
            </p:nvSpPr>
            <p:spPr>
              <a:xfrm>
                <a:off x="8763000" y="3476625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57150" y="0"/>
                    </a:move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285750"/>
                    </a:lnTo>
                    <a:cubicBezTo>
                      <a:pt x="342900" y="317313"/>
                      <a:pt x="317313" y="342900"/>
                      <a:pt x="285750" y="342900"/>
                    </a:cubicBezTo>
                    <a:lnTo>
                      <a:pt x="57150" y="342900"/>
                    </a:lnTo>
                    <a:cubicBezTo>
                      <a:pt x="25587" y="342900"/>
                      <a:pt x="0" y="317313"/>
                      <a:pt x="0" y="2857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C53030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63" name="Freeform 63"/>
              <p:cNvSpPr/>
              <p:nvPr/>
            </p:nvSpPr>
            <p:spPr>
              <a:xfrm>
                <a:off x="8877300" y="3619500"/>
                <a:ext cx="762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14300">
                    <a:moveTo>
                      <a:pt x="0" y="57150"/>
                    </a:moveTo>
                    <a:cubicBezTo>
                      <a:pt x="0" y="0"/>
                      <a:pt x="76200" y="0"/>
                      <a:pt x="76200" y="57150"/>
                    </a:cubicBezTo>
                    <a:cubicBezTo>
                      <a:pt x="76200" y="114300"/>
                      <a:pt x="0" y="114300"/>
                      <a:pt x="0" y="57150"/>
                    </a:cubicBezTo>
                    <a:close/>
                  </a:path>
                </a:pathLst>
              </a:custGeom>
              <a:noFill/>
              <a:ln w="19050">
                <a:solidFill>
                  <a:srgbClr val="C53030"/>
                </a:solidFill>
              </a:ln>
            </p:spPr>
          </p:sp>
          <p:sp>
            <p:nvSpPr>
              <p:cNvPr id="64" name="TextBox 64"/>
              <p:cNvSpPr txBox="1"/>
              <p:nvPr/>
            </p:nvSpPr>
            <p:spPr>
              <a:xfrm>
                <a:off x="9214485" y="3526631"/>
                <a:ext cx="6475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模型泛化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8758047" y="384762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主动提示能力边界</a:t>
                </a:r>
              </a:p>
            </p:txBody>
          </p:sp>
          <p:sp>
            <p:nvSpPr>
              <p:cNvPr id="66" name="TextBox 66"/>
              <p:cNvSpPr txBox="1"/>
              <p:nvPr/>
            </p:nvSpPr>
            <p:spPr>
              <a:xfrm>
                <a:off x="8758047" y="401907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引入人工复核环节</a:t>
                </a:r>
              </a:p>
            </p:txBody>
          </p:sp>
          <p:sp>
            <p:nvSpPr>
              <p:cNvPr id="67" name="TextBox 67"/>
              <p:cNvSpPr txBox="1"/>
              <p:nvPr/>
            </p:nvSpPr>
            <p:spPr>
              <a:xfrm>
                <a:off x="8758047" y="4190524"/>
                <a:ext cx="1059942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持续迭代优化模型</a:t>
                </a:r>
              </a:p>
            </p:txBody>
          </p:sp>
        </p:grpSp>
        <p:sp>
          <p:nvSpPr>
            <p:cNvPr id="69" name="Line 69"/>
            <p:cNvSpPr/>
            <p:nvPr/>
          </p:nvSpPr>
          <p:spPr>
            <a:xfrm>
              <a:off x="8763000" y="4381500"/>
              <a:ext cx="2667000" cy="9525"/>
            </a:xfrm>
            <a:custGeom>
              <a:avLst/>
              <a:gdLst/>
              <a:ahLst/>
              <a:cxnLst/>
              <a:rect l="l" t="t" r="r" b="b"/>
              <a:pathLst>
                <a:path w="2667000" h="9525">
                  <a:moveTo>
                    <a:pt x="0" y="0"/>
                  </a:moveTo>
                  <a:lnTo>
                    <a:pt x="2667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8758047" y="4572000"/>
              <a:ext cx="1335576" cy="733139"/>
              <a:chOff x="8758047" y="4572000"/>
              <a:chExt cx="1335576" cy="733139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8763000" y="4572000"/>
                <a:ext cx="34290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42900" h="342900">
                    <a:moveTo>
                      <a:pt x="57150" y="0"/>
                    </a:moveTo>
                    <a:lnTo>
                      <a:pt x="285750" y="0"/>
                    </a:lnTo>
                    <a:cubicBezTo>
                      <a:pt x="317313" y="0"/>
                      <a:pt x="342900" y="25587"/>
                      <a:pt x="342900" y="57150"/>
                    </a:cubicBezTo>
                    <a:lnTo>
                      <a:pt x="342900" y="285750"/>
                    </a:lnTo>
                    <a:cubicBezTo>
                      <a:pt x="342900" y="317313"/>
                      <a:pt x="317313" y="342900"/>
                      <a:pt x="285750" y="342900"/>
                    </a:cubicBezTo>
                    <a:lnTo>
                      <a:pt x="57150" y="342900"/>
                    </a:lnTo>
                    <a:cubicBezTo>
                      <a:pt x="25587" y="342900"/>
                      <a:pt x="0" y="317313"/>
                      <a:pt x="0" y="285750"/>
                    </a:cubicBezTo>
                    <a:lnTo>
                      <a:pt x="0" y="57150"/>
                    </a:lnTo>
                    <a:cubicBezTo>
                      <a:pt x="0" y="25587"/>
                      <a:pt x="25587" y="0"/>
                      <a:pt x="57150" y="0"/>
                    </a:cubicBezTo>
                    <a:close/>
                  </a:path>
                </a:pathLst>
              </a:custGeom>
              <a:solidFill>
                <a:srgbClr val="2F855A">
                  <a:alpha val="10000"/>
                </a:srgbClr>
              </a:solidFill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8877300" y="4686300"/>
                <a:ext cx="114300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14300">
                    <a:moveTo>
                      <a:pt x="0" y="76200"/>
                    </a:moveTo>
                    <a:lnTo>
                      <a:pt x="38100" y="114300"/>
                    </a:lnTo>
                    <a:lnTo>
                      <a:pt x="114300" y="0"/>
                    </a:lnTo>
                  </a:path>
                </a:pathLst>
              </a:custGeom>
              <a:noFill/>
              <a:ln w="19050" cap="rnd">
                <a:solidFill>
                  <a:srgbClr val="2F855A"/>
                </a:solidFill>
                <a:round/>
              </a:ln>
            </p:spPr>
          </p:sp>
          <p:sp>
            <p:nvSpPr>
              <p:cNvPr id="72" name="TextBox 72"/>
              <p:cNvSpPr txBox="1"/>
              <p:nvPr/>
            </p:nvSpPr>
            <p:spPr>
              <a:xfrm>
                <a:off x="9214485" y="4622006"/>
                <a:ext cx="647510" cy="2200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12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验证目标</a:t>
                </a:r>
              </a:p>
            </p:txBody>
          </p:sp>
          <p:sp>
            <p:nvSpPr>
              <p:cNvPr id="73" name="TextBox 73"/>
              <p:cNvSpPr txBox="1"/>
              <p:nvPr/>
            </p:nvSpPr>
            <p:spPr>
              <a:xfrm>
                <a:off x="8758047" y="4942999"/>
                <a:ext cx="133557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30天：核心能力可验证</a:t>
                </a:r>
              </a:p>
            </p:txBody>
          </p:sp>
          <p:sp>
            <p:nvSpPr>
              <p:cNvPr id="74" name="TextBox 74"/>
              <p:cNvSpPr txBox="1"/>
              <p:nvPr/>
            </p:nvSpPr>
            <p:spPr>
              <a:xfrm>
                <a:off x="8758047" y="5114449"/>
                <a:ext cx="133557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90天：全渠道覆盖达成</a:t>
                </a:r>
              </a:p>
            </p:txBody>
          </p:sp>
        </p:grpSp>
        <p:sp>
          <p:nvSpPr>
            <p:cNvPr id="76" name="Ellipse 76"/>
            <p:cNvSpPr/>
            <p:nvPr/>
          </p:nvSpPr>
          <p:spPr>
            <a:xfrm>
              <a:off x="11153775" y="5534025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7" name="Ellipse 77"/>
            <p:cNvSpPr/>
            <p:nvPr/>
          </p:nvSpPr>
          <p:spPr>
            <a:xfrm>
              <a:off x="11058525" y="5534025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78" name="Ellipse 78"/>
            <p:cNvSpPr/>
            <p:nvPr/>
          </p:nvSpPr>
          <p:spPr>
            <a:xfrm>
              <a:off x="10963275" y="5534025"/>
              <a:ext cx="76200" cy="762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</p:sp>
      </p:grpSp>
      <p:grpSp>
        <p:nvGrpSpPr>
          <p:cNvPr id="83" name="Group 83"/>
          <p:cNvGrpSpPr/>
          <p:nvPr/>
        </p:nvGrpSpPr>
        <p:grpSpPr>
          <a:xfrm>
            <a:off x="566738" y="6477000"/>
            <a:ext cx="11058524" cy="291941"/>
            <a:chOff x="566738" y="6477000"/>
            <a:chExt cx="11058524" cy="291941"/>
          </a:xfrm>
        </p:grpSpPr>
        <p:sp>
          <p:nvSpPr>
            <p:cNvPr id="80" name="Line 80"/>
            <p:cNvSpPr/>
            <p:nvPr/>
          </p:nvSpPr>
          <p:spPr>
            <a:xfrm>
              <a:off x="571500" y="6477000"/>
              <a:ext cx="11049000" cy="9525"/>
            </a:xfrm>
            <a:custGeom>
              <a:avLst/>
              <a:gdLst/>
              <a:ahLst/>
              <a:cxnLst/>
              <a:rect l="l" t="t" r="r" b="b"/>
              <a:pathLst>
                <a:path w="11049000" h="9525">
                  <a:moveTo>
                    <a:pt x="0" y="0"/>
                  </a:moveTo>
                  <a:lnTo>
                    <a:pt x="11049000" y="0"/>
                  </a:lnTo>
                </a:path>
              </a:pathLst>
            </a:custGeom>
            <a:noFill/>
            <a:ln w="9525">
              <a:solidFill>
                <a:schemeClr val="accent4"/>
              </a:solidFill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566738" y="6607016"/>
              <a:ext cx="1001116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企业 AI 营销工作台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243681" y="6607016"/>
              <a:ext cx="38158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-US" sz="820" dirty="0">
                  <a:solidFill>
                    <a:schemeClr val="accent5"/>
                  </a:solidFill>
                  <a:latin typeface="Consolas"/>
                  <a:ea typeface="Consolas"/>
                  <a:cs typeface="Consolas"/>
                </a:rPr>
                <a:t>08 / 08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PPT Master">
      <a:dk1>
        <a:srgbClr val="1A202C"/>
      </a:dk1>
      <a:lt1>
        <a:srgbClr val="FFFFFF"/>
      </a:lt1>
      <a:dk2>
        <a:srgbClr val="4A5568"/>
      </a:dk2>
      <a:lt2>
        <a:srgbClr val="F5F7FA"/>
      </a:lt2>
      <a:accent1>
        <a:srgbClr val="1A365D"/>
      </a:accent1>
      <a:accent2>
        <a:srgbClr val="3182CE"/>
      </a:accent2>
      <a:accent3>
        <a:srgbClr val="63B3ED"/>
      </a:accent3>
      <a:accent4>
        <a:srgbClr val="E2E8F0"/>
      </a:accent4>
      <a:accent5>
        <a:srgbClr val="A0AEC0"/>
      </a:accent5>
      <a:accent6>
        <a:srgbClr val="EBF4FB"/>
      </a:accent6>
      <a:hlink>
        <a:srgbClr val="3182CE"/>
      </a:hlink>
      <a:folHlink>
        <a:srgbClr val="63B3ED"/>
      </a:folHlink>
    </a:clrScheme>
    <a:fontScheme name="PPT Master">
      <a:majorFont>
        <a:latin typeface="Georgia"/>
        <a:ea typeface="Microsoft YaHei"/>
        <a:cs typeface="Georgia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2026-07-10T23:16:20Z</dcterms:created>
  <dcterms:modified xsi:type="dcterms:W3CDTF">2026-07-10T23:16:20Z</dcterms:modified>
  <cp:category/>
  <cp:contentStatus/>
</cp:coreProperties>
</file>