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AI原生营销中枢</a:t>
            </a:r>
          </a:p>
          <a:p>
            <a:endParaRPr lang="en-US" dirty="0"/>
          </a:p>
          <a:p>
            <a:r>
              <a:rPr lang="zh-CN" dirty="0"/>
              <a:t>面向管理层：从数据到洞察，从触发到度量，一个平台闭环。</a:t>
            </a:r>
          </a:p>
          <a:p>
            <a:endParaRPr lang="en-US" dirty="0"/>
          </a:p>
          <a:p>
            <a:r>
              <a:rPr lang="zh-CN" dirty="0"/>
              <a:t>• AI原生营销中枢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核心议题</a:t>
            </a:r>
          </a:p>
          <a:p>
            <a:endParaRPr lang="en-US" dirty="0"/>
          </a:p>
          <a:p>
            <a:r>
              <a:rPr lang="zh-CN" dirty="0"/>
              <a:t>本次简报围绕五大关键决策点展开。</a:t>
            </a:r>
          </a:p>
          <a:p>
            <a:endParaRPr lang="en-US" dirty="0"/>
          </a:p>
          <a:p>
            <a:r>
              <a:rPr lang="zh-CN" dirty="0"/>
              <a:t>• 为什么现有工具已无法支撑精细化运营</a:t>
            </a:r>
          </a:p>
          <a:p>
            <a:r>
              <a:rPr lang="zh-CN" dirty="0"/>
              <a:t>• 打通CRM、广告、电商、客服数据断层</a:t>
            </a:r>
          </a:p>
          <a:p>
            <a:r>
              <a:rPr lang="zh-CN" dirty="0"/>
              <a:t>• 预测、细分、归因能力的代际跨越</a:t>
            </a:r>
          </a:p>
          <a:p>
            <a:r>
              <a:rPr lang="zh-CN" dirty="0"/>
              <a:t>• 从策略生成到投放优化的端到端案例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核心洞察</a:t>
            </a:r>
          </a:p>
          <a:p>
            <a:endParaRPr lang="en-US" dirty="0"/>
          </a:p>
          <a:p>
            <a:r>
              <a:rPr lang="zh-CN" dirty="0"/>
              <a:t>营销团队传统工作流中，70%时间花在数据准备与报表核对，决策响应周期长达2-4周。</a:t>
            </a:r>
          </a:p>
          <a:p>
            <a:endParaRPr lang="en-US" dirty="0"/>
          </a:p>
          <a:p>
            <a:r>
              <a:rPr lang="zh-CN" dirty="0"/>
              <a:t>• 客户行为变化速度＜营销响应速度</a:t>
            </a:r>
          </a:p>
          <a:p>
            <a:r>
              <a:rPr lang="zh-CN" dirty="0"/>
              <a:t>• 一次完整数据分析到优化迭代平均耗时12个工作日</a:t>
            </a:r>
          </a:p>
          <a:p>
            <a:r>
              <a:rPr lang="zh-CN" dirty="0"/>
              <a:t>• 当前事实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范式转移：传统营销工作流vsAI营销中枢</a:t>
            </a:r>
          </a:p>
          <a:p>
            <a:endParaRPr lang="en-US" dirty="0"/>
          </a:p>
          <a:p>
            <a:r>
              <a:rPr lang="zh-CN" dirty="0"/>
              <a:t>平台将线性手工流变为实时闭环。</a:t>
            </a:r>
          </a:p>
          <a:p>
            <a:endParaRPr lang="en-US" dirty="0"/>
          </a:p>
          <a:p>
            <a:r>
              <a:rPr lang="zh-CN" dirty="0"/>
              <a:t>• 工程师手动ETL，周级别更新，多源字段冲突频发</a:t>
            </a:r>
          </a:p>
          <a:p>
            <a:r>
              <a:rPr lang="zh-CN" dirty="0"/>
              <a:t>• 平台自动连接，实时流处理，标准实体模型，秒级就绪</a:t>
            </a:r>
          </a:p>
          <a:p>
            <a:r>
              <a:rPr lang="zh-CN" dirty="0"/>
              <a:t>• 分析师跑SQL，取数→做表→解读，依赖个人经验</a:t>
            </a:r>
          </a:p>
          <a:p>
            <a:r>
              <a:rPr lang="zh-CN" dirty="0"/>
              <a:t>• LLM驱动意图挖掘、自动聚类、流失预警，分钟级生成策略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已验证：头部客户运行基准</a:t>
            </a:r>
          </a:p>
          <a:p>
            <a:endParaRPr lang="en-US" dirty="0"/>
          </a:p>
          <a:p>
            <a:r>
              <a:rPr lang="zh-CN" dirty="0"/>
              <a:t>领先企业部署后，关键营销效率指标跃升。</a:t>
            </a:r>
          </a:p>
          <a:p>
            <a:endParaRPr lang="en-US" dirty="0"/>
          </a:p>
          <a:p>
            <a:r>
              <a:rPr lang="zh-CN" dirty="0"/>
              <a:t>• 接入后90天，基于AI动态出价和创意匹配，CPA从￥85降至￥53，同时ROI提升至4.2</a:t>
            </a:r>
          </a:p>
          <a:p>
            <a:r>
              <a:rPr lang="zh-CN" dirty="0"/>
              <a:t>• 利用意图识别模型筛选高意向用户，销售跟进有效留资比例由22%升至51%</a:t>
            </a:r>
          </a:p>
          <a:p>
            <a:r>
              <a:rPr lang="zh-CN" dirty="0"/>
              <a:t>• 自动化工作流替代手工传递，从方案制定到全渠道上线由2周压缩至2天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平台核心能力指标</a:t>
            </a:r>
          </a:p>
          <a:p>
            <a:endParaRPr lang="en-US" dirty="0"/>
          </a:p>
          <a:p>
            <a:r>
              <a:rPr lang="zh-CN" dirty="0"/>
              <a:t>已建成企业级性能基线，支撑大规模营销活动。</a:t>
            </a:r>
          </a:p>
          <a:p>
            <a:endParaRPr lang="en-US" dirty="0"/>
          </a:p>
          <a:p>
            <a:r>
              <a:rPr lang="zh-CN" dirty="0"/>
              <a:t>• 实时数据处理延迟</a:t>
            </a:r>
          </a:p>
          <a:p>
            <a:r>
              <a:rPr lang="zh-CN" dirty="0"/>
              <a:t>• 受众预测准确率</a:t>
            </a:r>
          </a:p>
          <a:p>
            <a:r>
              <a:rPr lang="zh-CN" dirty="0"/>
              <a:t>• 典型POC部署时间</a:t>
            </a:r>
          </a:p>
          <a:p>
            <a:r>
              <a:rPr lang="zh-CN" dirty="0"/>
              <a:t>• 投资回收期中位数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典型部署效果轨迹</a:t>
            </a:r>
          </a:p>
          <a:p>
            <a:endParaRPr lang="en-US" dirty="0"/>
          </a:p>
          <a:p>
            <a:r>
              <a:rPr lang="zh-CN" dirty="0"/>
              <a:t>某KA客户逐月营销投资回报率变化。</a:t>
            </a:r>
          </a:p>
          <a:p>
            <a:endParaRPr lang="en-US" dirty="0"/>
          </a:p>
          <a:p>
            <a:r>
              <a:rPr lang="zh-CN" dirty="0"/>
              <a:t>• ROI基线（无优化）</a:t>
            </a:r>
          </a:p>
          <a:p>
            <a:r>
              <a:rPr lang="zh-CN" dirty="0"/>
              <a:t>• AI出价与创意测试</a:t>
            </a:r>
          </a:p>
          <a:p>
            <a:r>
              <a:rPr lang="zh-CN" dirty="0"/>
              <a:t>• 意图模型叠加自动化旅程</a:t>
            </a:r>
          </a:p>
          <a:p>
            <a:r>
              <a:rPr lang="zh-CN" dirty="0"/>
              <a:t>• 全域数据融合后全面调优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下一步：快速启动增值路径</a:t>
            </a:r>
          </a:p>
          <a:p>
            <a:endParaRPr lang="en-US" dirty="0"/>
          </a:p>
          <a:p>
            <a:r>
              <a:rPr lang="zh-CN" dirty="0"/>
              <a:t>管理层应决策推进以下里程碑。</a:t>
            </a:r>
          </a:p>
          <a:p>
            <a:endParaRPr lang="en-US" dirty="0"/>
          </a:p>
          <a:p>
            <a:r>
              <a:rPr lang="zh-CN" dirty="0"/>
              <a:t>• 授权数据对接评估，确认数据源清单与权限</a:t>
            </a:r>
          </a:p>
          <a:p>
            <a:r>
              <a:rPr lang="zh-CN" dirty="0"/>
              <a:t>• POC在真实业务场景运行，聚焦单一高价值用例</a:t>
            </a:r>
          </a:p>
          <a:p>
            <a:r>
              <a:rPr lang="zh-CN" dirty="0"/>
              <a:t>• 端到端自动化投放，实现全渠道体验编排，启动组织培训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" name="Line 3"/>
              <p:cNvSpPr/>
              <p:nvPr/>
            </p:nvSpPr>
            <p:spPr>
              <a:xfrm>
                <a:off x="0" y="5715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4" name="Line 4"/>
              <p:cNvSpPr/>
              <p:nvPr/>
            </p:nvSpPr>
            <p:spPr>
              <a:xfrm>
                <a:off x="0" y="1143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5" name="Line 5"/>
              <p:cNvSpPr/>
              <p:nvPr/>
            </p:nvSpPr>
            <p:spPr>
              <a:xfrm>
                <a:off x="0" y="17145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0" y="2286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0" y="28575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0" y="3429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0" y="40005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0" y="4572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0" y="51435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0" y="5715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0" y="62865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571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143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714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2286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2857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3429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4000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4572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5143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5715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6286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6858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7429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8001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8572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9144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9715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10287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108585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11430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</p:grpSp>
      </p:grpSp>
      <p:grpSp>
        <p:nvGrpSpPr>
          <p:cNvPr id="42" name="Group 4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6" name="Rectangle 36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668000" y="190500"/>
              <a:ext cx="1143000" cy="11430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858500" y="381000"/>
              <a:ext cx="762000" cy="762000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049000" y="571500"/>
              <a:ext cx="381000" cy="381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0" y="5905500"/>
              <a:ext cx="12192000" cy="952500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571500" y="5895975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933450" y="1410652"/>
            <a:ext cx="6024753" cy="2027873"/>
            <a:chOff x="933450" y="1410652"/>
            <a:chExt cx="6024753" cy="2027873"/>
          </a:xfrm>
        </p:grpSpPr>
        <p:sp>
          <p:nvSpPr>
            <p:cNvPr id="43" name="TextBox 43"/>
            <p:cNvSpPr txBox="1"/>
            <p:nvPr/>
          </p:nvSpPr>
          <p:spPr>
            <a:xfrm>
              <a:off x="947166" y="1410652"/>
              <a:ext cx="964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GRIDBRIEF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3450" y="1958340"/>
              <a:ext cx="600108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AI原生营销中枢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4118" y="2965132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面向管理层：从数据到洞察，从触发到度量，一个平台闭环。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52500" y="3429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947547" y="6133624"/>
            <a:ext cx="10296715" cy="416242"/>
            <a:chOff x="947547" y="6133624"/>
            <a:chExt cx="10296715" cy="416242"/>
          </a:xfrm>
        </p:grpSpPr>
        <p:grpSp>
          <p:nvGrpSpPr>
            <p:cNvPr id="53" name="Group 53"/>
            <p:cNvGrpSpPr/>
            <p:nvPr/>
          </p:nvGrpSpPr>
          <p:grpSpPr>
            <a:xfrm>
              <a:off x="947547" y="6133624"/>
              <a:ext cx="2963799" cy="190690"/>
              <a:chOff x="947547" y="6133624"/>
              <a:chExt cx="2963799" cy="190690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947547" y="6133624"/>
                <a:ext cx="95989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FFFFFF">
                        <a:alphaMod val="90000"/>
                      </a:srgbClr>
                    </a:solidFill>
                    <a:latin typeface="+mn-lt"/>
                    <a:ea typeface="+mn-ea"/>
                    <a:cs typeface="+mn-cs"/>
                  </a:rPr>
                  <a:t>AI原生营销中枢</a:t>
                </a:r>
              </a:p>
            </p:txBody>
          </p:sp>
          <p:sp>
            <p:nvSpPr>
              <p:cNvPr id="49" name="Line 49"/>
              <p:cNvSpPr/>
              <p:nvPr/>
            </p:nvSpPr>
            <p:spPr>
              <a:xfrm>
                <a:off x="2190750" y="619125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9525">
                <a:solidFill>
                  <a:srgbClr val="FFFFFF">
                    <a:alpha val="50000"/>
                  </a:srgbClr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2328672" y="613362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FFFFFF">
                        <a:alphaMod val="70000"/>
                      </a:srgbClr>
                    </a:solidFill>
                    <a:latin typeface="+mn-lt"/>
                    <a:ea typeface="+mn-ea"/>
                    <a:cs typeface="+mn-cs"/>
                  </a:rPr>
                  <a:t>现状概览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3238500" y="619125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9525">
                <a:solidFill>
                  <a:srgbClr val="FFFFFF">
                    <a:alpha val="50000"/>
                  </a:srgbClr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3376422" y="613362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FFFFFF">
                        <a:alphaMod val="70000"/>
                      </a:srgbClr>
                    </a:solidFill>
                    <a:latin typeface="+mn-lt"/>
                    <a:ea typeface="+mn-ea"/>
                    <a:cs typeface="+mn-cs"/>
                  </a:rPr>
                  <a:t>核心风险</a:t>
                </a:r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10984849" y="63879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 / 8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71500" y="1676400"/>
            <a:ext cx="12001500" cy="3771900"/>
            <a:chOff x="571500" y="1676400"/>
            <a:chExt cx="12001500" cy="3771900"/>
          </a:xfrm>
        </p:grpSpPr>
        <p:sp>
          <p:nvSpPr>
            <p:cNvPr id="56" name="Ellipse 56"/>
            <p:cNvSpPr/>
            <p:nvPr/>
          </p:nvSpPr>
          <p:spPr>
            <a:xfrm>
              <a:off x="8515350" y="1847850"/>
              <a:ext cx="114300" cy="114300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9296400" y="16764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9953625" y="2047875"/>
              <a:ext cx="95250" cy="95250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9010650" y="26289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9658350" y="2800350"/>
              <a:ext cx="114300" cy="114300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10439400" y="24384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10239375" y="3190875"/>
              <a:ext cx="95250" cy="95250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10915650" y="30099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8572500" y="171450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9334500" y="1714500"/>
              <a:ext cx="666750" cy="381000"/>
            </a:xfrm>
            <a:custGeom>
              <a:avLst/>
              <a:gdLst/>
              <a:ahLst/>
              <a:cxnLst/>
              <a:rect l="l" t="t" r="r" b="b"/>
              <a:pathLst>
                <a:path w="666750" h="381000">
                  <a:moveTo>
                    <a:pt x="0" y="0"/>
                  </a:moveTo>
                  <a:lnTo>
                    <a:pt x="666750" y="3810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10001250" y="209550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3810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8572500" y="1905000"/>
              <a:ext cx="476250" cy="762000"/>
            </a:xfrm>
            <a:custGeom>
              <a:avLst/>
              <a:gdLst/>
              <a:ahLst/>
              <a:cxnLst/>
              <a:rect l="l" t="t" r="r" b="b"/>
              <a:pathLst>
                <a:path w="476250" h="762000">
                  <a:moveTo>
                    <a:pt x="0" y="0"/>
                  </a:moveTo>
                  <a:lnTo>
                    <a:pt x="476250" y="7620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9048750" y="2667000"/>
              <a:ext cx="666750" cy="190500"/>
            </a:xfrm>
            <a:custGeom>
              <a:avLst/>
              <a:gdLst/>
              <a:ahLst/>
              <a:cxnLst/>
              <a:rect l="l" t="t" r="r" b="b"/>
              <a:pathLst>
                <a:path w="666750" h="190500">
                  <a:moveTo>
                    <a:pt x="0" y="0"/>
                  </a:moveTo>
                  <a:lnTo>
                    <a:pt x="666750" y="1905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9715500" y="2857500"/>
              <a:ext cx="571500" cy="381000"/>
            </a:xfrm>
            <a:custGeom>
              <a:avLst/>
              <a:gdLst/>
              <a:ahLst/>
              <a:cxnLst/>
              <a:rect l="l" t="t" r="r" b="b"/>
              <a:pathLst>
                <a:path w="571500" h="381000">
                  <a:moveTo>
                    <a:pt x="0" y="0"/>
                  </a:moveTo>
                  <a:lnTo>
                    <a:pt x="571500" y="3810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10287000" y="3048000"/>
              <a:ext cx="666750" cy="190500"/>
            </a:xfrm>
            <a:custGeom>
              <a:avLst/>
              <a:gdLst/>
              <a:ahLst/>
              <a:cxnLst/>
              <a:rect l="l" t="t" r="r" b="b"/>
              <a:pathLst>
                <a:path w="666750" h="190500">
                  <a:moveTo>
                    <a:pt x="0" y="19050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71" name="Line 71"/>
            <p:cNvSpPr/>
            <p:nvPr/>
          </p:nvSpPr>
          <p:spPr>
            <a:xfrm>
              <a:off x="10477500" y="2476500"/>
              <a:ext cx="476250" cy="571500"/>
            </a:xfrm>
            <a:custGeom>
              <a:avLst/>
              <a:gdLst/>
              <a:ahLst/>
              <a:cxnLst/>
              <a:rect l="l" t="t" r="r" b="b"/>
              <a:pathLst>
                <a:path w="476250" h="571500">
                  <a:moveTo>
                    <a:pt x="0" y="0"/>
                  </a:moveTo>
                  <a:lnTo>
                    <a:pt x="476250" y="5715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10668000" y="3048000"/>
              <a:ext cx="1524000" cy="1524000"/>
            </a:xfrm>
            <a:prstGeom prst="ellipse">
              <a:avLst/>
            </a:prstGeom>
            <a:noFill/>
            <a:ln w="14288">
              <a:solidFill>
                <a:schemeClr val="accent1">
                  <a:alpha val="10000"/>
                </a:schemeClr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10287000" y="2667000"/>
              <a:ext cx="2286000" cy="2286000"/>
            </a:xfrm>
            <a:prstGeom prst="ellipse">
              <a:avLst/>
            </a:prstGeom>
            <a:noFill/>
            <a:ln w="14288">
              <a:solidFill>
                <a:schemeClr val="accent1">
                  <a:alpha val="6000"/>
                </a:schemeClr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571500" y="5334000"/>
              <a:ext cx="1143000" cy="19050"/>
            </a:xfrm>
            <a:prstGeom prst="rect">
              <a:avLst/>
            </a:prstGeom>
            <a:solidFill>
              <a:schemeClr val="accen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571500" y="5429250"/>
              <a:ext cx="762000" cy="19050"/>
            </a:xfrm>
            <a:prstGeom prst="rect">
              <a:avLst/>
            </a:prstGeom>
            <a:solidFill>
              <a:schemeClr val="accent3">
                <a:alpha val="60000"/>
              </a:schemeClr>
            </a:solidFill>
            <a:ln w="14288">
              <a:solidFill>
                <a:schemeClr val="accent2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201525" cy="6858000"/>
            <a:chOff x="0" y="0"/>
            <a:chExt cx="12201525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620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0" y="0"/>
            <a:ext cx="12192000" cy="1724025"/>
            <a:chOff x="0" y="0"/>
            <a:chExt cx="12192000" cy="1724025"/>
          </a:xfrm>
        </p:grpSpPr>
        <p:sp>
          <p:nvSpPr>
            <p:cNvPr id="8" name="Rectangle 8"/>
            <p:cNvSpPr/>
            <p:nvPr/>
          </p:nvSpPr>
          <p:spPr>
            <a:xfrm>
              <a:off x="0" y="0"/>
              <a:ext cx="121920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695450"/>
              <a:ext cx="1905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6166" y="381952"/>
              <a:ext cx="664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784" y="73723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核心议题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4642" y="12639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本次简报围绕五大关键决策点展开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90600" y="1768316"/>
            <a:ext cx="10076622" cy="4137184"/>
            <a:chOff x="990600" y="1768316"/>
            <a:chExt cx="10076622" cy="4137184"/>
          </a:xfrm>
        </p:grpSpPr>
        <p:sp>
          <p:nvSpPr>
            <p:cNvPr id="14" name="Line 14"/>
            <p:cNvSpPr/>
            <p:nvPr/>
          </p:nvSpPr>
          <p:spPr>
            <a:xfrm>
              <a:off x="1143000" y="20955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  <a:prstDash val="dash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90600" y="2105025"/>
              <a:ext cx="4349496" cy="333375"/>
              <a:chOff x="990600" y="2105025"/>
              <a:chExt cx="4349496" cy="333375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990600" y="21336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68269" y="223647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516380" y="2105025"/>
                <a:ext cx="382371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为什么现有工具已无法支撑精细化运营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1524000" y="24003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990600" y="2867025"/>
              <a:ext cx="5124793" cy="333375"/>
              <a:chOff x="990600" y="2867025"/>
              <a:chExt cx="5124793" cy="333375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990600" y="28956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68269" y="299847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516380" y="2867025"/>
                <a:ext cx="459901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打通CRM、广告、电商、客服数据断层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1524000" y="31623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990600" y="3629025"/>
              <a:ext cx="4343400" cy="333375"/>
              <a:chOff x="990600" y="3629025"/>
              <a:chExt cx="4343400" cy="333375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990600" y="36576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68269" y="376047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516380" y="3629025"/>
                <a:ext cx="33756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预测、细分、归因能力的代际跨越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1524000" y="39243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990600" y="4391025"/>
              <a:ext cx="4343400" cy="333375"/>
              <a:chOff x="990600" y="4391025"/>
              <a:chExt cx="4343400" cy="333375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990600" y="44196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68269" y="452247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516380" y="4391025"/>
                <a:ext cx="359968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从策略生成到投放优化的端到端案例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1524000" y="46863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990600" y="5153025"/>
              <a:ext cx="4363098" cy="333375"/>
              <a:chOff x="990600" y="5153025"/>
              <a:chExt cx="4363098" cy="333375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990600" y="51816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68269" y="528447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516380" y="5153025"/>
                <a:ext cx="383731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30天POC到90天全面部署的计划</a:t>
                </a:r>
              </a:p>
            </p:txBody>
          </p:sp>
          <p:sp>
            <p:nvSpPr>
              <p:cNvPr id="38" name="Line 38"/>
              <p:cNvSpPr/>
              <p:nvPr/>
            </p:nvSpPr>
            <p:spPr>
              <a:xfrm>
                <a:off x="1524000" y="54483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65" name="Group 65"/>
            <p:cNvGrpSpPr/>
            <p:nvPr/>
          </p:nvGrpSpPr>
          <p:grpSpPr>
            <a:xfrm>
              <a:off x="7030279" y="1768316"/>
              <a:ext cx="4036943" cy="4067175"/>
              <a:chOff x="7030279" y="1768316"/>
              <a:chExt cx="4036943" cy="4067175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7334250" y="2095500"/>
                <a:ext cx="3429000" cy="3429000"/>
              </a:xfrm>
              <a:prstGeom prst="ellipse">
                <a:avLst/>
              </a:pr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7715250" y="2476500"/>
                <a:ext cx="2667000" cy="2667000"/>
              </a:xfrm>
              <a:prstGeom prst="ellipse">
                <a:avLst/>
              </a:pr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8096250" y="2857500"/>
                <a:ext cx="1905000" cy="1905000"/>
              </a:xfrm>
              <a:prstGeom prst="ellipse">
                <a:avLst/>
              </a:pr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8972550" y="37338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9048750" y="20955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9048750" y="51435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7334250" y="38100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10382250" y="38100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7905750" y="2667000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0"/>
                    </a:moveTo>
                    <a:lnTo>
                      <a:pt x="285750" y="2857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9906000" y="2667000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28575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7905750" y="4667250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28575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9906000" y="4667250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285750" y="285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8991600" y="20383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991600" y="54673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7277100" y="3752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10706100" y="3752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7848600" y="2609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10134600" y="2609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8" name="Ellipse 58"/>
              <p:cNvSpPr/>
              <p:nvPr/>
            </p:nvSpPr>
            <p:spPr>
              <a:xfrm>
                <a:off x="7848600" y="4895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10134600" y="4895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982904" y="1768316"/>
                <a:ext cx="1316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982904" y="5673566"/>
                <a:ext cx="1316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030279" y="3749516"/>
                <a:ext cx="1316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0935529" y="3749516"/>
                <a:ext cx="1316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554154" y="2339816"/>
                <a:ext cx="1316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566738" y="6387941"/>
            <a:ext cx="11058524" cy="161925"/>
            <a:chOff x="566738" y="6387941"/>
            <a:chExt cx="11058524" cy="161925"/>
          </a:xfrm>
        </p:grpSpPr>
        <p:sp>
          <p:nvSpPr>
            <p:cNvPr id="67" name="TextBox 67"/>
            <p:cNvSpPr txBox="1"/>
            <p:nvPr/>
          </p:nvSpPr>
          <p:spPr>
            <a:xfrm>
              <a:off x="566738" y="6387941"/>
              <a:ext cx="13355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营销工作台 · 核心议题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365849" y="63879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5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66738" y="264795"/>
            <a:ext cx="11053762" cy="220980"/>
            <a:chOff x="566738" y="264795"/>
            <a:chExt cx="11053762" cy="220980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95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738" y="264795"/>
              <a:ext cx="578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59308" y="645795"/>
            <a:ext cx="11061192" cy="5307330"/>
            <a:chOff x="559308" y="645795"/>
            <a:chExt cx="11061192" cy="5307330"/>
          </a:xfrm>
        </p:grpSpPr>
        <p:sp>
          <p:nvSpPr>
            <p:cNvPr id="8" name="TextBox 8"/>
            <p:cNvSpPr txBox="1"/>
            <p:nvPr/>
          </p:nvSpPr>
          <p:spPr>
            <a:xfrm>
              <a:off x="559308" y="645795"/>
              <a:ext cx="14581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核心洞察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571500" y="1333500"/>
              <a:ext cx="11049000" cy="3279648"/>
              <a:chOff x="571500" y="1333500"/>
              <a:chExt cx="11049000" cy="3279648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571500" y="1333500"/>
                <a:ext cx="3810000" cy="3279648"/>
                <a:chOff x="571500" y="1333500"/>
                <a:chExt cx="3810000" cy="3279648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571500" y="1333500"/>
                  <a:ext cx="3810000" cy="323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0" h="3238500">
                      <a:moveTo>
                        <a:pt x="114300" y="0"/>
                      </a:moveTo>
                      <a:lnTo>
                        <a:pt x="3695700" y="0"/>
                      </a:lnTo>
                      <a:cubicBezTo>
                        <a:pt x="3758826" y="0"/>
                        <a:pt x="3810000" y="51174"/>
                        <a:pt x="3810000" y="114300"/>
                      </a:cubicBezTo>
                      <a:lnTo>
                        <a:pt x="3810000" y="3124200"/>
                      </a:lnTo>
                      <a:cubicBezTo>
                        <a:pt x="3810000" y="3187326"/>
                        <a:pt x="3758826" y="3238500"/>
                        <a:pt x="3695700" y="3238500"/>
                      </a:cubicBezTo>
                      <a:lnTo>
                        <a:pt x="114300" y="3238500"/>
                      </a:lnTo>
                      <a:cubicBezTo>
                        <a:pt x="51174" y="3238500"/>
                        <a:pt x="0" y="3187326"/>
                        <a:pt x="0" y="3124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1214095" y="1695450"/>
                  <a:ext cx="2524811" cy="1733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70%</a:t>
                  </a: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2106168" y="3092768"/>
                  <a:ext cx="74066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时间投入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1835086" y="33632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数据准备与报表核对</a:t>
                  </a:r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714500" y="3810000"/>
                  <a:ext cx="152400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0" h="28575">
                      <a:moveTo>
                        <a:pt x="14288" y="0"/>
                      </a:moveTo>
                      <a:lnTo>
                        <a:pt x="1509712" y="0"/>
                      </a:lnTo>
                      <a:cubicBezTo>
                        <a:pt x="1517603" y="0"/>
                        <a:pt x="1524000" y="6397"/>
                        <a:pt x="1524000" y="14288"/>
                      </a:cubicBezTo>
                      <a:lnTo>
                        <a:pt x="1524000" y="14288"/>
                      </a:lnTo>
                      <a:cubicBezTo>
                        <a:pt x="1524000" y="22178"/>
                        <a:pt x="1517603" y="28575"/>
                        <a:pt x="1509712" y="28575"/>
                      </a:cubicBezTo>
                      <a:lnTo>
                        <a:pt x="14288" y="28575"/>
                      </a:lnTo>
                      <a:cubicBezTo>
                        <a:pt x="6397" y="28575"/>
                        <a:pt x="0" y="22178"/>
                        <a:pt x="0" y="14288"/>
                      </a:cubicBez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985772" y="4061460"/>
                  <a:ext cx="98145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决策响应周期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2003214" y="4202430"/>
                  <a:ext cx="946572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1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2-4 周</a:t>
                  </a:r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4762500" y="1333500"/>
                <a:ext cx="6858000" cy="3238500"/>
                <a:chOff x="4762500" y="1333500"/>
                <a:chExt cx="6858000" cy="32385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4762500" y="1333500"/>
                  <a:ext cx="6858000" cy="323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8000" h="3238500">
                      <a:moveTo>
                        <a:pt x="114300" y="0"/>
                      </a:moveTo>
                      <a:lnTo>
                        <a:pt x="6743700" y="0"/>
                      </a:lnTo>
                      <a:cubicBezTo>
                        <a:pt x="6806826" y="0"/>
                        <a:pt x="6858000" y="51174"/>
                        <a:pt x="6858000" y="114300"/>
                      </a:cubicBezTo>
                      <a:lnTo>
                        <a:pt x="6858000" y="3124200"/>
                      </a:lnTo>
                      <a:cubicBezTo>
                        <a:pt x="6858000" y="3187326"/>
                        <a:pt x="6806826" y="3238500"/>
                        <a:pt x="6743700" y="3238500"/>
                      </a:cubicBezTo>
                      <a:lnTo>
                        <a:pt x="114300" y="3238500"/>
                      </a:lnTo>
                      <a:cubicBezTo>
                        <a:pt x="51174" y="3238500"/>
                        <a:pt x="0" y="3187326"/>
                        <a:pt x="0" y="3124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5124450" y="1417320"/>
                  <a:ext cx="460553" cy="1047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5400" dirty="0">
                      <a:solidFill>
                        <a:schemeClr val="accent2">
                          <a:alphaMod val="30000"/>
                        </a:schemeClr>
                      </a:solidFill>
                      <a:latin typeface="Georgia"/>
                      <a:ea typeface="Georgia"/>
                      <a:cs typeface="Georgia"/>
                    </a:rPr>
                    <a:t>"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5134356" y="2282190"/>
                  <a:ext cx="2683764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营销团队传统工作流中，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5134356" y="2663190"/>
                  <a:ext cx="3858997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70%时间花在数据准备与报表核对，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134356" y="3044190"/>
                  <a:ext cx="2841269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决策响应周期长达2-4周。</a:t>
                  </a:r>
                </a:p>
              </p:txBody>
            </p:sp>
            <p:sp>
              <p:nvSpPr>
                <p:cNvPr id="22" name="Freeform 22"/>
                <p:cNvSpPr/>
                <p:nvPr/>
              </p:nvSpPr>
              <p:spPr>
                <a:xfrm>
                  <a:off x="5143500" y="3524250"/>
                  <a:ext cx="7620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38100">
                      <a:moveTo>
                        <a:pt x="19050" y="0"/>
                      </a:moveTo>
                      <a:lnTo>
                        <a:pt x="742950" y="0"/>
                      </a:lnTo>
                      <a:cubicBezTo>
                        <a:pt x="753471" y="0"/>
                        <a:pt x="762000" y="8529"/>
                        <a:pt x="762000" y="19050"/>
                      </a:cubicBezTo>
                      <a:lnTo>
                        <a:pt x="762000" y="19050"/>
                      </a:lnTo>
                      <a:cubicBezTo>
                        <a:pt x="762000" y="29571"/>
                        <a:pt x="753471" y="38100"/>
                        <a:pt x="742950" y="38100"/>
                      </a:cubicBezTo>
                      <a:lnTo>
                        <a:pt x="19050" y="38100"/>
                      </a:lnTo>
                      <a:cubicBezTo>
                        <a:pt x="8529" y="38100"/>
                        <a:pt x="0" y="29571"/>
                        <a:pt x="0" y="190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5138166" y="3887152"/>
                  <a:ext cx="60636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spc="75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问题本质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5135880" y="4124325"/>
                  <a:ext cx="385191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数据瓶颈导致营销决策严重滞后于市场变化</a:t>
                  </a:r>
                </a:p>
              </p:txBody>
            </p:sp>
          </p:grpSp>
        </p:grpSp>
        <p:grpSp>
          <p:nvGrpSpPr>
            <p:cNvPr id="46" name="Group 46"/>
            <p:cNvGrpSpPr/>
            <p:nvPr/>
          </p:nvGrpSpPr>
          <p:grpSpPr>
            <a:xfrm>
              <a:off x="571500" y="4953000"/>
              <a:ext cx="11049000" cy="1000125"/>
              <a:chOff x="571500" y="4953000"/>
              <a:chExt cx="11049000" cy="1000125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71500" y="4953000"/>
                <a:ext cx="11049000" cy="95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571500" y="5191125"/>
                <a:ext cx="3429000" cy="762000"/>
                <a:chOff x="571500" y="5191125"/>
                <a:chExt cx="3429000" cy="76200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571500" y="5191125"/>
                  <a:ext cx="34290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762000">
                      <a:moveTo>
                        <a:pt x="76200" y="0"/>
                      </a:moveTo>
                      <a:lnTo>
                        <a:pt x="3352800" y="0"/>
                      </a:lnTo>
                      <a:cubicBezTo>
                        <a:pt x="3394884" y="0"/>
                        <a:pt x="3429000" y="34116"/>
                        <a:pt x="3429000" y="76200"/>
                      </a:cubicBezTo>
                      <a:lnTo>
                        <a:pt x="3429000" y="685800"/>
                      </a:lnTo>
                      <a:cubicBezTo>
                        <a:pt x="3429000" y="727884"/>
                        <a:pt x="3394884" y="762000"/>
                        <a:pt x="3352800" y="762000"/>
                      </a:cubicBezTo>
                      <a:lnTo>
                        <a:pt x="76200" y="762000"/>
                      </a:lnTo>
                      <a:cubicBezTo>
                        <a:pt x="34116" y="762000"/>
                        <a:pt x="0" y="727884"/>
                        <a:pt x="0" y="685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571500" y="5191125"/>
                  <a:ext cx="381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62000">
                      <a:moveTo>
                        <a:pt x="19050" y="0"/>
                      </a:moveTo>
                      <a:lnTo>
                        <a:pt x="19050" y="0"/>
                      </a:lnTo>
                      <a:cubicBezTo>
                        <a:pt x="29571" y="0"/>
                        <a:pt x="38100" y="8529"/>
                        <a:pt x="38100" y="19050"/>
                      </a:cubicBezTo>
                      <a:lnTo>
                        <a:pt x="38100" y="742950"/>
                      </a:lnTo>
                      <a:cubicBezTo>
                        <a:pt x="38100" y="753471"/>
                        <a:pt x="29571" y="762000"/>
                        <a:pt x="19050" y="762000"/>
                      </a:cubicBezTo>
                      <a:lnTo>
                        <a:pt x="19050" y="762000"/>
                      </a:lnTo>
                      <a:cubicBezTo>
                        <a:pt x="8529" y="762000"/>
                        <a:pt x="0" y="753471"/>
                        <a:pt x="0" y="7429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0" name="Ellipse 30"/>
                <p:cNvSpPr/>
                <p:nvPr/>
              </p:nvSpPr>
              <p:spPr>
                <a:xfrm>
                  <a:off x="847725" y="5514975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090041" y="5411152"/>
                  <a:ext cx="11414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客户行为变化速度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1088517" y="5616892"/>
                  <a:ext cx="140673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＜ 营销响应速度</a:t>
                  </a:r>
                </a:p>
              </p:txBody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4191000" y="5191125"/>
                <a:ext cx="3429000" cy="762000"/>
                <a:chOff x="4191000" y="5191125"/>
                <a:chExt cx="3429000" cy="76200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4191000" y="5191125"/>
                  <a:ext cx="34290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762000">
                      <a:moveTo>
                        <a:pt x="76200" y="0"/>
                      </a:moveTo>
                      <a:lnTo>
                        <a:pt x="3352800" y="0"/>
                      </a:lnTo>
                      <a:cubicBezTo>
                        <a:pt x="3394884" y="0"/>
                        <a:pt x="3429000" y="34116"/>
                        <a:pt x="3429000" y="76200"/>
                      </a:cubicBezTo>
                      <a:lnTo>
                        <a:pt x="3429000" y="685800"/>
                      </a:lnTo>
                      <a:cubicBezTo>
                        <a:pt x="3429000" y="727884"/>
                        <a:pt x="3394884" y="762000"/>
                        <a:pt x="3352800" y="762000"/>
                      </a:cubicBezTo>
                      <a:lnTo>
                        <a:pt x="76200" y="762000"/>
                      </a:lnTo>
                      <a:cubicBezTo>
                        <a:pt x="34116" y="762000"/>
                        <a:pt x="0" y="727884"/>
                        <a:pt x="0" y="685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191000" y="5191125"/>
                  <a:ext cx="381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62000">
                      <a:moveTo>
                        <a:pt x="19050" y="0"/>
                      </a:moveTo>
                      <a:lnTo>
                        <a:pt x="19050" y="0"/>
                      </a:lnTo>
                      <a:cubicBezTo>
                        <a:pt x="29571" y="0"/>
                        <a:pt x="38100" y="8529"/>
                        <a:pt x="38100" y="19050"/>
                      </a:cubicBezTo>
                      <a:lnTo>
                        <a:pt x="38100" y="742950"/>
                      </a:lnTo>
                      <a:cubicBezTo>
                        <a:pt x="38100" y="753471"/>
                        <a:pt x="29571" y="762000"/>
                        <a:pt x="19050" y="762000"/>
                      </a:cubicBezTo>
                      <a:lnTo>
                        <a:pt x="19050" y="762000"/>
                      </a:lnTo>
                      <a:cubicBezTo>
                        <a:pt x="8529" y="762000"/>
                        <a:pt x="0" y="753471"/>
                        <a:pt x="0" y="7429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6" name="Ellipse 36"/>
                <p:cNvSpPr/>
                <p:nvPr/>
              </p:nvSpPr>
              <p:spPr>
                <a:xfrm>
                  <a:off x="4467225" y="5514975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4709541" y="5411152"/>
                  <a:ext cx="156552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完整数据分析到优化迭代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4708017" y="5616892"/>
                  <a:ext cx="186470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平均耗时 12 个工作日</a:t>
                  </a:r>
                </a:p>
              </p:txBody>
            </p:sp>
          </p:grpSp>
          <p:grpSp>
            <p:nvGrpSpPr>
              <p:cNvPr id="45" name="Group 45"/>
              <p:cNvGrpSpPr/>
              <p:nvPr/>
            </p:nvGrpSpPr>
            <p:grpSpPr>
              <a:xfrm>
                <a:off x="7810500" y="5191125"/>
                <a:ext cx="3810000" cy="762000"/>
                <a:chOff x="7810500" y="5191125"/>
                <a:chExt cx="3810000" cy="762000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7810500" y="5191125"/>
                  <a:ext cx="38100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0" h="762000">
                      <a:moveTo>
                        <a:pt x="76200" y="0"/>
                      </a:moveTo>
                      <a:lnTo>
                        <a:pt x="3733800" y="0"/>
                      </a:lnTo>
                      <a:cubicBezTo>
                        <a:pt x="3775884" y="0"/>
                        <a:pt x="3810000" y="34116"/>
                        <a:pt x="3810000" y="76200"/>
                      </a:cubicBezTo>
                      <a:lnTo>
                        <a:pt x="3810000" y="685800"/>
                      </a:lnTo>
                      <a:cubicBezTo>
                        <a:pt x="3810000" y="727884"/>
                        <a:pt x="3775884" y="762000"/>
                        <a:pt x="3733800" y="762000"/>
                      </a:cubicBezTo>
                      <a:lnTo>
                        <a:pt x="76200" y="762000"/>
                      </a:lnTo>
                      <a:cubicBezTo>
                        <a:pt x="34116" y="762000"/>
                        <a:pt x="0" y="727884"/>
                        <a:pt x="0" y="685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810500" y="5191125"/>
                  <a:ext cx="381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62000">
                      <a:moveTo>
                        <a:pt x="19050" y="0"/>
                      </a:moveTo>
                      <a:lnTo>
                        <a:pt x="19050" y="0"/>
                      </a:lnTo>
                      <a:cubicBezTo>
                        <a:pt x="29571" y="0"/>
                        <a:pt x="38100" y="8529"/>
                        <a:pt x="38100" y="19050"/>
                      </a:cubicBezTo>
                      <a:lnTo>
                        <a:pt x="38100" y="742950"/>
                      </a:lnTo>
                      <a:cubicBezTo>
                        <a:pt x="38100" y="753471"/>
                        <a:pt x="29571" y="762000"/>
                        <a:pt x="19050" y="762000"/>
                      </a:cubicBezTo>
                      <a:lnTo>
                        <a:pt x="19050" y="762000"/>
                      </a:lnTo>
                      <a:cubicBezTo>
                        <a:pt x="8529" y="762000"/>
                        <a:pt x="0" y="753471"/>
                        <a:pt x="0" y="7429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42" name="Ellipse 42"/>
                <p:cNvSpPr/>
                <p:nvPr/>
              </p:nvSpPr>
              <p:spPr>
                <a:xfrm>
                  <a:off x="8086725" y="5514975"/>
                  <a:ext cx="114300" cy="1143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8329041" y="541115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现状评估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8327517" y="5616892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当前事实</a:t>
                  </a:r>
                </a:p>
              </p:txBody>
            </p:sp>
          </p:grpSp>
        </p:grpSp>
      </p:grpSp>
      <p:grpSp>
        <p:nvGrpSpPr>
          <p:cNvPr id="51" name="Group 51"/>
          <p:cNvGrpSpPr/>
          <p:nvPr/>
        </p:nvGrpSpPr>
        <p:grpSpPr>
          <a:xfrm>
            <a:off x="566738" y="6477000"/>
            <a:ext cx="11058524" cy="263366"/>
            <a:chOff x="566738" y="6477000"/>
            <a:chExt cx="11058524" cy="263366"/>
          </a:xfrm>
        </p:grpSpPr>
        <p:sp>
          <p:nvSpPr>
            <p:cNvPr id="48" name="Rectangle 48"/>
            <p:cNvSpPr/>
            <p:nvPr/>
          </p:nvSpPr>
          <p:spPr>
            <a:xfrm>
              <a:off x="571500" y="6477000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6738" y="6578441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658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0" y="0"/>
            <a:ext cx="12192000" cy="1543050"/>
            <a:chOff x="0" y="0"/>
            <a:chExt cx="12192000" cy="154305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476250"/>
              <a:ext cx="12192000" cy="7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547" y="77104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系统比较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9308" y="883920"/>
              <a:ext cx="43257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范式转移：传统营销工作流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3880" y="1219200"/>
              <a:ext cx="3002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平台将线性手工流变为实时闭环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524000"/>
              <a:ext cx="11049000" cy="19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571500" y="1762125"/>
            <a:ext cx="11049000" cy="4143375"/>
            <a:chOff x="571500" y="1762125"/>
            <a:chExt cx="11049000" cy="4143375"/>
          </a:xfrm>
        </p:grpSpPr>
        <p:sp>
          <p:nvSpPr>
            <p:cNvPr id="12" name="Rectangle 12"/>
            <p:cNvSpPr/>
            <p:nvPr/>
          </p:nvSpPr>
          <p:spPr>
            <a:xfrm>
              <a:off x="5953125" y="1905000"/>
              <a:ext cx="285750" cy="4000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07314" y="3806190"/>
              <a:ext cx="377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VS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571500" y="1762125"/>
              <a:ext cx="5191125" cy="3905250"/>
              <a:chOff x="571500" y="1762125"/>
              <a:chExt cx="5191125" cy="39052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71500" y="1762125"/>
                <a:ext cx="5191125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191125" h="476250">
                    <a:moveTo>
                      <a:pt x="57150" y="0"/>
                    </a:moveTo>
                    <a:lnTo>
                      <a:pt x="5133975" y="0"/>
                    </a:lnTo>
                    <a:cubicBezTo>
                      <a:pt x="5165538" y="0"/>
                      <a:pt x="5191125" y="25587"/>
                      <a:pt x="5191125" y="57150"/>
                    </a:cubicBezTo>
                    <a:lnTo>
                      <a:pt x="5191125" y="419100"/>
                    </a:lnTo>
                    <a:cubicBezTo>
                      <a:pt x="5191125" y="450663"/>
                      <a:pt x="5165538" y="476250"/>
                      <a:pt x="5133975" y="476250"/>
                    </a:cubicBezTo>
                    <a:lnTo>
                      <a:pt x="57150" y="476250"/>
                    </a:lnTo>
                    <a:cubicBezTo>
                      <a:pt x="25587" y="476250"/>
                      <a:pt x="0" y="450663"/>
                      <a:pt x="0" y="4191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773794" y="1930718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传统方式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571500" y="2381250"/>
                <a:ext cx="5191125" cy="1571625"/>
              </a:xfrm>
              <a:custGeom>
                <a:avLst/>
                <a:gdLst/>
                <a:ahLst/>
                <a:cxnLst/>
                <a:rect l="l" t="t" r="r" b="b"/>
                <a:pathLst>
                  <a:path w="5191125" h="1571625">
                    <a:moveTo>
                      <a:pt x="76200" y="0"/>
                    </a:moveTo>
                    <a:lnTo>
                      <a:pt x="5114925" y="0"/>
                    </a:lnTo>
                    <a:cubicBezTo>
                      <a:pt x="5157009" y="0"/>
                      <a:pt x="5191125" y="34116"/>
                      <a:pt x="5191125" y="76200"/>
                    </a:cubicBezTo>
                    <a:lnTo>
                      <a:pt x="5191125" y="1495425"/>
                    </a:lnTo>
                    <a:cubicBezTo>
                      <a:pt x="5191125" y="1537509"/>
                      <a:pt x="5157009" y="1571625"/>
                      <a:pt x="5114925" y="1571625"/>
                    </a:cubicBezTo>
                    <a:lnTo>
                      <a:pt x="76200" y="1571625"/>
                    </a:lnTo>
                    <a:cubicBezTo>
                      <a:pt x="34116" y="1571625"/>
                      <a:pt x="0" y="1537509"/>
                      <a:pt x="0" y="1495425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71500" y="2381250"/>
                <a:ext cx="76200" cy="15716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71625">
                    <a:moveTo>
                      <a:pt x="3810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1533525"/>
                    </a:lnTo>
                    <a:cubicBezTo>
                      <a:pt x="76200" y="1554567"/>
                      <a:pt x="59142" y="1571625"/>
                      <a:pt x="38100" y="1571625"/>
                    </a:cubicBezTo>
                    <a:lnTo>
                      <a:pt x="38100" y="1571625"/>
                    </a:lnTo>
                    <a:cubicBezTo>
                      <a:pt x="17058" y="1571625"/>
                      <a:pt x="0" y="1554567"/>
                      <a:pt x="0" y="1533525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51535" y="2593181"/>
                <a:ext cx="6475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1"/>
                    </a:solidFill>
                    <a:latin typeface="Segoe UI"/>
                    <a:ea typeface="Microsoft YaHei"/>
                    <a:cs typeface="Segoe UI"/>
                  </a:rPr>
                  <a:t>数据整合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857250" y="2857500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742950" y="3124200"/>
                <a:ext cx="419100" cy="4191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6300" y="3238500"/>
                <a:ext cx="1524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42875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47625"/>
                    </a:lnTo>
                    <a:lnTo>
                      <a:pt x="76200" y="142875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80541" y="3268028"/>
                <a:ext cx="100385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工程师手动ETL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80541" y="350615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周级别更新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80541" y="369665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53030"/>
                    </a:solidFill>
                    <a:latin typeface="Segoe UI"/>
                    <a:ea typeface="Microsoft YaHei"/>
                    <a:cs typeface="Segoe UI"/>
                  </a:rPr>
                  <a:t>多源字段冲突频发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71500" y="4095750"/>
                <a:ext cx="5191125" cy="1571625"/>
              </a:xfrm>
              <a:custGeom>
                <a:avLst/>
                <a:gdLst/>
                <a:ahLst/>
                <a:cxnLst/>
                <a:rect l="l" t="t" r="r" b="b"/>
                <a:pathLst>
                  <a:path w="5191125" h="1571625">
                    <a:moveTo>
                      <a:pt x="76200" y="0"/>
                    </a:moveTo>
                    <a:lnTo>
                      <a:pt x="5114925" y="0"/>
                    </a:lnTo>
                    <a:cubicBezTo>
                      <a:pt x="5157009" y="0"/>
                      <a:pt x="5191125" y="34116"/>
                      <a:pt x="5191125" y="76200"/>
                    </a:cubicBezTo>
                    <a:lnTo>
                      <a:pt x="5191125" y="1495425"/>
                    </a:lnTo>
                    <a:cubicBezTo>
                      <a:pt x="5191125" y="1537509"/>
                      <a:pt x="5157009" y="1571625"/>
                      <a:pt x="5114925" y="1571625"/>
                    </a:cubicBezTo>
                    <a:lnTo>
                      <a:pt x="76200" y="1571625"/>
                    </a:lnTo>
                    <a:cubicBezTo>
                      <a:pt x="34116" y="1571625"/>
                      <a:pt x="0" y="1537509"/>
                      <a:pt x="0" y="1495425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71500" y="4095750"/>
                <a:ext cx="76200" cy="15716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71625">
                    <a:moveTo>
                      <a:pt x="3810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1533525"/>
                    </a:lnTo>
                    <a:cubicBezTo>
                      <a:pt x="76200" y="1554567"/>
                      <a:pt x="59142" y="1571625"/>
                      <a:pt x="38100" y="1571625"/>
                    </a:cubicBezTo>
                    <a:lnTo>
                      <a:pt x="38100" y="1571625"/>
                    </a:lnTo>
                    <a:cubicBezTo>
                      <a:pt x="17058" y="1571625"/>
                      <a:pt x="0" y="1554567"/>
                      <a:pt x="0" y="1533525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51535" y="4307681"/>
                <a:ext cx="6475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1"/>
                    </a:solidFill>
                    <a:latin typeface="Segoe UI"/>
                    <a:ea typeface="Microsoft YaHei"/>
                    <a:cs typeface="Segoe UI"/>
                  </a:rPr>
                  <a:t>受众分析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857250" y="4572000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742950" y="4838700"/>
                <a:ext cx="419100" cy="4191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857250" y="4953000"/>
                <a:ext cx="57150" cy="142875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942975" y="5000625"/>
                <a:ext cx="57150" cy="9525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1028700" y="4933950"/>
                <a:ext cx="57150" cy="161925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80541" y="4887278"/>
                <a:ext cx="8843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分析师跑SQL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80541" y="5125402"/>
                <a:ext cx="10142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取数→做表→解读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280541" y="53159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53030"/>
                    </a:solidFill>
                    <a:latin typeface="Segoe UI"/>
                    <a:ea typeface="Microsoft YaHei"/>
                    <a:cs typeface="Segoe UI"/>
                  </a:rPr>
                  <a:t>依赖个人经验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6429375" y="1762125"/>
              <a:ext cx="5191125" cy="3905250"/>
              <a:chOff x="6429375" y="1762125"/>
              <a:chExt cx="5191125" cy="39052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429375" y="1762125"/>
                <a:ext cx="5191125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191125" h="476250">
                    <a:moveTo>
                      <a:pt x="57150" y="0"/>
                    </a:moveTo>
                    <a:lnTo>
                      <a:pt x="5133975" y="0"/>
                    </a:lnTo>
                    <a:cubicBezTo>
                      <a:pt x="5165538" y="0"/>
                      <a:pt x="5191125" y="25587"/>
                      <a:pt x="5191125" y="57150"/>
                    </a:cubicBezTo>
                    <a:lnTo>
                      <a:pt x="5191125" y="419100"/>
                    </a:lnTo>
                    <a:cubicBezTo>
                      <a:pt x="5191125" y="450663"/>
                      <a:pt x="5165538" y="476250"/>
                      <a:pt x="5133975" y="476250"/>
                    </a:cubicBezTo>
                    <a:lnTo>
                      <a:pt x="57150" y="476250"/>
                    </a:lnTo>
                    <a:cubicBezTo>
                      <a:pt x="25587" y="476250"/>
                      <a:pt x="0" y="450663"/>
                      <a:pt x="0" y="4191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524376" y="1930718"/>
                <a:ext cx="9915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AI营销中枢</a:t>
                </a:r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6429375" y="2381250"/>
                <a:ext cx="5191125" cy="1571625"/>
              </a:xfrm>
              <a:custGeom>
                <a:avLst/>
                <a:gdLst/>
                <a:ahLst/>
                <a:cxnLst/>
                <a:rect l="l" t="t" r="r" b="b"/>
                <a:pathLst>
                  <a:path w="5191125" h="1571625">
                    <a:moveTo>
                      <a:pt x="76200" y="0"/>
                    </a:moveTo>
                    <a:lnTo>
                      <a:pt x="5114925" y="0"/>
                    </a:lnTo>
                    <a:cubicBezTo>
                      <a:pt x="5157009" y="0"/>
                      <a:pt x="5191125" y="34116"/>
                      <a:pt x="5191125" y="76200"/>
                    </a:cubicBezTo>
                    <a:lnTo>
                      <a:pt x="5191125" y="1495425"/>
                    </a:lnTo>
                    <a:cubicBezTo>
                      <a:pt x="5191125" y="1537509"/>
                      <a:pt x="5157009" y="1571625"/>
                      <a:pt x="5114925" y="1571625"/>
                    </a:cubicBezTo>
                    <a:lnTo>
                      <a:pt x="76200" y="1571625"/>
                    </a:lnTo>
                    <a:cubicBezTo>
                      <a:pt x="34116" y="1571625"/>
                      <a:pt x="0" y="1537509"/>
                      <a:pt x="0" y="1495425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429375" y="2381250"/>
                <a:ext cx="76200" cy="15716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71625">
                    <a:moveTo>
                      <a:pt x="3810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1533525"/>
                    </a:lnTo>
                    <a:cubicBezTo>
                      <a:pt x="76200" y="1554567"/>
                      <a:pt x="59142" y="1571625"/>
                      <a:pt x="38100" y="1571625"/>
                    </a:cubicBezTo>
                    <a:lnTo>
                      <a:pt x="38100" y="1571625"/>
                    </a:lnTo>
                    <a:cubicBezTo>
                      <a:pt x="17058" y="1571625"/>
                      <a:pt x="0" y="1554567"/>
                      <a:pt x="0" y="1533525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709410" y="2593181"/>
                <a:ext cx="6475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1"/>
                    </a:solidFill>
                    <a:latin typeface="Segoe UI"/>
                    <a:ea typeface="Microsoft YaHei"/>
                    <a:cs typeface="Segoe UI"/>
                  </a:rPr>
                  <a:t>数据整合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6715125" y="2857500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9525">
                <a:solidFill>
                  <a:srgbClr val="BEE3F8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6600825" y="3124200"/>
                <a:ext cx="419100" cy="419100"/>
              </a:xfrm>
              <a:prstGeom prst="ellipse">
                <a:avLst/>
              </a:prstGeom>
              <a:solidFill>
                <a:srgbClr val="BEE3F8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6696075" y="328612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829425" y="328612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6762750" y="320992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6743700" y="333375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6743700" y="3257550"/>
                <a:ext cx="666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76200">
                    <a:moveTo>
                      <a:pt x="66675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6810375" y="3257550"/>
                <a:ext cx="666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76200">
                    <a:moveTo>
                      <a:pt x="0" y="0"/>
                    </a:moveTo>
                    <a:lnTo>
                      <a:pt x="66675" y="76200"/>
                    </a:lnTo>
                  </a:path>
                </a:pathLst>
              </a:cu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186041" y="326802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4A6F"/>
                    </a:solidFill>
                    <a:latin typeface="Segoe UI"/>
                    <a:ea typeface="Microsoft YaHei"/>
                    <a:cs typeface="Segoe UI"/>
                  </a:rPr>
                  <a:t>平台自动连接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186041" y="350615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4A6F"/>
                    </a:solidFill>
                    <a:latin typeface="Segoe UI"/>
                    <a:ea typeface="Microsoft YaHei"/>
                    <a:cs typeface="Segoe UI"/>
                  </a:rPr>
                  <a:t>实时流处理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186041" y="3696652"/>
                <a:ext cx="15655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4A6F"/>
                    </a:solidFill>
                    <a:latin typeface="Segoe UI"/>
                    <a:ea typeface="Microsoft YaHei"/>
                    <a:cs typeface="Segoe UI"/>
                  </a:rPr>
                  <a:t>标准实体模型，秒级就绪</a:t>
                </a:r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6429375" y="4095750"/>
                <a:ext cx="5191125" cy="1571625"/>
              </a:xfrm>
              <a:custGeom>
                <a:avLst/>
                <a:gdLst/>
                <a:ahLst/>
                <a:cxnLst/>
                <a:rect l="l" t="t" r="r" b="b"/>
                <a:pathLst>
                  <a:path w="5191125" h="1571625">
                    <a:moveTo>
                      <a:pt x="76200" y="0"/>
                    </a:moveTo>
                    <a:lnTo>
                      <a:pt x="5114925" y="0"/>
                    </a:lnTo>
                    <a:cubicBezTo>
                      <a:pt x="5157009" y="0"/>
                      <a:pt x="5191125" y="34116"/>
                      <a:pt x="5191125" y="76200"/>
                    </a:cubicBezTo>
                    <a:lnTo>
                      <a:pt x="5191125" y="1495425"/>
                    </a:lnTo>
                    <a:cubicBezTo>
                      <a:pt x="5191125" y="1537509"/>
                      <a:pt x="5157009" y="1571625"/>
                      <a:pt x="5114925" y="1571625"/>
                    </a:cubicBezTo>
                    <a:lnTo>
                      <a:pt x="76200" y="1571625"/>
                    </a:lnTo>
                    <a:cubicBezTo>
                      <a:pt x="34116" y="1571625"/>
                      <a:pt x="0" y="1537509"/>
                      <a:pt x="0" y="1495425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429375" y="4095750"/>
                <a:ext cx="76200" cy="15716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71625">
                    <a:moveTo>
                      <a:pt x="3810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1533525"/>
                    </a:lnTo>
                    <a:cubicBezTo>
                      <a:pt x="76200" y="1554567"/>
                      <a:pt x="59142" y="1571625"/>
                      <a:pt x="38100" y="1571625"/>
                    </a:cubicBezTo>
                    <a:lnTo>
                      <a:pt x="38100" y="1571625"/>
                    </a:lnTo>
                    <a:cubicBezTo>
                      <a:pt x="17058" y="1571625"/>
                      <a:pt x="0" y="1554567"/>
                      <a:pt x="0" y="1533525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709410" y="4307681"/>
                <a:ext cx="6475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1"/>
                    </a:solidFill>
                    <a:latin typeface="Segoe UI"/>
                    <a:ea typeface="Microsoft YaHei"/>
                    <a:cs typeface="Segoe UI"/>
                  </a:rPr>
                  <a:t>受众分析</a:t>
                </a:r>
              </a:p>
            </p:txBody>
          </p:sp>
          <p:sp>
            <p:nvSpPr>
              <p:cNvPr id="56" name="Line 56"/>
              <p:cNvSpPr/>
              <p:nvPr/>
            </p:nvSpPr>
            <p:spPr>
              <a:xfrm>
                <a:off x="6715125" y="4572000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9525">
                <a:solidFill>
                  <a:srgbClr val="BEE3F8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6600825" y="4838700"/>
                <a:ext cx="419100" cy="419100"/>
              </a:xfrm>
              <a:prstGeom prst="ellipse">
                <a:avLst/>
              </a:prstGeom>
              <a:solidFill>
                <a:srgbClr val="BEE3F8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43700" y="5000625"/>
                <a:ext cx="1333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42875">
                    <a:moveTo>
                      <a:pt x="0" y="95250"/>
                    </a:moveTo>
                    <a:cubicBezTo>
                      <a:pt x="44450" y="0"/>
                      <a:pt x="88900" y="0"/>
                      <a:pt x="133350" y="95250"/>
                    </a:cubicBezTo>
                    <a:cubicBezTo>
                      <a:pt x="120650" y="127000"/>
                      <a:pt x="98425" y="142875"/>
                      <a:pt x="66675" y="142875"/>
                    </a:cubicBezTo>
                    <a:cubicBezTo>
                      <a:pt x="34925" y="142875"/>
                      <a:pt x="12700" y="127000"/>
                      <a:pt x="0" y="9525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6762750" y="5010150"/>
                <a:ext cx="38100" cy="3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0" name="Ellipse 60"/>
              <p:cNvSpPr/>
              <p:nvPr/>
            </p:nvSpPr>
            <p:spPr>
              <a:xfrm>
                <a:off x="6819900" y="5010150"/>
                <a:ext cx="38100" cy="3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186041" y="4887278"/>
                <a:ext cx="1183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4A6F"/>
                    </a:solidFill>
                    <a:latin typeface="Segoe UI"/>
                    <a:ea typeface="Microsoft YaHei"/>
                    <a:cs typeface="Segoe UI"/>
                  </a:rPr>
                  <a:t>LLM驱动意图挖掘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186041" y="512540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4A6F"/>
                    </a:solidFill>
                    <a:latin typeface="Segoe UI"/>
                    <a:ea typeface="Microsoft YaHei"/>
                    <a:cs typeface="Segoe UI"/>
                  </a:rPr>
                  <a:t>自动聚类、流失预警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186041" y="53159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F855A"/>
                    </a:solidFill>
                    <a:latin typeface="Segoe UI"/>
                    <a:ea typeface="Microsoft YaHei"/>
                    <a:cs typeface="Segoe UI"/>
                  </a:rPr>
                  <a:t>分钟级生成策略</a:t>
                </a: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66" name="Rectangle 66"/>
            <p:cNvSpPr/>
            <p:nvPr/>
          </p:nvSpPr>
          <p:spPr>
            <a:xfrm>
              <a:off x="0" y="6477000"/>
              <a:ext cx="121920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66738" y="6626066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365849" y="6626066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/ 8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5486400" y="6629400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5676900" y="6629400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5867400" y="6629400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6038850" y="66103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6296025" y="6629400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6486525" y="6629400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6677025" y="6629400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6867525" y="6629400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2192000" cy="581025"/>
            <a:chOff x="0" y="0"/>
            <a:chExt cx="12192000" cy="581025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571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557784" y="362902"/>
            <a:ext cx="11062716" cy="6307932"/>
            <a:chOff x="557784" y="362902"/>
            <a:chExt cx="11062716" cy="6307932"/>
          </a:xfrm>
        </p:grpSpPr>
        <p:grpSp>
          <p:nvGrpSpPr>
            <p:cNvPr id="11" name="Group 11"/>
            <p:cNvGrpSpPr/>
            <p:nvPr/>
          </p:nvGrpSpPr>
          <p:grpSpPr>
            <a:xfrm>
              <a:off x="557784" y="362902"/>
              <a:ext cx="4866437" cy="1102043"/>
              <a:chOff x="557784" y="362902"/>
              <a:chExt cx="4866437" cy="1102043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566166" y="362902"/>
                <a:ext cx="9818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PROOFGRID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57784" y="708660"/>
                <a:ext cx="486643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已验证：头部客户运行基准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63880" y="1171575"/>
                <a:ext cx="38519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领先企业部署后，关键营销效率指标跃升。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571500" y="1666875"/>
              <a:ext cx="11049000" cy="4000500"/>
              <a:chOff x="571500" y="1666875"/>
              <a:chExt cx="11049000" cy="4000500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571500" y="1666875"/>
                <a:ext cx="3524250" cy="4000500"/>
                <a:chOff x="571500" y="1666875"/>
                <a:chExt cx="3524250" cy="40005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571500" y="1666875"/>
                  <a:ext cx="3524250" cy="400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4250" h="4000500">
                      <a:moveTo>
                        <a:pt x="114300" y="0"/>
                      </a:moveTo>
                      <a:lnTo>
                        <a:pt x="3409950" y="0"/>
                      </a:lnTo>
                      <a:cubicBezTo>
                        <a:pt x="3473076" y="0"/>
                        <a:pt x="3524250" y="51174"/>
                        <a:pt x="3524250" y="114300"/>
                      </a:cubicBezTo>
                      <a:lnTo>
                        <a:pt x="3524250" y="3886200"/>
                      </a:lnTo>
                      <a:cubicBezTo>
                        <a:pt x="3524250" y="3949326"/>
                        <a:pt x="3473076" y="4000500"/>
                        <a:pt x="3409950" y="4000500"/>
                      </a:cubicBezTo>
                      <a:lnTo>
                        <a:pt x="114300" y="4000500"/>
                      </a:lnTo>
                      <a:cubicBezTo>
                        <a:pt x="51174" y="4000500"/>
                        <a:pt x="0" y="3949326"/>
                        <a:pt x="0" y="3886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571500" y="1666875"/>
                  <a:ext cx="35242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4250" h="76200">
                      <a:moveTo>
                        <a:pt x="38100" y="0"/>
                      </a:moveTo>
                      <a:lnTo>
                        <a:pt x="3486150" y="0"/>
                      </a:lnTo>
                      <a:cubicBezTo>
                        <a:pt x="3507192" y="0"/>
                        <a:pt x="3524250" y="17058"/>
                        <a:pt x="3524250" y="38100"/>
                      </a:cubicBezTo>
                      <a:lnTo>
                        <a:pt x="3524250" y="38100"/>
                      </a:lnTo>
                      <a:cubicBezTo>
                        <a:pt x="3524250" y="59142"/>
                        <a:pt x="3507192" y="76200"/>
                        <a:pt x="3486150" y="76200"/>
                      </a:cubicBezTo>
                      <a:lnTo>
                        <a:pt x="38100" y="76200"/>
                      </a:lnTo>
                      <a:cubicBezTo>
                        <a:pt x="17058" y="76200"/>
                        <a:pt x="0" y="59142"/>
                        <a:pt x="0" y="38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grpSp>
              <p:nvGrpSpPr>
                <p:cNvPr id="16" name="Group 16"/>
                <p:cNvGrpSpPr/>
                <p:nvPr/>
              </p:nvGrpSpPr>
              <p:grpSpPr>
                <a:xfrm>
                  <a:off x="685800" y="1924050"/>
                  <a:ext cx="533400" cy="533400"/>
                  <a:chOff x="685800" y="1924050"/>
                  <a:chExt cx="533400" cy="533400"/>
                </a:xfrm>
              </p:grpSpPr>
              <p:sp>
                <p:nvSpPr>
                  <p:cNvPr id="14" name="Ellipse 14"/>
                  <p:cNvSpPr/>
                  <p:nvPr/>
                </p:nvSpPr>
                <p:spPr>
                  <a:xfrm>
                    <a:off x="685800" y="1924050"/>
                    <a:ext cx="533400" cy="5334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809625" y="2076450"/>
                    <a:ext cx="285750" cy="266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750" h="266700">
                        <a:moveTo>
                          <a:pt x="142875" y="0"/>
                        </a:moveTo>
                        <a:lnTo>
                          <a:pt x="180975" y="95250"/>
                        </a:lnTo>
                        <a:lnTo>
                          <a:pt x="285750" y="95250"/>
                        </a:lnTo>
                        <a:lnTo>
                          <a:pt x="200025" y="161925"/>
                        </a:lnTo>
                        <a:lnTo>
                          <a:pt x="228600" y="266700"/>
                        </a:lnTo>
                        <a:lnTo>
                          <a:pt x="142875" y="209550"/>
                        </a:lnTo>
                        <a:lnTo>
                          <a:pt x="57150" y="266700"/>
                        </a:lnTo>
                        <a:lnTo>
                          <a:pt x="85725" y="161925"/>
                        </a:lnTo>
                        <a:lnTo>
                          <a:pt x="0" y="95250"/>
                        </a:lnTo>
                        <a:lnTo>
                          <a:pt x="104775" y="9525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chemeClr val="accent2"/>
                    </a:solidFill>
                    <a:round/>
                  </a:ln>
                </p:spPr>
              </p:sp>
            </p:grpSp>
            <p:sp>
              <p:nvSpPr>
                <p:cNvPr id="17" name="TextBox 17"/>
                <p:cNvSpPr txBox="1"/>
                <p:nvPr/>
              </p:nvSpPr>
              <p:spPr>
                <a:xfrm>
                  <a:off x="1375791" y="2029778"/>
                  <a:ext cx="54833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CASE 01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372743" y="2184082"/>
                  <a:ext cx="118291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某母婴品牌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743712" y="2421255"/>
                  <a:ext cx="1031260" cy="7040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6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37%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755904" y="2966085"/>
                  <a:ext cx="102991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2F855A"/>
                      </a:solidFill>
                      <a:latin typeface="+mn-lt"/>
                      <a:ea typeface="+mn-ea"/>
                      <a:cs typeface="+mn-cs"/>
                    </a:rPr>
                    <a:t>转化成本下降</a:t>
                  </a:r>
                </a:p>
              </p:txBody>
            </p:sp>
            <p:sp>
              <p:nvSpPr>
                <p:cNvPr id="21" name="Line 21"/>
                <p:cNvSpPr/>
                <p:nvPr/>
              </p:nvSpPr>
              <p:spPr>
                <a:xfrm>
                  <a:off x="762000" y="3381375"/>
                  <a:ext cx="3143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0" h="9525">
                      <a:moveTo>
                        <a:pt x="0" y="0"/>
                      </a:moveTo>
                      <a:lnTo>
                        <a:pt x="314325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56285" y="3545681"/>
                  <a:ext cx="304380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接入后90天，基于AI动态出价和创意匹配：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55142" y="3854768"/>
                  <a:ext cx="1926275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CPA从</a:t>
                  </a:r>
                  <a:r>
                    <a:rPr lang="en-US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￥85</a:t>
                  </a:r>
                  <a:r>
                    <a:rPr lang="en-US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降至</a:t>
                  </a:r>
                  <a:r>
                    <a:rPr lang="en-US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350" b="1" dirty="0">
                      <a:solidFill>
                        <a:srgbClr val="2F855A"/>
                      </a:solidFill>
                      <a:latin typeface="+mn-lt"/>
                      <a:ea typeface="+mn-ea"/>
                      <a:cs typeface="+mn-cs"/>
                    </a:rPr>
                    <a:t>￥53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755142" y="4188142"/>
                  <a:ext cx="1671363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同时ROI提升至</a:t>
                  </a:r>
                  <a:r>
                    <a:rPr lang="en-US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en-US" sz="1350" b="1" dirty="0">
                      <a:solidFill>
                        <a:srgbClr val="2F855A"/>
                      </a:solidFill>
                      <a:latin typeface="+mn-lt"/>
                      <a:ea typeface="+mn-ea"/>
                      <a:cs typeface="+mn-cs"/>
                    </a:rPr>
                    <a:t>4.2</a:t>
                  </a:r>
                </a:p>
              </p:txBody>
            </p:sp>
            <p:grpSp>
              <p:nvGrpSpPr>
                <p:cNvPr id="27" name="Group 27"/>
                <p:cNvGrpSpPr/>
                <p:nvPr/>
              </p:nvGrpSpPr>
              <p:grpSpPr>
                <a:xfrm>
                  <a:off x="762000" y="4572000"/>
                  <a:ext cx="3333750" cy="76200"/>
                  <a:chOff x="762000" y="4572000"/>
                  <a:chExt cx="3333750" cy="76200"/>
                </a:xfrm>
              </p:grpSpPr>
              <p:sp>
                <p:nvSpPr>
                  <p:cNvPr id="25" name="Freeform 25"/>
                  <p:cNvSpPr/>
                  <p:nvPr/>
                </p:nvSpPr>
                <p:spPr>
                  <a:xfrm>
                    <a:off x="762000" y="4572000"/>
                    <a:ext cx="3333750" cy="7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3750" h="76200">
                        <a:moveTo>
                          <a:pt x="38100" y="0"/>
                        </a:moveTo>
                        <a:lnTo>
                          <a:pt x="3295650" y="0"/>
                        </a:lnTo>
                        <a:cubicBezTo>
                          <a:pt x="3316692" y="0"/>
                          <a:pt x="3333750" y="17058"/>
                          <a:pt x="3333750" y="38100"/>
                        </a:cubicBezTo>
                        <a:lnTo>
                          <a:pt x="3333750" y="38100"/>
                        </a:lnTo>
                        <a:cubicBezTo>
                          <a:pt x="3333750" y="59142"/>
                          <a:pt x="3316692" y="76200"/>
                          <a:pt x="3295650" y="76200"/>
                        </a:cubicBezTo>
                        <a:lnTo>
                          <a:pt x="38100" y="76200"/>
                        </a:lnTo>
                        <a:cubicBezTo>
                          <a:pt x="17058" y="76200"/>
                          <a:pt x="0" y="59142"/>
                          <a:pt x="0" y="381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762000" y="4572000"/>
                    <a:ext cx="2667000" cy="7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7000" h="76200">
                        <a:moveTo>
                          <a:pt x="38100" y="0"/>
                        </a:moveTo>
                        <a:lnTo>
                          <a:pt x="2628900" y="0"/>
                        </a:lnTo>
                        <a:cubicBezTo>
                          <a:pt x="2649942" y="0"/>
                          <a:pt x="2667000" y="17058"/>
                          <a:pt x="2667000" y="38100"/>
                        </a:cubicBezTo>
                        <a:lnTo>
                          <a:pt x="2667000" y="38100"/>
                        </a:lnTo>
                        <a:cubicBezTo>
                          <a:pt x="2667000" y="59142"/>
                          <a:pt x="2649942" y="76200"/>
                          <a:pt x="2628900" y="76200"/>
                        </a:cubicBezTo>
                        <a:lnTo>
                          <a:pt x="38100" y="76200"/>
                        </a:lnTo>
                        <a:cubicBezTo>
                          <a:pt x="17058" y="76200"/>
                          <a:pt x="0" y="59142"/>
                          <a:pt x="0" y="381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</p:sp>
            </p:grpSp>
          </p:grpSp>
          <p:grpSp>
            <p:nvGrpSpPr>
              <p:cNvPr id="46" name="Group 46"/>
              <p:cNvGrpSpPr/>
              <p:nvPr/>
            </p:nvGrpSpPr>
            <p:grpSpPr>
              <a:xfrm>
                <a:off x="4333875" y="1666875"/>
                <a:ext cx="3524250" cy="4000500"/>
                <a:chOff x="4333875" y="1666875"/>
                <a:chExt cx="3524250" cy="40005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333875" y="1666875"/>
                  <a:ext cx="3524250" cy="400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4250" h="4000500">
                      <a:moveTo>
                        <a:pt x="114300" y="0"/>
                      </a:moveTo>
                      <a:lnTo>
                        <a:pt x="3409950" y="0"/>
                      </a:lnTo>
                      <a:cubicBezTo>
                        <a:pt x="3473076" y="0"/>
                        <a:pt x="3524250" y="51174"/>
                        <a:pt x="3524250" y="114300"/>
                      </a:cubicBezTo>
                      <a:lnTo>
                        <a:pt x="3524250" y="3886200"/>
                      </a:lnTo>
                      <a:cubicBezTo>
                        <a:pt x="3524250" y="3949326"/>
                        <a:pt x="3473076" y="4000500"/>
                        <a:pt x="3409950" y="4000500"/>
                      </a:cubicBezTo>
                      <a:lnTo>
                        <a:pt x="114300" y="4000500"/>
                      </a:lnTo>
                      <a:cubicBezTo>
                        <a:pt x="51174" y="4000500"/>
                        <a:pt x="0" y="3949326"/>
                        <a:pt x="0" y="3886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333875" y="1666875"/>
                  <a:ext cx="35242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4250" h="76200">
                      <a:moveTo>
                        <a:pt x="38100" y="0"/>
                      </a:moveTo>
                      <a:lnTo>
                        <a:pt x="3486150" y="0"/>
                      </a:lnTo>
                      <a:cubicBezTo>
                        <a:pt x="3507192" y="0"/>
                        <a:pt x="3524250" y="17058"/>
                        <a:pt x="3524250" y="38100"/>
                      </a:cubicBezTo>
                      <a:lnTo>
                        <a:pt x="3524250" y="38100"/>
                      </a:lnTo>
                      <a:cubicBezTo>
                        <a:pt x="3524250" y="59142"/>
                        <a:pt x="3507192" y="76200"/>
                        <a:pt x="3486150" y="76200"/>
                      </a:cubicBezTo>
                      <a:lnTo>
                        <a:pt x="38100" y="76200"/>
                      </a:lnTo>
                      <a:cubicBezTo>
                        <a:pt x="17058" y="76200"/>
                        <a:pt x="0" y="59142"/>
                        <a:pt x="0" y="38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grpSp>
              <p:nvGrpSpPr>
                <p:cNvPr id="34" name="Group 34"/>
                <p:cNvGrpSpPr/>
                <p:nvPr/>
              </p:nvGrpSpPr>
              <p:grpSpPr>
                <a:xfrm>
                  <a:off x="4448175" y="1924050"/>
                  <a:ext cx="533400" cy="533400"/>
                  <a:chOff x="4448175" y="1924050"/>
                  <a:chExt cx="533400" cy="533400"/>
                </a:xfrm>
              </p:grpSpPr>
              <p:sp>
                <p:nvSpPr>
                  <p:cNvPr id="31" name="Ellipse 31"/>
                  <p:cNvSpPr/>
                  <p:nvPr/>
                </p:nvSpPr>
                <p:spPr>
                  <a:xfrm>
                    <a:off x="4448175" y="1924050"/>
                    <a:ext cx="533400" cy="5334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</p:sp>
              <p:sp>
                <p:nvSpPr>
                  <p:cNvPr id="32" name="Ellipse 32"/>
                  <p:cNvSpPr/>
                  <p:nvPr/>
                </p:nvSpPr>
                <p:spPr>
                  <a:xfrm>
                    <a:off x="4581525" y="2105025"/>
                    <a:ext cx="266700" cy="171450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accent2"/>
                    </a:solidFill>
                  </a:ln>
                </p:spPr>
              </p:sp>
              <p:sp>
                <p:nvSpPr>
                  <p:cNvPr id="33" name="Ellipse 33"/>
                  <p:cNvSpPr/>
                  <p:nvPr/>
                </p:nvSpPr>
                <p:spPr>
                  <a:xfrm>
                    <a:off x="4676775" y="2152650"/>
                    <a:ext cx="76200" cy="76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</p:sp>
            </p:grpSp>
            <p:sp>
              <p:nvSpPr>
                <p:cNvPr id="35" name="TextBox 35"/>
                <p:cNvSpPr txBox="1"/>
                <p:nvPr/>
              </p:nvSpPr>
              <p:spPr>
                <a:xfrm>
                  <a:off x="5138166" y="2029778"/>
                  <a:ext cx="54833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CASE 02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135118" y="2184082"/>
                  <a:ext cx="118291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某家装平台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4506087" y="2421255"/>
                  <a:ext cx="1219444" cy="7040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6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2.3×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4518279" y="2966085"/>
                  <a:ext cx="11995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2F855A"/>
                      </a:solidFill>
                      <a:latin typeface="+mn-lt"/>
                      <a:ea typeface="+mn-ea"/>
                      <a:cs typeface="+mn-cs"/>
                    </a:rPr>
                    <a:t>留资有效率提升</a:t>
                  </a:r>
                </a:p>
              </p:txBody>
            </p:sp>
            <p:sp>
              <p:nvSpPr>
                <p:cNvPr id="39" name="Line 39"/>
                <p:cNvSpPr/>
                <p:nvPr/>
              </p:nvSpPr>
              <p:spPr>
                <a:xfrm>
                  <a:off x="4524375" y="3381375"/>
                  <a:ext cx="3143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0" h="9525">
                      <a:moveTo>
                        <a:pt x="0" y="0"/>
                      </a:moveTo>
                      <a:lnTo>
                        <a:pt x="314325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4518660" y="3545681"/>
                  <a:ext cx="2434590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利用意图识别模型筛选高意向用户：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4517517" y="3854768"/>
                  <a:ext cx="1831086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销售跟进有效留资比例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4517517" y="4188142"/>
                  <a:ext cx="142853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由</a:t>
                  </a:r>
                  <a:r>
                    <a:rPr lang="en-US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en-US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22%</a:t>
                  </a:r>
                  <a:r>
                    <a:rPr lang="en-US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升至</a:t>
                  </a:r>
                  <a:r>
                    <a:rPr lang="en-US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en-US" sz="1350" b="1" dirty="0">
                      <a:solidFill>
                        <a:srgbClr val="2F855A"/>
                      </a:solidFill>
                      <a:latin typeface="+mn-lt"/>
                      <a:ea typeface="+mn-ea"/>
                      <a:cs typeface="+mn-cs"/>
                    </a:rPr>
                    <a:t>51%</a:t>
                  </a:r>
                </a:p>
              </p:txBody>
            </p:sp>
            <p:grpSp>
              <p:nvGrpSpPr>
                <p:cNvPr id="45" name="Group 45"/>
                <p:cNvGrpSpPr/>
                <p:nvPr/>
              </p:nvGrpSpPr>
              <p:grpSpPr>
                <a:xfrm>
                  <a:off x="4524375" y="4572000"/>
                  <a:ext cx="3333750" cy="76200"/>
                  <a:chOff x="4524375" y="4572000"/>
                  <a:chExt cx="3333750" cy="76200"/>
                </a:xfrm>
              </p:grpSpPr>
              <p:sp>
                <p:nvSpPr>
                  <p:cNvPr id="43" name="Freeform 43"/>
                  <p:cNvSpPr/>
                  <p:nvPr/>
                </p:nvSpPr>
                <p:spPr>
                  <a:xfrm>
                    <a:off x="4524375" y="4572000"/>
                    <a:ext cx="3333750" cy="7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3750" h="76200">
                        <a:moveTo>
                          <a:pt x="38100" y="0"/>
                        </a:moveTo>
                        <a:lnTo>
                          <a:pt x="3295650" y="0"/>
                        </a:lnTo>
                        <a:cubicBezTo>
                          <a:pt x="3316692" y="0"/>
                          <a:pt x="3333750" y="17058"/>
                          <a:pt x="3333750" y="38100"/>
                        </a:cubicBezTo>
                        <a:lnTo>
                          <a:pt x="3333750" y="38100"/>
                        </a:lnTo>
                        <a:cubicBezTo>
                          <a:pt x="3333750" y="59142"/>
                          <a:pt x="3316692" y="76200"/>
                          <a:pt x="3295650" y="76200"/>
                        </a:cubicBezTo>
                        <a:lnTo>
                          <a:pt x="38100" y="76200"/>
                        </a:lnTo>
                        <a:cubicBezTo>
                          <a:pt x="17058" y="76200"/>
                          <a:pt x="0" y="59142"/>
                          <a:pt x="0" y="381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44" name="Freeform 44"/>
                  <p:cNvSpPr/>
                  <p:nvPr/>
                </p:nvSpPr>
                <p:spPr>
                  <a:xfrm>
                    <a:off x="4524375" y="4572000"/>
                    <a:ext cx="2667000" cy="7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7000" h="76200">
                        <a:moveTo>
                          <a:pt x="38100" y="0"/>
                        </a:moveTo>
                        <a:lnTo>
                          <a:pt x="2628900" y="0"/>
                        </a:lnTo>
                        <a:cubicBezTo>
                          <a:pt x="2649942" y="0"/>
                          <a:pt x="2667000" y="17058"/>
                          <a:pt x="2667000" y="38100"/>
                        </a:cubicBezTo>
                        <a:lnTo>
                          <a:pt x="2667000" y="38100"/>
                        </a:lnTo>
                        <a:cubicBezTo>
                          <a:pt x="2667000" y="59142"/>
                          <a:pt x="2649942" y="76200"/>
                          <a:pt x="2628900" y="76200"/>
                        </a:cubicBezTo>
                        <a:lnTo>
                          <a:pt x="38100" y="76200"/>
                        </a:lnTo>
                        <a:cubicBezTo>
                          <a:pt x="17058" y="76200"/>
                          <a:pt x="0" y="59142"/>
                          <a:pt x="0" y="381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rgbClr val="2F855A"/>
                  </a:solidFill>
                  <a:ln>
                    <a:noFill/>
                  </a:ln>
                </p:spPr>
              </p:sp>
            </p:grpSp>
          </p:grpSp>
          <p:grpSp>
            <p:nvGrpSpPr>
              <p:cNvPr id="65" name="Group 65"/>
              <p:cNvGrpSpPr/>
              <p:nvPr/>
            </p:nvGrpSpPr>
            <p:grpSpPr>
              <a:xfrm>
                <a:off x="8096250" y="1666875"/>
                <a:ext cx="3524250" cy="4000500"/>
                <a:chOff x="8096250" y="1666875"/>
                <a:chExt cx="3524250" cy="4000500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8096250" y="1666875"/>
                  <a:ext cx="3524250" cy="400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4250" h="4000500">
                      <a:moveTo>
                        <a:pt x="114300" y="0"/>
                      </a:moveTo>
                      <a:lnTo>
                        <a:pt x="3409950" y="0"/>
                      </a:lnTo>
                      <a:cubicBezTo>
                        <a:pt x="3473076" y="0"/>
                        <a:pt x="3524250" y="51174"/>
                        <a:pt x="3524250" y="114300"/>
                      </a:cubicBezTo>
                      <a:lnTo>
                        <a:pt x="3524250" y="3886200"/>
                      </a:lnTo>
                      <a:cubicBezTo>
                        <a:pt x="3524250" y="3949326"/>
                        <a:pt x="3473076" y="4000500"/>
                        <a:pt x="3409950" y="4000500"/>
                      </a:cubicBezTo>
                      <a:lnTo>
                        <a:pt x="114300" y="4000500"/>
                      </a:lnTo>
                      <a:cubicBezTo>
                        <a:pt x="51174" y="4000500"/>
                        <a:pt x="0" y="3949326"/>
                        <a:pt x="0" y="3886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8096250" y="1666875"/>
                  <a:ext cx="35242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4250" h="76200">
                      <a:moveTo>
                        <a:pt x="38100" y="0"/>
                      </a:moveTo>
                      <a:lnTo>
                        <a:pt x="3486150" y="0"/>
                      </a:lnTo>
                      <a:cubicBezTo>
                        <a:pt x="3507192" y="0"/>
                        <a:pt x="3524250" y="17058"/>
                        <a:pt x="3524250" y="38100"/>
                      </a:cubicBezTo>
                      <a:lnTo>
                        <a:pt x="3524250" y="38100"/>
                      </a:lnTo>
                      <a:cubicBezTo>
                        <a:pt x="3524250" y="59142"/>
                        <a:pt x="3507192" y="76200"/>
                        <a:pt x="3486150" y="76200"/>
                      </a:cubicBezTo>
                      <a:lnTo>
                        <a:pt x="38100" y="76200"/>
                      </a:lnTo>
                      <a:cubicBezTo>
                        <a:pt x="17058" y="76200"/>
                        <a:pt x="0" y="59142"/>
                        <a:pt x="0" y="38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grpSp>
              <p:nvGrpSpPr>
                <p:cNvPr id="53" name="Group 53"/>
                <p:cNvGrpSpPr/>
                <p:nvPr/>
              </p:nvGrpSpPr>
              <p:grpSpPr>
                <a:xfrm>
                  <a:off x="8210550" y="1924050"/>
                  <a:ext cx="533400" cy="533400"/>
                  <a:chOff x="8210550" y="1924050"/>
                  <a:chExt cx="533400" cy="533400"/>
                </a:xfrm>
              </p:grpSpPr>
              <p:sp>
                <p:nvSpPr>
                  <p:cNvPr id="49" name="Ellipse 49"/>
                  <p:cNvSpPr/>
                  <p:nvPr/>
                </p:nvSpPr>
                <p:spPr>
                  <a:xfrm>
                    <a:off x="8210550" y="1924050"/>
                    <a:ext cx="533400" cy="5334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</p:sp>
              <p:sp>
                <p:nvSpPr>
                  <p:cNvPr id="50" name="Ellipse 50"/>
                  <p:cNvSpPr/>
                  <p:nvPr/>
                </p:nvSpPr>
                <p:spPr>
                  <a:xfrm>
                    <a:off x="8324850" y="2038350"/>
                    <a:ext cx="304800" cy="304800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accent2"/>
                    </a:solidFill>
                  </a:ln>
                </p:spPr>
              </p:sp>
              <p:sp>
                <p:nvSpPr>
                  <p:cNvPr id="51" name="Line 51"/>
                  <p:cNvSpPr/>
                  <p:nvPr/>
                </p:nvSpPr>
                <p:spPr>
                  <a:xfrm>
                    <a:off x="8477250" y="2095500"/>
                    <a:ext cx="9525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95250">
                        <a:moveTo>
                          <a:pt x="0" y="9525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9050" cap="rnd">
                    <a:solidFill>
                      <a:schemeClr val="accent2"/>
                    </a:solidFill>
                  </a:ln>
                </p:spPr>
              </p:sp>
              <p:sp>
                <p:nvSpPr>
                  <p:cNvPr id="52" name="Line 52"/>
                  <p:cNvSpPr/>
                  <p:nvPr/>
                </p:nvSpPr>
                <p:spPr>
                  <a:xfrm>
                    <a:off x="8477250" y="2190750"/>
                    <a:ext cx="76200" cy="47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47625">
                        <a:moveTo>
                          <a:pt x="0" y="0"/>
                        </a:moveTo>
                        <a:lnTo>
                          <a:pt x="76200" y="47625"/>
                        </a:lnTo>
                      </a:path>
                    </a:pathLst>
                  </a:custGeom>
                  <a:noFill/>
                  <a:ln w="19050" cap="rnd">
                    <a:solidFill>
                      <a:schemeClr val="accent2"/>
                    </a:solidFill>
                  </a:ln>
                </p:spPr>
              </p:sp>
            </p:grpSp>
            <p:sp>
              <p:nvSpPr>
                <p:cNvPr id="54" name="TextBox 54"/>
                <p:cNvSpPr txBox="1"/>
                <p:nvPr/>
              </p:nvSpPr>
              <p:spPr>
                <a:xfrm>
                  <a:off x="8900541" y="2029778"/>
                  <a:ext cx="54833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CASE 03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8897493" y="2184082"/>
                  <a:ext cx="118291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某连锁零售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8268462" y="2421255"/>
                  <a:ext cx="1031260" cy="7040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6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80%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280654" y="2966085"/>
                  <a:ext cx="136916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2F855A"/>
                      </a:solidFill>
                      <a:latin typeface="+mn-lt"/>
                      <a:ea typeface="+mn-ea"/>
                      <a:cs typeface="+mn-cs"/>
                    </a:rPr>
                    <a:t>营销排期效率提升</a:t>
                  </a:r>
                </a:p>
              </p:txBody>
            </p:sp>
            <p:sp>
              <p:nvSpPr>
                <p:cNvPr id="58" name="Line 58"/>
                <p:cNvSpPr/>
                <p:nvPr/>
              </p:nvSpPr>
              <p:spPr>
                <a:xfrm>
                  <a:off x="8286750" y="3381375"/>
                  <a:ext cx="3143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0" h="9525">
                      <a:moveTo>
                        <a:pt x="0" y="0"/>
                      </a:moveTo>
                      <a:lnTo>
                        <a:pt x="314325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8281035" y="3545681"/>
                  <a:ext cx="198024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自动化工作流替代手工传递：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8279892" y="3854768"/>
                  <a:ext cx="2012823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从方案制定到全渠道上线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8279892" y="4188142"/>
                  <a:ext cx="149578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由</a:t>
                  </a:r>
                  <a:r>
                    <a:rPr lang="en-US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350" b="1" dirty="0">
                      <a:solidFill>
                        <a:srgbClr val="C53030"/>
                      </a:solidFill>
                      <a:latin typeface="+mn-lt"/>
                      <a:ea typeface="+mn-ea"/>
                      <a:cs typeface="+mn-cs"/>
                    </a:rPr>
                    <a:t>2周</a:t>
                  </a:r>
                  <a:r>
                    <a:rPr lang="en-US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压缩至</a:t>
                  </a:r>
                  <a:r>
                    <a:rPr lang="en-US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350" b="1" dirty="0">
                      <a:solidFill>
                        <a:srgbClr val="2F855A"/>
                      </a:solidFill>
                      <a:latin typeface="+mn-lt"/>
                      <a:ea typeface="+mn-ea"/>
                      <a:cs typeface="+mn-cs"/>
                    </a:rPr>
                    <a:t>2天</a:t>
                  </a:r>
                </a:p>
              </p:txBody>
            </p:sp>
            <p:grpSp>
              <p:nvGrpSpPr>
                <p:cNvPr id="64" name="Group 64"/>
                <p:cNvGrpSpPr/>
                <p:nvPr/>
              </p:nvGrpSpPr>
              <p:grpSpPr>
                <a:xfrm>
                  <a:off x="8286750" y="4572000"/>
                  <a:ext cx="3333750" cy="76200"/>
                  <a:chOff x="8286750" y="4572000"/>
                  <a:chExt cx="3333750" cy="76200"/>
                </a:xfrm>
              </p:grpSpPr>
              <p:sp>
                <p:nvSpPr>
                  <p:cNvPr id="62" name="Freeform 62"/>
                  <p:cNvSpPr/>
                  <p:nvPr/>
                </p:nvSpPr>
                <p:spPr>
                  <a:xfrm>
                    <a:off x="8286750" y="4572000"/>
                    <a:ext cx="3333750" cy="7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3750" h="76200">
                        <a:moveTo>
                          <a:pt x="38100" y="0"/>
                        </a:moveTo>
                        <a:lnTo>
                          <a:pt x="3295650" y="0"/>
                        </a:lnTo>
                        <a:cubicBezTo>
                          <a:pt x="3316692" y="0"/>
                          <a:pt x="3333750" y="17058"/>
                          <a:pt x="3333750" y="38100"/>
                        </a:cubicBezTo>
                        <a:lnTo>
                          <a:pt x="3333750" y="38100"/>
                        </a:lnTo>
                        <a:cubicBezTo>
                          <a:pt x="3333750" y="59142"/>
                          <a:pt x="3316692" y="76200"/>
                          <a:pt x="3295650" y="76200"/>
                        </a:cubicBezTo>
                        <a:lnTo>
                          <a:pt x="38100" y="76200"/>
                        </a:lnTo>
                        <a:cubicBezTo>
                          <a:pt x="17058" y="76200"/>
                          <a:pt x="0" y="59142"/>
                          <a:pt x="0" y="381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63" name="Freeform 63"/>
                  <p:cNvSpPr/>
                  <p:nvPr/>
                </p:nvSpPr>
                <p:spPr>
                  <a:xfrm>
                    <a:off x="8286750" y="4572000"/>
                    <a:ext cx="2952750" cy="7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2750" h="76200">
                        <a:moveTo>
                          <a:pt x="38100" y="0"/>
                        </a:moveTo>
                        <a:lnTo>
                          <a:pt x="2914650" y="0"/>
                        </a:lnTo>
                        <a:cubicBezTo>
                          <a:pt x="2935692" y="0"/>
                          <a:pt x="2952750" y="17058"/>
                          <a:pt x="2952750" y="38100"/>
                        </a:cubicBezTo>
                        <a:lnTo>
                          <a:pt x="2952750" y="38100"/>
                        </a:lnTo>
                        <a:cubicBezTo>
                          <a:pt x="2952750" y="59142"/>
                          <a:pt x="2935692" y="76200"/>
                          <a:pt x="2914650" y="76200"/>
                        </a:cubicBezTo>
                        <a:lnTo>
                          <a:pt x="38100" y="76200"/>
                        </a:lnTo>
                        <a:cubicBezTo>
                          <a:pt x="17058" y="76200"/>
                          <a:pt x="0" y="59142"/>
                          <a:pt x="0" y="38100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</p:sp>
            </p:grpSp>
          </p:grpSp>
        </p:grpSp>
        <p:grpSp>
          <p:nvGrpSpPr>
            <p:cNvPr id="76" name="Group 76"/>
            <p:cNvGrpSpPr/>
            <p:nvPr/>
          </p:nvGrpSpPr>
          <p:grpSpPr>
            <a:xfrm>
              <a:off x="723900" y="5974556"/>
              <a:ext cx="6115431" cy="696278"/>
              <a:chOff x="723900" y="5974556"/>
              <a:chExt cx="6115431" cy="696278"/>
            </a:xfrm>
          </p:grpSpPr>
          <p:grpSp>
            <p:nvGrpSpPr>
              <p:cNvPr id="69" name="Group 69"/>
              <p:cNvGrpSpPr/>
              <p:nvPr/>
            </p:nvGrpSpPr>
            <p:grpSpPr>
              <a:xfrm>
                <a:off x="723900" y="5974556"/>
                <a:ext cx="6115431" cy="220028"/>
                <a:chOff x="723900" y="5974556"/>
                <a:chExt cx="6115431" cy="220028"/>
              </a:xfrm>
            </p:grpSpPr>
            <p:sp>
              <p:nvSpPr>
                <p:cNvPr id="67" name="Ellipse 67"/>
                <p:cNvSpPr/>
                <p:nvPr/>
              </p:nvSpPr>
              <p:spPr>
                <a:xfrm>
                  <a:off x="723900" y="6010275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899160" y="5974556"/>
                  <a:ext cx="5940171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接入后90天，基于AI动态出价和创意匹配，CPA从￥85降至￥53，同时ROI提升至4.2</a:t>
                  </a:r>
                </a:p>
              </p:txBody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723900" y="6212681"/>
                <a:ext cx="5139023" cy="220028"/>
                <a:chOff x="723900" y="6212681"/>
                <a:chExt cx="5139023" cy="220028"/>
              </a:xfrm>
            </p:grpSpPr>
            <p:sp>
              <p:nvSpPr>
                <p:cNvPr id="70" name="Ellipse 70"/>
                <p:cNvSpPr/>
                <p:nvPr/>
              </p:nvSpPr>
              <p:spPr>
                <a:xfrm>
                  <a:off x="723900" y="624840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899160" y="6212681"/>
                  <a:ext cx="4963763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利用意图识别模型筛选高意向用户，销售跟进有效留资比例由22%升至51%</a:t>
                  </a:r>
                </a:p>
              </p:txBody>
            </p:sp>
          </p:grpSp>
          <p:grpSp>
            <p:nvGrpSpPr>
              <p:cNvPr id="75" name="Group 75"/>
              <p:cNvGrpSpPr/>
              <p:nvPr/>
            </p:nvGrpSpPr>
            <p:grpSpPr>
              <a:xfrm>
                <a:off x="723900" y="6450806"/>
                <a:ext cx="4896707" cy="220028"/>
                <a:chOff x="723900" y="6450806"/>
                <a:chExt cx="4896707" cy="220028"/>
              </a:xfrm>
            </p:grpSpPr>
            <p:sp>
              <p:nvSpPr>
                <p:cNvPr id="73" name="Ellipse 73"/>
                <p:cNvSpPr/>
                <p:nvPr/>
              </p:nvSpPr>
              <p:spPr>
                <a:xfrm>
                  <a:off x="723900" y="6486525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899160" y="6450806"/>
                  <a:ext cx="472144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自动化工作流替代手工传递，从方案制定到全渠道上线由2周压缩至2天</a:t>
                  </a:r>
                </a:p>
              </p:txBody>
            </p:sp>
          </p:grpSp>
        </p:grpSp>
      </p:grpSp>
      <p:grpSp>
        <p:nvGrpSpPr>
          <p:cNvPr id="81" name="Group 81"/>
          <p:cNvGrpSpPr/>
          <p:nvPr/>
        </p:nvGrpSpPr>
        <p:grpSpPr>
          <a:xfrm>
            <a:off x="566738" y="6578441"/>
            <a:ext cx="11053762" cy="289084"/>
            <a:chOff x="566738" y="6578441"/>
            <a:chExt cx="11053762" cy="289084"/>
          </a:xfrm>
        </p:grpSpPr>
        <p:sp>
          <p:nvSpPr>
            <p:cNvPr id="78" name="Line 78"/>
            <p:cNvSpPr/>
            <p:nvPr/>
          </p:nvSpPr>
          <p:spPr>
            <a:xfrm>
              <a:off x="571500" y="6858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9848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/ 8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66738" y="65784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2192000" cy="695325"/>
            <a:chOff x="0" y="0"/>
            <a:chExt cx="12192000" cy="695325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738" y="436245"/>
              <a:ext cx="10293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SIGNALCOUNT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685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57784" y="775335"/>
            <a:ext cx="10681716" cy="5034915"/>
            <a:chOff x="557784" y="775335"/>
            <a:chExt cx="10681716" cy="5034915"/>
          </a:xfrm>
        </p:grpSpPr>
        <p:sp>
          <p:nvSpPr>
            <p:cNvPr id="9" name="TextBox 9"/>
            <p:cNvSpPr txBox="1"/>
            <p:nvPr/>
          </p:nvSpPr>
          <p:spPr>
            <a:xfrm>
              <a:off x="557784" y="775335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平台核心能力指标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880" y="12477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已建成企业级性能基线，支撑大规模营销活动。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571500" y="1714500"/>
              <a:ext cx="10668000" cy="4095750"/>
              <a:chOff x="571500" y="1714500"/>
              <a:chExt cx="10668000" cy="4095750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571500" y="1714500"/>
                <a:ext cx="5143500" cy="1905000"/>
                <a:chOff x="571500" y="1714500"/>
                <a:chExt cx="5143500" cy="190500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571500" y="1714500"/>
                  <a:ext cx="5143500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1905000">
                      <a:moveTo>
                        <a:pt x="114300" y="0"/>
                      </a:moveTo>
                      <a:lnTo>
                        <a:pt x="5029200" y="0"/>
                      </a:lnTo>
                      <a:cubicBezTo>
                        <a:pt x="5092326" y="0"/>
                        <a:pt x="5143500" y="51174"/>
                        <a:pt x="5143500" y="114300"/>
                      </a:cubicBezTo>
                      <a:lnTo>
                        <a:pt x="5143500" y="1790700"/>
                      </a:lnTo>
                      <a:cubicBezTo>
                        <a:pt x="5143500" y="1853826"/>
                        <a:pt x="5092326" y="1905000"/>
                        <a:pt x="5029200" y="1905000"/>
                      </a:cubicBezTo>
                      <a:lnTo>
                        <a:pt x="114300" y="1905000"/>
                      </a:lnTo>
                      <a:cubicBezTo>
                        <a:pt x="51174" y="1905000"/>
                        <a:pt x="0" y="1853826"/>
                        <a:pt x="0" y="1790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571500" y="1714500"/>
                  <a:ext cx="51435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57150">
                      <a:moveTo>
                        <a:pt x="28575" y="0"/>
                      </a:moveTo>
                      <a:lnTo>
                        <a:pt x="5114925" y="0"/>
                      </a:lnTo>
                      <a:cubicBezTo>
                        <a:pt x="5130707" y="0"/>
                        <a:pt x="5143500" y="12793"/>
                        <a:pt x="5143500" y="28575"/>
                      </a:cubicBezTo>
                      <a:lnTo>
                        <a:pt x="5143500" y="28575"/>
                      </a:lnTo>
                      <a:cubicBezTo>
                        <a:pt x="5143500" y="44357"/>
                        <a:pt x="5130707" y="57150"/>
                        <a:pt x="51149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870966" y="2058352"/>
                  <a:ext cx="119801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实时数据处理延迟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857250" y="2404110"/>
                  <a:ext cx="1418112" cy="819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42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&lt;100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2656332" y="2630805"/>
                  <a:ext cx="407224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1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ms</a:t>
                  </a:r>
                </a:p>
              </p:txBody>
            </p:sp>
            <p:sp>
              <p:nvSpPr>
                <p:cNvPr id="16" name="Line 16"/>
                <p:cNvSpPr/>
                <p:nvPr/>
              </p:nvSpPr>
              <p:spPr>
                <a:xfrm>
                  <a:off x="876300" y="3048000"/>
                  <a:ext cx="4533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3900" h="9525">
                      <a:moveTo>
                        <a:pt x="0" y="0"/>
                      </a:moveTo>
                      <a:lnTo>
                        <a:pt x="45339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870966" y="3201352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从事件触发到可查询</a:t>
                  </a:r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4991100" y="2114550"/>
                  <a:ext cx="14287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90500">
                      <a:moveTo>
                        <a:pt x="85725" y="0"/>
                      </a:moveTo>
                      <a:lnTo>
                        <a:pt x="0" y="114300"/>
                      </a:lnTo>
                      <a:lnTo>
                        <a:pt x="66675" y="114300"/>
                      </a:lnTo>
                      <a:lnTo>
                        <a:pt x="57150" y="190500"/>
                      </a:lnTo>
                      <a:lnTo>
                        <a:pt x="142875" y="76200"/>
                      </a:lnTo>
                      <a:lnTo>
                        <a:pt x="76200" y="76200"/>
                      </a:lnTo>
                      <a:lnTo>
                        <a:pt x="85725" y="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  <a:round/>
                </a:ln>
              </p:spPr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6096000" y="1714500"/>
                <a:ext cx="5143500" cy="1905000"/>
                <a:chOff x="6096000" y="1714500"/>
                <a:chExt cx="5143500" cy="190500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6096000" y="1714500"/>
                  <a:ext cx="5143500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1905000">
                      <a:moveTo>
                        <a:pt x="114300" y="0"/>
                      </a:moveTo>
                      <a:lnTo>
                        <a:pt x="5029200" y="0"/>
                      </a:lnTo>
                      <a:cubicBezTo>
                        <a:pt x="5092326" y="0"/>
                        <a:pt x="5143500" y="51174"/>
                        <a:pt x="5143500" y="114300"/>
                      </a:cubicBezTo>
                      <a:lnTo>
                        <a:pt x="5143500" y="1790700"/>
                      </a:lnTo>
                      <a:cubicBezTo>
                        <a:pt x="5143500" y="1853826"/>
                        <a:pt x="5092326" y="1905000"/>
                        <a:pt x="5029200" y="1905000"/>
                      </a:cubicBezTo>
                      <a:lnTo>
                        <a:pt x="114300" y="1905000"/>
                      </a:lnTo>
                      <a:cubicBezTo>
                        <a:pt x="51174" y="1905000"/>
                        <a:pt x="0" y="1853826"/>
                        <a:pt x="0" y="1790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6096000" y="1714500"/>
                  <a:ext cx="51435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57150">
                      <a:moveTo>
                        <a:pt x="28575" y="0"/>
                      </a:moveTo>
                      <a:lnTo>
                        <a:pt x="5114925" y="0"/>
                      </a:lnTo>
                      <a:cubicBezTo>
                        <a:pt x="5130707" y="0"/>
                        <a:pt x="5143500" y="12793"/>
                        <a:pt x="5143500" y="28575"/>
                      </a:cubicBezTo>
                      <a:lnTo>
                        <a:pt x="5143500" y="28575"/>
                      </a:lnTo>
                      <a:cubicBezTo>
                        <a:pt x="5143500" y="44357"/>
                        <a:pt x="5130707" y="57150"/>
                        <a:pt x="51149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6395466" y="2058352"/>
                  <a:ext cx="10495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受众预测准确率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6381750" y="2404110"/>
                  <a:ext cx="728106" cy="819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42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92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7323582" y="2630805"/>
                  <a:ext cx="243964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1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%</a:t>
                  </a:r>
                </a:p>
              </p:txBody>
            </p:sp>
            <p:sp>
              <p:nvSpPr>
                <p:cNvPr id="25" name="Line 25"/>
                <p:cNvSpPr/>
                <p:nvPr/>
              </p:nvSpPr>
              <p:spPr>
                <a:xfrm>
                  <a:off x="6400800" y="3048000"/>
                  <a:ext cx="4533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3900" h="9525">
                      <a:moveTo>
                        <a:pt x="0" y="0"/>
                      </a:moveTo>
                      <a:lnTo>
                        <a:pt x="45339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6395466" y="3201352"/>
                  <a:ext cx="11414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高意向人群召回率</a:t>
                  </a:r>
                </a:p>
              </p:txBody>
            </p:sp>
            <p:grpSp>
              <p:nvGrpSpPr>
                <p:cNvPr id="30" name="Group 30"/>
                <p:cNvGrpSpPr/>
                <p:nvPr/>
              </p:nvGrpSpPr>
              <p:grpSpPr>
                <a:xfrm>
                  <a:off x="10515600" y="2133600"/>
                  <a:ext cx="304800" cy="304800"/>
                  <a:chOff x="10515600" y="2133600"/>
                  <a:chExt cx="304800" cy="304800"/>
                </a:xfrm>
              </p:grpSpPr>
              <p:sp>
                <p:nvSpPr>
                  <p:cNvPr id="27" name="Ellipse 27"/>
                  <p:cNvSpPr/>
                  <p:nvPr/>
                </p:nvSpPr>
                <p:spPr>
                  <a:xfrm>
                    <a:off x="10515600" y="2133600"/>
                    <a:ext cx="304800" cy="304800"/>
                  </a:xfrm>
                  <a:prstGeom prst="ellipse">
                    <a:avLst/>
                  </a:prstGeom>
                  <a:noFill/>
                  <a:ln w="19050" cap="rnd">
                    <a:solidFill>
                      <a:schemeClr val="accent2"/>
                    </a:solidFill>
                    <a:round/>
                  </a:ln>
                </p:spPr>
              </p:sp>
              <p:sp>
                <p:nvSpPr>
                  <p:cNvPr id="28" name="Ellipse 28"/>
                  <p:cNvSpPr/>
                  <p:nvPr/>
                </p:nvSpPr>
                <p:spPr>
                  <a:xfrm>
                    <a:off x="10591800" y="2209800"/>
                    <a:ext cx="152400" cy="152400"/>
                  </a:xfrm>
                  <a:prstGeom prst="ellipse">
                    <a:avLst/>
                  </a:prstGeom>
                  <a:noFill/>
                  <a:ln w="19050" cap="rnd">
                    <a:solidFill>
                      <a:schemeClr val="accent2"/>
                    </a:solidFill>
                    <a:round/>
                  </a:ln>
                </p:spPr>
              </p:sp>
              <p:sp>
                <p:nvSpPr>
                  <p:cNvPr id="29" name="Ellipse 29"/>
                  <p:cNvSpPr/>
                  <p:nvPr/>
                </p:nvSpPr>
                <p:spPr>
                  <a:xfrm>
                    <a:off x="10648950" y="2266950"/>
                    <a:ext cx="38100" cy="381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9050" cap="rnd">
                    <a:solidFill>
                      <a:schemeClr val="accent2"/>
                    </a:solidFill>
                    <a:round/>
                  </a:ln>
                </p:spPr>
              </p:sp>
            </p:grpSp>
          </p:grpSp>
          <p:grpSp>
            <p:nvGrpSpPr>
              <p:cNvPr id="42" name="Group 42"/>
              <p:cNvGrpSpPr/>
              <p:nvPr/>
            </p:nvGrpSpPr>
            <p:grpSpPr>
              <a:xfrm>
                <a:off x="571500" y="3905250"/>
                <a:ext cx="5143500" cy="1905000"/>
                <a:chOff x="571500" y="3905250"/>
                <a:chExt cx="5143500" cy="19050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571500" y="3905250"/>
                  <a:ext cx="5143500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1905000">
                      <a:moveTo>
                        <a:pt x="114300" y="0"/>
                      </a:moveTo>
                      <a:lnTo>
                        <a:pt x="5029200" y="0"/>
                      </a:lnTo>
                      <a:cubicBezTo>
                        <a:pt x="5092326" y="0"/>
                        <a:pt x="5143500" y="51174"/>
                        <a:pt x="5143500" y="114300"/>
                      </a:cubicBezTo>
                      <a:lnTo>
                        <a:pt x="5143500" y="1790700"/>
                      </a:lnTo>
                      <a:cubicBezTo>
                        <a:pt x="5143500" y="1853826"/>
                        <a:pt x="5092326" y="1905000"/>
                        <a:pt x="5029200" y="1905000"/>
                      </a:cubicBezTo>
                      <a:lnTo>
                        <a:pt x="114300" y="1905000"/>
                      </a:lnTo>
                      <a:cubicBezTo>
                        <a:pt x="51174" y="1905000"/>
                        <a:pt x="0" y="1853826"/>
                        <a:pt x="0" y="1790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571500" y="3905250"/>
                  <a:ext cx="51435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57150">
                      <a:moveTo>
                        <a:pt x="28575" y="0"/>
                      </a:moveTo>
                      <a:lnTo>
                        <a:pt x="5114925" y="0"/>
                      </a:lnTo>
                      <a:cubicBezTo>
                        <a:pt x="5130707" y="0"/>
                        <a:pt x="5143500" y="12793"/>
                        <a:pt x="5143500" y="28575"/>
                      </a:cubicBezTo>
                      <a:lnTo>
                        <a:pt x="5143500" y="28575"/>
                      </a:lnTo>
                      <a:cubicBezTo>
                        <a:pt x="5143500" y="44357"/>
                        <a:pt x="5130707" y="57150"/>
                        <a:pt x="51149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870966" y="4249102"/>
                  <a:ext cx="124170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典型POC部署时间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57250" y="4594860"/>
                  <a:ext cx="728106" cy="819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42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&lt;3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656207" y="4821555"/>
                  <a:ext cx="318173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2F855A"/>
                      </a:solidFill>
                      <a:latin typeface="+mn-lt"/>
                      <a:ea typeface="+mn-ea"/>
                      <a:cs typeface="+mn-cs"/>
                    </a:rPr>
                    <a:t>天</a:t>
                  </a:r>
                </a:p>
              </p:txBody>
            </p:sp>
            <p:sp>
              <p:nvSpPr>
                <p:cNvPr id="37" name="Line 37"/>
                <p:cNvSpPr/>
                <p:nvPr/>
              </p:nvSpPr>
              <p:spPr>
                <a:xfrm>
                  <a:off x="876300" y="5238750"/>
                  <a:ext cx="4533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3900" h="9525">
                      <a:moveTo>
                        <a:pt x="0" y="0"/>
                      </a:moveTo>
                      <a:lnTo>
                        <a:pt x="45339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870966" y="5392102"/>
                  <a:ext cx="198958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对接主要数据源，快速上线验证</a:t>
                  </a:r>
                </a:p>
              </p:txBody>
            </p:sp>
            <p:grpSp>
              <p:nvGrpSpPr>
                <p:cNvPr id="41" name="Group 41"/>
                <p:cNvGrpSpPr/>
                <p:nvPr/>
              </p:nvGrpSpPr>
              <p:grpSpPr>
                <a:xfrm>
                  <a:off x="4991100" y="4324350"/>
                  <a:ext cx="304800" cy="304800"/>
                  <a:chOff x="4991100" y="4324350"/>
                  <a:chExt cx="304800" cy="304800"/>
                </a:xfrm>
              </p:grpSpPr>
              <p:sp>
                <p:nvSpPr>
                  <p:cNvPr id="39" name="Ellipse 39"/>
                  <p:cNvSpPr/>
                  <p:nvPr/>
                </p:nvSpPr>
                <p:spPr>
                  <a:xfrm>
                    <a:off x="4991100" y="4324350"/>
                    <a:ext cx="304800" cy="304800"/>
                  </a:xfrm>
                  <a:prstGeom prst="ellipse">
                    <a:avLst/>
                  </a:prstGeom>
                  <a:noFill/>
                  <a:ln w="19050" cap="rnd">
                    <a:solidFill>
                      <a:srgbClr val="2F855A"/>
                    </a:solidFill>
                    <a:round/>
                  </a:ln>
                </p:spPr>
              </p:sp>
              <p:sp>
                <p:nvSpPr>
                  <p:cNvPr id="40" name="Freeform 40"/>
                  <p:cNvSpPr/>
                  <p:nvPr/>
                </p:nvSpPr>
                <p:spPr>
                  <a:xfrm>
                    <a:off x="5143500" y="4400550"/>
                    <a:ext cx="47625" cy="123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25" h="123825">
                        <a:moveTo>
                          <a:pt x="0" y="0"/>
                        </a:moveTo>
                        <a:lnTo>
                          <a:pt x="0" y="76200"/>
                        </a:lnTo>
                        <a:lnTo>
                          <a:pt x="47625" y="123825"/>
                        </a:lnTo>
                      </a:path>
                    </a:pathLst>
                  </a:custGeom>
                  <a:noFill/>
                  <a:ln w="19050" cap="rnd">
                    <a:solidFill>
                      <a:srgbClr val="2F855A"/>
                    </a:solidFill>
                    <a:round/>
                  </a:ln>
                </p:spPr>
              </p:sp>
            </p:grpSp>
          </p:grpSp>
          <p:grpSp>
            <p:nvGrpSpPr>
              <p:cNvPr id="53" name="Group 53"/>
              <p:cNvGrpSpPr/>
              <p:nvPr/>
            </p:nvGrpSpPr>
            <p:grpSpPr>
              <a:xfrm>
                <a:off x="6096000" y="3905250"/>
                <a:ext cx="5143500" cy="1905000"/>
                <a:chOff x="6096000" y="3905250"/>
                <a:chExt cx="5143500" cy="190500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6096000" y="3905250"/>
                  <a:ext cx="5143500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1905000">
                      <a:moveTo>
                        <a:pt x="114300" y="0"/>
                      </a:moveTo>
                      <a:lnTo>
                        <a:pt x="5029200" y="0"/>
                      </a:lnTo>
                      <a:cubicBezTo>
                        <a:pt x="5092326" y="0"/>
                        <a:pt x="5143500" y="51174"/>
                        <a:pt x="5143500" y="114300"/>
                      </a:cubicBezTo>
                      <a:lnTo>
                        <a:pt x="5143500" y="1790700"/>
                      </a:lnTo>
                      <a:cubicBezTo>
                        <a:pt x="5143500" y="1853826"/>
                        <a:pt x="5092326" y="1905000"/>
                        <a:pt x="5029200" y="1905000"/>
                      </a:cubicBezTo>
                      <a:lnTo>
                        <a:pt x="114300" y="1905000"/>
                      </a:lnTo>
                      <a:cubicBezTo>
                        <a:pt x="51174" y="1905000"/>
                        <a:pt x="0" y="1853826"/>
                        <a:pt x="0" y="1790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096000" y="3905250"/>
                  <a:ext cx="51435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57150">
                      <a:moveTo>
                        <a:pt x="28575" y="0"/>
                      </a:moveTo>
                      <a:lnTo>
                        <a:pt x="5114925" y="0"/>
                      </a:lnTo>
                      <a:cubicBezTo>
                        <a:pt x="5130707" y="0"/>
                        <a:pt x="5143500" y="12793"/>
                        <a:pt x="5143500" y="28575"/>
                      </a:cubicBezTo>
                      <a:lnTo>
                        <a:pt x="5143500" y="28575"/>
                      </a:lnTo>
                      <a:cubicBezTo>
                        <a:pt x="5143500" y="44357"/>
                        <a:pt x="5130707" y="57150"/>
                        <a:pt x="51149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6395466" y="4249102"/>
                  <a:ext cx="119801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投资回收期中位数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6381750" y="4594860"/>
                  <a:ext cx="383103" cy="819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42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6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7037832" y="4821555"/>
                  <a:ext cx="615010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个月</a:t>
                  </a:r>
                </a:p>
              </p:txBody>
            </p:sp>
            <p:sp>
              <p:nvSpPr>
                <p:cNvPr id="48" name="Line 48"/>
                <p:cNvSpPr/>
                <p:nvPr/>
              </p:nvSpPr>
              <p:spPr>
                <a:xfrm>
                  <a:off x="6400800" y="5238750"/>
                  <a:ext cx="4533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3900" h="9525">
                      <a:moveTo>
                        <a:pt x="0" y="0"/>
                      </a:moveTo>
                      <a:lnTo>
                        <a:pt x="45339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6395466" y="5392102"/>
                  <a:ext cx="11414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基于增量利润测算</a:t>
                  </a:r>
                </a:p>
              </p:txBody>
            </p:sp>
            <p:grpSp>
              <p:nvGrpSpPr>
                <p:cNvPr id="52" name="Group 52"/>
                <p:cNvGrpSpPr/>
                <p:nvPr/>
              </p:nvGrpSpPr>
              <p:grpSpPr>
                <a:xfrm>
                  <a:off x="10515600" y="4381500"/>
                  <a:ext cx="304800" cy="190500"/>
                  <a:chOff x="10515600" y="4381500"/>
                  <a:chExt cx="304800" cy="190500"/>
                </a:xfrm>
              </p:grpSpPr>
              <p:sp>
                <p:nvSpPr>
                  <p:cNvPr id="50" name="Polyline 50"/>
                  <p:cNvSpPr/>
                  <p:nvPr/>
                </p:nvSpPr>
                <p:spPr>
                  <a:xfrm>
                    <a:off x="10515600" y="4381500"/>
                    <a:ext cx="304800" cy="19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800" h="190500">
                        <a:moveTo>
                          <a:pt x="0" y="190500"/>
                        </a:moveTo>
                        <a:lnTo>
                          <a:pt x="95250" y="95250"/>
                        </a:lnTo>
                        <a:lnTo>
                          <a:pt x="171450" y="133350"/>
                        </a:lnTo>
                        <a:lnTo>
                          <a:pt x="304800" y="0"/>
                        </a:lnTo>
                      </a:path>
                    </a:pathLst>
                  </a:custGeom>
                  <a:noFill/>
                  <a:ln w="19050" cap="rnd">
                    <a:solidFill>
                      <a:schemeClr val="accent1"/>
                    </a:solidFill>
                    <a:round/>
                  </a:ln>
                </p:spPr>
              </p:sp>
              <p:sp>
                <p:nvSpPr>
                  <p:cNvPr id="51" name="Polyline 51"/>
                  <p:cNvSpPr/>
                  <p:nvPr/>
                </p:nvSpPr>
                <p:spPr>
                  <a:xfrm>
                    <a:off x="10744200" y="4381500"/>
                    <a:ext cx="76200" cy="7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76200">
                        <a:moveTo>
                          <a:pt x="0" y="0"/>
                        </a:moveTo>
                        <a:lnTo>
                          <a:pt x="76200" y="0"/>
                        </a:lnTo>
                        <a:lnTo>
                          <a:pt x="76200" y="76200"/>
                        </a:lnTo>
                      </a:path>
                    </a:pathLst>
                  </a:custGeom>
                  <a:noFill/>
                  <a:ln w="19050" cap="rnd">
                    <a:solidFill>
                      <a:schemeClr val="accent1"/>
                    </a:solidFill>
                    <a:round/>
                  </a:ln>
                </p:spPr>
              </p:sp>
            </p:grpSp>
          </p:grpSp>
        </p:grpSp>
      </p:grpSp>
      <p:grpSp>
        <p:nvGrpSpPr>
          <p:cNvPr id="59" name="Group 59"/>
          <p:cNvGrpSpPr/>
          <p:nvPr/>
        </p:nvGrpSpPr>
        <p:grpSpPr>
          <a:xfrm>
            <a:off x="566738" y="6477000"/>
            <a:ext cx="11058524" cy="282416"/>
            <a:chOff x="566738" y="6477000"/>
            <a:chExt cx="11058524" cy="282416"/>
          </a:xfrm>
        </p:grpSpPr>
        <p:sp>
          <p:nvSpPr>
            <p:cNvPr id="56" name="Line 56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66738" y="6597491"/>
              <a:ext cx="18401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平台核心能力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365849" y="659749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7784" y="390049"/>
            <a:ext cx="3253435" cy="1157002"/>
            <a:chOff x="557784" y="390049"/>
            <a:chExt cx="3253435" cy="1157002"/>
          </a:xfrm>
        </p:grpSpPr>
        <p:sp>
          <p:nvSpPr>
            <p:cNvPr id="5" name="TextBox 5"/>
            <p:cNvSpPr txBox="1"/>
            <p:nvPr/>
          </p:nvSpPr>
          <p:spPr>
            <a:xfrm>
              <a:off x="566547" y="390049"/>
              <a:ext cx="9305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SPREADMAP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7784" y="661035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典型部署效果轨迹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143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4642" y="1283018"/>
              <a:ext cx="29132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某KA客户逐月营销投资回报率变化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40766" y="1791652"/>
            <a:ext cx="11110422" cy="4110609"/>
            <a:chOff x="340766" y="1791652"/>
            <a:chExt cx="11110422" cy="4110609"/>
          </a:xfrm>
        </p:grpSpPr>
        <p:grpSp>
          <p:nvGrpSpPr>
            <p:cNvPr id="36" name="Group 36"/>
            <p:cNvGrpSpPr/>
            <p:nvPr/>
          </p:nvGrpSpPr>
          <p:grpSpPr>
            <a:xfrm>
              <a:off x="340766" y="1791652"/>
              <a:ext cx="11110422" cy="4110609"/>
              <a:chOff x="340766" y="1791652"/>
              <a:chExt cx="11110422" cy="4110609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952500" y="1905000"/>
                <a:ext cx="9525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619500">
                    <a:moveTo>
                      <a:pt x="0" y="0"/>
                    </a:moveTo>
                    <a:lnTo>
                      <a:pt x="0" y="36195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952500" y="5524500"/>
                <a:ext cx="1028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9525">
                    <a:moveTo>
                      <a:pt x="0" y="0"/>
                    </a:moveTo>
                    <a:lnTo>
                      <a:pt x="102870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26548" y="54111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26548" y="46872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26548" y="39633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26548" y="32394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26548" y="25155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26548" y="17916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 rot="-5400000">
                <a:off x="340766" y="3612071"/>
                <a:ext cx="2496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ROI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952500" y="4800600"/>
                <a:ext cx="1028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9525">
                    <a:moveTo>
                      <a:pt x="0" y="0"/>
                    </a:moveTo>
                    <a:lnTo>
                      <a:pt x="10287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952500" y="4076700"/>
                <a:ext cx="1028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9525">
                    <a:moveTo>
                      <a:pt x="0" y="0"/>
                    </a:moveTo>
                    <a:lnTo>
                      <a:pt x="10287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952500" y="3352800"/>
                <a:ext cx="1028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9525">
                    <a:moveTo>
                      <a:pt x="0" y="0"/>
                    </a:moveTo>
                    <a:lnTo>
                      <a:pt x="10287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952500" y="2628900"/>
                <a:ext cx="1028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9525">
                    <a:moveTo>
                      <a:pt x="0" y="0"/>
                    </a:moveTo>
                    <a:lnTo>
                      <a:pt x="10287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35139" y="569690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部署前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195943" y="5696902"/>
                <a:ext cx="3711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第1月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624943" y="5696902"/>
                <a:ext cx="3711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第3月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1053943" y="5696902"/>
                <a:ext cx="3711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第6月</a:t>
                </a:r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952500" y="2552700"/>
                <a:ext cx="10287000" cy="211455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2114550">
                    <a:moveTo>
                      <a:pt x="0" y="2114550"/>
                    </a:moveTo>
                    <a:lnTo>
                      <a:pt x="3429000" y="1771650"/>
                    </a:lnTo>
                    <a:lnTo>
                      <a:pt x="6858000" y="1028700"/>
                    </a:lnTo>
                    <a:lnTo>
                      <a:pt x="10287000" y="0"/>
                    </a:lnTo>
                  </a:path>
                </a:pathLst>
              </a:custGeom>
              <a:noFill/>
              <a:ln w="38100" cap="rnd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</a:gradFill>
                <a:round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857250" y="4572000"/>
                <a:ext cx="190500" cy="19050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rgbClr val="FFFFFF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286250" y="4229100"/>
                <a:ext cx="190500" cy="19050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rgbClr val="FFFFFF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7715250" y="3486150"/>
                <a:ext cx="190500" cy="19050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rgbClr val="FFFFFF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11144250" y="245745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rgbClr val="FFFFFF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40813" y="4251008"/>
                <a:ext cx="4233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1.5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169813" y="3908108"/>
                <a:ext cx="4233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2.1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598813" y="3165158"/>
                <a:ext cx="4233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3.4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1027813" y="2136458"/>
                <a:ext cx="4233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2"/>
                    </a:solidFill>
                    <a:latin typeface="Georgia"/>
                    <a:ea typeface="Georgia"/>
                    <a:cs typeface="Georgia"/>
                  </a:rPr>
                  <a:t>5.2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571500" y="2619375"/>
            <a:ext cx="10477500" cy="3952875"/>
            <a:chOff x="571500" y="2619375"/>
            <a:chExt cx="10477500" cy="3952875"/>
          </a:xfrm>
        </p:grpSpPr>
        <p:grpSp>
          <p:nvGrpSpPr>
            <p:cNvPr id="54" name="Group 54"/>
            <p:cNvGrpSpPr/>
            <p:nvPr/>
          </p:nvGrpSpPr>
          <p:grpSpPr>
            <a:xfrm>
              <a:off x="571500" y="6000750"/>
              <a:ext cx="10477500" cy="571500"/>
              <a:chOff x="571500" y="6000750"/>
              <a:chExt cx="10477500" cy="5715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71500" y="6000750"/>
                <a:ext cx="24765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476500" h="571500">
                    <a:moveTo>
                      <a:pt x="76200" y="0"/>
                    </a:moveTo>
                    <a:lnTo>
                      <a:pt x="2400300" y="0"/>
                    </a:lnTo>
                    <a:cubicBezTo>
                      <a:pt x="2442384" y="0"/>
                      <a:pt x="2476500" y="34116"/>
                      <a:pt x="2476500" y="76200"/>
                    </a:cubicBezTo>
                    <a:lnTo>
                      <a:pt x="2476500" y="495300"/>
                    </a:lnTo>
                    <a:cubicBezTo>
                      <a:pt x="2476500" y="537384"/>
                      <a:pt x="2442384" y="571500"/>
                      <a:pt x="2400300" y="571500"/>
                    </a:cubicBezTo>
                    <a:lnTo>
                      <a:pt x="76200" y="571500"/>
                    </a:lnTo>
                    <a:cubicBezTo>
                      <a:pt x="34116" y="571500"/>
                      <a:pt x="0" y="537384"/>
                      <a:pt x="0" y="495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704850" y="62293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09066" y="613505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部署前均值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09638" y="6341745"/>
                <a:ext cx="11104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ROI基线（无优化）</a:t>
                </a:r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3238500" y="6000750"/>
                <a:ext cx="24765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476500" h="571500">
                    <a:moveTo>
                      <a:pt x="76200" y="0"/>
                    </a:moveTo>
                    <a:lnTo>
                      <a:pt x="2400300" y="0"/>
                    </a:lnTo>
                    <a:cubicBezTo>
                      <a:pt x="2442384" y="0"/>
                      <a:pt x="2476500" y="34116"/>
                      <a:pt x="2476500" y="76200"/>
                    </a:cubicBezTo>
                    <a:lnTo>
                      <a:pt x="2476500" y="495300"/>
                    </a:lnTo>
                    <a:cubicBezTo>
                      <a:pt x="2476500" y="537384"/>
                      <a:pt x="2442384" y="571500"/>
                      <a:pt x="2400300" y="571500"/>
                    </a:cubicBezTo>
                    <a:lnTo>
                      <a:pt x="76200" y="571500"/>
                    </a:lnTo>
                    <a:cubicBezTo>
                      <a:pt x="34116" y="571500"/>
                      <a:pt x="0" y="537384"/>
                      <a:pt x="0" y="495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3371850" y="62293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3576066" y="6135052"/>
                <a:ext cx="5375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第1个月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3576638" y="6341745"/>
                <a:ext cx="101445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AI出价与创意测试</a:t>
                </a:r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5905500" y="6000750"/>
                <a:ext cx="24765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476500" h="571500">
                    <a:moveTo>
                      <a:pt x="76200" y="0"/>
                    </a:moveTo>
                    <a:lnTo>
                      <a:pt x="2400300" y="0"/>
                    </a:lnTo>
                    <a:cubicBezTo>
                      <a:pt x="2442384" y="0"/>
                      <a:pt x="2476500" y="34116"/>
                      <a:pt x="2476500" y="76200"/>
                    </a:cubicBezTo>
                    <a:lnTo>
                      <a:pt x="2476500" y="495300"/>
                    </a:lnTo>
                    <a:cubicBezTo>
                      <a:pt x="2476500" y="537384"/>
                      <a:pt x="2442384" y="571500"/>
                      <a:pt x="2400300" y="571500"/>
                    </a:cubicBezTo>
                    <a:lnTo>
                      <a:pt x="76200" y="571500"/>
                    </a:lnTo>
                    <a:cubicBezTo>
                      <a:pt x="34116" y="571500"/>
                      <a:pt x="0" y="537384"/>
                      <a:pt x="0" y="495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6038850" y="62293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243066" y="6135052"/>
                <a:ext cx="5375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第3个月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243638" y="6341745"/>
                <a:ext cx="13422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意图模型叠加自动化旅程</a:t>
                </a:r>
              </a:p>
            </p:txBody>
          </p:sp>
          <p:sp>
            <p:nvSpPr>
              <p:cNvPr id="50" name="Freeform 50"/>
              <p:cNvSpPr/>
              <p:nvPr/>
            </p:nvSpPr>
            <p:spPr>
              <a:xfrm>
                <a:off x="8572500" y="6000750"/>
                <a:ext cx="24765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476500" h="571500">
                    <a:moveTo>
                      <a:pt x="76200" y="0"/>
                    </a:moveTo>
                    <a:lnTo>
                      <a:pt x="2400300" y="0"/>
                    </a:lnTo>
                    <a:cubicBezTo>
                      <a:pt x="2442384" y="0"/>
                      <a:pt x="2476500" y="34116"/>
                      <a:pt x="2476500" y="76200"/>
                    </a:cubicBezTo>
                    <a:lnTo>
                      <a:pt x="2476500" y="495300"/>
                    </a:lnTo>
                    <a:cubicBezTo>
                      <a:pt x="2476500" y="537384"/>
                      <a:pt x="2442384" y="571500"/>
                      <a:pt x="2400300" y="571500"/>
                    </a:cubicBezTo>
                    <a:lnTo>
                      <a:pt x="76200" y="571500"/>
                    </a:lnTo>
                    <a:cubicBezTo>
                      <a:pt x="34116" y="571500"/>
                      <a:pt x="0" y="537384"/>
                      <a:pt x="0" y="495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8705850" y="62293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910066" y="6135052"/>
                <a:ext cx="5375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第6个月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910638" y="6341745"/>
                <a:ext cx="13422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全域数据融合后全面调优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10001250" y="2619375"/>
              <a:ext cx="1014669" cy="577691"/>
              <a:chOff x="10001250" y="2619375"/>
              <a:chExt cx="1014669" cy="577691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10001250" y="2619375"/>
                <a:ext cx="47625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28625">
                    <a:moveTo>
                      <a:pt x="0" y="428625"/>
                    </a:moveTo>
                    <a:lnTo>
                      <a:pt x="285750" y="142875"/>
                    </a:lnTo>
                    <a:lnTo>
                      <a:pt x="285750" y="285750"/>
                    </a:lnTo>
                    <a:lnTo>
                      <a:pt x="476250" y="285750"/>
                    </a:lnTo>
                    <a:lnTo>
                      <a:pt x="476250" y="0"/>
                    </a:lnTo>
                    <a:lnTo>
                      <a:pt x="285750" y="0"/>
                    </a:lnTo>
                    <a:lnTo>
                      <a:pt x="285750" y="142875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0567416" y="2839402"/>
                <a:ext cx="44850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+247%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0567988" y="3035141"/>
                <a:ext cx="43197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ROI提升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566738" y="6578441"/>
            <a:ext cx="11058524" cy="161925"/>
            <a:chOff x="566738" y="6578441"/>
            <a:chExt cx="11058524" cy="161925"/>
          </a:xfrm>
        </p:grpSpPr>
        <p:sp>
          <p:nvSpPr>
            <p:cNvPr id="60" name="TextBox 60"/>
            <p:cNvSpPr txBox="1"/>
            <p:nvPr/>
          </p:nvSpPr>
          <p:spPr>
            <a:xfrm>
              <a:off x="113658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 / 8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6738" y="6578441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1500" y="476250"/>
            <a:ext cx="11049000" cy="19050"/>
            <a:chOff x="571500" y="476250"/>
            <a:chExt cx="11049000" cy="19050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190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476250"/>
              <a:ext cx="762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557784" y="743902"/>
            <a:ext cx="11062716" cy="4685348"/>
            <a:chOff x="557784" y="743902"/>
            <a:chExt cx="11062716" cy="4685348"/>
          </a:xfrm>
        </p:grpSpPr>
        <p:grpSp>
          <p:nvGrpSpPr>
            <p:cNvPr id="11" name="Group 11"/>
            <p:cNvGrpSpPr/>
            <p:nvPr/>
          </p:nvGrpSpPr>
          <p:grpSpPr>
            <a:xfrm>
              <a:off x="557784" y="743902"/>
              <a:ext cx="4866437" cy="1006793"/>
              <a:chOff x="557784" y="743902"/>
              <a:chExt cx="4866437" cy="1006793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566166" y="743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推进序列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57784" y="994410"/>
                <a:ext cx="486643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下一步：快速启动增值路径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63880" y="1457325"/>
                <a:ext cx="28422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管理层应决策推进以下里程碑。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571500" y="2000250"/>
              <a:ext cx="11049000" cy="3429000"/>
              <a:chOff x="571500" y="2000250"/>
              <a:chExt cx="11049000" cy="3429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71500" y="2000250"/>
                <a:ext cx="11049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3429000">
                    <a:moveTo>
                      <a:pt x="114300" y="0"/>
                    </a:moveTo>
                    <a:lnTo>
                      <a:pt x="10934700" y="0"/>
                    </a:lnTo>
                    <a:cubicBezTo>
                      <a:pt x="10997826" y="0"/>
                      <a:pt x="11049000" y="51174"/>
                      <a:pt x="11049000" y="114300"/>
                    </a:cubicBezTo>
                    <a:lnTo>
                      <a:pt x="11049000" y="3314700"/>
                    </a:lnTo>
                    <a:cubicBezTo>
                      <a:pt x="11049000" y="3377826"/>
                      <a:pt x="10997826" y="3429000"/>
                      <a:pt x="10934700" y="3429000"/>
                    </a:cubicBezTo>
                    <a:lnTo>
                      <a:pt x="114300" y="3429000"/>
                    </a:lnTo>
                    <a:cubicBezTo>
                      <a:pt x="51174" y="3429000"/>
                      <a:pt x="0" y="3377826"/>
                      <a:pt x="0" y="3314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1143000" y="3714750"/>
                <a:ext cx="9906000" cy="9525"/>
                <a:chOff x="1143000" y="3714750"/>
                <a:chExt cx="9906000" cy="9525"/>
              </a:xfrm>
            </p:grpSpPr>
            <p:sp>
              <p:nvSpPr>
                <p:cNvPr id="13" name="Line 13"/>
                <p:cNvSpPr/>
                <p:nvPr/>
              </p:nvSpPr>
              <p:spPr>
                <a:xfrm>
                  <a:off x="1143000" y="3714750"/>
                  <a:ext cx="9906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000" h="9525">
                      <a:moveTo>
                        <a:pt x="0" y="0"/>
                      </a:moveTo>
                      <a:lnTo>
                        <a:pt x="9906000" y="0"/>
                      </a:lnTo>
                    </a:path>
                  </a:pathLst>
                </a:custGeom>
                <a:noFill/>
                <a:ln w="38100">
                  <a:solidFill>
                    <a:schemeClr val="accent4"/>
                  </a:solidFill>
                </a:ln>
              </p:spPr>
            </p:sp>
            <p:sp>
              <p:nvSpPr>
                <p:cNvPr id="14" name="Line 14"/>
                <p:cNvSpPr/>
                <p:nvPr/>
              </p:nvSpPr>
              <p:spPr>
                <a:xfrm>
                  <a:off x="1143000" y="3714750"/>
                  <a:ext cx="9906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000" h="9525">
                      <a:moveTo>
                        <a:pt x="0" y="0"/>
                      </a:moveTo>
                      <a:lnTo>
                        <a:pt x="9906000" y="0"/>
                      </a:lnTo>
                    </a:path>
                  </a:pathLst>
                </a:custGeom>
                <a:noFill/>
                <a:ln w="38100">
                  <a:gradFill>
                    <a:gsLst>
                      <a:gs pos="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1"/>
                  </a:gradFill>
                  <a:custDash>
                    <a:ds d="500000" sp="200000"/>
                  </a:custDash>
                </a:ln>
              </p:spPr>
            </p:sp>
          </p:grpSp>
          <p:grpSp>
            <p:nvGrpSpPr>
              <p:cNvPr id="24" name="Group 24"/>
              <p:cNvGrpSpPr/>
              <p:nvPr/>
            </p:nvGrpSpPr>
            <p:grpSpPr>
              <a:xfrm>
                <a:off x="857250" y="3220402"/>
                <a:ext cx="1714500" cy="1923098"/>
                <a:chOff x="857250" y="3220402"/>
                <a:chExt cx="1714500" cy="1923098"/>
              </a:xfrm>
            </p:grpSpPr>
            <p:sp>
              <p:nvSpPr>
                <p:cNvPr id="16" name="Ellipse 16"/>
                <p:cNvSpPr/>
                <p:nvPr/>
              </p:nvSpPr>
              <p:spPr>
                <a:xfrm>
                  <a:off x="1485900" y="3486150"/>
                  <a:ext cx="457200" cy="4572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7" name="Ellipse 17"/>
                <p:cNvSpPr/>
                <p:nvPr/>
              </p:nvSpPr>
              <p:spPr>
                <a:xfrm>
                  <a:off x="1600200" y="360045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440682" y="3220402"/>
                  <a:ext cx="54763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Week 1</a:t>
                  </a:r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857250" y="4095750"/>
                  <a:ext cx="1714500" cy="104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1047750">
                      <a:moveTo>
                        <a:pt x="76200" y="0"/>
                      </a:moveTo>
                      <a:lnTo>
                        <a:pt x="1638300" y="0"/>
                      </a:lnTo>
                      <a:cubicBezTo>
                        <a:pt x="1680384" y="0"/>
                        <a:pt x="1714500" y="34116"/>
                        <a:pt x="1714500" y="76200"/>
                      </a:cubicBezTo>
                      <a:lnTo>
                        <a:pt x="1714500" y="971550"/>
                      </a:lnTo>
                      <a:cubicBezTo>
                        <a:pt x="1714500" y="1013634"/>
                        <a:pt x="1680384" y="1047750"/>
                        <a:pt x="1638300" y="1047750"/>
                      </a:cubicBezTo>
                      <a:lnTo>
                        <a:pt x="76200" y="1047750"/>
                      </a:lnTo>
                      <a:cubicBezTo>
                        <a:pt x="34116" y="1047750"/>
                        <a:pt x="0" y="1013634"/>
                        <a:pt x="0" y="971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857250" y="4095750"/>
                  <a:ext cx="17145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38100">
                      <a:moveTo>
                        <a:pt x="19050" y="0"/>
                      </a:moveTo>
                      <a:lnTo>
                        <a:pt x="1695450" y="0"/>
                      </a:lnTo>
                      <a:cubicBezTo>
                        <a:pt x="1705971" y="0"/>
                        <a:pt x="1714500" y="8529"/>
                        <a:pt x="1714500" y="19050"/>
                      </a:cubicBezTo>
                      <a:lnTo>
                        <a:pt x="1714500" y="19050"/>
                      </a:lnTo>
                      <a:cubicBezTo>
                        <a:pt x="1714500" y="29571"/>
                        <a:pt x="1705971" y="38100"/>
                        <a:pt x="1695450" y="38100"/>
                      </a:cubicBezTo>
                      <a:lnTo>
                        <a:pt x="19050" y="38100"/>
                      </a:lnTo>
                      <a:cubicBezTo>
                        <a:pt x="8529" y="38100"/>
                        <a:pt x="0" y="29571"/>
                        <a:pt x="0" y="190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199540" y="4251960"/>
                  <a:ext cx="102991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授权数据对接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1250156" y="4514374"/>
                  <a:ext cx="92868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确认数据源清单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381411" y="4704874"/>
                  <a:ext cx="666179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与权限配置</a:t>
                  </a:r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3143250" y="3220402"/>
                <a:ext cx="1714500" cy="1923098"/>
                <a:chOff x="3143250" y="3220402"/>
                <a:chExt cx="1714500" cy="1923098"/>
              </a:xfrm>
            </p:grpSpPr>
            <p:sp>
              <p:nvSpPr>
                <p:cNvPr id="25" name="Ellipse 25"/>
                <p:cNvSpPr/>
                <p:nvPr/>
              </p:nvSpPr>
              <p:spPr>
                <a:xfrm>
                  <a:off x="3771900" y="3486150"/>
                  <a:ext cx="457200" cy="4572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6" name="Ellipse 26"/>
                <p:cNvSpPr/>
                <p:nvPr/>
              </p:nvSpPr>
              <p:spPr>
                <a:xfrm>
                  <a:off x="3886200" y="360045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3635811" y="3220402"/>
                  <a:ext cx="7293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Week 2-4</a:t>
                  </a:r>
                </a:p>
              </p:txBody>
            </p:sp>
            <p:sp>
              <p:nvSpPr>
                <p:cNvPr id="28" name="Freeform 28"/>
                <p:cNvSpPr/>
                <p:nvPr/>
              </p:nvSpPr>
              <p:spPr>
                <a:xfrm>
                  <a:off x="3143250" y="4095750"/>
                  <a:ext cx="1714500" cy="104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1047750">
                      <a:moveTo>
                        <a:pt x="76200" y="0"/>
                      </a:moveTo>
                      <a:lnTo>
                        <a:pt x="1638300" y="0"/>
                      </a:lnTo>
                      <a:cubicBezTo>
                        <a:pt x="1680384" y="0"/>
                        <a:pt x="1714500" y="34116"/>
                        <a:pt x="1714500" y="76200"/>
                      </a:cubicBezTo>
                      <a:lnTo>
                        <a:pt x="1714500" y="971550"/>
                      </a:lnTo>
                      <a:cubicBezTo>
                        <a:pt x="1714500" y="1013634"/>
                        <a:pt x="1680384" y="1047750"/>
                        <a:pt x="1638300" y="1047750"/>
                      </a:cubicBezTo>
                      <a:lnTo>
                        <a:pt x="76200" y="1047750"/>
                      </a:lnTo>
                      <a:cubicBezTo>
                        <a:pt x="34116" y="1047750"/>
                        <a:pt x="0" y="1013634"/>
                        <a:pt x="0" y="971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3143250" y="4095750"/>
                  <a:ext cx="17145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38100">
                      <a:moveTo>
                        <a:pt x="19050" y="0"/>
                      </a:moveTo>
                      <a:lnTo>
                        <a:pt x="1695450" y="0"/>
                      </a:lnTo>
                      <a:cubicBezTo>
                        <a:pt x="1705971" y="0"/>
                        <a:pt x="1714500" y="8529"/>
                        <a:pt x="1714500" y="19050"/>
                      </a:cubicBezTo>
                      <a:lnTo>
                        <a:pt x="1714500" y="19050"/>
                      </a:lnTo>
                      <a:cubicBezTo>
                        <a:pt x="1714500" y="29571"/>
                        <a:pt x="1705971" y="38100"/>
                        <a:pt x="1695450" y="38100"/>
                      </a:cubicBezTo>
                      <a:lnTo>
                        <a:pt x="19050" y="38100"/>
                      </a:lnTo>
                      <a:cubicBezTo>
                        <a:pt x="8529" y="38100"/>
                        <a:pt x="0" y="29571"/>
                        <a:pt x="0" y="190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3470178" y="4251960"/>
                  <a:ext cx="106064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POC场景验证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3536156" y="4514374"/>
                  <a:ext cx="92868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在真实业务场景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3404902" y="4704874"/>
                  <a:ext cx="1191197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聚焦单一高价值用例</a:t>
                  </a:r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5429250" y="3220402"/>
                <a:ext cx="1714500" cy="1923098"/>
                <a:chOff x="5429250" y="3220402"/>
                <a:chExt cx="1714500" cy="1923098"/>
              </a:xfrm>
            </p:grpSpPr>
            <p:sp>
              <p:nvSpPr>
                <p:cNvPr id="34" name="Ellipse 34"/>
                <p:cNvSpPr/>
                <p:nvPr/>
              </p:nvSpPr>
              <p:spPr>
                <a:xfrm>
                  <a:off x="6057900" y="3486150"/>
                  <a:ext cx="457200" cy="4572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5" name="Ellipse 35"/>
                <p:cNvSpPr/>
                <p:nvPr/>
              </p:nvSpPr>
              <p:spPr>
                <a:xfrm>
                  <a:off x="6172200" y="360045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880492" y="3220402"/>
                  <a:ext cx="81201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Month 2-3</a:t>
                  </a:r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5429250" y="4095750"/>
                  <a:ext cx="1714500" cy="104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1047750">
                      <a:moveTo>
                        <a:pt x="76200" y="0"/>
                      </a:moveTo>
                      <a:lnTo>
                        <a:pt x="1638300" y="0"/>
                      </a:lnTo>
                      <a:cubicBezTo>
                        <a:pt x="1680384" y="0"/>
                        <a:pt x="1714500" y="34116"/>
                        <a:pt x="1714500" y="76200"/>
                      </a:cubicBezTo>
                      <a:lnTo>
                        <a:pt x="1714500" y="971550"/>
                      </a:lnTo>
                      <a:cubicBezTo>
                        <a:pt x="1714500" y="1013634"/>
                        <a:pt x="1680384" y="1047750"/>
                        <a:pt x="1638300" y="1047750"/>
                      </a:cubicBezTo>
                      <a:lnTo>
                        <a:pt x="76200" y="1047750"/>
                      </a:lnTo>
                      <a:cubicBezTo>
                        <a:pt x="34116" y="1047750"/>
                        <a:pt x="0" y="1013634"/>
                        <a:pt x="0" y="971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5429250" y="4095750"/>
                  <a:ext cx="17145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38100">
                      <a:moveTo>
                        <a:pt x="19050" y="0"/>
                      </a:moveTo>
                      <a:lnTo>
                        <a:pt x="1695450" y="0"/>
                      </a:lnTo>
                      <a:cubicBezTo>
                        <a:pt x="1705971" y="0"/>
                        <a:pt x="1714500" y="8529"/>
                        <a:pt x="1714500" y="19050"/>
                      </a:cubicBezTo>
                      <a:lnTo>
                        <a:pt x="1714500" y="19050"/>
                      </a:lnTo>
                      <a:cubicBezTo>
                        <a:pt x="1714500" y="29571"/>
                        <a:pt x="1705971" y="38100"/>
                        <a:pt x="1695450" y="38100"/>
                      </a:cubicBezTo>
                      <a:lnTo>
                        <a:pt x="19050" y="38100"/>
                      </a:lnTo>
                      <a:cubicBezTo>
                        <a:pt x="8529" y="38100"/>
                        <a:pt x="0" y="29571"/>
                        <a:pt x="0" y="190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5771540" y="4251960"/>
                  <a:ext cx="102991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端到端自动化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5822156" y="4514374"/>
                  <a:ext cx="92868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全渠道体验编排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5887784" y="4704874"/>
                  <a:ext cx="797433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启动组织培训</a:t>
                  </a:r>
                </a:p>
              </p:txBody>
            </p:sp>
          </p:grpSp>
          <p:grpSp>
            <p:nvGrpSpPr>
              <p:cNvPr id="51" name="Group 51"/>
              <p:cNvGrpSpPr/>
              <p:nvPr/>
            </p:nvGrpSpPr>
            <p:grpSpPr>
              <a:xfrm>
                <a:off x="7715250" y="3220402"/>
                <a:ext cx="1714500" cy="1923098"/>
                <a:chOff x="7715250" y="3220402"/>
                <a:chExt cx="1714500" cy="1923098"/>
              </a:xfrm>
            </p:grpSpPr>
            <p:sp>
              <p:nvSpPr>
                <p:cNvPr id="43" name="Ellipse 43"/>
                <p:cNvSpPr/>
                <p:nvPr/>
              </p:nvSpPr>
              <p:spPr>
                <a:xfrm>
                  <a:off x="8343900" y="3486150"/>
                  <a:ext cx="457200" cy="4572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44" name="Ellipse 44"/>
                <p:cNvSpPr/>
                <p:nvPr/>
              </p:nvSpPr>
              <p:spPr>
                <a:xfrm>
                  <a:off x="8458200" y="3600450"/>
                  <a:ext cx="228600" cy="2286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8256439" y="3220402"/>
                  <a:ext cx="63212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2F855A"/>
                      </a:solidFill>
                      <a:latin typeface="+mj-lt"/>
                      <a:ea typeface="+mj-ea"/>
                      <a:cs typeface="+mj-cs"/>
                    </a:rPr>
                    <a:t>Month 6</a:t>
                  </a:r>
                </a:p>
              </p:txBody>
            </p:sp>
            <p:sp>
              <p:nvSpPr>
                <p:cNvPr id="46" name="Freeform 46"/>
                <p:cNvSpPr/>
                <p:nvPr/>
              </p:nvSpPr>
              <p:spPr>
                <a:xfrm>
                  <a:off x="7715250" y="4095750"/>
                  <a:ext cx="1714500" cy="104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1047750">
                      <a:moveTo>
                        <a:pt x="76200" y="0"/>
                      </a:moveTo>
                      <a:lnTo>
                        <a:pt x="1638300" y="0"/>
                      </a:lnTo>
                      <a:cubicBezTo>
                        <a:pt x="1680384" y="0"/>
                        <a:pt x="1714500" y="34116"/>
                        <a:pt x="1714500" y="76200"/>
                      </a:cubicBezTo>
                      <a:lnTo>
                        <a:pt x="1714500" y="971550"/>
                      </a:lnTo>
                      <a:cubicBezTo>
                        <a:pt x="1714500" y="1013634"/>
                        <a:pt x="1680384" y="1047750"/>
                        <a:pt x="1638300" y="1047750"/>
                      </a:cubicBezTo>
                      <a:lnTo>
                        <a:pt x="76200" y="1047750"/>
                      </a:lnTo>
                      <a:cubicBezTo>
                        <a:pt x="34116" y="1047750"/>
                        <a:pt x="0" y="1013634"/>
                        <a:pt x="0" y="971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7715250" y="4095750"/>
                  <a:ext cx="17145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38100">
                      <a:moveTo>
                        <a:pt x="19050" y="0"/>
                      </a:moveTo>
                      <a:lnTo>
                        <a:pt x="1695450" y="0"/>
                      </a:lnTo>
                      <a:cubicBezTo>
                        <a:pt x="1705971" y="0"/>
                        <a:pt x="1714500" y="8529"/>
                        <a:pt x="1714500" y="19050"/>
                      </a:cubicBezTo>
                      <a:lnTo>
                        <a:pt x="1714500" y="19050"/>
                      </a:lnTo>
                      <a:cubicBezTo>
                        <a:pt x="1714500" y="29571"/>
                        <a:pt x="1705971" y="38100"/>
                        <a:pt x="1695450" y="38100"/>
                      </a:cubicBezTo>
                      <a:lnTo>
                        <a:pt x="19050" y="38100"/>
                      </a:lnTo>
                      <a:cubicBezTo>
                        <a:pt x="8529" y="38100"/>
                        <a:pt x="0" y="29571"/>
                        <a:pt x="0" y="190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8057540" y="4251960"/>
                  <a:ext cx="102991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效果回溯扩量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8108156" y="4514374"/>
                  <a:ext cx="92868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纳入更多品牌线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8239411" y="4704874"/>
                  <a:ext cx="666179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和市场区域</a:t>
                  </a:r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9906000" y="3619500"/>
                <a:ext cx="873671" cy="234887"/>
                <a:chOff x="9906000" y="3619500"/>
                <a:chExt cx="873671" cy="234887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9906000" y="3619500"/>
                  <a:ext cx="6667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190500">
                      <a:moveTo>
                        <a:pt x="0" y="95250"/>
                      </a:moveTo>
                      <a:lnTo>
                        <a:pt x="571500" y="95250"/>
                      </a:lnTo>
                      <a:lnTo>
                        <a:pt x="476250" y="0"/>
                      </a:lnTo>
                      <a:lnTo>
                        <a:pt x="666750" y="95250"/>
                      </a:lnTo>
                      <a:lnTo>
                        <a:pt x="476250" y="19050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10472166" y="3649028"/>
                  <a:ext cx="3075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增值</a:t>
                  </a:r>
                </a:p>
              </p:txBody>
            </p:sp>
          </p:grpSp>
        </p:grpSp>
      </p:grpSp>
      <p:grpSp>
        <p:nvGrpSpPr>
          <p:cNvPr id="70" name="Group 70"/>
          <p:cNvGrpSpPr/>
          <p:nvPr/>
        </p:nvGrpSpPr>
        <p:grpSpPr>
          <a:xfrm>
            <a:off x="566738" y="5848350"/>
            <a:ext cx="10487025" cy="844391"/>
            <a:chOff x="566738" y="5848350"/>
            <a:chExt cx="10487025" cy="844391"/>
          </a:xfrm>
        </p:grpSpPr>
        <p:grpSp>
          <p:nvGrpSpPr>
            <p:cNvPr id="60" name="Group 60"/>
            <p:cNvGrpSpPr/>
            <p:nvPr/>
          </p:nvGrpSpPr>
          <p:grpSpPr>
            <a:xfrm>
              <a:off x="566738" y="6381750"/>
              <a:ext cx="10487025" cy="310991"/>
              <a:chOff x="566738" y="6381750"/>
              <a:chExt cx="10487025" cy="310991"/>
            </a:xfrm>
          </p:grpSpPr>
          <p:sp>
            <p:nvSpPr>
              <p:cNvPr id="57" name="Line 57"/>
              <p:cNvSpPr/>
              <p:nvPr/>
            </p:nvSpPr>
            <p:spPr>
              <a:xfrm>
                <a:off x="571500" y="6381750"/>
                <a:ext cx="1047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00" h="9525">
                    <a:moveTo>
                      <a:pt x="0" y="0"/>
                    </a:moveTo>
                    <a:lnTo>
                      <a:pt x="1047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566738" y="6530816"/>
                <a:ext cx="25941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8 / 8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0052647" y="6530816"/>
                <a:ext cx="100111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企业 AI 营销工作台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5486400" y="5848350"/>
              <a:ext cx="1428750" cy="114300"/>
              <a:chOff x="5486400" y="5848350"/>
              <a:chExt cx="1428750" cy="114300"/>
            </a:xfrm>
          </p:grpSpPr>
          <p:sp>
            <p:nvSpPr>
              <p:cNvPr id="61" name="Ellipse 61"/>
              <p:cNvSpPr/>
              <p:nvPr/>
            </p:nvSpPr>
            <p:spPr>
              <a:xfrm>
                <a:off x="5486400" y="5867400"/>
                <a:ext cx="76200" cy="76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5676900" y="5867400"/>
                <a:ext cx="76200" cy="76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5867400" y="5867400"/>
                <a:ext cx="76200" cy="76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6057900" y="5867400"/>
                <a:ext cx="76200" cy="76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6248400" y="5867400"/>
                <a:ext cx="76200" cy="76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66" name="Ellipse 66"/>
              <p:cNvSpPr/>
              <p:nvPr/>
            </p:nvSpPr>
            <p:spPr>
              <a:xfrm>
                <a:off x="6438900" y="5867400"/>
                <a:ext cx="76200" cy="76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6629400" y="5867400"/>
                <a:ext cx="76200" cy="76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6800850" y="58483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2026-07-10T23:16:20Z</dcterms:created>
  <dcterms:modified xsi:type="dcterms:W3CDTF">2026-07-10T23:16:20Z</dcterms:modified>
  <cp:category/>
  <cp:contentStatus/>
</cp:coreProperties>
</file>