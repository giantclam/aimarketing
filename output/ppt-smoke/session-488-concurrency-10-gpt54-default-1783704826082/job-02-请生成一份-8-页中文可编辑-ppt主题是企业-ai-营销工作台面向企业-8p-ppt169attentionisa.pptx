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AI营销工作台：让每一分钱都算数</a:t>
            </a:r>
          </a:p>
          <a:p>
            <a:endParaRPr lang="en-US" dirty="0"/>
          </a:p>
          <a:p>
            <a:r>
              <a:rPr lang="zh-CN" dirty="0"/>
              <a:t>执行简报|面向CEO/CMO/增长负责人的决策级摘要。</a:t>
            </a:r>
          </a:p>
          <a:p>
            <a:endParaRPr lang="en-US" dirty="0"/>
          </a:p>
          <a:p>
            <a:r>
              <a:rPr lang="zh-CN" dirty="0"/>
              <a:t>• AI营销工作台：让每一分钱都算数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决策路线图：AI营销工作台的五重价值</a:t>
            </a:r>
          </a:p>
          <a:p>
            <a:endParaRPr lang="en-US" dirty="0"/>
          </a:p>
          <a:p>
            <a:r>
              <a:rPr lang="zh-CN" dirty="0"/>
              <a:t>本简报在5页之内，为您拆解方案价值、对比传统方式、展示投资回报并给出90天落地计划。</a:t>
            </a:r>
          </a:p>
          <a:p>
            <a:endParaRPr lang="en-US" dirty="0"/>
          </a:p>
          <a:p>
            <a:r>
              <a:rPr lang="zh-CN" dirty="0"/>
              <a:t>• 揭示当前营销运营中数据、分析、执行、度量的四个结构性断裂</a:t>
            </a:r>
          </a:p>
          <a:p>
            <a:r>
              <a:rPr lang="zh-CN" dirty="0"/>
              <a:t>• 四大模块如何构成立即创造价值的AI闭环系统</a:t>
            </a:r>
          </a:p>
          <a:p>
            <a:r>
              <a:rPr lang="zh-CN" dirty="0"/>
              <a:t>• AI营销工作台vs传统碎片化工具链的全面优势</a:t>
            </a:r>
          </a:p>
          <a:p>
            <a:r>
              <a:rPr lang="zh-CN" dirty="0"/>
              <a:t>• 三家标杆企业部署半年内的真实增长数据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营销效率的四个断裂点</a:t>
            </a:r>
          </a:p>
          <a:p>
            <a:endParaRPr lang="en-US" dirty="0"/>
          </a:p>
          <a:p>
            <a:r>
              <a:rPr lang="zh-CN" dirty="0"/>
              <a:t>企业营销团队普遍面临数据孤岛、分析滞后、执行割裂、效果难归因的结构性挑战，这四个断裂直接侵蚀利润。</a:t>
            </a:r>
          </a:p>
          <a:p>
            <a:endParaRPr lang="en-US" dirty="0"/>
          </a:p>
          <a:p>
            <a:r>
              <a:rPr lang="zh-CN" dirty="0"/>
              <a:t>• 数据分散在20+工具中，统一顾客视图缺失，决策依据碎片化</a:t>
            </a:r>
          </a:p>
          <a:p>
            <a:r>
              <a:rPr lang="zh-CN" dirty="0"/>
              <a:t>• 手工分析周期超过72小时，无法捕捉实时转化信号，错失触达窗口</a:t>
            </a:r>
          </a:p>
          <a:p>
            <a:r>
              <a:rPr lang="zh-CN" dirty="0"/>
              <a:t>• 跨渠道执行依赖人工协调，平均延迟6天，活动一致性难以保证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传统堆栈vsAI营销工作台</a:t>
            </a:r>
          </a:p>
          <a:p>
            <a:endParaRPr lang="en-US" dirty="0"/>
          </a:p>
          <a:p>
            <a:r>
              <a:rPr lang="zh-CN" dirty="0"/>
              <a:t>将分散的工具链替换为统一AI驱动的闭环平台，在四个维度实现量级提升。</a:t>
            </a:r>
          </a:p>
          <a:p>
            <a:endParaRPr lang="en-US" dirty="0"/>
          </a:p>
          <a:p>
            <a:r>
              <a:rPr lang="zh-CN" dirty="0"/>
              <a:t>• 传统：CDP、CRM、DMP独立部署，数据对齐耗时数周；AI工作台：全域数据实时连接，一键生成360°客户视图</a:t>
            </a:r>
          </a:p>
          <a:p>
            <a:r>
              <a:rPr lang="zh-CN" dirty="0"/>
              <a:t>• 传统：BI工具统计滞后，洞察延迟；AI工作台：异常检测、评分建模、意图预测，自动触发策略建议</a:t>
            </a:r>
          </a:p>
          <a:p>
            <a:r>
              <a:rPr lang="zh-CN" dirty="0"/>
              <a:t>• 传统：多平台手动配置，反复联审；AI工作台：基于最佳行动的跨渠道毫秒级响应，一致性100%</a:t>
            </a:r>
          </a:p>
          <a:p>
            <a:r>
              <a:rPr lang="zh-CN" dirty="0"/>
              <a:t>• 传统：单触点归因，跨屏数据割裂；AI工作台：增量实验建模，全链归因，每笔投入可解释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先行者的收获</a:t>
            </a:r>
          </a:p>
          <a:p>
            <a:endParaRPr lang="en-US" dirty="0"/>
          </a:p>
          <a:p>
            <a:r>
              <a:rPr lang="zh-CN" dirty="0"/>
              <a:t>三家不同行业的企业在部署AI营销工作台后，6个月内均实现了关键指标的结构性突破。</a:t>
            </a:r>
          </a:p>
          <a:p>
            <a:endParaRPr lang="en-US" dirty="0"/>
          </a:p>
          <a:p>
            <a:r>
              <a:rPr lang="zh-CN" dirty="0"/>
              <a:t>• 整合12个渠道数据，AI驱动的实时推荐使转化率提升210%，重复购买率增加65%</a:t>
            </a:r>
          </a:p>
          <a:p>
            <a:r>
              <a:rPr lang="zh-CN" dirty="0"/>
              <a:t>• 自动化潜客评分与旅程编排，市场合格线索数量增长180%，单线索成本下降47%</a:t>
            </a:r>
          </a:p>
          <a:p>
            <a:r>
              <a:rPr lang="zh-CN" dirty="0"/>
              <a:t>• 全渠道会员数据打通，AI个性化优惠券投放，月度客单价提升22%，流失率下降35%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投资回报速览</a:t>
            </a:r>
          </a:p>
          <a:p>
            <a:endParaRPr lang="en-US" dirty="0"/>
          </a:p>
          <a:p>
            <a:r>
              <a:rPr lang="zh-CN" dirty="0"/>
              <a:t>基于已部署客户的中位数数据，典型企业可在两个季度内实现全面回报。</a:t>
            </a:r>
          </a:p>
          <a:p>
            <a:endParaRPr lang="en-US" dirty="0"/>
          </a:p>
          <a:p>
            <a:r>
              <a:rPr lang="zh-CN" dirty="0"/>
              <a:t>• 平均转化率提升</a:t>
            </a:r>
          </a:p>
          <a:p>
            <a:r>
              <a:rPr lang="zh-CN" dirty="0"/>
              <a:t>• 平均上线周期</a:t>
            </a:r>
          </a:p>
          <a:p>
            <a:r>
              <a:rPr lang="zh-CN" dirty="0"/>
              <a:t>• 营销运营成本降低</a:t>
            </a:r>
          </a:p>
          <a:p>
            <a:r>
              <a:rPr lang="zh-CN" dirty="0"/>
              <a:t>• 广告支出回报率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效果爬坡：典型客户增长曲线</a:t>
            </a:r>
          </a:p>
          <a:p>
            <a:endParaRPr lang="en-US" dirty="0"/>
          </a:p>
          <a:p>
            <a:r>
              <a:rPr lang="zh-CN" dirty="0"/>
              <a:t>某B2C品牌部署AI营销工作台后的月度营收同比提升趋势。</a:t>
            </a:r>
          </a:p>
          <a:p>
            <a:endParaRPr lang="en-US" dirty="0"/>
          </a:p>
          <a:p>
            <a:r>
              <a:rPr lang="zh-CN" dirty="0"/>
              <a:t>• 数据整合完成，基础画像上线</a:t>
            </a:r>
          </a:p>
          <a:p>
            <a:r>
              <a:rPr lang="zh-CN" dirty="0"/>
              <a:t>• AI推荐引擎启动，实时个性化触达</a:t>
            </a:r>
          </a:p>
          <a:p>
            <a:r>
              <a:rPr lang="zh-CN" dirty="0"/>
              <a:t>• 跨渠道自动化旅程全面展开</a:t>
            </a:r>
          </a:p>
          <a:p>
            <a:r>
              <a:rPr lang="zh-CN" dirty="0"/>
              <a:t>• 预测性评分应用于潜客转化，ROAS显著优化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90天极速落地路线</a:t>
            </a:r>
          </a:p>
          <a:p>
            <a:endParaRPr lang="en-US" dirty="0"/>
          </a:p>
          <a:p>
            <a:r>
              <a:rPr lang="zh-CN" dirty="0"/>
              <a:t>按照以下四阶段推进，风险可控，最小化组织干扰。</a:t>
            </a:r>
          </a:p>
          <a:p>
            <a:endParaRPr lang="en-US" dirty="0"/>
          </a:p>
          <a:p>
            <a:r>
              <a:rPr lang="zh-CN" dirty="0"/>
              <a:t>• 组建联合小组，完成数据源对接与基础环境配置</a:t>
            </a:r>
          </a:p>
          <a:p>
            <a:r>
              <a:rPr lang="zh-CN" dirty="0"/>
              <a:t>• 上线统一画像、AI分析模型、自动化规则引擎</a:t>
            </a:r>
          </a:p>
          <a:p>
            <a:r>
              <a:rPr lang="zh-CN" dirty="0"/>
              <a:t>• 内部测试10%流量，校准模型与旅程，完成员工培训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" name="Line 3"/>
              <p:cNvSpPr/>
              <p:nvPr/>
            </p:nvSpPr>
            <p:spPr>
              <a:xfrm>
                <a:off x="0" y="571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0" y="1143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0" y="1714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0" y="2286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0" y="2857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0" y="3429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0" y="4000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0" y="4572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0" y="5143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0" y="5715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0" y="6286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71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143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714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286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857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429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000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572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5143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5715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6286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6858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429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8001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8572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9144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9715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0287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0858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1430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0" y="-571500"/>
            <a:ext cx="6096000" cy="7429500"/>
            <a:chOff x="0" y="-571500"/>
            <a:chExt cx="6096000" cy="7429500"/>
          </a:xfrm>
        </p:grpSpPr>
        <p:sp>
          <p:nvSpPr>
            <p:cNvPr id="36" name="Rectangle 36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667000" y="-571500"/>
              <a:ext cx="3429000" cy="34290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238500" y="0"/>
              <a:ext cx="2286000" cy="22860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10000" y="571500"/>
              <a:ext cx="1143000" cy="1143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 rot="900000">
              <a:off x="3619500" y="4762500"/>
              <a:ext cx="381000" cy="3810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 rot="1800000">
              <a:off x="4000500" y="5143500"/>
              <a:ext cx="285750" cy="285750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 rot="2700000">
              <a:off x="3328988" y="5335973"/>
              <a:ext cx="238125" cy="238125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571500"/>
              <a:ext cx="762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6666" y="677228"/>
              <a:ext cx="964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6738" y="6197441"/>
              <a:ext cx="13003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AI营销工作台 · 执行简报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71500" y="59055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2">
                  <a:alpha val="30000"/>
                </a:schemeClr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555498" y="1564958"/>
            <a:ext cx="10684002" cy="4242053"/>
            <a:chOff x="555498" y="1564958"/>
            <a:chExt cx="10684002" cy="4242053"/>
          </a:xfrm>
        </p:grpSpPr>
        <p:sp>
          <p:nvSpPr>
            <p:cNvPr id="50" name="TextBox 50"/>
            <p:cNvSpPr txBox="1"/>
            <p:nvPr/>
          </p:nvSpPr>
          <p:spPr>
            <a:xfrm>
              <a:off x="555498" y="1564958"/>
              <a:ext cx="33739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AI营销工作台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5498" y="2136458"/>
              <a:ext cx="23842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让每一分钱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5498" y="261270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Georgia"/>
                  <a:ea typeface="SimSun"/>
                  <a:cs typeface="Georgia"/>
                </a:rPr>
                <a:t>都算数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3238500"/>
              <a:ext cx="1714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5404" y="3680460"/>
              <a:ext cx="2060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面向CEO/CMO/增长负责人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5404" y="3966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的决策级摘要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905500" y="1905000"/>
              <a:ext cx="5334000" cy="3048000"/>
            </a:xfrm>
            <a:custGeom>
              <a:avLst/>
              <a:gdLst/>
              <a:ahLst/>
              <a:cxnLst/>
              <a:rect l="l" t="t" r="r" b="b"/>
              <a:pathLst>
                <a:path w="5334000" h="3048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933700"/>
                  </a:lnTo>
                  <a:cubicBezTo>
                    <a:pt x="5334000" y="2996826"/>
                    <a:pt x="5282826" y="3048000"/>
                    <a:pt x="5219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5689888" y="2286000"/>
              <a:ext cx="5549612" cy="2095500"/>
              <a:chOff x="5689888" y="2286000"/>
              <a:chExt cx="5549612" cy="20955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286500" y="2286000"/>
                <a:ext cx="152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095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2019300"/>
                    </a:lnTo>
                    <a:cubicBezTo>
                      <a:pt x="1524000" y="2061384"/>
                      <a:pt x="1489884" y="2095500"/>
                      <a:pt x="1447800" y="2095500"/>
                    </a:cubicBezTo>
                    <a:lnTo>
                      <a:pt x="76200" y="2095500"/>
                    </a:lnTo>
                    <a:cubicBezTo>
                      <a:pt x="34116" y="2095500"/>
                      <a:pt x="0" y="2061384"/>
                      <a:pt x="0" y="2019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6286500" y="2286000"/>
                <a:ext cx="1524000" cy="57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6781800" y="2686050"/>
                <a:ext cx="533400" cy="533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896100" y="2800350"/>
                <a:ext cx="304800" cy="304800"/>
              </a:xfrm>
              <a:prstGeom prst="ellipse">
                <a:avLst/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6972300" y="28765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5689888" y="3569018"/>
                <a:ext cx="1193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AI营销工作台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756529" y="38952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让每一分钱都算数</a:t>
                </a:r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8001000" y="2286000"/>
                <a:ext cx="152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095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2019300"/>
                    </a:lnTo>
                    <a:cubicBezTo>
                      <a:pt x="1524000" y="2061384"/>
                      <a:pt x="1489884" y="2095500"/>
                      <a:pt x="1447800" y="2095500"/>
                    </a:cubicBezTo>
                    <a:lnTo>
                      <a:pt x="76200" y="2095500"/>
                    </a:lnTo>
                    <a:cubicBezTo>
                      <a:pt x="34116" y="2095500"/>
                      <a:pt x="0" y="2061384"/>
                      <a:pt x="0" y="2019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8001000" y="2286000"/>
                <a:ext cx="1524000" cy="57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8496300" y="2686050"/>
                <a:ext cx="533400" cy="533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648700" y="28384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lnTo>
                      <a:pt x="114300" y="0"/>
                    </a:lnTo>
                    <a:lnTo>
                      <a:pt x="228600" y="114300"/>
                    </a:lnTo>
                    <a:lnTo>
                      <a:pt x="114300" y="228600"/>
                    </a:ln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686800" y="2876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152400" y="76200"/>
                    </a:lnTo>
                    <a:lnTo>
                      <a:pt x="76200" y="1524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612494" y="35690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现状概览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471029" y="38952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营销效率全景洞察</a:t>
                </a:r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9715500" y="2286000"/>
                <a:ext cx="152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095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2019300"/>
                    </a:lnTo>
                    <a:cubicBezTo>
                      <a:pt x="1524000" y="2061384"/>
                      <a:pt x="1489884" y="2095500"/>
                      <a:pt x="1447800" y="2095500"/>
                    </a:cubicBezTo>
                    <a:lnTo>
                      <a:pt x="76200" y="2095500"/>
                    </a:lnTo>
                    <a:cubicBezTo>
                      <a:pt x="34116" y="2095500"/>
                      <a:pt x="0" y="2061384"/>
                      <a:pt x="0" y="2019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9715500" y="2286000"/>
                <a:ext cx="1524000" cy="571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0210800" y="2686050"/>
                <a:ext cx="533400" cy="533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363200" y="28384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38100" y="0"/>
                    </a:move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90500"/>
                    </a:lnTo>
                    <a:cubicBezTo>
                      <a:pt x="228600" y="211542"/>
                      <a:pt x="211542" y="228600"/>
                      <a:pt x="1905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10401300" y="29527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10477500" y="28765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9326994" y="35690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核心风险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251156" y="3895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识别与规避策略</a:t>
                </a:r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5900166" y="5601652"/>
              <a:ext cx="3341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覆盖：数据整合 · AI分析 · 自动化执行 · 效果度量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900738" y="6396038"/>
            <a:ext cx="5786437" cy="344328"/>
            <a:chOff x="5900738" y="6396038"/>
            <a:chExt cx="5786437" cy="344328"/>
          </a:xfrm>
        </p:grpSpPr>
        <p:sp>
          <p:nvSpPr>
            <p:cNvPr id="82" name="TextBox 82"/>
            <p:cNvSpPr txBox="1"/>
            <p:nvPr/>
          </p:nvSpPr>
          <p:spPr>
            <a:xfrm>
              <a:off x="11243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11401425" y="65436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1515725" y="654367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1630025" y="654367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900738" y="6396038"/>
              <a:ext cx="10114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SaaS 方案 · 决策参考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343852"/>
            <a:ext cx="11062716" cy="1393699"/>
            <a:chOff x="557784" y="343852"/>
            <a:chExt cx="11062716" cy="1393699"/>
          </a:xfrm>
        </p:grpSpPr>
        <p:sp>
          <p:nvSpPr>
            <p:cNvPr id="5" name="Line 5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3438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946785"/>
              <a:ext cx="82782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决策路线图：AI营销工作台的五重价值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473518"/>
              <a:ext cx="7401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本简报在5页之内，为您拆解方案价值、对比传统方式、展示投资回报并给出90天落地计划。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2095500"/>
            <a:ext cx="10858500" cy="4000500"/>
            <a:chOff x="571500" y="2095500"/>
            <a:chExt cx="10858500" cy="400050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2095500"/>
              <a:ext cx="4762500" cy="2295525"/>
              <a:chOff x="571500" y="2095500"/>
              <a:chExt cx="4762500" cy="2295525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571500" y="2095500"/>
                <a:ext cx="4762500" cy="581025"/>
                <a:chOff x="571500" y="2095500"/>
                <a:chExt cx="4762500" cy="58102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71500" y="20955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38100" y="0"/>
                      </a:moveTo>
                      <a:lnTo>
                        <a:pt x="419100" y="0"/>
                      </a:lnTo>
                      <a:cubicBezTo>
                        <a:pt x="440142" y="0"/>
                        <a:pt x="457200" y="17058"/>
                        <a:pt x="457200" y="38100"/>
                      </a:cubicBezTo>
                      <a:lnTo>
                        <a:pt x="457200" y="419100"/>
                      </a:lnTo>
                      <a:cubicBezTo>
                        <a:pt x="457200" y="440142"/>
                        <a:pt x="440142" y="457200"/>
                        <a:pt x="419100" y="457200"/>
                      </a:cubicBezTo>
                      <a:lnTo>
                        <a:pt x="38100" y="457200"/>
                      </a:lnTo>
                      <a:cubicBezTo>
                        <a:pt x="17058" y="457200"/>
                        <a:pt x="0" y="440142"/>
                        <a:pt x="0" y="419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75865" y="22383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173480" y="2105025"/>
                  <a:ext cx="33756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揭示当前营销运营中数据、分析、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173480" y="2333625"/>
                  <a:ext cx="2927604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执行、度量的四个结构性断裂</a:t>
                  </a:r>
                </a:p>
              </p:txBody>
            </p:sp>
            <p:sp>
              <p:nvSpPr>
                <p:cNvPr id="14" name="Line 14"/>
                <p:cNvSpPr/>
                <p:nvPr/>
              </p:nvSpPr>
              <p:spPr>
                <a:xfrm>
                  <a:off x="1181100" y="2667000"/>
                  <a:ext cx="4152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00" h="9525">
                      <a:moveTo>
                        <a:pt x="0" y="0"/>
                      </a:moveTo>
                      <a:lnTo>
                        <a:pt x="4152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571500" y="2952750"/>
                <a:ext cx="4762500" cy="581025"/>
                <a:chOff x="571500" y="2952750"/>
                <a:chExt cx="4762500" cy="5810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571500" y="29527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38100" y="0"/>
                      </a:moveTo>
                      <a:lnTo>
                        <a:pt x="419100" y="0"/>
                      </a:lnTo>
                      <a:cubicBezTo>
                        <a:pt x="440142" y="0"/>
                        <a:pt x="457200" y="17058"/>
                        <a:pt x="457200" y="38100"/>
                      </a:cubicBezTo>
                      <a:lnTo>
                        <a:pt x="457200" y="419100"/>
                      </a:lnTo>
                      <a:cubicBezTo>
                        <a:pt x="457200" y="440142"/>
                        <a:pt x="440142" y="457200"/>
                        <a:pt x="419100" y="457200"/>
                      </a:cubicBezTo>
                      <a:lnTo>
                        <a:pt x="38100" y="457200"/>
                      </a:lnTo>
                      <a:cubicBezTo>
                        <a:pt x="17058" y="457200"/>
                        <a:pt x="0" y="440142"/>
                        <a:pt x="0" y="419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75865" y="309562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173480" y="2962275"/>
                  <a:ext cx="33756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四大模块如何构成立即创造价值的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173480" y="3190875"/>
                  <a:ext cx="1334605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AI闭环系统</a:t>
                  </a:r>
                </a:p>
              </p:txBody>
            </p:sp>
            <p:sp>
              <p:nvSpPr>
                <p:cNvPr id="20" name="Line 20"/>
                <p:cNvSpPr/>
                <p:nvPr/>
              </p:nvSpPr>
              <p:spPr>
                <a:xfrm>
                  <a:off x="1181100" y="3524250"/>
                  <a:ext cx="4152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00" h="9525">
                      <a:moveTo>
                        <a:pt x="0" y="0"/>
                      </a:moveTo>
                      <a:lnTo>
                        <a:pt x="4152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571500" y="3810000"/>
                <a:ext cx="4762500" cy="581025"/>
                <a:chOff x="571500" y="3810000"/>
                <a:chExt cx="4762500" cy="58102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571500" y="38100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38100" y="0"/>
                      </a:moveTo>
                      <a:lnTo>
                        <a:pt x="419100" y="0"/>
                      </a:lnTo>
                      <a:cubicBezTo>
                        <a:pt x="440142" y="0"/>
                        <a:pt x="457200" y="17058"/>
                        <a:pt x="457200" y="38100"/>
                      </a:cubicBezTo>
                      <a:lnTo>
                        <a:pt x="457200" y="419100"/>
                      </a:lnTo>
                      <a:cubicBezTo>
                        <a:pt x="457200" y="440142"/>
                        <a:pt x="440142" y="457200"/>
                        <a:pt x="419100" y="457200"/>
                      </a:cubicBezTo>
                      <a:lnTo>
                        <a:pt x="38100" y="457200"/>
                      </a:lnTo>
                      <a:cubicBezTo>
                        <a:pt x="17058" y="457200"/>
                        <a:pt x="0" y="440142"/>
                        <a:pt x="0" y="419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75865" y="39528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173480" y="3819525"/>
                  <a:ext cx="297921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AI营销工作台vs传统碎片化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173480" y="4048125"/>
                  <a:ext cx="1807464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工具链的全面优势</a:t>
                  </a:r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1181100" y="4381500"/>
                  <a:ext cx="4152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00" h="9525">
                      <a:moveTo>
                        <a:pt x="0" y="0"/>
                      </a:moveTo>
                      <a:lnTo>
                        <a:pt x="4152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5295900" y="2095500"/>
              <a:ext cx="5753100" cy="2038350"/>
              <a:chOff x="5295900" y="2095500"/>
              <a:chExt cx="5753100" cy="2038350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5905500" y="2095500"/>
                <a:ext cx="5143500" cy="581025"/>
                <a:chOff x="5905500" y="2095500"/>
                <a:chExt cx="5143500" cy="581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905500" y="20955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38100" y="0"/>
                      </a:moveTo>
                      <a:lnTo>
                        <a:pt x="419100" y="0"/>
                      </a:lnTo>
                      <a:cubicBezTo>
                        <a:pt x="440142" y="0"/>
                        <a:pt x="457200" y="17058"/>
                        <a:pt x="457200" y="38100"/>
                      </a:cubicBezTo>
                      <a:lnTo>
                        <a:pt x="457200" y="419100"/>
                      </a:lnTo>
                      <a:cubicBezTo>
                        <a:pt x="457200" y="440142"/>
                        <a:pt x="440142" y="457200"/>
                        <a:pt x="419100" y="457200"/>
                      </a:cubicBezTo>
                      <a:lnTo>
                        <a:pt x="38100" y="457200"/>
                      </a:lnTo>
                      <a:cubicBezTo>
                        <a:pt x="17058" y="457200"/>
                        <a:pt x="0" y="440142"/>
                        <a:pt x="0" y="419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009865" y="22383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507480" y="2105025"/>
                  <a:ext cx="270357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三家标杆企业部署半年内的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507480" y="2333625"/>
                  <a:ext cx="135940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真实增长数据</a:t>
                  </a:r>
                </a:p>
              </p:txBody>
            </p:sp>
            <p:sp>
              <p:nvSpPr>
                <p:cNvPr id="33" name="Line 33"/>
                <p:cNvSpPr/>
                <p:nvPr/>
              </p:nvSpPr>
              <p:spPr>
                <a:xfrm>
                  <a:off x="6515100" y="266700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5905500" y="2952750"/>
                <a:ext cx="5143500" cy="581025"/>
                <a:chOff x="5905500" y="2952750"/>
                <a:chExt cx="5143500" cy="58102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5905500" y="29527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38100" y="0"/>
                      </a:moveTo>
                      <a:lnTo>
                        <a:pt x="419100" y="0"/>
                      </a:lnTo>
                      <a:cubicBezTo>
                        <a:pt x="440142" y="0"/>
                        <a:pt x="457200" y="17058"/>
                        <a:pt x="457200" y="38100"/>
                      </a:cubicBezTo>
                      <a:lnTo>
                        <a:pt x="457200" y="419100"/>
                      </a:lnTo>
                      <a:cubicBezTo>
                        <a:pt x="457200" y="440142"/>
                        <a:pt x="440142" y="457200"/>
                        <a:pt x="419100" y="457200"/>
                      </a:cubicBezTo>
                      <a:lnTo>
                        <a:pt x="38100" y="457200"/>
                      </a:lnTo>
                      <a:cubicBezTo>
                        <a:pt x="17058" y="457200"/>
                        <a:pt x="0" y="440142"/>
                        <a:pt x="0" y="419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009865" y="309562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507480" y="2962275"/>
                  <a:ext cx="2053895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90天分阶段推进计划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507480" y="3190875"/>
                  <a:ext cx="158343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与关键风险控制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6515100" y="352425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5295900" y="4000500"/>
                <a:ext cx="647700" cy="133350"/>
                <a:chOff x="5295900" y="4000500"/>
                <a:chExt cx="647700" cy="1333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334000" y="4000500"/>
                  <a:ext cx="571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0">
                      <a:moveTo>
                        <a:pt x="0" y="95250"/>
                      </a:moveTo>
                      <a:lnTo>
                        <a:pt x="190500" y="95250"/>
                      </a:lnTo>
                      <a:lnTo>
                        <a:pt x="285750" y="0"/>
                      </a:lnTo>
                      <a:lnTo>
                        <a:pt x="381000" y="95250"/>
                      </a:lnTo>
                      <a:lnTo>
                        <a:pt x="571500" y="952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5295900" y="40576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5867400" y="40576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</p:grpSp>
        <p:grpSp>
          <p:nvGrpSpPr>
            <p:cNvPr id="56" name="Group 56"/>
            <p:cNvGrpSpPr/>
            <p:nvPr/>
          </p:nvGrpSpPr>
          <p:grpSpPr>
            <a:xfrm>
              <a:off x="571500" y="4762500"/>
              <a:ext cx="10858500" cy="1333500"/>
              <a:chOff x="571500" y="4762500"/>
              <a:chExt cx="10858500" cy="1333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71500" y="4762500"/>
                <a:ext cx="1085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1333500">
                    <a:moveTo>
                      <a:pt x="76200" y="0"/>
                    </a:moveTo>
                    <a:lnTo>
                      <a:pt x="10782300" y="0"/>
                    </a:lnTo>
                    <a:cubicBezTo>
                      <a:pt x="10824384" y="0"/>
                      <a:pt x="10858500" y="34116"/>
                      <a:pt x="10858500" y="76200"/>
                    </a:cubicBezTo>
                    <a:lnTo>
                      <a:pt x="10858500" y="1257300"/>
                    </a:lnTo>
                    <a:cubicBezTo>
                      <a:pt x="10858500" y="1299384"/>
                      <a:pt x="10824384" y="1333500"/>
                      <a:pt x="107823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1916" y="49825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核心议题：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819150" y="53435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94791" y="5315902"/>
                <a:ext cx="396849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揭示当前营销运营中数据、分析、执行、度量的四个结构性断裂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819150" y="562927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94791" y="5601652"/>
                <a:ext cx="29753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四大模块如何构成立即创造价值的AI闭环系统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5867400" y="53435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043041" y="5315902"/>
                <a:ext cx="29104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AI营销工作台vs传统碎片化工具链的全面优势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5867400" y="562927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043041" y="5601652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三家标杆企业部署半年内的真实增长数据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381000" y="1885950"/>
            <a:ext cx="11258550" cy="4759166"/>
            <a:chOff x="381000" y="1885950"/>
            <a:chExt cx="11258550" cy="4759166"/>
          </a:xfrm>
        </p:grpSpPr>
        <p:sp>
          <p:nvSpPr>
            <p:cNvPr id="58" name="Rectangle 58"/>
            <p:cNvSpPr/>
            <p:nvPr/>
          </p:nvSpPr>
          <p:spPr>
            <a:xfrm>
              <a:off x="381000" y="2095500"/>
              <a:ext cx="38100" cy="40005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365849" y="64831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6738" y="6483191"/>
              <a:ext cx="696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11410950" y="188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506200" y="188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1601450" y="188595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1410950" y="19812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1506200" y="19812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1601450" y="19812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166" y="410528"/>
            <a:ext cx="11054334" cy="456247"/>
            <a:chOff x="566166" y="410528"/>
            <a:chExt cx="11054334" cy="456247"/>
          </a:xfrm>
        </p:grpSpPr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4105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00125"/>
            <a:ext cx="10668000" cy="3905250"/>
            <a:chOff x="762000" y="1000125"/>
            <a:chExt cx="10668000" cy="390525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000125"/>
              <a:ext cx="4000500" cy="3857625"/>
              <a:chOff x="762000" y="1000125"/>
              <a:chExt cx="4000500" cy="3857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62000" y="1238250"/>
                <a:ext cx="40005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3619500">
                    <a:moveTo>
                      <a:pt x="114300" y="0"/>
                    </a:moveTo>
                    <a:lnTo>
                      <a:pt x="3886200" y="0"/>
                    </a:lnTo>
                    <a:cubicBezTo>
                      <a:pt x="3949326" y="0"/>
                      <a:pt x="4000500" y="51174"/>
                      <a:pt x="4000500" y="114300"/>
                    </a:cubicBezTo>
                    <a:lnTo>
                      <a:pt x="4000500" y="3505200"/>
                    </a:lnTo>
                    <a:cubicBezTo>
                      <a:pt x="4000500" y="3568326"/>
                      <a:pt x="3949326" y="3619500"/>
                      <a:pt x="38862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23950" y="1000125"/>
                <a:ext cx="654177" cy="14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5380" y="22193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个结构性断裂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1143000" y="2667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36904" y="29184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核心洞察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7666" y="3268028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企业营销团队普遍面临数据孤岛、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7666" y="3458528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分析滞后、执行割裂、效果难归因的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7666" y="3649028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结构性挑战，这四个断裂直接侵蚀利润。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143000" y="4095750"/>
                <a:ext cx="1524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38100">
                    <a:moveTo>
                      <a:pt x="19050" y="0"/>
                    </a:moveTo>
                    <a:lnTo>
                      <a:pt x="1504950" y="0"/>
                    </a:lnTo>
                    <a:cubicBezTo>
                      <a:pt x="1515471" y="0"/>
                      <a:pt x="1524000" y="8529"/>
                      <a:pt x="1524000" y="19050"/>
                    </a:cubicBezTo>
                    <a:lnTo>
                      <a:pt x="1524000" y="19050"/>
                    </a:lnTo>
                    <a:cubicBezTo>
                      <a:pt x="1524000" y="29571"/>
                      <a:pt x="1515471" y="38100"/>
                      <a:pt x="1504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5143500" y="1238250"/>
              <a:ext cx="6286500" cy="3524250"/>
              <a:chOff x="5143500" y="1238250"/>
              <a:chExt cx="6286500" cy="3524250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5143500" y="1238250"/>
                <a:ext cx="6286500" cy="1047750"/>
                <a:chOff x="5143500" y="1238250"/>
                <a:chExt cx="6286500" cy="10477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5143500" y="1238250"/>
                  <a:ext cx="6286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0" h="1047750">
                      <a:moveTo>
                        <a:pt x="76200" y="0"/>
                      </a:moveTo>
                      <a:lnTo>
                        <a:pt x="6210300" y="0"/>
                      </a:lnTo>
                      <a:cubicBezTo>
                        <a:pt x="6252384" y="0"/>
                        <a:pt x="6286500" y="34116"/>
                        <a:pt x="6286500" y="76200"/>
                      </a:cubicBezTo>
                      <a:lnTo>
                        <a:pt x="6286500" y="971550"/>
                      </a:lnTo>
                      <a:cubicBezTo>
                        <a:pt x="6286500" y="1013634"/>
                        <a:pt x="6252384" y="1047750"/>
                        <a:pt x="6210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5276850" y="1609725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385044" y="169640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708904" y="1489710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数据孤岛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710047" y="1752124"/>
                  <a:ext cx="258905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数据分散在20+工具中，统一顾客视图缺失，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710047" y="194262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决策依据碎片化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43500" y="2476500"/>
                <a:ext cx="6286500" cy="1047750"/>
                <a:chOff x="5143500" y="2476500"/>
                <a:chExt cx="6286500" cy="10477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143500" y="2476500"/>
                  <a:ext cx="6286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0" h="1047750">
                      <a:moveTo>
                        <a:pt x="76200" y="0"/>
                      </a:moveTo>
                      <a:lnTo>
                        <a:pt x="6210300" y="0"/>
                      </a:lnTo>
                      <a:cubicBezTo>
                        <a:pt x="6252384" y="0"/>
                        <a:pt x="6286500" y="34116"/>
                        <a:pt x="6286500" y="76200"/>
                      </a:cubicBezTo>
                      <a:lnTo>
                        <a:pt x="6286500" y="971550"/>
                      </a:lnTo>
                      <a:cubicBezTo>
                        <a:pt x="6286500" y="1013634"/>
                        <a:pt x="6252384" y="1047750"/>
                        <a:pt x="6210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5276850" y="2847975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385044" y="293465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708904" y="2727960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分析滞后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710047" y="2990374"/>
                  <a:ext cx="304188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手工分析周期超过72小时，无法捕捉实时转化信号，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710047" y="318087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错失触达窗口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5143500" y="3714750"/>
                <a:ext cx="6286500" cy="1047750"/>
                <a:chOff x="5143500" y="3714750"/>
                <a:chExt cx="6286500" cy="10477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5143500" y="3714750"/>
                  <a:ext cx="6286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0" h="1047750">
                      <a:moveTo>
                        <a:pt x="76200" y="0"/>
                      </a:moveTo>
                      <a:lnTo>
                        <a:pt x="6210300" y="0"/>
                      </a:lnTo>
                      <a:cubicBezTo>
                        <a:pt x="6252384" y="0"/>
                        <a:pt x="6286500" y="34116"/>
                        <a:pt x="6286500" y="76200"/>
                      </a:cubicBezTo>
                      <a:lnTo>
                        <a:pt x="6286500" y="971550"/>
                      </a:lnTo>
                      <a:cubicBezTo>
                        <a:pt x="6286500" y="1013634"/>
                        <a:pt x="6252384" y="1047750"/>
                        <a:pt x="6210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5276850" y="4086225"/>
                  <a:ext cx="304800" cy="3048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385044" y="417290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708904" y="3966210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执行割裂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710047" y="4228624"/>
                  <a:ext cx="244467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跨渠道执行依赖人工协调，平均延迟6天，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710047" y="4419124"/>
                  <a:ext cx="119119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活动一致性难以保证</a:t>
                  </a:r>
                </a:p>
              </p:txBody>
            </p:sp>
          </p:grpSp>
        </p:grpSp>
        <p:grpSp>
          <p:nvGrpSpPr>
            <p:cNvPr id="42" name="Group 42"/>
            <p:cNvGrpSpPr/>
            <p:nvPr/>
          </p:nvGrpSpPr>
          <p:grpSpPr>
            <a:xfrm>
              <a:off x="4714875" y="1238250"/>
              <a:ext cx="95250" cy="3667125"/>
              <a:chOff x="4714875" y="1238250"/>
              <a:chExt cx="95250" cy="3667125"/>
            </a:xfrm>
          </p:grpSpPr>
          <p:sp>
            <p:nvSpPr>
              <p:cNvPr id="40" name="Line 40"/>
              <p:cNvSpPr/>
              <p:nvPr/>
            </p:nvSpPr>
            <p:spPr>
              <a:xfrm>
                <a:off x="4762500" y="1238250"/>
                <a:ext cx="9525" cy="3524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0">
                    <a:moveTo>
                      <a:pt x="0" y="0"/>
                    </a:moveTo>
                    <a:lnTo>
                      <a:pt x="0" y="352425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1" name="Polygon 41"/>
              <p:cNvSpPr/>
              <p:nvPr/>
            </p:nvSpPr>
            <p:spPr>
              <a:xfrm>
                <a:off x="4714875" y="47625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0" y="0"/>
                    </a:moveTo>
                    <a:lnTo>
                      <a:pt x="47625" y="142875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757238" y="6096000"/>
            <a:ext cx="1909762" cy="358616"/>
            <a:chOff x="757238" y="6096000"/>
            <a:chExt cx="1909762" cy="358616"/>
          </a:xfrm>
        </p:grpSpPr>
        <p:sp>
          <p:nvSpPr>
            <p:cNvPr id="44" name="Freeform 44"/>
            <p:cNvSpPr/>
            <p:nvPr/>
          </p:nvSpPr>
          <p:spPr>
            <a:xfrm>
              <a:off x="762000" y="6096000"/>
              <a:ext cx="1905000" cy="38100"/>
            </a:xfrm>
            <a:custGeom>
              <a:avLst/>
              <a:gdLst/>
              <a:ahLst/>
              <a:cxnLst/>
              <a:rect l="l" t="t" r="r" b="b"/>
              <a:pathLst>
                <a:path w="1905000" h="38100">
                  <a:moveTo>
                    <a:pt x="19050" y="0"/>
                  </a:moveTo>
                  <a:lnTo>
                    <a:pt x="1885950" y="0"/>
                  </a:lnTo>
                  <a:cubicBezTo>
                    <a:pt x="1896471" y="0"/>
                    <a:pt x="1905000" y="8529"/>
                    <a:pt x="1905000" y="19050"/>
                  </a:cubicBezTo>
                  <a:lnTo>
                    <a:pt x="1905000" y="19050"/>
                  </a:lnTo>
                  <a:cubicBezTo>
                    <a:pt x="1905000" y="29571"/>
                    <a:pt x="1896471" y="38100"/>
                    <a:pt x="1885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7238" y="6292691"/>
              <a:ext cx="1452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营销工作台 · 决策路线图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>
            <a:off x="0" y="0"/>
            <a:ext cx="12011025" cy="6858000"/>
            <a:chOff x="0" y="0"/>
            <a:chExt cx="12011025" cy="6858000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71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857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0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143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286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429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72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15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858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00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57784" y="362902"/>
            <a:ext cx="11062716" cy="1244918"/>
            <a:chOff x="557784" y="362902"/>
            <a:chExt cx="11062716" cy="1244918"/>
          </a:xfrm>
        </p:grpSpPr>
        <p:sp>
          <p:nvSpPr>
            <p:cNvPr id="25" name="TextBox 25"/>
            <p:cNvSpPr txBox="1"/>
            <p:nvPr/>
          </p:nvSpPr>
          <p:spPr>
            <a:xfrm>
              <a:off x="566166" y="362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7784" y="613410"/>
              <a:ext cx="49161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传统堆栈</a:t>
              </a:r>
              <a:r>
                <a:rPr lang="en-US" sz="27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vs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3880" y="1314450"/>
              <a:ext cx="7024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将分散的工具链替换为统一AI驱动的闭环平台，在四个维度实现量级提升。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71500" y="1809750"/>
            <a:ext cx="11049000" cy="4524375"/>
            <a:chOff x="571500" y="1809750"/>
            <a:chExt cx="11049000" cy="4524375"/>
          </a:xfrm>
        </p:grpSpPr>
        <p:sp>
          <p:nvSpPr>
            <p:cNvPr id="30" name="Rectangle 30"/>
            <p:cNvSpPr/>
            <p:nvPr/>
          </p:nvSpPr>
          <p:spPr>
            <a:xfrm>
              <a:off x="571500" y="1809750"/>
              <a:ext cx="4572000" cy="476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68994" y="1968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传统方案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096000" y="1933575"/>
              <a:ext cx="381000" cy="228600"/>
              <a:chOff x="6096000" y="1933575"/>
              <a:chExt cx="381000" cy="228600"/>
            </a:xfrm>
          </p:grpSpPr>
          <p:sp>
            <p:nvSpPr>
              <p:cNvPr id="32" name="Polygon 32"/>
              <p:cNvSpPr/>
              <p:nvPr/>
            </p:nvSpPr>
            <p:spPr>
              <a:xfrm>
                <a:off x="6096000" y="19335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1143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Polygon 33"/>
              <p:cNvSpPr/>
              <p:nvPr/>
            </p:nvSpPr>
            <p:spPr>
              <a:xfrm>
                <a:off x="6248400" y="19335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1143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7048500" y="1809750"/>
              <a:ext cx="4572000" cy="476250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37888" y="1968818"/>
              <a:ext cx="1193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571500" y="2476500"/>
              <a:ext cx="11049000" cy="857250"/>
              <a:chOff x="571500" y="2476500"/>
              <a:chExt cx="11049000" cy="857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2476500"/>
                <a:ext cx="1143000" cy="857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97662" y="2823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1714500" y="2476500"/>
                <a:ext cx="3429000" cy="857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998851" y="268033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碎片化烟囱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637015" y="2942749"/>
                <a:ext cx="15839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CDP、CRM、DMP独立部署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899029" y="311419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数据对齐耗时数周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5381625" y="2828925"/>
                <a:ext cx="1476375" cy="152400"/>
                <a:chOff x="5381625" y="2828925"/>
                <a:chExt cx="1476375" cy="152400"/>
              </a:xfrm>
            </p:grpSpPr>
            <p:sp>
              <p:nvSpPr>
                <p:cNvPr id="43" name="Line 43"/>
                <p:cNvSpPr/>
                <p:nvPr/>
              </p:nvSpPr>
              <p:spPr>
                <a:xfrm>
                  <a:off x="5381625" y="2905125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19050">
                  <a:solidFill>
                    <a:srgbClr val="A0AEC0"/>
                  </a:solidFill>
                  <a:prstDash val="dash"/>
                </a:ln>
              </p:spPr>
            </p:sp>
            <p:sp>
              <p:nvSpPr>
                <p:cNvPr id="44" name="Polygon 44"/>
                <p:cNvSpPr/>
                <p:nvPr/>
              </p:nvSpPr>
              <p:spPr>
                <a:xfrm>
                  <a:off x="6715125" y="2828925"/>
                  <a:ext cx="14287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2400">
                      <a:moveTo>
                        <a:pt x="0" y="0"/>
                      </a:moveTo>
                      <a:lnTo>
                        <a:pt x="142875" y="76200"/>
                      </a:lnTo>
                      <a:lnTo>
                        <a:pt x="0" y="152400"/>
                      </a:lnTo>
                      <a:close/>
                    </a:path>
                  </a:pathLst>
                </a:custGeom>
                <a:solidFill>
                  <a:srgbClr val="A0AEC0"/>
                </a:solidFill>
                <a:ln>
                  <a:noFill/>
                </a:ln>
              </p:spPr>
            </p:sp>
          </p:grpSp>
          <p:sp>
            <p:nvSpPr>
              <p:cNvPr id="46" name="Rectangle 46"/>
              <p:cNvSpPr/>
              <p:nvPr/>
            </p:nvSpPr>
            <p:spPr>
              <a:xfrm>
                <a:off x="7048500" y="2476500"/>
                <a:ext cx="4572000" cy="85725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819540" y="2680335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实时统一画像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804529" y="29427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全域数据实时连接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660149" y="3114199"/>
                <a:ext cx="13487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一键生成360°客户视图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571500" y="3476625"/>
              <a:ext cx="11049000" cy="857250"/>
              <a:chOff x="571500" y="3476625"/>
              <a:chExt cx="11049000" cy="8572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571500" y="3476625"/>
                <a:ext cx="1143000" cy="857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81512" y="3823335"/>
                <a:ext cx="5229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AI分析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1714500" y="3476625"/>
                <a:ext cx="3429000" cy="857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083662" y="368046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事后报表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949054" y="3942874"/>
                <a:ext cx="95989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BI工具统计滞后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702147" y="41143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洞察延迟，错失触达窗口</a:t>
                </a:r>
              </a:p>
            </p:txBody>
          </p:sp>
          <p:grpSp>
            <p:nvGrpSpPr>
              <p:cNvPr id="59" name="Group 59"/>
              <p:cNvGrpSpPr/>
              <p:nvPr/>
            </p:nvGrpSpPr>
            <p:grpSpPr>
              <a:xfrm>
                <a:off x="5381625" y="3829050"/>
                <a:ext cx="1476375" cy="152400"/>
                <a:chOff x="5381625" y="3829050"/>
                <a:chExt cx="1476375" cy="152400"/>
              </a:xfrm>
            </p:grpSpPr>
            <p:sp>
              <p:nvSpPr>
                <p:cNvPr id="57" name="Line 57"/>
                <p:cNvSpPr/>
                <p:nvPr/>
              </p:nvSpPr>
              <p:spPr>
                <a:xfrm>
                  <a:off x="5381625" y="3905250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19050">
                  <a:solidFill>
                    <a:srgbClr val="A0AEC0"/>
                  </a:solidFill>
                  <a:prstDash val="dash"/>
                </a:ln>
              </p:spPr>
            </p:sp>
            <p:sp>
              <p:nvSpPr>
                <p:cNvPr id="58" name="Polygon 58"/>
                <p:cNvSpPr/>
                <p:nvPr/>
              </p:nvSpPr>
              <p:spPr>
                <a:xfrm>
                  <a:off x="6715125" y="3829050"/>
                  <a:ext cx="14287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2400">
                      <a:moveTo>
                        <a:pt x="0" y="0"/>
                      </a:moveTo>
                      <a:lnTo>
                        <a:pt x="142875" y="76200"/>
                      </a:lnTo>
                      <a:lnTo>
                        <a:pt x="0" y="152400"/>
                      </a:lnTo>
                      <a:close/>
                    </a:path>
                  </a:pathLst>
                </a:custGeom>
                <a:solidFill>
                  <a:srgbClr val="A0AEC0"/>
                </a:solidFill>
                <a:ln>
                  <a:noFill/>
                </a:ln>
              </p:spPr>
            </p:sp>
          </p:grpSp>
          <p:sp>
            <p:nvSpPr>
              <p:cNvPr id="60" name="Rectangle 60"/>
              <p:cNvSpPr/>
              <p:nvPr/>
            </p:nvSpPr>
            <p:spPr>
              <a:xfrm>
                <a:off x="7048500" y="3476625"/>
                <a:ext cx="4572000" cy="85725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734730" y="368046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预测性洞察引擎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10766" y="3942874"/>
                <a:ext cx="18474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异常检测、评分建模、意图预测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804529" y="41143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自动触发策略建议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571500" y="4476750"/>
              <a:ext cx="11049000" cy="857250"/>
              <a:chOff x="571500" y="4476750"/>
              <a:chExt cx="11049000" cy="85725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571500" y="4476750"/>
                <a:ext cx="1143000" cy="857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12851" y="4823460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1714500" y="4476750"/>
                <a:ext cx="3429000" cy="857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083662" y="46805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人工排期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2964656" y="49429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多平台手动配置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2899029" y="51144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反复联审，响应慢</a:t>
                </a: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5381625" y="4829175"/>
                <a:ext cx="1476375" cy="152400"/>
                <a:chOff x="5381625" y="4829175"/>
                <a:chExt cx="1476375" cy="152400"/>
              </a:xfrm>
            </p:grpSpPr>
            <p:sp>
              <p:nvSpPr>
                <p:cNvPr id="71" name="Line 71"/>
                <p:cNvSpPr/>
                <p:nvPr/>
              </p:nvSpPr>
              <p:spPr>
                <a:xfrm>
                  <a:off x="5381625" y="4905375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19050">
                  <a:solidFill>
                    <a:srgbClr val="A0AEC0"/>
                  </a:solidFill>
                  <a:prstDash val="dash"/>
                </a:ln>
              </p:spPr>
            </p:sp>
            <p:sp>
              <p:nvSpPr>
                <p:cNvPr id="72" name="Polygon 72"/>
                <p:cNvSpPr/>
                <p:nvPr/>
              </p:nvSpPr>
              <p:spPr>
                <a:xfrm>
                  <a:off x="6715125" y="4829175"/>
                  <a:ext cx="14287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2400">
                      <a:moveTo>
                        <a:pt x="0" y="0"/>
                      </a:moveTo>
                      <a:lnTo>
                        <a:pt x="142875" y="76200"/>
                      </a:lnTo>
                      <a:lnTo>
                        <a:pt x="0" y="152400"/>
                      </a:lnTo>
                      <a:close/>
                    </a:path>
                  </a:pathLst>
                </a:custGeom>
                <a:solidFill>
                  <a:srgbClr val="A0AEC0"/>
                </a:solidFill>
                <a:ln>
                  <a:noFill/>
                </a:ln>
              </p:spPr>
            </p:sp>
          </p:grpSp>
          <p:sp>
            <p:nvSpPr>
              <p:cNvPr id="74" name="Rectangle 74"/>
              <p:cNvSpPr/>
              <p:nvPr/>
            </p:nvSpPr>
            <p:spPr>
              <a:xfrm>
                <a:off x="7048500" y="4476750"/>
                <a:ext cx="4572000" cy="85725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819540" y="4680585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智能旅程编排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345138" y="4942999"/>
                <a:ext cx="19787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基于最佳行动的跨渠道毫秒级响应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975160" y="5114449"/>
                <a:ext cx="71868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一致性100%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571500" y="5476875"/>
              <a:ext cx="11049000" cy="857250"/>
              <a:chOff x="571500" y="5476875"/>
              <a:chExt cx="11049000" cy="8572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571500" y="5476875"/>
                <a:ext cx="1143000" cy="857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97662" y="58235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1714500" y="5476875"/>
                <a:ext cx="3429000" cy="8572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3083662" y="56807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归因迷宫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3095911" y="594312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单触点归因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3030284" y="61145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跨屏数据割裂</a:t>
                </a:r>
              </a:p>
            </p:txBody>
          </p:sp>
          <p:grpSp>
            <p:nvGrpSpPr>
              <p:cNvPr id="87" name="Group 87"/>
              <p:cNvGrpSpPr/>
              <p:nvPr/>
            </p:nvGrpSpPr>
            <p:grpSpPr>
              <a:xfrm>
                <a:off x="5381625" y="5829300"/>
                <a:ext cx="1476375" cy="152400"/>
                <a:chOff x="5381625" y="5829300"/>
                <a:chExt cx="1476375" cy="152400"/>
              </a:xfrm>
            </p:grpSpPr>
            <p:sp>
              <p:nvSpPr>
                <p:cNvPr id="85" name="Line 85"/>
                <p:cNvSpPr/>
                <p:nvPr/>
              </p:nvSpPr>
              <p:spPr>
                <a:xfrm>
                  <a:off x="5381625" y="5905500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19050">
                  <a:solidFill>
                    <a:srgbClr val="A0AEC0"/>
                  </a:solidFill>
                  <a:prstDash val="dash"/>
                </a:ln>
              </p:spPr>
            </p:sp>
            <p:sp>
              <p:nvSpPr>
                <p:cNvPr id="86" name="Polygon 86"/>
                <p:cNvSpPr/>
                <p:nvPr/>
              </p:nvSpPr>
              <p:spPr>
                <a:xfrm>
                  <a:off x="6715125" y="5829300"/>
                  <a:ext cx="14287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2400">
                      <a:moveTo>
                        <a:pt x="0" y="0"/>
                      </a:moveTo>
                      <a:lnTo>
                        <a:pt x="142875" y="76200"/>
                      </a:lnTo>
                      <a:lnTo>
                        <a:pt x="0" y="152400"/>
                      </a:lnTo>
                      <a:close/>
                    </a:path>
                  </a:pathLst>
                </a:custGeom>
                <a:solidFill>
                  <a:srgbClr val="A0AEC0"/>
                </a:solidFill>
                <a:ln>
                  <a:noFill/>
                </a:ln>
              </p:spPr>
            </p:sp>
          </p:grpSp>
          <p:sp>
            <p:nvSpPr>
              <p:cNvPr id="88" name="Rectangle 88"/>
              <p:cNvSpPr/>
              <p:nvPr/>
            </p:nvSpPr>
            <p:spPr>
              <a:xfrm>
                <a:off x="7048500" y="5476875"/>
                <a:ext cx="4572000" cy="857250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8826581" y="5680710"/>
                <a:ext cx="10158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透明ROI审计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607647" y="594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增量实验建模，全链归因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870156" y="611457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每笔投入可解释</a:t>
                </a:r>
              </a:p>
            </p:txBody>
          </p:sp>
        </p:grpSp>
      </p:grpSp>
      <p:grpSp>
        <p:nvGrpSpPr>
          <p:cNvPr id="97" name="Group 97"/>
          <p:cNvGrpSpPr/>
          <p:nvPr/>
        </p:nvGrpSpPr>
        <p:grpSpPr>
          <a:xfrm>
            <a:off x="566738" y="6667500"/>
            <a:ext cx="11058524" cy="215741"/>
            <a:chOff x="566738" y="6667500"/>
            <a:chExt cx="11058524" cy="215741"/>
          </a:xfrm>
        </p:grpSpPr>
        <p:sp>
          <p:nvSpPr>
            <p:cNvPr id="94" name="Line 94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66738" y="672131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365849" y="672131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784" y="375285"/>
            <a:ext cx="10681716" cy="994410"/>
            <a:chOff x="557784" y="375285"/>
            <a:chExt cx="10681716" cy="994410"/>
          </a:xfrm>
        </p:grpSpPr>
        <p:sp>
          <p:nvSpPr>
            <p:cNvPr id="5" name="Line 5"/>
            <p:cNvSpPr/>
            <p:nvPr/>
          </p:nvSpPr>
          <p:spPr>
            <a:xfrm>
              <a:off x="571500" y="952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7784" y="3752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先行者的收获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880" y="1076325"/>
              <a:ext cx="8208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三家不同行业的企业在部署AI营销工作台后，6个月内均实现了关键指标的结构性突破。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1714500"/>
            <a:ext cx="10668000" cy="4572000"/>
            <a:chOff x="571500" y="1714500"/>
            <a:chExt cx="10668000" cy="4572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714500"/>
              <a:ext cx="3429000" cy="4572000"/>
              <a:chOff x="571500" y="1714500"/>
              <a:chExt cx="3429000" cy="4572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71500" y="1714500"/>
                <a:ext cx="3429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572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457700"/>
                    </a:lnTo>
                    <a:cubicBezTo>
                      <a:pt x="3429000" y="4520826"/>
                      <a:pt x="3377826" y="4572000"/>
                      <a:pt x="3314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1500" y="171450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723900" y="20574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6300" y="2209800"/>
                <a:ext cx="1905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2400">
                    <a:moveTo>
                      <a:pt x="0" y="76200"/>
                    </a:moveTo>
                    <a:lnTo>
                      <a:pt x="76200" y="152400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28166" y="2125028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头部零售品牌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28738" y="233172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行业：零售电商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762000" y="27622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46760" y="2819400"/>
                <a:ext cx="110581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210%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5904" y="32994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转化率提升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46760" y="3581400"/>
                <a:ext cx="85938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65%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5904" y="40614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重复购买率增加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62000" y="4476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56666" y="46491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核心举措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7047" y="4895374"/>
                <a:ext cx="10730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整合12个渠道数据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7047" y="5085874"/>
                <a:ext cx="137594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AI驱动的实时推荐引擎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57047" y="5276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全渠道用户行为追踪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62000" y="56197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228600"/>
                    </a:lnTo>
                    <a:cubicBezTo>
                      <a:pt x="1143000" y="249642"/>
                      <a:pt x="1125942" y="266700"/>
                      <a:pt x="11049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47738" y="57130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4191000" y="1714500"/>
              <a:ext cx="3429000" cy="4572000"/>
              <a:chOff x="4191000" y="1714500"/>
              <a:chExt cx="3429000" cy="4572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191000" y="1714500"/>
                <a:ext cx="3429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572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457700"/>
                    </a:lnTo>
                    <a:cubicBezTo>
                      <a:pt x="3429000" y="4520826"/>
                      <a:pt x="3377826" y="4572000"/>
                      <a:pt x="3314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191000" y="171450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343400" y="20574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95800" y="2209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152400" y="76200"/>
                    </a:lnTo>
                    <a:lnTo>
                      <a:pt x="76200" y="1524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947666" y="2125028"/>
                <a:ext cx="9569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领先SaaS企业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48238" y="2331720"/>
                <a:ext cx="9084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行业：B2B SaaS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4381500" y="27622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366260" y="2819400"/>
                <a:ext cx="110581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180%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75404" y="32994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市场合格线索增长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366260" y="3581400"/>
                <a:ext cx="85938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47%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375404" y="40614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单线索成本下降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381500" y="4476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376166" y="46491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核心举措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76547" y="4895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自动化潜客评分模型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76547" y="50858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智能旅程编排引擎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376547" y="52763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精准触达时机预测</a:t>
                </a: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4381500" y="56197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228600"/>
                    </a:lnTo>
                    <a:cubicBezTo>
                      <a:pt x="1143000" y="249642"/>
                      <a:pt x="1125942" y="266700"/>
                      <a:pt x="11049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567238" y="5713095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7810500" y="1714500"/>
              <a:ext cx="3429000" cy="4572000"/>
              <a:chOff x="7810500" y="1714500"/>
              <a:chExt cx="3429000" cy="4572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810500" y="1714500"/>
                <a:ext cx="3429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572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457700"/>
                    </a:lnTo>
                    <a:cubicBezTo>
                      <a:pt x="3429000" y="4520826"/>
                      <a:pt x="3377826" y="4572000"/>
                      <a:pt x="3314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810500" y="171450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7962900" y="20574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15300" y="2171700"/>
                <a:ext cx="1524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28600">
                    <a:moveTo>
                      <a:pt x="76200" y="0"/>
                    </a:moveTo>
                    <a:lnTo>
                      <a:pt x="0" y="228600"/>
                    </a:lnTo>
                    <a:lnTo>
                      <a:pt x="76200" y="190500"/>
                    </a:lnTo>
                    <a:lnTo>
                      <a:pt x="152400" y="228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567166" y="2125028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大型连锁餐饮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567738" y="233172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行业：连锁餐饮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8001000" y="27622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985760" y="2819400"/>
                <a:ext cx="85938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22%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94904" y="32994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月度客单价提升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85760" y="3581400"/>
                <a:ext cx="85938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35%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94904" y="40614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客户流失率下降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001000" y="4476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995666" y="46491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核心举措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996047" y="4895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全渠道会员数据打通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96047" y="5085874"/>
                <a:ext cx="12372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AI个性化优惠券投放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96047" y="52763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消费行为智能预测</a:t>
                </a:r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8001000" y="56197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228600"/>
                    </a:lnTo>
                    <a:cubicBezTo>
                      <a:pt x="1143000" y="249642"/>
                      <a:pt x="1125942" y="266700"/>
                      <a:pt x="11049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234362" y="57130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2281238" y="6477000"/>
            <a:ext cx="9910762" cy="215741"/>
            <a:chOff x="2281238" y="6477000"/>
            <a:chExt cx="9910762" cy="215741"/>
          </a:xfrm>
        </p:grpSpPr>
        <p:sp>
          <p:nvSpPr>
            <p:cNvPr id="67" name="Line 67"/>
            <p:cNvSpPr/>
            <p:nvPr/>
          </p:nvSpPr>
          <p:spPr>
            <a:xfrm>
              <a:off x="2286000" y="64770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281238" y="6530816"/>
              <a:ext cx="51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6个月周期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5905500" y="64770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00738" y="6530816"/>
              <a:ext cx="51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6个月周期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9525000" y="64770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520238" y="6530816"/>
              <a:ext cx="51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6个月周期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6738" y="6654641"/>
            <a:ext cx="10677524" cy="161925"/>
            <a:chOff x="566738" y="6654641"/>
            <a:chExt cx="10677524" cy="161925"/>
          </a:xfrm>
        </p:grpSpPr>
        <p:sp>
          <p:nvSpPr>
            <p:cNvPr id="74" name="TextBox 74"/>
            <p:cNvSpPr txBox="1"/>
            <p:nvPr/>
          </p:nvSpPr>
          <p:spPr>
            <a:xfrm>
              <a:off x="566738" y="6654641"/>
              <a:ext cx="15350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 · 客户案例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84849" y="66546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738" y="272891"/>
            <a:ext cx="11053762" cy="212884"/>
            <a:chOff x="566738" y="272891"/>
            <a:chExt cx="11053762" cy="212884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272891"/>
              <a:ext cx="9269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57784" y="613410"/>
            <a:ext cx="11126648" cy="3625215"/>
            <a:chOff x="557784" y="613410"/>
            <a:chExt cx="11126648" cy="3625215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613410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投资回报速览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880" y="10763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基于已部署客户的中位数数据，典型企业可在两个季度内实现全面回报。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571500" y="1571625"/>
              <a:ext cx="11112932" cy="2667000"/>
              <a:chOff x="571500" y="1571625"/>
              <a:chExt cx="11112932" cy="266700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571500" y="1571625"/>
                <a:ext cx="2619375" cy="2667000"/>
                <a:chOff x="571500" y="1571625"/>
                <a:chExt cx="2619375" cy="26670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71500" y="1571625"/>
                  <a:ext cx="26193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2667000">
                      <a:moveTo>
                        <a:pt x="114300" y="0"/>
                      </a:moveTo>
                      <a:lnTo>
                        <a:pt x="2505075" y="0"/>
                      </a:lnTo>
                      <a:cubicBezTo>
                        <a:pt x="2568201" y="0"/>
                        <a:pt x="2619375" y="51174"/>
                        <a:pt x="2619375" y="114300"/>
                      </a:cubicBezTo>
                      <a:lnTo>
                        <a:pt x="2619375" y="2552700"/>
                      </a:lnTo>
                      <a:cubicBezTo>
                        <a:pt x="2619375" y="2615826"/>
                        <a:pt x="2568201" y="2667000"/>
                        <a:pt x="2505075" y="2667000"/>
                      </a:cubicBezTo>
                      <a:lnTo>
                        <a:pt x="114300" y="2667000"/>
                      </a:lnTo>
                      <a:cubicBezTo>
                        <a:pt x="51174" y="2667000"/>
                        <a:pt x="0" y="2615826"/>
                        <a:pt x="0" y="2552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0100" y="180022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10000"/>
                  </a:scheme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33450" y="19335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95250" y="0"/>
                      </a:moveTo>
                      <a:lnTo>
                        <a:pt x="95250" y="190500"/>
                      </a:lnTo>
                      <a:moveTo>
                        <a:pt x="0" y="95250"/>
                      </a:moveTo>
                      <a:lnTo>
                        <a:pt x="190500" y="95250"/>
                      </a:lnTo>
                      <a:moveTo>
                        <a:pt x="0" y="95250"/>
                      </a:moveTo>
                      <a:lnTo>
                        <a:pt x="95250" y="0"/>
                      </a:lnTo>
                      <a:lnTo>
                        <a:pt x="19050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84860" y="2276475"/>
                  <a:ext cx="110581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210%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92480" y="2762250"/>
                  <a:ext cx="149942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平均转化率提升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94766" y="3077528"/>
                  <a:ext cx="170688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对比优化前的自然转化基准</a:t>
                  </a:r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800100" y="3857625"/>
                  <a:ext cx="21621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175" h="38100">
                      <a:moveTo>
                        <a:pt x="19050" y="0"/>
                      </a:moveTo>
                      <a:lnTo>
                        <a:pt x="2143125" y="0"/>
                      </a:lnTo>
                      <a:cubicBezTo>
                        <a:pt x="2153646" y="0"/>
                        <a:pt x="2162175" y="8529"/>
                        <a:pt x="2162175" y="19050"/>
                      </a:cubicBezTo>
                      <a:lnTo>
                        <a:pt x="2162175" y="19050"/>
                      </a:lnTo>
                      <a:cubicBezTo>
                        <a:pt x="2162175" y="29571"/>
                        <a:pt x="2153646" y="38100"/>
                        <a:pt x="2143125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00100" y="3857625"/>
                  <a:ext cx="17145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8100">
                      <a:moveTo>
                        <a:pt x="19050" y="0"/>
                      </a:moveTo>
                      <a:lnTo>
                        <a:pt x="1695450" y="0"/>
                      </a:lnTo>
                      <a:cubicBezTo>
                        <a:pt x="1705971" y="0"/>
                        <a:pt x="1714500" y="8529"/>
                        <a:pt x="1714500" y="19050"/>
                      </a:cubicBezTo>
                      <a:lnTo>
                        <a:pt x="1714500" y="19050"/>
                      </a:lnTo>
                      <a:cubicBezTo>
                        <a:pt x="1714500" y="29571"/>
                        <a:pt x="1705971" y="38100"/>
                        <a:pt x="16954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3381375" y="1571625"/>
                <a:ext cx="2636901" cy="2667000"/>
                <a:chOff x="3381375" y="1571625"/>
                <a:chExt cx="2636901" cy="26670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381375" y="1571625"/>
                  <a:ext cx="26193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2667000">
                      <a:moveTo>
                        <a:pt x="114300" y="0"/>
                      </a:moveTo>
                      <a:lnTo>
                        <a:pt x="2505075" y="0"/>
                      </a:lnTo>
                      <a:cubicBezTo>
                        <a:pt x="2568201" y="0"/>
                        <a:pt x="2619375" y="51174"/>
                        <a:pt x="2619375" y="114300"/>
                      </a:cubicBezTo>
                      <a:lnTo>
                        <a:pt x="2619375" y="2552700"/>
                      </a:lnTo>
                      <a:cubicBezTo>
                        <a:pt x="2619375" y="2615826"/>
                        <a:pt x="2568201" y="2667000"/>
                        <a:pt x="2505075" y="2667000"/>
                      </a:cubicBezTo>
                      <a:lnTo>
                        <a:pt x="114300" y="2667000"/>
                      </a:lnTo>
                      <a:cubicBezTo>
                        <a:pt x="51174" y="2667000"/>
                        <a:pt x="0" y="2615826"/>
                        <a:pt x="0" y="2552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609975" y="180022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10000"/>
                  </a:schemeClr>
                </a:solidFill>
                <a:ln>
                  <a:noFill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3724275" y="1914525"/>
                  <a:ext cx="228600" cy="2286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838575" y="1952625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0"/>
                      </a:moveTo>
                      <a:lnTo>
                        <a:pt x="0" y="76200"/>
                      </a:lnTo>
                      <a:lnTo>
                        <a:pt x="57150" y="11430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594735" y="2276475"/>
                  <a:ext cx="1217828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2.3周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602355" y="2762250"/>
                  <a:ext cx="128739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平均上线周期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604641" y="3077528"/>
                  <a:ext cx="24136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从启动到全功能运行，含基础数据清洗</a:t>
                  </a:r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3609975" y="3857625"/>
                  <a:ext cx="21621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175" h="38100">
                      <a:moveTo>
                        <a:pt x="19050" y="0"/>
                      </a:moveTo>
                      <a:lnTo>
                        <a:pt x="2143125" y="0"/>
                      </a:lnTo>
                      <a:cubicBezTo>
                        <a:pt x="2153646" y="0"/>
                        <a:pt x="2162175" y="8529"/>
                        <a:pt x="2162175" y="19050"/>
                      </a:cubicBezTo>
                      <a:lnTo>
                        <a:pt x="2162175" y="19050"/>
                      </a:lnTo>
                      <a:cubicBezTo>
                        <a:pt x="2162175" y="29571"/>
                        <a:pt x="2153646" y="38100"/>
                        <a:pt x="2143125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609975" y="3857625"/>
                  <a:ext cx="18573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5" h="38100">
                      <a:moveTo>
                        <a:pt x="19050" y="0"/>
                      </a:moveTo>
                      <a:lnTo>
                        <a:pt x="1838325" y="0"/>
                      </a:lnTo>
                      <a:cubicBezTo>
                        <a:pt x="1848846" y="0"/>
                        <a:pt x="1857375" y="8529"/>
                        <a:pt x="1857375" y="19050"/>
                      </a:cubicBezTo>
                      <a:lnTo>
                        <a:pt x="1857375" y="19050"/>
                      </a:lnTo>
                      <a:cubicBezTo>
                        <a:pt x="1857375" y="29571"/>
                        <a:pt x="1848846" y="38100"/>
                        <a:pt x="1838325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191250" y="1571625"/>
                <a:ext cx="2619375" cy="2667000"/>
                <a:chOff x="6191250" y="1571625"/>
                <a:chExt cx="2619375" cy="26670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191250" y="1571625"/>
                  <a:ext cx="26193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2667000">
                      <a:moveTo>
                        <a:pt x="114300" y="0"/>
                      </a:moveTo>
                      <a:lnTo>
                        <a:pt x="2505075" y="0"/>
                      </a:lnTo>
                      <a:cubicBezTo>
                        <a:pt x="2568201" y="0"/>
                        <a:pt x="2619375" y="51174"/>
                        <a:pt x="2619375" y="114300"/>
                      </a:cubicBezTo>
                      <a:lnTo>
                        <a:pt x="2619375" y="2552700"/>
                      </a:lnTo>
                      <a:cubicBezTo>
                        <a:pt x="2619375" y="2615826"/>
                        <a:pt x="2568201" y="2667000"/>
                        <a:pt x="2505075" y="2667000"/>
                      </a:cubicBezTo>
                      <a:lnTo>
                        <a:pt x="114300" y="2667000"/>
                      </a:lnTo>
                      <a:cubicBezTo>
                        <a:pt x="51174" y="2667000"/>
                        <a:pt x="0" y="2615826"/>
                        <a:pt x="0" y="2552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419850" y="180022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10000"/>
                  </a:schemeClr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534150" y="1933575"/>
                  <a:ext cx="2286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52400">
                      <a:moveTo>
                        <a:pt x="0" y="152400"/>
                      </a:moveTo>
                      <a:lnTo>
                        <a:pt x="76200" y="76200"/>
                      </a:lnTo>
                      <a:lnTo>
                        <a:pt x="152400" y="114300"/>
                      </a:lnTo>
                      <a:lnTo>
                        <a:pt x="228600" y="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705600" y="19335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571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404610" y="2276475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58%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12230" y="2762250"/>
                  <a:ext cx="17114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营销运营成本降低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414516" y="3077528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通过自动化替代重复人力操作</a:t>
                  </a: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6419850" y="3857625"/>
                  <a:ext cx="21621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175" h="38100">
                      <a:moveTo>
                        <a:pt x="19050" y="0"/>
                      </a:moveTo>
                      <a:lnTo>
                        <a:pt x="2143125" y="0"/>
                      </a:lnTo>
                      <a:cubicBezTo>
                        <a:pt x="2153646" y="0"/>
                        <a:pt x="2162175" y="8529"/>
                        <a:pt x="2162175" y="19050"/>
                      </a:cubicBezTo>
                      <a:lnTo>
                        <a:pt x="2162175" y="19050"/>
                      </a:lnTo>
                      <a:cubicBezTo>
                        <a:pt x="2162175" y="29571"/>
                        <a:pt x="2153646" y="38100"/>
                        <a:pt x="2143125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19850" y="3857625"/>
                  <a:ext cx="16192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0" h="38100">
                      <a:moveTo>
                        <a:pt x="19050" y="0"/>
                      </a:moveTo>
                      <a:lnTo>
                        <a:pt x="1600200" y="0"/>
                      </a:lnTo>
                      <a:cubicBezTo>
                        <a:pt x="1610721" y="0"/>
                        <a:pt x="1619250" y="8529"/>
                        <a:pt x="1619250" y="19050"/>
                      </a:cubicBezTo>
                      <a:lnTo>
                        <a:pt x="1619250" y="19050"/>
                      </a:lnTo>
                      <a:cubicBezTo>
                        <a:pt x="1619250" y="29571"/>
                        <a:pt x="1610721" y="38100"/>
                        <a:pt x="160020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9001125" y="1571625"/>
                <a:ext cx="2683307" cy="2667000"/>
                <a:chOff x="9001125" y="1571625"/>
                <a:chExt cx="2683307" cy="266700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9001125" y="1571625"/>
                  <a:ext cx="2619375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2667000">
                      <a:moveTo>
                        <a:pt x="114300" y="0"/>
                      </a:moveTo>
                      <a:lnTo>
                        <a:pt x="2505075" y="0"/>
                      </a:lnTo>
                      <a:cubicBezTo>
                        <a:pt x="2568201" y="0"/>
                        <a:pt x="2619375" y="51174"/>
                        <a:pt x="2619375" y="114300"/>
                      </a:cubicBezTo>
                      <a:lnTo>
                        <a:pt x="2619375" y="2552700"/>
                      </a:lnTo>
                      <a:cubicBezTo>
                        <a:pt x="2619375" y="2615826"/>
                        <a:pt x="2568201" y="2667000"/>
                        <a:pt x="2505075" y="2667000"/>
                      </a:cubicBezTo>
                      <a:lnTo>
                        <a:pt x="114300" y="2667000"/>
                      </a:lnTo>
                      <a:cubicBezTo>
                        <a:pt x="51174" y="2667000"/>
                        <a:pt x="0" y="2615826"/>
                        <a:pt x="0" y="2552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229725" y="180022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2F855A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344025" y="1914525"/>
                  <a:ext cx="228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71450">
                      <a:moveTo>
                        <a:pt x="0" y="171450"/>
                      </a:move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114300" y="0"/>
                      </a:lnTo>
                      <a:lnTo>
                        <a:pt x="171450" y="57150"/>
                      </a:lnTo>
                      <a:lnTo>
                        <a:pt x="228600" y="57150"/>
                      </a:lnTo>
                      <a:lnTo>
                        <a:pt x="228600" y="17145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F855A"/>
                  </a:solidFill>
                  <a:round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401175" y="2028825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0" y="0"/>
                      </a:lnTo>
                      <a:moveTo>
                        <a:pt x="114300" y="5715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 cap="rnd">
                  <a:solidFill>
                    <a:srgbClr val="2F855A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214485" y="2276475"/>
                  <a:ext cx="1016203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4.7x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222105" y="2762250"/>
                  <a:ext cx="149942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广告支出回报率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9224391" y="3077528"/>
                  <a:ext cx="24600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ROAS，归因优化与实时竞价策略贡献</a:t>
                  </a:r>
                </a:p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9229725" y="3857625"/>
                  <a:ext cx="21621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175" h="38100">
                      <a:moveTo>
                        <a:pt x="19050" y="0"/>
                      </a:moveTo>
                      <a:lnTo>
                        <a:pt x="2143125" y="0"/>
                      </a:lnTo>
                      <a:cubicBezTo>
                        <a:pt x="2153646" y="0"/>
                        <a:pt x="2162175" y="8529"/>
                        <a:pt x="2162175" y="19050"/>
                      </a:cubicBezTo>
                      <a:lnTo>
                        <a:pt x="2162175" y="19050"/>
                      </a:lnTo>
                      <a:cubicBezTo>
                        <a:pt x="2162175" y="29571"/>
                        <a:pt x="2153646" y="38100"/>
                        <a:pt x="2143125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229725" y="3857625"/>
                  <a:ext cx="20002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0" h="38100">
                      <a:moveTo>
                        <a:pt x="19050" y="0"/>
                      </a:moveTo>
                      <a:lnTo>
                        <a:pt x="1981200" y="0"/>
                      </a:lnTo>
                      <a:cubicBezTo>
                        <a:pt x="1991721" y="0"/>
                        <a:pt x="2000250" y="8529"/>
                        <a:pt x="2000250" y="19050"/>
                      </a:cubicBezTo>
                      <a:lnTo>
                        <a:pt x="2000250" y="19050"/>
                      </a:lnTo>
                      <a:cubicBezTo>
                        <a:pt x="2000250" y="29571"/>
                        <a:pt x="1991721" y="38100"/>
                        <a:pt x="198120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</p:grpSp>
        </p:grpSp>
      </p:grpSp>
      <p:grpSp>
        <p:nvGrpSpPr>
          <p:cNvPr id="56" name="Group 56"/>
          <p:cNvGrpSpPr/>
          <p:nvPr/>
        </p:nvGrpSpPr>
        <p:grpSpPr>
          <a:xfrm>
            <a:off x="566166" y="4744402"/>
            <a:ext cx="9429750" cy="205359"/>
            <a:chOff x="566166" y="4744402"/>
            <a:chExt cx="9429750" cy="205359"/>
          </a:xfrm>
        </p:grpSpPr>
        <p:grpSp>
          <p:nvGrpSpPr>
            <p:cNvPr id="55" name="Group 55"/>
            <p:cNvGrpSpPr/>
            <p:nvPr/>
          </p:nvGrpSpPr>
          <p:grpSpPr>
            <a:xfrm>
              <a:off x="566166" y="4744402"/>
              <a:ext cx="9429750" cy="205359"/>
              <a:chOff x="566166" y="4744402"/>
              <a:chExt cx="9429750" cy="205359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566166" y="47444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平均转化率提升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376041" y="47444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平均上线周期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185916" y="47444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营销运营成本降低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995791" y="47444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广告支出回报率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57" name="Rectangle 57"/>
            <p:cNvSpPr/>
            <p:nvPr/>
          </p:nvSpPr>
          <p:spPr>
            <a:xfrm>
              <a:off x="571500" y="64770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6738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3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638175"/>
            <a:chOff x="0" y="0"/>
            <a:chExt cx="12192000" cy="63817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6286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80708" y="360045"/>
            <a:ext cx="11439792" cy="5999416"/>
            <a:chOff x="180708" y="360045"/>
            <a:chExt cx="11439792" cy="5999416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360045"/>
              <a:ext cx="839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41985"/>
              <a:ext cx="52696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效果爬坡：典型客户增长曲线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642" y="1054418"/>
              <a:ext cx="4718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某B2C品牌部署AI营销工作台后的月度营收同比提升趋势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80708" y="1621155"/>
              <a:ext cx="11439792" cy="4738306"/>
              <a:chOff x="180708" y="1621155"/>
              <a:chExt cx="11439792" cy="4738306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571500" y="56197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71500" y="48196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71500" y="40195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71500" y="32194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71500" y="24193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13982" y="5560695"/>
                <a:ext cx="16703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7345" y="4760595"/>
                <a:ext cx="2336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47345" y="3960495"/>
                <a:ext cx="2336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7345" y="3160395"/>
                <a:ext cx="2336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0708" y="2360295"/>
                <a:ext cx="30030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952625" y="2110740"/>
                <a:ext cx="8286750" cy="1788795"/>
              </a:xfrm>
              <a:custGeom>
                <a:avLst/>
                <a:gdLst/>
                <a:ahLst/>
                <a:cxnLst/>
                <a:rect l="l" t="t" r="r" b="b"/>
                <a:pathLst>
                  <a:path w="8286750" h="1788795">
                    <a:moveTo>
                      <a:pt x="0" y="0"/>
                    </a:moveTo>
                    <a:cubicBezTo>
                      <a:pt x="1381125" y="0"/>
                      <a:pt x="2762250" y="548640"/>
                      <a:pt x="4143375" y="548640"/>
                    </a:cubicBezTo>
                    <a:cubicBezTo>
                      <a:pt x="5524500" y="548640"/>
                      <a:pt x="6905625" y="1188720"/>
                      <a:pt x="8286750" y="1788795"/>
                    </a:cubicBezTo>
                  </a:path>
                </a:pathLst>
              </a:custGeom>
              <a:noFill/>
              <a:ln w="28575" cap="rnd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952625" y="2110740"/>
                <a:ext cx="8286750" cy="3509010"/>
              </a:xfrm>
              <a:custGeom>
                <a:avLst/>
                <a:gdLst/>
                <a:ahLst/>
                <a:cxnLst/>
                <a:rect l="l" t="t" r="r" b="b"/>
                <a:pathLst>
                  <a:path w="8286750" h="3509010">
                    <a:moveTo>
                      <a:pt x="0" y="0"/>
                    </a:moveTo>
                    <a:cubicBezTo>
                      <a:pt x="1381125" y="0"/>
                      <a:pt x="2762250" y="548640"/>
                      <a:pt x="4143375" y="548640"/>
                    </a:cubicBezTo>
                    <a:cubicBezTo>
                      <a:pt x="5524500" y="548640"/>
                      <a:pt x="6905625" y="1188720"/>
                      <a:pt x="8286750" y="1788795"/>
                    </a:cubicBezTo>
                    <a:lnTo>
                      <a:pt x="8286750" y="3509010"/>
                    </a:lnTo>
                    <a:lnTo>
                      <a:pt x="0" y="350901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15000"/>
                    </a:schemeClr>
                  </a:gs>
                  <a:gs pos="100000">
                    <a:schemeClr val="accent2">
                      <a:alpha val="1500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781175" y="193929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838325" y="1996440"/>
                <a:ext cx="228600" cy="228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895475" y="205359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651841" y="1621155"/>
                <a:ext cx="60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88%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523238" y="5982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数据整合完成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23238" y="61541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基础画像上线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4572000" y="251650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619625" y="256413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667250" y="261175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457060" y="2205990"/>
                <a:ext cx="515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74%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98010" y="5982652"/>
                <a:ext cx="10337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AI推荐引擎启动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14812" y="61541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实时个性化触达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53300" y="285559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7400925" y="2903220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439025" y="294132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240795" y="2546032"/>
                <a:ext cx="4726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60%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047738" y="5982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跨渠道自动化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47738" y="61541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旅程全面展开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10134600" y="3194685"/>
                <a:ext cx="209550" cy="2095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0172700" y="323278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0210800" y="3270885"/>
                <a:ext cx="57150" cy="571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024529" y="2886075"/>
                <a:ext cx="4296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3"/>
                    </a:solidFill>
                    <a:latin typeface="Georgia"/>
                    <a:ea typeface="Georgia"/>
                    <a:cs typeface="Georgia"/>
                  </a:rPr>
                  <a:t>46%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739312" y="59826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预测性评分应用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82735" y="6154102"/>
                <a:ext cx="17132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潜客转化，ROAS显著优化</a:t>
                </a:r>
              </a:p>
            </p:txBody>
          </p:sp>
          <p:grpSp>
            <p:nvGrpSpPr>
              <p:cNvPr id="56" name="Group 56"/>
              <p:cNvGrpSpPr/>
              <p:nvPr/>
            </p:nvGrpSpPr>
            <p:grpSpPr>
              <a:xfrm>
                <a:off x="10572750" y="1809750"/>
                <a:ext cx="1047750" cy="952500"/>
                <a:chOff x="10572750" y="1809750"/>
                <a:chExt cx="1047750" cy="9525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10572750" y="1809750"/>
                  <a:ext cx="10477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0" h="952500">
                      <a:moveTo>
                        <a:pt x="76200" y="0"/>
                      </a:moveTo>
                      <a:lnTo>
                        <a:pt x="971550" y="0"/>
                      </a:lnTo>
                      <a:cubicBezTo>
                        <a:pt x="1013634" y="0"/>
                        <a:pt x="1047750" y="34116"/>
                        <a:pt x="1047750" y="76200"/>
                      </a:cubicBezTo>
                      <a:lnTo>
                        <a:pt x="1047750" y="876300"/>
                      </a:lnTo>
                      <a:cubicBezTo>
                        <a:pt x="1047750" y="918384"/>
                        <a:pt x="1013634" y="952500"/>
                        <a:pt x="971550" y="952500"/>
                      </a:cubicBezTo>
                      <a:lnTo>
                        <a:pt x="76200" y="952500"/>
                      </a:lnTo>
                      <a:cubicBezTo>
                        <a:pt x="34116" y="952500"/>
                        <a:pt x="0" y="918384"/>
                        <a:pt x="0" y="876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0572750" y="1809750"/>
                  <a:ext cx="10477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0" h="266700">
                      <a:moveTo>
                        <a:pt x="76200" y="0"/>
                      </a:moveTo>
                      <a:lnTo>
                        <a:pt x="971550" y="0"/>
                      </a:lnTo>
                      <a:cubicBezTo>
                        <a:pt x="1013634" y="0"/>
                        <a:pt x="1047750" y="34116"/>
                        <a:pt x="1047750" y="76200"/>
                      </a:cubicBezTo>
                      <a:lnTo>
                        <a:pt x="1047750" y="190500"/>
                      </a:lnTo>
                      <a:cubicBezTo>
                        <a:pt x="1047750" y="232584"/>
                        <a:pt x="1013634" y="266700"/>
                        <a:pt x="971550" y="266700"/>
                      </a:cubicBezTo>
                      <a:lnTo>
                        <a:pt x="76200" y="266700"/>
                      </a:lnTo>
                      <a:cubicBezTo>
                        <a:pt x="34116" y="266700"/>
                        <a:pt x="0" y="232584"/>
                        <a:pt x="0" y="1905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9" name="Rectangle 49"/>
                <p:cNvSpPr/>
                <p:nvPr/>
              </p:nvSpPr>
              <p:spPr>
                <a:xfrm>
                  <a:off x="10572750" y="2000250"/>
                  <a:ext cx="1047750" cy="762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0837431" y="1893570"/>
                  <a:ext cx="51838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信号强度</a:t>
                  </a:r>
                </a:p>
              </p:txBody>
            </p:sp>
            <p:sp>
              <p:nvSpPr>
                <p:cNvPr id="51" name="Line 51"/>
                <p:cNvSpPr/>
                <p:nvPr/>
              </p:nvSpPr>
              <p:spPr>
                <a:xfrm>
                  <a:off x="10715625" y="2238375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76200" cap="rnd">
                  <a:solidFill>
                    <a:schemeClr val="accent4"/>
                  </a:solidFill>
                </a:ln>
              </p:spPr>
            </p:sp>
            <p:sp>
              <p:nvSpPr>
                <p:cNvPr id="52" name="Line 52"/>
                <p:cNvSpPr/>
                <p:nvPr/>
              </p:nvSpPr>
              <p:spPr>
                <a:xfrm>
                  <a:off x="10715625" y="2238375"/>
                  <a:ext cx="6000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9525">
                      <a:moveTo>
                        <a:pt x="0" y="0"/>
                      </a:moveTo>
                      <a:lnTo>
                        <a:pt x="600075" y="0"/>
                      </a:lnTo>
                    </a:path>
                  </a:pathLst>
                </a:custGeom>
                <a:noFill/>
                <a:ln w="76200" cap="rnd">
                  <a:solidFill>
                    <a:srgbClr val="2F855A"/>
                  </a:solidFill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11268075" y="2190750"/>
                  <a:ext cx="95250" cy="95250"/>
                </a:xfrm>
                <a:prstGeom prst="ellipse">
                  <a:avLst/>
                </a:prstGeom>
                <a:solidFill>
                  <a:schemeClr val="lt1"/>
                </a:solidFill>
                <a:ln w="19050">
                  <a:solidFill>
                    <a:srgbClr val="2F855A"/>
                  </a:solidFill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10788968" y="2395538"/>
                  <a:ext cx="61531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正向增长趋势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861540" y="2518410"/>
                  <a:ext cx="47016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2F855A"/>
                      </a:solidFill>
                      <a:latin typeface="Consolas"/>
                      <a:ea typeface="Consolas"/>
                      <a:cs typeface="Consolas"/>
                    </a:rPr>
                    <a:t>↑ 88%</a:t>
                  </a:r>
                </a:p>
              </p:txBody>
            </p:sp>
          </p:grpSp>
        </p:grpSp>
      </p:grpSp>
      <p:grpSp>
        <p:nvGrpSpPr>
          <p:cNvPr id="61" name="Group 61"/>
          <p:cNvGrpSpPr/>
          <p:nvPr/>
        </p:nvGrpSpPr>
        <p:grpSpPr>
          <a:xfrm>
            <a:off x="9328214" y="6197441"/>
            <a:ext cx="2165937" cy="314325"/>
            <a:chOff x="9328214" y="6197441"/>
            <a:chExt cx="2165937" cy="314325"/>
          </a:xfrm>
        </p:grpSpPr>
        <p:sp>
          <p:nvSpPr>
            <p:cNvPr id="59" name="TextBox 59"/>
            <p:cNvSpPr txBox="1"/>
            <p:nvPr/>
          </p:nvSpPr>
          <p:spPr>
            <a:xfrm>
              <a:off x="11234738" y="6197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28214" y="6349841"/>
              <a:ext cx="15350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AI营销工作台 · 企业增长方案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581025"/>
            <a:chOff x="0" y="0"/>
            <a:chExt cx="12192000" cy="5810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57784" y="839152"/>
            <a:ext cx="10681716" cy="4875848"/>
            <a:chOff x="557784" y="839152"/>
            <a:chExt cx="10681716" cy="4875848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8391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1089660"/>
              <a:ext cx="3293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90天极速落地路线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6002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按照以下四阶段推进，风险可控，最小化组织干扰。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143000" y="3238500"/>
              <a:ext cx="9906000" cy="9525"/>
              <a:chOff x="1143000" y="3238500"/>
              <a:chExt cx="9906000" cy="95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143000" y="32385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38100" cap="rnd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143000" y="32385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38100" cap="rnd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50000">
                      <a:schemeClr val="accent2">
                        <a:alpha val="60000"/>
                      </a:schemeClr>
                    </a:gs>
                    <a:gs pos="100000">
                      <a:schemeClr val="accent3">
                        <a:alpha val="60000"/>
                      </a:schemeClr>
                    </a:gs>
                  </a:gsLst>
                  <a:lin ang="0" scaled="1"/>
                </a:gra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28700" y="3124200"/>
              <a:ext cx="9229725" cy="228600"/>
              <a:chOff x="1028700" y="3124200"/>
              <a:chExt cx="9229725" cy="2286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028700" y="31242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029075" y="3124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7029450" y="3124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0029825" y="31242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571500" y="3619500"/>
              <a:ext cx="10668000" cy="2095500"/>
              <a:chOff x="571500" y="3619500"/>
              <a:chExt cx="10668000" cy="209550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571500" y="3619500"/>
                <a:ext cx="2381250" cy="2095500"/>
                <a:chOff x="571500" y="3619500"/>
                <a:chExt cx="2381250" cy="20955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71500" y="3619500"/>
                  <a:ext cx="23812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2095500">
                      <a:moveTo>
                        <a:pt x="76200" y="0"/>
                      </a:moveTo>
                      <a:lnTo>
                        <a:pt x="2305050" y="0"/>
                      </a:lnTo>
                      <a:cubicBezTo>
                        <a:pt x="2347134" y="0"/>
                        <a:pt x="2381250" y="34116"/>
                        <a:pt x="2381250" y="76200"/>
                      </a:cubicBezTo>
                      <a:lnTo>
                        <a:pt x="2381250" y="2019300"/>
                      </a:lnTo>
                      <a:cubicBezTo>
                        <a:pt x="2381250" y="2061384"/>
                        <a:pt x="2347134" y="2095500"/>
                        <a:pt x="2305050" y="2095500"/>
                      </a:cubicBezTo>
                      <a:lnTo>
                        <a:pt x="76200" y="2095500"/>
                      </a:lnTo>
                      <a:cubicBezTo>
                        <a:pt x="34116" y="2095500"/>
                        <a:pt x="0" y="2061384"/>
                        <a:pt x="0" y="2019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71500" y="3619500"/>
                  <a:ext cx="23812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2095500">
                      <a:moveTo>
                        <a:pt x="76200" y="0"/>
                      </a:moveTo>
                      <a:lnTo>
                        <a:pt x="2305050" y="0"/>
                      </a:lnTo>
                      <a:cubicBezTo>
                        <a:pt x="2347134" y="0"/>
                        <a:pt x="2381250" y="34116"/>
                        <a:pt x="2381250" y="76200"/>
                      </a:cubicBezTo>
                      <a:lnTo>
                        <a:pt x="2381250" y="2019300"/>
                      </a:lnTo>
                      <a:cubicBezTo>
                        <a:pt x="2381250" y="2061384"/>
                        <a:pt x="2347134" y="2095500"/>
                        <a:pt x="2305050" y="2095500"/>
                      </a:cubicBezTo>
                      <a:lnTo>
                        <a:pt x="76200" y="2095500"/>
                      </a:lnTo>
                      <a:cubicBezTo>
                        <a:pt x="34116" y="2095500"/>
                        <a:pt x="0" y="2061384"/>
                        <a:pt x="0" y="2019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>
                    <a:alpha val="15000"/>
                  </a:schemeClr>
                </a:solidFill>
                <a:ln w="19050">
                  <a:solidFill>
                    <a:schemeClr val="accent1">
                      <a:alpha val="15000"/>
                    </a:schemeClr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71500" y="3619500"/>
                  <a:ext cx="23812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57150">
                      <a:moveTo>
                        <a:pt x="28575" y="0"/>
                      </a:moveTo>
                      <a:lnTo>
                        <a:pt x="2352675" y="0"/>
                      </a:lnTo>
                      <a:cubicBezTo>
                        <a:pt x="2368457" y="0"/>
                        <a:pt x="2381250" y="12793"/>
                        <a:pt x="2381250" y="28575"/>
                      </a:cubicBezTo>
                      <a:lnTo>
                        <a:pt x="2381250" y="28575"/>
                      </a:lnTo>
                      <a:cubicBezTo>
                        <a:pt x="2381250" y="44357"/>
                        <a:pt x="2368457" y="57150"/>
                        <a:pt x="23526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04862" y="3911441"/>
                  <a:ext cx="414899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第0-2周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2005" y="4105275"/>
                  <a:ext cx="9113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基础就绪</a:t>
                  </a:r>
                </a:p>
              </p:txBody>
            </p:sp>
            <p:sp>
              <p:nvSpPr>
                <p:cNvPr id="24" name="Line 24"/>
                <p:cNvSpPr/>
                <p:nvPr/>
              </p:nvSpPr>
              <p:spPr>
                <a:xfrm>
                  <a:off x="809625" y="4429125"/>
                  <a:ext cx="571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">
                      <a:moveTo>
                        <a:pt x="0" y="0"/>
                      </a:moveTo>
                      <a:lnTo>
                        <a:pt x="571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04291" y="46015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组建联合小组，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04291" y="4792028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完成数据源对接与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04291" y="4982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基础环境配置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3333750" y="3619500"/>
                <a:ext cx="2381250" cy="2095500"/>
                <a:chOff x="3333750" y="3619500"/>
                <a:chExt cx="2381250" cy="20955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333750" y="3619500"/>
                  <a:ext cx="23812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2095500">
                      <a:moveTo>
                        <a:pt x="76200" y="0"/>
                      </a:moveTo>
                      <a:lnTo>
                        <a:pt x="2305050" y="0"/>
                      </a:lnTo>
                      <a:cubicBezTo>
                        <a:pt x="2347134" y="0"/>
                        <a:pt x="2381250" y="34116"/>
                        <a:pt x="2381250" y="76200"/>
                      </a:cubicBezTo>
                      <a:lnTo>
                        <a:pt x="2381250" y="2019300"/>
                      </a:lnTo>
                      <a:cubicBezTo>
                        <a:pt x="2381250" y="2061384"/>
                        <a:pt x="2347134" y="2095500"/>
                        <a:pt x="2305050" y="2095500"/>
                      </a:cubicBezTo>
                      <a:lnTo>
                        <a:pt x="76200" y="2095500"/>
                      </a:lnTo>
                      <a:cubicBezTo>
                        <a:pt x="34116" y="2095500"/>
                        <a:pt x="0" y="2061384"/>
                        <a:pt x="0" y="2019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333750" y="3619500"/>
                  <a:ext cx="23812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57150">
                      <a:moveTo>
                        <a:pt x="28575" y="0"/>
                      </a:moveTo>
                      <a:lnTo>
                        <a:pt x="2352675" y="0"/>
                      </a:lnTo>
                      <a:cubicBezTo>
                        <a:pt x="2368457" y="0"/>
                        <a:pt x="2381250" y="12793"/>
                        <a:pt x="2381250" y="28575"/>
                      </a:cubicBezTo>
                      <a:lnTo>
                        <a:pt x="2381250" y="28575"/>
                      </a:lnTo>
                      <a:cubicBezTo>
                        <a:pt x="2381250" y="44357"/>
                        <a:pt x="2368457" y="57150"/>
                        <a:pt x="23526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567112" y="3911441"/>
                  <a:ext cx="414899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第3-6周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564255" y="4105275"/>
                  <a:ext cx="9113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核心部署</a:t>
                  </a:r>
                </a:p>
              </p:txBody>
            </p:sp>
            <p:sp>
              <p:nvSpPr>
                <p:cNvPr id="33" name="Line 33"/>
                <p:cNvSpPr/>
                <p:nvPr/>
              </p:nvSpPr>
              <p:spPr>
                <a:xfrm>
                  <a:off x="3571875" y="4429125"/>
                  <a:ext cx="571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">
                      <a:moveTo>
                        <a:pt x="0" y="0"/>
                      </a:moveTo>
                      <a:lnTo>
                        <a:pt x="571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566541" y="46015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上线统一画像、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566541" y="4792028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AI分析模型、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566541" y="49825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自动化规则引擎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6096000" y="3619500"/>
                <a:ext cx="2381250" cy="2095500"/>
                <a:chOff x="6096000" y="3619500"/>
                <a:chExt cx="2381250" cy="20955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096000" y="3619500"/>
                  <a:ext cx="23812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2095500">
                      <a:moveTo>
                        <a:pt x="76200" y="0"/>
                      </a:moveTo>
                      <a:lnTo>
                        <a:pt x="2305050" y="0"/>
                      </a:lnTo>
                      <a:cubicBezTo>
                        <a:pt x="2347134" y="0"/>
                        <a:pt x="2381250" y="34116"/>
                        <a:pt x="2381250" y="76200"/>
                      </a:cubicBezTo>
                      <a:lnTo>
                        <a:pt x="2381250" y="2019300"/>
                      </a:lnTo>
                      <a:cubicBezTo>
                        <a:pt x="2381250" y="2061384"/>
                        <a:pt x="2347134" y="2095500"/>
                        <a:pt x="2305050" y="2095500"/>
                      </a:cubicBezTo>
                      <a:lnTo>
                        <a:pt x="76200" y="2095500"/>
                      </a:lnTo>
                      <a:cubicBezTo>
                        <a:pt x="34116" y="2095500"/>
                        <a:pt x="0" y="2061384"/>
                        <a:pt x="0" y="2019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096000" y="3619500"/>
                  <a:ext cx="23812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57150">
                      <a:moveTo>
                        <a:pt x="28575" y="0"/>
                      </a:moveTo>
                      <a:lnTo>
                        <a:pt x="2352675" y="0"/>
                      </a:lnTo>
                      <a:cubicBezTo>
                        <a:pt x="2368457" y="0"/>
                        <a:pt x="2381250" y="12793"/>
                        <a:pt x="2381250" y="28575"/>
                      </a:cubicBezTo>
                      <a:lnTo>
                        <a:pt x="2381250" y="28575"/>
                      </a:lnTo>
                      <a:cubicBezTo>
                        <a:pt x="2381250" y="44357"/>
                        <a:pt x="2368457" y="57150"/>
                        <a:pt x="23526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329362" y="3911441"/>
                  <a:ext cx="47598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第7-10周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326505" y="4105275"/>
                  <a:ext cx="9113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校准培训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6334125" y="4429125"/>
                  <a:ext cx="571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">
                      <a:moveTo>
                        <a:pt x="0" y="0"/>
                      </a:moveTo>
                      <a:lnTo>
                        <a:pt x="571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328791" y="4601528"/>
                  <a:ext cx="126162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内部测试10%流量，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328791" y="4792028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校准模型与旅程，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328791" y="4982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完成员工培训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8858250" y="3619500"/>
                <a:ext cx="2381250" cy="2095500"/>
                <a:chOff x="8858250" y="3619500"/>
                <a:chExt cx="2381250" cy="20955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858250" y="3619500"/>
                  <a:ext cx="238125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2095500">
                      <a:moveTo>
                        <a:pt x="76200" y="0"/>
                      </a:moveTo>
                      <a:lnTo>
                        <a:pt x="2305050" y="0"/>
                      </a:lnTo>
                      <a:cubicBezTo>
                        <a:pt x="2347134" y="0"/>
                        <a:pt x="2381250" y="34116"/>
                        <a:pt x="2381250" y="76200"/>
                      </a:cubicBezTo>
                      <a:lnTo>
                        <a:pt x="2381250" y="2019300"/>
                      </a:lnTo>
                      <a:cubicBezTo>
                        <a:pt x="2381250" y="2061384"/>
                        <a:pt x="2347134" y="2095500"/>
                        <a:pt x="2305050" y="2095500"/>
                      </a:cubicBezTo>
                      <a:lnTo>
                        <a:pt x="76200" y="2095500"/>
                      </a:lnTo>
                      <a:cubicBezTo>
                        <a:pt x="34116" y="2095500"/>
                        <a:pt x="0" y="2061384"/>
                        <a:pt x="0" y="2019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858250" y="3619500"/>
                  <a:ext cx="23812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57150">
                      <a:moveTo>
                        <a:pt x="28575" y="0"/>
                      </a:moveTo>
                      <a:lnTo>
                        <a:pt x="2352675" y="0"/>
                      </a:lnTo>
                      <a:cubicBezTo>
                        <a:pt x="2368457" y="0"/>
                        <a:pt x="2381250" y="12793"/>
                        <a:pt x="2381250" y="28575"/>
                      </a:cubicBezTo>
                      <a:lnTo>
                        <a:pt x="2381250" y="28575"/>
                      </a:lnTo>
                      <a:cubicBezTo>
                        <a:pt x="2381250" y="44357"/>
                        <a:pt x="2368457" y="57150"/>
                        <a:pt x="23526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9091612" y="3911441"/>
                  <a:ext cx="537067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第11-12周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9088755" y="4105275"/>
                  <a:ext cx="9113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全量上线</a:t>
                  </a:r>
                </a:p>
              </p:txBody>
            </p:sp>
            <p:sp>
              <p:nvSpPr>
                <p:cNvPr id="51" name="Line 51"/>
                <p:cNvSpPr/>
                <p:nvPr/>
              </p:nvSpPr>
              <p:spPr>
                <a:xfrm>
                  <a:off x="9096375" y="4429125"/>
                  <a:ext cx="571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">
                      <a:moveTo>
                        <a:pt x="0" y="0"/>
                      </a:moveTo>
                      <a:lnTo>
                        <a:pt x="5715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9091041" y="460152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全量切换，建立持续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9091041" y="479202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监控看板，启动月度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9091041" y="4982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优化迭代</a:t>
                  </a:r>
                </a:p>
              </p:txBody>
            </p:sp>
          </p:grpSp>
        </p:grpSp>
        <p:grpSp>
          <p:nvGrpSpPr>
            <p:cNvPr id="61" name="Group 61"/>
            <p:cNvGrpSpPr/>
            <p:nvPr/>
          </p:nvGrpSpPr>
          <p:grpSpPr>
            <a:xfrm>
              <a:off x="1107696" y="3054191"/>
              <a:ext cx="9102276" cy="161925"/>
              <a:chOff x="1107696" y="3054191"/>
              <a:chExt cx="9102276" cy="161925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1107696" y="305419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108071" y="305419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108446" y="305419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078279" y="3054191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2952750" y="4667250"/>
            <a:ext cx="5810250" cy="9525"/>
            <a:chOff x="2952750" y="4667250"/>
            <a:chExt cx="5810250" cy="9525"/>
          </a:xfrm>
        </p:grpSpPr>
        <p:sp>
          <p:nvSpPr>
            <p:cNvPr id="63" name="Freeform 63"/>
            <p:cNvSpPr/>
            <p:nvPr/>
          </p:nvSpPr>
          <p:spPr>
            <a:xfrm>
              <a:off x="2952750" y="4667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64" name="Freeform 64"/>
            <p:cNvSpPr/>
            <p:nvPr/>
          </p:nvSpPr>
          <p:spPr>
            <a:xfrm>
              <a:off x="5715000" y="4667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65" name="Freeform 65"/>
            <p:cNvSpPr/>
            <p:nvPr/>
          </p:nvSpPr>
          <p:spPr>
            <a:xfrm>
              <a:off x="8477250" y="4667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4"/>
              </a:solidFill>
              <a:tailEnd type="triangle" w="lg" len="lg"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67" name="Line 6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6738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94047" y="6578441"/>
              <a:ext cx="7312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