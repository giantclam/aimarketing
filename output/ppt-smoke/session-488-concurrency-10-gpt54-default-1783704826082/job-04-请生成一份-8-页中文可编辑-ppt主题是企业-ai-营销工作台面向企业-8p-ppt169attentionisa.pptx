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AI营销工作台：从数据到增长的全链路智能引擎</a:t>
            </a:r>
          </a:p>
          <a:p>
            <a:endParaRPr lang="en-US" dirty="0"/>
          </a:p>
          <a:p>
            <a:r>
              <a:rPr lang="zh-CN" dirty="0"/>
              <a:t>一套打通数据整合、AI分析、自动化执行与效果度量的企业级SaaS方案，让营销决策从经验驱动转向数据智能驱动。</a:t>
            </a:r>
          </a:p>
          <a:p>
            <a:endParaRPr lang="en-US" dirty="0"/>
          </a:p>
          <a:p>
            <a:r>
              <a:rPr lang="zh-CN" dirty="0"/>
              <a:t>• AI营销工作台：从数据到增长的全链路智能引擎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本简报将回答管理层最关心的五个问题</a:t>
            </a:r>
          </a:p>
          <a:p>
            <a:endParaRPr lang="en-US" dirty="0"/>
          </a:p>
          <a:p>
            <a:r>
              <a:rPr lang="zh-CN" dirty="0"/>
              <a:t>从现状痛点、架构能力、方案对比、客户实证到落地路线，每一页均为决策结论而非概念科普。</a:t>
            </a:r>
          </a:p>
          <a:p>
            <a:endParaRPr lang="en-US" dirty="0"/>
          </a:p>
          <a:p>
            <a:r>
              <a:rPr lang="zh-CN" dirty="0"/>
              <a:t>• 数据碎片化、洞察滞后、执行依赖人工的财务代价与市场窗口错失</a:t>
            </a:r>
          </a:p>
          <a:p>
            <a:r>
              <a:rPr lang="zh-CN" dirty="0"/>
              <a:t>• 数据整合→AI分析→自动化执行→效果度量的一体化引擎架构</a:t>
            </a:r>
          </a:p>
          <a:p>
            <a:r>
              <a:rPr lang="zh-CN" dirty="0"/>
              <a:t>• 从人力成本、响应速度、策略迭代、渠道协同四个维度量化差距</a:t>
            </a:r>
          </a:p>
          <a:p>
            <a:r>
              <a:rPr lang="zh-CN" dirty="0"/>
              <a:t>• 快消、电商、金融三大行业的落地案例与关键效能数据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碎片化数据×滞后的决策=增长的隐形天花板</a:t>
            </a:r>
          </a:p>
          <a:p>
            <a:endParaRPr lang="en-US" dirty="0"/>
          </a:p>
          <a:p>
            <a:r>
              <a:rPr lang="zh-CN" dirty="0"/>
              <a:t>当营销数据散落在CRM、电商、广告平台、客服系统，每一次手动整合都在稀释实时响应能力。</a:t>
            </a:r>
          </a:p>
          <a:p>
            <a:endParaRPr lang="en-US" dirty="0"/>
          </a:p>
          <a:p>
            <a:r>
              <a:rPr lang="zh-CN" dirty="0"/>
              <a:t>• 平均一个营销分析师每周消耗14小时在数据拉取与报表拼接，而非策略优化</a:t>
            </a:r>
          </a:p>
          <a:p>
            <a:r>
              <a:rPr lang="zh-CN" dirty="0"/>
              <a:t>• 活动从策划到上线通常超过3周，错过60%的实时购买意图窗口</a:t>
            </a:r>
          </a:p>
          <a:p>
            <a:r>
              <a:rPr lang="zh-CN" dirty="0"/>
              <a:t>• 缺乏统一用户画像导致不同渠道频现重复触达，拉高20%以上的获客成本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两套体系的效率分水岭</a:t>
            </a:r>
          </a:p>
          <a:p>
            <a:endParaRPr lang="en-US" dirty="0"/>
          </a:p>
          <a:p>
            <a:r>
              <a:rPr lang="zh-CN" dirty="0"/>
              <a:t>左列是大多数企业仍在运转的传统营销，右列是接入AI工作台后的运作方式——差距不在于技术，在于组织响应速度。</a:t>
            </a:r>
          </a:p>
          <a:p>
            <a:endParaRPr lang="en-US" dirty="0"/>
          </a:p>
          <a:p>
            <a:r>
              <a:rPr lang="zh-CN" dirty="0"/>
              <a:t>• 数据存在多个孤岛，每轮活动需数周手动配置；优化靠事后复盘，错失实时调整机会</a:t>
            </a:r>
          </a:p>
          <a:p>
            <a:r>
              <a:rPr lang="zh-CN" dirty="0"/>
              <a:t>• 全渠道数据自动流入统一模型，AI实时生成策略并触发执行，效果即时归因并反馈至模型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三个行业，三组落地验证</a:t>
            </a:r>
          </a:p>
          <a:p>
            <a:endParaRPr lang="en-US" dirty="0"/>
          </a:p>
          <a:p>
            <a:r>
              <a:rPr lang="zh-CN" dirty="0"/>
              <a:t>以下案例均来自已部署AI营销工作台的客户，数据经过脱敏但保持业务上下文完整。</a:t>
            </a:r>
          </a:p>
          <a:p>
            <a:endParaRPr lang="en-US" dirty="0"/>
          </a:p>
          <a:p>
            <a:r>
              <a:rPr lang="zh-CN" dirty="0"/>
              <a:t>• 通过AI自动圈定高潜力种子人群并在3天内完成三轮A/B测试，减少人工干预80%</a:t>
            </a:r>
          </a:p>
          <a:p>
            <a:r>
              <a:rPr lang="zh-CN" dirty="0"/>
              <a:t>• 实时竞价引擎根据用户微意图动态调整出价，同时匹配个性化落地页，转化率提升65%</a:t>
            </a:r>
          </a:p>
          <a:p>
            <a:r>
              <a:rPr lang="zh-CN" dirty="0"/>
              <a:t>• 合规规则内置于AI工作流，自动生成素材并通过审核，营销误触率降至0.2%以下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AI营销工作台核心效能基线</a:t>
            </a:r>
          </a:p>
          <a:p>
            <a:endParaRPr lang="en-US" dirty="0"/>
          </a:p>
          <a:p>
            <a:r>
              <a:rPr lang="zh-CN" dirty="0"/>
              <a:t>以下指标来自多位已上线客户的90天均值，可作为预期收益的保守参考。</a:t>
            </a:r>
          </a:p>
          <a:p>
            <a:endParaRPr lang="en-US" dirty="0"/>
          </a:p>
          <a:p>
            <a:r>
              <a:rPr lang="zh-CN" dirty="0"/>
              <a:t>• 日处理数据行数</a:t>
            </a:r>
          </a:p>
          <a:p>
            <a:r>
              <a:rPr lang="zh-CN" dirty="0"/>
              <a:t>• 模型预测准确率</a:t>
            </a:r>
          </a:p>
          <a:p>
            <a:r>
              <a:rPr lang="zh-CN" dirty="0"/>
              <a:t>• 活动上线时间</a:t>
            </a:r>
          </a:p>
          <a:p>
            <a:r>
              <a:rPr lang="zh-CN" dirty="0"/>
              <a:t>• 平均ROI提升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AI驱动下各渠道效能跃升</a:t>
            </a:r>
          </a:p>
          <a:p>
            <a:endParaRPr lang="en-US" dirty="0"/>
          </a:p>
          <a:p>
            <a:r>
              <a:rPr lang="zh-CN" dirty="0"/>
              <a:t>同一预算在不同渠道上，使用AI营销工作台后的关键转化指标提升。</a:t>
            </a:r>
          </a:p>
          <a:p>
            <a:endParaRPr lang="en-US" dirty="0"/>
          </a:p>
          <a:p>
            <a:r>
              <a:rPr lang="zh-CN" dirty="0"/>
              <a:t>• 基于用户实时兴趣特征动态出价与素材优选</a:t>
            </a:r>
          </a:p>
          <a:p>
            <a:r>
              <a:rPr lang="zh-CN" dirty="0"/>
              <a:t>• 个体级发送时间优化与内容自动生成</a:t>
            </a:r>
          </a:p>
          <a:p>
            <a:r>
              <a:rPr lang="zh-CN" dirty="0"/>
              <a:t>• 预测流失风险后触发精准挽留文案</a:t>
            </a:r>
          </a:p>
          <a:p>
            <a:r>
              <a:rPr lang="zh-CN" dirty="0"/>
              <a:t>• 内容生成+分发时机协同编排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立即启动：90天AI营销引擎落地路线图</a:t>
            </a:r>
          </a:p>
          <a:p>
            <a:endParaRPr lang="en-US" dirty="0"/>
          </a:p>
          <a:p>
            <a:r>
              <a:rPr lang="zh-CN" dirty="0"/>
              <a:t>以下三步并非线性等待，而是并行推进，确保每一阶段都能快速展示可衡量的业务价值。</a:t>
            </a:r>
          </a:p>
          <a:p>
            <a:endParaRPr lang="en-US" dirty="0"/>
          </a:p>
          <a:p>
            <a:r>
              <a:rPr lang="zh-CN" dirty="0"/>
              <a:t>• 完成主流渠道数据接入，建立统一用户ID体系，梳理关键营销规则并搭建基线看板</a:t>
            </a:r>
          </a:p>
          <a:p>
            <a:r>
              <a:rPr lang="zh-CN" dirty="0"/>
              <a:t>• 选定1-2个高价值场景进行模型训练与沙盒测试，产出初步效果对比报告</a:t>
            </a:r>
          </a:p>
          <a:p>
            <a:r>
              <a:rPr lang="zh-CN" dirty="0"/>
              <a:t>• 全渠道推广AI驱动策略，实时监控归因与异常，迭代模型并固化运营SOP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accent4"/>
              </a:fgClr>
              <a:bgClr>
                <a:schemeClr val="lt1"/>
              </a:bgClr>
            </a:patt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0" y="0"/>
            <a:ext cx="11811000" cy="6858000"/>
            <a:chOff x="0" y="0"/>
            <a:chExt cx="11811000" cy="6858000"/>
          </a:xfrm>
        </p:grpSpPr>
        <p:sp>
          <p:nvSpPr>
            <p:cNvPr id="6" name="Rectangle 6"/>
            <p:cNvSpPr/>
            <p:nvPr/>
          </p:nvSpPr>
          <p:spPr>
            <a:xfrm>
              <a:off x="0" y="0"/>
              <a:ext cx="4953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95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0"/>
              <a:ext cx="4953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6477000"/>
              <a:ext cx="4953000" cy="381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77000" y="1752600"/>
              <a:ext cx="5334000" cy="4819650"/>
              <a:chOff x="6477000" y="1752600"/>
              <a:chExt cx="5334000" cy="48196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705600" y="175260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610600" y="175260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0515600" y="1752600"/>
                <a:ext cx="304800" cy="304800"/>
              </a:xfrm>
              <a:prstGeom prst="ellipse">
                <a:avLst/>
              </a:prstGeom>
              <a:solidFill>
                <a:schemeClr val="accent2">
                  <a:alpha val="3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7010400" y="19050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8915400" y="19050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8515350" y="1847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10420350" y="1847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477000" y="285750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76200" y="0"/>
                    </a:moveTo>
                    <a:lnTo>
                      <a:pt x="685800" y="0"/>
                    </a:lnTo>
                    <a:cubicBezTo>
                      <a:pt x="727884" y="0"/>
                      <a:pt x="762000" y="34116"/>
                      <a:pt x="762000" y="76200"/>
                    </a:cubicBezTo>
                    <a:lnTo>
                      <a:pt x="762000" y="685800"/>
                    </a:lnTo>
                    <a:cubicBezTo>
                      <a:pt x="762000" y="727884"/>
                      <a:pt x="727884" y="762000"/>
                      <a:pt x="685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0" y="285750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76200" y="0"/>
                    </a:moveTo>
                    <a:lnTo>
                      <a:pt x="685800" y="0"/>
                    </a:lnTo>
                    <a:cubicBezTo>
                      <a:pt x="727884" y="0"/>
                      <a:pt x="762000" y="34116"/>
                      <a:pt x="762000" y="76200"/>
                    </a:cubicBezTo>
                    <a:lnTo>
                      <a:pt x="762000" y="685800"/>
                    </a:lnTo>
                    <a:cubicBezTo>
                      <a:pt x="762000" y="727884"/>
                      <a:pt x="727884" y="762000"/>
                      <a:pt x="685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287000" y="2857500"/>
                <a:ext cx="762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62000">
                    <a:moveTo>
                      <a:pt x="76200" y="0"/>
                    </a:moveTo>
                    <a:lnTo>
                      <a:pt x="685800" y="0"/>
                    </a:lnTo>
                    <a:cubicBezTo>
                      <a:pt x="727884" y="0"/>
                      <a:pt x="762000" y="34116"/>
                      <a:pt x="762000" y="76200"/>
                    </a:cubicBezTo>
                    <a:lnTo>
                      <a:pt x="762000" y="685800"/>
                    </a:lnTo>
                    <a:cubicBezTo>
                      <a:pt x="762000" y="727884"/>
                      <a:pt x="727884" y="762000"/>
                      <a:pt x="685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6667500" y="3048000"/>
                <a:ext cx="381000" cy="3810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8572500" y="3048000"/>
                <a:ext cx="381000" cy="3810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10477500" y="3048000"/>
                <a:ext cx="381000" cy="381000"/>
              </a:xfrm>
              <a:prstGeom prst="ellipse">
                <a:avLst/>
              </a:prstGeom>
              <a:solidFill>
                <a:schemeClr val="accent2">
                  <a:alpha val="2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858000" y="2057400"/>
                <a:ext cx="9525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0100">
                    <a:moveTo>
                      <a:pt x="0" y="0"/>
                    </a:moveTo>
                    <a:lnTo>
                      <a:pt x="0" y="80010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763000" y="2057400"/>
                <a:ext cx="9525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0100">
                    <a:moveTo>
                      <a:pt x="0" y="0"/>
                    </a:moveTo>
                    <a:lnTo>
                      <a:pt x="0" y="80010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10668000" y="2057400"/>
                <a:ext cx="9525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0100">
                    <a:moveTo>
                      <a:pt x="0" y="0"/>
                    </a:moveTo>
                    <a:lnTo>
                      <a:pt x="0" y="80010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9000" y="4191000"/>
                <a:ext cx="1524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00">
                    <a:moveTo>
                      <a:pt x="114300" y="0"/>
                    </a:moveTo>
                    <a:lnTo>
                      <a:pt x="1409700" y="0"/>
                    </a:lnTo>
                    <a:cubicBezTo>
                      <a:pt x="1472826" y="0"/>
                      <a:pt x="1524000" y="51174"/>
                      <a:pt x="1524000" y="114300"/>
                    </a:cubicBezTo>
                    <a:lnTo>
                      <a:pt x="1524000" y="838200"/>
                    </a:lnTo>
                    <a:cubicBezTo>
                      <a:pt x="1524000" y="901326"/>
                      <a:pt x="1472826" y="952500"/>
                      <a:pt x="1409700" y="952500"/>
                    </a:cubicBezTo>
                    <a:lnTo>
                      <a:pt x="114300" y="952500"/>
                    </a:lnTo>
                    <a:cubicBezTo>
                      <a:pt x="51174" y="952500"/>
                      <a:pt x="0" y="901326"/>
                      <a:pt x="0" y="838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525000" y="4191000"/>
                <a:ext cx="1524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00">
                    <a:moveTo>
                      <a:pt x="114300" y="0"/>
                    </a:moveTo>
                    <a:lnTo>
                      <a:pt x="1409700" y="0"/>
                    </a:lnTo>
                    <a:cubicBezTo>
                      <a:pt x="1472826" y="0"/>
                      <a:pt x="1524000" y="51174"/>
                      <a:pt x="1524000" y="114300"/>
                    </a:cubicBezTo>
                    <a:lnTo>
                      <a:pt x="1524000" y="838200"/>
                    </a:lnTo>
                    <a:cubicBezTo>
                      <a:pt x="1524000" y="901326"/>
                      <a:pt x="1472826" y="952500"/>
                      <a:pt x="1409700" y="952500"/>
                    </a:cubicBezTo>
                    <a:lnTo>
                      <a:pt x="114300" y="952500"/>
                    </a:lnTo>
                    <a:cubicBezTo>
                      <a:pt x="51174" y="952500"/>
                      <a:pt x="0" y="901326"/>
                      <a:pt x="0" y="838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>
                  <a:alpha val="1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7429500" y="4762500"/>
                <a:ext cx="190500" cy="238125"/>
              </a:xfrm>
              <a:prstGeom prst="rect">
                <a:avLst/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67625" y="4619625"/>
                <a:ext cx="190500" cy="381000"/>
              </a:xfrm>
              <a:prstGeom prst="rect">
                <a:avLst/>
              </a:pr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905750" y="4524375"/>
                <a:ext cx="190500" cy="476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143875" y="4381500"/>
                <a:ext cx="190500" cy="619125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953625" y="4333875"/>
                <a:ext cx="666750" cy="666750"/>
              </a:xfrm>
              <a:prstGeom prst="ellipse">
                <a:avLst/>
              </a:prstGeom>
              <a:noFill/>
              <a:ln w="76200">
                <a:solidFill>
                  <a:schemeClr val="accent4"/>
                </a:solidFill>
              </a:ln>
            </p:spPr>
          </p:sp>
          <p:sp>
            <p:nvSpPr>
              <p:cNvPr id="32" name="Arc 32"/>
              <p:cNvSpPr/>
              <p:nvPr/>
            </p:nvSpPr>
            <p:spPr>
              <a:xfrm>
                <a:off x="9915526" y="4295775"/>
                <a:ext cx="742949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742949" h="742950">
                    <a:moveTo>
                      <a:pt x="371474" y="0"/>
                    </a:moveTo>
                    <a:lnTo>
                      <a:pt x="407900" y="1790"/>
                    </a:lnTo>
                    <a:lnTo>
                      <a:pt x="443974" y="7144"/>
                    </a:lnTo>
                    <a:lnTo>
                      <a:pt x="479350" y="16008"/>
                    </a:lnTo>
                    <a:lnTo>
                      <a:pt x="513686" y="28299"/>
                    </a:lnTo>
                    <a:lnTo>
                      <a:pt x="546651" y="43898"/>
                    </a:lnTo>
                    <a:lnTo>
                      <a:pt x="577928" y="62654"/>
                    </a:lnTo>
                    <a:lnTo>
                      <a:pt x="607215" y="84386"/>
                    </a:lnTo>
                    <a:lnTo>
                      <a:pt x="634230" y="108886"/>
                    </a:lnTo>
                    <a:lnTo>
                      <a:pt x="658712" y="135916"/>
                    </a:lnTo>
                    <a:lnTo>
                      <a:pt x="680426" y="165217"/>
                    </a:lnTo>
                    <a:lnTo>
                      <a:pt x="699162" y="196505"/>
                    </a:lnTo>
                    <a:lnTo>
                      <a:pt x="714740" y="229480"/>
                    </a:lnTo>
                    <a:lnTo>
                      <a:pt x="727009" y="263824"/>
                    </a:lnTo>
                    <a:lnTo>
                      <a:pt x="735852" y="299205"/>
                    </a:lnTo>
                    <a:lnTo>
                      <a:pt x="741182" y="335283"/>
                    </a:lnTo>
                    <a:lnTo>
                      <a:pt x="742949" y="371710"/>
                    </a:lnTo>
                    <a:lnTo>
                      <a:pt x="741136" y="408134"/>
                    </a:lnTo>
                    <a:lnTo>
                      <a:pt x="735760" y="444205"/>
                    </a:lnTo>
                    <a:lnTo>
                      <a:pt x="726873" y="479575"/>
                    </a:lnTo>
                    <a:lnTo>
                      <a:pt x="714560" y="513904"/>
                    </a:lnTo>
                    <a:lnTo>
                      <a:pt x="698941" y="546859"/>
                    </a:lnTo>
                    <a:lnTo>
                      <a:pt x="680165" y="578124"/>
                    </a:lnTo>
                    <a:lnTo>
                      <a:pt x="658414" y="607397"/>
                    </a:lnTo>
                    <a:lnTo>
                      <a:pt x="633898" y="634396"/>
                    </a:lnTo>
                    <a:lnTo>
                      <a:pt x="606852" y="658862"/>
                    </a:lnTo>
                    <a:lnTo>
                      <a:pt x="577537" y="680557"/>
                    </a:lnTo>
                    <a:lnTo>
                      <a:pt x="546237" y="699273"/>
                    </a:lnTo>
                    <a:lnTo>
                      <a:pt x="513252" y="714830"/>
                    </a:lnTo>
                    <a:lnTo>
                      <a:pt x="478900" y="727078"/>
                    </a:lnTo>
                    <a:lnTo>
                      <a:pt x="443514" y="735898"/>
                    </a:lnTo>
                    <a:lnTo>
                      <a:pt x="407432" y="741206"/>
                    </a:lnTo>
                    <a:lnTo>
                      <a:pt x="371005" y="742950"/>
                    </a:lnTo>
                    <a:lnTo>
                      <a:pt x="334581" y="741113"/>
                    </a:lnTo>
                    <a:lnTo>
                      <a:pt x="298514" y="735715"/>
                    </a:lnTo>
                    <a:lnTo>
                      <a:pt x="263149" y="726805"/>
                    </a:lnTo>
                    <a:lnTo>
                      <a:pt x="228829" y="714471"/>
                    </a:lnTo>
                    <a:lnTo>
                      <a:pt x="195883" y="698830"/>
                    </a:lnTo>
                    <a:lnTo>
                      <a:pt x="164630" y="680035"/>
                    </a:lnTo>
                    <a:lnTo>
                      <a:pt x="135371" y="658266"/>
                    </a:lnTo>
                    <a:lnTo>
                      <a:pt x="108387" y="633732"/>
                    </a:lnTo>
                    <a:lnTo>
                      <a:pt x="83939" y="606671"/>
                    </a:lnTo>
                    <a:lnTo>
                      <a:pt x="62262" y="577343"/>
                    </a:lnTo>
                    <a:lnTo>
                      <a:pt x="43566" y="546030"/>
                    </a:lnTo>
                    <a:lnTo>
                      <a:pt x="28030" y="513035"/>
                    </a:lnTo>
                    <a:lnTo>
                      <a:pt x="15804" y="478676"/>
                    </a:lnTo>
                    <a:lnTo>
                      <a:pt x="7006" y="443284"/>
                    </a:lnTo>
                    <a:lnTo>
                      <a:pt x="1721" y="407199"/>
                    </a:lnTo>
                    <a:lnTo>
                      <a:pt x="0" y="370770"/>
                    </a:lnTo>
                    <a:lnTo>
                      <a:pt x="76200" y="370915"/>
                    </a:lnTo>
                    <a:lnTo>
                      <a:pt x="77568" y="399871"/>
                    </a:lnTo>
                    <a:lnTo>
                      <a:pt x="81769" y="428554"/>
                    </a:lnTo>
                    <a:lnTo>
                      <a:pt x="88762" y="456686"/>
                    </a:lnTo>
                    <a:lnTo>
                      <a:pt x="98480" y="483997"/>
                    </a:lnTo>
                    <a:lnTo>
                      <a:pt x="110829" y="510224"/>
                    </a:lnTo>
                    <a:lnTo>
                      <a:pt x="125690" y="535113"/>
                    </a:lnTo>
                    <a:lnTo>
                      <a:pt x="142920" y="558425"/>
                    </a:lnTo>
                    <a:lnTo>
                      <a:pt x="162354" y="579936"/>
                    </a:lnTo>
                    <a:lnTo>
                      <a:pt x="183802" y="599437"/>
                    </a:lnTo>
                    <a:lnTo>
                      <a:pt x="207060" y="616741"/>
                    </a:lnTo>
                    <a:lnTo>
                      <a:pt x="231902" y="631681"/>
                    </a:lnTo>
                    <a:lnTo>
                      <a:pt x="258090" y="644113"/>
                    </a:lnTo>
                    <a:lnTo>
                      <a:pt x="285370" y="653917"/>
                    </a:lnTo>
                    <a:lnTo>
                      <a:pt x="313480" y="660999"/>
                    </a:lnTo>
                    <a:lnTo>
                      <a:pt x="342149" y="665290"/>
                    </a:lnTo>
                    <a:lnTo>
                      <a:pt x="371101" y="666750"/>
                    </a:lnTo>
                    <a:lnTo>
                      <a:pt x="400056" y="665363"/>
                    </a:lnTo>
                    <a:lnTo>
                      <a:pt x="428736" y="661144"/>
                    </a:lnTo>
                    <a:lnTo>
                      <a:pt x="456864" y="654134"/>
                    </a:lnTo>
                    <a:lnTo>
                      <a:pt x="484169" y="644398"/>
                    </a:lnTo>
                    <a:lnTo>
                      <a:pt x="510388" y="632033"/>
                    </a:lnTo>
                    <a:lnTo>
                      <a:pt x="535268" y="617156"/>
                    </a:lnTo>
                    <a:lnTo>
                      <a:pt x="558569" y="599911"/>
                    </a:lnTo>
                    <a:lnTo>
                      <a:pt x="580067" y="580464"/>
                    </a:lnTo>
                    <a:lnTo>
                      <a:pt x="599555" y="559003"/>
                    </a:lnTo>
                    <a:lnTo>
                      <a:pt x="616844" y="535734"/>
                    </a:lnTo>
                    <a:lnTo>
                      <a:pt x="631768" y="510883"/>
                    </a:lnTo>
                    <a:lnTo>
                      <a:pt x="644183" y="484687"/>
                    </a:lnTo>
                    <a:lnTo>
                      <a:pt x="653970" y="457401"/>
                    </a:lnTo>
                    <a:lnTo>
                      <a:pt x="661035" y="429286"/>
                    </a:lnTo>
                    <a:lnTo>
                      <a:pt x="665308" y="400614"/>
                    </a:lnTo>
                    <a:lnTo>
                      <a:pt x="666749" y="371662"/>
                    </a:lnTo>
                    <a:lnTo>
                      <a:pt x="665345" y="342707"/>
                    </a:lnTo>
                    <a:lnTo>
                      <a:pt x="661108" y="314030"/>
                    </a:lnTo>
                    <a:lnTo>
                      <a:pt x="654079" y="285906"/>
                    </a:lnTo>
                    <a:lnTo>
                      <a:pt x="644326" y="258608"/>
                    </a:lnTo>
                    <a:lnTo>
                      <a:pt x="631944" y="232397"/>
                    </a:lnTo>
                    <a:lnTo>
                      <a:pt x="617051" y="207526"/>
                    </a:lnTo>
                    <a:lnTo>
                      <a:pt x="599792" y="184236"/>
                    </a:lnTo>
                    <a:lnTo>
                      <a:pt x="580331" y="162750"/>
                    </a:lnTo>
                    <a:lnTo>
                      <a:pt x="558858" y="143276"/>
                    </a:lnTo>
                    <a:lnTo>
                      <a:pt x="535579" y="126002"/>
                    </a:lnTo>
                    <a:lnTo>
                      <a:pt x="510717" y="111093"/>
                    </a:lnTo>
                    <a:lnTo>
                      <a:pt x="484514" y="98694"/>
                    </a:lnTo>
                    <a:lnTo>
                      <a:pt x="457222" y="88925"/>
                    </a:lnTo>
                    <a:lnTo>
                      <a:pt x="429103" y="81878"/>
                    </a:lnTo>
                    <a:lnTo>
                      <a:pt x="400428" y="77623"/>
                    </a:lnTo>
                    <a:lnTo>
                      <a:pt x="371474" y="762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Arc 33"/>
              <p:cNvSpPr/>
              <p:nvPr/>
            </p:nvSpPr>
            <p:spPr>
              <a:xfrm>
                <a:off x="9915526" y="4295776"/>
                <a:ext cx="372414" cy="370914"/>
              </a:xfrm>
              <a:custGeom>
                <a:avLst/>
                <a:gdLst/>
                <a:ahLst/>
                <a:cxnLst/>
                <a:rect l="l" t="t" r="r" b="b"/>
                <a:pathLst>
                  <a:path w="372414" h="370914">
                    <a:moveTo>
                      <a:pt x="0" y="370769"/>
                    </a:moveTo>
                    <a:lnTo>
                      <a:pt x="1859" y="334347"/>
                    </a:lnTo>
                    <a:lnTo>
                      <a:pt x="7281" y="298283"/>
                    </a:lnTo>
                    <a:lnTo>
                      <a:pt x="16213" y="262924"/>
                    </a:lnTo>
                    <a:lnTo>
                      <a:pt x="28569" y="228612"/>
                    </a:lnTo>
                    <a:lnTo>
                      <a:pt x="44230" y="195676"/>
                    </a:lnTo>
                    <a:lnTo>
                      <a:pt x="63045" y="164435"/>
                    </a:lnTo>
                    <a:lnTo>
                      <a:pt x="84833" y="135189"/>
                    </a:lnTo>
                    <a:lnTo>
                      <a:pt x="109384" y="108221"/>
                    </a:lnTo>
                    <a:lnTo>
                      <a:pt x="136460" y="83790"/>
                    </a:lnTo>
                    <a:lnTo>
                      <a:pt x="165802" y="62131"/>
                    </a:lnTo>
                    <a:lnTo>
                      <a:pt x="197126" y="43455"/>
                    </a:lnTo>
                    <a:lnTo>
                      <a:pt x="230131" y="27940"/>
                    </a:lnTo>
                    <a:lnTo>
                      <a:pt x="264498" y="15736"/>
                    </a:lnTo>
                    <a:lnTo>
                      <a:pt x="299896" y="6960"/>
                    </a:lnTo>
                    <a:lnTo>
                      <a:pt x="335984" y="1698"/>
                    </a:lnTo>
                    <a:lnTo>
                      <a:pt x="372414" y="0"/>
                    </a:lnTo>
                    <a:lnTo>
                      <a:pt x="372221" y="76200"/>
                    </a:lnTo>
                    <a:lnTo>
                      <a:pt x="343264" y="77550"/>
                    </a:lnTo>
                    <a:lnTo>
                      <a:pt x="314579" y="81732"/>
                    </a:lnTo>
                    <a:lnTo>
                      <a:pt x="286442" y="88707"/>
                    </a:lnTo>
                    <a:lnTo>
                      <a:pt x="259125" y="98408"/>
                    </a:lnTo>
                    <a:lnTo>
                      <a:pt x="232890" y="110741"/>
                    </a:lnTo>
                    <a:lnTo>
                      <a:pt x="207991" y="125586"/>
                    </a:lnTo>
                    <a:lnTo>
                      <a:pt x="184668" y="142802"/>
                    </a:lnTo>
                    <a:lnTo>
                      <a:pt x="163146" y="162221"/>
                    </a:lnTo>
                    <a:lnTo>
                      <a:pt x="143631" y="183658"/>
                    </a:lnTo>
                    <a:lnTo>
                      <a:pt x="126313" y="206904"/>
                    </a:lnTo>
                    <a:lnTo>
                      <a:pt x="111357" y="231737"/>
                    </a:lnTo>
                    <a:lnTo>
                      <a:pt x="98909" y="257917"/>
                    </a:lnTo>
                    <a:lnTo>
                      <a:pt x="89087" y="285191"/>
                    </a:lnTo>
                    <a:lnTo>
                      <a:pt x="81987" y="313296"/>
                    </a:lnTo>
                    <a:lnTo>
                      <a:pt x="77678" y="341963"/>
                    </a:lnTo>
                    <a:lnTo>
                      <a:pt x="76200" y="37091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620000" y="36195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4288">
                <a:solidFill>
                  <a:srgbClr val="A0AEC0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620000" y="2857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14288">
                <a:solidFill>
                  <a:srgbClr val="A0AEC0"/>
                </a:solidFill>
                <a:prstDash val="dash"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10287000" y="361950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">
                    <a:moveTo>
                      <a:pt x="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8001000" y="514350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8" name="Polygon 38"/>
              <p:cNvSpPr/>
              <p:nvPr/>
            </p:nvSpPr>
            <p:spPr>
              <a:xfrm>
                <a:off x="10953750" y="50863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87000" y="5524500"/>
                <a:ext cx="1524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571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495300"/>
                    </a:lnTo>
                    <a:cubicBezTo>
                      <a:pt x="1524000" y="537384"/>
                      <a:pt x="1489884" y="571500"/>
                      <a:pt x="14478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782300" y="5744528"/>
                <a:ext cx="5334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OUTPUT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10763250" y="6000750"/>
                <a:ext cx="571500" cy="5715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10858500" y="6096000"/>
                <a:ext cx="381000" cy="381000"/>
              </a:xfrm>
              <a:prstGeom prst="ellipse">
                <a:avLst/>
              </a:prstGeom>
              <a:noFill/>
              <a:ln w="14288">
                <a:solidFill>
                  <a:schemeClr val="accent2"/>
                </a:solidFill>
                <a:custDash>
                  <a:ds d="200000" sp="200000"/>
                </a:custDash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0972800" y="62103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62" name="Group 62"/>
          <p:cNvGrpSpPr/>
          <p:nvPr/>
        </p:nvGrpSpPr>
        <p:grpSpPr>
          <a:xfrm>
            <a:off x="555498" y="1029652"/>
            <a:ext cx="3373942" cy="5196459"/>
            <a:chOff x="555498" y="1029652"/>
            <a:chExt cx="3373942" cy="5196459"/>
          </a:xfrm>
        </p:grpSpPr>
        <p:sp>
          <p:nvSpPr>
            <p:cNvPr id="46" name="TextBox 46"/>
            <p:cNvSpPr txBox="1"/>
            <p:nvPr/>
          </p:nvSpPr>
          <p:spPr>
            <a:xfrm>
              <a:off x="566166" y="1029652"/>
              <a:ext cx="1049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3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5498" y="1564958"/>
              <a:ext cx="33739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AI营销工作台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" y="2095500"/>
              <a:ext cx="76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0832" y="234505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从数据到增长的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0832" y="272605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全链路智能引擎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4642" y="3569018"/>
              <a:ext cx="248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一套打通数据整合、AI分析、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4642" y="3835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自动化执行与效果度量的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4642" y="4102418"/>
              <a:ext cx="2480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企业级SaaS方案，让营销决策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4642" y="43691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从经验驱动转向数据智能驱动。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571500" y="5487352"/>
              <a:ext cx="3271723" cy="738759"/>
              <a:chOff x="571500" y="5487352"/>
              <a:chExt cx="3271723" cy="738759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71500" y="5524500"/>
                <a:ext cx="57150" cy="57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18566" y="5487352"/>
                <a:ext cx="31246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AI营销工作台：从数据到增长的全链路智能引擎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571500" y="5791200"/>
                <a:ext cx="57150" cy="571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18566" y="57540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现状概览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571500" y="6057900"/>
                <a:ext cx="57150" cy="571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18566" y="60207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核心风险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66738" y="0"/>
            <a:ext cx="11058524" cy="6740366"/>
            <a:chOff x="566738" y="0"/>
            <a:chExt cx="11058524" cy="6740366"/>
          </a:xfrm>
        </p:grpSpPr>
        <p:sp>
          <p:nvSpPr>
            <p:cNvPr id="63" name="TextBox 63"/>
            <p:cNvSpPr txBox="1"/>
            <p:nvPr/>
          </p:nvSpPr>
          <p:spPr>
            <a:xfrm>
              <a:off x="112436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6738" y="6578441"/>
              <a:ext cx="11830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产品发布 · 企业AI营销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143500" y="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5143500" y="571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</p:grpSp>
      <p:sp>
        <p:nvSpPr>
          <p:cNvPr id="11" name="Line 11"/>
          <p:cNvSpPr/>
          <p:nvPr/>
        </p:nvSpPr>
        <p:spPr>
          <a:xfrm>
            <a:off x="571500" y="1238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166" y="553402"/>
            <a:ext cx="6649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模块目录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784" y="661035"/>
            <a:ext cx="688268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本简报将回答管理层最关心的五个问题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880" y="1457325"/>
            <a:ext cx="8496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从现状痛点、架构能力、方案对比、客户实证到落地路线，每一页均为决策结论而非概念科普。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2095500"/>
            <a:ext cx="5585136" cy="4023551"/>
            <a:chOff x="571500" y="2095500"/>
            <a:chExt cx="5585136" cy="4023551"/>
          </a:xfrm>
        </p:grpSpPr>
        <p:grpSp>
          <p:nvGrpSpPr>
            <p:cNvPr id="21" name="Group 21"/>
            <p:cNvGrpSpPr/>
            <p:nvPr/>
          </p:nvGrpSpPr>
          <p:grpSpPr>
            <a:xfrm>
              <a:off x="571500" y="2095500"/>
              <a:ext cx="5203488" cy="594551"/>
              <a:chOff x="571500" y="2095500"/>
              <a:chExt cx="5203488" cy="5945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71500" y="20955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76200" y="0"/>
                    </a:moveTo>
                    <a:lnTo>
                      <a:pt x="457200" y="0"/>
                    </a:lnTo>
                    <a:cubicBezTo>
                      <a:pt x="499284" y="0"/>
                      <a:pt x="533400" y="34116"/>
                      <a:pt x="533400" y="76200"/>
                    </a:cubicBezTo>
                    <a:lnTo>
                      <a:pt x="533400" y="457200"/>
                    </a:lnTo>
                    <a:cubicBezTo>
                      <a:pt x="533400" y="499284"/>
                      <a:pt x="499284" y="533400"/>
                      <a:pt x="457200" y="533400"/>
                    </a:cubicBezTo>
                    <a:lnTo>
                      <a:pt x="76200" y="533400"/>
                    </a:lnTo>
                    <a:cubicBezTo>
                      <a:pt x="34116" y="533400"/>
                      <a:pt x="0" y="499284"/>
                      <a:pt x="0" y="4572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94281" y="226028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01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1238250" y="236220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8" name="Polygon 18"/>
              <p:cNvSpPr/>
              <p:nvPr/>
            </p:nvSpPr>
            <p:spPr>
              <a:xfrm>
                <a:off x="2286000" y="23050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517267" y="2197418"/>
                <a:ext cx="32577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数据碎片化、洞察滞后、执行依赖人工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517267" y="24260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财务代价与市场窗口错失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2952750"/>
              <a:ext cx="5487924" cy="594551"/>
              <a:chOff x="571500" y="2952750"/>
              <a:chExt cx="5487924" cy="59455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71500" y="295275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76200" y="0"/>
                    </a:moveTo>
                    <a:lnTo>
                      <a:pt x="457200" y="0"/>
                    </a:lnTo>
                    <a:cubicBezTo>
                      <a:pt x="499284" y="0"/>
                      <a:pt x="533400" y="34116"/>
                      <a:pt x="533400" y="76200"/>
                    </a:cubicBezTo>
                    <a:lnTo>
                      <a:pt x="533400" y="457200"/>
                    </a:lnTo>
                    <a:cubicBezTo>
                      <a:pt x="533400" y="499284"/>
                      <a:pt x="499284" y="533400"/>
                      <a:pt x="457200" y="533400"/>
                    </a:cubicBezTo>
                    <a:lnTo>
                      <a:pt x="76200" y="533400"/>
                    </a:lnTo>
                    <a:cubicBezTo>
                      <a:pt x="34116" y="533400"/>
                      <a:pt x="0" y="499284"/>
                      <a:pt x="0" y="4572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94281" y="311753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02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1238250" y="321945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5" name="Polygon 25"/>
              <p:cNvSpPr/>
              <p:nvPr/>
            </p:nvSpPr>
            <p:spPr>
              <a:xfrm>
                <a:off x="2286000" y="31623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517267" y="3054668"/>
                <a:ext cx="3542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数据整合→AI分析→自动化执行→效果度量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517267" y="32832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一体化引擎架构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71500" y="3810000"/>
              <a:ext cx="5585136" cy="594551"/>
              <a:chOff x="571500" y="3810000"/>
              <a:chExt cx="5585136" cy="59455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71500" y="38100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76200" y="0"/>
                    </a:moveTo>
                    <a:lnTo>
                      <a:pt x="457200" y="0"/>
                    </a:lnTo>
                    <a:cubicBezTo>
                      <a:pt x="499284" y="0"/>
                      <a:pt x="533400" y="34116"/>
                      <a:pt x="533400" y="76200"/>
                    </a:cubicBezTo>
                    <a:lnTo>
                      <a:pt x="533400" y="457200"/>
                    </a:lnTo>
                    <a:cubicBezTo>
                      <a:pt x="533400" y="499284"/>
                      <a:pt x="499284" y="533400"/>
                      <a:pt x="457200" y="533400"/>
                    </a:cubicBezTo>
                    <a:lnTo>
                      <a:pt x="76200" y="533400"/>
                    </a:lnTo>
                    <a:cubicBezTo>
                      <a:pt x="34116" y="533400"/>
                      <a:pt x="0" y="499284"/>
                      <a:pt x="0" y="4572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94281" y="397478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03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1238250" y="407670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Polygon 32"/>
              <p:cNvSpPr/>
              <p:nvPr/>
            </p:nvSpPr>
            <p:spPr>
              <a:xfrm>
                <a:off x="2286000" y="40195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517267" y="3911918"/>
                <a:ext cx="36393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人力成本、响应速度、策略迭代、渠道协同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517267" y="41405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四个维度量化差距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71500" y="4667250"/>
              <a:ext cx="4249369" cy="594551"/>
              <a:chOff x="571500" y="4667250"/>
              <a:chExt cx="4249369" cy="5945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71500" y="466725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76200" y="0"/>
                    </a:moveTo>
                    <a:lnTo>
                      <a:pt x="457200" y="0"/>
                    </a:lnTo>
                    <a:cubicBezTo>
                      <a:pt x="499284" y="0"/>
                      <a:pt x="533400" y="34116"/>
                      <a:pt x="533400" y="76200"/>
                    </a:cubicBezTo>
                    <a:lnTo>
                      <a:pt x="533400" y="457200"/>
                    </a:lnTo>
                    <a:cubicBezTo>
                      <a:pt x="533400" y="499284"/>
                      <a:pt x="499284" y="533400"/>
                      <a:pt x="457200" y="533400"/>
                    </a:cubicBezTo>
                    <a:lnTo>
                      <a:pt x="76200" y="533400"/>
                    </a:lnTo>
                    <a:cubicBezTo>
                      <a:pt x="34116" y="533400"/>
                      <a:pt x="0" y="499284"/>
                      <a:pt x="0" y="4572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94281" y="483203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04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1238250" y="493395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9" name="Polygon 39"/>
              <p:cNvSpPr/>
              <p:nvPr/>
            </p:nvSpPr>
            <p:spPr>
              <a:xfrm>
                <a:off x="2286000" y="48768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17267" y="4769168"/>
                <a:ext cx="23036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快消、电商、金融三大行业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517267" y="49977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落地案例与关键效能数据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71500" y="5524500"/>
              <a:ext cx="4821841" cy="594551"/>
              <a:chOff x="571500" y="5524500"/>
              <a:chExt cx="4821841" cy="59455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71500" y="55245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76200" y="0"/>
                    </a:moveTo>
                    <a:lnTo>
                      <a:pt x="457200" y="0"/>
                    </a:lnTo>
                    <a:cubicBezTo>
                      <a:pt x="499284" y="0"/>
                      <a:pt x="533400" y="34116"/>
                      <a:pt x="533400" y="76200"/>
                    </a:cubicBezTo>
                    <a:lnTo>
                      <a:pt x="533400" y="457200"/>
                    </a:lnTo>
                    <a:cubicBezTo>
                      <a:pt x="533400" y="499284"/>
                      <a:pt x="499284" y="533400"/>
                      <a:pt x="457200" y="533400"/>
                    </a:cubicBezTo>
                    <a:lnTo>
                      <a:pt x="76200" y="533400"/>
                    </a:lnTo>
                    <a:cubicBezTo>
                      <a:pt x="34116" y="533400"/>
                      <a:pt x="0" y="499284"/>
                      <a:pt x="0" y="4572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4281" y="568928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05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1238250" y="579120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2286000" y="57340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2517267" y="5626418"/>
                <a:ext cx="28760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数据准备、模型试点、全渠道推广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517267" y="58550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路线图与资源需求概览</a:t>
                </a:r>
              </a:p>
            </p:txBody>
          </p:sp>
        </p:grpSp>
      </p:grpSp>
      <p:sp>
        <p:nvSpPr>
          <p:cNvPr id="51" name="Freeform 51"/>
          <p:cNvSpPr/>
          <p:nvPr/>
        </p:nvSpPr>
        <p:spPr>
          <a:xfrm>
            <a:off x="11049000" y="2095500"/>
            <a:ext cx="57150" cy="3810000"/>
          </a:xfrm>
          <a:custGeom>
            <a:avLst/>
            <a:gdLst/>
            <a:ahLst/>
            <a:cxnLst/>
            <a:rect l="l" t="t" r="r" b="b"/>
            <a:pathLst>
              <a:path w="57150" h="3810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3781425"/>
                </a:lnTo>
                <a:cubicBezTo>
                  <a:pt x="57150" y="3797207"/>
                  <a:pt x="44357" y="3810000"/>
                  <a:pt x="28575" y="3810000"/>
                </a:cubicBezTo>
                <a:lnTo>
                  <a:pt x="28575" y="3810000"/>
                </a:lnTo>
                <a:cubicBezTo>
                  <a:pt x="12793" y="3810000"/>
                  <a:pt x="0" y="3797207"/>
                  <a:pt x="0" y="3781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11144250" y="2381250"/>
            <a:ext cx="57150" cy="3333750"/>
          </a:xfrm>
          <a:custGeom>
            <a:avLst/>
            <a:gdLst/>
            <a:ahLst/>
            <a:cxnLst/>
            <a:rect l="l" t="t" r="r" b="b"/>
            <a:pathLst>
              <a:path w="57150" h="3333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3305175"/>
                </a:lnTo>
                <a:cubicBezTo>
                  <a:pt x="57150" y="3320957"/>
                  <a:pt x="44357" y="3333750"/>
                  <a:pt x="28575" y="3333750"/>
                </a:cubicBezTo>
                <a:lnTo>
                  <a:pt x="28575" y="3333750"/>
                </a:lnTo>
                <a:cubicBezTo>
                  <a:pt x="12793" y="3333750"/>
                  <a:pt x="0" y="3320957"/>
                  <a:pt x="0" y="3305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10629900" y="2057400"/>
            <a:ext cx="457200" cy="45720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54" name="Ellipse 54"/>
          <p:cNvSpPr/>
          <p:nvPr/>
        </p:nvSpPr>
        <p:spPr>
          <a:xfrm>
            <a:off x="10706100" y="3086100"/>
            <a:ext cx="304800" cy="304800"/>
          </a:xfrm>
          <a:prstGeom prst="ellipse">
            <a:avLst/>
          </a:prstGeom>
          <a:noFill/>
          <a:ln w="14288">
            <a:solidFill>
              <a:schemeClr val="accent1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10668000" y="3810000"/>
            <a:ext cx="381000" cy="38100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10744200" y="4838700"/>
            <a:ext cx="228600" cy="228600"/>
          </a:xfrm>
          <a:prstGeom prst="ellipse">
            <a:avLst/>
          </a:prstGeom>
          <a:noFill/>
          <a:ln w="14288">
            <a:solidFill>
              <a:schemeClr val="accent1"/>
            </a:solidFill>
          </a:ln>
        </p:spPr>
      </p:sp>
      <p:grpSp>
        <p:nvGrpSpPr>
          <p:cNvPr id="65" name="Group 65"/>
          <p:cNvGrpSpPr/>
          <p:nvPr/>
        </p:nvGrpSpPr>
        <p:grpSpPr>
          <a:xfrm>
            <a:off x="523875" y="6429375"/>
            <a:ext cx="1428750" cy="95250"/>
            <a:chOff x="523875" y="6429375"/>
            <a:chExt cx="1428750" cy="95250"/>
          </a:xfrm>
        </p:grpSpPr>
        <p:sp>
          <p:nvSpPr>
            <p:cNvPr id="57" name="Ellipse 57"/>
            <p:cNvSpPr/>
            <p:nvPr/>
          </p:nvSpPr>
          <p:spPr>
            <a:xfrm>
              <a:off x="523875" y="6429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14375" y="64293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904875" y="64293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095375" y="64293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285875" y="64293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476375" y="64293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666875" y="64293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857375" y="64293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11365849" y="6483191"/>
            <a:ext cx="2594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 / 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476250"/>
            <a:ext cx="10681716" cy="962025"/>
            <a:chOff x="557784" y="476250"/>
            <a:chExt cx="10681716" cy="96202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762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6010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899160"/>
              <a:ext cx="77295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碎片化数据×滞后的决策=增长的隐形天花板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1428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71500" y="1714500"/>
            <a:ext cx="10668000" cy="3429000"/>
            <a:chOff x="571500" y="1714500"/>
            <a:chExt cx="10668000" cy="3429000"/>
          </a:xfrm>
        </p:grpSpPr>
        <p:sp>
          <p:nvSpPr>
            <p:cNvPr id="10" name="Freeform 10"/>
            <p:cNvSpPr/>
            <p:nvPr/>
          </p:nvSpPr>
          <p:spPr>
            <a:xfrm>
              <a:off x="571500" y="171450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114300" y="0"/>
                  </a:moveTo>
                  <a:lnTo>
                    <a:pt x="5981700" y="0"/>
                  </a:lnTo>
                  <a:cubicBezTo>
                    <a:pt x="6044826" y="0"/>
                    <a:pt x="6096000" y="51174"/>
                    <a:pt x="6096000" y="114300"/>
                  </a:cubicBezTo>
                  <a:lnTo>
                    <a:pt x="6096000" y="3314700"/>
                  </a:lnTo>
                  <a:cubicBezTo>
                    <a:pt x="6096000" y="3377826"/>
                    <a:pt x="6044826" y="3429000"/>
                    <a:pt x="5981700" y="3429000"/>
                  </a:cubicBezTo>
                  <a:lnTo>
                    <a:pt x="114300" y="3429000"/>
                  </a:lnTo>
                  <a:cubicBezTo>
                    <a:pt x="51174" y="3429000"/>
                    <a:pt x="0" y="3377826"/>
                    <a:pt x="0" y="3314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8868" y="2107882"/>
              <a:ext cx="44407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当营销数据散落在CRM、电商、广告平台、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868" y="24126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客服系统，每一次手动整合都在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868" y="27174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稀释实时响应能力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38200" y="3227070"/>
              <a:ext cx="1963674" cy="1402461"/>
              <a:chOff x="838200" y="3227070"/>
              <a:chExt cx="1963674" cy="140246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38200" y="3227070"/>
                <a:ext cx="925251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b="1" dirty="0">
                    <a:solidFill>
                      <a:schemeClr val="accent2"/>
                    </a:solidFill>
                    <a:latin typeface="Georgia"/>
                    <a:ea typeface="Georgia"/>
                    <a:cs typeface="Georgia"/>
                  </a:rPr>
                  <a:t>14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94332" y="3583305"/>
                <a:ext cx="6150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Segoe UI"/>
                    <a:ea typeface="Microsoft YaHei"/>
                    <a:cs typeface="Segoe UI"/>
                  </a:rPr>
                  <a:t>小时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8404" y="4061460"/>
                <a:ext cx="4725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/ 每周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1154" y="4394835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浪费在数据拉取与报表拼接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410712" y="3421380"/>
              <a:ext cx="1013079" cy="814007"/>
              <a:chOff x="3410712" y="3421380"/>
              <a:chExt cx="1013079" cy="81400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410712" y="3421380"/>
                <a:ext cx="332293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54755" y="3648075"/>
                <a:ext cx="22726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Segoe UI"/>
                    <a:ea typeface="Microsoft YaHei"/>
                    <a:cs typeface="Segoe UI"/>
                  </a:rPr>
                  <a:t>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23666" y="40300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策划到上线周期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934712" y="3421380"/>
              <a:ext cx="1154430" cy="814007"/>
              <a:chOff x="4934712" y="3421380"/>
              <a:chExt cx="1154430" cy="814007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934712" y="3421380"/>
                <a:ext cx="1031260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C53030"/>
                    </a:solidFill>
                    <a:latin typeface="Georgia"/>
                    <a:ea typeface="Georgia"/>
                    <a:cs typeface="Georgia"/>
                  </a:rPr>
                  <a:t>60%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947666" y="40300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实时意图窗口错失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048500" y="1714500"/>
              <a:ext cx="4191000" cy="3429000"/>
              <a:chOff x="7048500" y="1714500"/>
              <a:chExt cx="4191000" cy="3429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048500" y="1714500"/>
                <a:ext cx="419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429000">
                    <a:moveTo>
                      <a:pt x="114300" y="0"/>
                    </a:moveTo>
                    <a:lnTo>
                      <a:pt x="4076700" y="0"/>
                    </a:lnTo>
                    <a:cubicBezTo>
                      <a:pt x="4139826" y="0"/>
                      <a:pt x="4191000" y="51174"/>
                      <a:pt x="4191000" y="114300"/>
                    </a:cubicBezTo>
                    <a:lnTo>
                      <a:pt x="4191000" y="3314700"/>
                    </a:lnTo>
                    <a:cubicBezTo>
                      <a:pt x="4191000" y="3377826"/>
                      <a:pt x="4139826" y="3429000"/>
                      <a:pt x="4076700" y="3429000"/>
                    </a:cubicBezTo>
                    <a:lnTo>
                      <a:pt x="114300" y="3429000"/>
                    </a:lnTo>
                    <a:cubicBezTo>
                      <a:pt x="51174" y="3429000"/>
                      <a:pt x="0" y="3377826"/>
                      <a:pt x="0" y="3314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7315200" y="2042160"/>
                <a:ext cx="3727140" cy="463296"/>
                <a:chOff x="7315200" y="2042160"/>
                <a:chExt cx="3727140" cy="463296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7315200" y="20764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499604" y="2042160"/>
                  <a:ext cx="35427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平均一个营销分析师每周消耗</a:t>
                  </a:r>
                  <a:r>
                    <a:rPr lang="en-US" sz="1200" dirty="0">
                      <a:solidFill>
                        <a:schemeClr val="dk1"/>
                      </a:solidFill>
                      <a:latin typeface="Segoe UI"/>
                      <a:ea typeface="Segoe UI"/>
                      <a:cs typeface="Segoe UI"/>
                    </a:rPr>
                    <a:t xml:space="preserve"> </a:t>
                  </a:r>
                  <a:r>
                    <a:rPr lang="zh-CN" sz="1200" b="1" dirty="0">
                      <a:solidFill>
                        <a:schemeClr val="accent2"/>
                      </a:solidFill>
                      <a:latin typeface="Segoe UI"/>
                      <a:ea typeface="Microsoft YaHei"/>
                      <a:cs typeface="Segoe UI"/>
                    </a:rPr>
                    <a:t>14小时</a:t>
                  </a:r>
                  <a:r>
                    <a:rPr lang="en-US" sz="1200" dirty="0">
                      <a:solidFill>
                        <a:schemeClr val="dk1"/>
                      </a:solidFill>
                      <a:latin typeface="Segoe UI"/>
                      <a:ea typeface="Segoe UI"/>
                      <a:cs typeface="Segoe UI"/>
                    </a:rPr>
                    <a:t xml:space="preserve"> </a:t>
                  </a:r>
                  <a:r>
                    <a:rPr lang="zh-CN" sz="1200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在数据拉取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499604" y="2270760"/>
                  <a:ext cx="195072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与报表拼接，而非策略优化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7315200" y="2899410"/>
                <a:ext cx="2450592" cy="463296"/>
                <a:chOff x="7315200" y="2899410"/>
                <a:chExt cx="2450592" cy="463296"/>
              </a:xfrm>
            </p:grpSpPr>
            <p:sp>
              <p:nvSpPr>
                <p:cNvPr id="31" name="Ellipse 31"/>
                <p:cNvSpPr/>
                <p:nvPr/>
              </p:nvSpPr>
              <p:spPr>
                <a:xfrm>
                  <a:off x="7315200" y="29337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499604" y="2899410"/>
                  <a:ext cx="226209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活动从策划到上线通常超过</a:t>
                  </a:r>
                  <a:r>
                    <a:rPr lang="en-US" sz="1200" dirty="0">
                      <a:solidFill>
                        <a:schemeClr val="dk1"/>
                      </a:solidFill>
                      <a:latin typeface="Segoe UI"/>
                      <a:ea typeface="Segoe UI"/>
                      <a:cs typeface="Segoe UI"/>
                    </a:rPr>
                    <a:t xml:space="preserve"> </a:t>
                  </a:r>
                  <a:r>
                    <a:rPr lang="zh-CN" sz="1200" b="1" dirty="0">
                      <a:solidFill>
                        <a:schemeClr val="accent1"/>
                      </a:solidFill>
                      <a:latin typeface="Segoe UI"/>
                      <a:ea typeface="Microsoft YaHei"/>
                      <a:cs typeface="Segoe UI"/>
                    </a:rPr>
                    <a:t>3周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499604" y="312801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错过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880604" y="3128010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C53030"/>
                      </a:solidFill>
                      <a:latin typeface="Segoe UI"/>
                      <a:ea typeface="Segoe UI"/>
                      <a:cs typeface="Segoe UI"/>
                    </a:rPr>
                    <a:t>60%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299704" y="3128010"/>
                  <a:ext cx="146608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的实时购买意图窗口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7315200" y="3756660"/>
                <a:ext cx="3366516" cy="463296"/>
                <a:chOff x="7315200" y="3756660"/>
                <a:chExt cx="3366516" cy="463296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315200" y="37909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499604" y="3756660"/>
                  <a:ext cx="227380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缺乏统一用户画像导致不同渠道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499604" y="3985260"/>
                  <a:ext cx="146608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频现重复触达，拉高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061704" y="3985260"/>
                  <a:ext cx="66523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C53030"/>
                      </a:solidFill>
                      <a:latin typeface="Segoe UI"/>
                      <a:ea typeface="Microsoft YaHei"/>
                      <a:cs typeface="Segoe UI"/>
                    </a:rPr>
                    <a:t>20%以上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861804" y="3985260"/>
                  <a:ext cx="81991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的获客成本</a:t>
                  </a:r>
                </a:p>
              </p:txBody>
            </p:sp>
          </p:grpSp>
          <p:sp>
            <p:nvSpPr>
              <p:cNvPr id="43" name="Line 43"/>
              <p:cNvSpPr/>
              <p:nvPr/>
            </p:nvSpPr>
            <p:spPr>
              <a:xfrm>
                <a:off x="7277100" y="4572000"/>
                <a:ext cx="3733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33800" h="9525">
                    <a:moveTo>
                      <a:pt x="0" y="0"/>
                    </a:moveTo>
                    <a:lnTo>
                      <a:pt x="37338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7277100" y="4762500"/>
                <a:ext cx="3733800" cy="266700"/>
                <a:chOff x="7277100" y="4762500"/>
                <a:chExt cx="3733800" cy="2667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7277100" y="4762500"/>
                  <a:ext cx="37338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3800" h="266700">
                      <a:moveTo>
                        <a:pt x="38100" y="0"/>
                      </a:moveTo>
                      <a:lnTo>
                        <a:pt x="3695700" y="0"/>
                      </a:lnTo>
                      <a:cubicBezTo>
                        <a:pt x="3716742" y="0"/>
                        <a:pt x="3733800" y="17058"/>
                        <a:pt x="3733800" y="38100"/>
                      </a:cubicBezTo>
                      <a:lnTo>
                        <a:pt x="3733800" y="228600"/>
                      </a:lnTo>
                      <a:cubicBezTo>
                        <a:pt x="3733800" y="249642"/>
                        <a:pt x="3716742" y="266700"/>
                        <a:pt x="369570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386447" y="4838224"/>
                  <a:ext cx="294541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1"/>
                      </a:solidFill>
                      <a:latin typeface="Segoe UI"/>
                      <a:ea typeface="Microsoft YaHei"/>
                      <a:cs typeface="Segoe UI"/>
                    </a:rPr>
                    <a:t>结论：数据整合能力 = 营销决策速度 = 竞争优势</a:t>
                  </a:r>
                </a:p>
              </p:txBody>
            </p:sp>
          </p:grpSp>
        </p:grpSp>
      </p:grpSp>
      <p:grpSp>
        <p:nvGrpSpPr>
          <p:cNvPr id="50" name="Group 50"/>
          <p:cNvGrpSpPr/>
          <p:nvPr/>
        </p:nvGrpSpPr>
        <p:grpSpPr>
          <a:xfrm>
            <a:off x="6858000" y="1714500"/>
            <a:ext cx="9525" cy="3429000"/>
            <a:chOff x="6858000" y="1714500"/>
            <a:chExt cx="9525" cy="3429000"/>
          </a:xfrm>
        </p:grpSpPr>
        <p:sp>
          <p:nvSpPr>
            <p:cNvPr id="49" name="Line 49"/>
            <p:cNvSpPr/>
            <p:nvPr/>
          </p:nvSpPr>
          <p:spPr>
            <a:xfrm>
              <a:off x="6858000" y="1714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4762">
              <a:solidFill>
                <a:schemeClr val="accent4">
                  <a:alpha val="50000"/>
                </a:scheme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3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476250"/>
            <a:ext cx="11062716" cy="1213675"/>
            <a:chOff x="557784" y="476250"/>
            <a:chExt cx="11062716" cy="121367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6296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946785"/>
              <a:ext cx="40599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两套体系的效率分水岭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425892"/>
              <a:ext cx="6321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左列是大多数企业仍在运转的传统营销，右列是接入AI工作台后的运作方式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71500" y="1905000"/>
            <a:ext cx="11049000" cy="4191000"/>
            <a:chOff x="571500" y="1905000"/>
            <a:chExt cx="11049000" cy="4191000"/>
          </a:xfrm>
        </p:grpSpPr>
        <p:grpSp>
          <p:nvGrpSpPr>
            <p:cNvPr id="41" name="Group 41"/>
            <p:cNvGrpSpPr/>
            <p:nvPr/>
          </p:nvGrpSpPr>
          <p:grpSpPr>
            <a:xfrm>
              <a:off x="571500" y="1905000"/>
              <a:ext cx="5143500" cy="4191000"/>
              <a:chOff x="571500" y="1905000"/>
              <a:chExt cx="5143500" cy="419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71500" y="1905000"/>
                <a:ext cx="5143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4191000">
                    <a:moveTo>
                      <a:pt x="114300" y="0"/>
                    </a:moveTo>
                    <a:lnTo>
                      <a:pt x="5029200" y="0"/>
                    </a:lnTo>
                    <a:cubicBezTo>
                      <a:pt x="5092326" y="0"/>
                      <a:pt x="5143500" y="51174"/>
                      <a:pt x="5143500" y="114300"/>
                    </a:cubicBezTo>
                    <a:lnTo>
                      <a:pt x="5143500" y="4076700"/>
                    </a:lnTo>
                    <a:cubicBezTo>
                      <a:pt x="5143500" y="4139826"/>
                      <a:pt x="5092326" y="4191000"/>
                      <a:pt x="5029200" y="4191000"/>
                    </a:cubicBezTo>
                    <a:lnTo>
                      <a:pt x="114300" y="4191000"/>
                    </a:lnTo>
                    <a:cubicBezTo>
                      <a:pt x="51174" y="4191000"/>
                      <a:pt x="0" y="4139826"/>
                      <a:pt x="0" y="4076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71500" y="1905000"/>
                <a:ext cx="5143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0" y="0"/>
                    </a:moveTo>
                    <a:lnTo>
                      <a:pt x="5029200" y="0"/>
                    </a:lnTo>
                    <a:cubicBezTo>
                      <a:pt x="5092326" y="0"/>
                      <a:pt x="5143500" y="51174"/>
                      <a:pt x="5143500" y="114300"/>
                    </a:cubicBezTo>
                    <a:lnTo>
                      <a:pt x="5143500" y="419100"/>
                    </a:lnTo>
                    <a:cubicBezTo>
                      <a:pt x="5143500" y="482226"/>
                      <a:pt x="5092326" y="533400"/>
                      <a:pt x="5029200" y="533400"/>
                    </a:cubicBezTo>
                    <a:lnTo>
                      <a:pt x="114300" y="533400"/>
                    </a:lnTo>
                    <a:cubicBezTo>
                      <a:pt x="51174" y="533400"/>
                      <a:pt x="0" y="482226"/>
                      <a:pt x="0" y="4191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2286000"/>
                <a:ext cx="51435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9630" y="20859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传统营销模式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4953000" y="2047875"/>
                <a:ext cx="304800" cy="304800"/>
                <a:chOff x="4953000" y="2047875"/>
                <a:chExt cx="304800" cy="3048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4953000" y="20478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9050" y="0"/>
                      </a:move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14300"/>
                      </a:lnTo>
                      <a:cubicBezTo>
                        <a:pt x="133350" y="124821"/>
                        <a:pt x="124821" y="133350"/>
                        <a:pt x="1143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5124450" y="20478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9050" y="0"/>
                      </a:move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14300"/>
                      </a:lnTo>
                      <a:cubicBezTo>
                        <a:pt x="133350" y="124821"/>
                        <a:pt x="124821" y="133350"/>
                        <a:pt x="1143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4953000" y="22193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9050" y="0"/>
                      </a:move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14300"/>
                      </a:lnTo>
                      <a:cubicBezTo>
                        <a:pt x="133350" y="124821"/>
                        <a:pt x="124821" y="133350"/>
                        <a:pt x="1143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124450" y="22193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9050" y="0"/>
                      </a:move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14300"/>
                      </a:lnTo>
                      <a:cubicBezTo>
                        <a:pt x="133350" y="124821"/>
                        <a:pt x="124821" y="133350"/>
                        <a:pt x="1143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895350" y="2702242"/>
                <a:ext cx="2135124" cy="1832039"/>
                <a:chOff x="895350" y="2702242"/>
                <a:chExt cx="2135124" cy="1832039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895350" y="2752725"/>
                  <a:ext cx="76200" cy="762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78992" y="2702242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数据孤岛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79754" y="2966085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多系统分散，数据难统一</a:t>
                  </a:r>
                </a:p>
              </p:txBody>
            </p:sp>
            <p:sp>
              <p:nvSpPr>
                <p:cNvPr id="22" name="Ellipse 22"/>
                <p:cNvSpPr/>
                <p:nvPr/>
              </p:nvSpPr>
              <p:spPr>
                <a:xfrm>
                  <a:off x="895350" y="3419475"/>
                  <a:ext cx="76200" cy="762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078992" y="3368992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手动配置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079754" y="3632835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每轮活动需数周准备周期</a:t>
                  </a:r>
                </a:p>
              </p:txBody>
            </p:sp>
            <p:sp>
              <p:nvSpPr>
                <p:cNvPr id="25" name="Ellipse 25"/>
                <p:cNvSpPr/>
                <p:nvPr/>
              </p:nvSpPr>
              <p:spPr>
                <a:xfrm>
                  <a:off x="895350" y="4086225"/>
                  <a:ext cx="76200" cy="762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078992" y="4035742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事后复盘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079754" y="4299585"/>
                  <a:ext cx="195072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优化靠复盘，错失调整窗口</a:t>
                  </a:r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857250" y="4953000"/>
                <a:ext cx="4191000" cy="304800"/>
                <a:chOff x="857250" y="4953000"/>
                <a:chExt cx="4191000" cy="3048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57250" y="4953000"/>
                  <a:ext cx="7620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304800">
                      <a:moveTo>
                        <a:pt x="38100" y="0"/>
                      </a:moveTo>
                      <a:lnTo>
                        <a:pt x="723900" y="0"/>
                      </a:lnTo>
                      <a:cubicBezTo>
                        <a:pt x="744942" y="0"/>
                        <a:pt x="762000" y="17058"/>
                        <a:pt x="762000" y="38100"/>
                      </a:cubicBezTo>
                      <a:lnTo>
                        <a:pt x="762000" y="266700"/>
                      </a:lnTo>
                      <a:cubicBezTo>
                        <a:pt x="762000" y="287742"/>
                        <a:pt x="744942" y="304800"/>
                        <a:pt x="723900" y="304800"/>
                      </a:cubicBezTo>
                      <a:lnTo>
                        <a:pt x="38100" y="304800"/>
                      </a:lnTo>
                      <a:cubicBezTo>
                        <a:pt x="17058" y="304800"/>
                        <a:pt x="0" y="287742"/>
                        <a:pt x="0" y="2667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115073" y="5055870"/>
                  <a:ext cx="24635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CRM</a:t>
                  </a:r>
                </a:p>
              </p:txBody>
            </p:sp>
            <p:sp>
              <p:nvSpPr>
                <p:cNvPr id="31" name="Line 31"/>
                <p:cNvSpPr/>
                <p:nvPr/>
              </p:nvSpPr>
              <p:spPr>
                <a:xfrm>
                  <a:off x="1714500" y="5105400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000250" y="4953000"/>
                  <a:ext cx="7620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304800">
                      <a:moveTo>
                        <a:pt x="38100" y="0"/>
                      </a:moveTo>
                      <a:lnTo>
                        <a:pt x="723900" y="0"/>
                      </a:lnTo>
                      <a:cubicBezTo>
                        <a:pt x="744942" y="0"/>
                        <a:pt x="762000" y="17058"/>
                        <a:pt x="762000" y="38100"/>
                      </a:cubicBezTo>
                      <a:lnTo>
                        <a:pt x="762000" y="266700"/>
                      </a:lnTo>
                      <a:cubicBezTo>
                        <a:pt x="762000" y="287742"/>
                        <a:pt x="744942" y="304800"/>
                        <a:pt x="723900" y="304800"/>
                      </a:cubicBezTo>
                      <a:lnTo>
                        <a:pt x="38100" y="304800"/>
                      </a:lnTo>
                      <a:cubicBezTo>
                        <a:pt x="17058" y="304800"/>
                        <a:pt x="0" y="287742"/>
                        <a:pt x="0" y="2667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134172" y="5055870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广告平台</a:t>
                  </a:r>
                </a:p>
              </p:txBody>
            </p:sp>
            <p:sp>
              <p:nvSpPr>
                <p:cNvPr id="34" name="Line 34"/>
                <p:cNvSpPr/>
                <p:nvPr/>
              </p:nvSpPr>
              <p:spPr>
                <a:xfrm>
                  <a:off x="2857500" y="5105400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143250" y="4953000"/>
                  <a:ext cx="7620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304800">
                      <a:moveTo>
                        <a:pt x="38100" y="0"/>
                      </a:moveTo>
                      <a:lnTo>
                        <a:pt x="723900" y="0"/>
                      </a:lnTo>
                      <a:cubicBezTo>
                        <a:pt x="744942" y="0"/>
                        <a:pt x="762000" y="17058"/>
                        <a:pt x="762000" y="38100"/>
                      </a:cubicBezTo>
                      <a:lnTo>
                        <a:pt x="762000" y="266700"/>
                      </a:lnTo>
                      <a:cubicBezTo>
                        <a:pt x="762000" y="287742"/>
                        <a:pt x="744942" y="304800"/>
                        <a:pt x="723900" y="304800"/>
                      </a:cubicBezTo>
                      <a:lnTo>
                        <a:pt x="38100" y="304800"/>
                      </a:lnTo>
                      <a:cubicBezTo>
                        <a:pt x="17058" y="304800"/>
                        <a:pt x="0" y="287742"/>
                        <a:pt x="0" y="2667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277172" y="5055870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电商后台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4000500" y="5105400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286250" y="4953000"/>
                  <a:ext cx="7620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304800">
                      <a:moveTo>
                        <a:pt x="38100" y="0"/>
                      </a:moveTo>
                      <a:lnTo>
                        <a:pt x="723900" y="0"/>
                      </a:lnTo>
                      <a:cubicBezTo>
                        <a:pt x="744942" y="0"/>
                        <a:pt x="762000" y="17058"/>
                        <a:pt x="762000" y="38100"/>
                      </a:cubicBezTo>
                      <a:lnTo>
                        <a:pt x="762000" y="266700"/>
                      </a:lnTo>
                      <a:cubicBezTo>
                        <a:pt x="762000" y="287742"/>
                        <a:pt x="744942" y="304800"/>
                        <a:pt x="723900" y="304800"/>
                      </a:cubicBezTo>
                      <a:lnTo>
                        <a:pt x="38100" y="304800"/>
                      </a:lnTo>
                      <a:cubicBezTo>
                        <a:pt x="17058" y="304800"/>
                        <a:pt x="0" y="287742"/>
                        <a:pt x="0" y="2667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rgbClr val="C53030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420172" y="5055870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C53030"/>
                      </a:solidFill>
                      <a:latin typeface="+mn-lt"/>
                      <a:ea typeface="+mn-ea"/>
                      <a:cs typeface="+mn-cs"/>
                    </a:rPr>
                    <a:t>人工整合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5572125" y="2381250"/>
              <a:ext cx="783070" cy="3143250"/>
              <a:chOff x="5572125" y="2381250"/>
              <a:chExt cx="783070" cy="3143250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6096000" y="2381250"/>
                <a:ext cx="9525" cy="3143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43250">
                    <a:moveTo>
                      <a:pt x="0" y="0"/>
                    </a:moveTo>
                    <a:lnTo>
                      <a:pt x="0" y="314325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  <a:prstDash val="lgDash"/>
              </a:ln>
            </p:spPr>
          </p:sp>
          <p:sp>
            <p:nvSpPr>
              <p:cNvPr id="43" name="Polygon 43"/>
              <p:cNvSpPr/>
              <p:nvPr/>
            </p:nvSpPr>
            <p:spPr>
              <a:xfrm>
                <a:off x="5572125" y="3762375"/>
                <a:ext cx="52387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476250">
                    <a:moveTo>
                      <a:pt x="523875" y="238125"/>
                    </a:moveTo>
                    <a:lnTo>
                      <a:pt x="285750" y="0"/>
                    </a:lnTo>
                    <a:lnTo>
                      <a:pt x="285750" y="123825"/>
                    </a:lnTo>
                    <a:lnTo>
                      <a:pt x="0" y="123825"/>
                    </a:lnTo>
                    <a:lnTo>
                      <a:pt x="0" y="352425"/>
                    </a:lnTo>
                    <a:lnTo>
                      <a:pt x="285750" y="352425"/>
                    </a:lnTo>
                    <a:lnTo>
                      <a:pt x="285750" y="476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836806" y="42843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效率提升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6477000" y="1905000"/>
              <a:ext cx="5143500" cy="4191000"/>
              <a:chOff x="6477000" y="1905000"/>
              <a:chExt cx="5143500" cy="4191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77000" y="1905000"/>
                <a:ext cx="5143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4191000">
                    <a:moveTo>
                      <a:pt x="114300" y="0"/>
                    </a:moveTo>
                    <a:lnTo>
                      <a:pt x="5029200" y="0"/>
                    </a:lnTo>
                    <a:cubicBezTo>
                      <a:pt x="5092326" y="0"/>
                      <a:pt x="5143500" y="51174"/>
                      <a:pt x="5143500" y="114300"/>
                    </a:cubicBezTo>
                    <a:lnTo>
                      <a:pt x="5143500" y="4076700"/>
                    </a:lnTo>
                    <a:cubicBezTo>
                      <a:pt x="5143500" y="4139826"/>
                      <a:pt x="5092326" y="4191000"/>
                      <a:pt x="5029200" y="4191000"/>
                    </a:cubicBezTo>
                    <a:lnTo>
                      <a:pt x="114300" y="4191000"/>
                    </a:lnTo>
                    <a:cubicBezTo>
                      <a:pt x="51174" y="4191000"/>
                      <a:pt x="0" y="4139826"/>
                      <a:pt x="0" y="4076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77000" y="1905000"/>
                <a:ext cx="5143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533400">
                    <a:moveTo>
                      <a:pt x="114300" y="0"/>
                    </a:moveTo>
                    <a:lnTo>
                      <a:pt x="5029200" y="0"/>
                    </a:lnTo>
                    <a:cubicBezTo>
                      <a:pt x="5092326" y="0"/>
                      <a:pt x="5143500" y="51174"/>
                      <a:pt x="5143500" y="114300"/>
                    </a:cubicBezTo>
                    <a:lnTo>
                      <a:pt x="5143500" y="419100"/>
                    </a:lnTo>
                    <a:cubicBezTo>
                      <a:pt x="5143500" y="482226"/>
                      <a:pt x="5092326" y="533400"/>
                      <a:pt x="5029200" y="533400"/>
                    </a:cubicBezTo>
                    <a:lnTo>
                      <a:pt x="114300" y="533400"/>
                    </a:lnTo>
                    <a:cubicBezTo>
                      <a:pt x="51174" y="533400"/>
                      <a:pt x="0" y="482226"/>
                      <a:pt x="0" y="4191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477000" y="2286000"/>
                <a:ext cx="5143500" cy="152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755130" y="2085975"/>
                <a:ext cx="13930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 营销工作台</a:t>
                </a:r>
              </a:p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10877550" y="2066925"/>
                <a:ext cx="266700" cy="266700"/>
                <a:chOff x="10877550" y="2066925"/>
                <a:chExt cx="266700" cy="266700"/>
              </a:xfrm>
            </p:grpSpPr>
            <p:sp>
              <p:nvSpPr>
                <p:cNvPr id="50" name="Ellipse 50"/>
                <p:cNvSpPr/>
                <p:nvPr/>
              </p:nvSpPr>
              <p:spPr>
                <a:xfrm>
                  <a:off x="10877550" y="2066925"/>
                  <a:ext cx="266700" cy="266700"/>
                </a:xfrm>
                <a:prstGeom prst="ellipse">
                  <a:avLst/>
                </a:prstGeom>
                <a:noFill/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51" name="Ellipse 51"/>
                <p:cNvSpPr/>
                <p:nvPr/>
              </p:nvSpPr>
              <p:spPr>
                <a:xfrm>
                  <a:off x="10925175" y="2133600"/>
                  <a:ext cx="57150" cy="5715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52" name="Ellipse 52"/>
                <p:cNvSpPr/>
                <p:nvPr/>
              </p:nvSpPr>
              <p:spPr>
                <a:xfrm>
                  <a:off x="11039475" y="2133600"/>
                  <a:ext cx="57150" cy="5715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53" name="Ellipse 53"/>
                <p:cNvSpPr/>
                <p:nvPr/>
              </p:nvSpPr>
              <p:spPr>
                <a:xfrm>
                  <a:off x="10982325" y="2228850"/>
                  <a:ext cx="57150" cy="5715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54" name="Line 54"/>
                <p:cNvSpPr/>
                <p:nvPr/>
              </p:nvSpPr>
              <p:spPr>
                <a:xfrm>
                  <a:off x="10953750" y="2162175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9525">
                  <a:solidFill>
                    <a:srgbClr val="FFFFFF"/>
                  </a:solidFill>
                </a:ln>
              </p:spPr>
            </p:sp>
            <p:sp>
              <p:nvSpPr>
                <p:cNvPr id="55" name="Line 55"/>
                <p:cNvSpPr/>
                <p:nvPr/>
              </p:nvSpPr>
              <p:spPr>
                <a:xfrm>
                  <a:off x="10953750" y="2162175"/>
                  <a:ext cx="571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0">
                      <a:moveTo>
                        <a:pt x="0" y="0"/>
                      </a:moveTo>
                      <a:lnTo>
                        <a:pt x="57150" y="95250"/>
                      </a:lnTo>
                    </a:path>
                  </a:pathLst>
                </a:custGeom>
                <a:noFill/>
                <a:ln w="9525">
                  <a:solidFill>
                    <a:srgbClr val="FFFFFF"/>
                  </a:solidFill>
                </a:ln>
              </p:spPr>
            </p:sp>
            <p:sp>
              <p:nvSpPr>
                <p:cNvPr id="56" name="Line 56"/>
                <p:cNvSpPr/>
                <p:nvPr/>
              </p:nvSpPr>
              <p:spPr>
                <a:xfrm>
                  <a:off x="11010900" y="2162175"/>
                  <a:ext cx="571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0">
                      <a:moveTo>
                        <a:pt x="571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9525">
                  <a:solidFill>
                    <a:srgbClr val="FFFFFF"/>
                  </a:solidFill>
                </a:ln>
              </p:spPr>
            </p:sp>
          </p:grpSp>
          <p:grpSp>
            <p:nvGrpSpPr>
              <p:cNvPr id="67" name="Group 67"/>
              <p:cNvGrpSpPr/>
              <p:nvPr/>
            </p:nvGrpSpPr>
            <p:grpSpPr>
              <a:xfrm>
                <a:off x="6800850" y="2702242"/>
                <a:ext cx="1973580" cy="1832039"/>
                <a:chOff x="6800850" y="2702242"/>
                <a:chExt cx="1973580" cy="1832039"/>
              </a:xfrm>
            </p:grpSpPr>
            <p:sp>
              <p:nvSpPr>
                <p:cNvPr id="58" name="Ellipse 58"/>
                <p:cNvSpPr/>
                <p:nvPr/>
              </p:nvSpPr>
              <p:spPr>
                <a:xfrm>
                  <a:off x="6800850" y="2752725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6984492" y="2702242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统一数据层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6985254" y="2966085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全渠道数据自动汇聚清洗</a:t>
                  </a:r>
                </a:p>
              </p:txBody>
            </p:sp>
            <p:sp>
              <p:nvSpPr>
                <p:cNvPr id="61" name="Ellipse 61"/>
                <p:cNvSpPr/>
                <p:nvPr/>
              </p:nvSpPr>
              <p:spPr>
                <a:xfrm>
                  <a:off x="6800850" y="3419475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6984492" y="3368992"/>
                  <a:ext cx="115865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实时策略生成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6985254" y="3632835"/>
                  <a:ext cx="152278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AI即时输出执行方案</a:t>
                  </a:r>
                </a:p>
              </p:txBody>
            </p:sp>
            <p:sp>
              <p:nvSpPr>
                <p:cNvPr id="64" name="Ellipse 64"/>
                <p:cNvSpPr/>
                <p:nvPr/>
              </p:nvSpPr>
              <p:spPr>
                <a:xfrm>
                  <a:off x="6800850" y="4086225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6984492" y="4035742"/>
                  <a:ext cx="115865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即时归因反馈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6985254" y="4299585"/>
                  <a:ext cx="162763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效果数据实时回流优化</a:t>
                  </a:r>
                </a:p>
              </p:txBody>
            </p:sp>
          </p:grpSp>
          <p:grpSp>
            <p:nvGrpSpPr>
              <p:cNvPr id="84" name="Group 84"/>
              <p:cNvGrpSpPr/>
              <p:nvPr/>
            </p:nvGrpSpPr>
            <p:grpSpPr>
              <a:xfrm>
                <a:off x="6762750" y="5029200"/>
                <a:ext cx="2952750" cy="657226"/>
                <a:chOff x="6762750" y="5029200"/>
                <a:chExt cx="2952750" cy="657226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6762750" y="5029200"/>
                  <a:ext cx="4762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190500">
                      <a:moveTo>
                        <a:pt x="28575" y="0"/>
                      </a:moveTo>
                      <a:lnTo>
                        <a:pt x="447675" y="0"/>
                      </a:lnTo>
                      <a:cubicBezTo>
                        <a:pt x="463457" y="0"/>
                        <a:pt x="476250" y="12793"/>
                        <a:pt x="476250" y="28575"/>
                      </a:cubicBezTo>
                      <a:lnTo>
                        <a:pt x="476250" y="161925"/>
                      </a:lnTo>
                      <a:cubicBezTo>
                        <a:pt x="476250" y="177707"/>
                        <a:pt x="463457" y="190500"/>
                        <a:pt x="447675" y="190500"/>
                      </a:cubicBezTo>
                      <a:lnTo>
                        <a:pt x="28575" y="190500"/>
                      </a:lnTo>
                      <a:cubicBezTo>
                        <a:pt x="12793" y="190500"/>
                        <a:pt x="0" y="177707"/>
                        <a:pt x="0" y="1619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6897434" y="5081588"/>
                  <a:ext cx="206883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CRM</a:t>
                  </a:r>
                </a:p>
              </p:txBody>
            </p:sp>
            <p:sp>
              <p:nvSpPr>
                <p:cNvPr id="70" name="Freeform 70"/>
                <p:cNvSpPr/>
                <p:nvPr/>
              </p:nvSpPr>
              <p:spPr>
                <a:xfrm>
                  <a:off x="6762750" y="5257800"/>
                  <a:ext cx="4762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190500">
                      <a:moveTo>
                        <a:pt x="28575" y="0"/>
                      </a:moveTo>
                      <a:lnTo>
                        <a:pt x="447675" y="0"/>
                      </a:lnTo>
                      <a:cubicBezTo>
                        <a:pt x="463457" y="0"/>
                        <a:pt x="476250" y="12793"/>
                        <a:pt x="476250" y="28575"/>
                      </a:cubicBezTo>
                      <a:lnTo>
                        <a:pt x="476250" y="161925"/>
                      </a:lnTo>
                      <a:cubicBezTo>
                        <a:pt x="476250" y="177707"/>
                        <a:pt x="463457" y="190500"/>
                        <a:pt x="447675" y="190500"/>
                      </a:cubicBezTo>
                      <a:lnTo>
                        <a:pt x="28575" y="190500"/>
                      </a:lnTo>
                      <a:cubicBezTo>
                        <a:pt x="12793" y="190500"/>
                        <a:pt x="0" y="177707"/>
                        <a:pt x="0" y="1619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6895148" y="5310188"/>
                  <a:ext cx="21145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广告</a:t>
                  </a:r>
                </a:p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6762750" y="5486400"/>
                  <a:ext cx="4762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190500">
                      <a:moveTo>
                        <a:pt x="28575" y="0"/>
                      </a:moveTo>
                      <a:lnTo>
                        <a:pt x="447675" y="0"/>
                      </a:lnTo>
                      <a:cubicBezTo>
                        <a:pt x="463457" y="0"/>
                        <a:pt x="476250" y="12793"/>
                        <a:pt x="476250" y="28575"/>
                      </a:cubicBezTo>
                      <a:lnTo>
                        <a:pt x="476250" y="161925"/>
                      </a:lnTo>
                      <a:cubicBezTo>
                        <a:pt x="476250" y="177707"/>
                        <a:pt x="463457" y="190500"/>
                        <a:pt x="447675" y="190500"/>
                      </a:cubicBezTo>
                      <a:lnTo>
                        <a:pt x="28575" y="190500"/>
                      </a:lnTo>
                      <a:cubicBezTo>
                        <a:pt x="12793" y="190500"/>
                        <a:pt x="0" y="177707"/>
                        <a:pt x="0" y="1619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3"/>
                  </a:solidFill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6895148" y="5538788"/>
                  <a:ext cx="21145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电商</a:t>
                  </a:r>
                </a:p>
              </p:txBody>
            </p:sp>
            <p:sp>
              <p:nvSpPr>
                <p:cNvPr id="74" name="Line 74"/>
                <p:cNvSpPr/>
                <p:nvPr/>
              </p:nvSpPr>
              <p:spPr>
                <a:xfrm>
                  <a:off x="7239000" y="5124450"/>
                  <a:ext cx="6667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76200">
                      <a:moveTo>
                        <a:pt x="0" y="0"/>
                      </a:moveTo>
                      <a:lnTo>
                        <a:pt x="666750" y="7620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75" name="Line 75"/>
                <p:cNvSpPr/>
                <p:nvPr/>
              </p:nvSpPr>
              <p:spPr>
                <a:xfrm>
                  <a:off x="7239000" y="5276850"/>
                  <a:ext cx="6667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76200">
                      <a:moveTo>
                        <a:pt x="0" y="76200"/>
                      </a:moveTo>
                      <a:lnTo>
                        <a:pt x="666750" y="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76" name="Line 76"/>
                <p:cNvSpPr/>
                <p:nvPr/>
              </p:nvSpPr>
              <p:spPr>
                <a:xfrm>
                  <a:off x="7239000" y="5353050"/>
                  <a:ext cx="6667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228600">
                      <a:moveTo>
                        <a:pt x="0" y="228600"/>
                      </a:moveTo>
                      <a:lnTo>
                        <a:pt x="666750" y="0"/>
                      </a:lnTo>
                    </a:path>
                  </a:pathLst>
                </a:custGeom>
                <a:noFill/>
                <a:ln w="14288">
                  <a:solidFill>
                    <a:schemeClr val="accent2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7905750" y="5048250"/>
                  <a:ext cx="762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71500">
                      <a:moveTo>
                        <a:pt x="57150" y="0"/>
                      </a:moveTo>
                      <a:lnTo>
                        <a:pt x="704850" y="0"/>
                      </a:lnTo>
                      <a:cubicBezTo>
                        <a:pt x="736413" y="0"/>
                        <a:pt x="762000" y="25587"/>
                        <a:pt x="762000" y="57150"/>
                      </a:cubicBezTo>
                      <a:lnTo>
                        <a:pt x="762000" y="514350"/>
                      </a:lnTo>
                      <a:cubicBezTo>
                        <a:pt x="762000" y="545913"/>
                        <a:pt x="736413" y="571500"/>
                        <a:pt x="704850" y="571500"/>
                      </a:cubicBezTo>
                      <a:lnTo>
                        <a:pt x="57150" y="571500"/>
                      </a:lnTo>
                      <a:cubicBezTo>
                        <a:pt x="25587" y="571500"/>
                        <a:pt x="0" y="545913"/>
                        <a:pt x="0" y="514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15000"/>
                  </a:schemeClr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224860" y="5217795"/>
                  <a:ext cx="12377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AI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091164" y="5370195"/>
                  <a:ext cx="3911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工作台</a:t>
                  </a:r>
                </a:p>
              </p:txBody>
            </p:sp>
            <p:sp>
              <p:nvSpPr>
                <p:cNvPr id="80" name="Line 80"/>
                <p:cNvSpPr/>
                <p:nvPr/>
              </p:nvSpPr>
              <p:spPr>
                <a:xfrm>
                  <a:off x="8667750" y="5334000"/>
                  <a:ext cx="476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9525">
                      <a:moveTo>
                        <a:pt x="0" y="0"/>
                      </a:moveTo>
                      <a:lnTo>
                        <a:pt x="476250" y="0"/>
                      </a:lnTo>
                    </a:path>
                  </a:pathLst>
                </a:custGeom>
                <a:noFill/>
                <a:ln w="19050">
                  <a:solidFill>
                    <a:srgbClr val="2F855A"/>
                  </a:solidFill>
                </a:ln>
              </p:spPr>
            </p:sp>
            <p:sp>
              <p:nvSpPr>
                <p:cNvPr id="81" name="Polygon 81"/>
                <p:cNvSpPr/>
                <p:nvPr/>
              </p:nvSpPr>
              <p:spPr>
                <a:xfrm>
                  <a:off x="9067800" y="52959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lnTo>
                        <a:pt x="0" y="0"/>
                      </a:lnTo>
                      <a:lnTo>
                        <a:pt x="0" y="76200"/>
                      </a:ln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9144000" y="5191125"/>
                  <a:ext cx="5715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285750">
                      <a:moveTo>
                        <a:pt x="38100" y="0"/>
                      </a:moveTo>
                      <a:lnTo>
                        <a:pt x="533400" y="0"/>
                      </a:lnTo>
                      <a:cubicBezTo>
                        <a:pt x="554442" y="0"/>
                        <a:pt x="571500" y="17058"/>
                        <a:pt x="571500" y="38100"/>
                      </a:cubicBezTo>
                      <a:lnTo>
                        <a:pt x="571500" y="247650"/>
                      </a:lnTo>
                      <a:cubicBezTo>
                        <a:pt x="571500" y="268692"/>
                        <a:pt x="554442" y="285750"/>
                        <a:pt x="533400" y="285750"/>
                      </a:cubicBezTo>
                      <a:lnTo>
                        <a:pt x="38100" y="285750"/>
                      </a:lnTo>
                      <a:cubicBezTo>
                        <a:pt x="17058" y="285750"/>
                        <a:pt x="0" y="268692"/>
                        <a:pt x="0" y="24765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rgbClr val="2F855A">
                    <a:alpha val="20000"/>
                  </a:srgbClr>
                </a:solidFill>
                <a:ln w="14288">
                  <a:solidFill>
                    <a:srgbClr val="2F855A"/>
                  </a:solidFill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9297772" y="5284470"/>
                  <a:ext cx="2639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执行</a:t>
                  </a:r>
                </a:p>
              </p:txBody>
            </p:sp>
          </p:grpSp>
        </p:grpSp>
      </p:grpSp>
      <p:grpSp>
        <p:nvGrpSpPr>
          <p:cNvPr id="90" name="Group 90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87" name="Rectangle 87"/>
            <p:cNvSpPr/>
            <p:nvPr/>
          </p:nvSpPr>
          <p:spPr>
            <a:xfrm>
              <a:off x="571500" y="647700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66738" y="6578441"/>
              <a:ext cx="22307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关键变量：组织响应速度决定市场机会捕获率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476250"/>
            <a:ext cx="11062716" cy="903351"/>
            <a:chOff x="557784" y="476250"/>
            <a:chExt cx="11062716" cy="903351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691991"/>
              <a:ext cx="8086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8515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三个行业，三组落地验证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43000" cy="285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563880" y="1600200"/>
            <a:ext cx="11247120" cy="4162425"/>
            <a:chOff x="563880" y="1600200"/>
            <a:chExt cx="11247120" cy="4162425"/>
          </a:xfrm>
        </p:grpSpPr>
        <p:sp>
          <p:nvSpPr>
            <p:cNvPr id="10" name="TextBox 10"/>
            <p:cNvSpPr txBox="1"/>
            <p:nvPr/>
          </p:nvSpPr>
          <p:spPr>
            <a:xfrm>
              <a:off x="563880" y="1600200"/>
              <a:ext cx="4250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以下案例均来自已部署AI营销工作台的客户，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8859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数据经过脱敏但保持业务上下文完整。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33425" y="2601278"/>
              <a:ext cx="3233090" cy="1634109"/>
              <a:chOff x="733425" y="2601278"/>
              <a:chExt cx="3233090" cy="1634109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33425" y="26384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09066" y="2601278"/>
                <a:ext cx="30574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通过AI自动圈定高潜力种子人群并在3天内完成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9066" y="2791778"/>
                <a:ext cx="21762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三轮A/B测试，减少人工干预80%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33425" y="325755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09066" y="3220402"/>
                <a:ext cx="28376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实时竞价引擎根据用户微意图动态调整出价，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09066" y="3410902"/>
                <a:ext cx="25337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同时匹配个性化落地页，转化率提升65%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733425" y="38766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9066" y="3839528"/>
                <a:ext cx="28259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合规规则内置于AI工作流，自动生成素材并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9066" y="4030028"/>
                <a:ext cx="23288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通过审核，营销误触率降至0.2%以下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4000500" y="1762125"/>
              <a:ext cx="7810500" cy="4000500"/>
              <a:chOff x="4000500" y="1762125"/>
              <a:chExt cx="7810500" cy="4000500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4000500" y="1762125"/>
                <a:ext cx="2476500" cy="4000500"/>
                <a:chOff x="4000500" y="1762125"/>
                <a:chExt cx="2476500" cy="40005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000500" y="1762125"/>
                  <a:ext cx="247650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0" h="4000500">
                      <a:moveTo>
                        <a:pt x="114300" y="0"/>
                      </a:moveTo>
                      <a:lnTo>
                        <a:pt x="2362200" y="0"/>
                      </a:lnTo>
                      <a:cubicBezTo>
                        <a:pt x="2425326" y="0"/>
                        <a:pt x="2476500" y="51174"/>
                        <a:pt x="2476500" y="114300"/>
                      </a:cubicBezTo>
                      <a:lnTo>
                        <a:pt x="2476500" y="3886200"/>
                      </a:lnTo>
                      <a:cubicBezTo>
                        <a:pt x="2476500" y="3949326"/>
                        <a:pt x="2425326" y="4000500"/>
                        <a:pt x="236220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00500" y="1762125"/>
                  <a:ext cx="2476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0" h="57150">
                      <a:moveTo>
                        <a:pt x="28575" y="0"/>
                      </a:moveTo>
                      <a:lnTo>
                        <a:pt x="2447925" y="0"/>
                      </a:lnTo>
                      <a:cubicBezTo>
                        <a:pt x="2463707" y="0"/>
                        <a:pt x="2476500" y="12793"/>
                        <a:pt x="2476500" y="28575"/>
                      </a:cubicBezTo>
                      <a:lnTo>
                        <a:pt x="2476500" y="28575"/>
                      </a:lnTo>
                      <a:cubicBezTo>
                        <a:pt x="2476500" y="44357"/>
                        <a:pt x="2463707" y="57150"/>
                        <a:pt x="2447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191000" y="204787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305300" y="2181225"/>
                  <a:ext cx="2286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52400">
                      <a:moveTo>
                        <a:pt x="0" y="95250"/>
                      </a:moveTo>
                      <a:lnTo>
                        <a:pt x="114300" y="95250"/>
                      </a:lnTo>
                      <a:moveTo>
                        <a:pt x="57150" y="38100"/>
                      </a:moveTo>
                      <a:lnTo>
                        <a:pt x="57150" y="152400"/>
                      </a:lnTo>
                      <a:moveTo>
                        <a:pt x="114300" y="0"/>
                      </a:moveTo>
                      <a:lnTo>
                        <a:pt x="114300" y="114300"/>
                      </a:lnTo>
                      <a:lnTo>
                        <a:pt x="228600" y="0"/>
                      </a:lnTo>
                      <a:lnTo>
                        <a:pt x="228600" y="11430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185666" y="2648902"/>
                  <a:ext cx="7527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某快消品牌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185666" y="2982278"/>
                  <a:ext cx="120548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新品上市转化效率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175760" y="3343275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40%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042154" y="3537585"/>
                  <a:ext cx="4447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↑提升</a:t>
                  </a:r>
                </a:p>
              </p:txBody>
            </p:sp>
            <p:sp>
              <p:nvSpPr>
                <p:cNvPr id="30" name="Line 30"/>
                <p:cNvSpPr/>
                <p:nvPr/>
              </p:nvSpPr>
              <p:spPr>
                <a:xfrm>
                  <a:off x="4191000" y="3905250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186047" y="4085749"/>
                  <a:ext cx="137594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通过AI自动圈定高潜力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186047" y="4276249"/>
                  <a:ext cx="139464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种子人群并在3天内完成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186047" y="4466749"/>
                  <a:ext cx="79347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三轮A/B测试</a:t>
                  </a:r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4191000" y="4905375"/>
                  <a:ext cx="20955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342900">
                      <a:moveTo>
                        <a:pt x="57150" y="0"/>
                      </a:moveTo>
                      <a:lnTo>
                        <a:pt x="2038350" y="0"/>
                      </a:lnTo>
                      <a:cubicBezTo>
                        <a:pt x="2069913" y="0"/>
                        <a:pt x="2095500" y="25587"/>
                        <a:pt x="2095500" y="57150"/>
                      </a:cubicBezTo>
                      <a:lnTo>
                        <a:pt x="2095500" y="285750"/>
                      </a:lnTo>
                      <a:cubicBezTo>
                        <a:pt x="2095500" y="317313"/>
                        <a:pt x="2069913" y="342900"/>
                        <a:pt x="20383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4328922" y="5019199"/>
                  <a:ext cx="83680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减少人工干预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375529" y="4994910"/>
                  <a:ext cx="34375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Georgia"/>
                      <a:ea typeface="Georgia"/>
                      <a:cs typeface="Georgia"/>
                    </a:rPr>
                    <a:t>80%</a:t>
                  </a:r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6667500" y="1762125"/>
                <a:ext cx="2476500" cy="4000500"/>
                <a:chOff x="6667500" y="1762125"/>
                <a:chExt cx="2476500" cy="40005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667500" y="1762125"/>
                  <a:ext cx="247650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0" h="4000500">
                      <a:moveTo>
                        <a:pt x="114300" y="0"/>
                      </a:moveTo>
                      <a:lnTo>
                        <a:pt x="2362200" y="0"/>
                      </a:lnTo>
                      <a:cubicBezTo>
                        <a:pt x="2425326" y="0"/>
                        <a:pt x="2476500" y="51174"/>
                        <a:pt x="2476500" y="114300"/>
                      </a:cubicBezTo>
                      <a:lnTo>
                        <a:pt x="2476500" y="3886200"/>
                      </a:lnTo>
                      <a:cubicBezTo>
                        <a:pt x="2476500" y="3949326"/>
                        <a:pt x="2425326" y="4000500"/>
                        <a:pt x="236220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67500" y="1762125"/>
                  <a:ext cx="2476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0" h="57150">
                      <a:moveTo>
                        <a:pt x="28575" y="0"/>
                      </a:moveTo>
                      <a:lnTo>
                        <a:pt x="2447925" y="0"/>
                      </a:lnTo>
                      <a:cubicBezTo>
                        <a:pt x="2463707" y="0"/>
                        <a:pt x="2476500" y="12793"/>
                        <a:pt x="2476500" y="28575"/>
                      </a:cubicBezTo>
                      <a:lnTo>
                        <a:pt x="2476500" y="28575"/>
                      </a:lnTo>
                      <a:cubicBezTo>
                        <a:pt x="2476500" y="44357"/>
                        <a:pt x="2463707" y="57150"/>
                        <a:pt x="2447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858000" y="204787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1" name="Ellipse 41"/>
                <p:cNvSpPr/>
                <p:nvPr/>
              </p:nvSpPr>
              <p:spPr>
                <a:xfrm>
                  <a:off x="6972300" y="2162175"/>
                  <a:ext cx="228600" cy="2286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029450" y="221932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lnTo>
                        <a:pt x="114300" y="57150"/>
                      </a:lnTo>
                      <a:moveTo>
                        <a:pt x="57150" y="0"/>
                      </a:moveTo>
                      <a:lnTo>
                        <a:pt x="57150" y="11430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852666" y="2648902"/>
                  <a:ext cx="7527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某电商平台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852666" y="2982278"/>
                  <a:ext cx="114574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大促期间ROI同比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842760" y="3343275"/>
                  <a:ext cx="1016203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2.6×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7661529" y="3537585"/>
                  <a:ext cx="4447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↑倍增</a:t>
                  </a:r>
                </a:p>
              </p:txBody>
            </p:sp>
            <p:sp>
              <p:nvSpPr>
                <p:cNvPr id="47" name="Line 47"/>
                <p:cNvSpPr/>
                <p:nvPr/>
              </p:nvSpPr>
              <p:spPr>
                <a:xfrm>
                  <a:off x="6858000" y="3905250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853047" y="4085749"/>
                  <a:ext cx="132245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实时竞价引擎根据用户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853047" y="4276249"/>
                  <a:ext cx="132245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微意图动态调整出价，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853047" y="4466749"/>
                  <a:ext cx="10599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匹配个性化落地页</a:t>
                  </a:r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6858000" y="4905375"/>
                  <a:ext cx="20955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342900">
                      <a:moveTo>
                        <a:pt x="57150" y="0"/>
                      </a:moveTo>
                      <a:lnTo>
                        <a:pt x="2038350" y="0"/>
                      </a:lnTo>
                      <a:cubicBezTo>
                        <a:pt x="2069913" y="0"/>
                        <a:pt x="2095500" y="25587"/>
                        <a:pt x="2095500" y="57150"/>
                      </a:cubicBezTo>
                      <a:lnTo>
                        <a:pt x="2095500" y="285750"/>
                      </a:lnTo>
                      <a:cubicBezTo>
                        <a:pt x="2095500" y="317313"/>
                        <a:pt x="2069913" y="342900"/>
                        <a:pt x="20383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995922" y="5019199"/>
                  <a:ext cx="69899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转化率提升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7947279" y="4994910"/>
                  <a:ext cx="34375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Georgia"/>
                      <a:ea typeface="Georgia"/>
                      <a:cs typeface="Georgia"/>
                    </a:rPr>
                    <a:t>65%</a:t>
                  </a:r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9334500" y="1762125"/>
                <a:ext cx="2476500" cy="4000500"/>
                <a:chOff x="9334500" y="1762125"/>
                <a:chExt cx="2476500" cy="400050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9334500" y="1762125"/>
                  <a:ext cx="247650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0" h="4000500">
                      <a:moveTo>
                        <a:pt x="114300" y="0"/>
                      </a:moveTo>
                      <a:lnTo>
                        <a:pt x="2362200" y="0"/>
                      </a:lnTo>
                      <a:cubicBezTo>
                        <a:pt x="2425326" y="0"/>
                        <a:pt x="2476500" y="51174"/>
                        <a:pt x="2476500" y="114300"/>
                      </a:cubicBezTo>
                      <a:lnTo>
                        <a:pt x="2476500" y="3886200"/>
                      </a:lnTo>
                      <a:cubicBezTo>
                        <a:pt x="2476500" y="3949326"/>
                        <a:pt x="2425326" y="4000500"/>
                        <a:pt x="236220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9334500" y="1762125"/>
                  <a:ext cx="2476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0" h="57150">
                      <a:moveTo>
                        <a:pt x="28575" y="0"/>
                      </a:moveTo>
                      <a:lnTo>
                        <a:pt x="2447925" y="0"/>
                      </a:lnTo>
                      <a:cubicBezTo>
                        <a:pt x="2463707" y="0"/>
                        <a:pt x="2476500" y="12793"/>
                        <a:pt x="2476500" y="28575"/>
                      </a:cubicBezTo>
                      <a:lnTo>
                        <a:pt x="2476500" y="28575"/>
                      </a:lnTo>
                      <a:cubicBezTo>
                        <a:pt x="2476500" y="44357"/>
                        <a:pt x="2463707" y="57150"/>
                        <a:pt x="2447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9525000" y="2047875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9658350" y="218122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" y="0"/>
                      </a:moveTo>
                      <a:lnTo>
                        <a:pt x="171450" y="0"/>
                      </a:lnTo>
                      <a:cubicBezTo>
                        <a:pt x="181971" y="0"/>
                        <a:pt x="190500" y="8529"/>
                        <a:pt x="190500" y="19050"/>
                      </a:cubicBezTo>
                      <a:lnTo>
                        <a:pt x="190500" y="171450"/>
                      </a:lnTo>
                      <a:cubicBezTo>
                        <a:pt x="190500" y="181971"/>
                        <a:pt x="181971" y="190500"/>
                        <a:pt x="171450" y="190500"/>
                      </a:cubicBezTo>
                      <a:lnTo>
                        <a:pt x="19050" y="190500"/>
                      </a:lnTo>
                      <a:cubicBezTo>
                        <a:pt x="8529" y="190500"/>
                        <a:pt x="0" y="181971"/>
                        <a:pt x="0" y="1714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696450" y="2219325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19050"/>
                      </a:moveTo>
                      <a:lnTo>
                        <a:pt x="38100" y="19050"/>
                      </a:lnTo>
                      <a:moveTo>
                        <a:pt x="19050" y="0"/>
                      </a:moveTo>
                      <a:lnTo>
                        <a:pt x="19050" y="38100"/>
                      </a:lnTo>
                      <a:moveTo>
                        <a:pt x="0" y="5715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4288" cap="rnd">
                  <a:solidFill>
                    <a:schemeClr val="accent2"/>
                  </a:solidFill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9519666" y="2648902"/>
                  <a:ext cx="7527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某金融客户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9519666" y="29822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营销审批时效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509760" y="3343275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2h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0042779" y="3537585"/>
                  <a:ext cx="4447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↑压缩</a:t>
                  </a:r>
                </a:p>
              </p:txBody>
            </p:sp>
            <p:sp>
              <p:nvSpPr>
                <p:cNvPr id="64" name="Line 64"/>
                <p:cNvSpPr/>
                <p:nvPr/>
              </p:nvSpPr>
              <p:spPr>
                <a:xfrm>
                  <a:off x="9525000" y="3905250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9520047" y="4085749"/>
                  <a:ext cx="137594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合规规则内置于AI工作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9520047" y="4276249"/>
                  <a:ext cx="145370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流，自动生成素材并通过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9520047" y="4466749"/>
                  <a:ext cx="27241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审核</a:t>
                  </a:r>
                </a:p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9525000" y="4905375"/>
                  <a:ext cx="20955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342900">
                      <a:moveTo>
                        <a:pt x="57150" y="0"/>
                      </a:moveTo>
                      <a:lnTo>
                        <a:pt x="2038350" y="0"/>
                      </a:lnTo>
                      <a:cubicBezTo>
                        <a:pt x="2069913" y="0"/>
                        <a:pt x="2095500" y="25587"/>
                        <a:pt x="2095500" y="57150"/>
                      </a:cubicBezTo>
                      <a:lnTo>
                        <a:pt x="2095500" y="285750"/>
                      </a:lnTo>
                      <a:cubicBezTo>
                        <a:pt x="2095500" y="317313"/>
                        <a:pt x="2069913" y="342900"/>
                        <a:pt x="20383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9662922" y="5019199"/>
                  <a:ext cx="69899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营销误触率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10566654" y="4994910"/>
                  <a:ext cx="54089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Georgia"/>
                      <a:ea typeface="Georgia"/>
                      <a:cs typeface="Georgia"/>
                    </a:rPr>
                    <a:t>0.2%↓</a:t>
                  </a:r>
                </a:p>
              </p:txBody>
            </p:sp>
          </p:grpSp>
        </p:grpSp>
      </p:grpSp>
      <p:grpSp>
        <p:nvGrpSpPr>
          <p:cNvPr id="75" name="Group 75"/>
          <p:cNvGrpSpPr/>
          <p:nvPr/>
        </p:nvGrpSpPr>
        <p:grpSpPr>
          <a:xfrm>
            <a:off x="566738" y="6387941"/>
            <a:ext cx="2717959" cy="161925"/>
            <a:chOff x="566738" y="6387941"/>
            <a:chExt cx="2717959" cy="161925"/>
          </a:xfrm>
        </p:grpSpPr>
        <p:sp>
          <p:nvSpPr>
            <p:cNvPr id="74" name="TextBox 74"/>
            <p:cNvSpPr txBox="1"/>
            <p:nvPr/>
          </p:nvSpPr>
          <p:spPr>
            <a:xfrm>
              <a:off x="566738" y="6387941"/>
              <a:ext cx="27179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数据来源：已部署客户脱敏数据 · AI营销工作台 v2.0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365849" y="6387941"/>
            <a:ext cx="259413" cy="161925"/>
            <a:chOff x="11365849" y="6387941"/>
            <a:chExt cx="259413" cy="161925"/>
          </a:xfrm>
        </p:grpSpPr>
        <p:sp>
          <p:nvSpPr>
            <p:cNvPr id="76" name="TextBox 76"/>
            <p:cNvSpPr txBox="1"/>
            <p:nvPr/>
          </p:nvSpPr>
          <p:spPr>
            <a:xfrm>
              <a:off x="11365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8" name="Line 78"/>
            <p:cNvSpPr/>
            <p:nvPr/>
          </p:nvSpPr>
          <p:spPr>
            <a:xfrm>
              <a:off x="0" y="0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0" y="0"/>
                  </a:moveTo>
                  <a:lnTo>
                    <a:pt x="3048000" y="6858000"/>
                  </a:lnTo>
                </a:path>
              </a:pathLst>
            </a:custGeom>
            <a:noFill/>
            <a:ln w="9525">
              <a:solidFill>
                <a:schemeClr val="accent1">
                  <a:alpha val="4000"/>
                </a:schemeClr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9144000" y="0"/>
              <a:ext cx="3048000" cy="6858000"/>
            </a:xfrm>
            <a:custGeom>
              <a:avLst/>
              <a:gdLst/>
              <a:ahLst/>
              <a:cxnLst/>
              <a:rect l="l" t="t" r="r" b="b"/>
              <a:pathLst>
                <a:path w="3048000" h="6858000">
                  <a:moveTo>
                    <a:pt x="0" y="0"/>
                  </a:moveTo>
                  <a:lnTo>
                    <a:pt x="3048000" y="6858000"/>
                  </a:lnTo>
                </a:path>
              </a:pathLst>
            </a:custGeom>
            <a:noFill/>
            <a:ln w="9525">
              <a:solidFill>
                <a:schemeClr val="accent1">
                  <a:alpha val="4000"/>
                </a:scheme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1714500"/>
            <a:ext cx="13144500" cy="9620250"/>
            <a:chOff x="0" y="-1714500"/>
            <a:chExt cx="13144500" cy="9620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810500" y="-1714500"/>
              <a:ext cx="5334000" cy="53340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90500" y="4476750"/>
              <a:ext cx="3429000" cy="3429000"/>
            </a:xfrm>
            <a:prstGeom prst="ellipse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738" y="253841"/>
            <a:ext cx="11053762" cy="231934"/>
            <a:chOff x="566738" y="253841"/>
            <a:chExt cx="11053762" cy="231934"/>
          </a:xfrm>
        </p:grpSpPr>
        <p:sp>
          <p:nvSpPr>
            <p:cNvPr id="7" name="Rectangle 7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6738" y="253841"/>
              <a:ext cx="9269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SIGNALCOUNT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7784" y="661035"/>
            <a:ext cx="11015091" cy="4196715"/>
            <a:chOff x="557784" y="661035"/>
            <a:chExt cx="11015091" cy="4196715"/>
          </a:xfrm>
        </p:grpSpPr>
        <p:grpSp>
          <p:nvGrpSpPr>
            <p:cNvPr id="12" name="Group 12"/>
            <p:cNvGrpSpPr/>
            <p:nvPr/>
          </p:nvGrpSpPr>
          <p:grpSpPr>
            <a:xfrm>
              <a:off x="557784" y="661035"/>
              <a:ext cx="6503289" cy="803910"/>
              <a:chOff x="557784" y="661035"/>
              <a:chExt cx="6503289" cy="80391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57784" y="661035"/>
                <a:ext cx="582991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AI营销工作台核心效能基线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3880" y="1171575"/>
                <a:ext cx="6497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以下指标来自多位已上线客户的90天均值，可作为预期收益的保守参考。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571500" y="1809750"/>
              <a:ext cx="11001375" cy="3048000"/>
              <a:chOff x="571500" y="1809750"/>
              <a:chExt cx="11001375" cy="3048000"/>
            </a:xfrm>
          </p:grpSpPr>
          <p:grpSp>
            <p:nvGrpSpPr>
              <p:cNvPr id="25" name="Group 25"/>
              <p:cNvGrpSpPr/>
              <p:nvPr/>
            </p:nvGrpSpPr>
            <p:grpSpPr>
              <a:xfrm>
                <a:off x="571500" y="1809750"/>
                <a:ext cx="2571750" cy="3048000"/>
                <a:chOff x="571500" y="1809750"/>
                <a:chExt cx="2571750" cy="30480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571500" y="1809750"/>
                  <a:ext cx="257175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3048000">
                      <a:moveTo>
                        <a:pt x="114300" y="0"/>
                      </a:moveTo>
                      <a:lnTo>
                        <a:pt x="2457450" y="0"/>
                      </a:lnTo>
                      <a:cubicBezTo>
                        <a:pt x="2520576" y="0"/>
                        <a:pt x="2571750" y="51174"/>
                        <a:pt x="2571750" y="114300"/>
                      </a:cubicBezTo>
                      <a:lnTo>
                        <a:pt x="2571750" y="2933700"/>
                      </a:lnTo>
                      <a:cubicBezTo>
                        <a:pt x="2571750" y="2996826"/>
                        <a:pt x="2520576" y="3048000"/>
                        <a:pt x="245745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571500" y="1809750"/>
                  <a:ext cx="25717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76200">
                      <a:moveTo>
                        <a:pt x="38100" y="0"/>
                      </a:moveTo>
                      <a:lnTo>
                        <a:pt x="2533650" y="0"/>
                      </a:lnTo>
                      <a:cubicBezTo>
                        <a:pt x="2554692" y="0"/>
                        <a:pt x="2571750" y="17058"/>
                        <a:pt x="2571750" y="38100"/>
                      </a:cubicBezTo>
                      <a:lnTo>
                        <a:pt x="2571750" y="38100"/>
                      </a:lnTo>
                      <a:cubicBezTo>
                        <a:pt x="2571750" y="59142"/>
                        <a:pt x="2554692" y="76200"/>
                        <a:pt x="25336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95338" y="2196941"/>
                  <a:ext cx="847534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spc="75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日处理数据行数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84860" y="2533650"/>
                  <a:ext cx="1710690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5000万+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94766" y="3125152"/>
                  <a:ext cx="165740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稳定支持30+渠道实时汇聚</a:t>
                  </a:r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800100" y="3524250"/>
                  <a:ext cx="21145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550" h="952500">
                      <a:moveTo>
                        <a:pt x="57150" y="0"/>
                      </a:moveTo>
                      <a:lnTo>
                        <a:pt x="2057400" y="0"/>
                      </a:lnTo>
                      <a:cubicBezTo>
                        <a:pt x="2088963" y="0"/>
                        <a:pt x="2114550" y="25587"/>
                        <a:pt x="2114550" y="57150"/>
                      </a:cubicBezTo>
                      <a:lnTo>
                        <a:pt x="2114550" y="895350"/>
                      </a:lnTo>
                      <a:cubicBezTo>
                        <a:pt x="2114550" y="926913"/>
                        <a:pt x="2088963" y="952500"/>
                        <a:pt x="205740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>
                  <a:off x="952500" y="3810000"/>
                  <a:ext cx="381000" cy="381000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1666875" y="3810000"/>
                  <a:ext cx="381000" cy="381000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2381250" y="3810000"/>
                  <a:ext cx="381000" cy="381000"/>
                </a:xfrm>
                <a:prstGeom prst="ellipse">
                  <a:avLst/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22" name="Ellipse 22"/>
                <p:cNvSpPr/>
                <p:nvPr/>
              </p:nvSpPr>
              <p:spPr>
                <a:xfrm>
                  <a:off x="1028700" y="3886200"/>
                  <a:ext cx="228600" cy="228600"/>
                </a:xfrm>
                <a:prstGeom prst="ellipse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1743075" y="3886200"/>
                  <a:ext cx="228600" cy="228600"/>
                </a:xfrm>
                <a:prstGeom prst="ellipse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4" name="Ellipse 24"/>
                <p:cNvSpPr/>
                <p:nvPr/>
              </p:nvSpPr>
              <p:spPr>
                <a:xfrm>
                  <a:off x="2457450" y="3886200"/>
                  <a:ext cx="228600" cy="228600"/>
                </a:xfrm>
                <a:prstGeom prst="ellipse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3381375" y="1809750"/>
                <a:ext cx="2571750" cy="3048000"/>
                <a:chOff x="3381375" y="1809750"/>
                <a:chExt cx="2571750" cy="30480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3381375" y="1809750"/>
                  <a:ext cx="257175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3048000">
                      <a:moveTo>
                        <a:pt x="114300" y="0"/>
                      </a:moveTo>
                      <a:lnTo>
                        <a:pt x="2457450" y="0"/>
                      </a:lnTo>
                      <a:cubicBezTo>
                        <a:pt x="2520576" y="0"/>
                        <a:pt x="2571750" y="51174"/>
                        <a:pt x="2571750" y="114300"/>
                      </a:cubicBezTo>
                      <a:lnTo>
                        <a:pt x="2571750" y="2933700"/>
                      </a:lnTo>
                      <a:cubicBezTo>
                        <a:pt x="2571750" y="2996826"/>
                        <a:pt x="2520576" y="3048000"/>
                        <a:pt x="245745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381375" y="1809750"/>
                  <a:ext cx="25717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76200">
                      <a:moveTo>
                        <a:pt x="38100" y="0"/>
                      </a:moveTo>
                      <a:lnTo>
                        <a:pt x="2533650" y="0"/>
                      </a:lnTo>
                      <a:cubicBezTo>
                        <a:pt x="2554692" y="0"/>
                        <a:pt x="2571750" y="17058"/>
                        <a:pt x="2571750" y="38100"/>
                      </a:cubicBezTo>
                      <a:lnTo>
                        <a:pt x="2571750" y="38100"/>
                      </a:lnTo>
                      <a:cubicBezTo>
                        <a:pt x="2571750" y="59142"/>
                        <a:pt x="2554692" y="76200"/>
                        <a:pt x="25336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605212" y="2196941"/>
                  <a:ext cx="847534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spc="75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模型预测准确率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3594735" y="253365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92%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604641" y="3125152"/>
                  <a:ext cx="170688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在用户转化概率预估任务上</a:t>
                  </a:r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3609975" y="3524250"/>
                  <a:ext cx="21145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550" h="952500">
                      <a:moveTo>
                        <a:pt x="57150" y="0"/>
                      </a:moveTo>
                      <a:lnTo>
                        <a:pt x="2057400" y="0"/>
                      </a:lnTo>
                      <a:cubicBezTo>
                        <a:pt x="2088963" y="0"/>
                        <a:pt x="2114550" y="25587"/>
                        <a:pt x="2114550" y="57150"/>
                      </a:cubicBezTo>
                      <a:lnTo>
                        <a:pt x="2114550" y="895350"/>
                      </a:lnTo>
                      <a:cubicBezTo>
                        <a:pt x="2114550" y="926913"/>
                        <a:pt x="2088963" y="952500"/>
                        <a:pt x="205740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705225" y="3524250"/>
                  <a:ext cx="1905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762000">
                      <a:moveTo>
                        <a:pt x="0" y="762000"/>
                      </a:moveTo>
                      <a:lnTo>
                        <a:pt x="381000" y="381000"/>
                      </a:lnTo>
                      <a:lnTo>
                        <a:pt x="762000" y="523875"/>
                      </a:lnTo>
                      <a:lnTo>
                        <a:pt x="1143000" y="142875"/>
                      </a:lnTo>
                      <a:lnTo>
                        <a:pt x="1524000" y="333375"/>
                      </a:lnTo>
                      <a:lnTo>
                        <a:pt x="1905000" y="0"/>
                      </a:lnTo>
                    </a:path>
                  </a:pathLst>
                </a:custGeom>
                <a:noFill/>
                <a:ln w="19050">
                  <a:solidFill>
                    <a:srgbClr val="2F855A"/>
                  </a:solidFill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3667125" y="4248150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4048125" y="3867150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4429125" y="4010025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4810125" y="3629025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5191125" y="3819525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5572125" y="3486150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6191250" y="1809750"/>
                <a:ext cx="2571750" cy="3048000"/>
                <a:chOff x="6191250" y="1809750"/>
                <a:chExt cx="2571750" cy="30480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6191250" y="1809750"/>
                  <a:ext cx="257175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3048000">
                      <a:moveTo>
                        <a:pt x="114300" y="0"/>
                      </a:moveTo>
                      <a:lnTo>
                        <a:pt x="2457450" y="0"/>
                      </a:lnTo>
                      <a:cubicBezTo>
                        <a:pt x="2520576" y="0"/>
                        <a:pt x="2571750" y="51174"/>
                        <a:pt x="2571750" y="114300"/>
                      </a:cubicBezTo>
                      <a:lnTo>
                        <a:pt x="2571750" y="2933700"/>
                      </a:lnTo>
                      <a:cubicBezTo>
                        <a:pt x="2571750" y="2996826"/>
                        <a:pt x="2520576" y="3048000"/>
                        <a:pt x="245745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191250" y="1809750"/>
                  <a:ext cx="25717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76200">
                      <a:moveTo>
                        <a:pt x="38100" y="0"/>
                      </a:moveTo>
                      <a:lnTo>
                        <a:pt x="2533650" y="0"/>
                      </a:lnTo>
                      <a:cubicBezTo>
                        <a:pt x="2554692" y="0"/>
                        <a:pt x="2571750" y="17058"/>
                        <a:pt x="2571750" y="38100"/>
                      </a:cubicBezTo>
                      <a:lnTo>
                        <a:pt x="2571750" y="38100"/>
                      </a:lnTo>
                      <a:cubicBezTo>
                        <a:pt x="2571750" y="59142"/>
                        <a:pt x="2554692" y="76200"/>
                        <a:pt x="25336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415088" y="2196941"/>
                  <a:ext cx="72637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spc="75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活动上线时间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404610" y="2533650"/>
                  <a:ext cx="1553870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&lt; 3小时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414516" y="31251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从策略产生到全渠道投放</a:t>
                  </a:r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6419850" y="3524250"/>
                  <a:ext cx="21145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550" h="952500">
                      <a:moveTo>
                        <a:pt x="57150" y="0"/>
                      </a:moveTo>
                      <a:lnTo>
                        <a:pt x="2057400" y="0"/>
                      </a:lnTo>
                      <a:cubicBezTo>
                        <a:pt x="2088963" y="0"/>
                        <a:pt x="2114550" y="25587"/>
                        <a:pt x="2114550" y="57150"/>
                      </a:cubicBezTo>
                      <a:lnTo>
                        <a:pt x="2114550" y="895350"/>
                      </a:lnTo>
                      <a:cubicBezTo>
                        <a:pt x="2114550" y="926913"/>
                        <a:pt x="2088963" y="952500"/>
                        <a:pt x="205740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515100" y="3810000"/>
                  <a:ext cx="381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81000">
                      <a:moveTo>
                        <a:pt x="38100" y="0"/>
                      </a:moveTo>
                      <a:lnTo>
                        <a:pt x="342900" y="0"/>
                      </a:lnTo>
                      <a:cubicBezTo>
                        <a:pt x="363942" y="0"/>
                        <a:pt x="381000" y="17058"/>
                        <a:pt x="381000" y="38100"/>
                      </a:cubicBezTo>
                      <a:lnTo>
                        <a:pt x="381000" y="342900"/>
                      </a:lnTo>
                      <a:cubicBezTo>
                        <a:pt x="381000" y="363942"/>
                        <a:pt x="363942" y="381000"/>
                        <a:pt x="342900" y="381000"/>
                      </a:cubicBezTo>
                      <a:lnTo>
                        <a:pt x="38100" y="381000"/>
                      </a:lnTo>
                      <a:cubicBezTo>
                        <a:pt x="17058" y="381000"/>
                        <a:pt x="0" y="363942"/>
                        <a:pt x="0" y="3429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048500" y="3810000"/>
                  <a:ext cx="381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81000">
                      <a:moveTo>
                        <a:pt x="38100" y="0"/>
                      </a:moveTo>
                      <a:lnTo>
                        <a:pt x="342900" y="0"/>
                      </a:lnTo>
                      <a:cubicBezTo>
                        <a:pt x="363942" y="0"/>
                        <a:pt x="381000" y="17058"/>
                        <a:pt x="381000" y="38100"/>
                      </a:cubicBezTo>
                      <a:lnTo>
                        <a:pt x="381000" y="342900"/>
                      </a:lnTo>
                      <a:cubicBezTo>
                        <a:pt x="381000" y="363942"/>
                        <a:pt x="363942" y="381000"/>
                        <a:pt x="342900" y="381000"/>
                      </a:cubicBezTo>
                      <a:lnTo>
                        <a:pt x="38100" y="381000"/>
                      </a:lnTo>
                      <a:cubicBezTo>
                        <a:pt x="17058" y="381000"/>
                        <a:pt x="0" y="363942"/>
                        <a:pt x="0" y="3429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7581900" y="3810000"/>
                  <a:ext cx="381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81000">
                      <a:moveTo>
                        <a:pt x="38100" y="0"/>
                      </a:moveTo>
                      <a:lnTo>
                        <a:pt x="342900" y="0"/>
                      </a:lnTo>
                      <a:cubicBezTo>
                        <a:pt x="363942" y="0"/>
                        <a:pt x="381000" y="17058"/>
                        <a:pt x="381000" y="38100"/>
                      </a:cubicBezTo>
                      <a:lnTo>
                        <a:pt x="381000" y="342900"/>
                      </a:lnTo>
                      <a:cubicBezTo>
                        <a:pt x="381000" y="363942"/>
                        <a:pt x="363942" y="381000"/>
                        <a:pt x="342900" y="381000"/>
                      </a:cubicBezTo>
                      <a:lnTo>
                        <a:pt x="38100" y="381000"/>
                      </a:lnTo>
                      <a:cubicBezTo>
                        <a:pt x="17058" y="381000"/>
                        <a:pt x="0" y="363942"/>
                        <a:pt x="0" y="3429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115300" y="3810000"/>
                  <a:ext cx="381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381000">
                      <a:moveTo>
                        <a:pt x="38100" y="0"/>
                      </a:moveTo>
                      <a:lnTo>
                        <a:pt x="342900" y="0"/>
                      </a:lnTo>
                      <a:cubicBezTo>
                        <a:pt x="363942" y="0"/>
                        <a:pt x="381000" y="17058"/>
                        <a:pt x="381000" y="38100"/>
                      </a:cubicBezTo>
                      <a:lnTo>
                        <a:pt x="381000" y="342900"/>
                      </a:lnTo>
                      <a:cubicBezTo>
                        <a:pt x="381000" y="363942"/>
                        <a:pt x="363942" y="381000"/>
                        <a:pt x="342900" y="381000"/>
                      </a:cubicBezTo>
                      <a:lnTo>
                        <a:pt x="38100" y="381000"/>
                      </a:lnTo>
                      <a:cubicBezTo>
                        <a:pt x="17058" y="381000"/>
                        <a:pt x="0" y="363942"/>
                        <a:pt x="0" y="3429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700838" y="4300538"/>
                  <a:ext cx="21145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策略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234238" y="4300538"/>
                  <a:ext cx="21145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审核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767638" y="4300538"/>
                  <a:ext cx="21145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配置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8301038" y="4300538"/>
                  <a:ext cx="21145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上线</a:t>
                  </a:r>
                </a:p>
              </p:txBody>
            </p:sp>
          </p:grpSp>
          <p:grpSp>
            <p:nvGrpSpPr>
              <p:cNvPr id="66" name="Group 66"/>
              <p:cNvGrpSpPr/>
              <p:nvPr/>
            </p:nvGrpSpPr>
            <p:grpSpPr>
              <a:xfrm>
                <a:off x="9001125" y="1809750"/>
                <a:ext cx="2571750" cy="3048000"/>
                <a:chOff x="9001125" y="1809750"/>
                <a:chExt cx="2571750" cy="304800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9001125" y="1809750"/>
                  <a:ext cx="257175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3048000">
                      <a:moveTo>
                        <a:pt x="114300" y="0"/>
                      </a:moveTo>
                      <a:lnTo>
                        <a:pt x="2457450" y="0"/>
                      </a:lnTo>
                      <a:cubicBezTo>
                        <a:pt x="2520576" y="0"/>
                        <a:pt x="2571750" y="51174"/>
                        <a:pt x="2571750" y="114300"/>
                      </a:cubicBezTo>
                      <a:lnTo>
                        <a:pt x="2571750" y="2933700"/>
                      </a:lnTo>
                      <a:cubicBezTo>
                        <a:pt x="2571750" y="2996826"/>
                        <a:pt x="2520576" y="3048000"/>
                        <a:pt x="245745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9001125" y="1809750"/>
                  <a:ext cx="25717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76200">
                      <a:moveTo>
                        <a:pt x="38100" y="0"/>
                      </a:moveTo>
                      <a:lnTo>
                        <a:pt x="2533650" y="0"/>
                      </a:lnTo>
                      <a:cubicBezTo>
                        <a:pt x="2554692" y="0"/>
                        <a:pt x="2571750" y="17058"/>
                        <a:pt x="2571750" y="38100"/>
                      </a:cubicBezTo>
                      <a:lnTo>
                        <a:pt x="2571750" y="38100"/>
                      </a:lnTo>
                      <a:cubicBezTo>
                        <a:pt x="2571750" y="59142"/>
                        <a:pt x="2554692" y="76200"/>
                        <a:pt x="253365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9224962" y="2196941"/>
                  <a:ext cx="730682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spc="75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平均ROI提升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214485" y="2533650"/>
                  <a:ext cx="1016203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3.4x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9224391" y="3125152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对比传统手工优化基线</a:t>
                  </a:r>
                </a:p>
              </p:txBody>
            </p:sp>
            <p:sp>
              <p:nvSpPr>
                <p:cNvPr id="60" name="Freeform 60"/>
                <p:cNvSpPr/>
                <p:nvPr/>
              </p:nvSpPr>
              <p:spPr>
                <a:xfrm>
                  <a:off x="9229725" y="3524250"/>
                  <a:ext cx="21145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550" h="952500">
                      <a:moveTo>
                        <a:pt x="57150" y="0"/>
                      </a:moveTo>
                      <a:lnTo>
                        <a:pt x="2057400" y="0"/>
                      </a:lnTo>
                      <a:cubicBezTo>
                        <a:pt x="2088963" y="0"/>
                        <a:pt x="2114550" y="25587"/>
                        <a:pt x="2114550" y="57150"/>
                      </a:cubicBezTo>
                      <a:lnTo>
                        <a:pt x="2114550" y="895350"/>
                      </a:lnTo>
                      <a:cubicBezTo>
                        <a:pt x="2114550" y="926913"/>
                        <a:pt x="2088963" y="952500"/>
                        <a:pt x="205740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61" name="Line 61"/>
                <p:cNvSpPr/>
                <p:nvPr/>
              </p:nvSpPr>
              <p:spPr>
                <a:xfrm>
                  <a:off x="9324975" y="4095750"/>
                  <a:ext cx="2019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300" h="9525">
                      <a:moveTo>
                        <a:pt x="0" y="0"/>
                      </a:moveTo>
                      <a:lnTo>
                        <a:pt x="2019300" y="0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62" name="Line 62"/>
                <p:cNvSpPr/>
                <p:nvPr/>
              </p:nvSpPr>
              <p:spPr>
                <a:xfrm>
                  <a:off x="9324975" y="3714750"/>
                  <a:ext cx="20193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300" h="381000">
                      <a:moveTo>
                        <a:pt x="0" y="381000"/>
                      </a:moveTo>
                      <a:lnTo>
                        <a:pt x="20193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3" name="Polygon 63"/>
                <p:cNvSpPr/>
                <p:nvPr/>
              </p:nvSpPr>
              <p:spPr>
                <a:xfrm>
                  <a:off x="11249025" y="3619500"/>
                  <a:ext cx="952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90500">
                      <a:moveTo>
                        <a:pt x="95250" y="95250"/>
                      </a:moveTo>
                      <a:lnTo>
                        <a:pt x="0" y="1905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9320212" y="425291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1x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11149012" y="4252912"/>
                  <a:ext cx="242754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3.4x</a:t>
                  </a:r>
                </a:p>
              </p:txBody>
            </p:sp>
          </p:grpSp>
        </p:grpSp>
      </p:grpSp>
      <p:grpSp>
        <p:nvGrpSpPr>
          <p:cNvPr id="73" name="Group 73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69" name="Line 69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566738" y="6578441"/>
              <a:ext cx="11058524" cy="161925"/>
              <a:chOff x="566738" y="6578441"/>
              <a:chExt cx="11058524" cy="161925"/>
            </a:xfrm>
          </p:grpSpPr>
          <p:sp>
            <p:nvSpPr>
              <p:cNvPr id="70" name="TextBox 70"/>
              <p:cNvSpPr txBox="1"/>
              <p:nvPr/>
            </p:nvSpPr>
            <p:spPr>
              <a:xfrm>
                <a:off x="566738" y="6578441"/>
                <a:ext cx="176974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企业AI营销工作台 · 效能基线报告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1365849" y="6578441"/>
                <a:ext cx="25941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/ 8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4293903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738" y="398145"/>
            <a:ext cx="10672762" cy="563880"/>
            <a:chOff x="566738" y="398145"/>
            <a:chExt cx="10672762" cy="563880"/>
          </a:xfrm>
        </p:grpSpPr>
        <p:sp>
          <p:nvSpPr>
            <p:cNvPr id="5" name="Line 5"/>
            <p:cNvSpPr/>
            <p:nvPr/>
          </p:nvSpPr>
          <p:spPr>
            <a:xfrm>
              <a:off x="571500" y="952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398145"/>
              <a:ext cx="8724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7784" y="451485"/>
            <a:ext cx="11062716" cy="5263515"/>
            <a:chOff x="557784" y="451485"/>
            <a:chExt cx="11062716" cy="5263515"/>
          </a:xfrm>
        </p:grpSpPr>
        <p:sp>
          <p:nvSpPr>
            <p:cNvPr id="8" name="TextBox 8"/>
            <p:cNvSpPr txBox="1"/>
            <p:nvPr/>
          </p:nvSpPr>
          <p:spPr>
            <a:xfrm>
              <a:off x="557784" y="451485"/>
              <a:ext cx="53402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AI驱动下各渠道效能跃升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4642" y="1263968"/>
              <a:ext cx="5553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同一预算在不同渠道上，使用AI营销工作台后的关键转化指标提升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571500" y="1714500"/>
              <a:ext cx="11049000" cy="4000500"/>
              <a:chOff x="571500" y="1714500"/>
              <a:chExt cx="11049000" cy="4000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71500" y="1714500"/>
                <a:ext cx="1104900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4000500">
                    <a:moveTo>
                      <a:pt x="114300" y="0"/>
                    </a:moveTo>
                    <a:lnTo>
                      <a:pt x="10934700" y="0"/>
                    </a:lnTo>
                    <a:cubicBezTo>
                      <a:pt x="10997826" y="0"/>
                      <a:pt x="11049000" y="51174"/>
                      <a:pt x="11049000" y="114300"/>
                    </a:cubicBezTo>
                    <a:lnTo>
                      <a:pt x="11049000" y="3886200"/>
                    </a:lnTo>
                    <a:cubicBezTo>
                      <a:pt x="11049000" y="3949326"/>
                      <a:pt x="10997826" y="4000500"/>
                      <a:pt x="10934700" y="4000500"/>
                    </a:cubicBezTo>
                    <a:lnTo>
                      <a:pt x="114300" y="4000500"/>
                    </a:lnTo>
                    <a:cubicBezTo>
                      <a:pt x="51174" y="4000500"/>
                      <a:pt x="0" y="3949326"/>
                      <a:pt x="0" y="3886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756666" y="2095500"/>
                <a:ext cx="8971605" cy="618839"/>
                <a:chOff x="756666" y="2095500"/>
                <a:chExt cx="8971605" cy="618839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756666" y="2172652"/>
                  <a:ext cx="969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952500" y="2095500"/>
                  <a:ext cx="83820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342900">
                      <a:moveTo>
                        <a:pt x="57150" y="0"/>
                      </a:moveTo>
                      <a:lnTo>
                        <a:pt x="8324850" y="0"/>
                      </a:lnTo>
                      <a:cubicBezTo>
                        <a:pt x="8356413" y="0"/>
                        <a:pt x="8382000" y="25587"/>
                        <a:pt x="8382000" y="57150"/>
                      </a:cubicBezTo>
                      <a:lnTo>
                        <a:pt x="8382000" y="285750"/>
                      </a:lnTo>
                      <a:cubicBezTo>
                        <a:pt x="8382000" y="317313"/>
                        <a:pt x="8356413" y="342900"/>
                        <a:pt x="83248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52500" y="2095500"/>
                  <a:ext cx="7372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2350" h="342900">
                      <a:moveTo>
                        <a:pt x="57150" y="0"/>
                      </a:moveTo>
                      <a:lnTo>
                        <a:pt x="7315200" y="0"/>
                      </a:lnTo>
                      <a:cubicBezTo>
                        <a:pt x="7346763" y="0"/>
                        <a:pt x="7372350" y="25587"/>
                        <a:pt x="7372350" y="57150"/>
                      </a:cubicBezTo>
                      <a:lnTo>
                        <a:pt x="7372350" y="285750"/>
                      </a:lnTo>
                      <a:cubicBezTo>
                        <a:pt x="7372350" y="317313"/>
                        <a:pt x="7346763" y="342900"/>
                        <a:pt x="731520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361932" y="209740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88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947547" y="2523649"/>
                  <a:ext cx="25037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基于用户实时兴趣特征动态出价与素材优选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756666" y="3048000"/>
                <a:ext cx="8971605" cy="618839"/>
                <a:chOff x="756666" y="3048000"/>
                <a:chExt cx="8971605" cy="618839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756666" y="3125152"/>
                  <a:ext cx="969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952500" y="3048000"/>
                  <a:ext cx="83820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342900">
                      <a:moveTo>
                        <a:pt x="57150" y="0"/>
                      </a:moveTo>
                      <a:lnTo>
                        <a:pt x="8324850" y="0"/>
                      </a:lnTo>
                      <a:cubicBezTo>
                        <a:pt x="8356413" y="0"/>
                        <a:pt x="8382000" y="25587"/>
                        <a:pt x="8382000" y="57150"/>
                      </a:cubicBezTo>
                      <a:lnTo>
                        <a:pt x="8382000" y="285750"/>
                      </a:lnTo>
                      <a:cubicBezTo>
                        <a:pt x="8382000" y="317313"/>
                        <a:pt x="8356413" y="342900"/>
                        <a:pt x="83248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52500" y="3048000"/>
                  <a:ext cx="62007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0775" h="342900">
                      <a:moveTo>
                        <a:pt x="57150" y="0"/>
                      </a:moveTo>
                      <a:lnTo>
                        <a:pt x="6143625" y="0"/>
                      </a:lnTo>
                      <a:cubicBezTo>
                        <a:pt x="6175188" y="0"/>
                        <a:pt x="6200775" y="25587"/>
                        <a:pt x="6200775" y="57150"/>
                      </a:cubicBezTo>
                      <a:lnTo>
                        <a:pt x="6200775" y="285750"/>
                      </a:lnTo>
                      <a:cubicBezTo>
                        <a:pt x="6200775" y="317313"/>
                        <a:pt x="6175188" y="342900"/>
                        <a:pt x="6143625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B6CB0"/>
                    </a:gs>
                    <a:gs pos="100000">
                      <a:schemeClr val="accent3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361932" y="304990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rgbClr val="2B6CB0"/>
                      </a:solidFill>
                      <a:latin typeface="+mj-lt"/>
                      <a:ea typeface="+mj-ea"/>
                      <a:cs typeface="+mj-cs"/>
                    </a:rPr>
                    <a:t>74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47547" y="3476149"/>
                  <a:ext cx="210997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个体级发送时间优化与内容自动生成</a:t>
                  </a:r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756666" y="4000500"/>
                <a:ext cx="8971605" cy="618839"/>
                <a:chOff x="756666" y="4000500"/>
                <a:chExt cx="8971605" cy="618839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756666" y="4077652"/>
                  <a:ext cx="969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952500" y="4000500"/>
                  <a:ext cx="83820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342900">
                      <a:moveTo>
                        <a:pt x="57150" y="0"/>
                      </a:moveTo>
                      <a:lnTo>
                        <a:pt x="8324850" y="0"/>
                      </a:lnTo>
                      <a:cubicBezTo>
                        <a:pt x="8356413" y="0"/>
                        <a:pt x="8382000" y="25587"/>
                        <a:pt x="8382000" y="57150"/>
                      </a:cubicBezTo>
                      <a:lnTo>
                        <a:pt x="8382000" y="285750"/>
                      </a:lnTo>
                      <a:cubicBezTo>
                        <a:pt x="8382000" y="317313"/>
                        <a:pt x="8356413" y="342900"/>
                        <a:pt x="83248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52500" y="4000500"/>
                  <a:ext cx="50292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9200" h="342900">
                      <a:moveTo>
                        <a:pt x="57150" y="0"/>
                      </a:moveTo>
                      <a:lnTo>
                        <a:pt x="4972050" y="0"/>
                      </a:lnTo>
                      <a:cubicBezTo>
                        <a:pt x="5003613" y="0"/>
                        <a:pt x="5029200" y="25587"/>
                        <a:pt x="5029200" y="57150"/>
                      </a:cubicBezTo>
                      <a:lnTo>
                        <a:pt x="5029200" y="285750"/>
                      </a:lnTo>
                      <a:cubicBezTo>
                        <a:pt x="5029200" y="317313"/>
                        <a:pt x="5003613" y="342900"/>
                        <a:pt x="49720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rgbClr val="90CDF4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361932" y="400240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60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947547" y="4428649"/>
                  <a:ext cx="197872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预测流失风险后触发精准挽留文案</a:t>
                  </a: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756666" y="4953000"/>
                <a:ext cx="8971605" cy="618839"/>
                <a:chOff x="756666" y="4953000"/>
                <a:chExt cx="8971605" cy="618839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756666" y="5030152"/>
                  <a:ext cx="969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952500" y="4953000"/>
                  <a:ext cx="83820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342900">
                      <a:moveTo>
                        <a:pt x="57150" y="0"/>
                      </a:moveTo>
                      <a:lnTo>
                        <a:pt x="8324850" y="0"/>
                      </a:lnTo>
                      <a:cubicBezTo>
                        <a:pt x="8356413" y="0"/>
                        <a:pt x="8382000" y="25587"/>
                        <a:pt x="8382000" y="57150"/>
                      </a:cubicBezTo>
                      <a:lnTo>
                        <a:pt x="8382000" y="285750"/>
                      </a:lnTo>
                      <a:cubicBezTo>
                        <a:pt x="8382000" y="317313"/>
                        <a:pt x="8356413" y="342900"/>
                        <a:pt x="8324850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52500" y="4953000"/>
                  <a:ext cx="385762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7625" h="342900">
                      <a:moveTo>
                        <a:pt x="57150" y="0"/>
                      </a:moveTo>
                      <a:lnTo>
                        <a:pt x="3800475" y="0"/>
                      </a:lnTo>
                      <a:cubicBezTo>
                        <a:pt x="3832038" y="0"/>
                        <a:pt x="3857625" y="25587"/>
                        <a:pt x="3857625" y="57150"/>
                      </a:cubicBezTo>
                      <a:lnTo>
                        <a:pt x="3857625" y="285750"/>
                      </a:lnTo>
                      <a:cubicBezTo>
                        <a:pt x="3857625" y="317313"/>
                        <a:pt x="3832038" y="342900"/>
                        <a:pt x="3800475" y="342900"/>
                      </a:cubicBezTo>
                      <a:lnTo>
                        <a:pt x="57150" y="342900"/>
                      </a:lnTo>
                      <a:cubicBezTo>
                        <a:pt x="25587" y="342900"/>
                        <a:pt x="0" y="317313"/>
                        <a:pt x="0" y="2857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299E1"/>
                    </a:gs>
                    <a:gs pos="100000">
                      <a:srgbClr val="BEE3F8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361932" y="495490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rgbClr val="4299E1"/>
                      </a:solidFill>
                      <a:latin typeface="+mj-lt"/>
                      <a:ea typeface="+mj-ea"/>
                      <a:cs typeface="+mj-cs"/>
                    </a:rPr>
                    <a:t>46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47547" y="5381149"/>
                  <a:ext cx="165715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内容生成+分发时机协同编排</a:t>
                  </a:r>
                </a:p>
              </p:txBody>
            </p:sp>
          </p:grpSp>
        </p:grpSp>
      </p:grpSp>
      <p:grpSp>
        <p:nvGrpSpPr>
          <p:cNvPr id="39" name="Group 39"/>
          <p:cNvGrpSpPr/>
          <p:nvPr/>
        </p:nvGrpSpPr>
        <p:grpSpPr>
          <a:xfrm>
            <a:off x="10915650" y="1949291"/>
            <a:ext cx="601409" cy="161925"/>
            <a:chOff x="10915650" y="1949291"/>
            <a:chExt cx="601409" cy="161925"/>
          </a:xfrm>
        </p:grpSpPr>
        <p:sp>
          <p:nvSpPr>
            <p:cNvPr id="37" name="Ellipse 37"/>
            <p:cNvSpPr/>
            <p:nvPr/>
          </p:nvSpPr>
          <p:spPr>
            <a:xfrm>
              <a:off x="10915650" y="1962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063288" y="194929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效能指数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6738" y="6477000"/>
            <a:ext cx="10677524" cy="263366"/>
            <a:chOff x="566738" y="6477000"/>
            <a:chExt cx="10677524" cy="263366"/>
          </a:xfrm>
        </p:grpSpPr>
        <p:sp>
          <p:nvSpPr>
            <p:cNvPr id="40" name="Line 40"/>
            <p:cNvSpPr/>
            <p:nvPr/>
          </p:nvSpPr>
          <p:spPr>
            <a:xfrm>
              <a:off x="5715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6738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84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53762" cy="6168866"/>
            <a:chOff x="571500" y="476250"/>
            <a:chExt cx="11053762" cy="6168866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6372225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5849" y="64831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8284" y="791528"/>
            <a:ext cx="10300716" cy="5018722"/>
            <a:chOff x="748284" y="791528"/>
            <a:chExt cx="10300716" cy="5018722"/>
          </a:xfrm>
        </p:grpSpPr>
        <p:grpSp>
          <p:nvGrpSpPr>
            <p:cNvPr id="11" name="Group 11"/>
            <p:cNvGrpSpPr/>
            <p:nvPr/>
          </p:nvGrpSpPr>
          <p:grpSpPr>
            <a:xfrm>
              <a:off x="748284" y="791528"/>
              <a:ext cx="8327189" cy="730948"/>
              <a:chOff x="748284" y="791528"/>
              <a:chExt cx="8327189" cy="73094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56666" y="7915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推进序列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8284" y="994410"/>
                <a:ext cx="832718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立即启动：90天AI营销引擎落地路线图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55142" y="1521142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以下三步并非线性等待，而是并行推进，确保每一阶段都能快速展示可衡量的业务价值。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143000" y="3314700"/>
              <a:ext cx="9525000" cy="2495550"/>
              <a:chOff x="1143000" y="3314700"/>
              <a:chExt cx="9525000" cy="2495550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1524000" y="36195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38100">
                <a:solidFill>
                  <a:schemeClr val="accent4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143000" y="3314700"/>
                <a:ext cx="1905000" cy="2495550"/>
                <a:chOff x="1143000" y="3314700"/>
                <a:chExt cx="1905000" cy="2495550"/>
              </a:xfrm>
            </p:grpSpPr>
            <p:sp>
              <p:nvSpPr>
                <p:cNvPr id="14" name="Ellipse 14"/>
                <p:cNvSpPr/>
                <p:nvPr/>
              </p:nvSpPr>
              <p:spPr>
                <a:xfrm>
                  <a:off x="1790700" y="3314700"/>
                  <a:ext cx="609600" cy="609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003202" y="3488055"/>
                  <a:ext cx="184596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1143000" y="4095750"/>
                  <a:ext cx="1905000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714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1600200"/>
                      </a:lnTo>
                      <a:cubicBezTo>
                        <a:pt x="1905000" y="1663326"/>
                        <a:pt x="1853826" y="1714500"/>
                        <a:pt x="1790700" y="1714500"/>
                      </a:cubicBezTo>
                      <a:lnTo>
                        <a:pt x="114300" y="1714500"/>
                      </a:lnTo>
                      <a:cubicBezTo>
                        <a:pt x="51174" y="1714500"/>
                        <a:pt x="0" y="1663326"/>
                        <a:pt x="0" y="1600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779845" y="4251960"/>
                  <a:ext cx="63130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第0-4周</a:t>
                  </a:r>
                </a:p>
              </p:txBody>
            </p:sp>
            <p:sp>
              <p:nvSpPr>
                <p:cNvPr id="18" name="Line 18"/>
                <p:cNvSpPr/>
                <p:nvPr/>
              </p:nvSpPr>
              <p:spPr>
                <a:xfrm>
                  <a:off x="1333500" y="4524375"/>
                  <a:ext cx="1524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9525">
                      <a:moveTo>
                        <a:pt x="0" y="0"/>
                      </a:moveTo>
                      <a:lnTo>
                        <a:pt x="15240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328166" y="4696778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完成主流渠道数据接入，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328166" y="4906328"/>
                  <a:ext cx="148178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建立统一用户ID体系，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328166" y="5115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梳理关键营销规则并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328166" y="53254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搭建基线看板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4095750" y="3314700"/>
                <a:ext cx="1905000" cy="2495550"/>
                <a:chOff x="4095750" y="3314700"/>
                <a:chExt cx="1905000" cy="2495550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4743450" y="3314700"/>
                  <a:ext cx="609600" cy="609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955952" y="3488055"/>
                  <a:ext cx="184596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095750" y="4095750"/>
                  <a:ext cx="1905000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714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1600200"/>
                      </a:lnTo>
                      <a:cubicBezTo>
                        <a:pt x="1905000" y="1663326"/>
                        <a:pt x="1853826" y="1714500"/>
                        <a:pt x="1790700" y="1714500"/>
                      </a:cubicBezTo>
                      <a:lnTo>
                        <a:pt x="114300" y="1714500"/>
                      </a:lnTo>
                      <a:cubicBezTo>
                        <a:pt x="51174" y="1714500"/>
                        <a:pt x="0" y="1663326"/>
                        <a:pt x="0" y="1600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732595" y="4251960"/>
                  <a:ext cx="63130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第5-8周</a:t>
                  </a:r>
                </a:p>
              </p:txBody>
            </p:sp>
            <p:sp>
              <p:nvSpPr>
                <p:cNvPr id="28" name="Line 28"/>
                <p:cNvSpPr/>
                <p:nvPr/>
              </p:nvSpPr>
              <p:spPr>
                <a:xfrm>
                  <a:off x="4286250" y="4524375"/>
                  <a:ext cx="1524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9525">
                      <a:moveTo>
                        <a:pt x="0" y="0"/>
                      </a:moveTo>
                      <a:lnTo>
                        <a:pt x="15240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280916" y="4696778"/>
                  <a:ext cx="13747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选定1-2个高价值场景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280916" y="490632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进行模型训练与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280916" y="5115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沙盒测试，产出初步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280916" y="53254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效果对比报告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7048500" y="3314700"/>
                <a:ext cx="1905000" cy="2495550"/>
                <a:chOff x="7048500" y="3314700"/>
                <a:chExt cx="1905000" cy="2495550"/>
              </a:xfrm>
            </p:grpSpPr>
            <p:sp>
              <p:nvSpPr>
                <p:cNvPr id="34" name="Ellipse 34"/>
                <p:cNvSpPr/>
                <p:nvPr/>
              </p:nvSpPr>
              <p:spPr>
                <a:xfrm>
                  <a:off x="7696200" y="3314700"/>
                  <a:ext cx="609600" cy="6096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908702" y="3488055"/>
                  <a:ext cx="184596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048500" y="4095750"/>
                  <a:ext cx="1905000" cy="17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714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1600200"/>
                      </a:lnTo>
                      <a:cubicBezTo>
                        <a:pt x="1905000" y="1663326"/>
                        <a:pt x="1853826" y="1714500"/>
                        <a:pt x="1790700" y="1714500"/>
                      </a:cubicBezTo>
                      <a:lnTo>
                        <a:pt x="114300" y="1714500"/>
                      </a:lnTo>
                      <a:cubicBezTo>
                        <a:pt x="51174" y="1714500"/>
                        <a:pt x="0" y="1663326"/>
                        <a:pt x="0" y="1600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638699" y="4251960"/>
                  <a:ext cx="72460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第9-12周</a:t>
                  </a:r>
                </a:p>
              </p:txBody>
            </p:sp>
            <p:sp>
              <p:nvSpPr>
                <p:cNvPr id="38" name="Line 38"/>
                <p:cNvSpPr/>
                <p:nvPr/>
              </p:nvSpPr>
              <p:spPr>
                <a:xfrm>
                  <a:off x="7239000" y="4524375"/>
                  <a:ext cx="1524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9525">
                      <a:moveTo>
                        <a:pt x="0" y="0"/>
                      </a:moveTo>
                      <a:lnTo>
                        <a:pt x="1524000" y="0"/>
                      </a:lnTo>
                    </a:path>
                  </a:pathLst>
                </a:custGeom>
                <a:noFill/>
                <a:ln w="19050">
                  <a:solidFill>
                    <a:srgbClr val="2F855A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233666" y="4696778"/>
                  <a:ext cx="163113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全渠道推广AI驱动策略，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233666" y="4906328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实时监控归因与异常，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233666" y="51158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迭代模型并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7233666" y="5325428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固化运营SOP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3238500" y="3524250"/>
                <a:ext cx="6096000" cy="190500"/>
                <a:chOff x="3238500" y="3524250"/>
                <a:chExt cx="6096000" cy="190500"/>
              </a:xfrm>
            </p:grpSpPr>
            <p:sp>
              <p:nvSpPr>
                <p:cNvPr id="44" name="Polygon 44"/>
                <p:cNvSpPr/>
                <p:nvPr/>
              </p:nvSpPr>
              <p:spPr>
                <a:xfrm>
                  <a:off x="3238500" y="3524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lnTo>
                        <a:pt x="190500" y="0"/>
                      </a:lnTo>
                      <a:lnTo>
                        <a:pt x="190500" y="1905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45" name="Polygon 45"/>
                <p:cNvSpPr/>
                <p:nvPr/>
              </p:nvSpPr>
              <p:spPr>
                <a:xfrm>
                  <a:off x="6191250" y="3524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lnTo>
                        <a:pt x="190500" y="0"/>
                      </a:lnTo>
                      <a:lnTo>
                        <a:pt x="190500" y="1905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46" name="Polygon 46"/>
                <p:cNvSpPr/>
                <p:nvPr/>
              </p:nvSpPr>
              <p:spPr>
                <a:xfrm>
                  <a:off x="9144000" y="35242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lnTo>
                        <a:pt x="190500" y="0"/>
                      </a:lnTo>
                      <a:lnTo>
                        <a:pt x="190500" y="19050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9334500" y="3619500"/>
              <a:ext cx="1714500" cy="476250"/>
              <a:chOff x="9334500" y="3619500"/>
              <a:chExt cx="1714500" cy="4762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334500" y="3619500"/>
                <a:ext cx="1714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476250">
                    <a:moveTo>
                      <a:pt x="76200" y="0"/>
                    </a:moveTo>
                    <a:lnTo>
                      <a:pt x="1638300" y="0"/>
                    </a:lnTo>
                    <a:cubicBezTo>
                      <a:pt x="1680384" y="0"/>
                      <a:pt x="1714500" y="34116"/>
                      <a:pt x="1714500" y="76200"/>
                    </a:cubicBezTo>
                    <a:lnTo>
                      <a:pt x="1714500" y="400050"/>
                    </a:lnTo>
                    <a:cubicBezTo>
                      <a:pt x="1714500" y="442134"/>
                      <a:pt x="1680384" y="476250"/>
                      <a:pt x="1638300" y="476250"/>
                    </a:cubicBezTo>
                    <a:lnTo>
                      <a:pt x="76200" y="476250"/>
                    </a:lnTo>
                    <a:cubicBezTo>
                      <a:pt x="34116" y="476250"/>
                      <a:pt x="0" y="442134"/>
                      <a:pt x="0" y="400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846412" y="37757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开启落地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9906000" y="571500"/>
            <a:ext cx="1714500" cy="571500"/>
            <a:chOff x="9906000" y="571500"/>
            <a:chExt cx="1714500" cy="571500"/>
          </a:xfrm>
        </p:grpSpPr>
        <p:sp>
          <p:nvSpPr>
            <p:cNvPr id="53" name="Freeform 53"/>
            <p:cNvSpPr/>
            <p:nvPr/>
          </p:nvSpPr>
          <p:spPr>
            <a:xfrm>
              <a:off x="9906000" y="571500"/>
              <a:ext cx="1714500" cy="571500"/>
            </a:xfrm>
            <a:custGeom>
              <a:avLst/>
              <a:gdLst/>
              <a:ahLst/>
              <a:cxnLst/>
              <a:rect l="l" t="t" r="r" b="b"/>
              <a:pathLst>
                <a:path w="1714500" h="571500">
                  <a:moveTo>
                    <a:pt x="76200" y="0"/>
                  </a:moveTo>
                  <a:lnTo>
                    <a:pt x="1638300" y="0"/>
                  </a:lnTo>
                  <a:cubicBezTo>
                    <a:pt x="1680384" y="0"/>
                    <a:pt x="1714500" y="34116"/>
                    <a:pt x="1714500" y="76200"/>
                  </a:cubicBezTo>
                  <a:lnTo>
                    <a:pt x="1714500" y="495300"/>
                  </a:lnTo>
                  <a:cubicBezTo>
                    <a:pt x="1714500" y="537384"/>
                    <a:pt x="1680384" y="571500"/>
                    <a:pt x="1638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044112" y="691991"/>
              <a:ext cx="7312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营销工作台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44112" y="863441"/>
              <a:ext cx="12312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企业级智能营销解决方案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