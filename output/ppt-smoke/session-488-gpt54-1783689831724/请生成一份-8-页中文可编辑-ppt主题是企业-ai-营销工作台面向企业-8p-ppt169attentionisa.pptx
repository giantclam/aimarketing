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  <Relationship Id="rId11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以统一数据底座、AI决策引擎、自动化执行与闭环度量，重构企业营销效率与收入转化。</a:t>
            </a:r>
          </a:p>
          <a:p>
            <a:endParaRPr lang="en-US" dirty="0"/>
          </a:p>
          <a:p>
            <a:r>
              <a:rPr lang="zh-CN" dirty="0"/>
              <a:t>• 适用场景：多渠道获客、线索培育、存量运营</a:t>
            </a:r>
          </a:p>
          <a:p>
            <a:r>
              <a:rPr lang="zh-CN" dirty="0"/>
              <a:t>• 决策重点：增长效率、组织协同、投入产出</a:t>
            </a:r>
          </a:p>
          <a:p>
            <a:r>
              <a:rPr lang="zh-CN" dirty="0"/>
              <a:t>• 交付形态：可配置、可审计、可持续扩展的SaaS平台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核心判断</a:t>
            </a:r>
          </a:p>
          <a:p>
            <a:endParaRPr lang="en-US" dirty="0"/>
          </a:p>
          <a:p>
            <a:r>
              <a:rPr lang="zh-CN" dirty="0"/>
              <a:t>企业营销的主要瓶颈已从流量获取转向“数据不能联、策略不能快、执行不能稳、效果不能清”。</a:t>
            </a:r>
          </a:p>
          <a:p>
            <a:endParaRPr lang="en-US" dirty="0"/>
          </a:p>
          <a:p>
            <a:r>
              <a:rPr lang="zh-CN" dirty="0"/>
              <a:t>• 数据整合缺位，客户视图碎片化</a:t>
            </a:r>
          </a:p>
          <a:p>
            <a:r>
              <a:rPr lang="zh-CN" dirty="0"/>
              <a:t>• AI分析分散，洞察无法进入日常动作</a:t>
            </a:r>
          </a:p>
          <a:p>
            <a:r>
              <a:rPr lang="zh-CN" dirty="0"/>
              <a:t>• 自动化执行断层，策略到触达仍靠人工搬运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两种运营模式</a:t>
            </a:r>
          </a:p>
          <a:p>
            <a:endParaRPr lang="en-US" dirty="0"/>
          </a:p>
          <a:p>
            <a:r>
              <a:rPr lang="zh-CN" dirty="0"/>
              <a:t>差距不在工具数量，而在是否形成从判断到执行的连续系统。</a:t>
            </a:r>
          </a:p>
          <a:p>
            <a:endParaRPr lang="en-US" dirty="0"/>
          </a:p>
          <a:p>
            <a:r>
              <a:rPr lang="zh-CN" dirty="0"/>
              <a:t>• 传统模式重流程传递，工作台模式重实时协同</a:t>
            </a:r>
          </a:p>
          <a:p>
            <a:r>
              <a:rPr lang="zh-CN" dirty="0"/>
              <a:t>• 传统模式按职能割裂，工作台模式按客户旅程联动</a:t>
            </a:r>
          </a:p>
          <a:p>
            <a:r>
              <a:rPr lang="zh-CN" dirty="0"/>
              <a:t>• 关键变量对比</a:t>
            </a:r>
          </a:p>
          <a:p>
            <a:r>
              <a:rPr lang="zh-CN" dirty="0"/>
              <a:t>• 不同路径影响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价值证据</a:t>
            </a:r>
          </a:p>
          <a:p>
            <a:endParaRPr lang="en-US" dirty="0"/>
          </a:p>
          <a:p>
            <a:r>
              <a:rPr lang="zh-CN" dirty="0"/>
              <a:t>真正产生经营改进的，不是单点AI，而是四个模块串成闭环后的连续增益。</a:t>
            </a:r>
          </a:p>
          <a:p>
            <a:endParaRPr lang="en-US" dirty="0"/>
          </a:p>
          <a:p>
            <a:r>
              <a:rPr lang="zh-CN" dirty="0"/>
              <a:t>• 先统一数据，再让AI输出可执行判断</a:t>
            </a:r>
          </a:p>
          <a:p>
            <a:r>
              <a:rPr lang="zh-CN" dirty="0"/>
              <a:t>• 自动化执行与效果度量必须同步设计</a:t>
            </a:r>
          </a:p>
          <a:p>
            <a:r>
              <a:rPr lang="zh-CN" dirty="0"/>
              <a:t>• 事实锚点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60000"/>
                </a:schemeClr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0" y="0"/>
              <a:ext cx="66675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70000">
                  <a:schemeClr val="lt1"/>
                </a:gs>
                <a:gs pos="100000">
                  <a:schemeClr val="lt1">
                    <a:alpha val="72000"/>
                  </a:scheme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565404" y="346710"/>
            <a:ext cx="11059858" cy="6298406"/>
            <a:chOff x="565404" y="346710"/>
            <a:chExt cx="11059858" cy="6298406"/>
          </a:xfrm>
        </p:grpSpPr>
        <p:sp>
          <p:nvSpPr>
            <p:cNvPr id="29" name="TextBox 29"/>
            <p:cNvSpPr txBox="1"/>
            <p:nvPr/>
          </p:nvSpPr>
          <p:spPr>
            <a:xfrm>
              <a:off x="565404" y="346710"/>
              <a:ext cx="942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1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GRIDBRIEF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71500" y="89535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382250" y="5143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243681" y="4633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08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6738" y="6483191"/>
              <a:ext cx="19209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Enterprise AI Marketing Workbench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52450" y="1200150"/>
            <a:ext cx="10591800" cy="4981956"/>
            <a:chOff x="552450" y="1200150"/>
            <a:chExt cx="10591800" cy="4981956"/>
          </a:xfrm>
        </p:grpSpPr>
        <p:sp>
          <p:nvSpPr>
            <p:cNvPr id="35" name="TextBox 35"/>
            <p:cNvSpPr txBox="1"/>
            <p:nvPr/>
          </p:nvSpPr>
          <p:spPr>
            <a:xfrm>
              <a:off x="552450" y="1672590"/>
              <a:ext cx="692341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spc="38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企业AI营销工作台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1406" y="2586990"/>
              <a:ext cx="63806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以统一数据底座、AI决策引擎、自动化执行与闭环度量，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1406" y="291084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重构企业营销效率与收入转化。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429500" y="1200150"/>
              <a:ext cx="3714750" cy="4457700"/>
            </a:xfrm>
            <a:custGeom>
              <a:avLst/>
              <a:gdLst/>
              <a:ahLst/>
              <a:cxnLst/>
              <a:rect l="l" t="t" r="r" b="b"/>
              <a:pathLst>
                <a:path w="3714750" h="4457700">
                  <a:moveTo>
                    <a:pt x="171450" y="0"/>
                  </a:moveTo>
                  <a:lnTo>
                    <a:pt x="3543300" y="0"/>
                  </a:lnTo>
                  <a:cubicBezTo>
                    <a:pt x="3637989" y="0"/>
                    <a:pt x="3714750" y="76761"/>
                    <a:pt x="3714750" y="171450"/>
                  </a:cubicBezTo>
                  <a:lnTo>
                    <a:pt x="3714750" y="4286250"/>
                  </a:lnTo>
                  <a:cubicBezTo>
                    <a:pt x="3714750" y="4380939"/>
                    <a:pt x="3637989" y="4457700"/>
                    <a:pt x="3543300" y="4457700"/>
                  </a:cubicBezTo>
                  <a:lnTo>
                    <a:pt x="171450" y="4457700"/>
                  </a:lnTo>
                  <a:cubicBezTo>
                    <a:pt x="76761" y="4457700"/>
                    <a:pt x="0" y="4380939"/>
                    <a:pt x="0" y="42862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715250" y="1524000"/>
              <a:ext cx="1381125" cy="704850"/>
            </a:xfrm>
            <a:custGeom>
              <a:avLst/>
              <a:gdLst/>
              <a:ahLst/>
              <a:cxnLst/>
              <a:rect l="l" t="t" r="r" b="b"/>
              <a:pathLst>
                <a:path w="1381125" h="704850">
                  <a:moveTo>
                    <a:pt x="114300" y="0"/>
                  </a:moveTo>
                  <a:lnTo>
                    <a:pt x="1266825" y="0"/>
                  </a:lnTo>
                  <a:cubicBezTo>
                    <a:pt x="1329951" y="0"/>
                    <a:pt x="1381125" y="51174"/>
                    <a:pt x="1381125" y="114300"/>
                  </a:cubicBezTo>
                  <a:lnTo>
                    <a:pt x="1381125" y="590550"/>
                  </a:lnTo>
                  <a:cubicBezTo>
                    <a:pt x="1381125" y="653676"/>
                    <a:pt x="1329951" y="704850"/>
                    <a:pt x="1266825" y="704850"/>
                  </a:cubicBezTo>
                  <a:lnTo>
                    <a:pt x="114300" y="704850"/>
                  </a:lnTo>
                  <a:cubicBezTo>
                    <a:pt x="51174" y="704850"/>
                    <a:pt x="0" y="653676"/>
                    <a:pt x="0" y="5905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458325" y="1524000"/>
              <a:ext cx="1381125" cy="704850"/>
            </a:xfrm>
            <a:custGeom>
              <a:avLst/>
              <a:gdLst/>
              <a:ahLst/>
              <a:cxnLst/>
              <a:rect l="l" t="t" r="r" b="b"/>
              <a:pathLst>
                <a:path w="1381125" h="704850">
                  <a:moveTo>
                    <a:pt x="114300" y="0"/>
                  </a:moveTo>
                  <a:lnTo>
                    <a:pt x="1266825" y="0"/>
                  </a:lnTo>
                  <a:cubicBezTo>
                    <a:pt x="1329951" y="0"/>
                    <a:pt x="1381125" y="51174"/>
                    <a:pt x="1381125" y="114300"/>
                  </a:cubicBezTo>
                  <a:lnTo>
                    <a:pt x="1381125" y="590550"/>
                  </a:lnTo>
                  <a:cubicBezTo>
                    <a:pt x="1381125" y="653676"/>
                    <a:pt x="1329951" y="704850"/>
                    <a:pt x="1266825" y="704850"/>
                  </a:cubicBezTo>
                  <a:lnTo>
                    <a:pt x="114300" y="704850"/>
                  </a:lnTo>
                  <a:cubicBezTo>
                    <a:pt x="51174" y="704850"/>
                    <a:pt x="0" y="653676"/>
                    <a:pt x="0" y="5905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591550" y="2667000"/>
              <a:ext cx="1381125" cy="704850"/>
            </a:xfrm>
            <a:custGeom>
              <a:avLst/>
              <a:gdLst/>
              <a:ahLst/>
              <a:cxnLst/>
              <a:rect l="l" t="t" r="r" b="b"/>
              <a:pathLst>
                <a:path w="1381125" h="704850">
                  <a:moveTo>
                    <a:pt x="114300" y="0"/>
                  </a:moveTo>
                  <a:lnTo>
                    <a:pt x="1266825" y="0"/>
                  </a:lnTo>
                  <a:cubicBezTo>
                    <a:pt x="1329951" y="0"/>
                    <a:pt x="1381125" y="51174"/>
                    <a:pt x="1381125" y="114300"/>
                  </a:cubicBezTo>
                  <a:lnTo>
                    <a:pt x="1381125" y="590550"/>
                  </a:lnTo>
                  <a:cubicBezTo>
                    <a:pt x="1381125" y="653676"/>
                    <a:pt x="1329951" y="704850"/>
                    <a:pt x="1266825" y="704850"/>
                  </a:cubicBezTo>
                  <a:lnTo>
                    <a:pt x="114300" y="704850"/>
                  </a:lnTo>
                  <a:cubicBezTo>
                    <a:pt x="51174" y="704850"/>
                    <a:pt x="0" y="653676"/>
                    <a:pt x="0" y="5905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23812">
              <a:solidFill>
                <a:schemeClr val="accent2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715250" y="3848100"/>
              <a:ext cx="1381125" cy="704850"/>
            </a:xfrm>
            <a:custGeom>
              <a:avLst/>
              <a:gdLst/>
              <a:ahLst/>
              <a:cxnLst/>
              <a:rect l="l" t="t" r="r" b="b"/>
              <a:pathLst>
                <a:path w="1381125" h="704850">
                  <a:moveTo>
                    <a:pt x="114300" y="0"/>
                  </a:moveTo>
                  <a:lnTo>
                    <a:pt x="1266825" y="0"/>
                  </a:lnTo>
                  <a:cubicBezTo>
                    <a:pt x="1329951" y="0"/>
                    <a:pt x="1381125" y="51174"/>
                    <a:pt x="1381125" y="114300"/>
                  </a:cubicBezTo>
                  <a:lnTo>
                    <a:pt x="1381125" y="590550"/>
                  </a:lnTo>
                  <a:cubicBezTo>
                    <a:pt x="1381125" y="653676"/>
                    <a:pt x="1329951" y="704850"/>
                    <a:pt x="1266825" y="704850"/>
                  </a:cubicBezTo>
                  <a:lnTo>
                    <a:pt x="114300" y="704850"/>
                  </a:lnTo>
                  <a:cubicBezTo>
                    <a:pt x="51174" y="704850"/>
                    <a:pt x="0" y="653676"/>
                    <a:pt x="0" y="5905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458325" y="3848100"/>
              <a:ext cx="1381125" cy="704850"/>
            </a:xfrm>
            <a:custGeom>
              <a:avLst/>
              <a:gdLst/>
              <a:ahLst/>
              <a:cxnLst/>
              <a:rect l="l" t="t" r="r" b="b"/>
              <a:pathLst>
                <a:path w="1381125" h="704850">
                  <a:moveTo>
                    <a:pt x="114300" y="0"/>
                  </a:moveTo>
                  <a:lnTo>
                    <a:pt x="1266825" y="0"/>
                  </a:lnTo>
                  <a:cubicBezTo>
                    <a:pt x="1329951" y="0"/>
                    <a:pt x="1381125" y="51174"/>
                    <a:pt x="1381125" y="114300"/>
                  </a:cubicBezTo>
                  <a:lnTo>
                    <a:pt x="1381125" y="590550"/>
                  </a:lnTo>
                  <a:cubicBezTo>
                    <a:pt x="1381125" y="653676"/>
                    <a:pt x="1329951" y="704850"/>
                    <a:pt x="1266825" y="704850"/>
                  </a:cubicBezTo>
                  <a:lnTo>
                    <a:pt x="114300" y="704850"/>
                  </a:lnTo>
                  <a:cubicBezTo>
                    <a:pt x="51174" y="704850"/>
                    <a:pt x="0" y="653676"/>
                    <a:pt x="0" y="5905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8401050" y="2228850"/>
              <a:ext cx="600075" cy="438150"/>
            </a:xfrm>
            <a:custGeom>
              <a:avLst/>
              <a:gdLst/>
              <a:ahLst/>
              <a:cxnLst/>
              <a:rect l="l" t="t" r="r" b="b"/>
              <a:pathLst>
                <a:path w="600075" h="438150">
                  <a:moveTo>
                    <a:pt x="0" y="0"/>
                  </a:moveTo>
                  <a:lnTo>
                    <a:pt x="600075" y="4381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9544050" y="2228850"/>
              <a:ext cx="600075" cy="438150"/>
            </a:xfrm>
            <a:custGeom>
              <a:avLst/>
              <a:gdLst/>
              <a:ahLst/>
              <a:cxnLst/>
              <a:rect l="l" t="t" r="r" b="b"/>
              <a:pathLst>
                <a:path w="600075" h="438150">
                  <a:moveTo>
                    <a:pt x="600075" y="0"/>
                  </a:moveTo>
                  <a:lnTo>
                    <a:pt x="0" y="4381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8401050" y="3371850"/>
              <a:ext cx="876300" cy="476250"/>
            </a:xfrm>
            <a:custGeom>
              <a:avLst/>
              <a:gdLst/>
              <a:ahLst/>
              <a:cxnLst/>
              <a:rect l="l" t="t" r="r" b="b"/>
              <a:pathLst>
                <a:path w="876300" h="476250">
                  <a:moveTo>
                    <a:pt x="87630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9277350" y="3371850"/>
              <a:ext cx="866775" cy="476250"/>
            </a:xfrm>
            <a:custGeom>
              <a:avLst/>
              <a:gdLst/>
              <a:ahLst/>
              <a:cxnLst/>
              <a:rect l="l" t="t" r="r" b="b"/>
              <a:pathLst>
                <a:path w="866775" h="476250">
                  <a:moveTo>
                    <a:pt x="0" y="0"/>
                  </a:moveTo>
                  <a:lnTo>
                    <a:pt x="866775" y="4762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9096375" y="1876425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300000" sp="300000"/>
              </a:custDash>
            </a:ln>
          </p:spPr>
        </p:sp>
        <p:sp>
          <p:nvSpPr>
            <p:cNvPr id="49" name="Line 49"/>
            <p:cNvSpPr/>
            <p:nvPr/>
          </p:nvSpPr>
          <p:spPr>
            <a:xfrm>
              <a:off x="9096375" y="4200525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300000" sp="300000"/>
              </a:custDash>
            </a:ln>
          </p:spPr>
        </p:sp>
        <p:sp>
          <p:nvSpPr>
            <p:cNvPr id="50" name="Ellipse 50"/>
            <p:cNvSpPr/>
            <p:nvPr/>
          </p:nvSpPr>
          <p:spPr>
            <a:xfrm>
              <a:off x="8334375" y="1809750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10077450" y="1809750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9191625" y="2933700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8334375" y="4133850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10077450" y="4133850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055712" y="16897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72234" y="193167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统一客户与渠道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13976" y="168973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715310" y="193167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触达编排与协同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83176" y="2816542"/>
              <a:ext cx="5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66798" y="3074670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洞察、预测、决策建议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55712" y="40138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线索培育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72234" y="425577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分层运营与转化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98787" y="40138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654730" y="4255770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归因、复盘、优化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6334125" y="3019425"/>
              <a:ext cx="1190625" cy="314325"/>
            </a:xfrm>
            <a:custGeom>
              <a:avLst/>
              <a:gdLst/>
              <a:ahLst/>
              <a:cxnLst/>
              <a:rect l="l" t="t" r="r" b="b"/>
              <a:pathLst>
                <a:path w="1190625" h="314325">
                  <a:moveTo>
                    <a:pt x="0" y="314325"/>
                  </a:moveTo>
                  <a:cubicBezTo>
                    <a:pt x="666750" y="314325"/>
                    <a:pt x="904875" y="0"/>
                    <a:pt x="1190625" y="0"/>
                  </a:cubicBezTo>
                </a:path>
              </a:pathLst>
            </a:cu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66" name="Ellipse 66"/>
            <p:cNvSpPr/>
            <p:nvPr/>
          </p:nvSpPr>
          <p:spPr>
            <a:xfrm>
              <a:off x="6296025" y="32956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571500" y="4838700"/>
              <a:ext cx="4953000" cy="1257300"/>
            </a:xfrm>
            <a:custGeom>
              <a:avLst/>
              <a:gdLst/>
              <a:ahLst/>
              <a:cxnLst/>
              <a:rect l="l" t="t" r="r" b="b"/>
              <a:pathLst>
                <a:path w="4953000" h="1257300">
                  <a:moveTo>
                    <a:pt x="133350" y="0"/>
                  </a:moveTo>
                  <a:lnTo>
                    <a:pt x="4819650" y="0"/>
                  </a:lnTo>
                  <a:cubicBezTo>
                    <a:pt x="4893297" y="0"/>
                    <a:pt x="4953000" y="59703"/>
                    <a:pt x="4953000" y="133350"/>
                  </a:cubicBezTo>
                  <a:lnTo>
                    <a:pt x="4953000" y="1123950"/>
                  </a:lnTo>
                  <a:cubicBezTo>
                    <a:pt x="4953000" y="1197597"/>
                    <a:pt x="4893297" y="1257300"/>
                    <a:pt x="4819650" y="1257300"/>
                  </a:cubicBezTo>
                  <a:lnTo>
                    <a:pt x="133350" y="1257300"/>
                  </a:lnTo>
                  <a:cubicBezTo>
                    <a:pt x="59703" y="1257300"/>
                    <a:pt x="0" y="1197597"/>
                    <a:pt x="0" y="11239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857250" y="52578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50392" y="4959668"/>
              <a:ext cx="2896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适用场景 / 决策重点 / 交付形态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51154" y="54140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适用场景：多渠道获客、线索培育、存量运营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1154" y="56807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决策重点：增长效率、组织协同、投入产出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1154" y="5947410"/>
              <a:ext cx="38660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交付形态：可配置、可审计、可持续扩展的SaaS平台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539038" y="931545"/>
            <a:ext cx="2943796" cy="5065966"/>
            <a:chOff x="7539038" y="931545"/>
            <a:chExt cx="2943796" cy="5065966"/>
          </a:xfrm>
        </p:grpSpPr>
        <p:sp>
          <p:nvSpPr>
            <p:cNvPr id="74" name="TextBox 74"/>
            <p:cNvSpPr txBox="1"/>
            <p:nvPr/>
          </p:nvSpPr>
          <p:spPr>
            <a:xfrm>
              <a:off x="7539038" y="931545"/>
              <a:ext cx="10656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9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BLUEPRINT AXIS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10550" y="57921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从数据到底层执行，再回到经营度量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9124950" y="5772150"/>
              <a:ext cx="1352550" cy="9525"/>
            </a:xfrm>
            <a:custGeom>
              <a:avLst/>
              <a:gdLst/>
              <a:ahLst/>
              <a:cxnLst/>
              <a:rect l="l" t="t" r="r" b="b"/>
              <a:pathLst>
                <a:path w="1352550" h="9525">
                  <a:moveTo>
                    <a:pt x="0" y="0"/>
                  </a:moveTo>
                  <a:lnTo>
                    <a:pt x="13525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762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096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477250" y="11430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8667750" y="11430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858250" y="11430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477250" y="571500"/>
              <a:ext cx="2857500" cy="2857500"/>
            </a:xfrm>
            <a:prstGeom prst="ellipse">
              <a:avLst/>
            </a:prstGeom>
            <a:solidFill>
              <a:schemeClr val="accent2">
                <a:alpha val="6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286875" y="1381125"/>
              <a:ext cx="2000250" cy="2000250"/>
            </a:xfrm>
            <a:prstGeom prst="ellipse">
              <a:avLst/>
            </a:prstGeom>
            <a:solidFill>
              <a:schemeClr val="accent3">
                <a:alpha val="7000"/>
              </a:scheme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57784" y="381952"/>
            <a:ext cx="11106570" cy="6091714"/>
            <a:chOff x="557784" y="381952"/>
            <a:chExt cx="11106570" cy="6091714"/>
          </a:xfrm>
        </p:grpSpPr>
        <p:sp>
          <p:nvSpPr>
            <p:cNvPr id="12" name="TextBox 12"/>
            <p:cNvSpPr txBox="1"/>
            <p:nvPr/>
          </p:nvSpPr>
          <p:spPr>
            <a:xfrm>
              <a:off x="566166" y="381952"/>
              <a:ext cx="664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7784" y="85153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核心判断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71500" y="129540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6738" y="63117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63238" y="63117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1524000"/>
            <a:ext cx="11049000" cy="4271201"/>
            <a:chOff x="571500" y="1524000"/>
            <a:chExt cx="11049000" cy="4271201"/>
          </a:xfrm>
        </p:grpSpPr>
        <p:sp>
          <p:nvSpPr>
            <p:cNvPr id="18" name="Freeform 18"/>
            <p:cNvSpPr/>
            <p:nvPr/>
          </p:nvSpPr>
          <p:spPr>
            <a:xfrm>
              <a:off x="571500" y="1695450"/>
              <a:ext cx="7239000" cy="2647950"/>
            </a:xfrm>
            <a:custGeom>
              <a:avLst/>
              <a:gdLst/>
              <a:ahLst/>
              <a:cxnLst/>
              <a:rect l="l" t="t" r="r" b="b"/>
              <a:pathLst>
                <a:path w="7239000" h="2647950">
                  <a:moveTo>
                    <a:pt x="152400" y="0"/>
                  </a:moveTo>
                  <a:lnTo>
                    <a:pt x="7086600" y="0"/>
                  </a:lnTo>
                  <a:cubicBezTo>
                    <a:pt x="7170768" y="0"/>
                    <a:pt x="7239000" y="68232"/>
                    <a:pt x="7239000" y="152400"/>
                  </a:cubicBezTo>
                  <a:lnTo>
                    <a:pt x="7239000" y="2495550"/>
                  </a:lnTo>
                  <a:cubicBezTo>
                    <a:pt x="7239000" y="2579718"/>
                    <a:pt x="7170768" y="2647950"/>
                    <a:pt x="7086600" y="2647950"/>
                  </a:cubicBezTo>
                  <a:lnTo>
                    <a:pt x="152400" y="2647950"/>
                  </a:lnTo>
                  <a:cubicBezTo>
                    <a:pt x="68232" y="2647950"/>
                    <a:pt x="0" y="2579718"/>
                    <a:pt x="0" y="24955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1500" y="1695450"/>
              <a:ext cx="95250" cy="2647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1639" y="2111216"/>
              <a:ext cx="561052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企业营销的主要瓶颈已从流量获取转向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1639" y="2587466"/>
              <a:ext cx="611991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“数据不能联、策略不能快、执行不能稳、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1639" y="3063716"/>
              <a:ext cx="217622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效果不能清”。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8477250" y="1524000"/>
              <a:ext cx="3143250" cy="1143000"/>
            </a:xfrm>
            <a:custGeom>
              <a:avLst/>
              <a:gdLst/>
              <a:ahLst/>
              <a:cxnLst/>
              <a:rect l="l" t="t" r="r" b="b"/>
              <a:pathLst>
                <a:path w="3143250" h="1143000">
                  <a:moveTo>
                    <a:pt x="133350" y="0"/>
                  </a:moveTo>
                  <a:lnTo>
                    <a:pt x="3009900" y="0"/>
                  </a:lnTo>
                  <a:cubicBezTo>
                    <a:pt x="3083547" y="0"/>
                    <a:pt x="3143250" y="59703"/>
                    <a:pt x="3143250" y="133350"/>
                  </a:cubicBezTo>
                  <a:lnTo>
                    <a:pt x="3143250" y="1009650"/>
                  </a:lnTo>
                  <a:cubicBezTo>
                    <a:pt x="3143250" y="1083297"/>
                    <a:pt x="3083547" y="1143000"/>
                    <a:pt x="3009900" y="1143000"/>
                  </a:cubicBezTo>
                  <a:lnTo>
                    <a:pt x="133350" y="1143000"/>
                  </a:lnTo>
                  <a:cubicBezTo>
                    <a:pt x="59703" y="1143000"/>
                    <a:pt x="0" y="1083297"/>
                    <a:pt x="0" y="1009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54618" y="1774508"/>
              <a:ext cx="12489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数据不能联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56904" y="21564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客户、媒介、交易数据难以贯通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11020425" y="1924050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1106150" y="2028825"/>
              <a:ext cx="180975" cy="133350"/>
            </a:xfrm>
            <a:custGeom>
              <a:avLst/>
              <a:gdLst/>
              <a:ahLst/>
              <a:cxnLst/>
              <a:rect l="l" t="t" r="r" b="b"/>
              <a:pathLst>
                <a:path w="180975" h="133350">
                  <a:moveTo>
                    <a:pt x="0" y="66675"/>
                  </a:moveTo>
                  <a:lnTo>
                    <a:pt x="66675" y="133350"/>
                  </a:lnTo>
                  <a:lnTo>
                    <a:pt x="180975" y="0"/>
                  </a:lnTo>
                </a:path>
              </a:pathLst>
            </a:custGeom>
            <a:noFill/>
            <a:ln w="20955" cap="rnd">
              <a:solidFill>
                <a:schemeClr val="accent2"/>
              </a:solidFill>
              <a:round/>
            </a:ln>
          </p:spPr>
        </p:sp>
        <p:sp>
          <p:nvSpPr>
            <p:cNvPr id="28" name="Freeform 28"/>
            <p:cNvSpPr/>
            <p:nvPr/>
          </p:nvSpPr>
          <p:spPr>
            <a:xfrm>
              <a:off x="8477250" y="2933700"/>
              <a:ext cx="3143250" cy="1143000"/>
            </a:xfrm>
            <a:custGeom>
              <a:avLst/>
              <a:gdLst/>
              <a:ahLst/>
              <a:cxnLst/>
              <a:rect l="l" t="t" r="r" b="b"/>
              <a:pathLst>
                <a:path w="3143250" h="1143000">
                  <a:moveTo>
                    <a:pt x="133350" y="0"/>
                  </a:moveTo>
                  <a:lnTo>
                    <a:pt x="3009900" y="0"/>
                  </a:lnTo>
                  <a:cubicBezTo>
                    <a:pt x="3083547" y="0"/>
                    <a:pt x="3143250" y="59703"/>
                    <a:pt x="3143250" y="133350"/>
                  </a:cubicBezTo>
                  <a:lnTo>
                    <a:pt x="3143250" y="1009650"/>
                  </a:lnTo>
                  <a:cubicBezTo>
                    <a:pt x="3143250" y="1083297"/>
                    <a:pt x="3083547" y="1143000"/>
                    <a:pt x="3009900" y="1143000"/>
                  </a:cubicBezTo>
                  <a:lnTo>
                    <a:pt x="133350" y="1143000"/>
                  </a:lnTo>
                  <a:cubicBezTo>
                    <a:pt x="59703" y="1143000"/>
                    <a:pt x="0" y="1083297"/>
                    <a:pt x="0" y="1009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54618" y="3184208"/>
              <a:ext cx="12489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策略不能快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56904" y="35661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分析结果难以快速转成动作方案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11020425" y="3333750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1068050" y="3409950"/>
              <a:ext cx="247650" cy="190500"/>
            </a:xfrm>
            <a:custGeom>
              <a:avLst/>
              <a:gdLst/>
              <a:ahLst/>
              <a:cxnLst/>
              <a:rect l="l" t="t" r="r" b="b"/>
              <a:pathLst>
                <a:path w="247650" h="190500">
                  <a:moveTo>
                    <a:pt x="0" y="95250"/>
                  </a:moveTo>
                  <a:lnTo>
                    <a:pt x="247650" y="95250"/>
                  </a:lnTo>
                  <a:moveTo>
                    <a:pt x="152400" y="0"/>
                  </a:moveTo>
                  <a:lnTo>
                    <a:pt x="247650" y="95250"/>
                  </a:lnTo>
                  <a:lnTo>
                    <a:pt x="152400" y="190500"/>
                  </a:lnTo>
                </a:path>
              </a:pathLst>
            </a:custGeom>
            <a:noFill/>
            <a:ln w="20955" cap="rnd">
              <a:solidFill>
                <a:schemeClr val="accent2"/>
              </a:solidFill>
              <a:round/>
            </a:ln>
          </p:spPr>
        </p:sp>
        <p:sp>
          <p:nvSpPr>
            <p:cNvPr id="33" name="Freeform 33"/>
            <p:cNvSpPr/>
            <p:nvPr/>
          </p:nvSpPr>
          <p:spPr>
            <a:xfrm>
              <a:off x="8477250" y="4343400"/>
              <a:ext cx="3143250" cy="1143000"/>
            </a:xfrm>
            <a:custGeom>
              <a:avLst/>
              <a:gdLst/>
              <a:ahLst/>
              <a:cxnLst/>
              <a:rect l="l" t="t" r="r" b="b"/>
              <a:pathLst>
                <a:path w="3143250" h="1143000">
                  <a:moveTo>
                    <a:pt x="133350" y="0"/>
                  </a:moveTo>
                  <a:lnTo>
                    <a:pt x="3009900" y="0"/>
                  </a:lnTo>
                  <a:cubicBezTo>
                    <a:pt x="3083547" y="0"/>
                    <a:pt x="3143250" y="59703"/>
                    <a:pt x="3143250" y="133350"/>
                  </a:cubicBezTo>
                  <a:lnTo>
                    <a:pt x="3143250" y="1009650"/>
                  </a:lnTo>
                  <a:cubicBezTo>
                    <a:pt x="3143250" y="1083297"/>
                    <a:pt x="3083547" y="1143000"/>
                    <a:pt x="3009900" y="1143000"/>
                  </a:cubicBezTo>
                  <a:lnTo>
                    <a:pt x="133350" y="1143000"/>
                  </a:lnTo>
                  <a:cubicBezTo>
                    <a:pt x="59703" y="1143000"/>
                    <a:pt x="0" y="1083297"/>
                    <a:pt x="0" y="1009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4593908"/>
              <a:ext cx="12489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执行不能稳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904" y="49758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触达链路分散，过程仍依赖人工搬运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11020425" y="4743450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1077575" y="4829175"/>
              <a:ext cx="228600" cy="171450"/>
            </a:xfrm>
            <a:custGeom>
              <a:avLst/>
              <a:gdLst/>
              <a:ahLst/>
              <a:cxnLst/>
              <a:rect l="l" t="t" r="r" b="b"/>
              <a:pathLst>
                <a:path w="228600" h="171450">
                  <a:moveTo>
                    <a:pt x="0" y="85725"/>
                  </a:moveTo>
                  <a:cubicBezTo>
                    <a:pt x="38100" y="0"/>
                    <a:pt x="190500" y="0"/>
                    <a:pt x="228600" y="85725"/>
                  </a:cubicBezTo>
                  <a:cubicBezTo>
                    <a:pt x="190500" y="171450"/>
                    <a:pt x="38100" y="171450"/>
                    <a:pt x="0" y="85725"/>
                  </a:cubicBez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810500" y="2095500"/>
              <a:ext cx="666750" cy="266700"/>
            </a:xfrm>
            <a:custGeom>
              <a:avLst/>
              <a:gdLst/>
              <a:ahLst/>
              <a:cxnLst/>
              <a:rect l="l" t="t" r="r" b="b"/>
              <a:pathLst>
                <a:path w="666750" h="266700">
                  <a:moveTo>
                    <a:pt x="0" y="266700"/>
                  </a:moveTo>
                  <a:cubicBezTo>
                    <a:pt x="381000" y="266700"/>
                    <a:pt x="285750" y="0"/>
                    <a:pt x="666750" y="0"/>
                  </a:cubicBezTo>
                </a:path>
              </a:pathLst>
            </a:cu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7810500" y="3028950"/>
              <a:ext cx="666750" cy="476250"/>
            </a:xfrm>
            <a:custGeom>
              <a:avLst/>
              <a:gdLst/>
              <a:ahLst/>
              <a:cxnLst/>
              <a:rect l="l" t="t" r="r" b="b"/>
              <a:pathLst>
                <a:path w="666750" h="476250">
                  <a:moveTo>
                    <a:pt x="0" y="0"/>
                  </a:moveTo>
                  <a:cubicBezTo>
                    <a:pt x="381000" y="0"/>
                    <a:pt x="285750" y="476250"/>
                    <a:pt x="666750" y="476250"/>
                  </a:cubicBezTo>
                </a:path>
              </a:pathLst>
            </a:cu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0" name="Freeform 40"/>
            <p:cNvSpPr/>
            <p:nvPr/>
          </p:nvSpPr>
          <p:spPr>
            <a:xfrm>
              <a:off x="7810500" y="3695700"/>
              <a:ext cx="666750" cy="1219200"/>
            </a:xfrm>
            <a:custGeom>
              <a:avLst/>
              <a:gdLst/>
              <a:ahLst/>
              <a:cxnLst/>
              <a:rect l="l" t="t" r="r" b="b"/>
              <a:pathLst>
                <a:path w="666750" h="1219200">
                  <a:moveTo>
                    <a:pt x="0" y="0"/>
                  </a:moveTo>
                  <a:cubicBezTo>
                    <a:pt x="381000" y="0"/>
                    <a:pt x="285750" y="1219200"/>
                    <a:pt x="666750" y="1219200"/>
                  </a:cubicBezTo>
                </a:path>
              </a:pathLst>
            </a:cu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1" name="Freeform 41"/>
            <p:cNvSpPr/>
            <p:nvPr/>
          </p:nvSpPr>
          <p:spPr>
            <a:xfrm>
              <a:off x="571500" y="4762500"/>
              <a:ext cx="7239000" cy="914400"/>
            </a:xfrm>
            <a:custGeom>
              <a:avLst/>
              <a:gdLst/>
              <a:ahLst/>
              <a:cxnLst/>
              <a:rect l="l" t="t" r="r" b="b"/>
              <a:pathLst>
                <a:path w="7239000" h="914400">
                  <a:moveTo>
                    <a:pt x="114300" y="0"/>
                  </a:moveTo>
                  <a:lnTo>
                    <a:pt x="7124700" y="0"/>
                  </a:lnTo>
                  <a:cubicBezTo>
                    <a:pt x="7187826" y="0"/>
                    <a:pt x="7239000" y="51174"/>
                    <a:pt x="7239000" y="114300"/>
                  </a:cubicBezTo>
                  <a:lnTo>
                    <a:pt x="7239000" y="800100"/>
                  </a:lnTo>
                  <a:cubicBezTo>
                    <a:pt x="7239000" y="863226"/>
                    <a:pt x="7187826" y="914400"/>
                    <a:pt x="7124700" y="914400"/>
                  </a:cubicBezTo>
                  <a:lnTo>
                    <a:pt x="114300" y="914400"/>
                  </a:lnTo>
                  <a:cubicBezTo>
                    <a:pt x="51174" y="914400"/>
                    <a:pt x="0" y="863226"/>
                    <a:pt x="0" y="800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47725" y="50006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78992" y="49596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数据整合缺位，客户视图碎片化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847725" y="52863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78992" y="5245418"/>
              <a:ext cx="30572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AI分析分散，洞察无法进入日常动作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847725" y="55721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78992" y="55311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自动化执行断层，策略到触达仍靠人工搬运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253538" y="5770245"/>
            <a:ext cx="2123732" cy="176212"/>
            <a:chOff x="9253538" y="5770245"/>
            <a:chExt cx="2123732" cy="176212"/>
          </a:xfrm>
        </p:grpSpPr>
        <p:sp>
          <p:nvSpPr>
            <p:cNvPr id="49" name="TextBox 49"/>
            <p:cNvSpPr txBox="1"/>
            <p:nvPr/>
          </p:nvSpPr>
          <p:spPr>
            <a:xfrm>
              <a:off x="9253538" y="5770245"/>
              <a:ext cx="21237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decision focus / one core judgement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-142875"/>
            <a:ext cx="12192000" cy="7191375"/>
            <a:chOff x="0" y="-142875"/>
            <a:chExt cx="12192000" cy="719137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476250"/>
              <a:ext cx="11049000" cy="590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048750" y="-142875"/>
              <a:ext cx="2286000" cy="2286000"/>
            </a:xfrm>
            <a:prstGeom prst="ellipse">
              <a:avLst/>
            </a:prstGeom>
            <a:solidFill>
              <a:schemeClr val="accent2">
                <a:alpha val="6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571500" y="4953000"/>
              <a:ext cx="2095500" cy="2095500"/>
            </a:xfrm>
            <a:prstGeom prst="ellipse">
              <a:avLst/>
            </a:prstGeom>
            <a:solidFill>
              <a:schemeClr val="accent3">
                <a:alpha val="7000"/>
              </a:scheme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1123950"/>
              <a:ext cx="9525" cy="4972050"/>
            </a:xfrm>
            <a:custGeom>
              <a:avLst/>
              <a:gdLst/>
              <a:ahLst/>
              <a:cxnLst/>
              <a:rect l="l" t="t" r="r" b="b"/>
              <a:pathLst>
                <a:path w="9525" h="4972050">
                  <a:moveTo>
                    <a:pt x="0" y="0"/>
                  </a:moveTo>
                  <a:lnTo>
                    <a:pt x="0" y="49720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924550" y="1447800"/>
              <a:ext cx="342900" cy="4152900"/>
            </a:xfrm>
            <a:custGeom>
              <a:avLst/>
              <a:gdLst/>
              <a:ahLst/>
              <a:cxnLst/>
              <a:rect l="l" t="t" r="r" b="b"/>
              <a:pathLst>
                <a:path w="342900" h="4152900">
                  <a:moveTo>
                    <a:pt x="171450" y="0"/>
                  </a:moveTo>
                  <a:lnTo>
                    <a:pt x="171450" y="0"/>
                  </a:lnTo>
                  <a:cubicBezTo>
                    <a:pt x="266139" y="0"/>
                    <a:pt x="342900" y="76761"/>
                    <a:pt x="342900" y="171450"/>
                  </a:cubicBezTo>
                  <a:lnTo>
                    <a:pt x="342900" y="3981450"/>
                  </a:lnTo>
                  <a:cubicBezTo>
                    <a:pt x="342900" y="4076139"/>
                    <a:pt x="266139" y="4152900"/>
                    <a:pt x="171450" y="4152900"/>
                  </a:cubicBezTo>
                  <a:lnTo>
                    <a:pt x="171450" y="4152900"/>
                  </a:lnTo>
                  <a:cubicBezTo>
                    <a:pt x="76761" y="4152900"/>
                    <a:pt x="0" y="4076139"/>
                    <a:pt x="0" y="398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accent6"/>
                </a:gs>
                <a:gs pos="100000">
                  <a:schemeClr val="lt1"/>
                </a:gs>
              </a:gsLst>
              <a:lin ang="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19150" y="1962150"/>
              <a:ext cx="4838700" cy="9525"/>
            </a:xfrm>
            <a:custGeom>
              <a:avLst/>
              <a:gdLst/>
              <a:ahLst/>
              <a:cxnLst/>
              <a:rect l="l" t="t" r="r" b="b"/>
              <a:pathLst>
                <a:path w="4838700" h="9525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534150" y="1962150"/>
              <a:ext cx="4838700" cy="9525"/>
            </a:xfrm>
            <a:custGeom>
              <a:avLst/>
              <a:gdLst/>
              <a:ahLst/>
              <a:cxnLst/>
              <a:rect l="l" t="t" r="r" b="b"/>
              <a:pathLst>
                <a:path w="4838700" h="9525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57784" y="686752"/>
            <a:ext cx="11062716" cy="5996464"/>
            <a:chOff x="557784" y="686752"/>
            <a:chExt cx="11062716" cy="5996464"/>
          </a:xfrm>
        </p:grpSpPr>
        <p:sp>
          <p:nvSpPr>
            <p:cNvPr id="11" name="TextBox 11"/>
            <p:cNvSpPr txBox="1"/>
            <p:nvPr/>
          </p:nvSpPr>
          <p:spPr>
            <a:xfrm>
              <a:off x="566166" y="686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784" y="908685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两种运营模式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1371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3880" y="151447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差距不在工具数量，而在是否形成从判断到执行的连续系统。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738" y="65212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9832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00100" y="2152650"/>
            <a:ext cx="10591800" cy="3733800"/>
            <a:chOff x="800100" y="2152650"/>
            <a:chExt cx="10591800" cy="3733800"/>
          </a:xfrm>
        </p:grpSpPr>
        <p:sp>
          <p:nvSpPr>
            <p:cNvPr id="18" name="Freeform 18"/>
            <p:cNvSpPr/>
            <p:nvPr/>
          </p:nvSpPr>
          <p:spPr>
            <a:xfrm>
              <a:off x="800100" y="2152650"/>
              <a:ext cx="4953000" cy="2857500"/>
            </a:xfrm>
            <a:custGeom>
              <a:avLst/>
              <a:gdLst/>
              <a:ahLst/>
              <a:cxnLst/>
              <a:rect l="l" t="t" r="r" b="b"/>
              <a:pathLst>
                <a:path w="4953000" h="2857500">
                  <a:moveTo>
                    <a:pt x="114300" y="0"/>
                  </a:moveTo>
                  <a:lnTo>
                    <a:pt x="4838700" y="0"/>
                  </a:lnTo>
                  <a:cubicBezTo>
                    <a:pt x="4901826" y="0"/>
                    <a:pt x="4953000" y="51174"/>
                    <a:pt x="4953000" y="114300"/>
                  </a:cubicBezTo>
                  <a:lnTo>
                    <a:pt x="4953000" y="2743200"/>
                  </a:lnTo>
                  <a:cubicBezTo>
                    <a:pt x="4953000" y="2806326"/>
                    <a:pt x="4901826" y="2857500"/>
                    <a:pt x="4838700" y="2857500"/>
                  </a:cubicBezTo>
                  <a:lnTo>
                    <a:pt x="114300" y="2857500"/>
                  </a:lnTo>
                  <a:cubicBezTo>
                    <a:pt x="51174" y="2857500"/>
                    <a:pt x="0" y="2806326"/>
                    <a:pt x="0" y="2743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438900" y="2152650"/>
              <a:ext cx="4953000" cy="2857500"/>
            </a:xfrm>
            <a:custGeom>
              <a:avLst/>
              <a:gdLst/>
              <a:ahLst/>
              <a:cxnLst/>
              <a:rect l="l" t="t" r="r" b="b"/>
              <a:pathLst>
                <a:path w="4953000" h="2857500">
                  <a:moveTo>
                    <a:pt x="114300" y="0"/>
                  </a:moveTo>
                  <a:lnTo>
                    <a:pt x="4838700" y="0"/>
                  </a:lnTo>
                  <a:cubicBezTo>
                    <a:pt x="4901826" y="0"/>
                    <a:pt x="4953000" y="51174"/>
                    <a:pt x="4953000" y="114300"/>
                  </a:cubicBezTo>
                  <a:lnTo>
                    <a:pt x="4953000" y="2743200"/>
                  </a:lnTo>
                  <a:cubicBezTo>
                    <a:pt x="4953000" y="2806326"/>
                    <a:pt x="4901826" y="2857500"/>
                    <a:pt x="4838700" y="2857500"/>
                  </a:cubicBezTo>
                  <a:lnTo>
                    <a:pt x="114300" y="2857500"/>
                  </a:lnTo>
                  <a:cubicBezTo>
                    <a:pt x="51174" y="2857500"/>
                    <a:pt x="0" y="2806326"/>
                    <a:pt x="0" y="2743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00100" y="2152650"/>
              <a:ext cx="4953000" cy="552450"/>
            </a:xfrm>
            <a:custGeom>
              <a:avLst/>
              <a:gdLst/>
              <a:ahLst/>
              <a:cxnLst/>
              <a:rect l="l" t="t" r="r" b="b"/>
              <a:pathLst>
                <a:path w="4953000" h="552450">
                  <a:moveTo>
                    <a:pt x="114300" y="0"/>
                  </a:moveTo>
                  <a:lnTo>
                    <a:pt x="4838700" y="0"/>
                  </a:lnTo>
                  <a:cubicBezTo>
                    <a:pt x="4901826" y="0"/>
                    <a:pt x="4953000" y="51174"/>
                    <a:pt x="4953000" y="114300"/>
                  </a:cubicBezTo>
                  <a:lnTo>
                    <a:pt x="4953000" y="438150"/>
                  </a:lnTo>
                  <a:cubicBezTo>
                    <a:pt x="4953000" y="501276"/>
                    <a:pt x="4901826" y="552450"/>
                    <a:pt x="4838700" y="552450"/>
                  </a:cubicBezTo>
                  <a:lnTo>
                    <a:pt x="114300" y="552450"/>
                  </a:lnTo>
                  <a:cubicBezTo>
                    <a:pt x="51174" y="552450"/>
                    <a:pt x="0" y="501276"/>
                    <a:pt x="0" y="4381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438900" y="2152650"/>
              <a:ext cx="4953000" cy="552450"/>
            </a:xfrm>
            <a:custGeom>
              <a:avLst/>
              <a:gdLst/>
              <a:ahLst/>
              <a:cxnLst/>
              <a:rect l="l" t="t" r="r" b="b"/>
              <a:pathLst>
                <a:path w="4953000" h="552450">
                  <a:moveTo>
                    <a:pt x="114300" y="0"/>
                  </a:moveTo>
                  <a:lnTo>
                    <a:pt x="4838700" y="0"/>
                  </a:lnTo>
                  <a:cubicBezTo>
                    <a:pt x="4901826" y="0"/>
                    <a:pt x="4953000" y="51174"/>
                    <a:pt x="4953000" y="114300"/>
                  </a:cubicBezTo>
                  <a:lnTo>
                    <a:pt x="4953000" y="438150"/>
                  </a:lnTo>
                  <a:cubicBezTo>
                    <a:pt x="4953000" y="501276"/>
                    <a:pt x="4901826" y="552450"/>
                    <a:pt x="4838700" y="552450"/>
                  </a:cubicBezTo>
                  <a:lnTo>
                    <a:pt x="114300" y="552450"/>
                  </a:lnTo>
                  <a:cubicBezTo>
                    <a:pt x="51174" y="552450"/>
                    <a:pt x="0" y="501276"/>
                    <a:pt x="0" y="4381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6894" y="2294572"/>
              <a:ext cx="6022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现状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95694" y="2294572"/>
              <a:ext cx="6022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目标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6132" y="284035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分散式营销工具栈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94932" y="2840355"/>
              <a:ext cx="18561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AI营销工作台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9180" y="3343275"/>
              <a:ext cx="4741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数据落在 CRM、广告、企微、电商与内容平台中，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9180" y="36290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分析靠导表，执行靠多团队串联，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9180" y="39147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复盘通常滞后一个周期。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97980" y="33432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统一接入客户与渠道数据，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97980" y="3629025"/>
              <a:ext cx="3951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 AI 生成分群、内容、投放与触达建议，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7980" y="39147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并直接驱动自动化执行与效果回流。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1066800" y="4267200"/>
              <a:ext cx="1390650" cy="381000"/>
            </a:xfrm>
            <a:custGeom>
              <a:avLst/>
              <a:gdLst/>
              <a:ahLst/>
              <a:cxnLst/>
              <a:rect l="l" t="t" r="r" b="b"/>
              <a:pathLst>
                <a:path w="1390650" h="381000">
                  <a:moveTo>
                    <a:pt x="190500" y="0"/>
                  </a:moveTo>
                  <a:lnTo>
                    <a:pt x="1200150" y="0"/>
                  </a:lnTo>
                  <a:cubicBezTo>
                    <a:pt x="1305360" y="0"/>
                    <a:pt x="1390650" y="85290"/>
                    <a:pt x="1390650" y="190500"/>
                  </a:cubicBezTo>
                  <a:lnTo>
                    <a:pt x="1390650" y="190500"/>
                  </a:lnTo>
                  <a:cubicBezTo>
                    <a:pt x="1390650" y="295710"/>
                    <a:pt x="1305360" y="381000"/>
                    <a:pt x="120015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705600" y="4267200"/>
              <a:ext cx="1638300" cy="381000"/>
            </a:xfrm>
            <a:custGeom>
              <a:avLst/>
              <a:gdLst/>
              <a:ahLst/>
              <a:cxnLst/>
              <a:rect l="l" t="t" r="r" b="b"/>
              <a:pathLst>
                <a:path w="1638300" h="381000">
                  <a:moveTo>
                    <a:pt x="190500" y="0"/>
                  </a:moveTo>
                  <a:lnTo>
                    <a:pt x="1447800" y="0"/>
                  </a:lnTo>
                  <a:cubicBezTo>
                    <a:pt x="1553010" y="0"/>
                    <a:pt x="1638300" y="85290"/>
                    <a:pt x="1638300" y="190500"/>
                  </a:cubicBezTo>
                  <a:lnTo>
                    <a:pt x="1638300" y="190500"/>
                  </a:lnTo>
                  <a:cubicBezTo>
                    <a:pt x="1638300" y="295710"/>
                    <a:pt x="1553010" y="381000"/>
                    <a:pt x="14478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BEE3F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32941" y="43853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导表分析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34022" y="4385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智能建议生成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2609850" y="4267200"/>
              <a:ext cx="1390650" cy="381000"/>
            </a:xfrm>
            <a:custGeom>
              <a:avLst/>
              <a:gdLst/>
              <a:ahLst/>
              <a:cxnLst/>
              <a:rect l="l" t="t" r="r" b="b"/>
              <a:pathLst>
                <a:path w="1390650" h="381000">
                  <a:moveTo>
                    <a:pt x="190500" y="0"/>
                  </a:moveTo>
                  <a:lnTo>
                    <a:pt x="1200150" y="0"/>
                  </a:lnTo>
                  <a:cubicBezTo>
                    <a:pt x="1305360" y="0"/>
                    <a:pt x="1390650" y="85290"/>
                    <a:pt x="1390650" y="190500"/>
                  </a:cubicBezTo>
                  <a:lnTo>
                    <a:pt x="1390650" y="190500"/>
                  </a:lnTo>
                  <a:cubicBezTo>
                    <a:pt x="1390650" y="295710"/>
                    <a:pt x="1305360" y="381000"/>
                    <a:pt x="120015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477250" y="4267200"/>
              <a:ext cx="1390650" cy="381000"/>
            </a:xfrm>
            <a:custGeom>
              <a:avLst/>
              <a:gdLst/>
              <a:ahLst/>
              <a:cxnLst/>
              <a:rect l="l" t="t" r="r" b="b"/>
              <a:pathLst>
                <a:path w="1390650" h="381000">
                  <a:moveTo>
                    <a:pt x="190500" y="0"/>
                  </a:moveTo>
                  <a:lnTo>
                    <a:pt x="1200150" y="0"/>
                  </a:lnTo>
                  <a:cubicBezTo>
                    <a:pt x="1305360" y="0"/>
                    <a:pt x="1390650" y="85290"/>
                    <a:pt x="1390650" y="190500"/>
                  </a:cubicBezTo>
                  <a:lnTo>
                    <a:pt x="1390650" y="190500"/>
                  </a:lnTo>
                  <a:cubicBezTo>
                    <a:pt x="1390650" y="295710"/>
                    <a:pt x="1305360" y="381000"/>
                    <a:pt x="120015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BEE3F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975991" y="43853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人工串联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62619" y="43853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4152900" y="4267200"/>
              <a:ext cx="1219200" cy="381000"/>
            </a:xfrm>
            <a:custGeom>
              <a:avLst/>
              <a:gdLst/>
              <a:ahLst/>
              <a:cxnLst/>
              <a:rect l="l" t="t" r="r" b="b"/>
              <a:pathLst>
                <a:path w="1219200" h="381000">
                  <a:moveTo>
                    <a:pt x="190500" y="0"/>
                  </a:moveTo>
                  <a:lnTo>
                    <a:pt x="1028700" y="0"/>
                  </a:lnTo>
                  <a:cubicBezTo>
                    <a:pt x="1133910" y="0"/>
                    <a:pt x="1219200" y="85290"/>
                    <a:pt x="1219200" y="190500"/>
                  </a:cubicBezTo>
                  <a:lnTo>
                    <a:pt x="1219200" y="190500"/>
                  </a:lnTo>
                  <a:cubicBezTo>
                    <a:pt x="1219200" y="295710"/>
                    <a:pt x="1133910" y="381000"/>
                    <a:pt x="10287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001250" y="4267200"/>
              <a:ext cx="1123950" cy="381000"/>
            </a:xfrm>
            <a:custGeom>
              <a:avLst/>
              <a:gdLst/>
              <a:ahLst/>
              <a:cxnLst/>
              <a:rect l="l" t="t" r="r" b="b"/>
              <a:pathLst>
                <a:path w="1123950" h="381000">
                  <a:moveTo>
                    <a:pt x="190500" y="0"/>
                  </a:moveTo>
                  <a:lnTo>
                    <a:pt x="933450" y="0"/>
                  </a:lnTo>
                  <a:cubicBezTo>
                    <a:pt x="1038660" y="0"/>
                    <a:pt x="1123950" y="85290"/>
                    <a:pt x="1123950" y="190500"/>
                  </a:cubicBezTo>
                  <a:lnTo>
                    <a:pt x="1123950" y="190500"/>
                  </a:lnTo>
                  <a:cubicBezTo>
                    <a:pt x="1123950" y="295710"/>
                    <a:pt x="1038660" y="381000"/>
                    <a:pt x="93345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BEE3F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33316" y="43853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滞后复盘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34041" y="43853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实时回流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2838450" y="53340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cubicBezTo>
                    <a:pt x="923925" y="0"/>
                    <a:pt x="1638300" y="0"/>
                    <a:pt x="3086100" y="0"/>
                  </a:cubicBezTo>
                </a:path>
              </a:pathLst>
            </a:custGeom>
            <a:noFill/>
            <a:ln w="19050">
              <a:solidFill>
                <a:srgbClr val="A0AEC0"/>
              </a:solidFill>
              <a:custDash>
                <a:ds d="300000" sp="300000"/>
              </a:custDash>
            </a:ln>
          </p:spPr>
        </p:sp>
        <p:sp>
          <p:nvSpPr>
            <p:cNvPr id="45" name="Freeform 45"/>
            <p:cNvSpPr/>
            <p:nvPr/>
          </p:nvSpPr>
          <p:spPr>
            <a:xfrm>
              <a:off x="6267450" y="53340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cubicBezTo>
                    <a:pt x="1447800" y="0"/>
                    <a:pt x="2162175" y="0"/>
                    <a:pt x="308610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2762250" y="5257800"/>
              <a:ext cx="152400" cy="1524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A0AEC0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4286250" y="5257800"/>
              <a:ext cx="152400" cy="1524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A0AEC0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5848350" y="5257800"/>
              <a:ext cx="152400" cy="1524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A0AEC0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6191250" y="5257800"/>
              <a:ext cx="152400" cy="1524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7715250" y="5257800"/>
              <a:ext cx="152400" cy="1524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9277350" y="5257800"/>
              <a:ext cx="152400" cy="1524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670810" y="55664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194810" y="55664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传递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756910" y="55664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99810" y="55664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23810" y="55664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24366" y="5566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执行回流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800100" y="5200650"/>
              <a:ext cx="4953000" cy="685800"/>
            </a:xfrm>
            <a:custGeom>
              <a:avLst/>
              <a:gdLst/>
              <a:ahLst/>
              <a:cxnLst/>
              <a:rect l="l" t="t" r="r" b="b"/>
              <a:pathLst>
                <a:path w="4953000" h="685800">
                  <a:moveTo>
                    <a:pt x="95250" y="0"/>
                  </a:moveTo>
                  <a:lnTo>
                    <a:pt x="4857750" y="0"/>
                  </a:lnTo>
                  <a:cubicBezTo>
                    <a:pt x="4910355" y="0"/>
                    <a:pt x="4953000" y="42645"/>
                    <a:pt x="4953000" y="95250"/>
                  </a:cubicBezTo>
                  <a:lnTo>
                    <a:pt x="4953000" y="590550"/>
                  </a:lnTo>
                  <a:cubicBezTo>
                    <a:pt x="4953000" y="643155"/>
                    <a:pt x="4910355" y="685800"/>
                    <a:pt x="4857750" y="685800"/>
                  </a:cubicBezTo>
                  <a:lnTo>
                    <a:pt x="95250" y="685800"/>
                  </a:lnTo>
                  <a:cubicBezTo>
                    <a:pt x="42645" y="685800"/>
                    <a:pt x="0" y="643155"/>
                    <a:pt x="0" y="590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6438900" y="5200650"/>
              <a:ext cx="4953000" cy="685800"/>
            </a:xfrm>
            <a:custGeom>
              <a:avLst/>
              <a:gdLst/>
              <a:ahLst/>
              <a:cxnLst/>
              <a:rect l="l" t="t" r="r" b="b"/>
              <a:pathLst>
                <a:path w="4953000" h="685800">
                  <a:moveTo>
                    <a:pt x="95250" y="0"/>
                  </a:moveTo>
                  <a:lnTo>
                    <a:pt x="4857750" y="0"/>
                  </a:lnTo>
                  <a:cubicBezTo>
                    <a:pt x="4910355" y="0"/>
                    <a:pt x="4953000" y="42645"/>
                    <a:pt x="4953000" y="95250"/>
                  </a:cubicBezTo>
                  <a:lnTo>
                    <a:pt x="4953000" y="590550"/>
                  </a:lnTo>
                  <a:cubicBezTo>
                    <a:pt x="4953000" y="643155"/>
                    <a:pt x="4910355" y="685800"/>
                    <a:pt x="4857750" y="685800"/>
                  </a:cubicBezTo>
                  <a:lnTo>
                    <a:pt x="95250" y="685800"/>
                  </a:lnTo>
                  <a:cubicBezTo>
                    <a:pt x="42645" y="685800"/>
                    <a:pt x="0" y="643155"/>
                    <a:pt x="0" y="590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BEE3F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60704" y="5347335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运营链条被拆成多个环节，响应慢，归因弱。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0704" y="559498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每次优化都依赖跨团队重新组织。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99504" y="534733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从数据、分析到动作在同一系统内闭环。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99504" y="5594985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系统持续学习，动作与结果同步更新。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5143500" y="2343150"/>
              <a:ext cx="1905000" cy="457200"/>
            </a:xfrm>
            <a:custGeom>
              <a:avLst/>
              <a:gdLst/>
              <a:ahLst/>
              <a:cxnLst/>
              <a:rect l="l" t="t" r="r" b="b"/>
              <a:pathLst>
                <a:path w="1905000" h="457200">
                  <a:moveTo>
                    <a:pt x="228600" y="0"/>
                  </a:moveTo>
                  <a:lnTo>
                    <a:pt x="1676400" y="0"/>
                  </a:lnTo>
                  <a:cubicBezTo>
                    <a:pt x="1802652" y="0"/>
                    <a:pt x="1905000" y="102348"/>
                    <a:pt x="1905000" y="228600"/>
                  </a:cubicBezTo>
                  <a:lnTo>
                    <a:pt x="1905000" y="228600"/>
                  </a:lnTo>
                  <a:cubicBezTo>
                    <a:pt x="1905000" y="354852"/>
                    <a:pt x="1802652" y="457200"/>
                    <a:pt x="1676400" y="457200"/>
                  </a:cubicBezTo>
                  <a:lnTo>
                    <a:pt x="228600" y="457200"/>
                  </a:lnTo>
                  <a:cubicBezTo>
                    <a:pt x="102348" y="457200"/>
                    <a:pt x="0" y="354852"/>
                    <a:pt x="0" y="2286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516670" y="24831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关键变量对比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00100" y="1782128"/>
            <a:ext cx="10591800" cy="4561903"/>
            <a:chOff x="800100" y="1782128"/>
            <a:chExt cx="10591800" cy="4561903"/>
          </a:xfrm>
        </p:grpSpPr>
        <p:sp>
          <p:nvSpPr>
            <p:cNvPr id="67" name="Freeform 67"/>
            <p:cNvSpPr/>
            <p:nvPr/>
          </p:nvSpPr>
          <p:spPr>
            <a:xfrm>
              <a:off x="800100" y="6038850"/>
              <a:ext cx="10591800" cy="304800"/>
            </a:xfrm>
            <a:custGeom>
              <a:avLst/>
              <a:gdLst/>
              <a:ahLst/>
              <a:cxnLst/>
              <a:rect l="l" t="t" r="r" b="b"/>
              <a:pathLst>
                <a:path w="10591800" h="304800">
                  <a:moveTo>
                    <a:pt x="76200" y="0"/>
                  </a:moveTo>
                  <a:lnTo>
                    <a:pt x="10515600" y="0"/>
                  </a:lnTo>
                  <a:cubicBezTo>
                    <a:pt x="10557684" y="0"/>
                    <a:pt x="10591800" y="34116"/>
                    <a:pt x="10591800" y="76200"/>
                  </a:cubicBezTo>
                  <a:lnTo>
                    <a:pt x="10591800" y="228600"/>
                  </a:lnTo>
                  <a:cubicBezTo>
                    <a:pt x="10591800" y="270684"/>
                    <a:pt x="10557684" y="304800"/>
                    <a:pt x="10515600" y="304800"/>
                  </a:cubicBezTo>
                  <a:lnTo>
                    <a:pt x="76200" y="304800"/>
                  </a:lnTo>
                  <a:cubicBezTo>
                    <a:pt x="34116" y="304800"/>
                    <a:pt x="0" y="270684"/>
                    <a:pt x="0" y="2286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65454" y="6109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决策意义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860804" y="6109335"/>
              <a:ext cx="8574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从人驱动转向系统驱动：管理层获得统一经营视图，一线团队获得可执行建议，中后台获得可审计与可优化的运营机制。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1219200" y="179070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366266" y="1782128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传统模式重流程传递，工作台模式重实时协同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1219200" y="201930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366266" y="2010728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传统模式按职能割裂，工作台模式按客户旅程联动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7772400" y="179070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919466" y="1782128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不同路径影响：响应速度、归因精度、执行一致性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1028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305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610600" y="1390650"/>
              <a:ext cx="9525" cy="4514850"/>
            </a:xfrm>
            <a:custGeom>
              <a:avLst/>
              <a:gdLst/>
              <a:ahLst/>
              <a:cxnLst/>
              <a:rect l="l" t="t" r="r" b="b"/>
              <a:pathLst>
                <a:path w="9525" h="4514850">
                  <a:moveTo>
                    <a:pt x="0" y="0"/>
                  </a:moveTo>
                  <a:lnTo>
                    <a:pt x="0" y="45148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417195"/>
            <a:ext cx="11048429" cy="6189821"/>
            <a:chOff x="557784" y="417195"/>
            <a:chExt cx="11048429" cy="6189821"/>
          </a:xfrm>
        </p:grpSpPr>
        <p:sp>
          <p:nvSpPr>
            <p:cNvPr id="8" name="TextBox 8"/>
            <p:cNvSpPr txBox="1"/>
            <p:nvPr/>
          </p:nvSpPr>
          <p:spPr>
            <a:xfrm>
              <a:off x="566738" y="417195"/>
              <a:ext cx="8330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PROOFGRID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60388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价值证据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4450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74520" y="64450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63118" y="1250632"/>
            <a:ext cx="11452193" cy="4597718"/>
            <a:chOff x="563118" y="1250632"/>
            <a:chExt cx="11452193" cy="4597718"/>
          </a:xfrm>
        </p:grpSpPr>
        <p:sp>
          <p:nvSpPr>
            <p:cNvPr id="13" name="TextBox 13"/>
            <p:cNvSpPr txBox="1"/>
            <p:nvPr/>
          </p:nvSpPr>
          <p:spPr>
            <a:xfrm>
              <a:off x="563118" y="1250632"/>
              <a:ext cx="56142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真正产生经营改进的，不是单点AI，而是四个模块串成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118" y="15363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闭环后的连续增益。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71500" y="1809750"/>
              <a:ext cx="7753350" cy="1028700"/>
            </a:xfrm>
            <a:custGeom>
              <a:avLst/>
              <a:gdLst/>
              <a:ahLst/>
              <a:cxnLst/>
              <a:rect l="l" t="t" r="r" b="b"/>
              <a:pathLst>
                <a:path w="7753350" h="1028700">
                  <a:moveTo>
                    <a:pt x="114300" y="0"/>
                  </a:moveTo>
                  <a:lnTo>
                    <a:pt x="7639050" y="0"/>
                  </a:lnTo>
                  <a:cubicBezTo>
                    <a:pt x="7702176" y="0"/>
                    <a:pt x="7753350" y="51174"/>
                    <a:pt x="7753350" y="114300"/>
                  </a:cubicBezTo>
                  <a:lnTo>
                    <a:pt x="7753350" y="914400"/>
                  </a:lnTo>
                  <a:cubicBezTo>
                    <a:pt x="7753350" y="977526"/>
                    <a:pt x="7702176" y="1028700"/>
                    <a:pt x="7639050" y="1028700"/>
                  </a:cubicBezTo>
                  <a:lnTo>
                    <a:pt x="114300" y="1028700"/>
                  </a:lnTo>
                  <a:cubicBezTo>
                    <a:pt x="51174" y="1028700"/>
                    <a:pt x="0" y="977526"/>
                    <a:pt x="0" y="914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857250" y="20383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74242" y="2045018"/>
              <a:ext cx="3209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先统一数据，再让AI输出可执行判断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57250" y="2381250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74242" y="23879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自动化执行与效果度量必须同步设计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57250" y="27241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74242" y="2730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事实锚点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571500" y="3143250"/>
              <a:ext cx="3714750" cy="1238250"/>
            </a:xfrm>
            <a:custGeom>
              <a:avLst/>
              <a:gdLst/>
              <a:ahLst/>
              <a:cxnLst/>
              <a:rect l="l" t="t" r="r" b="b"/>
              <a:pathLst>
                <a:path w="3714750" h="1238250">
                  <a:moveTo>
                    <a:pt x="114300" y="0"/>
                  </a:moveTo>
                  <a:lnTo>
                    <a:pt x="3600450" y="0"/>
                  </a:lnTo>
                  <a:cubicBezTo>
                    <a:pt x="3663576" y="0"/>
                    <a:pt x="3714750" y="51174"/>
                    <a:pt x="3714750" y="114300"/>
                  </a:cubicBezTo>
                  <a:lnTo>
                    <a:pt x="3714750" y="1123950"/>
                  </a:lnTo>
                  <a:cubicBezTo>
                    <a:pt x="3714750" y="1187076"/>
                    <a:pt x="3663576" y="1238250"/>
                    <a:pt x="3600450" y="1238250"/>
                  </a:cubicBezTo>
                  <a:lnTo>
                    <a:pt x="114300" y="1238250"/>
                  </a:lnTo>
                  <a:cubicBezTo>
                    <a:pt x="51174" y="1238250"/>
                    <a:pt x="0" y="1187076"/>
                    <a:pt x="0" y="1123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71500" y="3143250"/>
              <a:ext cx="37147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0194" y="3275648"/>
              <a:ext cx="340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48918" y="330803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数据整合带来统一客户视图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3623" y="3653314"/>
              <a:ext cx="3445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打通线索、成交、行为、内容与渠道数据后，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3623" y="3881914"/>
              <a:ext cx="32741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管理层可按客户、渠道、区域与活动统一看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3623" y="41105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增量与流失。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4610100" y="3143250"/>
              <a:ext cx="3714750" cy="1238250"/>
            </a:xfrm>
            <a:custGeom>
              <a:avLst/>
              <a:gdLst/>
              <a:ahLst/>
              <a:cxnLst/>
              <a:rect l="l" t="t" r="r" b="b"/>
              <a:pathLst>
                <a:path w="3714750" h="1238250">
                  <a:moveTo>
                    <a:pt x="114300" y="0"/>
                  </a:moveTo>
                  <a:lnTo>
                    <a:pt x="3600450" y="0"/>
                  </a:lnTo>
                  <a:cubicBezTo>
                    <a:pt x="3663576" y="0"/>
                    <a:pt x="3714750" y="51174"/>
                    <a:pt x="3714750" y="114300"/>
                  </a:cubicBezTo>
                  <a:lnTo>
                    <a:pt x="3714750" y="1123950"/>
                  </a:lnTo>
                  <a:cubicBezTo>
                    <a:pt x="3714750" y="1187076"/>
                    <a:pt x="3663576" y="1238250"/>
                    <a:pt x="3600450" y="1238250"/>
                  </a:cubicBezTo>
                  <a:lnTo>
                    <a:pt x="114300" y="1238250"/>
                  </a:lnTo>
                  <a:cubicBezTo>
                    <a:pt x="51174" y="1238250"/>
                    <a:pt x="0" y="1187076"/>
                    <a:pt x="0" y="1123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610100" y="3143250"/>
              <a:ext cx="371475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828794" y="3275648"/>
              <a:ext cx="340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87518" y="3308032"/>
              <a:ext cx="24441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AI分析提升策略命中率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32223" y="3653314"/>
              <a:ext cx="3445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围绕分群、意向识别、流失预警、内容推荐与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32223" y="3881914"/>
              <a:ext cx="32741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预算分配生成建议，减少凭经验拍板带来的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32223" y="41105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结果波动。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571500" y="4610100"/>
              <a:ext cx="3714750" cy="1238250"/>
            </a:xfrm>
            <a:custGeom>
              <a:avLst/>
              <a:gdLst/>
              <a:ahLst/>
              <a:cxnLst/>
              <a:rect l="l" t="t" r="r" b="b"/>
              <a:pathLst>
                <a:path w="3714750" h="1238250">
                  <a:moveTo>
                    <a:pt x="114300" y="0"/>
                  </a:moveTo>
                  <a:lnTo>
                    <a:pt x="3600450" y="0"/>
                  </a:lnTo>
                  <a:cubicBezTo>
                    <a:pt x="3663576" y="0"/>
                    <a:pt x="3714750" y="51174"/>
                    <a:pt x="3714750" y="114300"/>
                  </a:cubicBezTo>
                  <a:lnTo>
                    <a:pt x="3714750" y="1123950"/>
                  </a:lnTo>
                  <a:cubicBezTo>
                    <a:pt x="3714750" y="1187076"/>
                    <a:pt x="3663576" y="1238250"/>
                    <a:pt x="3600450" y="1238250"/>
                  </a:cubicBezTo>
                  <a:lnTo>
                    <a:pt x="114300" y="1238250"/>
                  </a:lnTo>
                  <a:cubicBezTo>
                    <a:pt x="51174" y="1238250"/>
                    <a:pt x="0" y="1187076"/>
                    <a:pt x="0" y="1123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1500" y="4610100"/>
              <a:ext cx="37147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90194" y="4742498"/>
              <a:ext cx="340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48918" y="47748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自动化执行压缩响应时间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3623" y="5120164"/>
              <a:ext cx="3445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把人群、内容、渠道、频次与触发规则编排进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3623" y="5348764"/>
              <a:ext cx="3445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工作流，使活动上线与线索跟进从天级缩短到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3623" y="557736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小时级。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4610100" y="4610100"/>
              <a:ext cx="3714750" cy="1238250"/>
            </a:xfrm>
            <a:custGeom>
              <a:avLst/>
              <a:gdLst/>
              <a:ahLst/>
              <a:cxnLst/>
              <a:rect l="l" t="t" r="r" b="b"/>
              <a:pathLst>
                <a:path w="3714750" h="1238250">
                  <a:moveTo>
                    <a:pt x="114300" y="0"/>
                  </a:moveTo>
                  <a:lnTo>
                    <a:pt x="3600450" y="0"/>
                  </a:lnTo>
                  <a:cubicBezTo>
                    <a:pt x="3663576" y="0"/>
                    <a:pt x="3714750" y="51174"/>
                    <a:pt x="3714750" y="114300"/>
                  </a:cubicBezTo>
                  <a:lnTo>
                    <a:pt x="3714750" y="1123950"/>
                  </a:lnTo>
                  <a:cubicBezTo>
                    <a:pt x="3714750" y="1187076"/>
                    <a:pt x="3663576" y="1238250"/>
                    <a:pt x="3600450" y="1238250"/>
                  </a:cubicBezTo>
                  <a:lnTo>
                    <a:pt x="114300" y="1238250"/>
                  </a:lnTo>
                  <a:cubicBezTo>
                    <a:pt x="51174" y="1238250"/>
                    <a:pt x="0" y="1187076"/>
                    <a:pt x="0" y="1123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4610100" y="4610100"/>
              <a:ext cx="37147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828794" y="4742498"/>
              <a:ext cx="340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87518" y="4774882"/>
              <a:ext cx="2349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效果度量形成预算闭环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832223" y="5120164"/>
              <a:ext cx="32741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按触达、互动、转化、收入贡献与归因结果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32223" y="5348764"/>
              <a:ext cx="32741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回收数据，支持预算动态调优与复投决策。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8896350" y="1809750"/>
              <a:ext cx="2724150" cy="4038600"/>
            </a:xfrm>
            <a:custGeom>
              <a:avLst/>
              <a:gdLst/>
              <a:ahLst/>
              <a:cxnLst/>
              <a:rect l="l" t="t" r="r" b="b"/>
              <a:pathLst>
                <a:path w="2724150" h="4038600">
                  <a:moveTo>
                    <a:pt x="152400" y="0"/>
                  </a:moveTo>
                  <a:lnTo>
                    <a:pt x="2571750" y="0"/>
                  </a:lnTo>
                  <a:cubicBezTo>
                    <a:pt x="2655918" y="0"/>
                    <a:pt x="2724150" y="68232"/>
                    <a:pt x="2724150" y="152400"/>
                  </a:cubicBezTo>
                  <a:lnTo>
                    <a:pt x="2724150" y="3886200"/>
                  </a:lnTo>
                  <a:cubicBezTo>
                    <a:pt x="2724150" y="3970368"/>
                    <a:pt x="2655918" y="4038600"/>
                    <a:pt x="2571750" y="4038600"/>
                  </a:cubicBezTo>
                  <a:lnTo>
                    <a:pt x="152400" y="4038600"/>
                  </a:lnTo>
                  <a:cubicBezTo>
                    <a:pt x="68232" y="4038600"/>
                    <a:pt x="0" y="3970368"/>
                    <a:pt x="0" y="38862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118854" y="2042160"/>
              <a:ext cx="1665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事实锚点 / 经营闭环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9182100" y="2495550"/>
              <a:ext cx="876300" cy="457200"/>
            </a:xfrm>
            <a:custGeom>
              <a:avLst/>
              <a:gdLst/>
              <a:ahLst/>
              <a:cxnLst/>
              <a:rect l="l" t="t" r="r" b="b"/>
              <a:pathLst>
                <a:path w="876300" h="457200">
                  <a:moveTo>
                    <a:pt x="95250" y="0"/>
                  </a:moveTo>
                  <a:lnTo>
                    <a:pt x="781050" y="0"/>
                  </a:lnTo>
                  <a:cubicBezTo>
                    <a:pt x="833655" y="0"/>
                    <a:pt x="876300" y="42645"/>
                    <a:pt x="876300" y="95250"/>
                  </a:cubicBezTo>
                  <a:lnTo>
                    <a:pt x="876300" y="361950"/>
                  </a:lnTo>
                  <a:cubicBezTo>
                    <a:pt x="876300" y="414555"/>
                    <a:pt x="833655" y="457200"/>
                    <a:pt x="7810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31744" y="2635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0458450" y="2495550"/>
              <a:ext cx="876300" cy="457200"/>
            </a:xfrm>
            <a:custGeom>
              <a:avLst/>
              <a:gdLst/>
              <a:ahLst/>
              <a:cxnLst/>
              <a:rect l="l" t="t" r="r" b="b"/>
              <a:pathLst>
                <a:path w="876300" h="457200">
                  <a:moveTo>
                    <a:pt x="95250" y="0"/>
                  </a:moveTo>
                  <a:lnTo>
                    <a:pt x="781050" y="0"/>
                  </a:lnTo>
                  <a:cubicBezTo>
                    <a:pt x="833655" y="0"/>
                    <a:pt x="876300" y="42645"/>
                    <a:pt x="876300" y="95250"/>
                  </a:cubicBezTo>
                  <a:lnTo>
                    <a:pt x="876300" y="361950"/>
                  </a:lnTo>
                  <a:cubicBezTo>
                    <a:pt x="876300" y="414555"/>
                    <a:pt x="833655" y="457200"/>
                    <a:pt x="7810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3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602426" y="2635568"/>
              <a:ext cx="5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10458450" y="3524250"/>
              <a:ext cx="876300" cy="457200"/>
            </a:xfrm>
            <a:custGeom>
              <a:avLst/>
              <a:gdLst/>
              <a:ahLst/>
              <a:cxnLst/>
              <a:rect l="l" t="t" r="r" b="b"/>
              <a:pathLst>
                <a:path w="876300" h="457200">
                  <a:moveTo>
                    <a:pt x="95250" y="0"/>
                  </a:moveTo>
                  <a:lnTo>
                    <a:pt x="781050" y="0"/>
                  </a:lnTo>
                  <a:cubicBezTo>
                    <a:pt x="833655" y="0"/>
                    <a:pt x="876300" y="42645"/>
                    <a:pt x="876300" y="95250"/>
                  </a:cubicBezTo>
                  <a:lnTo>
                    <a:pt x="876300" y="361950"/>
                  </a:lnTo>
                  <a:cubicBezTo>
                    <a:pt x="876300" y="414555"/>
                    <a:pt x="833655" y="457200"/>
                    <a:pt x="7810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1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508094" y="36642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自动执行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9182100" y="3524250"/>
              <a:ext cx="876300" cy="457200"/>
            </a:xfrm>
            <a:custGeom>
              <a:avLst/>
              <a:gdLst/>
              <a:ahLst/>
              <a:cxnLst/>
              <a:rect l="l" t="t" r="r" b="b"/>
              <a:pathLst>
                <a:path w="876300" h="457200">
                  <a:moveTo>
                    <a:pt x="95250" y="0"/>
                  </a:moveTo>
                  <a:lnTo>
                    <a:pt x="781050" y="0"/>
                  </a:lnTo>
                  <a:cubicBezTo>
                    <a:pt x="833655" y="0"/>
                    <a:pt x="876300" y="42645"/>
                    <a:pt x="876300" y="95250"/>
                  </a:cubicBezTo>
                  <a:lnTo>
                    <a:pt x="876300" y="361950"/>
                  </a:lnTo>
                  <a:cubicBezTo>
                    <a:pt x="876300" y="414555"/>
                    <a:pt x="833655" y="457200"/>
                    <a:pt x="7810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31744" y="36642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10058400" y="2724150"/>
              <a:ext cx="3238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60" name="Line 60"/>
            <p:cNvSpPr/>
            <p:nvPr/>
          </p:nvSpPr>
          <p:spPr>
            <a:xfrm>
              <a:off x="10896600" y="2952750"/>
              <a:ext cx="1" cy="4953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61" name="Line 61"/>
            <p:cNvSpPr/>
            <p:nvPr/>
          </p:nvSpPr>
          <p:spPr>
            <a:xfrm flipH="1">
              <a:off x="10134600" y="3752850"/>
              <a:ext cx="3238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62" name="Line 62"/>
            <p:cNvSpPr/>
            <p:nvPr/>
          </p:nvSpPr>
          <p:spPr>
            <a:xfrm flipV="1">
              <a:off x="9620250" y="3028950"/>
              <a:ext cx="1" cy="4953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63" name="Ellipse 63"/>
            <p:cNvSpPr/>
            <p:nvPr/>
          </p:nvSpPr>
          <p:spPr>
            <a:xfrm>
              <a:off x="9829800" y="2800350"/>
              <a:ext cx="876300" cy="876300"/>
            </a:xfrm>
            <a:prstGeom prst="ellipse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036302" y="3009900"/>
              <a:ext cx="463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连续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036302" y="3238500"/>
              <a:ext cx="463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增益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118473" y="4339114"/>
              <a:ext cx="2896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7636" indent="-137636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数据先统一，后续动作才有共同口径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118473" y="4605814"/>
              <a:ext cx="2553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7636" indent="-137636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分析结果必须直接进入执行编排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118473" y="4872514"/>
              <a:ext cx="2553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7636" indent="-137636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度量回流决定预算是否继续投放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18473" y="5139214"/>
              <a:ext cx="27251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7636" indent="-137636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单点优化难复制，闭环优化可持续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324850" y="3544252"/>
            <a:ext cx="1372743" cy="1684973"/>
            <a:chOff x="8324850" y="3544252"/>
            <a:chExt cx="1372743" cy="1684973"/>
          </a:xfrm>
        </p:grpSpPr>
        <p:sp>
          <p:nvSpPr>
            <p:cNvPr id="71" name="Freeform 71"/>
            <p:cNvSpPr/>
            <p:nvPr/>
          </p:nvSpPr>
          <p:spPr>
            <a:xfrm>
              <a:off x="8324850" y="376237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cubicBezTo>
                    <a:pt x="247650" y="0"/>
                    <a:pt x="381000" y="0"/>
                    <a:pt x="57150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250000" sp="250000"/>
              </a:custDash>
            </a:ln>
          </p:spPr>
        </p:sp>
        <p:sp>
          <p:nvSpPr>
            <p:cNvPr id="72" name="Freeform 72"/>
            <p:cNvSpPr/>
            <p:nvPr/>
          </p:nvSpPr>
          <p:spPr>
            <a:xfrm>
              <a:off x="8324850" y="4229100"/>
              <a:ext cx="800100" cy="1000125"/>
            </a:xfrm>
            <a:custGeom>
              <a:avLst/>
              <a:gdLst/>
              <a:ahLst/>
              <a:cxnLst/>
              <a:rect l="l" t="t" r="r" b="b"/>
              <a:pathLst>
                <a:path w="800100" h="1000125">
                  <a:moveTo>
                    <a:pt x="0" y="1000125"/>
                  </a:moveTo>
                  <a:cubicBezTo>
                    <a:pt x="295275" y="1000125"/>
                    <a:pt x="419100" y="152400"/>
                    <a:pt x="800100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250000" sp="250000"/>
              </a:custDash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490966" y="35442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四模块互相校准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414766" y="49825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从动作回到预算决策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2026-07-10T14:07:46Z</dcterms:created>
  <dcterms:modified xsi:type="dcterms:W3CDTF">2026-07-10T14:07:46Z</dcterms:modified>
  <cp:category/>
  <cp:contentStatus/>
</cp:coreProperties>
</file>