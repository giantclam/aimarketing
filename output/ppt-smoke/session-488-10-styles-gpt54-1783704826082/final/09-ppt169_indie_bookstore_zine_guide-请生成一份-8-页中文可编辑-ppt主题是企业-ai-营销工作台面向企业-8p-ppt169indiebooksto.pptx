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一站式覆盖数据整合、AI分析、自动化执行、效果度量的智能营销平台。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议程</a:t>
            </a:r>
          </a:p>
          <a:p>
            <a:endParaRPr lang="en-US" dirty="0"/>
          </a:p>
          <a:p>
            <a:r>
              <a:rPr lang="zh-CN" dirty="0"/>
              <a:t>四模块覆盖全链路，从洞察到闭环。</a:t>
            </a:r>
          </a:p>
          <a:p>
            <a:endParaRPr lang="en-US" dirty="0"/>
          </a:p>
          <a:p>
            <a:r>
              <a:rPr lang="zh-CN" dirty="0"/>
              <a:t>• AI营销工作台的价值定位与市场时机</a:t>
            </a:r>
          </a:p>
          <a:p>
            <a:r>
              <a:rPr lang="zh-CN" dirty="0"/>
              <a:t>• 数据整合|AI分析|自动化执行|效果度量</a:t>
            </a:r>
          </a:p>
          <a:p>
            <a:r>
              <a:rPr lang="zh-CN" dirty="0"/>
              <a:t>• 企业采纳路径与常见阻力点</a:t>
            </a:r>
          </a:p>
          <a:p>
            <a:r>
              <a:rPr lang="zh-CN" dirty="0"/>
              <a:t>• ROI预测、部署周期、团队规模需求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AI营销工作台的核心价值</a:t>
            </a:r>
          </a:p>
          <a:p>
            <a:endParaRPr lang="en-US" dirty="0"/>
          </a:p>
          <a:p>
            <a:r>
              <a:rPr lang="zh-CN" dirty="0"/>
              <a:t>将营销数据孤岛转化为实时决策引擎，降低跨部门协作成本60%以上。</a:t>
            </a:r>
          </a:p>
          <a:p>
            <a:endParaRPr lang="en-US" dirty="0"/>
          </a:p>
          <a:p>
            <a:r>
              <a:rPr lang="zh-CN" dirty="0"/>
              <a:t>• 营销ROI透明化：AI自动归因，告别预算黑洞</a:t>
            </a:r>
          </a:p>
          <a:p>
            <a:r>
              <a:rPr lang="zh-CN" dirty="0"/>
              <a:t>• 内容产能倍增：大模型批量生成，审核流程内嵌</a:t>
            </a:r>
          </a:p>
          <a:p>
            <a:r>
              <a:rPr lang="zh-CN" dirty="0"/>
              <a:t>• 执行零等待：洞察驱动自动化触达，时效提升3倍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四模块能力矩阵</a:t>
            </a:r>
          </a:p>
          <a:p>
            <a:endParaRPr lang="en-US" dirty="0"/>
          </a:p>
          <a:p>
            <a:r>
              <a:rPr lang="zh-CN" dirty="0"/>
              <a:t>各模块独立交付价值，组合后产生飞轮效应。</a:t>
            </a:r>
          </a:p>
          <a:p>
            <a:endParaRPr lang="en-US" dirty="0"/>
          </a:p>
          <a:p>
            <a:r>
              <a:rPr lang="zh-CN" dirty="0"/>
              <a:t>• 支持CRM、电商、广告平台、社交媒体全域数据源一键接入，ETL耗时从2周压缩至4小时</a:t>
            </a:r>
          </a:p>
          <a:p>
            <a:r>
              <a:rPr lang="zh-CN" dirty="0"/>
              <a:t>• 自然语言查询+预测模型，非技术团队可直接获取用户分层、竞品预警、GMV预测</a:t>
            </a:r>
          </a:p>
          <a:p>
            <a:r>
              <a:rPr lang="zh-CN" dirty="0"/>
              <a:t>• 规则引擎+LLM驱动，支持多触点内容个性化、触发式营销、AB测试自动化</a:t>
            </a:r>
          </a:p>
          <a:p>
            <a:r>
              <a:rPr lang="zh-CN" dirty="0"/>
              <a:t>• 多触点归因模型，实时看板覆盖曝光到转化全链路，支持自定义指标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落地证据与风险提示</a:t>
            </a:r>
          </a:p>
          <a:p>
            <a:endParaRPr lang="en-US" dirty="0"/>
          </a:p>
          <a:p>
            <a:r>
              <a:rPr lang="zh-CN" dirty="0"/>
              <a:t>基于同行业已落地案例，关键阻力点需提前预案。</a:t>
            </a:r>
          </a:p>
          <a:p>
            <a:endParaRPr lang="en-US" dirty="0"/>
          </a:p>
          <a:p>
            <a:r>
              <a:rPr lang="zh-CN" dirty="0"/>
              <a:t>• 头部品牌平均8周完成POC，12周实现全渠道覆盖；IT依赖度从传统方案70%降至30%</a:t>
            </a:r>
          </a:p>
          <a:p>
            <a:r>
              <a:rPr lang="zh-CN" dirty="0"/>
              <a:t>• 数据治理不足导致整合延迟（占落地延期案例45%）；内部流程审批是第二大障碍</a:t>
            </a:r>
          </a:p>
          <a:p>
            <a:r>
              <a:rPr lang="zh-CN" dirty="0"/>
              <a:t>• 需要1名全职营销运营负责人对接IT；建议优先选择数据基础较好的1-2条业务线试点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关键决策指标</a:t>
            </a:r>
          </a:p>
          <a:p>
            <a:endParaRPr lang="en-US" dirty="0"/>
          </a:p>
          <a:p>
            <a:r>
              <a:rPr lang="zh-CN" dirty="0"/>
              <a:t>量化ROI，支撑预算审批。</a:t>
            </a:r>
          </a:p>
          <a:p>
            <a:endParaRPr lang="en-US" dirty="0"/>
          </a:p>
          <a:p>
            <a:r>
              <a:rPr lang="zh-CN" dirty="0"/>
              <a:t>• 运营成本降低</a:t>
            </a:r>
          </a:p>
          <a:p>
            <a:r>
              <a:rPr lang="zh-CN" dirty="0"/>
              <a:t>• 内容产能提升</a:t>
            </a:r>
          </a:p>
          <a:p>
            <a:r>
              <a:rPr lang="zh-CN" dirty="0"/>
              <a:t>• POC交付周期</a:t>
            </a:r>
          </a:p>
          <a:p>
            <a:r>
              <a:rPr lang="zh-CN" dirty="0"/>
              <a:t>• 营销ROI提升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落地实施路线</a:t>
            </a:r>
          </a:p>
          <a:p>
            <a:endParaRPr lang="en-US" dirty="0"/>
          </a:p>
          <a:p>
            <a:r>
              <a:rPr lang="zh-CN" dirty="0"/>
              <a:t>分阶段交付，滚动迭代，降低采购风险。</a:t>
            </a:r>
          </a:p>
          <a:p>
            <a:endParaRPr lang="en-US" dirty="0"/>
          </a:p>
          <a:p>
            <a:r>
              <a:rPr lang="zh-CN" dirty="0"/>
              <a:t>• 完成核心数据源接入，建立统一ID体系</a:t>
            </a:r>
          </a:p>
          <a:p>
            <a:r>
              <a:rPr lang="zh-CN" dirty="0"/>
              <a:t>• 用户分层模型上线，配置首轮自动化规则</a:t>
            </a:r>
          </a:p>
          <a:p>
            <a:r>
              <a:rPr lang="zh-CN" dirty="0"/>
              <a:t>• 内容工厂上线，归因模型校准，效果看板就绪</a:t>
            </a:r>
          </a:p>
          <a:p>
            <a:r>
              <a:rPr lang="zh-CN" dirty="0"/>
              <a:t>• 扩展至全渠道，持续优化模型与规则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下一步行动</a:t>
            </a:r>
          </a:p>
          <a:p>
            <a:endParaRPr lang="en-US" dirty="0"/>
          </a:p>
          <a:p>
            <a:r>
              <a:rPr lang="zh-CN" dirty="0"/>
              <a:t>建议本月启动POC，本季度完成全链路验证。</a:t>
            </a:r>
          </a:p>
          <a:p>
            <a:endParaRPr lang="en-US" dirty="0"/>
          </a:p>
          <a:p>
            <a:r>
              <a:rPr lang="zh-CN" dirty="0"/>
              <a:t>• 确认POC业务线（建议私域或电商渠道优先）</a:t>
            </a:r>
          </a:p>
          <a:p>
            <a:r>
              <a:rPr lang="zh-CN" dirty="0"/>
              <a:t>• 完成技术对接评估，启动数据审计</a:t>
            </a:r>
          </a:p>
          <a:p>
            <a:r>
              <a:rPr lang="zh-CN" dirty="0"/>
              <a:t>• 签署POC合同，组建内部对接小组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dk1">
                  <a:alpha val="6000"/>
                </a:schemeClr>
              </a:fgClr>
              <a:bgClr>
                <a:srgbClr val="FFFFFF"/>
              </a:bgClr>
            </a:patt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12220575" cy="6886575"/>
            <a:chOff x="0" y="0"/>
            <a:chExt cx="12220575" cy="6886575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36195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8575" y="28575"/>
              <a:ext cx="3619500" cy="6858000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543300" y="0"/>
              <a:ext cx="38100" cy="6858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430000" y="5524500"/>
              <a:ext cx="762000" cy="1333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458575" y="5553075"/>
              <a:ext cx="762000" cy="133350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810000" y="-47625"/>
            <a:ext cx="7673950" cy="5703570"/>
            <a:chOff x="3810000" y="-47625"/>
            <a:chExt cx="7673950" cy="5703570"/>
          </a:xfrm>
        </p:grpSpPr>
        <p:sp>
          <p:nvSpPr>
            <p:cNvPr id="13" name="TextBox 13"/>
            <p:cNvSpPr txBox="1"/>
            <p:nvPr/>
          </p:nvSpPr>
          <p:spPr>
            <a:xfrm>
              <a:off x="3989832" y="916305"/>
              <a:ext cx="397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spc="30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PRODUCT LAUNCH 2026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81450" y="1954530"/>
              <a:ext cx="284741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19550" y="1992630"/>
              <a:ext cx="284741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2">
                      <a:alphaMod val="60000"/>
                    </a:schemeClr>
                  </a:solidFill>
                  <a:latin typeface="+mj-lt"/>
                  <a:ea typeface="+mj-ea"/>
                  <a:cs typeface="+mj-cs"/>
                </a:rPr>
                <a:t>企业AI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1450" y="2907030"/>
              <a:ext cx="470268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19550" y="2945130"/>
              <a:ext cx="470268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chemeClr val="accent1">
                      <a:alphaMod val="70000"/>
                    </a:schemeClr>
                  </a:solidFill>
                  <a:latin typeface="+mj-lt"/>
                  <a:ea typeface="+mj-ea"/>
                  <a:cs typeface="+mj-cs"/>
                </a:rPr>
                <a:t>营销工作台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2118" y="4012882"/>
              <a:ext cx="7491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一站式覆盖数据整合、AI分析、自动化执行、效果度量的智能营销平台。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000500" y="4476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92880" y="4791075"/>
              <a:ext cx="1690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92880" y="5076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现状概览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2880" y="53625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10000" y="-4762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810000" y="-476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810000" y="-4762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71500" y="1905000"/>
            <a:ext cx="11054334" cy="4664011"/>
            <a:chOff x="571500" y="1905000"/>
            <a:chExt cx="11054334" cy="4664011"/>
          </a:xfrm>
        </p:grpSpPr>
        <p:sp>
          <p:nvSpPr>
            <p:cNvPr id="27" name="Rectangle 27"/>
            <p:cNvSpPr/>
            <p:nvPr/>
          </p:nvSpPr>
          <p:spPr>
            <a:xfrm>
              <a:off x="571500" y="1905000"/>
              <a:ext cx="1143000" cy="7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2095500"/>
              <a:ext cx="762000" cy="762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71500" y="2286000"/>
              <a:ext cx="952500" cy="76200"/>
            </a:xfrm>
            <a:prstGeom prst="rect">
              <a:avLst/>
            </a:prstGeom>
            <a:solidFill>
              <a:schemeClr val="lt1">
                <a:alpha val="40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095500" y="5143500"/>
              <a:ext cx="1143000" cy="1143000"/>
            </a:xfrm>
            <a:prstGeom prst="ellipse">
              <a:avLst/>
            </a:prstGeom>
            <a:solidFill>
              <a:schemeClr val="lt1">
                <a:alpha val="15000"/>
              </a:scheme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286000" y="5334000"/>
              <a:ext cx="762000" cy="762000"/>
            </a:xfrm>
            <a:prstGeom prst="ellipse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476500" y="5524500"/>
              <a:ext cx="381000" cy="381000"/>
            </a:xfrm>
            <a:prstGeom prst="ellipse">
              <a:avLst/>
            </a:prstGeom>
            <a:solidFill>
              <a:schemeClr val="lt1">
                <a:alpha val="30000"/>
              </a:scheme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43000" y="4762500"/>
              <a:ext cx="571500" cy="571500"/>
            </a:xfrm>
            <a:prstGeom prst="rect">
              <a:avLst/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285875" y="4905375"/>
              <a:ext cx="76200" cy="28575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409700" y="5000625"/>
              <a:ext cx="76200" cy="1905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533525" y="4857750"/>
              <a:ext cx="76200" cy="33337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41640" y="63636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64642" y="381000"/>
            <a:ext cx="3245358" cy="975551"/>
            <a:chOff x="564642" y="381000"/>
            <a:chExt cx="3245358" cy="975551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57150" cy="57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3712" y="392430"/>
              <a:ext cx="105430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议程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086356" y="586740"/>
              <a:ext cx="8631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2"/>
                  </a:solidFill>
                  <a:latin typeface="Segoe UI"/>
                  <a:ea typeface="Segoe UI"/>
                  <a:cs typeface="Segoe UI"/>
                </a:rPr>
                <a:t>AGENDA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00012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4642" y="10925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四模块覆盖全链路，从洞察到闭环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1619250"/>
            <a:ext cx="10477500" cy="3818001"/>
            <a:chOff x="571500" y="1619250"/>
            <a:chExt cx="10477500" cy="3818001"/>
          </a:xfrm>
        </p:grpSpPr>
        <p:grpSp>
          <p:nvGrpSpPr>
            <p:cNvPr id="14" name="Group 14"/>
            <p:cNvGrpSpPr/>
            <p:nvPr/>
          </p:nvGrpSpPr>
          <p:grpSpPr>
            <a:xfrm>
              <a:off x="571500" y="1619250"/>
              <a:ext cx="10477500" cy="693801"/>
              <a:chOff x="571500" y="1619250"/>
              <a:chExt cx="10477500" cy="693801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619250"/>
                <a:ext cx="10477500" cy="68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619250"/>
                <a:ext cx="6858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90778" y="178498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40180" y="1762125"/>
                <a:ext cx="319563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营销工作台的价值定位与市场时机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42466" y="202977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企业AI营销工作台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71500" y="2400300"/>
              <a:ext cx="10477500" cy="693801"/>
              <a:chOff x="571500" y="2400300"/>
              <a:chExt cx="10477500" cy="693801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71500" y="2400300"/>
                <a:ext cx="10477500" cy="68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2400300"/>
                <a:ext cx="685800" cy="68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90778" y="256603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40180" y="2543175"/>
                <a:ext cx="417095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数据整合 | AI分析 | 自动化执行 | 效果度量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42466" y="28108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四模块能力矩阵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71500" y="3181350"/>
              <a:ext cx="10477500" cy="693801"/>
              <a:chOff x="571500" y="3181350"/>
              <a:chExt cx="10477500" cy="693801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71500" y="3181350"/>
                <a:ext cx="10477500" cy="68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571500" y="3181350"/>
                <a:ext cx="685800" cy="685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90778" y="334708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440180" y="3324225"/>
                <a:ext cx="25595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企业采纳路径与常见阻力点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442466" y="359187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落地证据与风险提示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71500" y="3962400"/>
              <a:ext cx="10477500" cy="693801"/>
              <a:chOff x="571500" y="3962400"/>
              <a:chExt cx="10477500" cy="693801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3962400"/>
                <a:ext cx="10477500" cy="68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71500" y="3962400"/>
                <a:ext cx="685800" cy="6858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90778" y="412813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440180" y="4105275"/>
                <a:ext cx="351007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ROI预测、部署周期、团队规模需求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442466" y="43729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关键决策指标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71500" y="4743450"/>
              <a:ext cx="10477500" cy="693801"/>
              <a:chOff x="571500" y="4743450"/>
              <a:chExt cx="10477500" cy="693801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4743450"/>
                <a:ext cx="10477500" cy="6858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571500" y="4743450"/>
                <a:ext cx="685800" cy="685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90778" y="4909185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440180" y="4886325"/>
                <a:ext cx="226272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30 / 60 / 90天落地建议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442466" y="515397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落地实施路线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857250" y="23050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19050">
              <a:solidFill>
                <a:schemeClr val="accent4">
                  <a:alpha val="30000"/>
                </a:schemeClr>
              </a:solidFill>
              <a:prstDash val="dash"/>
            </a:ln>
          </p:spPr>
        </p:sp>
        <p:sp>
          <p:nvSpPr>
            <p:cNvPr id="40" name="Line 40"/>
            <p:cNvSpPr/>
            <p:nvPr/>
          </p:nvSpPr>
          <p:spPr>
            <a:xfrm>
              <a:off x="857250" y="308610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19050">
              <a:solidFill>
                <a:schemeClr val="accent4">
                  <a:alpha val="30000"/>
                </a:schemeClr>
              </a:solidFill>
              <a:prstDash val="dash"/>
            </a:ln>
          </p:spPr>
        </p:sp>
        <p:sp>
          <p:nvSpPr>
            <p:cNvPr id="41" name="Line 41"/>
            <p:cNvSpPr/>
            <p:nvPr/>
          </p:nvSpPr>
          <p:spPr>
            <a:xfrm>
              <a:off x="857250" y="3867150"/>
              <a:ext cx="9525" cy="876300"/>
            </a:xfrm>
            <a:custGeom>
              <a:avLst/>
              <a:gdLst/>
              <a:ahLst/>
              <a:cxnLst/>
              <a:rect l="l" t="t" r="r" b="b"/>
              <a:pathLst>
                <a:path w="9525" h="876300">
                  <a:moveTo>
                    <a:pt x="0" y="0"/>
                  </a:moveTo>
                  <a:lnTo>
                    <a:pt x="0" y="876300"/>
                  </a:lnTo>
                </a:path>
              </a:pathLst>
            </a:custGeom>
            <a:noFill/>
            <a:ln w="19050">
              <a:solidFill>
                <a:schemeClr val="accent4">
                  <a:alpha val="30000"/>
                </a:schemeClr>
              </a:solidFill>
              <a:prstDash val="dash"/>
            </a:ln>
          </p:spPr>
        </p:sp>
        <p:sp>
          <p:nvSpPr>
            <p:cNvPr id="42" name="Line 42"/>
            <p:cNvSpPr/>
            <p:nvPr/>
          </p:nvSpPr>
          <p:spPr>
            <a:xfrm>
              <a:off x="857250" y="464820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19050">
              <a:solidFill>
                <a:schemeClr val="accent4">
                  <a:alpha val="30000"/>
                </a:schemeClr>
              </a:solidFill>
              <a:prstDash val="dash"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11182350" y="1828800"/>
            <a:ext cx="152400" cy="3886200"/>
            <a:chOff x="11182350" y="1828800"/>
            <a:chExt cx="152400" cy="3886200"/>
          </a:xfrm>
        </p:grpSpPr>
        <p:sp>
          <p:nvSpPr>
            <p:cNvPr id="44" name="Rectangle 44"/>
            <p:cNvSpPr/>
            <p:nvPr/>
          </p:nvSpPr>
          <p:spPr>
            <a:xfrm>
              <a:off x="11239500" y="1905000"/>
              <a:ext cx="38100" cy="38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182350" y="1828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201400" y="37528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1182350" y="53530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66738" y="6477000"/>
            <a:ext cx="10677525" cy="317182"/>
            <a:chOff x="566738" y="6477000"/>
            <a:chExt cx="10677525" cy="317182"/>
          </a:xfrm>
        </p:grpSpPr>
        <p:sp>
          <p:nvSpPr>
            <p:cNvPr id="49" name="Line 49"/>
            <p:cNvSpPr/>
            <p:nvPr/>
          </p:nvSpPr>
          <p:spPr>
            <a:xfrm>
              <a:off x="571500" y="6477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738" y="661797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08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29812" y="6617970"/>
              <a:ext cx="10144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accent1">
                  <a:alpha val="6000"/>
                </a:schemeClr>
              </a:fgClr>
              <a:bgClr>
                <a:srgbClr val="FFFFFF"/>
              </a:bgClr>
            </a:patt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0"/>
              <a:ext cx="12192000" cy="47625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199549"/>
              <a:ext cx="1240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5EFE0"/>
                  </a:solidFill>
                  <a:latin typeface="Segoe UI"/>
                  <a:ea typeface="Microsoft YaHei"/>
                  <a:cs typeface="Segoe UI"/>
                </a:rPr>
                <a:t>企业 AI 营销工作台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175844" y="199549"/>
              <a:ext cx="4496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5EFE0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pattFill prst="ltUpDiag">
              <a:fgClr>
                <a:schemeClr val="accent2">
                  <a:alpha val="8000"/>
                </a:schemeClr>
              </a:fgClr>
              <a:bgClr>
                <a:srgbClr val="FFFFFF"/>
              </a:bgClr>
            </a:patt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714375"/>
            <a:ext cx="10182225" cy="4895850"/>
            <a:chOff x="571500" y="714375"/>
            <a:chExt cx="10182225" cy="4895850"/>
          </a:xfrm>
        </p:grpSpPr>
        <p:grpSp>
          <p:nvGrpSpPr>
            <p:cNvPr id="21" name="Group 21"/>
            <p:cNvGrpSpPr/>
            <p:nvPr/>
          </p:nvGrpSpPr>
          <p:grpSpPr>
            <a:xfrm>
              <a:off x="571500" y="714375"/>
              <a:ext cx="3267075" cy="3695700"/>
              <a:chOff x="571500" y="714375"/>
              <a:chExt cx="3267075" cy="36957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762000"/>
                <a:ext cx="3238500" cy="361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" y="762000"/>
                <a:ext cx="3238500" cy="3619500"/>
              </a:xfrm>
              <a:prstGeom prst="rect">
                <a:avLst/>
              </a:prstGeom>
              <a:pattFill prst="ltUpDiag">
                <a:fgClr>
                  <a:schemeClr val="accent2">
                    <a:alpha val="8000"/>
                  </a:schemeClr>
                </a:fgClr>
                <a:bgClr>
                  <a:srgbClr val="FFFFFF"/>
                </a:bgClr>
              </a:patt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00075" y="790575"/>
                <a:ext cx="3238500" cy="3619500"/>
              </a:xfrm>
              <a:prstGeom prst="rect">
                <a:avLst/>
              </a:prstGeom>
              <a:solidFill>
                <a:schemeClr val="accent2">
                  <a:alpha val="85000"/>
                </a:scheme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00075" y="790575"/>
                <a:ext cx="3238500" cy="3619500"/>
              </a:xfrm>
              <a:prstGeom prst="rect">
                <a:avLst/>
              </a:prstGeom>
              <a:pattFill prst="ltUpDiag">
                <a:fgClr>
                  <a:schemeClr val="accent1">
                    <a:alpha val="6000"/>
                  </a:schemeClr>
                </a:fgClr>
                <a:bgClr>
                  <a:srgbClr val="FFFFFF"/>
                </a:bgClr>
              </a:patt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72146" y="733425"/>
                <a:ext cx="2037207" cy="25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0" dirty="0">
                    <a:solidFill>
                      <a:srgbClr val="F5EFE0">
                        <a:alphaMod val="20000"/>
                      </a:srgbClr>
                    </a:solidFill>
                    <a:latin typeface="+mj-lt"/>
                    <a:ea typeface="+mj-ea"/>
                    <a:cs typeface="+mj-cs"/>
                  </a:rPr>
                  <a:t>60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53096" y="714375"/>
                <a:ext cx="2037207" cy="25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0" dirty="0">
                    <a:solidFill>
                      <a:schemeClr val="accent2">
                        <a:alphaMod val="40000"/>
                      </a:schemeClr>
                    </a:solidFill>
                    <a:latin typeface="+mj-lt"/>
                    <a:ea typeface="+mj-ea"/>
                    <a:cs typeface="+mj-cs"/>
                  </a:rPr>
                  <a:t>60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72146" y="733425"/>
                <a:ext cx="2037207" cy="259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0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60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929384" y="2625090"/>
                <a:ext cx="522732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%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66075" y="37595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5EFE0"/>
                    </a:solidFill>
                    <a:latin typeface="Segoe UI"/>
                    <a:ea typeface="Microsoft YaHei"/>
                    <a:cs typeface="Segoe UI"/>
                  </a:rPr>
                  <a:t>跨部门协作成本降低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191000" y="762000"/>
              <a:ext cx="3630930" cy="4118134"/>
              <a:chOff x="4191000" y="762000"/>
              <a:chExt cx="3630930" cy="4118134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191000" y="762000"/>
                <a:ext cx="38100" cy="76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375785" y="926306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核心宣言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367022" y="1216342"/>
                <a:ext cx="2944680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AI营销工作台的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67022" y="1692592"/>
                <a:ext cx="1640357" cy="557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核心价值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4381500" y="2238375"/>
                <a:ext cx="1143000" cy="38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373880" y="2457450"/>
                <a:ext cx="34480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将营销数据孤岛转化为实时决策引擎，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73880" y="2743200"/>
                <a:ext cx="28119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降低跨部门协作成本60%以上。</a:t>
                </a:r>
              </a:p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4381500" y="3291364"/>
                <a:ext cx="2551224" cy="1588770"/>
                <a:chOff x="4381500" y="3291364"/>
                <a:chExt cx="2551224" cy="1588770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4381500" y="3333750"/>
                  <a:ext cx="76200" cy="762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565523" y="3291364"/>
                  <a:ext cx="1269751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营销ROI透明化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566285" y="3517106"/>
                  <a:ext cx="1907667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AI自动归因，告别预算黑洞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4381500" y="3905250"/>
                  <a:ext cx="76200" cy="762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565523" y="3862864"/>
                  <a:ext cx="1094289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内容产能倍增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4566285" y="4088606"/>
                  <a:ext cx="2131695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大模型批量生成，审核流程内嵌</a:t>
                  </a:r>
                </a:p>
              </p:txBody>
            </p:sp>
            <p:sp>
              <p:nvSpPr>
                <p:cNvPr id="35" name="Rectangle 35"/>
                <p:cNvSpPr/>
                <p:nvPr/>
              </p:nvSpPr>
              <p:spPr>
                <a:xfrm>
                  <a:off x="4381500" y="4476750"/>
                  <a:ext cx="76200" cy="76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4565523" y="4434364"/>
                  <a:ext cx="914067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8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执行零等待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4566285" y="4660106"/>
                  <a:ext cx="236643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12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洞察驱动自动化触达，时效提升3倍</a:t>
                  </a:r>
                </a:p>
              </p:txBody>
            </p:sp>
          </p:grpSp>
        </p:grpSp>
        <p:grpSp>
          <p:nvGrpSpPr>
            <p:cNvPr id="46" name="Group 46"/>
            <p:cNvGrpSpPr/>
            <p:nvPr/>
          </p:nvGrpSpPr>
          <p:grpSpPr>
            <a:xfrm>
              <a:off x="8001000" y="4953000"/>
              <a:ext cx="2752725" cy="657225"/>
              <a:chOff x="8001000" y="4953000"/>
              <a:chExt cx="2752725" cy="657225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001000" y="4953000"/>
                <a:ext cx="571500" cy="571500"/>
              </a:xfrm>
              <a:prstGeom prst="rect">
                <a:avLst/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8039100" y="4991100"/>
                <a:ext cx="571500" cy="57150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9144000" y="5143500"/>
                <a:ext cx="381000" cy="381000"/>
              </a:xfrm>
              <a:prstGeom prst="rect">
                <a:avLst/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9182100" y="5181600"/>
                <a:ext cx="381000" cy="381000"/>
              </a:xfrm>
              <a:prstGeom prst="rect">
                <a:avLst/>
              </a:prstGeom>
              <a:solidFill>
                <a:schemeClr val="accent3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10239375" y="5095875"/>
                <a:ext cx="476250" cy="476250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alpha val="15000"/>
                  </a:schemeClr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10277475" y="5133975"/>
                <a:ext cx="476250" cy="476250"/>
              </a:xfrm>
              <a:prstGeom prst="ellipse">
                <a:avLst/>
              </a:prstGeom>
              <a:noFill/>
              <a:ln w="19050">
                <a:solidFill>
                  <a:schemeClr val="accent2">
                    <a:alpha val="10000"/>
                  </a:schemeClr>
                </a:solidFill>
              </a:ln>
            </p:spPr>
          </p:sp>
        </p:grpSp>
      </p:grpSp>
      <p:grpSp>
        <p:nvGrpSpPr>
          <p:cNvPr id="49" name="Group 49"/>
          <p:cNvGrpSpPr/>
          <p:nvPr/>
        </p:nvGrpSpPr>
        <p:grpSpPr>
          <a:xfrm>
            <a:off x="8482927" y="6006941"/>
            <a:ext cx="2761336" cy="161925"/>
            <a:chOff x="8482927" y="6006941"/>
            <a:chExt cx="2761336" cy="161925"/>
          </a:xfrm>
        </p:grpSpPr>
        <p:sp>
          <p:nvSpPr>
            <p:cNvPr id="48" name="TextBox 48"/>
            <p:cNvSpPr txBox="1"/>
            <p:nvPr/>
          </p:nvSpPr>
          <p:spPr>
            <a:xfrm>
              <a:off x="8482927" y="6006941"/>
              <a:ext cx="276133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洞察页 · 数据整合 · AI分析 · 自动化执行 · 效果度量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dk2">
                  <a:alpha val="4000"/>
                </a:schemeClr>
              </a:fgClr>
              <a:bgClr>
                <a:srgbClr val="FFFFFF">
                  <a:alpha val="4000"/>
                </a:srgbClr>
              </a:bgClr>
            </a:patt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2211050" cy="1642301"/>
            <a:chOff x="0" y="0"/>
            <a:chExt cx="12211050" cy="1642301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9050" y="19050"/>
              <a:ext cx="12192000" cy="57150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381000"/>
              <a:ext cx="1143000" cy="30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4772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EFE0"/>
                  </a:solidFill>
                  <a:latin typeface="Consolas"/>
                  <a:ea typeface="Microsoft YaHei"/>
                  <a:cs typeface="Consolas"/>
                </a:rPr>
                <a:t>正反对照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5498" y="755333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四模块能力矩阵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190625"/>
              <a:ext cx="3619500" cy="57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0075" y="1219200"/>
              <a:ext cx="3619500" cy="47625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4642" y="137826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Segoe UI"/>
                  <a:ea typeface="Microsoft YaHei"/>
                  <a:cs typeface="Segoe UI"/>
                </a:rPr>
                <a:t>各模块独立交付价值，组合后产生飞轮效应。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1809750"/>
            <a:ext cx="11049000" cy="4667250"/>
            <a:chOff x="571500" y="1809750"/>
            <a:chExt cx="11049000" cy="4667250"/>
          </a:xfrm>
        </p:grpSpPr>
        <p:grpSp>
          <p:nvGrpSpPr>
            <p:cNvPr id="27" name="Group 27"/>
            <p:cNvGrpSpPr/>
            <p:nvPr/>
          </p:nvGrpSpPr>
          <p:grpSpPr>
            <a:xfrm>
              <a:off x="571500" y="1809750"/>
              <a:ext cx="5286375" cy="2190750"/>
              <a:chOff x="571500" y="1809750"/>
              <a:chExt cx="5286375" cy="2190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71500" y="1809750"/>
                <a:ext cx="5286375" cy="2190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71500" y="1809750"/>
                <a:ext cx="5286375" cy="2190750"/>
              </a:xfrm>
              <a:prstGeom prst="rect">
                <a:avLst/>
              </a:prstGeom>
              <a:pattFill prst="ltUpDiag">
                <a:fgClr>
                  <a:schemeClr val="accent1">
                    <a:alpha val="8000"/>
                  </a:schemeClr>
                </a:fgClr>
                <a:bgClr>
                  <a:srgbClr val="FFFFFF">
                    <a:alpha val="8000"/>
                  </a:srgbClr>
                </a:bgClr>
              </a:patt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571500" y="1809750"/>
                <a:ext cx="76200" cy="2190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00075" y="1809750"/>
                <a:ext cx="57150" cy="219075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9625" y="2047875"/>
                <a:ext cx="5334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27244" y="21202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67231" y="21202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数据整合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03910" y="2593181"/>
                <a:ext cx="20676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支持CRM、电商、广告平台、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3910" y="2802731"/>
                <a:ext cx="2131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社交媒体全域数据源一键接入，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3910" y="3012281"/>
                <a:ext cx="189166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ETL耗时从2周压缩至4小时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5486400" y="36290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381625" y="3638550"/>
                <a:ext cx="57150" cy="57150"/>
              </a:xfrm>
              <a:prstGeom prst="ellipse">
                <a:avLst/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295900" y="3648075"/>
                <a:ext cx="38100" cy="38100"/>
              </a:xfrm>
              <a:prstGeom prst="ellipse">
                <a:avLst/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6334125" y="1809750"/>
              <a:ext cx="5286375" cy="2190750"/>
              <a:chOff x="6334125" y="1809750"/>
              <a:chExt cx="5286375" cy="2190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334125" y="1809750"/>
                <a:ext cx="5286375" cy="2190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334125" y="1809750"/>
                <a:ext cx="5286375" cy="2190750"/>
              </a:xfrm>
              <a:prstGeom prst="rect">
                <a:avLst/>
              </a:prstGeom>
              <a:pattFill prst="ltUpDiag">
                <a:fgClr>
                  <a:schemeClr val="accent2">
                    <a:alpha val="6000"/>
                  </a:schemeClr>
                </a:fgClr>
                <a:bgClr>
                  <a:srgbClr val="FFFFFF">
                    <a:alpha val="6000"/>
                  </a:srgbClr>
                </a:bgClr>
              </a:patt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1544300" y="1809750"/>
                <a:ext cx="76200" cy="21907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1572875" y="1809750"/>
                <a:ext cx="47625" cy="2190750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6572250" y="2047875"/>
                <a:ext cx="53340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689869" y="21202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229856" y="2120265"/>
                <a:ext cx="7844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AI分析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566535" y="2593181"/>
                <a:ext cx="17606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自然语言查询+预测模型，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566535" y="280273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非技术团队可直接获取用户分层、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566535" y="3012281"/>
                <a:ext cx="14276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竞品预警、GMV预测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6581775" y="36290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705600" y="3638550"/>
                <a:ext cx="57150" cy="57150"/>
              </a:xfrm>
              <a:prstGeom prst="ellipse">
                <a:avLst/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6810375" y="3648075"/>
                <a:ext cx="38100" cy="3810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</p:sp>
        </p:grpSp>
        <p:grpSp>
          <p:nvGrpSpPr>
            <p:cNvPr id="55" name="Group 55"/>
            <p:cNvGrpSpPr/>
            <p:nvPr/>
          </p:nvGrpSpPr>
          <p:grpSpPr>
            <a:xfrm>
              <a:off x="571500" y="4286250"/>
              <a:ext cx="5286375" cy="2190750"/>
              <a:chOff x="571500" y="4286250"/>
              <a:chExt cx="5286375" cy="219075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71500" y="4286250"/>
                <a:ext cx="5286375" cy="2190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571500" y="4286250"/>
                <a:ext cx="5286375" cy="2190750"/>
              </a:xfrm>
              <a:prstGeom prst="rect">
                <a:avLst/>
              </a:prstGeom>
              <a:pattFill prst="ltUpDiag">
                <a:fgClr>
                  <a:schemeClr val="accent2">
                    <a:alpha val="6000"/>
                  </a:schemeClr>
                </a:fgClr>
                <a:bgClr>
                  <a:srgbClr val="FFFFFF">
                    <a:alpha val="6000"/>
                  </a:srgbClr>
                </a:bgClr>
              </a:patt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71500" y="4286250"/>
                <a:ext cx="76200" cy="21907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00075" y="4286250"/>
                <a:ext cx="57150" cy="2190750"/>
              </a:xfrm>
              <a:prstGeom prst="rect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09625" y="4524375"/>
                <a:ext cx="533400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27244" y="45967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03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467231" y="4596765"/>
                <a:ext cx="12904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自动化执行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03910" y="5069681"/>
                <a:ext cx="15156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规则引擎+LLM驱动，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03910" y="5279231"/>
                <a:ext cx="16773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支持多触点内容个性化、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03910" y="5488781"/>
                <a:ext cx="194767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触发式营销、AB测试自动化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5486400" y="61055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5381625" y="6115050"/>
                <a:ext cx="57150" cy="57150"/>
              </a:xfrm>
              <a:prstGeom prst="ellipse">
                <a:avLst/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5295900" y="6124575"/>
                <a:ext cx="38100" cy="3810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</p:sp>
        </p:grpSp>
        <p:grpSp>
          <p:nvGrpSpPr>
            <p:cNvPr id="69" name="Group 69"/>
            <p:cNvGrpSpPr/>
            <p:nvPr/>
          </p:nvGrpSpPr>
          <p:grpSpPr>
            <a:xfrm>
              <a:off x="6334125" y="4286250"/>
              <a:ext cx="5286375" cy="2190750"/>
              <a:chOff x="6334125" y="4286250"/>
              <a:chExt cx="5286375" cy="21907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334125" y="4286250"/>
                <a:ext cx="5286375" cy="21907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334125" y="4286250"/>
                <a:ext cx="5286375" cy="2190750"/>
              </a:xfrm>
              <a:prstGeom prst="rect">
                <a:avLst/>
              </a:prstGeom>
              <a:pattFill prst="ltUpDiag">
                <a:fgClr>
                  <a:schemeClr val="accent1">
                    <a:alpha val="8000"/>
                  </a:schemeClr>
                </a:fgClr>
                <a:bgClr>
                  <a:srgbClr val="FFFFFF">
                    <a:alpha val="8000"/>
                  </a:srgbClr>
                </a:bgClr>
              </a:patt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1544300" y="4286250"/>
                <a:ext cx="76200" cy="2190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11572875" y="4286250"/>
                <a:ext cx="47625" cy="2190750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6572250" y="4524375"/>
                <a:ext cx="533400" cy="381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689869" y="4596765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04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229856" y="459676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效果度量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566535" y="5069681"/>
                <a:ext cx="2131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多触点归因模型，实时看板覆盖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566535" y="5279231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曝光到转化全链路，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566535" y="5488781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Segoe UI"/>
                    <a:ea typeface="Microsoft YaHei"/>
                    <a:cs typeface="Segoe UI"/>
                  </a:rPr>
                  <a:t>支持自定义指标</a:t>
                </a:r>
              </a:p>
            </p:txBody>
          </p:sp>
          <p:sp>
            <p:nvSpPr>
              <p:cNvPr id="66" name="Ellipse 66"/>
              <p:cNvSpPr/>
              <p:nvPr/>
            </p:nvSpPr>
            <p:spPr>
              <a:xfrm>
                <a:off x="6581775" y="61055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6705600" y="6115050"/>
                <a:ext cx="57150" cy="57150"/>
              </a:xfrm>
              <a:prstGeom prst="ellipse">
                <a:avLst/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810375" y="6124575"/>
                <a:ext cx="38100" cy="38100"/>
              </a:xfrm>
              <a:prstGeom prst="ellipse">
                <a:avLst/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</p:spPr>
          </p:sp>
        </p:grpSp>
      </p:grpSp>
      <p:grpSp>
        <p:nvGrpSpPr>
          <p:cNvPr id="78" name="Group 78"/>
          <p:cNvGrpSpPr/>
          <p:nvPr/>
        </p:nvGrpSpPr>
        <p:grpSpPr>
          <a:xfrm>
            <a:off x="571500" y="571500"/>
            <a:ext cx="11363325" cy="6181439"/>
            <a:chOff x="571500" y="571500"/>
            <a:chExt cx="11363325" cy="6181439"/>
          </a:xfrm>
        </p:grpSpPr>
        <p:sp>
          <p:nvSpPr>
            <p:cNvPr id="71" name="Rectangle 71"/>
            <p:cNvSpPr/>
            <p:nvPr/>
          </p:nvSpPr>
          <p:spPr>
            <a:xfrm>
              <a:off x="11620500" y="571500"/>
              <a:ext cx="285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1649075" y="600075"/>
              <a:ext cx="285750" cy="28575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73" name="Line 73"/>
            <p:cNvSpPr/>
            <p:nvPr/>
          </p:nvSpPr>
          <p:spPr>
            <a:xfrm>
              <a:off x="5953125" y="29051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dash"/>
            </a:ln>
          </p:spPr>
        </p:sp>
        <p:sp>
          <p:nvSpPr>
            <p:cNvPr id="74" name="Line 74"/>
            <p:cNvSpPr/>
            <p:nvPr/>
          </p:nvSpPr>
          <p:spPr>
            <a:xfrm>
              <a:off x="5953125" y="5381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dash"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129724" y="6562249"/>
              <a:ext cx="305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4 / 8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71500" y="6572250"/>
              <a:ext cx="2857500" cy="3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71500" y="6572250"/>
              <a:ext cx="142875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1432751"/>
            <a:chOff x="0" y="0"/>
            <a:chExt cx="12192000" cy="1432751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76200"/>
              <a:ext cx="12192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6166" y="439102"/>
              <a:ext cx="4751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dk2"/>
                  </a:solidFill>
                  <a:latin typeface="Consolas"/>
                  <a:ea typeface="Microsoft YaHei"/>
                  <a:cs typeface="Consolas"/>
                </a:rPr>
                <a:t>引证栏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459680" y="4391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dk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784" y="737235"/>
              <a:ext cx="34622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落地证据与风险提示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4642" y="11687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基于同行业已落地案例，关键阻力点需提前预案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714500"/>
            <a:ext cx="10668000" cy="3438525"/>
            <a:chOff x="571500" y="1714500"/>
            <a:chExt cx="10668000" cy="3438525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714500"/>
              <a:ext cx="3429000" cy="3438525"/>
              <a:chOff x="571500" y="1714500"/>
              <a:chExt cx="3429000" cy="343852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714500"/>
                <a:ext cx="3429000" cy="457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91718" y="18411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采纳路径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571500" y="21717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28575">
                <a:solidFill>
                  <a:schemeClr val="accent4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571500" y="2324100"/>
                <a:ext cx="3429000" cy="1333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" y="2324100"/>
                <a:ext cx="3429000" cy="1333500"/>
              </a:xfrm>
              <a:prstGeom prst="rect">
                <a:avLst/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81050" y="2369820"/>
                <a:ext cx="437921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8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10284" y="2661285"/>
                <a:ext cx="39090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088642" y="2807018"/>
                <a:ext cx="368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Segoe UI"/>
                    <a:ea typeface="Segoe UI"/>
                    <a:cs typeface="Segoe UI"/>
                  </a:rPr>
                  <a:t>POC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1050" y="2941320"/>
                <a:ext cx="837743" cy="1047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54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12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96034" y="3232785"/>
                <a:ext cx="39090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周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69642" y="337851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全渠道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4766" y="38395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全渠道覆盖达成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71500" y="4191000"/>
                <a:ext cx="3429000" cy="762000"/>
              </a:xfrm>
              <a:prstGeom prst="rect">
                <a:avLst/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81812" y="4135755"/>
                <a:ext cx="2096262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70%→30%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4766" y="4696778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IT依赖度大幅降低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571500" y="51435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4191000" y="1714500"/>
              <a:ext cx="3429000" cy="3057525"/>
              <a:chOff x="4191000" y="1714500"/>
              <a:chExt cx="3429000" cy="30575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191000" y="1714500"/>
                <a:ext cx="3429000" cy="457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411218" y="18411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常见阻力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4191000" y="21717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28575">
                <a:solidFill>
                  <a:schemeClr val="accent4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4191000" y="2324100"/>
                <a:ext cx="3429000" cy="1143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191000" y="2324100"/>
                <a:ext cx="3429000" cy="1143000"/>
              </a:xfrm>
              <a:prstGeom prst="rect">
                <a:avLst/>
              </a:prstGeom>
              <a:solidFill>
                <a:schemeClr val="accent3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00550" y="2339340"/>
                <a:ext cx="1233526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4800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45%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708904" y="2727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落地延期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14266" y="3077528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数据治理不足导致整合延迟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191000" y="3619500"/>
                <a:ext cx="3429000" cy="952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191000" y="3619500"/>
                <a:ext cx="3429000" cy="952500"/>
              </a:xfrm>
              <a:prstGeom prst="rect">
                <a:avLst/>
              </a:prstGeom>
              <a:solidFill>
                <a:schemeClr val="accent3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407408" y="3789045"/>
                <a:ext cx="163982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第二大障碍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14266" y="42681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内部流程审批</a:t>
                </a:r>
              </a:p>
            </p:txBody>
          </p:sp>
          <p:sp>
            <p:nvSpPr>
              <p:cNvPr id="38" name="Line 38"/>
              <p:cNvSpPr/>
              <p:nvPr/>
            </p:nvSpPr>
            <p:spPr>
              <a:xfrm>
                <a:off x="4191000" y="47625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38100">
                <a:solidFill>
                  <a:schemeClr val="accent3"/>
                </a:solidFill>
              </a:ln>
            </p:spPr>
          </p:sp>
        </p:grpSp>
        <p:grpSp>
          <p:nvGrpSpPr>
            <p:cNvPr id="53" name="Group 53"/>
            <p:cNvGrpSpPr/>
            <p:nvPr/>
          </p:nvGrpSpPr>
          <p:grpSpPr>
            <a:xfrm>
              <a:off x="7810500" y="1714500"/>
              <a:ext cx="3429000" cy="3248025"/>
              <a:chOff x="7810500" y="1714500"/>
              <a:chExt cx="3429000" cy="3248025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810500" y="1714500"/>
                <a:ext cx="3429000" cy="457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030718" y="18411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5EFE0"/>
                    </a:solidFill>
                    <a:latin typeface="+mj-lt"/>
                    <a:ea typeface="+mj-ea"/>
                    <a:cs typeface="+mj-cs"/>
                  </a:rPr>
                  <a:t>成功前提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7810500" y="21717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28575">
                <a:solidFill>
                  <a:schemeClr val="accent4"/>
                </a:solidFill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7810500" y="2324100"/>
                <a:ext cx="3429000" cy="1333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7810500" y="2324100"/>
                <a:ext cx="3429000" cy="1333500"/>
              </a:xfrm>
              <a:prstGeom prst="rect">
                <a:avLst/>
              </a:prstGeom>
              <a:solidFill>
                <a:schemeClr val="accent2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029956" y="2567940"/>
                <a:ext cx="8785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1名全职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33766" y="30299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营销运营负责人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033766" y="3363278"/>
                <a:ext cx="10337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专职对接IT团队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810500" y="3810000"/>
                <a:ext cx="3429000" cy="95250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033766" y="4030028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优先选择数据基础较好的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028432" y="4202430"/>
                <a:ext cx="161860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1-2条业务线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033766" y="4506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试点推进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7810500" y="49530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</p:grpSp>
      </p:grpSp>
      <p:grpSp>
        <p:nvGrpSpPr>
          <p:cNvPr id="70" name="Group 70"/>
          <p:cNvGrpSpPr/>
          <p:nvPr/>
        </p:nvGrpSpPr>
        <p:grpSpPr>
          <a:xfrm>
            <a:off x="0" y="5524500"/>
            <a:ext cx="12192000" cy="762000"/>
            <a:chOff x="0" y="5524500"/>
            <a:chExt cx="12192000" cy="762000"/>
          </a:xfrm>
        </p:grpSpPr>
        <p:sp>
          <p:nvSpPr>
            <p:cNvPr id="55" name="Rectangle 55"/>
            <p:cNvSpPr/>
            <p:nvPr/>
          </p:nvSpPr>
          <p:spPr>
            <a:xfrm>
              <a:off x="0" y="5524500"/>
              <a:ext cx="12192000" cy="3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1500" y="5715000"/>
              <a:ext cx="110490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6666" y="59064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关键结论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676400" y="5934075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852422" y="5914549"/>
              <a:ext cx="1174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8周POC验证可行性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3486150" y="59340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662172" y="59145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数据治理是最大风险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391150" y="593407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567172" y="59145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专职运营是关键资源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467350" y="60388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5657850" y="6038850"/>
              <a:ext cx="114300" cy="114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5848350" y="6038850"/>
              <a:ext cx="114300" cy="114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6038850" y="6038850"/>
              <a:ext cx="114300" cy="1143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11049000" y="5715000"/>
              <a:ext cx="5715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84788" y="59016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5EFE0"/>
                  </a:solidFill>
                  <a:latin typeface="+mj-lt"/>
                  <a:ea typeface="+mj-ea"/>
                  <a:cs typeface="+mj-cs"/>
                </a:rPr>
                <a:t>P5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accent1">
                  <a:alpha val="15000"/>
                </a:schemeClr>
              </a:fgClr>
              <a:bgClr>
                <a:srgbClr val="FFFFFF"/>
              </a:bgClr>
            </a:patt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76200"/>
              <a:ext cx="121920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49847" y="6619399"/>
              <a:ext cx="370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F5EFE0"/>
                  </a:solidFill>
                  <a:latin typeface="Consolas"/>
                  <a:ea typeface="Consolas"/>
                  <a:cs typeface="Consolas"/>
                </a:rPr>
                <a:t>06/08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42925" y="354806"/>
            <a:ext cx="11839575" cy="5741194"/>
            <a:chOff x="542925" y="354806"/>
            <a:chExt cx="11839575" cy="5741194"/>
          </a:xfrm>
        </p:grpSpPr>
        <p:grpSp>
          <p:nvGrpSpPr>
            <p:cNvPr id="12" name="Group 12"/>
            <p:cNvGrpSpPr/>
            <p:nvPr/>
          </p:nvGrpSpPr>
          <p:grpSpPr>
            <a:xfrm>
              <a:off x="565785" y="354806"/>
              <a:ext cx="617220" cy="254794"/>
              <a:chOff x="565785" y="354806"/>
              <a:chExt cx="617220" cy="254794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65785" y="354806"/>
                <a:ext cx="61722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5"/>
                    </a:solidFill>
                    <a:latin typeface="Segoe UI"/>
                    <a:ea typeface="Microsoft YaHei"/>
                    <a:cs typeface="Segoe UI"/>
                  </a:rPr>
                  <a:t>数字告示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571500"/>
                <a:ext cx="571500" cy="3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571500" y="762000"/>
              <a:ext cx="2673096" cy="750570"/>
              <a:chOff x="571500" y="762000"/>
              <a:chExt cx="2673096" cy="75057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71500" y="762000"/>
                <a:ext cx="76200" cy="476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8284" y="851535"/>
                <a:ext cx="231731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关键决策指标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4380" y="1219200"/>
                <a:ext cx="24902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Segoe UI"/>
                    <a:ea typeface="Microsoft YaHei"/>
                    <a:cs typeface="Segoe UI"/>
                  </a:rPr>
                  <a:t>量化ROI，支撑预算审批。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542925" y="1685925"/>
              <a:ext cx="11077575" cy="1962150"/>
              <a:chOff x="542925" y="1685925"/>
              <a:chExt cx="11077575" cy="1962150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542925" y="1685925"/>
                <a:ext cx="2600325" cy="1962150"/>
                <a:chOff x="542925" y="1685925"/>
                <a:chExt cx="2600325" cy="1962150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571500" y="1714500"/>
                  <a:ext cx="2571750" cy="190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571500" y="1714500"/>
                  <a:ext cx="2571750" cy="1905000"/>
                </a:xfrm>
                <a:prstGeom prst="rect">
                  <a:avLst/>
                </a:prstGeom>
                <a:pattFill prst="ltUpDiag">
                  <a:fgClr>
                    <a:schemeClr val="accent2">
                      <a:alpha val="20000"/>
                    </a:schemeClr>
                  </a:fgClr>
                  <a:bgClr>
                    <a:srgbClr val="FFFFFF"/>
                  </a:bgClr>
                </a:pattFill>
                <a:ln>
                  <a:noFill/>
                </a:ln>
              </p:spPr>
            </p:sp>
            <p:sp>
              <p:nvSpPr>
                <p:cNvPr id="19" name="Rectangle 19"/>
                <p:cNvSpPr/>
                <p:nvPr/>
              </p:nvSpPr>
              <p:spPr>
                <a:xfrm>
                  <a:off x="542925" y="1685925"/>
                  <a:ext cx="57150" cy="19621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38200" y="1863090"/>
                  <a:ext cx="1293297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8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60%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49630" y="2552700"/>
                  <a:ext cx="128739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运营成本降低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851916" y="2934652"/>
                  <a:ext cx="16432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来自3家试点客户平均数据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3352800" y="1685925"/>
                <a:ext cx="2600325" cy="1962150"/>
                <a:chOff x="3352800" y="1685925"/>
                <a:chExt cx="2600325" cy="1962150"/>
              </a:xfrm>
            </p:grpSpPr>
            <p:sp>
              <p:nvSpPr>
                <p:cNvPr id="24" name="Rectangle 24"/>
                <p:cNvSpPr/>
                <p:nvPr/>
              </p:nvSpPr>
              <p:spPr>
                <a:xfrm>
                  <a:off x="3381375" y="1714500"/>
                  <a:ext cx="2571750" cy="190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5" name="Rectangle 25"/>
                <p:cNvSpPr/>
                <p:nvPr/>
              </p:nvSpPr>
              <p:spPr>
                <a:xfrm>
                  <a:off x="3381375" y="1714500"/>
                  <a:ext cx="2571750" cy="1905000"/>
                </a:xfrm>
                <a:prstGeom prst="rect">
                  <a:avLst/>
                </a:prstGeom>
                <a:pattFill prst="ltUpDiag">
                  <a:fgClr>
                    <a:schemeClr val="accent1">
                      <a:alpha val="15000"/>
                    </a:schemeClr>
                  </a:fgClr>
                  <a:bgClr>
                    <a:srgbClr val="FFFFFF"/>
                  </a:bgClr>
                </a:pattFill>
                <a:ln>
                  <a:noFill/>
                </a:ln>
              </p:spPr>
            </p:sp>
            <p:sp>
              <p:nvSpPr>
                <p:cNvPr id="26" name="Rectangle 26"/>
                <p:cNvSpPr/>
                <p:nvPr/>
              </p:nvSpPr>
              <p:spPr>
                <a:xfrm>
                  <a:off x="3352800" y="1685925"/>
                  <a:ext cx="57150" cy="196215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648075" y="1863090"/>
                  <a:ext cx="1530767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8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3.2x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659505" y="2552700"/>
                  <a:ext cx="128739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内容产能提升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3661791" y="2934652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大模型辅助后人均产出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6162675" y="1685925"/>
                <a:ext cx="2600325" cy="1962150"/>
                <a:chOff x="6162675" y="1685925"/>
                <a:chExt cx="2600325" cy="1962150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6191250" y="1714500"/>
                  <a:ext cx="2571750" cy="190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2" name="Rectangle 32"/>
                <p:cNvSpPr/>
                <p:nvPr/>
              </p:nvSpPr>
              <p:spPr>
                <a:xfrm>
                  <a:off x="6191250" y="1714500"/>
                  <a:ext cx="2571750" cy="1905000"/>
                </a:xfrm>
                <a:prstGeom prst="rect">
                  <a:avLst/>
                </a:prstGeom>
                <a:pattFill prst="ltUpDiag">
                  <a:fgClr>
                    <a:schemeClr val="accent2">
                      <a:alpha val="20000"/>
                    </a:schemeClr>
                  </a:fgClr>
                  <a:bgClr>
                    <a:srgbClr val="FFFFFF"/>
                  </a:bgClr>
                </a:patt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6162675" y="1685925"/>
                  <a:ext cx="57150" cy="196215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457950" y="1863090"/>
                  <a:ext cx="1089751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4800" b="1" dirty="0">
                      <a:solidFill>
                        <a:schemeClr val="accent3"/>
                      </a:solidFill>
                      <a:latin typeface="+mj-lt"/>
                      <a:ea typeface="+mj-ea"/>
                      <a:cs typeface="+mj-cs"/>
                    </a:rPr>
                    <a:t>8周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469380" y="2552700"/>
                  <a:ext cx="1325804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POC交付周期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471666" y="2934652"/>
                  <a:ext cx="170688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含数据接入与基础模型调优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8972550" y="1685925"/>
                <a:ext cx="2647950" cy="1962150"/>
                <a:chOff x="8972550" y="1685925"/>
                <a:chExt cx="2647950" cy="1962150"/>
              </a:xfrm>
            </p:grpSpPr>
            <p:sp>
              <p:nvSpPr>
                <p:cNvPr id="38" name="Rectangle 38"/>
                <p:cNvSpPr/>
                <p:nvPr/>
              </p:nvSpPr>
              <p:spPr>
                <a:xfrm>
                  <a:off x="9001125" y="1714500"/>
                  <a:ext cx="2619375" cy="190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9001125" y="1714500"/>
                  <a:ext cx="2619375" cy="1905000"/>
                </a:xfrm>
                <a:prstGeom prst="rect">
                  <a:avLst/>
                </a:prstGeom>
                <a:pattFill prst="ltUpDiag">
                  <a:fgClr>
                    <a:schemeClr val="accent1">
                      <a:alpha val="15000"/>
                    </a:schemeClr>
                  </a:fgClr>
                  <a:bgClr>
                    <a:srgbClr val="FFFFFF"/>
                  </a:bgClr>
                </a:pattFill>
                <a:ln>
                  <a:noFill/>
                </a:ln>
              </p:spPr>
            </p:sp>
            <p:sp>
              <p:nvSpPr>
                <p:cNvPr id="40" name="Rectangle 40"/>
                <p:cNvSpPr/>
                <p:nvPr/>
              </p:nvSpPr>
              <p:spPr>
                <a:xfrm>
                  <a:off x="8972550" y="1685925"/>
                  <a:ext cx="57150" cy="196215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267825" y="1863090"/>
                  <a:ext cx="1293297" cy="9334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8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45%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279255" y="2552700"/>
                  <a:ext cx="1269797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b="1" dirty="0">
                      <a:solidFill>
                        <a:schemeClr val="dk1"/>
                      </a:solidFill>
                      <a:latin typeface="Segoe UI"/>
                      <a:ea typeface="Microsoft YaHei"/>
                      <a:cs typeface="Segoe UI"/>
                    </a:rPr>
                    <a:t>营销ROI提升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281541" y="29346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Segoe UI"/>
                      <a:ea typeface="Microsoft YaHei"/>
                      <a:cs typeface="Segoe UI"/>
                    </a:rPr>
                    <a:t>首年全渠道投放归因数据</a:t>
                  </a:r>
                </a:p>
              </p:txBody>
            </p:sp>
          </p:grpSp>
        </p:grpSp>
        <p:grpSp>
          <p:nvGrpSpPr>
            <p:cNvPr id="54" name="Group 54"/>
            <p:cNvGrpSpPr/>
            <p:nvPr/>
          </p:nvGrpSpPr>
          <p:grpSpPr>
            <a:xfrm>
              <a:off x="571500" y="4000500"/>
              <a:ext cx="11049000" cy="476250"/>
              <a:chOff x="571500" y="4000500"/>
              <a:chExt cx="11049000" cy="4762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71500" y="4000500"/>
                <a:ext cx="11049000" cy="476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1154" y="4185285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5EFE0"/>
                    </a:solidFill>
                    <a:latin typeface="Segoe UI"/>
                    <a:ea typeface="Microsoft YaHei"/>
                    <a:cs typeface="Segoe UI"/>
                  </a:rPr>
                  <a:t>运营成本降低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2667000" y="41433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F5EFE0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2946654" y="4185285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5EFE0"/>
                    </a:solidFill>
                    <a:latin typeface="Segoe UI"/>
                    <a:ea typeface="Microsoft YaHei"/>
                    <a:cs typeface="Segoe UI"/>
                  </a:rPr>
                  <a:t>内容产能提升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4667250" y="41433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F5EFE0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4946904" y="4185285"/>
                <a:ext cx="10107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5EFE0"/>
                    </a:solidFill>
                    <a:latin typeface="Segoe UI"/>
                    <a:ea typeface="Microsoft YaHei"/>
                    <a:cs typeface="Segoe UI"/>
                  </a:rPr>
                  <a:t>POC交付周期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6762750" y="414337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F5EFE0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042404" y="4185285"/>
                <a:ext cx="9680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F5EFE0"/>
                    </a:solidFill>
                    <a:latin typeface="Segoe UI"/>
                    <a:ea typeface="Microsoft YaHei"/>
                    <a:cs typeface="Segoe UI"/>
                  </a:rPr>
                  <a:t>营销ROI提升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0858500" y="4000500"/>
              <a:ext cx="1524000" cy="2095500"/>
              <a:chOff x="10858500" y="4000500"/>
              <a:chExt cx="1524000" cy="20955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10858500" y="4000500"/>
                <a:ext cx="1524000" cy="1524000"/>
              </a:xfrm>
              <a:prstGeom prst="ellipse">
                <a:avLst/>
              </a:prstGeom>
              <a:solidFill>
                <a:schemeClr val="accent2">
                  <a:alpha val="10000"/>
                </a:schemeClr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11430000" y="4762500"/>
                <a:ext cx="952500" cy="952500"/>
              </a:xfrm>
              <a:prstGeom prst="ellipse">
                <a:avLst/>
              </a:prstGeom>
              <a:solidFill>
                <a:schemeClr val="accent1">
                  <a:alpha val="8000"/>
                </a:schemeClr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11239500" y="5524500"/>
                <a:ext cx="571500" cy="571500"/>
              </a:xfrm>
              <a:prstGeom prst="rect">
                <a:avLst/>
              </a:prstGeom>
              <a:solidFill>
                <a:schemeClr val="accent3">
                  <a:alpha val="12000"/>
                </a:schemeClr>
              </a:solidFill>
              <a:ln>
                <a:noFill/>
              </a:ln>
            </p:spPr>
          </p:sp>
        </p:grpSp>
      </p:grpSp>
      <p:grpSp>
        <p:nvGrpSpPr>
          <p:cNvPr id="61" name="Group 61"/>
          <p:cNvGrpSpPr/>
          <p:nvPr/>
        </p:nvGrpSpPr>
        <p:grpSpPr>
          <a:xfrm>
            <a:off x="566738" y="6387941"/>
            <a:ext cx="1576121" cy="161925"/>
            <a:chOff x="566738" y="6387941"/>
            <a:chExt cx="1576121" cy="161925"/>
          </a:xfrm>
        </p:grpSpPr>
        <p:sp>
          <p:nvSpPr>
            <p:cNvPr id="60" name="TextBox 60"/>
            <p:cNvSpPr txBox="1"/>
            <p:nvPr/>
          </p:nvSpPr>
          <p:spPr>
            <a:xfrm>
              <a:off x="566738" y="6387941"/>
              <a:ext cx="15761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企业 AI 营销工作台 | 数据看板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1009650"/>
            <a:chOff x="0" y="0"/>
            <a:chExt cx="12192000" cy="10096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71500" y="476250"/>
              <a:ext cx="762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85800" y="476250"/>
              <a:ext cx="76200" cy="53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553212" y="586740"/>
            <a:ext cx="11067288" cy="5699760"/>
            <a:chOff x="553212" y="586740"/>
            <a:chExt cx="11067288" cy="5699760"/>
          </a:xfrm>
        </p:grpSpPr>
        <p:sp>
          <p:nvSpPr>
            <p:cNvPr id="6" name="TextBox 6"/>
            <p:cNvSpPr txBox="1"/>
            <p:nvPr/>
          </p:nvSpPr>
          <p:spPr>
            <a:xfrm>
              <a:off x="943356" y="586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外溢图版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3212" y="1087755"/>
              <a:ext cx="30897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落地实施路线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3880" y="169545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分阶段交付，滚动迭代，降低采购风险。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571500" y="2286000"/>
              <a:ext cx="8382000" cy="4000500"/>
              <a:chOff x="571500" y="2286000"/>
              <a:chExt cx="8382000" cy="4000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2286000"/>
                <a:ext cx="8382000" cy="4000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571500" y="2476500"/>
                <a:ext cx="8382000" cy="591312"/>
                <a:chOff x="571500" y="2476500"/>
                <a:chExt cx="8382000" cy="591312"/>
              </a:xfrm>
            </p:grpSpPr>
            <p:sp>
              <p:nvSpPr>
                <p:cNvPr id="10" name="Rectangle 10"/>
                <p:cNvSpPr/>
                <p:nvPr/>
              </p:nvSpPr>
              <p:spPr>
                <a:xfrm>
                  <a:off x="571500" y="2476500"/>
                  <a:ext cx="838200" cy="5715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84530" y="2598420"/>
                  <a:ext cx="21214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A</a:t>
                  </a:r>
                </a:p>
              </p:txBody>
            </p:sp>
            <p:sp>
              <p:nvSpPr>
                <p:cNvPr id="12" name="Rectangle 12"/>
                <p:cNvSpPr/>
                <p:nvPr/>
              </p:nvSpPr>
              <p:spPr>
                <a:xfrm>
                  <a:off x="1600200" y="2552700"/>
                  <a:ext cx="6705600" cy="4191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</p:sp>
            <p:sp>
              <p:nvSpPr>
                <p:cNvPr id="13" name="Rectangle 13"/>
                <p:cNvSpPr/>
                <p:nvPr/>
              </p:nvSpPr>
              <p:spPr>
                <a:xfrm>
                  <a:off x="1600200" y="2552700"/>
                  <a:ext cx="6705600" cy="419100"/>
                </a:xfrm>
                <a:prstGeom prst="rect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3328340" y="2711768"/>
                  <a:ext cx="324932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F5EFE0"/>
                      </a:solidFill>
                      <a:latin typeface="+mn-lt"/>
                      <a:ea typeface="+mn-ea"/>
                      <a:cs typeface="+mn-cs"/>
                    </a:rPr>
                    <a:t>完成核心数据源接入，建立统一ID体系</a:t>
                  </a:r>
                </a:p>
              </p:txBody>
            </p:sp>
            <p:sp>
              <p:nvSpPr>
                <p:cNvPr id="15" name="Rectangle 15"/>
                <p:cNvSpPr/>
                <p:nvPr/>
              </p:nvSpPr>
              <p:spPr>
                <a:xfrm>
                  <a:off x="8382000" y="2552700"/>
                  <a:ext cx="571500" cy="419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8549068" y="2695575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88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571500" y="3333750"/>
                <a:ext cx="7734300" cy="591312"/>
                <a:chOff x="571500" y="3333750"/>
                <a:chExt cx="7734300" cy="591312"/>
              </a:xfrm>
            </p:grpSpPr>
            <p:sp>
              <p:nvSpPr>
                <p:cNvPr id="18" name="Rectangle 18"/>
                <p:cNvSpPr/>
                <p:nvPr/>
              </p:nvSpPr>
              <p:spPr>
                <a:xfrm>
                  <a:off x="571500" y="3333750"/>
                  <a:ext cx="838200" cy="5715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84530" y="3455670"/>
                  <a:ext cx="21214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B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1600200" y="3409950"/>
                  <a:ext cx="6705600" cy="4191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1600200" y="3409950"/>
                  <a:ext cx="5638800" cy="419100"/>
                </a:xfrm>
                <a:prstGeom prst="rect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2777109" y="3569018"/>
                  <a:ext cx="328498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F5EFE0"/>
                      </a:solidFill>
                      <a:latin typeface="+mn-lt"/>
                      <a:ea typeface="+mn-ea"/>
                      <a:cs typeface="+mn-cs"/>
                    </a:rPr>
                    <a:t>用户分层模型上线，配置首轮自动化规则</a:t>
                  </a:r>
                </a:p>
              </p:txBody>
            </p:sp>
            <p:sp>
              <p:nvSpPr>
                <p:cNvPr id="23" name="Rectangle 23"/>
                <p:cNvSpPr/>
                <p:nvPr/>
              </p:nvSpPr>
              <p:spPr>
                <a:xfrm>
                  <a:off x="7239000" y="3409950"/>
                  <a:ext cx="571500" cy="419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406069" y="3552825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74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571500" y="4191000"/>
                <a:ext cx="7734300" cy="591312"/>
                <a:chOff x="571500" y="4191000"/>
                <a:chExt cx="7734300" cy="591312"/>
              </a:xfrm>
            </p:grpSpPr>
            <p:sp>
              <p:nvSpPr>
                <p:cNvPr id="26" name="Rectangle 26"/>
                <p:cNvSpPr/>
                <p:nvPr/>
              </p:nvSpPr>
              <p:spPr>
                <a:xfrm>
                  <a:off x="571500" y="4191000"/>
                  <a:ext cx="838200" cy="5715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84530" y="4312920"/>
                  <a:ext cx="21214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C</a:t>
                  </a:r>
                </a:p>
              </p:txBody>
            </p:sp>
            <p:sp>
              <p:nvSpPr>
                <p:cNvPr id="28" name="Rectangle 28"/>
                <p:cNvSpPr/>
                <p:nvPr/>
              </p:nvSpPr>
              <p:spPr>
                <a:xfrm>
                  <a:off x="1600200" y="4267200"/>
                  <a:ext cx="6705600" cy="4191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</p:sp>
            <p:sp>
              <p:nvSpPr>
                <p:cNvPr id="29" name="Rectangle 29"/>
                <p:cNvSpPr/>
                <p:nvPr/>
              </p:nvSpPr>
              <p:spPr>
                <a:xfrm>
                  <a:off x="1600200" y="4267200"/>
                  <a:ext cx="4572000" cy="419100"/>
                </a:xfrm>
                <a:prstGeom prst="rect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061972" y="4426268"/>
                  <a:ext cx="3648456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F5EFE0"/>
                      </a:solidFill>
                      <a:latin typeface="+mn-lt"/>
                      <a:ea typeface="+mn-ea"/>
                      <a:cs typeface="+mn-cs"/>
                    </a:rPr>
                    <a:t>内容工厂上线，归因模型校准，效果看板就绪</a:t>
                  </a:r>
                </a:p>
              </p:txBody>
            </p:sp>
            <p:sp>
              <p:nvSpPr>
                <p:cNvPr id="31" name="Rectangle 31"/>
                <p:cNvSpPr/>
                <p:nvPr/>
              </p:nvSpPr>
              <p:spPr>
                <a:xfrm>
                  <a:off x="6172200" y="4267200"/>
                  <a:ext cx="571500" cy="419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6339269" y="4410075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60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571500" y="5048250"/>
                <a:ext cx="7734300" cy="591312"/>
                <a:chOff x="571500" y="5048250"/>
                <a:chExt cx="7734300" cy="591312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571500" y="5048250"/>
                  <a:ext cx="838200" cy="5715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84530" y="5170170"/>
                  <a:ext cx="212141" cy="4693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D</a:t>
                  </a:r>
                </a:p>
              </p:txBody>
            </p:sp>
            <p:sp>
              <p:nvSpPr>
                <p:cNvPr id="36" name="Rectangle 36"/>
                <p:cNvSpPr/>
                <p:nvPr/>
              </p:nvSpPr>
              <p:spPr>
                <a:xfrm>
                  <a:off x="1600200" y="5124450"/>
                  <a:ext cx="6705600" cy="4191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>
                  <a:off x="1600200" y="5124450"/>
                  <a:ext cx="3505200" cy="419100"/>
                </a:xfrm>
                <a:prstGeom prst="rect">
                  <a:avLst/>
                </a:prstGeom>
                <a:solidFill>
                  <a:schemeClr val="accent1">
                    <a:alpha val="30000"/>
                  </a:schemeClr>
                </a:soli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892046" y="5283518"/>
                  <a:ext cx="292150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dirty="0">
                      <a:solidFill>
                        <a:srgbClr val="F5EFE0"/>
                      </a:solidFill>
                      <a:latin typeface="+mn-lt"/>
                      <a:ea typeface="+mn-ea"/>
                      <a:cs typeface="+mn-cs"/>
                    </a:rPr>
                    <a:t>扩展至全渠道，持续优化模型与规则</a:t>
                  </a:r>
                </a:p>
              </p:txBody>
            </p:sp>
            <p:sp>
              <p:nvSpPr>
                <p:cNvPr id="39" name="Rectangle 39"/>
                <p:cNvSpPr/>
                <p:nvPr/>
              </p:nvSpPr>
              <p:spPr>
                <a:xfrm>
                  <a:off x="5105400" y="5124450"/>
                  <a:ext cx="571500" cy="419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5272469" y="5267325"/>
                  <a:ext cx="237363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F5EFE0"/>
                      </a:solidFill>
                      <a:latin typeface="+mj-lt"/>
                      <a:ea typeface="+mj-ea"/>
                      <a:cs typeface="+mj-cs"/>
                    </a:rPr>
                    <a:t>46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990600" y="3048000"/>
                <a:ext cx="9525" cy="2000250"/>
                <a:chOff x="990600" y="3048000"/>
                <a:chExt cx="9525" cy="2000250"/>
              </a:xfrm>
            </p:grpSpPr>
            <p:sp>
              <p:nvSpPr>
                <p:cNvPr id="42" name="Line 42"/>
                <p:cNvSpPr/>
                <p:nvPr/>
              </p:nvSpPr>
              <p:spPr>
                <a:xfrm>
                  <a:off x="990600" y="3048000"/>
                  <a:ext cx="9525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0">
                      <a:moveTo>
                        <a:pt x="0" y="0"/>
                      </a:moveTo>
                      <a:lnTo>
                        <a:pt x="0" y="285750"/>
                      </a:lnTo>
                    </a:path>
                  </a:pathLst>
                </a:custGeom>
                <a:noFill/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43" name="Line 43"/>
                <p:cNvSpPr/>
                <p:nvPr/>
              </p:nvSpPr>
              <p:spPr>
                <a:xfrm>
                  <a:off x="990600" y="3905250"/>
                  <a:ext cx="9525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0">
                      <a:moveTo>
                        <a:pt x="0" y="0"/>
                      </a:moveTo>
                      <a:lnTo>
                        <a:pt x="0" y="285750"/>
                      </a:lnTo>
                    </a:path>
                  </a:pathLst>
                </a:custGeom>
                <a:noFill/>
                <a:ln w="28575">
                  <a:solidFill>
                    <a:schemeClr val="accent4"/>
                  </a:solidFill>
                </a:ln>
              </p:spPr>
            </p:sp>
            <p:sp>
              <p:nvSpPr>
                <p:cNvPr id="44" name="Line 44"/>
                <p:cNvSpPr/>
                <p:nvPr/>
              </p:nvSpPr>
              <p:spPr>
                <a:xfrm>
                  <a:off x="990600" y="4762500"/>
                  <a:ext cx="9525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0">
                      <a:moveTo>
                        <a:pt x="0" y="0"/>
                      </a:moveTo>
                      <a:lnTo>
                        <a:pt x="0" y="285750"/>
                      </a:lnTo>
                    </a:path>
                  </a:pathLst>
                </a:custGeom>
                <a:noFill/>
                <a:ln w="28575">
                  <a:solidFill>
                    <a:schemeClr val="accent4"/>
                  </a:solidFill>
                </a:ln>
              </p:spPr>
            </p:sp>
          </p:grpSp>
        </p:grpSp>
        <p:grpSp>
          <p:nvGrpSpPr>
            <p:cNvPr id="62" name="Group 62"/>
            <p:cNvGrpSpPr/>
            <p:nvPr/>
          </p:nvGrpSpPr>
          <p:grpSpPr>
            <a:xfrm>
              <a:off x="9334500" y="2286000"/>
              <a:ext cx="2286000" cy="4000500"/>
              <a:chOff x="9334500" y="2286000"/>
              <a:chExt cx="2286000" cy="40005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9334500" y="2286000"/>
                <a:ext cx="2286000" cy="4000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372600" y="2324100"/>
                <a:ext cx="2209800" cy="3924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198036" y="27117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时间轴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9715500" y="3143250"/>
                <a:ext cx="15240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9715500" y="3143250"/>
                <a:ext cx="1524000" cy="762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214200" y="3410902"/>
                <a:ext cx="5265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第1-4周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9715500" y="3810000"/>
                <a:ext cx="15240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9715500" y="3810000"/>
                <a:ext cx="1219200" cy="762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214200" y="4077652"/>
                <a:ext cx="5265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第5-8周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9715500" y="4476750"/>
                <a:ext cx="15240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9715500" y="4476750"/>
                <a:ext cx="914400" cy="762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175329" y="474440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第9-12周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9715500" y="5143500"/>
                <a:ext cx="1524000" cy="76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715500" y="5143500"/>
                <a:ext cx="685800" cy="762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10214200" y="5411152"/>
                <a:ext cx="5265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第12周+</a:t>
                </a: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11049000" y="476250"/>
            <a:ext cx="600075" cy="600075"/>
            <a:chOff x="11049000" y="476250"/>
            <a:chExt cx="600075" cy="600075"/>
          </a:xfrm>
        </p:grpSpPr>
        <p:sp>
          <p:nvSpPr>
            <p:cNvPr id="64" name="Rectangle 64"/>
            <p:cNvSpPr/>
            <p:nvPr/>
          </p:nvSpPr>
          <p:spPr>
            <a:xfrm>
              <a:off x="11049000" y="476250"/>
              <a:ext cx="5715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1077575" y="504825"/>
              <a:ext cx="571500" cy="571500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246339" y="61150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5EFE0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59312" y="919162"/>
              <a:ext cx="15087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F5EFE0"/>
                  </a:solidFill>
                  <a:latin typeface="Segoe UI"/>
                  <a:ea typeface="Segoe UI"/>
                  <a:cs typeface="Segoe UI"/>
                </a:rPr>
                <a:t>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6781800"/>
              <a:ext cx="12192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76200"/>
              <a:ext cx="76200" cy="670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2115800" y="76200"/>
              <a:ext cx="76200" cy="6705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-9687" y="476250"/>
            <a:ext cx="11677812" cy="4524375"/>
            <a:chOff x="-9687" y="476250"/>
            <a:chExt cx="11677812" cy="4524375"/>
          </a:xfrm>
        </p:grpSpPr>
        <p:grpSp>
          <p:nvGrpSpPr>
            <p:cNvPr id="9" name="Group 9"/>
            <p:cNvGrpSpPr/>
            <p:nvPr/>
          </p:nvGrpSpPr>
          <p:grpSpPr>
            <a:xfrm>
              <a:off x="571500" y="476250"/>
              <a:ext cx="953453" cy="365284"/>
              <a:chOff x="571500" y="476250"/>
              <a:chExt cx="953453" cy="365284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476250"/>
                <a:ext cx="5715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6285" y="621506"/>
                <a:ext cx="76866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2"/>
                    </a:solidFill>
                    <a:latin typeface="Consolas"/>
                    <a:ea typeface="Microsoft YaHei"/>
                    <a:cs typeface="Consolas"/>
                  </a:rPr>
                  <a:t>下一张告示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52450" y="1022985"/>
              <a:ext cx="3006471" cy="819150"/>
              <a:chOff x="552450" y="1022985"/>
              <a:chExt cx="3006471" cy="81915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52450" y="1022985"/>
                <a:ext cx="3006471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下一步行动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1619250"/>
                <a:ext cx="2286000" cy="57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563880" y="2028825"/>
              <a:ext cx="4250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建议本月启动POC，本季度完成全链路验证。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-9687" y="2470785"/>
              <a:ext cx="11630187" cy="1738979"/>
              <a:chOff x="-9687" y="2470785"/>
              <a:chExt cx="11630187" cy="1738979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571500" y="3238500"/>
                <a:ext cx="11049000" cy="38100"/>
                <a:chOff x="571500" y="3238500"/>
                <a:chExt cx="11049000" cy="38100"/>
              </a:xfrm>
            </p:grpSpPr>
            <p:sp>
              <p:nvSpPr>
                <p:cNvPr id="14" name="Rectangle 14"/>
                <p:cNvSpPr/>
                <p:nvPr/>
              </p:nvSpPr>
              <p:spPr>
                <a:xfrm>
                  <a:off x="571500" y="3238500"/>
                  <a:ext cx="11049000" cy="38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5" name="Rectangle 15"/>
                <p:cNvSpPr/>
                <p:nvPr/>
              </p:nvSpPr>
              <p:spPr>
                <a:xfrm>
                  <a:off x="571500" y="3238500"/>
                  <a:ext cx="2667000" cy="381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6" name="Rectangle 16"/>
                <p:cNvSpPr/>
                <p:nvPr/>
              </p:nvSpPr>
              <p:spPr>
                <a:xfrm>
                  <a:off x="3238500" y="3238500"/>
                  <a:ext cx="2667000" cy="381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Rectangle 17"/>
                <p:cNvSpPr/>
                <p:nvPr/>
              </p:nvSpPr>
              <p:spPr>
                <a:xfrm>
                  <a:off x="5905500" y="3238500"/>
                  <a:ext cx="2667000" cy="381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8572500" y="3238500"/>
                  <a:ext cx="3048000" cy="38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-9687" y="2470785"/>
                <a:ext cx="1162374" cy="1738979"/>
                <a:chOff x="-9687" y="2470785"/>
                <a:chExt cx="1162374" cy="1738979"/>
              </a:xfrm>
            </p:grpSpPr>
            <p:sp>
              <p:nvSpPr>
                <p:cNvPr id="20" name="Ellipse 20"/>
                <p:cNvSpPr/>
                <p:nvPr/>
              </p:nvSpPr>
              <p:spPr>
                <a:xfrm>
                  <a:off x="419100" y="30861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419100" y="30861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76136" y="2470785"/>
                  <a:ext cx="790727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7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立即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-9687" y="3593306"/>
                  <a:ext cx="1162374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确认POC业务线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38411" y="3847624"/>
                  <a:ext cx="666179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建议私域或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72783" y="4019074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电商渠道优先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2596706" y="2470785"/>
                <a:ext cx="1283589" cy="1567529"/>
                <a:chOff x="2596706" y="2470785"/>
                <a:chExt cx="1283589" cy="1567529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3086100" y="30861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3086100" y="30861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738183" y="2470785"/>
                  <a:ext cx="1000634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7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2周内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2596706" y="3593306"/>
                  <a:ext cx="1283589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完成技术对接评估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839784" y="3847624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启动数据审计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5375529" y="2470785"/>
                <a:ext cx="1059942" cy="1567529"/>
                <a:chOff x="5375529" y="2470785"/>
                <a:chExt cx="1059942" cy="1567529"/>
              </a:xfrm>
            </p:grpSpPr>
            <p:sp>
              <p:nvSpPr>
                <p:cNvPr id="33" name="Ellipse 33"/>
                <p:cNvSpPr/>
                <p:nvPr/>
              </p:nvSpPr>
              <p:spPr>
                <a:xfrm>
                  <a:off x="5753100" y="30861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5753100" y="3086100"/>
                  <a:ext cx="304800" cy="304800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491054" y="2470785"/>
                  <a:ext cx="828892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7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30天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408324" y="3593306"/>
                  <a:ext cx="99435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签署POC合同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375529" y="3847624"/>
                  <a:ext cx="1059942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组建内部对接小组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8075324" y="2470785"/>
                <a:ext cx="994353" cy="1738979"/>
                <a:chOff x="8075324" y="2470785"/>
                <a:chExt cx="994353" cy="1738979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8382000" y="30480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8382000" y="3048000"/>
                  <a:ext cx="381000" cy="381000"/>
                </a:xfrm>
                <a:prstGeom prst="ellipse">
                  <a:avLst/>
                </a:prstGeom>
                <a:solidFill>
                  <a:schemeClr val="accent2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158054" y="2470785"/>
                  <a:ext cx="828892" cy="5280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7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60天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075324" y="3593306"/>
                  <a:ext cx="994353" cy="2200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12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POC交付评审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173784" y="3847624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根据效果决定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173784" y="4019074"/>
                  <a:ext cx="797433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98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是否扩大投入</a:t>
                  </a:r>
                </a:p>
              </p:txBody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8763000" y="3124200"/>
                <a:ext cx="2667000" cy="228600"/>
                <a:chOff x="8763000" y="3124200"/>
                <a:chExt cx="2667000" cy="228600"/>
              </a:xfrm>
            </p:grpSpPr>
            <p:sp>
              <p:nvSpPr>
                <p:cNvPr id="46" name="Polygon 46"/>
                <p:cNvSpPr/>
                <p:nvPr/>
              </p:nvSpPr>
              <p:spPr>
                <a:xfrm>
                  <a:off x="11239500" y="3124200"/>
                  <a:ext cx="1905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28600">
                      <a:moveTo>
                        <a:pt x="0" y="114300"/>
                      </a:moveTo>
                      <a:lnTo>
                        <a:pt x="190500" y="0"/>
                      </a:lnTo>
                      <a:lnTo>
                        <a:pt x="190500" y="22860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8763000" y="3238500"/>
                  <a:ext cx="257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50" h="9525">
                      <a:moveTo>
                        <a:pt x="0" y="0"/>
                      </a:moveTo>
                      <a:lnTo>
                        <a:pt x="2571750" y="0"/>
                      </a:lnTo>
                    </a:path>
                  </a:pathLst>
                </a:custGeom>
                <a:noFill/>
                <a:ln w="19050">
                  <a:solidFill>
                    <a:schemeClr val="accent4"/>
                  </a:solidFill>
                </a:ln>
              </p:spPr>
            </p:sp>
          </p:grpSp>
        </p:grpSp>
        <p:grpSp>
          <p:nvGrpSpPr>
            <p:cNvPr id="52" name="Group 52"/>
            <p:cNvGrpSpPr/>
            <p:nvPr/>
          </p:nvGrpSpPr>
          <p:grpSpPr>
            <a:xfrm>
              <a:off x="11239500" y="4572000"/>
              <a:ext cx="428625" cy="428625"/>
              <a:chOff x="11239500" y="4572000"/>
              <a:chExt cx="428625" cy="428625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1239500" y="4572000"/>
                <a:ext cx="381000" cy="381000"/>
              </a:xfrm>
              <a:prstGeom prst="rect">
                <a:avLst/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1287125" y="4619625"/>
                <a:ext cx="381000" cy="381000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11243681" y="6578441"/>
            <a:ext cx="381581" cy="161925"/>
            <a:chOff x="11243681" y="6578441"/>
            <a:chExt cx="381581" cy="161925"/>
          </a:xfrm>
        </p:grpSpPr>
        <p:sp>
          <p:nvSpPr>
            <p:cNvPr id="54" name="TextBox 54"/>
            <p:cNvSpPr txBox="1"/>
            <p:nvPr/>
          </p:nvSpPr>
          <p:spPr>
            <a:xfrm>
              <a:off x="112436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5EFE0"/>
      </a:lt1>
      <a:dk2>
        <a:srgbClr val="5A5A5A"/>
      </a:dk2>
      <a:lt2>
        <a:srgbClr val="EAE2CC"/>
      </a:lt2>
      <a:accent1>
        <a:srgbClr val="1E4DBC"/>
      </a:accent1>
      <a:accent2>
        <a:srgbClr val="FF5C8A"/>
      </a:accent2>
      <a:accent3>
        <a:srgbClr val="E8A02E"/>
      </a:accent3>
      <a:accent4>
        <a:srgbClr val="1A1A1A"/>
      </a:accent4>
      <a:accent5>
        <a:srgbClr val="8C8275"/>
      </a:accent5>
      <a:accent6>
        <a:srgbClr val="F79646"/>
      </a:accent6>
      <a:hlink>
        <a:srgbClr val="FF5C8A"/>
      </a:hlink>
      <a:folHlink>
        <a:srgbClr val="E8A02E"/>
      </a:folHlink>
    </a:clrScheme>
    <a:fontScheme name="PPT Master">
      <a:majorFont>
        <a:latin typeface="Impact"/>
        <a:ea typeface="Microsoft YaHei"/>
        <a:cs typeface="Impac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1A1A"/>
      </a:dk1>
      <a:lt1>
        <a:srgbClr val="F5EFE0"/>
      </a:lt1>
      <a:dk2>
        <a:srgbClr val="5A5A5A"/>
      </a:dk2>
      <a:lt2>
        <a:srgbClr val="EAE2CC"/>
      </a:lt2>
      <a:accent1>
        <a:srgbClr val="1E4DBC"/>
      </a:accent1>
      <a:accent2>
        <a:srgbClr val="FF5C8A"/>
      </a:accent2>
      <a:accent3>
        <a:srgbClr val="E8A02E"/>
      </a:accent3>
      <a:accent4>
        <a:srgbClr val="1A1A1A"/>
      </a:accent4>
      <a:accent5>
        <a:srgbClr val="8C8275"/>
      </a:accent5>
      <a:accent6>
        <a:srgbClr val="F79646"/>
      </a:accent6>
      <a:hlink>
        <a:srgbClr val="FF5C8A"/>
      </a:hlink>
      <a:folHlink>
        <a:srgbClr val="E8A02E"/>
      </a:folHlink>
    </a:clrScheme>
    <a:fontScheme name="PPT Master">
      <a:majorFont>
        <a:latin typeface="Impact"/>
        <a:ea typeface="Microsoft YaHei"/>
        <a:cs typeface="Impac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2026-07-11T09:43:27Z</dcterms:created>
  <dcterms:modified xsi:type="dcterms:W3CDTF">2026-07-11T09:43:27Z</dcterms:modified>
  <cp:category/>
  <cp:contentStatus/>
</cp:coreProperties>
</file>