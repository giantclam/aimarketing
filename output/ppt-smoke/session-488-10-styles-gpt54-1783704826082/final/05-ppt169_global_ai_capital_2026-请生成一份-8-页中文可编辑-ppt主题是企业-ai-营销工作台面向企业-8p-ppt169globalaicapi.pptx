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这不是又一套营销工具，而是把分散投放、内容生产与效果归因整合进同一条可运营闭环的SaaS工作台。</a:t>
            </a:r>
          </a:p>
          <a:p>
            <a:endParaRPr lang="en-US" dirty="0"/>
          </a:p>
          <a:p>
            <a:r>
              <a:rPr lang="zh-CN" dirty="0"/>
              <a:t>• 面向管理层的统一经营视图</a:t>
            </a:r>
          </a:p>
          <a:p>
            <a:r>
              <a:rPr lang="zh-CN" dirty="0"/>
              <a:t>• 面向团队的自动化执行中枢</a:t>
            </a:r>
          </a:p>
          <a:p>
            <a:r>
              <a:rPr lang="zh-CN" dirty="0"/>
              <a:t>• 面向增长的可度量闭环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决策路径</a:t>
            </a:r>
          </a:p>
          <a:p>
            <a:endParaRPr lang="en-US" dirty="0"/>
          </a:p>
          <a:p>
            <a:r>
              <a:rPr lang="zh-CN" dirty="0"/>
              <a:t>本简报先给经营判断，再拆解平台结构、落地证据、核心指标与上线节奏。</a:t>
            </a:r>
          </a:p>
          <a:p>
            <a:endParaRPr lang="en-US" dirty="0"/>
          </a:p>
          <a:p>
            <a:r>
              <a:rPr lang="zh-CN" dirty="0"/>
              <a:t>• 先结论，后细节</a:t>
            </a:r>
          </a:p>
          <a:p>
            <a:r>
              <a:rPr lang="zh-CN" dirty="0"/>
              <a:t>• 优先风险与下一步</a:t>
            </a:r>
          </a:p>
          <a:p>
            <a:r>
              <a:rPr lang="zh-CN" dirty="0"/>
              <a:t>• 业务现状与判断</a:t>
            </a:r>
          </a:p>
          <a:p>
            <a:r>
              <a:rPr lang="zh-CN" dirty="0"/>
              <a:t>• 关键模块与价值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问题不在工具数量</a:t>
            </a:r>
          </a:p>
          <a:p>
            <a:endParaRPr lang="en-US" dirty="0"/>
          </a:p>
          <a:p>
            <a:r>
              <a:rPr lang="zh-CN" dirty="0"/>
              <a:t>企业营销的核心损耗，来自数据孤岛、分析滞后、执行断层和归因失真同时存在，而不是某一个环节单独落后。</a:t>
            </a:r>
          </a:p>
          <a:p>
            <a:endParaRPr lang="en-US" dirty="0"/>
          </a:p>
          <a:p>
            <a:r>
              <a:rPr lang="zh-CN" dirty="0"/>
              <a:t>• 看板多，口径不一</a:t>
            </a:r>
          </a:p>
          <a:p>
            <a:r>
              <a:rPr lang="zh-CN" dirty="0"/>
              <a:t>• 策略靠经验，响应慢</a:t>
            </a:r>
          </a:p>
          <a:p>
            <a:r>
              <a:rPr lang="zh-CN" dirty="0"/>
              <a:t>• 投入在增，复盘变弱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从分散流程到统一工作台</a:t>
            </a:r>
          </a:p>
          <a:p>
            <a:endParaRPr lang="en-US" dirty="0"/>
          </a:p>
          <a:p>
            <a:r>
              <a:rPr lang="zh-CN" dirty="0"/>
              <a:t>平台价值不只是替换操作界面，而是把营销经营从串行协作改成同屏协同。</a:t>
            </a:r>
          </a:p>
          <a:p>
            <a:endParaRPr lang="en-US" dirty="0"/>
          </a:p>
          <a:p>
            <a:r>
              <a:rPr lang="zh-CN" dirty="0"/>
              <a:t>• 由人找数据，变为数据推动作</a:t>
            </a:r>
          </a:p>
          <a:p>
            <a:r>
              <a:rPr lang="zh-CN" dirty="0"/>
              <a:t>• 由事后复盘，变为实时校正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价值先体现在三类场景</a:t>
            </a:r>
          </a:p>
          <a:p>
            <a:endParaRPr lang="en-US" dirty="0"/>
          </a:p>
          <a:p>
            <a:r>
              <a:rPr lang="zh-CN" dirty="0"/>
              <a:t>最先释放价值的通常不是全部能力上线，而是线索运营、内容生产和投放优化三个高频环节同时提效。</a:t>
            </a:r>
          </a:p>
          <a:p>
            <a:endParaRPr lang="en-US" dirty="0"/>
          </a:p>
          <a:p>
            <a:r>
              <a:rPr lang="zh-CN" dirty="0"/>
              <a:t>• 先抓高频场景</a:t>
            </a:r>
          </a:p>
          <a:p>
            <a:r>
              <a:rPr lang="zh-CN" dirty="0"/>
              <a:t>• 先拿到可见回报</a:t>
            </a:r>
          </a:p>
          <a:p>
            <a:r>
              <a:rPr lang="zh-CN" dirty="0"/>
              <a:t>• 事实锚点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管理层最关心的四个指标</a:t>
            </a:r>
          </a:p>
          <a:p>
            <a:endParaRPr lang="en-US" dirty="0"/>
          </a:p>
          <a:p>
            <a:r>
              <a:rPr lang="zh-CN" dirty="0"/>
              <a:t>是否上线这类工作台，关键不在功能丰富度，而在能否持续改善经营指标。</a:t>
            </a:r>
          </a:p>
          <a:p>
            <a:endParaRPr lang="en-US" dirty="0"/>
          </a:p>
          <a:p>
            <a:r>
              <a:rPr lang="zh-CN" dirty="0"/>
              <a:t>• 指标必须能周度复盘</a:t>
            </a:r>
          </a:p>
          <a:p>
            <a:r>
              <a:rPr lang="zh-CN" dirty="0"/>
              <a:t>• 指标必须能落到动作</a:t>
            </a:r>
          </a:p>
          <a:p>
            <a:r>
              <a:rPr lang="zh-CN" dirty="0"/>
              <a:t>• 关键数字</a:t>
            </a:r>
          </a:p>
          <a:p>
            <a:r>
              <a:rPr lang="zh-CN" dirty="0"/>
              <a:t>• 压力指标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价值重心并不平均</a:t>
            </a:r>
          </a:p>
          <a:p>
            <a:endParaRPr lang="en-US" dirty="0"/>
          </a:p>
          <a:p>
            <a:r>
              <a:rPr lang="zh-CN" dirty="0"/>
              <a:t>企业在不同阶段的首要收益通常先落在线索与投放，再扩展到内容与长期归因。</a:t>
            </a:r>
          </a:p>
          <a:p>
            <a:endParaRPr lang="en-US" dirty="0"/>
          </a:p>
          <a:p>
            <a:r>
              <a:rPr lang="zh-CN" dirty="0"/>
              <a:t>• 先做闭环，再做扩展</a:t>
            </a:r>
          </a:p>
          <a:p>
            <a:r>
              <a:rPr lang="zh-CN" dirty="0"/>
              <a:t>• 执行与度量优先承接价值</a:t>
            </a:r>
          </a:p>
          <a:p>
            <a:r>
              <a:rPr lang="zh-CN" dirty="0"/>
              <a:t>• 主轴关系</a:t>
            </a:r>
          </a:p>
          <a:p>
            <a:r>
              <a:rPr lang="zh-CN" dirty="0"/>
              <a:t>• 外溢路径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90天上线建议</a:t>
            </a:r>
          </a:p>
          <a:p>
            <a:endParaRPr lang="en-US" dirty="0"/>
          </a:p>
          <a:p>
            <a:r>
              <a:rPr lang="zh-CN" dirty="0"/>
              <a:t>建议以试点业务线先跑通数据、分析、执行、度量闭环，再按经营节奏逐步接管更多渠道与团队。</a:t>
            </a:r>
          </a:p>
          <a:p>
            <a:endParaRPr lang="en-US" dirty="0"/>
          </a:p>
          <a:p>
            <a:r>
              <a:rPr lang="zh-CN" dirty="0"/>
              <a:t>• 先试点，再扩面</a:t>
            </a:r>
          </a:p>
          <a:p>
            <a:r>
              <a:rPr lang="zh-CN" dirty="0"/>
              <a:t>• 管理层需同步设定治理口径</a:t>
            </a:r>
          </a:p>
          <a:p>
            <a:r>
              <a:rPr lang="zh-CN" dirty="0"/>
              <a:t>• 收束判断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ff7a1b1593b55a63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18000"/>
                  </a:schemeClr>
                </a:gs>
                <a:gs pos="60000">
                  <a:schemeClr val="lt1">
                    <a:alpha val="48000"/>
                  </a:schemeClr>
                </a:gs>
                <a:gs pos="100000">
                  <a:schemeClr val="lt1">
                    <a:alpha val="94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239000" y="723900"/>
              <a:ext cx="4000500" cy="4000500"/>
            </a:xfrm>
            <a:prstGeom prst="rect">
              <a:avLst/>
            </a:prstGeom>
            <a:gradFill>
              <a:gsLst>
                <a:gs pos="0">
                  <a:schemeClr val="accent2">
                    <a:alpha val="28000"/>
                  </a:schemeClr>
                </a:gs>
                <a:gs pos="100000">
                  <a:schemeClr val="accent3">
                    <a:alpha val="6000"/>
                  </a:scheme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658100" y="800100"/>
              <a:ext cx="3200400" cy="3200400"/>
            </a:xfrm>
            <a:prstGeom prst="ellipse">
              <a:avLst/>
            </a:prstGeom>
            <a:noFill/>
            <a:ln w="11430">
              <a:solidFill>
                <a:schemeClr val="accent2">
                  <a:alpha val="18000"/>
                </a:scheme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77200" y="1219200"/>
              <a:ext cx="2362200" cy="2362200"/>
            </a:xfrm>
            <a:prstGeom prst="ellipse">
              <a:avLst/>
            </a:prstGeom>
            <a:noFill/>
            <a:ln w="9525">
              <a:solidFill>
                <a:schemeClr val="accent3">
                  <a:alpha val="16000"/>
                </a:scheme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515350" y="1657350"/>
              <a:ext cx="1485900" cy="1485900"/>
            </a:xfrm>
            <a:prstGeom prst="ellipse">
              <a:avLst/>
            </a:prstGeom>
            <a:noFill/>
            <a:ln w="9525">
              <a:solidFill>
                <a:schemeClr val="accent1">
                  <a:alpha val="10000"/>
                </a:scheme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191500" y="1657350"/>
              <a:ext cx="2247900" cy="1504950"/>
            </a:xfrm>
            <a:custGeom>
              <a:avLst/>
              <a:gdLst/>
              <a:ahLst/>
              <a:cxnLst/>
              <a:rect l="l" t="t" r="r" b="b"/>
              <a:pathLst>
                <a:path w="2247900" h="1504950">
                  <a:moveTo>
                    <a:pt x="0" y="1504950"/>
                  </a:moveTo>
                  <a:cubicBezTo>
                    <a:pt x="400050" y="1143000"/>
                    <a:pt x="723900" y="1066800"/>
                    <a:pt x="1066800" y="742950"/>
                  </a:cubicBezTo>
                  <a:cubicBezTo>
                    <a:pt x="1428750" y="400050"/>
                    <a:pt x="1790700" y="285750"/>
                    <a:pt x="2247900" y="0"/>
                  </a:cubicBezTo>
                </a:path>
              </a:pathLst>
            </a:custGeom>
            <a:noFill/>
            <a:ln w="19050">
              <a:solidFill>
                <a:schemeClr val="accent2">
                  <a:alpha val="42000"/>
                </a:schemeClr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020050" y="2038350"/>
              <a:ext cx="2647950" cy="1600200"/>
            </a:xfrm>
            <a:custGeom>
              <a:avLst/>
              <a:gdLst/>
              <a:ahLst/>
              <a:cxnLst/>
              <a:rect l="l" t="t" r="r" b="b"/>
              <a:pathLst>
                <a:path w="2647950" h="1600200">
                  <a:moveTo>
                    <a:pt x="0" y="1600200"/>
                  </a:moveTo>
                  <a:cubicBezTo>
                    <a:pt x="514350" y="1390650"/>
                    <a:pt x="971550" y="1162050"/>
                    <a:pt x="1485900" y="742950"/>
                  </a:cubicBezTo>
                  <a:cubicBezTo>
                    <a:pt x="1866900" y="438150"/>
                    <a:pt x="2171700" y="228600"/>
                    <a:pt x="2647950" y="0"/>
                  </a:cubicBezTo>
                </a:path>
              </a:pathLst>
            </a:custGeom>
            <a:noFill/>
            <a:ln w="14288">
              <a:solidFill>
                <a:schemeClr val="accent3">
                  <a:alpha val="26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143875" y="31146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201150" y="23431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391775" y="16097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467850" y="2743200"/>
              <a:ext cx="76200" cy="762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629900" y="2000250"/>
              <a:ext cx="76200" cy="76200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7239000" y="13335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gradFill>
                <a:gsLst>
                  <a:gs pos="0">
                    <a:schemeClr val="accent4">
                      <a:alpha val="0"/>
                    </a:schemeClr>
                  </a:gs>
                  <a:gs pos="50000">
                    <a:schemeClr val="accent4">
                      <a:alpha val="70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17" name="Line 17"/>
            <p:cNvSpPr/>
            <p:nvPr/>
          </p:nvSpPr>
          <p:spPr>
            <a:xfrm>
              <a:off x="7239000" y="24003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gradFill>
                <a:gsLst>
                  <a:gs pos="0">
                    <a:schemeClr val="accent4">
                      <a:alpha val="0"/>
                    </a:schemeClr>
                  </a:gs>
                  <a:gs pos="50000">
                    <a:schemeClr val="accent4">
                      <a:alpha val="70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18" name="Line 18"/>
            <p:cNvSpPr/>
            <p:nvPr/>
          </p:nvSpPr>
          <p:spPr>
            <a:xfrm>
              <a:off x="7239000" y="34671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gradFill>
                <a:gsLst>
                  <a:gs pos="0">
                    <a:schemeClr val="accent4">
                      <a:alpha val="0"/>
                    </a:schemeClr>
                  </a:gs>
                  <a:gs pos="50000">
                    <a:schemeClr val="accent4">
                      <a:alpha val="70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19" name="Line 19"/>
            <p:cNvSpPr/>
            <p:nvPr/>
          </p:nvSpPr>
          <p:spPr>
            <a:xfrm>
              <a:off x="8191500" y="7239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chemeClr val="accent4">
                  <a:alpha val="32000"/>
                </a:scheme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258300" y="7239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chemeClr val="accent4">
                  <a:alpha val="38000"/>
                </a:scheme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325100" y="7239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chemeClr val="accent4">
                  <a:alpha val="32000"/>
                </a:scheme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66738" y="310991"/>
            <a:ext cx="11053762" cy="6356509"/>
            <a:chOff x="566738" y="310991"/>
            <a:chExt cx="11053762" cy="6356509"/>
          </a:xfrm>
        </p:grpSpPr>
        <p:sp>
          <p:nvSpPr>
            <p:cNvPr id="23" name="TextBox 23"/>
            <p:cNvSpPr txBox="1"/>
            <p:nvPr/>
          </p:nvSpPr>
          <p:spPr>
            <a:xfrm>
              <a:off x="566738" y="310991"/>
              <a:ext cx="22407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 LAUNCH / SAAS SOLUTION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71500" y="55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71500" y="6400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6738" y="6519862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38041" y="6519862"/>
              <a:ext cx="9109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52450" y="1045845"/>
            <a:ext cx="10897591" cy="5360289"/>
            <a:chOff x="552450" y="1045845"/>
            <a:chExt cx="10897591" cy="5360289"/>
          </a:xfrm>
        </p:grpSpPr>
        <p:sp>
          <p:nvSpPr>
            <p:cNvPr id="29" name="Rectangle 29"/>
            <p:cNvSpPr/>
            <p:nvPr/>
          </p:nvSpPr>
          <p:spPr>
            <a:xfrm>
              <a:off x="571500" y="4171950"/>
              <a:ext cx="7239000" cy="1981200"/>
            </a:xfrm>
            <a:prstGeom prst="rect">
              <a:avLst/>
            </a:prstGeom>
            <a:solidFill>
              <a:schemeClr val="lt1">
                <a:alpha val="48000"/>
              </a:scheme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6738" y="1045845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长桌主议题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" y="1295400"/>
              <a:ext cx="161925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190750" y="1309688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4288">
              <a:gradFill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52450" y="1779270"/>
              <a:ext cx="279030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spc="-75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企业AI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2450" y="2560320"/>
              <a:ext cx="402793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spc="-75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营销工作台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1030" y="4457700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这不是又一套营销工具，而是把分散投放、内容生产与效果归因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1030" y="4762500"/>
              <a:ext cx="37943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整合进同一条可运营闭环的SaaS工作台。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28650" y="52197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57225" y="55340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2104" y="54902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面向管理层的统一经营视图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7225" y="58388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2104" y="57950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面向团队的自动化执行中枢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4143375" y="5534025"/>
              <a:ext cx="57150" cy="571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318254" y="5490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面向增长的可度量闭环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89492" y="5131118"/>
              <a:ext cx="102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12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CAPTURE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87206" y="5387340"/>
              <a:ext cx="6117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Data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572500" y="5695950"/>
              <a:ext cx="2266950" cy="9525"/>
            </a:xfrm>
            <a:custGeom>
              <a:avLst/>
              <a:gdLst/>
              <a:ahLst/>
              <a:cxnLst/>
              <a:rect l="l" t="t" r="r" b="b"/>
              <a:pathLst>
                <a:path w="2266950" h="9525">
                  <a:moveTo>
                    <a:pt x="0" y="0"/>
                  </a:moveTo>
                  <a:lnTo>
                    <a:pt x="22669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889492" y="5797868"/>
              <a:ext cx="822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12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DECIDE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7206" y="6054090"/>
              <a:ext cx="2825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75392" y="5131118"/>
              <a:ext cx="102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12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EXECUTE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73106" y="5387340"/>
              <a:ext cx="5982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Flow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10058400" y="5695950"/>
              <a:ext cx="1257300" cy="9525"/>
            </a:xfrm>
            <a:custGeom>
              <a:avLst/>
              <a:gdLst/>
              <a:ahLst/>
              <a:cxnLst/>
              <a:rect l="l" t="t" r="r" b="b"/>
              <a:pathLst>
                <a:path w="1257300" h="9525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75392" y="5797868"/>
              <a:ext cx="1074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12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MEASURE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73106" y="6054090"/>
              <a:ext cx="515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ROI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708088" y="958691"/>
            <a:ext cx="2536175" cy="333375"/>
            <a:chOff x="8708088" y="958691"/>
            <a:chExt cx="2536175" cy="333375"/>
          </a:xfrm>
        </p:grpSpPr>
        <p:sp>
          <p:nvSpPr>
            <p:cNvPr id="55" name="TextBox 55"/>
            <p:cNvSpPr txBox="1"/>
            <p:nvPr/>
          </p:nvSpPr>
          <p:spPr>
            <a:xfrm>
              <a:off x="9035720" y="958691"/>
              <a:ext cx="22085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data → analysis → execution → attribution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08088" y="1130141"/>
              <a:ext cx="25361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single operating loop for enterprise marketing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1123950"/>
              <a:ext cx="11049000" cy="4953000"/>
            </a:xfrm>
            <a:prstGeom prst="rect">
              <a:avLst/>
            </a:prstGeom>
            <a:solidFill>
              <a:srgbClr val="11161D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1123950"/>
              <a:ext cx="11049000" cy="49530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6738" y="310991"/>
            <a:ext cx="11058525" cy="6385085"/>
            <a:chOff x="566738" y="310991"/>
            <a:chExt cx="11058525" cy="6385085"/>
          </a:xfrm>
        </p:grpSpPr>
        <p:sp>
          <p:nvSpPr>
            <p:cNvPr id="6" name="TextBox 6"/>
            <p:cNvSpPr txBox="1"/>
            <p:nvPr/>
          </p:nvSpPr>
          <p:spPr>
            <a:xfrm>
              <a:off x="566738" y="310991"/>
              <a:ext cx="442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19188" y="310991"/>
              <a:ext cx="4840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议程清单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55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1500" y="6429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738" y="6548438"/>
              <a:ext cx="9109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19079" y="6548438"/>
              <a:ext cx="70618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agenda-ledger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0070" y="392430"/>
            <a:ext cx="10488930" cy="5513070"/>
            <a:chOff x="560070" y="392430"/>
            <a:chExt cx="10488930" cy="5513070"/>
          </a:xfrm>
        </p:grpSpPr>
        <p:sp>
          <p:nvSpPr>
            <p:cNvPr id="13" name="TextBox 13"/>
            <p:cNvSpPr txBox="1"/>
            <p:nvPr/>
          </p:nvSpPr>
          <p:spPr>
            <a:xfrm>
              <a:off x="566738" y="874395"/>
              <a:ext cx="9824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DECISION PATH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0070" y="1185862"/>
              <a:ext cx="13670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决策路径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023" y="1634014"/>
              <a:ext cx="5677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本简报先给经营判断，再拆解平台结构、落地证据、核心指标与上线节奏。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2038350"/>
              <a:ext cx="4953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2038350"/>
              <a:ext cx="4953000" cy="8001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62000" y="24384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5716" y="21726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阅读顺序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5335" y="2536031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先结论，后细节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5535" y="2536031"/>
              <a:ext cx="12230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优先风险与下一步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271700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业务现状与判断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75535" y="271700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关键模块与价值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0" y="1390650"/>
              <a:ext cx="9525" cy="4514850"/>
            </a:xfrm>
            <a:custGeom>
              <a:avLst/>
              <a:gdLst/>
              <a:ahLst/>
              <a:cxnLst/>
              <a:rect l="l" t="t" r="r" b="b"/>
              <a:pathLst>
                <a:path w="9525" h="4514850">
                  <a:moveTo>
                    <a:pt x="0" y="0"/>
                  </a:moveTo>
                  <a:lnTo>
                    <a:pt x="0" y="45148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96050" y="392430"/>
              <a:ext cx="560405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76694" y="1018222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经营断点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80504" y="134683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营销链路分散，管理层看不到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80504" y="15563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统一增长面板。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15100" y="16764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96050" y="1297305"/>
              <a:ext cx="1082711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II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81494" y="19230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平台总图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85304" y="2251710"/>
              <a:ext cx="2546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四个模块贯穿数据整合、AI分析、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5304" y="24612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自动化执行、效果度量。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515100" y="2581275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96050" y="2202180"/>
              <a:ext cx="1605016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III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71994" y="2827972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价值证据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75804" y="315658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用典型业务场景说明效率提升与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5804" y="33661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决策提速。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515100" y="34861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96050" y="3107055"/>
              <a:ext cx="1517965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IV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19594" y="37328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核心指标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23404" y="40614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聚焦线索质量、内容产能、投放效率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23404" y="4271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与归因准确度。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515100" y="4391025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96050" y="4011930"/>
              <a:ext cx="995660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10044" y="4637722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上线动作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13854" y="4966335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按90天节奏推进试点、扩容与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13854" y="5175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经营接管。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1500" y="3162300"/>
              <a:ext cx="4953000" cy="2609850"/>
            </a:xfrm>
            <a:prstGeom prst="rect">
              <a:avLst/>
            </a:prstGeom>
            <a:solidFill>
              <a:srgbClr val="0F141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1500" y="3162300"/>
              <a:ext cx="4953000" cy="260985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95338" y="3379470"/>
              <a:ext cx="2055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 MANAGEMENT GETS FIRST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857250" y="37814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41654" y="37376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先确认经营断点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2416" y="3963352"/>
              <a:ext cx="3468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为什么现有投放、内容、CRM 无法合成一个决策面板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57250" y="442912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41654" y="4385310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再看平台如何接管流程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2416" y="461105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不是叠加新工具，而是把数据、分析、执行、度量接成闭环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857250" y="5076825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41654" y="503301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最后落到指标与节奏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2416" y="52587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管理层只需要判断：值不值得上、先从哪条线开始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201673" y="6017895"/>
            <a:ext cx="3323577" cy="176212"/>
            <a:chOff x="8201673" y="6017895"/>
            <a:chExt cx="3323577" cy="176212"/>
          </a:xfrm>
        </p:grpSpPr>
        <p:sp>
          <p:nvSpPr>
            <p:cNvPr id="62" name="TextBox 62"/>
            <p:cNvSpPr txBox="1"/>
            <p:nvPr/>
          </p:nvSpPr>
          <p:spPr>
            <a:xfrm>
              <a:off x="8201673" y="6017895"/>
              <a:ext cx="1899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从判断 → 模块 → 场景 → 指标 → 落地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10248900" y="605790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</a:gra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1200150"/>
              <a:ext cx="11049000" cy="4800600"/>
            </a:xfrm>
            <a:prstGeom prst="rect">
              <a:avLst/>
            </a:prstGeom>
            <a:solidFill>
              <a:srgbClr val="11151B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1200150"/>
              <a:ext cx="11049000" cy="48006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12171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1200150"/>
              <a:ext cx="76200" cy="480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762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334250" y="161925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58100" y="188595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</a:gra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66738" y="406241"/>
            <a:ext cx="11058524" cy="6156485"/>
            <a:chOff x="566738" y="406241"/>
            <a:chExt cx="11058524" cy="6156485"/>
          </a:xfrm>
        </p:grpSpPr>
        <p:sp>
          <p:nvSpPr>
            <p:cNvPr id="11" name="TextBox 11"/>
            <p:cNvSpPr txBox="1"/>
            <p:nvPr/>
          </p:nvSpPr>
          <p:spPr>
            <a:xfrm>
              <a:off x="566738" y="406241"/>
              <a:ext cx="453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案头判断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8270" y="406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738" y="6415088"/>
              <a:ext cx="174397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64736" y="6415088"/>
              <a:ext cx="116052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insight / quote-verdict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9150" y="1566862"/>
            <a:ext cx="10995279" cy="3729038"/>
            <a:chOff x="819150" y="1566862"/>
            <a:chExt cx="10995279" cy="3729038"/>
          </a:xfrm>
        </p:grpSpPr>
        <p:sp>
          <p:nvSpPr>
            <p:cNvPr id="16" name="TextBox 16"/>
            <p:cNvSpPr txBox="1"/>
            <p:nvPr/>
          </p:nvSpPr>
          <p:spPr>
            <a:xfrm>
              <a:off x="826770" y="1566862"/>
              <a:ext cx="27111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问题不在工具数量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9150" y="1692592"/>
              <a:ext cx="765071" cy="1704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8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75282" y="2173605"/>
              <a:ext cx="9622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重损耗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80616" y="26298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同步存在，才会拖垮营销效率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9818" y="3250882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企业营销的核心损耗，来自数据孤岛、分析滞后、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818" y="3574732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执行断层和归因失真同时存在，而不是某一个环节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单独落后。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658100" y="2133600"/>
              <a:ext cx="3429000" cy="876300"/>
            </a:xfrm>
            <a:custGeom>
              <a:avLst/>
              <a:gdLst/>
              <a:ahLst/>
              <a:cxnLst/>
              <a:rect l="l" t="t" r="r" b="b"/>
              <a:pathLst>
                <a:path w="3429000" h="876300">
                  <a:moveTo>
                    <a:pt x="57150" y="0"/>
                  </a:moveTo>
                  <a:lnTo>
                    <a:pt x="3371850" y="0"/>
                  </a:lnTo>
                  <a:cubicBezTo>
                    <a:pt x="3403413" y="0"/>
                    <a:pt x="3429000" y="25587"/>
                    <a:pt x="3429000" y="57150"/>
                  </a:cubicBezTo>
                  <a:lnTo>
                    <a:pt x="3429000" y="819150"/>
                  </a:lnTo>
                  <a:cubicBezTo>
                    <a:pt x="3429000" y="850713"/>
                    <a:pt x="3403413" y="876300"/>
                    <a:pt x="3371850" y="876300"/>
                  </a:cubicBezTo>
                  <a:lnTo>
                    <a:pt x="57150" y="876300"/>
                  </a:lnTo>
                  <a:cubicBezTo>
                    <a:pt x="25587" y="876300"/>
                    <a:pt x="0" y="850713"/>
                    <a:pt x="0" y="819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658100" y="3276600"/>
              <a:ext cx="3429000" cy="876300"/>
            </a:xfrm>
            <a:custGeom>
              <a:avLst/>
              <a:gdLst/>
              <a:ahLst/>
              <a:cxnLst/>
              <a:rect l="l" t="t" r="r" b="b"/>
              <a:pathLst>
                <a:path w="3429000" h="876300">
                  <a:moveTo>
                    <a:pt x="57150" y="0"/>
                  </a:moveTo>
                  <a:lnTo>
                    <a:pt x="3371850" y="0"/>
                  </a:lnTo>
                  <a:cubicBezTo>
                    <a:pt x="3403413" y="0"/>
                    <a:pt x="3429000" y="25587"/>
                    <a:pt x="3429000" y="57150"/>
                  </a:cubicBezTo>
                  <a:lnTo>
                    <a:pt x="3429000" y="819150"/>
                  </a:lnTo>
                  <a:cubicBezTo>
                    <a:pt x="3429000" y="850713"/>
                    <a:pt x="3403413" y="876300"/>
                    <a:pt x="3371850" y="876300"/>
                  </a:cubicBezTo>
                  <a:lnTo>
                    <a:pt x="57150" y="876300"/>
                  </a:lnTo>
                  <a:cubicBezTo>
                    <a:pt x="25587" y="876300"/>
                    <a:pt x="0" y="850713"/>
                    <a:pt x="0" y="819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658100" y="4419600"/>
              <a:ext cx="3429000" cy="876300"/>
            </a:xfrm>
            <a:custGeom>
              <a:avLst/>
              <a:gdLst/>
              <a:ahLst/>
              <a:cxnLst/>
              <a:rect l="l" t="t" r="r" b="b"/>
              <a:pathLst>
                <a:path w="3429000" h="876300">
                  <a:moveTo>
                    <a:pt x="57150" y="0"/>
                  </a:moveTo>
                  <a:lnTo>
                    <a:pt x="3371850" y="0"/>
                  </a:lnTo>
                  <a:cubicBezTo>
                    <a:pt x="3403413" y="0"/>
                    <a:pt x="3429000" y="25587"/>
                    <a:pt x="3429000" y="57150"/>
                  </a:cubicBezTo>
                  <a:lnTo>
                    <a:pt x="3429000" y="819150"/>
                  </a:lnTo>
                  <a:cubicBezTo>
                    <a:pt x="3429000" y="850713"/>
                    <a:pt x="3403413" y="876300"/>
                    <a:pt x="3371850" y="876300"/>
                  </a:cubicBezTo>
                  <a:lnTo>
                    <a:pt x="57150" y="876300"/>
                  </a:lnTo>
                  <a:cubicBezTo>
                    <a:pt x="25587" y="876300"/>
                    <a:pt x="0" y="850713"/>
                    <a:pt x="0" y="819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905750" y="2533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905750" y="36766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905750" y="48196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26349" y="2325529"/>
              <a:ext cx="179702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看板多，口径不一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29397" y="2656999"/>
              <a:ext cx="3685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同一客户被多套数据体系重复定义，管理层难以直接判断增量。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26349" y="3468529"/>
              <a:ext cx="20196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策略靠经验，响应慢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29397" y="3799999"/>
              <a:ext cx="3553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分析结果晚于市场变化，预算调整和内容动作总在机会之后。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26349" y="4611529"/>
              <a:ext cx="20196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投入在增，复盘变弱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29397" y="4942999"/>
              <a:ext cx="3685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投放、线索、成交与留存脱节，增长被放大，真实效率被稀释。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33438" y="5484495"/>
            <a:ext cx="3159633" cy="176212"/>
            <a:chOff x="833438" y="5484495"/>
            <a:chExt cx="3159633" cy="176212"/>
          </a:xfrm>
        </p:grpSpPr>
        <p:sp>
          <p:nvSpPr>
            <p:cNvPr id="36" name="TextBox 36"/>
            <p:cNvSpPr txBox="1"/>
            <p:nvPr/>
          </p:nvSpPr>
          <p:spPr>
            <a:xfrm>
              <a:off x="833438" y="5484495"/>
              <a:ext cx="31596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主判断：营销效率问题是系统性损耗，不是单点工具缺失。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1123950"/>
              <a:ext cx="11049000" cy="4953000"/>
            </a:xfrm>
            <a:prstGeom prst="rect">
              <a:avLst/>
            </a:prstGeom>
            <a:solidFill>
              <a:srgbClr val="11161C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66738" y="253841"/>
            <a:ext cx="11058525" cy="6451759"/>
            <a:chOff x="566738" y="253841"/>
            <a:chExt cx="11058525" cy="6451759"/>
          </a:xfrm>
        </p:grpSpPr>
        <p:sp>
          <p:nvSpPr>
            <p:cNvPr id="5" name="TextBox 5"/>
            <p:cNvSpPr txBox="1"/>
            <p:nvPr/>
          </p:nvSpPr>
          <p:spPr>
            <a:xfrm>
              <a:off x="566738" y="253841"/>
              <a:ext cx="9924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08 路径并置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476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6419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6738" y="6557962"/>
              <a:ext cx="9109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46920" y="6557962"/>
              <a:ext cx="197834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comparison / featured-edition-compare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60070" y="633412"/>
            <a:ext cx="11060430" cy="5576888"/>
            <a:chOff x="560070" y="633412"/>
            <a:chExt cx="11060430" cy="5576888"/>
          </a:xfrm>
        </p:grpSpPr>
        <p:sp>
          <p:nvSpPr>
            <p:cNvPr id="11" name="TextBox 11"/>
            <p:cNvSpPr txBox="1"/>
            <p:nvPr/>
          </p:nvSpPr>
          <p:spPr>
            <a:xfrm>
              <a:off x="560070" y="633412"/>
              <a:ext cx="37193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从分散流程到统一工作台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404" y="95631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平台价值不只是替换操作界面，而是把营销经营从串行协作改成同屏协同。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390650"/>
              <a:ext cx="5334000" cy="43053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1390650"/>
              <a:ext cx="5334000" cy="43053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2297" y="1628299"/>
              <a:ext cx="11306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旧路径｜分散流程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7297" y="1628299"/>
              <a:ext cx="12719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新路径｜统一工作台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0486" y="1891665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串行协作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55486" y="1891665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同屏协同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24384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20" name="Line 20"/>
            <p:cNvSpPr/>
            <p:nvPr/>
          </p:nvSpPr>
          <p:spPr>
            <a:xfrm>
              <a:off x="6572250" y="24384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238500" y="1885950"/>
              <a:ext cx="9525" cy="3638550"/>
            </a:xfrm>
            <a:custGeom>
              <a:avLst/>
              <a:gdLst/>
              <a:ahLst/>
              <a:cxnLst/>
              <a:rect l="l" t="t" r="r" b="b"/>
              <a:pathLst>
                <a:path w="9525" h="3638550">
                  <a:moveTo>
                    <a:pt x="0" y="0"/>
                  </a:moveTo>
                  <a:lnTo>
                    <a:pt x="0" y="36385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953500" y="1885950"/>
              <a:ext cx="9525" cy="3638550"/>
            </a:xfrm>
            <a:custGeom>
              <a:avLst/>
              <a:gdLst/>
              <a:ahLst/>
              <a:cxnLst/>
              <a:rect l="l" t="t" r="r" b="b"/>
              <a:pathLst>
                <a:path w="9525" h="3638550">
                  <a:moveTo>
                    <a:pt x="0" y="0"/>
                  </a:moveTo>
                  <a:lnTo>
                    <a:pt x="0" y="36385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2488" y="2684145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7488" y="2684145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0773" y="3024664"/>
              <a:ext cx="1980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CRM、广告、电商、内容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1916" y="32775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口径各自维护，跨渠道难复用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5392" y="3016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6916" y="32585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统一数据底座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6916" y="3487102"/>
              <a:ext cx="2870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打通 CRM、广告、内容、电商与私域触点，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6916" y="36966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形成一套可复用的客户与活动主数据。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57250" y="38671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572250" y="38671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0773" y="407241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人工拉表、经验判断、会后决策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1916" y="43253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发现问题慢，预算浪费点滞后暴露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5392" y="4064318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66916" y="43062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经营判断引擎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66916" y="453485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自动识别高转化客群、流失信号、预算浪费点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66916" y="47444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与内容机会，减少人工翻表。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57250" y="49149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6572250" y="49149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0773" y="5120164"/>
              <a:ext cx="2124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人找数据 → 写方案 → 再投放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1916" y="53730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动作分散，复盘与修正依赖下一周期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5392" y="5112068"/>
              <a:ext cx="1950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 + 效果度量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916" y="53540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策略中枢与闭环看板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6916" y="5582602"/>
              <a:ext cx="2885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联动分群、文案、投放、触达与 A/B 实验，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66916" y="57921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统一追踪线索、成交、复购与渠道贡献。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1500" y="5848350"/>
              <a:ext cx="11049000" cy="361950"/>
            </a:xfrm>
            <a:prstGeom prst="rect">
              <a:avLst/>
            </a:prstGeom>
            <a:solidFill>
              <a:srgbClr val="12171D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762000" y="59912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8116" y="59636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由人找数据，变为数据推动作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3657600" y="5991225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823716" y="59636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由事后复盘，变为实时校正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53200" y="599122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19316" y="59636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关键变量对比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858250" y="5991225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024366" y="59636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不同路径影响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5753100" y="35433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cubicBezTo>
                    <a:pt x="209550" y="0"/>
                    <a:pt x="323850" y="0"/>
                    <a:pt x="5334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6191250" y="3495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753100" y="45720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cubicBezTo>
                    <a:pt x="209550" y="0"/>
                    <a:pt x="323850" y="0"/>
                    <a:pt x="5334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191250" y="4524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5753100" y="560070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cubicBezTo>
                    <a:pt x="209550" y="0"/>
                    <a:pt x="323850" y="0"/>
                    <a:pt x="5334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191250" y="55530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8301038" y="1654016"/>
            <a:ext cx="3038475" cy="4501991"/>
            <a:chOff x="8301038" y="1654016"/>
            <a:chExt cx="3038475" cy="4501991"/>
          </a:xfrm>
        </p:grpSpPr>
        <p:sp>
          <p:nvSpPr>
            <p:cNvPr id="63" name="TextBox 63"/>
            <p:cNvSpPr txBox="1"/>
            <p:nvPr/>
          </p:nvSpPr>
          <p:spPr>
            <a:xfrm>
              <a:off x="9219209" y="1654016"/>
              <a:ext cx="10535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4 modules / 2 paths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01038" y="5979795"/>
              <a:ext cx="30384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统一工作台把数据、判断、执行、度量拉到同一经营界面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990600"/>
              <a:ext cx="11049000" cy="5334000"/>
            </a:xfrm>
            <a:prstGeom prst="rect">
              <a:avLst/>
            </a:prstGeom>
            <a:solidFill>
              <a:srgbClr val="10151B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990600"/>
              <a:ext cx="11049000" cy="53340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6738" y="225266"/>
            <a:ext cx="11058524" cy="6585110"/>
            <a:chOff x="566738" y="225266"/>
            <a:chExt cx="11058524" cy="6585110"/>
          </a:xfrm>
        </p:grpSpPr>
        <p:sp>
          <p:nvSpPr>
            <p:cNvPr id="6" name="TextBox 6"/>
            <p:cNvSpPr txBox="1"/>
            <p:nvPr/>
          </p:nvSpPr>
          <p:spPr>
            <a:xfrm>
              <a:off x="566738" y="225266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8238" y="225266"/>
              <a:ext cx="453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证据摘录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476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1500" y="6572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738" y="6662738"/>
              <a:ext cx="175696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 Launch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32020" y="6662738"/>
              <a:ext cx="79324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 Matrix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59308" y="760095"/>
            <a:ext cx="11061192" cy="5202555"/>
            <a:chOff x="559308" y="760095"/>
            <a:chExt cx="11061192" cy="5202555"/>
          </a:xfrm>
        </p:grpSpPr>
        <p:sp>
          <p:nvSpPr>
            <p:cNvPr id="13" name="TextBox 13"/>
            <p:cNvSpPr txBox="1"/>
            <p:nvPr/>
          </p:nvSpPr>
          <p:spPr>
            <a:xfrm>
              <a:off x="566738" y="7600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904875"/>
              <a:ext cx="2095500" cy="285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9308" y="1131570"/>
              <a:ext cx="36088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价值先体现在三类场景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023" y="1576864"/>
              <a:ext cx="58487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最先释放价值的通常不是全部能力上线，而是线索运营、内容生产和投放优化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5023" y="182451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三个高频环节同时提效。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71500" y="2095500"/>
              <a:ext cx="3067050" cy="438150"/>
            </a:xfrm>
            <a:custGeom>
              <a:avLst/>
              <a:gdLst/>
              <a:ahLst/>
              <a:cxnLst/>
              <a:rect l="l" t="t" r="r" b="b"/>
              <a:pathLst>
                <a:path w="3067050" h="438150">
                  <a:moveTo>
                    <a:pt x="38100" y="0"/>
                  </a:moveTo>
                  <a:lnTo>
                    <a:pt x="3028950" y="0"/>
                  </a:lnTo>
                  <a:cubicBezTo>
                    <a:pt x="3049992" y="0"/>
                    <a:pt x="3067050" y="17058"/>
                    <a:pt x="3067050" y="38100"/>
                  </a:cubicBezTo>
                  <a:lnTo>
                    <a:pt x="3067050" y="400050"/>
                  </a:lnTo>
                  <a:cubicBezTo>
                    <a:pt x="3067050" y="421092"/>
                    <a:pt x="3049992" y="438150"/>
                    <a:pt x="3028950" y="438150"/>
                  </a:cubicBezTo>
                  <a:lnTo>
                    <a:pt x="38100" y="438150"/>
                  </a:lnTo>
                  <a:cubicBezTo>
                    <a:pt x="17058" y="438150"/>
                    <a:pt x="0" y="421092"/>
                    <a:pt x="0" y="4000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743325" y="2095500"/>
              <a:ext cx="3067050" cy="438150"/>
            </a:xfrm>
            <a:custGeom>
              <a:avLst/>
              <a:gdLst/>
              <a:ahLst/>
              <a:cxnLst/>
              <a:rect l="l" t="t" r="r" b="b"/>
              <a:pathLst>
                <a:path w="3067050" h="438150">
                  <a:moveTo>
                    <a:pt x="38100" y="0"/>
                  </a:moveTo>
                  <a:lnTo>
                    <a:pt x="3028950" y="0"/>
                  </a:lnTo>
                  <a:cubicBezTo>
                    <a:pt x="3049992" y="0"/>
                    <a:pt x="3067050" y="17058"/>
                    <a:pt x="3067050" y="38100"/>
                  </a:cubicBezTo>
                  <a:lnTo>
                    <a:pt x="3067050" y="400050"/>
                  </a:lnTo>
                  <a:cubicBezTo>
                    <a:pt x="3067050" y="421092"/>
                    <a:pt x="3049992" y="438150"/>
                    <a:pt x="3028950" y="438150"/>
                  </a:cubicBezTo>
                  <a:lnTo>
                    <a:pt x="38100" y="438150"/>
                  </a:lnTo>
                  <a:cubicBezTo>
                    <a:pt x="17058" y="438150"/>
                    <a:pt x="0" y="421092"/>
                    <a:pt x="0" y="4000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915150" y="2095500"/>
              <a:ext cx="3067050" cy="438150"/>
            </a:xfrm>
            <a:custGeom>
              <a:avLst/>
              <a:gdLst/>
              <a:ahLst/>
              <a:cxnLst/>
              <a:rect l="l" t="t" r="r" b="b"/>
              <a:pathLst>
                <a:path w="3067050" h="438150">
                  <a:moveTo>
                    <a:pt x="38100" y="0"/>
                  </a:moveTo>
                  <a:lnTo>
                    <a:pt x="3028950" y="0"/>
                  </a:lnTo>
                  <a:cubicBezTo>
                    <a:pt x="3049992" y="0"/>
                    <a:pt x="3067050" y="17058"/>
                    <a:pt x="3067050" y="38100"/>
                  </a:cubicBezTo>
                  <a:lnTo>
                    <a:pt x="3067050" y="400050"/>
                  </a:lnTo>
                  <a:cubicBezTo>
                    <a:pt x="3067050" y="421092"/>
                    <a:pt x="3049992" y="438150"/>
                    <a:pt x="3028950" y="438150"/>
                  </a:cubicBezTo>
                  <a:lnTo>
                    <a:pt x="38100" y="438150"/>
                  </a:lnTo>
                  <a:cubicBezTo>
                    <a:pt x="17058" y="438150"/>
                    <a:pt x="0" y="421092"/>
                    <a:pt x="0" y="4000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81050" y="22764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6310" y="2240756"/>
              <a:ext cx="965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先抓高频场景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952875" y="227647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28135" y="2240756"/>
              <a:ext cx="1124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先拿到可见回报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124700" y="2276475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99960" y="22407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事实锚点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571500" y="2781300"/>
              <a:ext cx="3429000" cy="3028950"/>
            </a:xfrm>
            <a:custGeom>
              <a:avLst/>
              <a:gdLst/>
              <a:ahLst/>
              <a:cxnLst/>
              <a:rect l="l" t="t" r="r" b="b"/>
              <a:pathLst>
                <a:path w="3429000" h="3028950">
                  <a:moveTo>
                    <a:pt x="57150" y="0"/>
                  </a:moveTo>
                  <a:lnTo>
                    <a:pt x="3371850" y="0"/>
                  </a:lnTo>
                  <a:cubicBezTo>
                    <a:pt x="3403413" y="0"/>
                    <a:pt x="3429000" y="25587"/>
                    <a:pt x="3429000" y="57150"/>
                  </a:cubicBezTo>
                  <a:lnTo>
                    <a:pt x="3429000" y="2971800"/>
                  </a:lnTo>
                  <a:cubicBezTo>
                    <a:pt x="3429000" y="3003363"/>
                    <a:pt x="3403413" y="3028950"/>
                    <a:pt x="3371850" y="3028950"/>
                  </a:cubicBezTo>
                  <a:lnTo>
                    <a:pt x="57150" y="3028950"/>
                  </a:lnTo>
                  <a:cubicBezTo>
                    <a:pt x="25587" y="3028950"/>
                    <a:pt x="0" y="3003363"/>
                    <a:pt x="0" y="2971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141920"/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267200" y="2781300"/>
              <a:ext cx="3429000" cy="3028950"/>
            </a:xfrm>
            <a:custGeom>
              <a:avLst/>
              <a:gdLst/>
              <a:ahLst/>
              <a:cxnLst/>
              <a:rect l="l" t="t" r="r" b="b"/>
              <a:pathLst>
                <a:path w="3429000" h="3028950">
                  <a:moveTo>
                    <a:pt x="57150" y="0"/>
                  </a:moveTo>
                  <a:lnTo>
                    <a:pt x="3371850" y="0"/>
                  </a:lnTo>
                  <a:cubicBezTo>
                    <a:pt x="3403413" y="0"/>
                    <a:pt x="3429000" y="25587"/>
                    <a:pt x="3429000" y="57150"/>
                  </a:cubicBezTo>
                  <a:lnTo>
                    <a:pt x="3429000" y="2971800"/>
                  </a:lnTo>
                  <a:cubicBezTo>
                    <a:pt x="3429000" y="3003363"/>
                    <a:pt x="3403413" y="3028950"/>
                    <a:pt x="3371850" y="3028950"/>
                  </a:cubicBezTo>
                  <a:lnTo>
                    <a:pt x="57150" y="3028950"/>
                  </a:lnTo>
                  <a:cubicBezTo>
                    <a:pt x="25587" y="3028950"/>
                    <a:pt x="0" y="3003363"/>
                    <a:pt x="0" y="2971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141920"/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962900" y="2781300"/>
              <a:ext cx="3657600" cy="3028950"/>
            </a:xfrm>
            <a:custGeom>
              <a:avLst/>
              <a:gdLst/>
              <a:ahLst/>
              <a:cxnLst/>
              <a:rect l="l" t="t" r="r" b="b"/>
              <a:pathLst>
                <a:path w="3657600" h="3028950">
                  <a:moveTo>
                    <a:pt x="57150" y="0"/>
                  </a:moveTo>
                  <a:lnTo>
                    <a:pt x="3600450" y="0"/>
                  </a:lnTo>
                  <a:cubicBezTo>
                    <a:pt x="3632013" y="0"/>
                    <a:pt x="3657600" y="25587"/>
                    <a:pt x="3657600" y="57150"/>
                  </a:cubicBezTo>
                  <a:lnTo>
                    <a:pt x="3657600" y="2971800"/>
                  </a:lnTo>
                  <a:cubicBezTo>
                    <a:pt x="3657600" y="3003363"/>
                    <a:pt x="3632013" y="3028950"/>
                    <a:pt x="3600450" y="3028950"/>
                  </a:cubicBezTo>
                  <a:lnTo>
                    <a:pt x="57150" y="3028950"/>
                  </a:lnTo>
                  <a:cubicBezTo>
                    <a:pt x="25587" y="3028950"/>
                    <a:pt x="0" y="3003363"/>
                    <a:pt x="0" y="2971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141920"/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2781300"/>
              <a:ext cx="34290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67200" y="2781300"/>
              <a:ext cx="34290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62900" y="2781300"/>
              <a:ext cx="3657600" cy="571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4388" y="3103245"/>
              <a:ext cx="745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SCENARIO 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8482" y="33166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线索筛选提速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054" y="37376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系统自动识别高意向客户与跟进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3054" y="39662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优先级，销售不再从大量低质量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054" y="41948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线索里手工筛查。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19150" y="43815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1624" y="4313872"/>
              <a:ext cx="60184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23035" y="4507706"/>
              <a:ext cx="1442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工作台先替人做判断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23797" y="4752499"/>
              <a:ext cx="19787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把线索质量、响应时机与动作建议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23797" y="494299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集中到一个队列里。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19150" y="5219700"/>
              <a:ext cx="1047750" cy="247650"/>
            </a:xfrm>
            <a:custGeom>
              <a:avLst/>
              <a:gdLst/>
              <a:ahLst/>
              <a:cxnLst/>
              <a:rect l="l" t="t" r="r" b="b"/>
              <a:pathLst>
                <a:path w="1047750" h="247650">
                  <a:moveTo>
                    <a:pt x="123825" y="0"/>
                  </a:moveTo>
                  <a:lnTo>
                    <a:pt x="923925" y="0"/>
                  </a:lnTo>
                  <a:cubicBezTo>
                    <a:pt x="992312" y="0"/>
                    <a:pt x="1047750" y="55438"/>
                    <a:pt x="1047750" y="123825"/>
                  </a:cubicBezTo>
                  <a:lnTo>
                    <a:pt x="1047750" y="123825"/>
                  </a:lnTo>
                  <a:cubicBezTo>
                    <a:pt x="1047750" y="192212"/>
                    <a:pt x="992312" y="247650"/>
                    <a:pt x="9239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151A2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217104" y="52844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高频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962150" y="5219700"/>
              <a:ext cx="1047750" cy="247650"/>
            </a:xfrm>
            <a:custGeom>
              <a:avLst/>
              <a:gdLst/>
              <a:ahLst/>
              <a:cxnLst/>
              <a:rect l="l" t="t" r="r" b="b"/>
              <a:pathLst>
                <a:path w="1047750" h="247650">
                  <a:moveTo>
                    <a:pt x="123825" y="0"/>
                  </a:moveTo>
                  <a:lnTo>
                    <a:pt x="923925" y="0"/>
                  </a:lnTo>
                  <a:cubicBezTo>
                    <a:pt x="992312" y="0"/>
                    <a:pt x="1047750" y="55438"/>
                    <a:pt x="1047750" y="123825"/>
                  </a:cubicBezTo>
                  <a:lnTo>
                    <a:pt x="1047750" y="123825"/>
                  </a:lnTo>
                  <a:cubicBezTo>
                    <a:pt x="1047750" y="192212"/>
                    <a:pt x="992312" y="247650"/>
                    <a:pt x="9239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151A2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299526" y="52844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易量化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3105150" y="5219700"/>
              <a:ext cx="647700" cy="247650"/>
            </a:xfrm>
            <a:custGeom>
              <a:avLst/>
              <a:gdLst/>
              <a:ahLst/>
              <a:cxnLst/>
              <a:rect l="l" t="t" r="r" b="b"/>
              <a:pathLst>
                <a:path w="647700" h="247650">
                  <a:moveTo>
                    <a:pt x="123825" y="0"/>
                  </a:moveTo>
                  <a:lnTo>
                    <a:pt x="523875" y="0"/>
                  </a:lnTo>
                  <a:cubicBezTo>
                    <a:pt x="592262" y="0"/>
                    <a:pt x="647700" y="55438"/>
                    <a:pt x="647700" y="123825"/>
                  </a:cubicBezTo>
                  <a:lnTo>
                    <a:pt x="647700" y="123825"/>
                  </a:lnTo>
                  <a:cubicBezTo>
                    <a:pt x="647700" y="192212"/>
                    <a:pt x="592262" y="247650"/>
                    <a:pt x="5238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151A2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242500" y="52844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先见效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10088" y="3103245"/>
              <a:ext cx="745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SCENARIO 02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04182" y="33166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内容生产放大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08754" y="3737610"/>
              <a:ext cx="25981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基于人群、渠道与活动目标生成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08754" y="39662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多版本素材，市场团队从单篇制作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08754" y="41948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转向批量编排。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514850" y="43815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497324" y="4313872"/>
              <a:ext cx="60184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118735" y="4507706"/>
              <a:ext cx="1601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单位产出成本更快下降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119497" y="4752499"/>
              <a:ext cx="19918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价值不在“写一篇”，而在持续生成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19497" y="4942999"/>
              <a:ext cx="1716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可测试、可复用的素材矩阵。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4514850" y="5219700"/>
              <a:ext cx="1047750" cy="247650"/>
            </a:xfrm>
            <a:custGeom>
              <a:avLst/>
              <a:gdLst/>
              <a:ahLst/>
              <a:cxnLst/>
              <a:rect l="l" t="t" r="r" b="b"/>
              <a:pathLst>
                <a:path w="1047750" h="247650">
                  <a:moveTo>
                    <a:pt x="123825" y="0"/>
                  </a:moveTo>
                  <a:lnTo>
                    <a:pt x="923925" y="0"/>
                  </a:lnTo>
                  <a:cubicBezTo>
                    <a:pt x="992312" y="0"/>
                    <a:pt x="1047750" y="55438"/>
                    <a:pt x="1047750" y="123825"/>
                  </a:cubicBezTo>
                  <a:lnTo>
                    <a:pt x="1047750" y="123825"/>
                  </a:lnTo>
                  <a:cubicBezTo>
                    <a:pt x="1047750" y="192212"/>
                    <a:pt x="992312" y="247650"/>
                    <a:pt x="9239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151A2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852226" y="52844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批量化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5657850" y="5219700"/>
              <a:ext cx="1047750" cy="247650"/>
            </a:xfrm>
            <a:custGeom>
              <a:avLst/>
              <a:gdLst/>
              <a:ahLst/>
              <a:cxnLst/>
              <a:rect l="l" t="t" r="r" b="b"/>
              <a:pathLst>
                <a:path w="1047750" h="247650">
                  <a:moveTo>
                    <a:pt x="123825" y="0"/>
                  </a:moveTo>
                  <a:lnTo>
                    <a:pt x="923925" y="0"/>
                  </a:lnTo>
                  <a:cubicBezTo>
                    <a:pt x="992312" y="0"/>
                    <a:pt x="1047750" y="55438"/>
                    <a:pt x="1047750" y="123825"/>
                  </a:cubicBezTo>
                  <a:lnTo>
                    <a:pt x="1047750" y="123825"/>
                  </a:lnTo>
                  <a:cubicBezTo>
                    <a:pt x="1047750" y="192212"/>
                    <a:pt x="992312" y="247650"/>
                    <a:pt x="9239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151A2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95226" y="52844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多版本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6800850" y="5219700"/>
              <a:ext cx="647700" cy="247650"/>
            </a:xfrm>
            <a:custGeom>
              <a:avLst/>
              <a:gdLst/>
              <a:ahLst/>
              <a:cxnLst/>
              <a:rect l="l" t="t" r="r" b="b"/>
              <a:pathLst>
                <a:path w="647700" h="247650">
                  <a:moveTo>
                    <a:pt x="123825" y="0"/>
                  </a:moveTo>
                  <a:lnTo>
                    <a:pt x="523875" y="0"/>
                  </a:lnTo>
                  <a:cubicBezTo>
                    <a:pt x="592262" y="0"/>
                    <a:pt x="647700" y="55438"/>
                    <a:pt x="647700" y="123825"/>
                  </a:cubicBezTo>
                  <a:lnTo>
                    <a:pt x="647700" y="123825"/>
                  </a:lnTo>
                  <a:cubicBezTo>
                    <a:pt x="647700" y="192212"/>
                    <a:pt x="592262" y="247650"/>
                    <a:pt x="5238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151A2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38200" y="52844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05788" y="3103245"/>
              <a:ext cx="745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SCENARIO 03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99882" y="331660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投放策略自校正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04454" y="37376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平台按转化表现动态调整预算、创意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04454" y="39662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与触达频次，减少低效消耗持续放大。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8210550" y="42672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193786" y="4234815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证明材料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8210550" y="4800600"/>
              <a:ext cx="3162300" cy="323850"/>
            </a:xfrm>
            <a:custGeom>
              <a:avLst/>
              <a:gdLst/>
              <a:ahLst/>
              <a:cxnLst/>
              <a:rect l="l" t="t" r="r" b="b"/>
              <a:pathLst>
                <a:path w="3162300" h="323850">
                  <a:moveTo>
                    <a:pt x="38100" y="0"/>
                  </a:moveTo>
                  <a:lnTo>
                    <a:pt x="3124200" y="0"/>
                  </a:lnTo>
                  <a:cubicBezTo>
                    <a:pt x="3145242" y="0"/>
                    <a:pt x="3162300" y="17058"/>
                    <a:pt x="3162300" y="38100"/>
                  </a:cubicBezTo>
                  <a:lnTo>
                    <a:pt x="3162300" y="285750"/>
                  </a:lnTo>
                  <a:cubicBezTo>
                    <a:pt x="3162300" y="306792"/>
                    <a:pt x="3145242" y="323850"/>
                    <a:pt x="31242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51A2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8353425" y="4924425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529066" y="48968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高频环节最先形成日更数据闭环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8210550" y="5219700"/>
              <a:ext cx="3162300" cy="323850"/>
            </a:xfrm>
            <a:custGeom>
              <a:avLst/>
              <a:gdLst/>
              <a:ahLst/>
              <a:cxnLst/>
              <a:rect l="l" t="t" r="r" b="b"/>
              <a:pathLst>
                <a:path w="3162300" h="323850">
                  <a:moveTo>
                    <a:pt x="38100" y="0"/>
                  </a:moveTo>
                  <a:lnTo>
                    <a:pt x="3124200" y="0"/>
                  </a:lnTo>
                  <a:cubicBezTo>
                    <a:pt x="3145242" y="0"/>
                    <a:pt x="3162300" y="17058"/>
                    <a:pt x="3162300" y="38100"/>
                  </a:cubicBezTo>
                  <a:lnTo>
                    <a:pt x="3162300" y="285750"/>
                  </a:lnTo>
                  <a:cubicBezTo>
                    <a:pt x="3162300" y="306792"/>
                    <a:pt x="3145242" y="323850"/>
                    <a:pt x="31242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51A2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8353425" y="5343525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29066" y="53159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回报可直接映射到线索、产能与转化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8210550" y="5638800"/>
              <a:ext cx="3162300" cy="323850"/>
            </a:xfrm>
            <a:custGeom>
              <a:avLst/>
              <a:gdLst/>
              <a:ahLst/>
              <a:cxnLst/>
              <a:rect l="l" t="t" r="r" b="b"/>
              <a:pathLst>
                <a:path w="3162300" h="323850">
                  <a:moveTo>
                    <a:pt x="38100" y="0"/>
                  </a:moveTo>
                  <a:lnTo>
                    <a:pt x="3124200" y="0"/>
                  </a:lnTo>
                  <a:cubicBezTo>
                    <a:pt x="3145242" y="0"/>
                    <a:pt x="3162300" y="17058"/>
                    <a:pt x="3162300" y="38100"/>
                  </a:cubicBezTo>
                  <a:lnTo>
                    <a:pt x="3162300" y="285750"/>
                  </a:lnTo>
                  <a:cubicBezTo>
                    <a:pt x="3162300" y="306792"/>
                    <a:pt x="3145242" y="323850"/>
                    <a:pt x="31242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51A2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8353425" y="5762625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529066" y="5735002"/>
              <a:ext cx="2597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适合先做 SaaS 标准化，再逐步扩展能力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9791700" y="33528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10648950" y="3181350"/>
              <a:ext cx="323850" cy="171450"/>
            </a:xfrm>
            <a:custGeom>
              <a:avLst/>
              <a:gdLst/>
              <a:ahLst/>
              <a:cxnLst/>
              <a:rect l="l" t="t" r="r" b="b"/>
              <a:pathLst>
                <a:path w="323850" h="171450">
                  <a:moveTo>
                    <a:pt x="0" y="17145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10648950" y="3352800"/>
              <a:ext cx="323850" cy="171450"/>
            </a:xfrm>
            <a:custGeom>
              <a:avLst/>
              <a:gdLst/>
              <a:ahLst/>
              <a:cxnLst/>
              <a:rect l="l" t="t" r="r" b="b"/>
              <a:pathLst>
                <a:path w="323850" h="171450">
                  <a:moveTo>
                    <a:pt x="0" y="0"/>
                  </a:moveTo>
                  <a:lnTo>
                    <a:pt x="323850" y="1714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9791700" y="37338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10344150" y="3581400"/>
              <a:ext cx="285750" cy="152400"/>
            </a:xfrm>
            <a:custGeom>
              <a:avLst/>
              <a:gdLst/>
              <a:ahLst/>
              <a:cxnLst/>
              <a:rect l="l" t="t" r="r" b="b"/>
              <a:pathLst>
                <a:path w="285750" h="152400">
                  <a:moveTo>
                    <a:pt x="0" y="15240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5" name="Line 85"/>
            <p:cNvSpPr/>
            <p:nvPr/>
          </p:nvSpPr>
          <p:spPr>
            <a:xfrm>
              <a:off x="10344150" y="3733800"/>
              <a:ext cx="285750" cy="152400"/>
            </a:xfrm>
            <a:custGeom>
              <a:avLst/>
              <a:gdLst/>
              <a:ahLst/>
              <a:cxnLst/>
              <a:rect l="l" t="t" r="r" b="b"/>
              <a:pathLst>
                <a:path w="285750" h="152400">
                  <a:moveTo>
                    <a:pt x="0" y="0"/>
                  </a:moveTo>
                  <a:lnTo>
                    <a:pt x="285750" y="1524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6" name="Line 86"/>
            <p:cNvSpPr/>
            <p:nvPr/>
          </p:nvSpPr>
          <p:spPr>
            <a:xfrm>
              <a:off x="9791700" y="41148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7" name="Line 87"/>
            <p:cNvSpPr/>
            <p:nvPr/>
          </p:nvSpPr>
          <p:spPr>
            <a:xfrm>
              <a:off x="10077450" y="3962400"/>
              <a:ext cx="266700" cy="152400"/>
            </a:xfrm>
            <a:custGeom>
              <a:avLst/>
              <a:gdLst/>
              <a:ahLst/>
              <a:cxnLst/>
              <a:rect l="l" t="t" r="r" b="b"/>
              <a:pathLst>
                <a:path w="266700" h="152400">
                  <a:moveTo>
                    <a:pt x="0" y="15240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8" name="Line 88"/>
            <p:cNvSpPr/>
            <p:nvPr/>
          </p:nvSpPr>
          <p:spPr>
            <a:xfrm>
              <a:off x="10077450" y="4114800"/>
              <a:ext cx="266700" cy="152400"/>
            </a:xfrm>
            <a:custGeom>
              <a:avLst/>
              <a:gdLst/>
              <a:ahLst/>
              <a:cxnLst/>
              <a:rect l="l" t="t" r="r" b="b"/>
              <a:pathLst>
                <a:path w="266700" h="152400">
                  <a:moveTo>
                    <a:pt x="0" y="0"/>
                  </a:moveTo>
                  <a:lnTo>
                    <a:pt x="266700" y="1524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566738" y="6001702"/>
            <a:ext cx="6113564" cy="205359"/>
            <a:chOff x="566738" y="6001702"/>
            <a:chExt cx="6113564" cy="205359"/>
          </a:xfrm>
        </p:grpSpPr>
        <p:sp>
          <p:nvSpPr>
            <p:cNvPr id="90" name="TextBox 90"/>
            <p:cNvSpPr txBox="1"/>
            <p:nvPr/>
          </p:nvSpPr>
          <p:spPr>
            <a:xfrm>
              <a:off x="566738" y="60178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61466" y="6001702"/>
              <a:ext cx="5618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 AI 营销工作台的首轮价值，不来自“大而全”，而来自三类高频动作的同时提效。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1028700"/>
              <a:ext cx="11049000" cy="5219700"/>
            </a:xfrm>
            <a:prstGeom prst="rect">
              <a:avLst/>
            </a:prstGeom>
            <a:solidFill>
              <a:srgbClr val="11161C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1028700"/>
              <a:ext cx="11049000" cy="5219700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11049000" cy="762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6738" y="272891"/>
            <a:ext cx="11058525" cy="6461285"/>
            <a:chOff x="566738" y="272891"/>
            <a:chExt cx="11058525" cy="6461285"/>
          </a:xfrm>
        </p:grpSpPr>
        <p:sp>
          <p:nvSpPr>
            <p:cNvPr id="7" name="TextBox 7"/>
            <p:cNvSpPr txBox="1"/>
            <p:nvPr/>
          </p:nvSpPr>
          <p:spPr>
            <a:xfrm>
              <a:off x="566738" y="272891"/>
              <a:ext cx="9702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08 数字记录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476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738" y="6586538"/>
              <a:ext cx="156705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管理层视角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9716" y="6586538"/>
              <a:ext cx="1855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P06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0070" y="633412"/>
            <a:ext cx="10869930" cy="5119688"/>
            <a:chOff x="560070" y="633412"/>
            <a:chExt cx="10869930" cy="5119688"/>
          </a:xfrm>
        </p:grpSpPr>
        <p:sp>
          <p:nvSpPr>
            <p:cNvPr id="13" name="TextBox 13"/>
            <p:cNvSpPr txBox="1"/>
            <p:nvPr/>
          </p:nvSpPr>
          <p:spPr>
            <a:xfrm>
              <a:off x="560070" y="633412"/>
              <a:ext cx="37193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管理层最关心的四个指标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904" y="12230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是否上线这类工作台，关键不在功能丰富度，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904" y="14516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而在能否持续改善经营指标。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905750" y="1238250"/>
              <a:ext cx="3333750" cy="5905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1488" y="1388745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判断标准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90916" y="1582102"/>
              <a:ext cx="29507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周度复盘 ｜ 落到动作 ｜ 关键数字 ｜ 压力指标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762000" y="2095500"/>
              <a:ext cx="5095875" cy="1695450"/>
            </a:xfrm>
            <a:custGeom>
              <a:avLst/>
              <a:gdLst/>
              <a:ahLst/>
              <a:cxnLst/>
              <a:rect l="l" t="t" r="r" b="b"/>
              <a:pathLst>
                <a:path w="5095875" h="1695450">
                  <a:moveTo>
                    <a:pt x="57150" y="0"/>
                  </a:moveTo>
                  <a:lnTo>
                    <a:pt x="5038725" y="0"/>
                  </a:lnTo>
                  <a:cubicBezTo>
                    <a:pt x="5070288" y="0"/>
                    <a:pt x="5095875" y="25587"/>
                    <a:pt x="5095875" y="57150"/>
                  </a:cubicBezTo>
                  <a:lnTo>
                    <a:pt x="5095875" y="1638300"/>
                  </a:lnTo>
                  <a:cubicBezTo>
                    <a:pt x="5095875" y="1669863"/>
                    <a:pt x="5070288" y="1695450"/>
                    <a:pt x="5038725" y="1695450"/>
                  </a:cubicBezTo>
                  <a:lnTo>
                    <a:pt x="57150" y="1695450"/>
                  </a:lnTo>
                  <a:cubicBezTo>
                    <a:pt x="25587" y="1695450"/>
                    <a:pt x="0" y="1669863"/>
                    <a:pt x="0" y="16383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gradFill>
              <a:gsLst>
                <a:gs pos="0">
                  <a:srgbClr val="1F252D"/>
                </a:gs>
                <a:gs pos="100000">
                  <a:srgbClr val="171C23"/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2000" y="2095500"/>
              <a:ext cx="57150" cy="16954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8606" y="2263140"/>
              <a:ext cx="555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Georgia"/>
                  <a:ea typeface="Microsoft YaHei"/>
                  <a:cs typeface="Georgia"/>
                </a:rPr>
                <a:t>更高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4034" y="2604135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线索有效率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047750" y="30670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1654" y="3223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减少无效流入，把销售时间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1654" y="34518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留给高意向客户。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933950" y="2247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029200" y="2362200"/>
              <a:ext cx="285750" cy="171450"/>
            </a:xfrm>
            <a:custGeom>
              <a:avLst/>
              <a:gdLst/>
              <a:ahLst/>
              <a:cxnLst/>
              <a:rect l="l" t="t" r="r" b="b"/>
              <a:pathLst>
                <a:path w="285750" h="171450">
                  <a:moveTo>
                    <a:pt x="0" y="171450"/>
                  </a:moveTo>
                  <a:lnTo>
                    <a:pt x="104775" y="66675"/>
                  </a:lnTo>
                  <a:lnTo>
                    <a:pt x="180975" y="142875"/>
                  </a:lnTo>
                  <a:lnTo>
                    <a:pt x="285750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  <a:round/>
            </a:ln>
          </p:spPr>
        </p:sp>
        <p:sp>
          <p:nvSpPr>
            <p:cNvPr id="28" name="Freeform 28"/>
            <p:cNvSpPr/>
            <p:nvPr/>
          </p:nvSpPr>
          <p:spPr>
            <a:xfrm>
              <a:off x="5267325" y="236220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0"/>
                  </a:moveTo>
                  <a:lnTo>
                    <a:pt x="47625" y="0"/>
                  </a:lnTo>
                  <a:lnTo>
                    <a:pt x="47625" y="47625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  <a:round/>
            </a:ln>
          </p:spPr>
        </p:sp>
        <p:sp>
          <p:nvSpPr>
            <p:cNvPr id="29" name="Freeform 29"/>
            <p:cNvSpPr/>
            <p:nvPr/>
          </p:nvSpPr>
          <p:spPr>
            <a:xfrm>
              <a:off x="6334125" y="2095500"/>
              <a:ext cx="5095875" cy="1695450"/>
            </a:xfrm>
            <a:custGeom>
              <a:avLst/>
              <a:gdLst/>
              <a:ahLst/>
              <a:cxnLst/>
              <a:rect l="l" t="t" r="r" b="b"/>
              <a:pathLst>
                <a:path w="5095875" h="1695450">
                  <a:moveTo>
                    <a:pt x="57150" y="0"/>
                  </a:moveTo>
                  <a:lnTo>
                    <a:pt x="5038725" y="0"/>
                  </a:lnTo>
                  <a:cubicBezTo>
                    <a:pt x="5070288" y="0"/>
                    <a:pt x="5095875" y="25587"/>
                    <a:pt x="5095875" y="57150"/>
                  </a:cubicBezTo>
                  <a:lnTo>
                    <a:pt x="5095875" y="1638300"/>
                  </a:lnTo>
                  <a:cubicBezTo>
                    <a:pt x="5095875" y="1669863"/>
                    <a:pt x="5070288" y="1695450"/>
                    <a:pt x="5038725" y="1695450"/>
                  </a:cubicBezTo>
                  <a:lnTo>
                    <a:pt x="57150" y="1695450"/>
                  </a:lnTo>
                  <a:cubicBezTo>
                    <a:pt x="25587" y="1695450"/>
                    <a:pt x="0" y="1669863"/>
                    <a:pt x="0" y="16383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gradFill>
              <a:gsLst>
                <a:gs pos="0">
                  <a:srgbClr val="1F252D"/>
                </a:gs>
                <a:gs pos="100000">
                  <a:srgbClr val="171C23"/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334125" y="2095500"/>
              <a:ext cx="57150" cy="1695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10731" y="2263140"/>
              <a:ext cx="555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Georgia"/>
                  <a:ea typeface="Microsoft YaHei"/>
                  <a:cs typeface="Georgia"/>
                </a:rPr>
                <a:t>更快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06159" y="260413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活动上线速度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619875" y="30670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3779" y="3223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从策略确认到素材与投放执行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3779" y="34518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显著压缩周期。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10506075" y="2247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734675" y="2343150"/>
              <a:ext cx="104775" cy="200025"/>
            </a:xfrm>
            <a:custGeom>
              <a:avLst/>
              <a:gdLst/>
              <a:ahLst/>
              <a:cxnLst/>
              <a:rect l="l" t="t" r="r" b="b"/>
              <a:pathLst>
                <a:path w="104775" h="200025">
                  <a:moveTo>
                    <a:pt x="0" y="0"/>
                  </a:moveTo>
                  <a:lnTo>
                    <a:pt x="0" y="142875"/>
                  </a:lnTo>
                  <a:lnTo>
                    <a:pt x="104775" y="200025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round/>
            </a:ln>
          </p:spPr>
        </p:sp>
        <p:sp>
          <p:nvSpPr>
            <p:cNvPr id="38" name="Ellipse 38"/>
            <p:cNvSpPr/>
            <p:nvPr/>
          </p:nvSpPr>
          <p:spPr>
            <a:xfrm>
              <a:off x="10706100" y="24479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62000" y="4057650"/>
              <a:ext cx="5095875" cy="1695450"/>
            </a:xfrm>
            <a:custGeom>
              <a:avLst/>
              <a:gdLst/>
              <a:ahLst/>
              <a:cxnLst/>
              <a:rect l="l" t="t" r="r" b="b"/>
              <a:pathLst>
                <a:path w="5095875" h="1695450">
                  <a:moveTo>
                    <a:pt x="57150" y="0"/>
                  </a:moveTo>
                  <a:lnTo>
                    <a:pt x="5038725" y="0"/>
                  </a:lnTo>
                  <a:cubicBezTo>
                    <a:pt x="5070288" y="0"/>
                    <a:pt x="5095875" y="25587"/>
                    <a:pt x="5095875" y="57150"/>
                  </a:cubicBezTo>
                  <a:lnTo>
                    <a:pt x="5095875" y="1638300"/>
                  </a:lnTo>
                  <a:cubicBezTo>
                    <a:pt x="5095875" y="1669863"/>
                    <a:pt x="5070288" y="1695450"/>
                    <a:pt x="5038725" y="1695450"/>
                  </a:cubicBezTo>
                  <a:lnTo>
                    <a:pt x="57150" y="1695450"/>
                  </a:lnTo>
                  <a:cubicBezTo>
                    <a:pt x="25587" y="1695450"/>
                    <a:pt x="0" y="1669863"/>
                    <a:pt x="0" y="16383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gradFill>
              <a:gsLst>
                <a:gs pos="0">
                  <a:srgbClr val="1F252D"/>
                </a:gs>
                <a:gs pos="100000">
                  <a:srgbClr val="171C23"/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62000" y="4057650"/>
              <a:ext cx="57150" cy="1695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38606" y="4225290"/>
              <a:ext cx="555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Georgia"/>
                  <a:ea typeface="Microsoft YaHei"/>
                  <a:cs typeface="Georgia"/>
                </a:rPr>
                <a:t>更稳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4034" y="456628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预算使用效率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1047750" y="50292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41654" y="51854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把浪费预算暴露出来，并让调优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1654" y="5414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形成日常动作。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933950" y="421005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5029200" y="432435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228600"/>
                  </a:moveTo>
                  <a:lnTo>
                    <a:pt x="76200" y="133350"/>
                  </a:lnTo>
                  <a:lnTo>
                    <a:pt x="152400" y="171450"/>
                  </a:lnTo>
                  <a:lnTo>
                    <a:pt x="26670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48" name="Line 48"/>
            <p:cNvSpPr/>
            <p:nvPr/>
          </p:nvSpPr>
          <p:spPr>
            <a:xfrm>
              <a:off x="5029200" y="46101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334125" y="4057650"/>
              <a:ext cx="5095875" cy="1695450"/>
            </a:xfrm>
            <a:custGeom>
              <a:avLst/>
              <a:gdLst/>
              <a:ahLst/>
              <a:cxnLst/>
              <a:rect l="l" t="t" r="r" b="b"/>
              <a:pathLst>
                <a:path w="5095875" h="1695450">
                  <a:moveTo>
                    <a:pt x="57150" y="0"/>
                  </a:moveTo>
                  <a:lnTo>
                    <a:pt x="5038725" y="0"/>
                  </a:lnTo>
                  <a:cubicBezTo>
                    <a:pt x="5070288" y="0"/>
                    <a:pt x="5095875" y="25587"/>
                    <a:pt x="5095875" y="57150"/>
                  </a:cubicBezTo>
                  <a:lnTo>
                    <a:pt x="5095875" y="1638300"/>
                  </a:lnTo>
                  <a:cubicBezTo>
                    <a:pt x="5095875" y="1669863"/>
                    <a:pt x="5070288" y="1695450"/>
                    <a:pt x="5038725" y="1695450"/>
                  </a:cubicBezTo>
                  <a:lnTo>
                    <a:pt x="57150" y="1695450"/>
                  </a:lnTo>
                  <a:cubicBezTo>
                    <a:pt x="25587" y="1695450"/>
                    <a:pt x="0" y="1669863"/>
                    <a:pt x="0" y="16383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gradFill>
              <a:gsLst>
                <a:gs pos="0">
                  <a:srgbClr val="1F252D"/>
                </a:gs>
                <a:gs pos="100000">
                  <a:srgbClr val="171C23"/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334125" y="4057650"/>
              <a:ext cx="57150" cy="1695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10731" y="4225290"/>
              <a:ext cx="824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Georgia"/>
                  <a:ea typeface="Microsoft YaHei"/>
                  <a:cs typeface="Georgia"/>
                </a:rPr>
                <a:t>更清晰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06159" y="4566285"/>
              <a:ext cx="28501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渠道归因可信度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619875" y="50292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13779" y="51854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同一经营口径下看投入、产出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13779" y="5414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与复购贡献。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10506075" y="421005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10620375" y="4333875"/>
              <a:ext cx="238125" cy="171450"/>
            </a:xfrm>
            <a:custGeom>
              <a:avLst/>
              <a:gdLst/>
              <a:ahLst/>
              <a:cxnLst/>
              <a:rect l="l" t="t" r="r" b="b"/>
              <a:pathLst>
                <a:path w="238125" h="171450">
                  <a:moveTo>
                    <a:pt x="0" y="104775"/>
                  </a:moveTo>
                  <a:lnTo>
                    <a:pt x="66675" y="171450"/>
                  </a:lnTo>
                  <a:lnTo>
                    <a:pt x="238125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round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757238" y="5979795"/>
            <a:ext cx="5098161" cy="176212"/>
            <a:chOff x="757238" y="5979795"/>
            <a:chExt cx="5098161" cy="176212"/>
          </a:xfrm>
        </p:grpSpPr>
        <p:sp>
          <p:nvSpPr>
            <p:cNvPr id="59" name="TextBox 59"/>
            <p:cNvSpPr txBox="1"/>
            <p:nvPr/>
          </p:nvSpPr>
          <p:spPr>
            <a:xfrm>
              <a:off x="757238" y="5979795"/>
              <a:ext cx="50981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这四类指标覆盖获客、执行、预算与归因，是管理层评估工作台是否值得持续投入的最短闭环。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1066800"/>
              <a:ext cx="11049000" cy="5219700"/>
            </a:xfrm>
            <a:prstGeom prst="rect">
              <a:avLst/>
            </a:prstGeom>
            <a:solidFill>
              <a:srgbClr val="11161C"/>
            </a:solidFill>
            <a:ln w="9525">
              <a:solidFill>
                <a:schemeClr val="accent4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571500" y="1066800"/>
              <a:ext cx="11049000" cy="609600"/>
            </a:xfrm>
            <a:prstGeom prst="rect">
              <a:avLst/>
            </a:prstGeom>
            <a:solidFill>
              <a:srgbClr val="10151B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762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19150" y="2038350"/>
              <a:ext cx="2247900" cy="3790950"/>
            </a:xfrm>
            <a:custGeom>
              <a:avLst/>
              <a:gdLst/>
              <a:ahLst/>
              <a:cxnLst/>
              <a:rect l="l" t="t" r="r" b="b"/>
              <a:pathLst>
                <a:path w="2247900" h="3790950">
                  <a:moveTo>
                    <a:pt x="57150" y="0"/>
                  </a:moveTo>
                  <a:lnTo>
                    <a:pt x="2190750" y="0"/>
                  </a:lnTo>
                  <a:cubicBezTo>
                    <a:pt x="2222313" y="0"/>
                    <a:pt x="2247900" y="25587"/>
                    <a:pt x="2247900" y="57150"/>
                  </a:cubicBezTo>
                  <a:lnTo>
                    <a:pt x="2247900" y="3733800"/>
                  </a:lnTo>
                  <a:cubicBezTo>
                    <a:pt x="2247900" y="3765363"/>
                    <a:pt x="2222313" y="3790950"/>
                    <a:pt x="2190750" y="3790950"/>
                  </a:cubicBezTo>
                  <a:lnTo>
                    <a:pt x="57150" y="3790950"/>
                  </a:lnTo>
                  <a:cubicBezTo>
                    <a:pt x="25587" y="3790950"/>
                    <a:pt x="0" y="3765363"/>
                    <a:pt x="0" y="3733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562350" y="2038350"/>
              <a:ext cx="5334000" cy="3790950"/>
            </a:xfrm>
            <a:custGeom>
              <a:avLst/>
              <a:gdLst/>
              <a:ahLst/>
              <a:cxnLst/>
              <a:rect l="l" t="t" r="r" b="b"/>
              <a:pathLst>
                <a:path w="5334000" h="3790950">
                  <a:moveTo>
                    <a:pt x="57150" y="0"/>
                  </a:moveTo>
                  <a:lnTo>
                    <a:pt x="5276850" y="0"/>
                  </a:lnTo>
                  <a:cubicBezTo>
                    <a:pt x="5308413" y="0"/>
                    <a:pt x="5334000" y="25587"/>
                    <a:pt x="5334000" y="57150"/>
                  </a:cubicBezTo>
                  <a:lnTo>
                    <a:pt x="5334000" y="3733800"/>
                  </a:lnTo>
                  <a:cubicBezTo>
                    <a:pt x="5334000" y="3765363"/>
                    <a:pt x="5308413" y="3790950"/>
                    <a:pt x="5276850" y="3790950"/>
                  </a:cubicBezTo>
                  <a:lnTo>
                    <a:pt x="57150" y="3790950"/>
                  </a:lnTo>
                  <a:cubicBezTo>
                    <a:pt x="25587" y="3790950"/>
                    <a:pt x="0" y="3765363"/>
                    <a:pt x="0" y="3733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2171D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163050" y="2038350"/>
              <a:ext cx="2209800" cy="3790950"/>
            </a:xfrm>
            <a:custGeom>
              <a:avLst/>
              <a:gdLst/>
              <a:ahLst/>
              <a:cxnLst/>
              <a:rect l="l" t="t" r="r" b="b"/>
              <a:pathLst>
                <a:path w="2209800" h="3790950">
                  <a:moveTo>
                    <a:pt x="57150" y="0"/>
                  </a:moveTo>
                  <a:lnTo>
                    <a:pt x="2152650" y="0"/>
                  </a:lnTo>
                  <a:cubicBezTo>
                    <a:pt x="2184213" y="0"/>
                    <a:pt x="2209800" y="25587"/>
                    <a:pt x="2209800" y="57150"/>
                  </a:cubicBezTo>
                  <a:lnTo>
                    <a:pt x="2209800" y="3733800"/>
                  </a:lnTo>
                  <a:cubicBezTo>
                    <a:pt x="2209800" y="3765363"/>
                    <a:pt x="2184213" y="3790950"/>
                    <a:pt x="2152650" y="3790950"/>
                  </a:cubicBezTo>
                  <a:lnTo>
                    <a:pt x="57150" y="3790950"/>
                  </a:lnTo>
                  <a:cubicBezTo>
                    <a:pt x="25587" y="3790950"/>
                    <a:pt x="0" y="3765363"/>
                    <a:pt x="0" y="37338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86200" y="3143250"/>
              <a:ext cx="4705350" cy="1466850"/>
            </a:xfrm>
            <a:custGeom>
              <a:avLst/>
              <a:gdLst/>
              <a:ahLst/>
              <a:cxnLst/>
              <a:rect l="l" t="t" r="r" b="b"/>
              <a:pathLst>
                <a:path w="4705350" h="1466850">
                  <a:moveTo>
                    <a:pt x="57150" y="0"/>
                  </a:moveTo>
                  <a:lnTo>
                    <a:pt x="4648200" y="0"/>
                  </a:lnTo>
                  <a:cubicBezTo>
                    <a:pt x="4679763" y="0"/>
                    <a:pt x="4705350" y="25587"/>
                    <a:pt x="4705350" y="57150"/>
                  </a:cubicBezTo>
                  <a:lnTo>
                    <a:pt x="4705350" y="1409700"/>
                  </a:lnTo>
                  <a:cubicBezTo>
                    <a:pt x="4705350" y="1441263"/>
                    <a:pt x="4679763" y="1466850"/>
                    <a:pt x="4648200" y="1466850"/>
                  </a:cubicBezTo>
                  <a:lnTo>
                    <a:pt x="57150" y="1466850"/>
                  </a:lnTo>
                  <a:cubicBezTo>
                    <a:pt x="25587" y="1466850"/>
                    <a:pt x="0" y="1441263"/>
                    <a:pt x="0" y="1409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22000"/>
                  </a:schemeClr>
                </a:gs>
                <a:gs pos="100000">
                  <a:schemeClr val="accent2">
                    <a:alpha val="18000"/>
                  </a:schemeClr>
                </a:gs>
              </a:gsLst>
              <a:lin ang="0" scaled="1"/>
            </a:gradFill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66738" y="406241"/>
            <a:ext cx="10963275" cy="6337459"/>
            <a:chOff x="566738" y="406241"/>
            <a:chExt cx="10963275" cy="6337459"/>
          </a:xfrm>
        </p:grpSpPr>
        <p:sp>
          <p:nvSpPr>
            <p:cNvPr id="12" name="TextBox 12"/>
            <p:cNvSpPr txBox="1"/>
            <p:nvPr/>
          </p:nvSpPr>
          <p:spPr>
            <a:xfrm>
              <a:off x="566738" y="406241"/>
              <a:ext cx="7036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图示展开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738" y="6596062"/>
              <a:ext cx="9109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64957" y="6596062"/>
              <a:ext cx="650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71500" y="904875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</a:gradFill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807720" y="1138238"/>
            <a:ext cx="10411587" cy="4547901"/>
            <a:chOff x="807720" y="1138238"/>
            <a:chExt cx="10411587" cy="4547901"/>
          </a:xfrm>
        </p:grpSpPr>
        <p:sp>
          <p:nvSpPr>
            <p:cNvPr id="17" name="TextBox 17"/>
            <p:cNvSpPr txBox="1"/>
            <p:nvPr/>
          </p:nvSpPr>
          <p:spPr>
            <a:xfrm>
              <a:off x="807720" y="1138238"/>
              <a:ext cx="27111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价值重心并不平均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2673" y="1557814"/>
              <a:ext cx="3960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企业在不同阶段的首要收益通常先落在线索与投放，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2673" y="178641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再扩展到内容与长期归因。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3938" y="22555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传播链起点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86188" y="22555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主轴关系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86888" y="22555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外溢路径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1842" y="2578418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四个模块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028700" y="2819400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28700" y="302895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57150" y="0"/>
                  </a:moveTo>
                  <a:lnTo>
                    <a:pt x="1771650" y="0"/>
                  </a:lnTo>
                  <a:cubicBezTo>
                    <a:pt x="1803213" y="0"/>
                    <a:pt x="1828800" y="25587"/>
                    <a:pt x="1828800" y="57150"/>
                  </a:cubicBezTo>
                  <a:lnTo>
                    <a:pt x="1828800" y="476250"/>
                  </a:lnTo>
                  <a:cubicBezTo>
                    <a:pt x="1828800" y="507813"/>
                    <a:pt x="1803213" y="533400"/>
                    <a:pt x="1771650" y="533400"/>
                  </a:cubicBezTo>
                  <a:lnTo>
                    <a:pt x="57150" y="533400"/>
                  </a:lnTo>
                  <a:cubicBezTo>
                    <a:pt x="25587" y="533400"/>
                    <a:pt x="0" y="507813"/>
                    <a:pt x="0" y="476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51B2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28700" y="369570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57150" y="0"/>
                  </a:moveTo>
                  <a:lnTo>
                    <a:pt x="1771650" y="0"/>
                  </a:lnTo>
                  <a:cubicBezTo>
                    <a:pt x="1803213" y="0"/>
                    <a:pt x="1828800" y="25587"/>
                    <a:pt x="1828800" y="57150"/>
                  </a:cubicBezTo>
                  <a:lnTo>
                    <a:pt x="1828800" y="476250"/>
                  </a:lnTo>
                  <a:cubicBezTo>
                    <a:pt x="1828800" y="507813"/>
                    <a:pt x="1803213" y="533400"/>
                    <a:pt x="1771650" y="533400"/>
                  </a:cubicBezTo>
                  <a:lnTo>
                    <a:pt x="57150" y="533400"/>
                  </a:lnTo>
                  <a:cubicBezTo>
                    <a:pt x="25587" y="533400"/>
                    <a:pt x="0" y="507813"/>
                    <a:pt x="0" y="476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51B2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28700" y="436245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57150" y="0"/>
                  </a:moveTo>
                  <a:lnTo>
                    <a:pt x="1771650" y="0"/>
                  </a:lnTo>
                  <a:cubicBezTo>
                    <a:pt x="1803213" y="0"/>
                    <a:pt x="1828800" y="25587"/>
                    <a:pt x="1828800" y="57150"/>
                  </a:cubicBezTo>
                  <a:lnTo>
                    <a:pt x="1828800" y="476250"/>
                  </a:lnTo>
                  <a:cubicBezTo>
                    <a:pt x="1828800" y="507813"/>
                    <a:pt x="1803213" y="533400"/>
                    <a:pt x="1771650" y="533400"/>
                  </a:cubicBezTo>
                  <a:lnTo>
                    <a:pt x="57150" y="533400"/>
                  </a:lnTo>
                  <a:cubicBezTo>
                    <a:pt x="25587" y="533400"/>
                    <a:pt x="0" y="507813"/>
                    <a:pt x="0" y="476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91E23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28700" y="502920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57150" y="0"/>
                  </a:moveTo>
                  <a:lnTo>
                    <a:pt x="1771650" y="0"/>
                  </a:lnTo>
                  <a:cubicBezTo>
                    <a:pt x="1803213" y="0"/>
                    <a:pt x="1828800" y="25587"/>
                    <a:pt x="1828800" y="57150"/>
                  </a:cubicBezTo>
                  <a:lnTo>
                    <a:pt x="1828800" y="476250"/>
                  </a:lnTo>
                  <a:cubicBezTo>
                    <a:pt x="1828800" y="507813"/>
                    <a:pt x="1803213" y="533400"/>
                    <a:pt x="1771650" y="533400"/>
                  </a:cubicBezTo>
                  <a:lnTo>
                    <a:pt x="57150" y="533400"/>
                  </a:lnTo>
                  <a:cubicBezTo>
                    <a:pt x="25587" y="533400"/>
                    <a:pt x="0" y="507813"/>
                    <a:pt x="0" y="476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51B2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12342" y="3207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30379" y="312610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78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12342" y="3873818"/>
              <a:ext cx="560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30379" y="37928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85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12342" y="45405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04974" y="44434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92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12342" y="5207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30379" y="51263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88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3048000" y="3295650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cubicBezTo>
                    <a:pt x="381000" y="0"/>
                    <a:pt x="419100" y="0"/>
                    <a:pt x="800100" y="0"/>
                  </a:cubicBezTo>
                </a:path>
              </a:pathLst>
            </a:custGeom>
            <a:noFill/>
            <a:ln w="19050">
              <a:solidFill>
                <a:srgbClr val="5C585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048000" y="3676650"/>
              <a:ext cx="1085850" cy="285750"/>
            </a:xfrm>
            <a:custGeom>
              <a:avLst/>
              <a:gdLst/>
              <a:ahLst/>
              <a:cxnLst/>
              <a:rect l="l" t="t" r="r" b="b"/>
              <a:pathLst>
                <a:path w="1085850" h="285750">
                  <a:moveTo>
                    <a:pt x="0" y="285750"/>
                  </a:moveTo>
                  <a:cubicBezTo>
                    <a:pt x="495300" y="285750"/>
                    <a:pt x="590550" y="0"/>
                    <a:pt x="1085850" y="0"/>
                  </a:cubicBezTo>
                </a:path>
              </a:pathLst>
            </a:custGeom>
            <a:noFill/>
            <a:ln w="19050">
              <a:solidFill>
                <a:srgbClr val="5C5852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3048000" y="3876675"/>
              <a:ext cx="1295400" cy="752475"/>
            </a:xfrm>
            <a:custGeom>
              <a:avLst/>
              <a:gdLst/>
              <a:ahLst/>
              <a:cxnLst/>
              <a:rect l="l" t="t" r="r" b="b"/>
              <a:pathLst>
                <a:path w="1295400" h="752475">
                  <a:moveTo>
                    <a:pt x="0" y="752475"/>
                  </a:moveTo>
                  <a:cubicBezTo>
                    <a:pt x="685800" y="752475"/>
                    <a:pt x="800100" y="0"/>
                    <a:pt x="1295400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3048000" y="4076700"/>
              <a:ext cx="1428750" cy="1219200"/>
            </a:xfrm>
            <a:custGeom>
              <a:avLst/>
              <a:gdLst/>
              <a:ahLst/>
              <a:cxnLst/>
              <a:rect l="l" t="t" r="r" b="b"/>
              <a:pathLst>
                <a:path w="1428750" h="1219200">
                  <a:moveTo>
                    <a:pt x="0" y="1219200"/>
                  </a:moveTo>
                  <a:cubicBezTo>
                    <a:pt x="552450" y="1219200"/>
                    <a:pt x="666750" y="0"/>
                    <a:pt x="1428750" y="0"/>
                  </a:cubicBezTo>
                </a:path>
              </a:pathLst>
            </a:custGeom>
            <a:noFill/>
            <a:ln w="19050">
              <a:solidFill>
                <a:schemeClr val="dk2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4171950" y="2686050"/>
              <a:ext cx="1409700" cy="685800"/>
            </a:xfrm>
            <a:custGeom>
              <a:avLst/>
              <a:gdLst/>
              <a:ahLst/>
              <a:cxnLst/>
              <a:rect l="l" t="t" r="r" b="b"/>
              <a:pathLst>
                <a:path w="1409700" h="685800">
                  <a:moveTo>
                    <a:pt x="57150" y="0"/>
                  </a:moveTo>
                  <a:lnTo>
                    <a:pt x="1352550" y="0"/>
                  </a:lnTo>
                  <a:cubicBezTo>
                    <a:pt x="1384113" y="0"/>
                    <a:pt x="1409700" y="25587"/>
                    <a:pt x="1409700" y="57150"/>
                  </a:cubicBezTo>
                  <a:lnTo>
                    <a:pt x="1409700" y="628650"/>
                  </a:lnTo>
                  <a:cubicBezTo>
                    <a:pt x="1409700" y="660213"/>
                    <a:pt x="1384113" y="685800"/>
                    <a:pt x="1352550" y="685800"/>
                  </a:cubicBezTo>
                  <a:lnTo>
                    <a:pt x="57150" y="685800"/>
                  </a:lnTo>
                  <a:cubicBezTo>
                    <a:pt x="25587" y="685800"/>
                    <a:pt x="0" y="660213"/>
                    <a:pt x="0" y="628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71C2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829300" y="2686050"/>
              <a:ext cx="1409700" cy="685800"/>
            </a:xfrm>
            <a:custGeom>
              <a:avLst/>
              <a:gdLst/>
              <a:ahLst/>
              <a:cxnLst/>
              <a:rect l="l" t="t" r="r" b="b"/>
              <a:pathLst>
                <a:path w="1409700" h="685800">
                  <a:moveTo>
                    <a:pt x="57150" y="0"/>
                  </a:moveTo>
                  <a:lnTo>
                    <a:pt x="1352550" y="0"/>
                  </a:lnTo>
                  <a:cubicBezTo>
                    <a:pt x="1384113" y="0"/>
                    <a:pt x="1409700" y="25587"/>
                    <a:pt x="1409700" y="57150"/>
                  </a:cubicBezTo>
                  <a:lnTo>
                    <a:pt x="1409700" y="628650"/>
                  </a:lnTo>
                  <a:cubicBezTo>
                    <a:pt x="1409700" y="660213"/>
                    <a:pt x="1384113" y="685800"/>
                    <a:pt x="1352550" y="685800"/>
                  </a:cubicBezTo>
                  <a:lnTo>
                    <a:pt x="57150" y="685800"/>
                  </a:lnTo>
                  <a:cubicBezTo>
                    <a:pt x="25587" y="685800"/>
                    <a:pt x="0" y="660213"/>
                    <a:pt x="0" y="628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71C2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486650" y="2686050"/>
              <a:ext cx="1104900" cy="685800"/>
            </a:xfrm>
            <a:custGeom>
              <a:avLst/>
              <a:gdLst/>
              <a:ahLst/>
              <a:cxnLst/>
              <a:rect l="l" t="t" r="r" b="b"/>
              <a:pathLst>
                <a:path w="1104900" h="685800">
                  <a:moveTo>
                    <a:pt x="57150" y="0"/>
                  </a:moveTo>
                  <a:lnTo>
                    <a:pt x="1047750" y="0"/>
                  </a:lnTo>
                  <a:cubicBezTo>
                    <a:pt x="1079313" y="0"/>
                    <a:pt x="1104900" y="25587"/>
                    <a:pt x="1104900" y="57150"/>
                  </a:cubicBezTo>
                  <a:lnTo>
                    <a:pt x="1104900" y="628650"/>
                  </a:lnTo>
                  <a:cubicBezTo>
                    <a:pt x="1104900" y="660213"/>
                    <a:pt x="1079313" y="685800"/>
                    <a:pt x="1047750" y="685800"/>
                  </a:cubicBezTo>
                  <a:lnTo>
                    <a:pt x="57150" y="685800"/>
                  </a:lnTo>
                  <a:cubicBezTo>
                    <a:pt x="25587" y="685800"/>
                    <a:pt x="0" y="660213"/>
                    <a:pt x="0" y="628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71C2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19588" y="2854166"/>
              <a:ext cx="3427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17492" y="3035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线索获取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19588" y="32746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先拿到可见回报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76938" y="2854166"/>
              <a:ext cx="3427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74842" y="3035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投放优化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76938" y="32746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预算与动作同频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34288" y="2854166"/>
              <a:ext cx="3427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32192" y="3035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长期归因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34288" y="32746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沉淀经营判断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4876800" y="37147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534150" y="37147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039100" y="37147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4191000" y="4267200"/>
              <a:ext cx="4114800" cy="1066800"/>
            </a:xfrm>
            <a:custGeom>
              <a:avLst/>
              <a:gdLst/>
              <a:ahLst/>
              <a:cxnLst/>
              <a:rect l="l" t="t" r="r" b="b"/>
              <a:pathLst>
                <a:path w="4114800" h="1066800">
                  <a:moveTo>
                    <a:pt x="57150" y="0"/>
                  </a:moveTo>
                  <a:lnTo>
                    <a:pt x="4057650" y="0"/>
                  </a:lnTo>
                  <a:cubicBezTo>
                    <a:pt x="4089213" y="0"/>
                    <a:pt x="4114800" y="25587"/>
                    <a:pt x="4114800" y="57150"/>
                  </a:cubicBezTo>
                  <a:lnTo>
                    <a:pt x="4114800" y="1009650"/>
                  </a:lnTo>
                  <a:cubicBezTo>
                    <a:pt x="4114800" y="1041213"/>
                    <a:pt x="4089213" y="1066800"/>
                    <a:pt x="4057650" y="1066800"/>
                  </a:cubicBezTo>
                  <a:lnTo>
                    <a:pt x="57150" y="1066800"/>
                  </a:lnTo>
                  <a:cubicBezTo>
                    <a:pt x="25587" y="1066800"/>
                    <a:pt x="0" y="1041213"/>
                    <a:pt x="0" y="1009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F141A"/>
            </a:solidFill>
            <a:ln w="9525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460748" y="4279582"/>
              <a:ext cx="5495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92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11318" y="4441508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执行与度量优先承接价值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71035" y="4774406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自动化执行把策略直接转成触达、分发和预算动作，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471035" y="4983956"/>
              <a:ext cx="3646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效果度量随即把结果回收成统一口径，形成最短闭环。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591550" y="302895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8591550" y="403860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8591550" y="504825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429750" y="2705100"/>
              <a:ext cx="1676400" cy="781050"/>
            </a:xfrm>
            <a:custGeom>
              <a:avLst/>
              <a:gdLst/>
              <a:ahLst/>
              <a:cxnLst/>
              <a:rect l="l" t="t" r="r" b="b"/>
              <a:pathLst>
                <a:path w="1676400" h="781050">
                  <a:moveTo>
                    <a:pt x="57150" y="0"/>
                  </a:moveTo>
                  <a:lnTo>
                    <a:pt x="1619250" y="0"/>
                  </a:lnTo>
                  <a:cubicBezTo>
                    <a:pt x="1650813" y="0"/>
                    <a:pt x="1676400" y="25587"/>
                    <a:pt x="1676400" y="57150"/>
                  </a:cubicBezTo>
                  <a:lnTo>
                    <a:pt x="1676400" y="723900"/>
                  </a:lnTo>
                  <a:cubicBezTo>
                    <a:pt x="1676400" y="755463"/>
                    <a:pt x="1650813" y="781050"/>
                    <a:pt x="1619250" y="781050"/>
                  </a:cubicBezTo>
                  <a:lnTo>
                    <a:pt x="57150" y="781050"/>
                  </a:lnTo>
                  <a:cubicBezTo>
                    <a:pt x="25587" y="781050"/>
                    <a:pt x="0" y="755463"/>
                    <a:pt x="0" y="7239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51B22"/>
            </a:solidFill>
            <a:ln w="9525">
              <a:solidFill>
                <a:schemeClr val="accent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634538" y="286512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先做闭环，再做扩展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33204" y="3089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统一口径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634347" y="330469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数据整合决定看板、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634347" y="3476149"/>
              <a:ext cx="13224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归因和预算的可信度。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9429750" y="3714750"/>
              <a:ext cx="1676400" cy="781050"/>
            </a:xfrm>
            <a:custGeom>
              <a:avLst/>
              <a:gdLst/>
              <a:ahLst/>
              <a:cxnLst/>
              <a:rect l="l" t="t" r="r" b="b"/>
              <a:pathLst>
                <a:path w="1676400" h="781050">
                  <a:moveTo>
                    <a:pt x="57150" y="0"/>
                  </a:moveTo>
                  <a:lnTo>
                    <a:pt x="1619250" y="0"/>
                  </a:lnTo>
                  <a:cubicBezTo>
                    <a:pt x="1650813" y="0"/>
                    <a:pt x="1676400" y="25587"/>
                    <a:pt x="1676400" y="57150"/>
                  </a:cubicBezTo>
                  <a:lnTo>
                    <a:pt x="1676400" y="723900"/>
                  </a:lnTo>
                  <a:cubicBezTo>
                    <a:pt x="1676400" y="755463"/>
                    <a:pt x="1650813" y="781050"/>
                    <a:pt x="1619250" y="781050"/>
                  </a:cubicBezTo>
                  <a:lnTo>
                    <a:pt x="57150" y="781050"/>
                  </a:lnTo>
                  <a:cubicBezTo>
                    <a:pt x="25587" y="781050"/>
                    <a:pt x="0" y="755463"/>
                    <a:pt x="0" y="7239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51B2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634538" y="38747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主轴关系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33204" y="40995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经营判断更快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34347" y="4314349"/>
              <a:ext cx="12372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AI分析先改变分群、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634347" y="4485799"/>
              <a:ext cx="1059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预测与决策节奏。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9429750" y="4724400"/>
              <a:ext cx="1676400" cy="781050"/>
            </a:xfrm>
            <a:custGeom>
              <a:avLst/>
              <a:gdLst/>
              <a:ahLst/>
              <a:cxnLst/>
              <a:rect l="l" t="t" r="r" b="b"/>
              <a:pathLst>
                <a:path w="1676400" h="781050">
                  <a:moveTo>
                    <a:pt x="57150" y="0"/>
                  </a:moveTo>
                  <a:lnTo>
                    <a:pt x="1619250" y="0"/>
                  </a:lnTo>
                  <a:cubicBezTo>
                    <a:pt x="1650813" y="0"/>
                    <a:pt x="1676400" y="25587"/>
                    <a:pt x="1676400" y="57150"/>
                  </a:cubicBezTo>
                  <a:lnTo>
                    <a:pt x="1676400" y="723900"/>
                  </a:lnTo>
                  <a:cubicBezTo>
                    <a:pt x="1676400" y="755463"/>
                    <a:pt x="1650813" y="781050"/>
                    <a:pt x="1619250" y="781050"/>
                  </a:cubicBezTo>
                  <a:lnTo>
                    <a:pt x="57150" y="781050"/>
                  </a:lnTo>
                  <a:cubicBezTo>
                    <a:pt x="25587" y="781050"/>
                    <a:pt x="0" y="755463"/>
                    <a:pt x="0" y="7239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51B2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634538" y="48844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外溢路径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633204" y="51092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内容与品牌延展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34347" y="532399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当执行稳定后，价值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34347" y="5495449"/>
              <a:ext cx="15849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再向内容和长期归因扩展。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023938" y="5960745"/>
            <a:ext cx="4492371" cy="176212"/>
            <a:chOff x="1023938" y="5960745"/>
            <a:chExt cx="4492371" cy="176212"/>
          </a:xfrm>
        </p:grpSpPr>
        <p:sp>
          <p:nvSpPr>
            <p:cNvPr id="80" name="TextBox 80"/>
            <p:cNvSpPr txBox="1"/>
            <p:nvPr/>
          </p:nvSpPr>
          <p:spPr>
            <a:xfrm>
              <a:off x="1023938" y="5960745"/>
              <a:ext cx="4492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读图方式：从左侧模块能力进入，中部主轴呈现价值承接顺序，右侧说明外溢方向。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8000"/>
                  </a:schemeClr>
                </a:gs>
                <a:gs pos="100000">
                  <a:schemeClr val="lt1">
                    <a:alpha val="96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571500" y="1143000"/>
              <a:ext cx="11049000" cy="4762500"/>
            </a:xfrm>
            <a:custGeom>
              <a:avLst/>
              <a:gdLst/>
              <a:ahLst/>
              <a:cxnLst/>
              <a:rect l="l" t="t" r="r" b="b"/>
              <a:pathLst>
                <a:path w="11049000" h="4762500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4705350"/>
                  </a:lnTo>
                  <a:cubicBezTo>
                    <a:pt x="11049000" y="4736913"/>
                    <a:pt x="11023413" y="4762500"/>
                    <a:pt x="10991850" y="4762500"/>
                  </a:cubicBezTo>
                  <a:lnTo>
                    <a:pt x="57150" y="4762500"/>
                  </a:lnTo>
                  <a:cubicBezTo>
                    <a:pt x="25587" y="4762500"/>
                    <a:pt x="0" y="4736913"/>
                    <a:pt x="0" y="4705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1161D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1143000"/>
              <a:ext cx="95250" cy="4762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90550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66738" y="310991"/>
            <a:ext cx="11053762" cy="6346985"/>
            <a:chOff x="566738" y="310991"/>
            <a:chExt cx="11053762" cy="6346985"/>
          </a:xfrm>
        </p:grpSpPr>
        <p:sp>
          <p:nvSpPr>
            <p:cNvPr id="8" name="TextBox 8"/>
            <p:cNvSpPr txBox="1"/>
            <p:nvPr/>
          </p:nvSpPr>
          <p:spPr>
            <a:xfrm>
              <a:off x="566738" y="310991"/>
              <a:ext cx="7844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执行排期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542925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638175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738" y="6510338"/>
              <a:ext cx="9109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30166" y="6510338"/>
              <a:ext cx="1855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P08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38200" y="1524952"/>
            <a:ext cx="10591800" cy="4460749"/>
            <a:chOff x="838200" y="1524952"/>
            <a:chExt cx="10591800" cy="4460749"/>
          </a:xfrm>
        </p:grpSpPr>
        <p:sp>
          <p:nvSpPr>
            <p:cNvPr id="14" name="TextBox 14"/>
            <p:cNvSpPr txBox="1"/>
            <p:nvPr/>
          </p:nvSpPr>
          <p:spPr>
            <a:xfrm>
              <a:off x="851916" y="1524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执行排期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5820" y="1814512"/>
              <a:ext cx="20727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90天上线建议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1154" y="23469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建议以试点业务线先跑通数据、分析、执行、度量闭环，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26136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再按经营节奏逐步接管更多渠道与团队。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57250" y="2857500"/>
              <a:ext cx="2381250" cy="381000"/>
            </a:xfrm>
            <a:custGeom>
              <a:avLst/>
              <a:gdLst/>
              <a:ahLst/>
              <a:cxnLst/>
              <a:rect l="l" t="t" r="r" b="b"/>
              <a:pathLst>
                <a:path w="2381250" h="3810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42900"/>
                  </a:lnTo>
                  <a:cubicBezTo>
                    <a:pt x="2381250" y="363942"/>
                    <a:pt x="2364192" y="381000"/>
                    <a:pt x="234315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352800" y="2857500"/>
              <a:ext cx="2762250" cy="381000"/>
            </a:xfrm>
            <a:custGeom>
              <a:avLst/>
              <a:gdLst/>
              <a:ahLst/>
              <a:cxnLst/>
              <a:rect l="l" t="t" r="r" b="b"/>
              <a:pathLst>
                <a:path w="2762250" h="381000">
                  <a:moveTo>
                    <a:pt x="38100" y="0"/>
                  </a:moveTo>
                  <a:lnTo>
                    <a:pt x="2724150" y="0"/>
                  </a:lnTo>
                  <a:cubicBezTo>
                    <a:pt x="2745192" y="0"/>
                    <a:pt x="2762250" y="17058"/>
                    <a:pt x="2762250" y="38100"/>
                  </a:cubicBezTo>
                  <a:lnTo>
                    <a:pt x="2762250" y="342900"/>
                  </a:lnTo>
                  <a:cubicBezTo>
                    <a:pt x="2762250" y="363942"/>
                    <a:pt x="2745192" y="381000"/>
                    <a:pt x="272415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229350" y="2857500"/>
              <a:ext cx="1428750" cy="381000"/>
            </a:xfrm>
            <a:custGeom>
              <a:avLst/>
              <a:gdLst/>
              <a:ahLst/>
              <a:cxnLst/>
              <a:rect l="l" t="t" r="r" b="b"/>
              <a:pathLst>
                <a:path w="1428750" h="381000">
                  <a:moveTo>
                    <a:pt x="38100" y="0"/>
                  </a:moveTo>
                  <a:lnTo>
                    <a:pt x="1390650" y="0"/>
                  </a:lnTo>
                  <a:cubicBezTo>
                    <a:pt x="1411692" y="0"/>
                    <a:pt x="1428750" y="17058"/>
                    <a:pt x="1428750" y="38100"/>
                  </a:cubicBezTo>
                  <a:lnTo>
                    <a:pt x="1428750" y="342900"/>
                  </a:lnTo>
                  <a:cubicBezTo>
                    <a:pt x="1428750" y="363942"/>
                    <a:pt x="1411692" y="381000"/>
                    <a:pt x="139065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12094" y="2974181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先试点，再扩面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19525" y="2974181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管理层需同步设定治理口径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35115" y="29741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收束判断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714500" y="4133850"/>
              <a:ext cx="8667750" cy="9525"/>
            </a:xfrm>
            <a:custGeom>
              <a:avLst/>
              <a:gdLst/>
              <a:ahLst/>
              <a:cxnLst/>
              <a:rect l="l" t="t" r="r" b="b"/>
              <a:pathLst>
                <a:path w="8667750" h="9525">
                  <a:moveTo>
                    <a:pt x="0" y="0"/>
                  </a:moveTo>
                  <a:lnTo>
                    <a:pt x="8667750" y="0"/>
                  </a:lnTo>
                </a:path>
              </a:pathLst>
            </a:custGeom>
            <a:noFill/>
            <a:ln w="38100" cap="rnd">
              <a:solidFill>
                <a:schemeClr val="accent4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714500" y="41338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572000" y="41338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524750" y="41338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562100" y="39814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dk2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400550" y="3962400"/>
              <a:ext cx="342900" cy="342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353300" y="3962400"/>
              <a:ext cx="342900" cy="342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229850" y="39814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76419" y="40747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94857" y="4076224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47607" y="4076224"/>
              <a:ext cx="1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07519" y="40843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E1116"/>
                  </a:solidFill>
                  <a:latin typeface="Consolas"/>
                  <a:ea typeface="Consolas"/>
                  <a:cs typeface="Consolas"/>
                </a:rPr>
                <a:t>90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3333750" y="3600450"/>
              <a:ext cx="2476500" cy="323850"/>
            </a:xfrm>
            <a:custGeom>
              <a:avLst/>
              <a:gdLst/>
              <a:ahLst/>
              <a:cxnLst/>
              <a:rect l="l" t="t" r="r" b="b"/>
              <a:pathLst>
                <a:path w="2476500" h="323850">
                  <a:moveTo>
                    <a:pt x="38100" y="0"/>
                  </a:moveTo>
                  <a:lnTo>
                    <a:pt x="2438400" y="0"/>
                  </a:lnTo>
                  <a:cubicBezTo>
                    <a:pt x="2459442" y="0"/>
                    <a:pt x="2476500" y="17058"/>
                    <a:pt x="2476500" y="38100"/>
                  </a:cubicBezTo>
                  <a:lnTo>
                    <a:pt x="2476500" y="285750"/>
                  </a:lnTo>
                  <a:cubicBezTo>
                    <a:pt x="2476500" y="306792"/>
                    <a:pt x="2459442" y="323850"/>
                    <a:pt x="24384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51A20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67901" y="3631882"/>
              <a:ext cx="6081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30 天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4457700" y="3924300"/>
              <a:ext cx="228600" cy="114300"/>
            </a:xfrm>
            <a:custGeom>
              <a:avLst/>
              <a:gdLst/>
              <a:ahLst/>
              <a:cxnLst/>
              <a:rect l="l" t="t" r="r" b="b"/>
              <a:pathLst>
                <a:path w="228600" h="114300">
                  <a:moveTo>
                    <a:pt x="114300" y="0"/>
                  </a:moveTo>
                  <a:lnTo>
                    <a:pt x="0" y="114300"/>
                  </a:lnTo>
                  <a:lnTo>
                    <a:pt x="228600" y="114300"/>
                  </a:lnTo>
                  <a:close/>
                </a:path>
              </a:pathLst>
            </a:custGeom>
            <a:solidFill>
              <a:srgbClr val="151A20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286500" y="4533900"/>
              <a:ext cx="2476500" cy="323850"/>
            </a:xfrm>
            <a:custGeom>
              <a:avLst/>
              <a:gdLst/>
              <a:ahLst/>
              <a:cxnLst/>
              <a:rect l="l" t="t" r="r" b="b"/>
              <a:pathLst>
                <a:path w="2476500" h="323850">
                  <a:moveTo>
                    <a:pt x="38100" y="0"/>
                  </a:moveTo>
                  <a:lnTo>
                    <a:pt x="2438400" y="0"/>
                  </a:lnTo>
                  <a:cubicBezTo>
                    <a:pt x="2459442" y="0"/>
                    <a:pt x="2476500" y="17058"/>
                    <a:pt x="2476500" y="38100"/>
                  </a:cubicBezTo>
                  <a:lnTo>
                    <a:pt x="2476500" y="285750"/>
                  </a:lnTo>
                  <a:cubicBezTo>
                    <a:pt x="2476500" y="306792"/>
                    <a:pt x="2459442" y="323850"/>
                    <a:pt x="24384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51A20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20651" y="4565332"/>
              <a:ext cx="6081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60 天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7410450" y="4419600"/>
              <a:ext cx="228600" cy="114300"/>
            </a:xfrm>
            <a:custGeom>
              <a:avLst/>
              <a:gdLst/>
              <a:ahLst/>
              <a:cxnLst/>
              <a:rect l="l" t="t" r="r" b="b"/>
              <a:pathLst>
                <a:path w="228600" h="114300">
                  <a:moveTo>
                    <a:pt x="114300" y="114300"/>
                  </a:moveTo>
                  <a:lnTo>
                    <a:pt x="0" y="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51A20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34450" y="3600450"/>
              <a:ext cx="2476500" cy="323850"/>
            </a:xfrm>
            <a:custGeom>
              <a:avLst/>
              <a:gdLst/>
              <a:ahLst/>
              <a:cxnLst/>
              <a:rect l="l" t="t" r="r" b="b"/>
              <a:pathLst>
                <a:path w="2476500" h="323850">
                  <a:moveTo>
                    <a:pt x="38100" y="0"/>
                  </a:moveTo>
                  <a:lnTo>
                    <a:pt x="2438400" y="0"/>
                  </a:lnTo>
                  <a:cubicBezTo>
                    <a:pt x="2459442" y="0"/>
                    <a:pt x="2476500" y="17058"/>
                    <a:pt x="2476500" y="38100"/>
                  </a:cubicBezTo>
                  <a:lnTo>
                    <a:pt x="2476500" y="285750"/>
                  </a:lnTo>
                  <a:cubicBezTo>
                    <a:pt x="2476500" y="306792"/>
                    <a:pt x="2459442" y="323850"/>
                    <a:pt x="2438400" y="323850"/>
                  </a:cubicBezTo>
                  <a:lnTo>
                    <a:pt x="38100" y="323850"/>
                  </a:lnTo>
                  <a:cubicBezTo>
                    <a:pt x="17058" y="323850"/>
                    <a:pt x="0" y="306792"/>
                    <a:pt x="0" y="2857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51A20"/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68601" y="3631882"/>
              <a:ext cx="6081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90 天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0267950" y="3924300"/>
              <a:ext cx="228600" cy="114300"/>
            </a:xfrm>
            <a:custGeom>
              <a:avLst/>
              <a:gdLst/>
              <a:ahLst/>
              <a:cxnLst/>
              <a:rect l="l" t="t" r="r" b="b"/>
              <a:pathLst>
                <a:path w="228600" h="114300">
                  <a:moveTo>
                    <a:pt x="114300" y="0"/>
                  </a:moveTo>
                  <a:lnTo>
                    <a:pt x="0" y="114300"/>
                  </a:lnTo>
                  <a:lnTo>
                    <a:pt x="228600" y="114300"/>
                  </a:lnTo>
                  <a:close/>
                </a:path>
              </a:pathLst>
            </a:custGeom>
            <a:solidFill>
              <a:srgbClr val="151A20"/>
            </a:solidFill>
            <a:ln w="9525">
              <a:solidFill>
                <a:schemeClr val="accent4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2724150" y="4457700"/>
              <a:ext cx="3695700" cy="971550"/>
            </a:xfrm>
            <a:custGeom>
              <a:avLst/>
              <a:gdLst/>
              <a:ahLst/>
              <a:cxnLst/>
              <a:rect l="l" t="t" r="r" b="b"/>
              <a:pathLst>
                <a:path w="3695700" h="971550">
                  <a:moveTo>
                    <a:pt x="57150" y="0"/>
                  </a:moveTo>
                  <a:lnTo>
                    <a:pt x="3638550" y="0"/>
                  </a:lnTo>
                  <a:cubicBezTo>
                    <a:pt x="3670113" y="0"/>
                    <a:pt x="3695700" y="25587"/>
                    <a:pt x="3695700" y="57150"/>
                  </a:cubicBezTo>
                  <a:lnTo>
                    <a:pt x="3695700" y="914400"/>
                  </a:lnTo>
                  <a:cubicBezTo>
                    <a:pt x="3695700" y="945963"/>
                    <a:pt x="3670113" y="971550"/>
                    <a:pt x="3638550" y="971550"/>
                  </a:cubicBezTo>
                  <a:lnTo>
                    <a:pt x="57150" y="971550"/>
                  </a:lnTo>
                  <a:cubicBezTo>
                    <a:pt x="25587" y="971550"/>
                    <a:pt x="0" y="945963"/>
                    <a:pt x="0" y="9144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5676900" y="3124200"/>
              <a:ext cx="3695700" cy="971550"/>
            </a:xfrm>
            <a:custGeom>
              <a:avLst/>
              <a:gdLst/>
              <a:ahLst/>
              <a:cxnLst/>
              <a:rect l="l" t="t" r="r" b="b"/>
              <a:pathLst>
                <a:path w="3695700" h="971550">
                  <a:moveTo>
                    <a:pt x="57150" y="0"/>
                  </a:moveTo>
                  <a:lnTo>
                    <a:pt x="3638550" y="0"/>
                  </a:lnTo>
                  <a:cubicBezTo>
                    <a:pt x="3670113" y="0"/>
                    <a:pt x="3695700" y="25587"/>
                    <a:pt x="3695700" y="57150"/>
                  </a:cubicBezTo>
                  <a:lnTo>
                    <a:pt x="3695700" y="914400"/>
                  </a:lnTo>
                  <a:cubicBezTo>
                    <a:pt x="3695700" y="945963"/>
                    <a:pt x="3670113" y="971550"/>
                    <a:pt x="3638550" y="971550"/>
                  </a:cubicBezTo>
                  <a:lnTo>
                    <a:pt x="57150" y="971550"/>
                  </a:lnTo>
                  <a:cubicBezTo>
                    <a:pt x="25587" y="971550"/>
                    <a:pt x="0" y="945963"/>
                    <a:pt x="0" y="9144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020050" y="4457700"/>
              <a:ext cx="3409950" cy="971550"/>
            </a:xfrm>
            <a:custGeom>
              <a:avLst/>
              <a:gdLst/>
              <a:ahLst/>
              <a:cxnLst/>
              <a:rect l="l" t="t" r="r" b="b"/>
              <a:pathLst>
                <a:path w="3409950" h="971550">
                  <a:moveTo>
                    <a:pt x="57150" y="0"/>
                  </a:moveTo>
                  <a:lnTo>
                    <a:pt x="3352800" y="0"/>
                  </a:lnTo>
                  <a:cubicBezTo>
                    <a:pt x="3384363" y="0"/>
                    <a:pt x="3409950" y="25587"/>
                    <a:pt x="3409950" y="57150"/>
                  </a:cubicBezTo>
                  <a:lnTo>
                    <a:pt x="3409950" y="914400"/>
                  </a:lnTo>
                  <a:cubicBezTo>
                    <a:pt x="3409950" y="945963"/>
                    <a:pt x="3384363" y="971550"/>
                    <a:pt x="3352800" y="971550"/>
                  </a:cubicBezTo>
                  <a:lnTo>
                    <a:pt x="57150" y="971550"/>
                  </a:lnTo>
                  <a:cubicBezTo>
                    <a:pt x="25587" y="971550"/>
                    <a:pt x="0" y="945963"/>
                    <a:pt x="0" y="9144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986088" y="4646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阶段目标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84754" y="48806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完成数据源接入、指标口径统一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84754" y="5128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与首个试点场景确认。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38838" y="33127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阶段目标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37504" y="3547110"/>
              <a:ext cx="23762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上线AI分析与自动化执行，建立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37504" y="37947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内容、分群和投放联动机制。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81988" y="4646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阶段目标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80654" y="48806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接入经营复盘流程，按线索质量、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80654" y="51282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转化效率与预算回报决定扩面节奏。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38200" y="5638800"/>
              <a:ext cx="10591800" cy="952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0392" y="5721668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最终落点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89404" y="573786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先把可度量闭环跑稳，再用统一治理口径扩到更多业务线。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779897" y="1492091"/>
            <a:ext cx="1970590" cy="2987516"/>
            <a:chOff x="8779897" y="1492091"/>
            <a:chExt cx="1970590" cy="2987516"/>
          </a:xfrm>
        </p:grpSpPr>
        <p:sp>
          <p:nvSpPr>
            <p:cNvPr id="61" name="TextBox 61"/>
            <p:cNvSpPr txBox="1"/>
            <p:nvPr/>
          </p:nvSpPr>
          <p:spPr>
            <a:xfrm>
              <a:off x="8779897" y="1492091"/>
              <a:ext cx="17976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data → insight → action → measure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14014" y="43033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接入经营复盘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C9C5BE"/>
      </a:dk1>
      <a:lt1>
        <a:srgbClr val="0E1116"/>
      </a:lt1>
      <a:dk2>
        <a:srgbClr val="8A857E"/>
      </a:dk2>
      <a:lt2>
        <a:srgbClr val="1A1F26"/>
      </a:lt2>
      <a:accent1>
        <a:srgbClr val="E8E6E1"/>
      </a:accent1>
      <a:accent2>
        <a:srgbClr val="E63946"/>
      </a:accent2>
      <a:accent3>
        <a:srgbClr val="F4A261"/>
      </a:accent3>
      <a:accent4>
        <a:srgbClr val="2A2F36"/>
      </a:accent4>
      <a:accent5>
        <a:srgbClr val="5C5852"/>
      </a:accent5>
      <a:accent6>
        <a:srgbClr val="52B788"/>
      </a:accent6>
      <a:hlink>
        <a:srgbClr val="E63946"/>
      </a:hlink>
      <a:folHlink>
        <a:srgbClr val="F4A261"/>
      </a:folHlink>
    </a:clrScheme>
    <a:fontScheme name="PPT Master">
      <a:majorFont>
        <a:latin typeface="Cambria"/>
        <a:ea typeface="Microsoft YaHei"/>
        <a:cs typeface="Cambr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C9C5BE"/>
      </a:dk1>
      <a:lt1>
        <a:srgbClr val="0E1116"/>
      </a:lt1>
      <a:dk2>
        <a:srgbClr val="8A857E"/>
      </a:dk2>
      <a:lt2>
        <a:srgbClr val="1A1F26"/>
      </a:lt2>
      <a:accent1>
        <a:srgbClr val="E8E6E1"/>
      </a:accent1>
      <a:accent2>
        <a:srgbClr val="E63946"/>
      </a:accent2>
      <a:accent3>
        <a:srgbClr val="F4A261"/>
      </a:accent3>
      <a:accent4>
        <a:srgbClr val="2A2F36"/>
      </a:accent4>
      <a:accent5>
        <a:srgbClr val="5C5852"/>
      </a:accent5>
      <a:accent6>
        <a:srgbClr val="52B788"/>
      </a:accent6>
      <a:hlink>
        <a:srgbClr val="E63946"/>
      </a:hlink>
      <a:folHlink>
        <a:srgbClr val="F4A261"/>
      </a:folHlink>
    </a:clrScheme>
    <a:fontScheme name="PPT Master">
      <a:majorFont>
        <a:latin typeface="Cambria"/>
        <a:ea typeface="Microsoft YaHei"/>
        <a:cs typeface="Cambr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2026-07-11T09:43:27Z</dcterms:created>
  <dcterms:modified xsi:type="dcterms:W3CDTF">2026-07-11T09:43:27Z</dcterms:modified>
  <cp:category/>
  <cp:contentStatus/>
</cp:coreProperties>
</file>