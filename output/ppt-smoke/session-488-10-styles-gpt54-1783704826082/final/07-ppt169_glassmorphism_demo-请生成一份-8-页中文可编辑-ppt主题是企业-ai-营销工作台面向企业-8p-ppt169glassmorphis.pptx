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一体化的智能营销决策平台。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议程：快速决策路线图</a:t>
            </a:r>
          </a:p>
          <a:p>
            <a:endParaRPr lang="en-US" dirty="0"/>
          </a:p>
          <a:p>
            <a:r>
              <a:rPr lang="zh-CN" dirty="0"/>
              <a:t>五章覆盖市场判断、方案架构、价值验证、数据证明、落地路径。</a:t>
            </a:r>
          </a:p>
          <a:p>
            <a:endParaRPr lang="en-US" dirty="0"/>
          </a:p>
          <a:p>
            <a:r>
              <a:rPr lang="zh-CN" dirty="0"/>
              <a:t>• 为什么现在是AI营销的拐点</a:t>
            </a:r>
          </a:p>
          <a:p>
            <a:r>
              <a:rPr lang="zh-CN" dirty="0"/>
              <a:t>• 四大模块如何协同</a:t>
            </a:r>
          </a:p>
          <a:p>
            <a:r>
              <a:rPr lang="zh-CN" dirty="0"/>
              <a:t>• 与现有方案的效益对比</a:t>
            </a:r>
          </a:p>
          <a:p>
            <a:r>
              <a:rPr lang="zh-CN" dirty="0"/>
              <a:t>• 头部客户的真实成效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决策层必须正视的三个现实</a:t>
            </a:r>
          </a:p>
          <a:p>
            <a:endParaRPr lang="en-US" dirty="0"/>
          </a:p>
          <a:p>
            <a:r>
              <a:rPr lang="zh-CN" dirty="0"/>
              <a:t>营销ROI下滑不是趋势，是正在发生的危机。</a:t>
            </a:r>
          </a:p>
          <a:p>
            <a:endParaRPr lang="en-US" dirty="0"/>
          </a:p>
          <a:p>
            <a:r>
              <a:rPr lang="zh-CN" dirty="0"/>
              <a:t>• 人工运营成本年增22%，但转化率持平</a:t>
            </a:r>
          </a:p>
          <a:p>
            <a:r>
              <a:rPr lang="zh-CN" dirty="0"/>
              <a:t>• 客户旅程碎片化，单一团队已无法有效追踪</a:t>
            </a:r>
          </a:p>
          <a:p>
            <a:r>
              <a:rPr lang="zh-CN" dirty="0"/>
              <a:t>• 竞品已在Q3前完成AI营销布局，时间窗口收窄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三条路径，投入产出截然不同</a:t>
            </a:r>
          </a:p>
          <a:p>
            <a:endParaRPr lang="en-US" dirty="0"/>
          </a:p>
          <a:p>
            <a:r>
              <a:rPr lang="zh-CN" dirty="0"/>
              <a:t>自建系统周期长、成本高；AI工作台即开即用、持续迭代。</a:t>
            </a:r>
          </a:p>
          <a:p>
            <a:endParaRPr lang="en-US" dirty="0"/>
          </a:p>
          <a:p>
            <a:r>
              <a:rPr lang="zh-CN" dirty="0"/>
              <a:t>• 18个月建设周期，初始投入800万+，运维成本持续</a:t>
            </a:r>
          </a:p>
          <a:p>
            <a:r>
              <a:rPr lang="zh-CN" dirty="0"/>
              <a:t>• 数据孤岛问题未解，AI能力弱，集成成本高</a:t>
            </a:r>
          </a:p>
          <a:p>
            <a:r>
              <a:rPr lang="zh-CN" dirty="0"/>
              <a:t>• 4周上线，ROI6个月内转正，持续AI能力升级</a:t>
            </a:r>
          </a:p>
          <a:p>
            <a:r>
              <a:rPr lang="zh-CN" dirty="0"/>
              <a:t>• 关键变量对比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标杆客户：3个月看见成效</a:t>
            </a:r>
          </a:p>
          <a:p>
            <a:endParaRPr lang="en-US" dirty="0"/>
          </a:p>
          <a:p>
            <a:r>
              <a:rPr lang="zh-CN" dirty="0"/>
              <a:t>头部零售企业已率先落地。</a:t>
            </a:r>
          </a:p>
          <a:p>
            <a:endParaRPr lang="en-US" dirty="0"/>
          </a:p>
          <a:p>
            <a:r>
              <a:rPr lang="zh-CN" dirty="0"/>
              <a:t>• 客单价提升18%，营销人力成本下降40%，广告ROI从1:2.3增至1:5.1</a:t>
            </a:r>
          </a:p>
          <a:p>
            <a:r>
              <a:rPr lang="zh-CN" dirty="0"/>
              <a:t>• 潜客转化率提升32%，客户生命周期价值预测准确率达91%</a:t>
            </a:r>
          </a:p>
          <a:p>
            <a:r>
              <a:rPr lang="zh-CN" dirty="0"/>
              <a:t>• 大促期间自动文案生成10万+条，点击率提升26%，退货率下降9%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核心指标：真实可量化</a:t>
            </a:r>
          </a:p>
          <a:p>
            <a:endParaRPr lang="en-US" dirty="0"/>
          </a:p>
          <a:p>
            <a:r>
              <a:rPr lang="zh-CN" dirty="0"/>
              <a:t>基于已交付项目的数据沉淀。</a:t>
            </a:r>
          </a:p>
          <a:p>
            <a:endParaRPr lang="en-US" dirty="0"/>
          </a:p>
          <a:p>
            <a:r>
              <a:rPr lang="zh-CN" dirty="0"/>
              <a:t>• 平均ROI提升</a:t>
            </a:r>
          </a:p>
          <a:p>
            <a:r>
              <a:rPr lang="zh-CN" dirty="0"/>
              <a:t>• 运营效率提升</a:t>
            </a:r>
          </a:p>
          <a:p>
            <a:r>
              <a:rPr lang="zh-CN" dirty="0"/>
              <a:t>• 快速上线</a:t>
            </a:r>
          </a:p>
          <a:p>
            <a:r>
              <a:rPr lang="zh-CN" dirty="0"/>
              <a:t>• 客户留存率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投入产出曲线：6个月转正</a:t>
            </a:r>
          </a:p>
          <a:p>
            <a:endParaRPr lang="en-US" dirty="0"/>
          </a:p>
          <a:p>
            <a:r>
              <a:rPr lang="zh-CN" dirty="0"/>
              <a:t>随时间推移，AI能力持续优化，成本持续下降。</a:t>
            </a:r>
          </a:p>
          <a:p>
            <a:endParaRPr lang="en-US" dirty="0"/>
          </a:p>
          <a:p>
            <a:r>
              <a:rPr lang="zh-CN" dirty="0"/>
              <a:t>• 首年软件+实施</a:t>
            </a:r>
          </a:p>
          <a:p>
            <a:r>
              <a:rPr lang="zh-CN" dirty="0"/>
              <a:t>• 已覆盖当期投入</a:t>
            </a:r>
          </a:p>
          <a:p>
            <a:r>
              <a:rPr lang="zh-CN" dirty="0"/>
              <a:t>• 进入盈利区间</a:t>
            </a:r>
          </a:p>
          <a:p>
            <a:r>
              <a:rPr lang="zh-CN" dirty="0"/>
              <a:t>• 持续优化中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下一步：从决策到行动</a:t>
            </a:r>
          </a:p>
          <a:p>
            <a:endParaRPr lang="en-US" dirty="0"/>
          </a:p>
          <a:p>
            <a:r>
              <a:rPr lang="zh-CN" dirty="0"/>
              <a:t>12周分阶段落地，风险可控、价值可见。</a:t>
            </a:r>
          </a:p>
          <a:p>
            <a:endParaRPr lang="en-US" dirty="0"/>
          </a:p>
          <a:p>
            <a:r>
              <a:rPr lang="zh-CN" dirty="0"/>
              <a:t>• 需求对齐与POC方案确认</a:t>
            </a:r>
          </a:p>
          <a:p>
            <a:r>
              <a:rPr lang="zh-CN" dirty="0"/>
              <a:t>• 数据接入与核心模块部署</a:t>
            </a:r>
          </a:p>
          <a:p>
            <a:r>
              <a:rPr lang="zh-CN" dirty="0"/>
              <a:t>• AI模型调优与全渠道打通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895350" y="-2057400"/>
            <a:ext cx="15220950" cy="10591800"/>
            <a:chOff x="-895350" y="-2057400"/>
            <a:chExt cx="15220950" cy="105918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5181600" y="-2057400"/>
              <a:ext cx="9144000" cy="6858000"/>
            </a:xfrm>
            <a:prstGeom prst="ellipse">
              <a:avLst/>
            </a:prstGeom>
            <a:gradFill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895350" y="2438400"/>
              <a:ext cx="6667500" cy="6096000"/>
            </a:xfrm>
            <a:prstGeom prst="ellipse">
              <a:avLst/>
            </a:pr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286000" y="571500"/>
              <a:ext cx="7620000" cy="5715000"/>
            </a:xfrm>
            <a:prstGeom prst="ellipse">
              <a:avLst/>
            </a:prstGeom>
            <a:gradFill>
              <a:gsLst>
                <a:gs pos="0">
                  <a:schemeClr val="accent3">
                    <a:alpha val="1500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66738" y="331470"/>
            <a:ext cx="11058524" cy="249555"/>
            <a:chOff x="566738" y="331470"/>
            <a:chExt cx="11058524" cy="249555"/>
          </a:xfrm>
        </p:grpSpPr>
        <p:sp>
          <p:nvSpPr>
            <p:cNvPr id="7" name="TextBox 7"/>
            <p:cNvSpPr txBox="1"/>
            <p:nvPr/>
          </p:nvSpPr>
          <p:spPr>
            <a:xfrm>
              <a:off x="566738" y="331470"/>
              <a:ext cx="6240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PLAYMODE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09858" y="331470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01 / 08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571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>
                  <a:alpha val="40000"/>
                </a:scheme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714500" y="2095500"/>
            <a:ext cx="8763000" cy="3048000"/>
            <a:chOff x="1714500" y="2095500"/>
            <a:chExt cx="8763000" cy="3048000"/>
          </a:xfrm>
        </p:grpSpPr>
        <p:sp>
          <p:nvSpPr>
            <p:cNvPr id="11" name="Freeform 11"/>
            <p:cNvSpPr/>
            <p:nvPr/>
          </p:nvSpPr>
          <p:spPr>
            <a:xfrm>
              <a:off x="1714500" y="2095500"/>
              <a:ext cx="8763000" cy="3048000"/>
            </a:xfrm>
            <a:custGeom>
              <a:avLst/>
              <a:gdLst/>
              <a:ahLst/>
              <a:cxnLst/>
              <a:rect l="l" t="t" r="r" b="b"/>
              <a:pathLst>
                <a:path w="8763000" h="3048000">
                  <a:moveTo>
                    <a:pt x="190500" y="0"/>
                  </a:moveTo>
                  <a:lnTo>
                    <a:pt x="8572500" y="0"/>
                  </a:lnTo>
                  <a:cubicBezTo>
                    <a:pt x="8677710" y="0"/>
                    <a:pt x="8763000" y="85290"/>
                    <a:pt x="8763000" y="190500"/>
                  </a:cubicBezTo>
                  <a:lnTo>
                    <a:pt x="8763000" y="2857500"/>
                  </a:lnTo>
                  <a:cubicBezTo>
                    <a:pt x="8763000" y="2962710"/>
                    <a:pt x="8677710" y="3048000"/>
                    <a:pt x="8572500" y="3048000"/>
                  </a:cubicBezTo>
                  <a:lnTo>
                    <a:pt x="190500" y="3048000"/>
                  </a:lnTo>
                  <a:cubicBezTo>
                    <a:pt x="85290" y="3048000"/>
                    <a:pt x="0" y="2962710"/>
                    <a:pt x="0" y="2857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18000"/>
                  </a:schemeClr>
                </a:gs>
                <a:gs pos="100000">
                  <a:schemeClr val="accent2">
                    <a:alpha val="8000"/>
                  </a:schemeClr>
                </a:gs>
              </a:gsLst>
              <a:lin ang="2700000" scaled="1"/>
            </a:gradFill>
            <a:ln w="9525">
              <a:solidFill>
                <a:srgbClr val="FFFFFF">
                  <a:alpha val="18000"/>
                </a:srgb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14500" y="209550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9525" y="0"/>
                  </a:moveTo>
                  <a:lnTo>
                    <a:pt x="8753475" y="0"/>
                  </a:lnTo>
                  <a:cubicBezTo>
                    <a:pt x="8758736" y="0"/>
                    <a:pt x="8763000" y="2132"/>
                    <a:pt x="8763000" y="4762"/>
                  </a:cubicBezTo>
                  <a:lnTo>
                    <a:pt x="8763000" y="4762"/>
                  </a:lnTo>
                  <a:cubicBezTo>
                    <a:pt x="8763000" y="7393"/>
                    <a:pt x="8758736" y="9525"/>
                    <a:pt x="8753475" y="9525"/>
                  </a:cubicBezTo>
                  <a:lnTo>
                    <a:pt x="9525" y="9525"/>
                  </a:lnTo>
                  <a:cubicBezTo>
                    <a:pt x="4264" y="9525"/>
                    <a:pt x="0" y="7393"/>
                    <a:pt x="0" y="4762"/>
                  </a:cubicBezTo>
                  <a:lnTo>
                    <a:pt x="0" y="4762"/>
                  </a:lnTo>
                  <a:cubicBezTo>
                    <a:pt x="0" y="2132"/>
                    <a:pt x="4264" y="0"/>
                    <a:pt x="9525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3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38750" y="26631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企业级解决方案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14882" y="3070860"/>
              <a:ext cx="496223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gradFill>
                    <a:gsLst>
                      <a:gs pos="0">
                        <a:schemeClr val="accent1"/>
                      </a:gs>
                      <a:gs pos="5000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4880" y="39176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一体化的智能营销决策平台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91000" y="4476750"/>
              <a:ext cx="3810000" cy="9525"/>
            </a:xfrm>
            <a:prstGeom prst="rect">
              <a:avLst/>
            </a:prstGeom>
            <a:solidFill>
              <a:schemeClr val="accent4">
                <a:alpha val="50000"/>
              </a:scheme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837459" y="4744402"/>
              <a:ext cx="6213577" cy="205359"/>
              <a:chOff x="2837459" y="4744402"/>
              <a:chExt cx="6213577" cy="205359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2837459" y="4744402"/>
                <a:ext cx="11830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企业AI营销工作台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807964" y="47444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现状概览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74964" y="47444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核心风险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571500" y="381000"/>
            <a:ext cx="10858500" cy="6477000"/>
            <a:chOff x="571500" y="381000"/>
            <a:chExt cx="10858500" cy="6477000"/>
          </a:xfrm>
        </p:grpSpPr>
        <p:sp>
          <p:nvSpPr>
            <p:cNvPr id="22" name="Ellipse 22"/>
            <p:cNvSpPr/>
            <p:nvPr/>
          </p:nvSpPr>
          <p:spPr>
            <a:xfrm>
              <a:off x="571500" y="5334000"/>
              <a:ext cx="1524000" cy="15240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287000" y="381000"/>
              <a:ext cx="1143000" cy="1143000"/>
            </a:xfrm>
            <a:prstGeom prst="ellipse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71500" y="6286500"/>
              <a:ext cx="1143000" cy="28575"/>
            </a:xfrm>
            <a:custGeom>
              <a:avLst/>
              <a:gdLst/>
              <a:ahLst/>
              <a:cxnLst/>
              <a:rect l="l" t="t" r="r" b="b"/>
              <a:pathLst>
                <a:path w="1143000" h="28575">
                  <a:moveTo>
                    <a:pt x="14288" y="0"/>
                  </a:moveTo>
                  <a:lnTo>
                    <a:pt x="1128712" y="0"/>
                  </a:lnTo>
                  <a:cubicBezTo>
                    <a:pt x="1136603" y="0"/>
                    <a:pt x="1143000" y="6397"/>
                    <a:pt x="1143000" y="14288"/>
                  </a:cubicBezTo>
                  <a:lnTo>
                    <a:pt x="1143000" y="14288"/>
                  </a:lnTo>
                  <a:cubicBezTo>
                    <a:pt x="1143000" y="22178"/>
                    <a:pt x="1136603" y="28575"/>
                    <a:pt x="1128712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905000" y="6286500"/>
              <a:ext cx="571500" cy="28575"/>
            </a:xfrm>
            <a:custGeom>
              <a:avLst/>
              <a:gdLst/>
              <a:ahLst/>
              <a:cxnLst/>
              <a:rect l="l" t="t" r="r" b="b"/>
              <a:pathLst>
                <a:path w="571500" h="28575">
                  <a:moveTo>
                    <a:pt x="14288" y="0"/>
                  </a:moveTo>
                  <a:lnTo>
                    <a:pt x="557212" y="0"/>
                  </a:lnTo>
                  <a:cubicBezTo>
                    <a:pt x="565103" y="0"/>
                    <a:pt x="571500" y="6397"/>
                    <a:pt x="571500" y="14288"/>
                  </a:cubicBezTo>
                  <a:lnTo>
                    <a:pt x="571500" y="14288"/>
                  </a:lnTo>
                  <a:cubicBezTo>
                    <a:pt x="571500" y="22178"/>
                    <a:pt x="565103" y="28575"/>
                    <a:pt x="557212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lose/>
                </a:path>
              </a:pathLst>
            </a:custGeom>
            <a:solidFill>
              <a:schemeClr val="accent2">
                <a:alpha val="30000"/>
              </a:scheme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603219" y="6578441"/>
            <a:ext cx="2022043" cy="161925"/>
            <a:chOff x="9603219" y="6578441"/>
            <a:chExt cx="2022043" cy="161925"/>
          </a:xfrm>
        </p:grpSpPr>
        <p:sp>
          <p:nvSpPr>
            <p:cNvPr id="27" name="TextBox 27"/>
            <p:cNvSpPr txBox="1"/>
            <p:nvPr/>
          </p:nvSpPr>
          <p:spPr>
            <a:xfrm>
              <a:off x="9603219" y="6578441"/>
              <a:ext cx="20220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© 2026 PLAYMODE · 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6250"/>
            <a:ext cx="11049000" cy="5905500"/>
            <a:chOff x="571500" y="476250"/>
            <a:chExt cx="11049000" cy="5905500"/>
          </a:xfrm>
        </p:grpSpPr>
        <p:sp>
          <p:nvSpPr>
            <p:cNvPr id="6" name="Freeform 6"/>
            <p:cNvSpPr/>
            <p:nvPr/>
          </p:nvSpPr>
          <p:spPr>
            <a:xfrm>
              <a:off x="571500" y="476250"/>
              <a:ext cx="11049000" cy="5905500"/>
            </a:xfrm>
            <a:custGeom>
              <a:avLst/>
              <a:gdLst/>
              <a:ahLst/>
              <a:cxnLst/>
              <a:rect l="l" t="t" r="r" b="b"/>
              <a:pathLst>
                <a:path w="11049000" h="59055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0" y="0"/>
                    <a:pt x="11049000" y="85290"/>
                    <a:pt x="11049000" y="190500"/>
                  </a:cubicBezTo>
                  <a:lnTo>
                    <a:pt x="11049000" y="5715000"/>
                  </a:lnTo>
                  <a:cubicBezTo>
                    <a:pt x="11049000" y="5820210"/>
                    <a:pt x="10963710" y="5905500"/>
                    <a:pt x="10858500" y="5905500"/>
                  </a:cubicBezTo>
                  <a:lnTo>
                    <a:pt x="190500" y="5905500"/>
                  </a:lnTo>
                  <a:cubicBezTo>
                    <a:pt x="85290" y="5905500"/>
                    <a:pt x="0" y="5820210"/>
                    <a:pt x="0" y="57150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12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rgbClr val="FFFFFF">
                  <a:alpha val="12000"/>
                </a:srgbClr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3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938784" y="904875"/>
            <a:ext cx="9919716" cy="4619625"/>
            <a:chOff x="938784" y="904875"/>
            <a:chExt cx="9919716" cy="4619625"/>
          </a:xfrm>
        </p:grpSpPr>
        <p:grpSp>
          <p:nvGrpSpPr>
            <p:cNvPr id="25" name="Group 25"/>
            <p:cNvGrpSpPr/>
            <p:nvPr/>
          </p:nvGrpSpPr>
          <p:grpSpPr>
            <a:xfrm>
              <a:off x="938784" y="1029652"/>
              <a:ext cx="5109210" cy="3539109"/>
              <a:chOff x="938784" y="1029652"/>
              <a:chExt cx="5109210" cy="3539109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47166" y="1029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出场顺序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8784" y="1375410"/>
                <a:ext cx="384390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gradFill>
                      <a:gsLst>
                        <a:gs pos="0">
                          <a:schemeClr val="accent1"/>
                        </a:gs>
                        <a:gs pos="50000">
                          <a:schemeClr val="accent2"/>
                        </a:gs>
                        <a:gs pos="100000">
                          <a:schemeClr val="accent3"/>
                        </a:gs>
                      </a:gsLst>
                      <a:lin ang="0" scaled="1"/>
                    </a:gradFill>
                    <a:latin typeface="+mj-lt"/>
                    <a:ea typeface="+mj-ea"/>
                    <a:cs typeface="+mj-cs"/>
                  </a:rPr>
                  <a:t>议程：快速决策路线图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5642" y="2045018"/>
                <a:ext cx="51023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五章覆盖市场判断、方案架构、价值验证、数据证明、落地路径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952500" y="2571750"/>
                <a:ext cx="304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0" h="9525">
                    <a:moveTo>
                      <a:pt x="0" y="0"/>
                    </a:moveTo>
                    <a:lnTo>
                      <a:pt x="3048000" y="0"/>
                    </a:lnTo>
                  </a:path>
                </a:pathLst>
              </a:custGeom>
              <a:noFill/>
              <a:ln w="19050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2">
                        <a:alpha val="10000"/>
                      </a:schemeClr>
                    </a:gs>
                  </a:gsLst>
                  <a:lin ang="5400000" scaled="1"/>
                </a:gra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46404" y="28232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章节导览</a:t>
                </a:r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947166" y="3220402"/>
                <a:ext cx="2066239" cy="1348359"/>
                <a:chOff x="947166" y="3220402"/>
                <a:chExt cx="2066239" cy="1348359"/>
              </a:xfrm>
            </p:grpSpPr>
            <p:sp>
              <p:nvSpPr>
                <p:cNvPr id="14" name="TextBox 14"/>
                <p:cNvSpPr txBox="1"/>
                <p:nvPr/>
              </p:nvSpPr>
              <p:spPr>
                <a:xfrm>
                  <a:off x="947166" y="3220402"/>
                  <a:ext cx="16615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01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232916" y="3220402"/>
                  <a:ext cx="178048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为什么现在是AI营销的拐点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47166" y="3506152"/>
                  <a:ext cx="16615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02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232916" y="350615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四大模块如何协同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947166" y="3791902"/>
                  <a:ext cx="16615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03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232916" y="3791902"/>
                  <a:ext cx="142417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与现有方案的效益对比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47166" y="4077652"/>
                  <a:ext cx="16615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04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232916" y="4077652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头部客户的真实成效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47166" y="4363402"/>
                  <a:ext cx="16615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05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1232916" y="4363402"/>
                  <a:ext cx="129696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12周分阶段部署计划</a:t>
                  </a:r>
                </a:p>
              </p:txBody>
            </p:sp>
          </p:grpSp>
        </p:grpSp>
        <p:grpSp>
          <p:nvGrpSpPr>
            <p:cNvPr id="66" name="Group 66"/>
            <p:cNvGrpSpPr/>
            <p:nvPr/>
          </p:nvGrpSpPr>
          <p:grpSpPr>
            <a:xfrm>
              <a:off x="5448300" y="904875"/>
              <a:ext cx="5410200" cy="4619625"/>
              <a:chOff x="5448300" y="904875"/>
              <a:chExt cx="5410200" cy="4619625"/>
            </a:xfrm>
          </p:grpSpPr>
          <p:grpSp>
            <p:nvGrpSpPr>
              <p:cNvPr id="39" name="Group 39"/>
              <p:cNvGrpSpPr/>
              <p:nvPr/>
            </p:nvGrpSpPr>
            <p:grpSpPr>
              <a:xfrm>
                <a:off x="5448300" y="1066800"/>
                <a:ext cx="152400" cy="4457700"/>
                <a:chOff x="5448300" y="1066800"/>
                <a:chExt cx="152400" cy="4457700"/>
              </a:xfrm>
            </p:grpSpPr>
            <p:sp>
              <p:nvSpPr>
                <p:cNvPr id="26" name="Line 26"/>
                <p:cNvSpPr/>
                <p:nvPr/>
              </p:nvSpPr>
              <p:spPr>
                <a:xfrm>
                  <a:off x="5524500" y="1143000"/>
                  <a:ext cx="9525" cy="438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381500">
                      <a:moveTo>
                        <a:pt x="0" y="0"/>
                      </a:moveTo>
                      <a:lnTo>
                        <a:pt x="0" y="4381500"/>
                      </a:lnTo>
                    </a:path>
                  </a:pathLst>
                </a:custGeom>
                <a:noFill/>
                <a:ln w="19050">
                  <a:solidFill>
                    <a:schemeClr val="accent4">
                      <a:alpha val="60000"/>
                    </a:schemeClr>
                  </a:solidFill>
                </a:ln>
              </p:spPr>
            </p:sp>
            <p:sp>
              <p:nvSpPr>
                <p:cNvPr id="27" name="Ellipse 27"/>
                <p:cNvSpPr/>
                <p:nvPr/>
              </p:nvSpPr>
              <p:spPr>
                <a:xfrm>
                  <a:off x="5448300" y="1066800"/>
                  <a:ext cx="152400" cy="152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5486400" y="1104900"/>
                  <a:ext cx="76200" cy="762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5448300" y="1781175"/>
                  <a:ext cx="152400" cy="1524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5486400" y="1819275"/>
                  <a:ext cx="76200" cy="762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5448300" y="2495550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5486400" y="2533650"/>
                  <a:ext cx="76200" cy="762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5448300" y="3209925"/>
                  <a:ext cx="152400" cy="152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Ellipse 34"/>
                <p:cNvSpPr/>
                <p:nvPr/>
              </p:nvSpPr>
              <p:spPr>
                <a:xfrm>
                  <a:off x="5486400" y="3248025"/>
                  <a:ext cx="76200" cy="762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5" name="Ellipse 35"/>
                <p:cNvSpPr/>
                <p:nvPr/>
              </p:nvSpPr>
              <p:spPr>
                <a:xfrm>
                  <a:off x="5448300" y="392430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5486400" y="3962400"/>
                  <a:ext cx="76200" cy="762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  <p:sp>
              <p:nvSpPr>
                <p:cNvPr id="37" name="Ellipse 37"/>
                <p:cNvSpPr/>
                <p:nvPr/>
              </p:nvSpPr>
              <p:spPr>
                <a:xfrm>
                  <a:off x="5448300" y="4638675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8" name="Ellipse 38"/>
                <p:cNvSpPr/>
                <p:nvPr/>
              </p:nvSpPr>
              <p:spPr>
                <a:xfrm>
                  <a:off x="5486400" y="4676775"/>
                  <a:ext cx="76200" cy="762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sp>
          </p:grpSp>
          <p:grpSp>
            <p:nvGrpSpPr>
              <p:cNvPr id="60" name="Group 60"/>
              <p:cNvGrpSpPr/>
              <p:nvPr/>
            </p:nvGrpSpPr>
            <p:grpSpPr>
              <a:xfrm>
                <a:off x="5810250" y="904875"/>
                <a:ext cx="5048250" cy="3333750"/>
                <a:chOff x="5810250" y="904875"/>
                <a:chExt cx="5048250" cy="3333750"/>
              </a:xfrm>
            </p:grpSpPr>
            <p:grpSp>
              <p:nvGrpSpPr>
                <p:cNvPr id="43" name="Group 43"/>
                <p:cNvGrpSpPr/>
                <p:nvPr/>
              </p:nvGrpSpPr>
              <p:grpSpPr>
                <a:xfrm>
                  <a:off x="5810250" y="904875"/>
                  <a:ext cx="5048250" cy="476250"/>
                  <a:chOff x="5810250" y="904875"/>
                  <a:chExt cx="5048250" cy="476250"/>
                </a:xfrm>
              </p:grpSpPr>
              <p:sp>
                <p:nvSpPr>
                  <p:cNvPr id="40" name="Freeform 40"/>
                  <p:cNvSpPr/>
                  <p:nvPr/>
                </p:nvSpPr>
                <p:spPr>
                  <a:xfrm>
                    <a:off x="5810250" y="904875"/>
                    <a:ext cx="5048250" cy="476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48250" h="476250">
                        <a:moveTo>
                          <a:pt x="76200" y="0"/>
                        </a:moveTo>
                        <a:lnTo>
                          <a:pt x="4972050" y="0"/>
                        </a:lnTo>
                        <a:cubicBezTo>
                          <a:pt x="5014134" y="0"/>
                          <a:pt x="5048250" y="34116"/>
                          <a:pt x="5048250" y="76200"/>
                        </a:cubicBezTo>
                        <a:lnTo>
                          <a:pt x="5048250" y="400050"/>
                        </a:lnTo>
                        <a:cubicBezTo>
                          <a:pt x="5048250" y="442134"/>
                          <a:pt x="5014134" y="476250"/>
                          <a:pt x="4972050" y="476250"/>
                        </a:cubicBezTo>
                        <a:lnTo>
                          <a:pt x="76200" y="476250"/>
                        </a:lnTo>
                        <a:cubicBezTo>
                          <a:pt x="34116" y="476250"/>
                          <a:pt x="0" y="442134"/>
                          <a:pt x="0" y="40005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2">
                      <a:alpha val="40000"/>
                    </a:schemeClr>
                  </a:solidFill>
                  <a:ln w="9525">
                    <a:solidFill>
                      <a:schemeClr val="accent4">
                        <a:alpha val="40000"/>
                      </a:schemeClr>
                    </a:solidFill>
                  </a:ln>
                </p:spPr>
              </p:sp>
              <p:sp>
                <p:nvSpPr>
                  <p:cNvPr id="41" name="TextBox 41"/>
                  <p:cNvSpPr txBox="1"/>
                  <p:nvPr/>
                </p:nvSpPr>
                <p:spPr>
                  <a:xfrm>
                    <a:off x="5993130" y="1057275"/>
                    <a:ext cx="248469" cy="2933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1500" b="1" dirty="0">
                        <a:solidFill>
                          <a:schemeClr val="accent1"/>
                        </a:solidFill>
                        <a:latin typeface="+mj-lt"/>
                        <a:ea typeface="+mj-ea"/>
                        <a:cs typeface="+mj-cs"/>
                      </a:rPr>
                      <a:t>01</a:t>
                    </a:r>
                  </a:p>
                </p:txBody>
              </p:sp>
              <p:sp>
                <p:nvSpPr>
                  <p:cNvPr id="42" name="TextBox 42"/>
                  <p:cNvSpPr txBox="1"/>
                  <p:nvPr/>
                </p:nvSpPr>
                <p:spPr>
                  <a:xfrm>
                    <a:off x="6470142" y="1073468"/>
                    <a:ext cx="2402975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j-lt"/>
                        <a:ea typeface="+mj-ea"/>
                        <a:cs typeface="+mj-cs"/>
                      </a:rPr>
                      <a:t>为什么现在是AI营销的拐点</a:t>
                    </a:r>
                  </a:p>
                </p:txBody>
              </p:sp>
            </p:grpSp>
            <p:grpSp>
              <p:nvGrpSpPr>
                <p:cNvPr id="47" name="Group 47"/>
                <p:cNvGrpSpPr/>
                <p:nvPr/>
              </p:nvGrpSpPr>
              <p:grpSpPr>
                <a:xfrm>
                  <a:off x="5810250" y="1619250"/>
                  <a:ext cx="5048250" cy="476250"/>
                  <a:chOff x="5810250" y="1619250"/>
                  <a:chExt cx="5048250" cy="476250"/>
                </a:xfrm>
              </p:grpSpPr>
              <p:sp>
                <p:nvSpPr>
                  <p:cNvPr id="44" name="Freeform 44"/>
                  <p:cNvSpPr/>
                  <p:nvPr/>
                </p:nvSpPr>
                <p:spPr>
                  <a:xfrm>
                    <a:off x="5810250" y="1619250"/>
                    <a:ext cx="5048250" cy="476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48250" h="476250">
                        <a:moveTo>
                          <a:pt x="76200" y="0"/>
                        </a:moveTo>
                        <a:lnTo>
                          <a:pt x="4972050" y="0"/>
                        </a:lnTo>
                        <a:cubicBezTo>
                          <a:pt x="5014134" y="0"/>
                          <a:pt x="5048250" y="34116"/>
                          <a:pt x="5048250" y="76200"/>
                        </a:cubicBezTo>
                        <a:lnTo>
                          <a:pt x="5048250" y="400050"/>
                        </a:lnTo>
                        <a:cubicBezTo>
                          <a:pt x="5048250" y="442134"/>
                          <a:pt x="5014134" y="476250"/>
                          <a:pt x="4972050" y="476250"/>
                        </a:cubicBezTo>
                        <a:lnTo>
                          <a:pt x="76200" y="476250"/>
                        </a:lnTo>
                        <a:cubicBezTo>
                          <a:pt x="34116" y="476250"/>
                          <a:pt x="0" y="442134"/>
                          <a:pt x="0" y="40005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2">
                      <a:alpha val="40000"/>
                    </a:schemeClr>
                  </a:solidFill>
                  <a:ln w="9525">
                    <a:solidFill>
                      <a:schemeClr val="accent4">
                        <a:alpha val="40000"/>
                      </a:schemeClr>
                    </a:solidFill>
                  </a:ln>
                </p:spPr>
              </p:sp>
              <p:sp>
                <p:nvSpPr>
                  <p:cNvPr id="45" name="TextBox 45"/>
                  <p:cNvSpPr txBox="1"/>
                  <p:nvPr/>
                </p:nvSpPr>
                <p:spPr>
                  <a:xfrm>
                    <a:off x="5993130" y="1771650"/>
                    <a:ext cx="248469" cy="2933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1500" b="1" dirty="0">
                        <a:solidFill>
                          <a:schemeClr val="accent1"/>
                        </a:solidFill>
                        <a:latin typeface="+mj-lt"/>
                        <a:ea typeface="+mj-ea"/>
                        <a:cs typeface="+mj-cs"/>
                      </a:rPr>
                      <a:t>02</a:t>
                    </a:r>
                  </a:p>
                </p:txBody>
              </p:sp>
              <p:sp>
                <p:nvSpPr>
                  <p:cNvPr id="46" name="TextBox 46"/>
                  <p:cNvSpPr txBox="1"/>
                  <p:nvPr/>
                </p:nvSpPr>
                <p:spPr>
                  <a:xfrm>
                    <a:off x="6470142" y="1787842"/>
                    <a:ext cx="1540307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j-lt"/>
                        <a:ea typeface="+mj-ea"/>
                        <a:cs typeface="+mj-cs"/>
                      </a:rPr>
                      <a:t>四大模块如何协同</a:t>
                    </a:r>
                  </a:p>
                </p:txBody>
              </p:sp>
            </p:grpSp>
            <p:grpSp>
              <p:nvGrpSpPr>
                <p:cNvPr id="51" name="Group 51"/>
                <p:cNvGrpSpPr/>
                <p:nvPr/>
              </p:nvGrpSpPr>
              <p:grpSpPr>
                <a:xfrm>
                  <a:off x="5810250" y="2333625"/>
                  <a:ext cx="5048250" cy="476250"/>
                  <a:chOff x="5810250" y="2333625"/>
                  <a:chExt cx="5048250" cy="476250"/>
                </a:xfrm>
              </p:grpSpPr>
              <p:sp>
                <p:nvSpPr>
                  <p:cNvPr id="48" name="Freeform 48"/>
                  <p:cNvSpPr/>
                  <p:nvPr/>
                </p:nvSpPr>
                <p:spPr>
                  <a:xfrm>
                    <a:off x="5810250" y="2333625"/>
                    <a:ext cx="5048250" cy="476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48250" h="476250">
                        <a:moveTo>
                          <a:pt x="76200" y="0"/>
                        </a:moveTo>
                        <a:lnTo>
                          <a:pt x="4972050" y="0"/>
                        </a:lnTo>
                        <a:cubicBezTo>
                          <a:pt x="5014134" y="0"/>
                          <a:pt x="5048250" y="34116"/>
                          <a:pt x="5048250" y="76200"/>
                        </a:cubicBezTo>
                        <a:lnTo>
                          <a:pt x="5048250" y="400050"/>
                        </a:lnTo>
                        <a:cubicBezTo>
                          <a:pt x="5048250" y="442134"/>
                          <a:pt x="5014134" y="476250"/>
                          <a:pt x="4972050" y="476250"/>
                        </a:cubicBezTo>
                        <a:lnTo>
                          <a:pt x="76200" y="476250"/>
                        </a:lnTo>
                        <a:cubicBezTo>
                          <a:pt x="34116" y="476250"/>
                          <a:pt x="0" y="442134"/>
                          <a:pt x="0" y="40005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2">
                      <a:alpha val="40000"/>
                    </a:schemeClr>
                  </a:solidFill>
                  <a:ln w="9525">
                    <a:solidFill>
                      <a:schemeClr val="accent4">
                        <a:alpha val="40000"/>
                      </a:schemeClr>
                    </a:solidFill>
                  </a:ln>
                </p:spPr>
              </p:sp>
              <p:sp>
                <p:nvSpPr>
                  <p:cNvPr id="49" name="TextBox 49"/>
                  <p:cNvSpPr txBox="1"/>
                  <p:nvPr/>
                </p:nvSpPr>
                <p:spPr>
                  <a:xfrm>
                    <a:off x="5993130" y="2486025"/>
                    <a:ext cx="248469" cy="2933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1500" b="1" dirty="0">
                        <a:solidFill>
                          <a:schemeClr val="accent2"/>
                        </a:solidFill>
                        <a:latin typeface="+mj-lt"/>
                        <a:ea typeface="+mj-ea"/>
                        <a:cs typeface="+mj-cs"/>
                      </a:rPr>
                      <a:t>03</a:t>
                    </a:r>
                  </a:p>
                </p:txBody>
              </p:sp>
              <p:sp>
                <p:nvSpPr>
                  <p:cNvPr id="50" name="TextBox 50"/>
                  <p:cNvSpPr txBox="1"/>
                  <p:nvPr/>
                </p:nvSpPr>
                <p:spPr>
                  <a:xfrm>
                    <a:off x="6470142" y="2502218"/>
                    <a:ext cx="1921954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j-lt"/>
                        <a:ea typeface="+mj-ea"/>
                        <a:cs typeface="+mj-cs"/>
                      </a:rPr>
                      <a:t>与现有方案的效益对比</a:t>
                    </a:r>
                  </a:p>
                </p:txBody>
              </p:sp>
            </p:grpSp>
            <p:grpSp>
              <p:nvGrpSpPr>
                <p:cNvPr id="55" name="Group 55"/>
                <p:cNvGrpSpPr/>
                <p:nvPr/>
              </p:nvGrpSpPr>
              <p:grpSpPr>
                <a:xfrm>
                  <a:off x="5810250" y="3048000"/>
                  <a:ext cx="5048250" cy="476250"/>
                  <a:chOff x="5810250" y="3048000"/>
                  <a:chExt cx="5048250" cy="476250"/>
                </a:xfrm>
              </p:grpSpPr>
              <p:sp>
                <p:nvSpPr>
                  <p:cNvPr id="52" name="Freeform 52"/>
                  <p:cNvSpPr/>
                  <p:nvPr/>
                </p:nvSpPr>
                <p:spPr>
                  <a:xfrm>
                    <a:off x="5810250" y="3048000"/>
                    <a:ext cx="5048250" cy="476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48250" h="476250">
                        <a:moveTo>
                          <a:pt x="76200" y="0"/>
                        </a:moveTo>
                        <a:lnTo>
                          <a:pt x="4972050" y="0"/>
                        </a:lnTo>
                        <a:cubicBezTo>
                          <a:pt x="5014134" y="0"/>
                          <a:pt x="5048250" y="34116"/>
                          <a:pt x="5048250" y="76200"/>
                        </a:cubicBezTo>
                        <a:lnTo>
                          <a:pt x="5048250" y="400050"/>
                        </a:lnTo>
                        <a:cubicBezTo>
                          <a:pt x="5048250" y="442134"/>
                          <a:pt x="5014134" y="476250"/>
                          <a:pt x="4972050" y="476250"/>
                        </a:cubicBezTo>
                        <a:lnTo>
                          <a:pt x="76200" y="476250"/>
                        </a:lnTo>
                        <a:cubicBezTo>
                          <a:pt x="34116" y="476250"/>
                          <a:pt x="0" y="442134"/>
                          <a:pt x="0" y="40005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2">
                      <a:alpha val="40000"/>
                    </a:schemeClr>
                  </a:solidFill>
                  <a:ln w="9525">
                    <a:solidFill>
                      <a:schemeClr val="accent4">
                        <a:alpha val="40000"/>
                      </a:schemeClr>
                    </a:solidFill>
                  </a:ln>
                </p:spPr>
              </p:sp>
              <p:sp>
                <p:nvSpPr>
                  <p:cNvPr id="53" name="TextBox 53"/>
                  <p:cNvSpPr txBox="1"/>
                  <p:nvPr/>
                </p:nvSpPr>
                <p:spPr>
                  <a:xfrm>
                    <a:off x="5993130" y="3200400"/>
                    <a:ext cx="248469" cy="2933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1500" b="1" dirty="0">
                        <a:solidFill>
                          <a:schemeClr val="accent2"/>
                        </a:solidFill>
                        <a:latin typeface="+mj-lt"/>
                        <a:ea typeface="+mj-ea"/>
                        <a:cs typeface="+mj-cs"/>
                      </a:rPr>
                      <a:t>04</a:t>
                    </a:r>
                  </a:p>
                </p:txBody>
              </p:sp>
              <p:sp>
                <p:nvSpPr>
                  <p:cNvPr id="54" name="TextBox 54"/>
                  <p:cNvSpPr txBox="1"/>
                  <p:nvPr/>
                </p:nvSpPr>
                <p:spPr>
                  <a:xfrm>
                    <a:off x="6470142" y="3216592"/>
                    <a:ext cx="1731131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j-lt"/>
                        <a:ea typeface="+mj-ea"/>
                        <a:cs typeface="+mj-cs"/>
                      </a:rPr>
                      <a:t>头部客户的真实成效</a:t>
                    </a:r>
                  </a:p>
                </p:txBody>
              </p:sp>
            </p:grpSp>
            <p:grpSp>
              <p:nvGrpSpPr>
                <p:cNvPr id="59" name="Group 59"/>
                <p:cNvGrpSpPr/>
                <p:nvPr/>
              </p:nvGrpSpPr>
              <p:grpSpPr>
                <a:xfrm>
                  <a:off x="5810250" y="3762375"/>
                  <a:ext cx="5048250" cy="476250"/>
                  <a:chOff x="5810250" y="3762375"/>
                  <a:chExt cx="5048250" cy="476250"/>
                </a:xfrm>
              </p:grpSpPr>
              <p:sp>
                <p:nvSpPr>
                  <p:cNvPr id="56" name="Freeform 56"/>
                  <p:cNvSpPr/>
                  <p:nvPr/>
                </p:nvSpPr>
                <p:spPr>
                  <a:xfrm>
                    <a:off x="5810250" y="3762375"/>
                    <a:ext cx="5048250" cy="476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48250" h="476250">
                        <a:moveTo>
                          <a:pt x="76200" y="0"/>
                        </a:moveTo>
                        <a:lnTo>
                          <a:pt x="4972050" y="0"/>
                        </a:lnTo>
                        <a:cubicBezTo>
                          <a:pt x="5014134" y="0"/>
                          <a:pt x="5048250" y="34116"/>
                          <a:pt x="5048250" y="76200"/>
                        </a:cubicBezTo>
                        <a:lnTo>
                          <a:pt x="5048250" y="400050"/>
                        </a:lnTo>
                        <a:cubicBezTo>
                          <a:pt x="5048250" y="442134"/>
                          <a:pt x="5014134" y="476250"/>
                          <a:pt x="4972050" y="476250"/>
                        </a:cubicBezTo>
                        <a:lnTo>
                          <a:pt x="76200" y="476250"/>
                        </a:lnTo>
                        <a:cubicBezTo>
                          <a:pt x="34116" y="476250"/>
                          <a:pt x="0" y="442134"/>
                          <a:pt x="0" y="400050"/>
                        </a:cubicBezTo>
                        <a:lnTo>
                          <a:pt x="0" y="76200"/>
                        </a:lnTo>
                        <a:cubicBezTo>
                          <a:pt x="0" y="34116"/>
                          <a:pt x="34116" y="0"/>
                          <a:pt x="76200" y="0"/>
                        </a:cubicBezTo>
                        <a:close/>
                      </a:path>
                    </a:pathLst>
                  </a:custGeom>
                  <a:solidFill>
                    <a:schemeClr val="lt2">
                      <a:alpha val="40000"/>
                    </a:schemeClr>
                  </a:solidFill>
                  <a:ln w="9525">
                    <a:solidFill>
                      <a:schemeClr val="accent4">
                        <a:alpha val="40000"/>
                      </a:schemeClr>
                    </a:solidFill>
                  </a:ln>
                </p:spPr>
              </p:sp>
              <p:sp>
                <p:nvSpPr>
                  <p:cNvPr id="57" name="TextBox 57"/>
                  <p:cNvSpPr txBox="1"/>
                  <p:nvPr/>
                </p:nvSpPr>
                <p:spPr>
                  <a:xfrm>
                    <a:off x="5993130" y="3914775"/>
                    <a:ext cx="248469" cy="2933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en-US" sz="1500" b="1" dirty="0">
                        <a:solidFill>
                          <a:schemeClr val="accent3"/>
                        </a:solidFill>
                        <a:latin typeface="+mj-lt"/>
                        <a:ea typeface="+mj-ea"/>
                        <a:cs typeface="+mj-cs"/>
                      </a:rPr>
                      <a:t>05</a:t>
                    </a:r>
                  </a:p>
                </p:txBody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6470142" y="3930968"/>
                    <a:ext cx="1750213" cy="2640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b="1" dirty="0">
                        <a:solidFill>
                          <a:schemeClr val="dk1"/>
                        </a:solidFill>
                        <a:latin typeface="+mj-lt"/>
                        <a:ea typeface="+mj-ea"/>
                        <a:cs typeface="+mj-cs"/>
                      </a:rPr>
                      <a:t>12周分阶段部署计划</a:t>
                    </a:r>
                  </a:p>
                </p:txBody>
              </p:sp>
            </p:grpSp>
          </p:grpSp>
          <p:grpSp>
            <p:nvGrpSpPr>
              <p:cNvPr id="65" name="Group 65"/>
              <p:cNvGrpSpPr/>
              <p:nvPr/>
            </p:nvGrpSpPr>
            <p:grpSpPr>
              <a:xfrm>
                <a:off x="5810250" y="4476750"/>
                <a:ext cx="5048250" cy="762000"/>
                <a:chOff x="5810250" y="4476750"/>
                <a:chExt cx="5048250" cy="762000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5810250" y="4476750"/>
                  <a:ext cx="504825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8250" h="762000">
                      <a:moveTo>
                        <a:pt x="114300" y="0"/>
                      </a:moveTo>
                      <a:lnTo>
                        <a:pt x="4933950" y="0"/>
                      </a:lnTo>
                      <a:cubicBezTo>
                        <a:pt x="4997076" y="0"/>
                        <a:pt x="5048250" y="51174"/>
                        <a:pt x="5048250" y="114300"/>
                      </a:cubicBezTo>
                      <a:lnTo>
                        <a:pt x="5048250" y="647700"/>
                      </a:lnTo>
                      <a:cubicBezTo>
                        <a:pt x="5048250" y="710826"/>
                        <a:pt x="4997076" y="762000"/>
                        <a:pt x="4933950" y="762000"/>
                      </a:cubicBezTo>
                      <a:lnTo>
                        <a:pt x="114300" y="762000"/>
                      </a:lnTo>
                      <a:cubicBezTo>
                        <a:pt x="51174" y="762000"/>
                        <a:pt x="0" y="710826"/>
                        <a:pt x="0" y="647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2000"/>
                      </a:schemeClr>
                    </a:gs>
                    <a:gs pos="100000">
                      <a:schemeClr val="accent2">
                        <a:alpha val="6000"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1">
                      <a:alpha val="30000"/>
                    </a:schemeClr>
                  </a:solidFill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5810250" y="4476750"/>
                  <a:ext cx="504825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5995416" y="469677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j-lt"/>
                      <a:ea typeface="+mj-ea"/>
                      <a:cs typeface="+mj-cs"/>
                    </a:rPr>
                    <a:t>决策路径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5994654" y="4918710"/>
                  <a:ext cx="398617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市场判断 → 架构设计 → 价值验证 → 数据证明 → 落地执行</a:t>
                  </a:r>
                </a:p>
              </p:txBody>
            </p:sp>
          </p:grpSp>
        </p:grpSp>
      </p:grpSp>
      <p:grpSp>
        <p:nvGrpSpPr>
          <p:cNvPr id="70" name="Group 70"/>
          <p:cNvGrpSpPr/>
          <p:nvPr/>
        </p:nvGrpSpPr>
        <p:grpSpPr>
          <a:xfrm>
            <a:off x="947738" y="6379845"/>
            <a:ext cx="10569130" cy="176212"/>
            <a:chOff x="947738" y="6379845"/>
            <a:chExt cx="10569130" cy="176212"/>
          </a:xfrm>
        </p:grpSpPr>
        <p:sp>
          <p:nvSpPr>
            <p:cNvPr id="68" name="TextBox 68"/>
            <p:cNvSpPr txBox="1"/>
            <p:nvPr/>
          </p:nvSpPr>
          <p:spPr>
            <a:xfrm>
              <a:off x="11234738" y="637984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2 / 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7738" y="6379845"/>
              <a:ext cx="10144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0F1430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6166" y="552450"/>
            <a:ext cx="1338834" cy="533400"/>
            <a:chOff x="566166" y="552450"/>
            <a:chExt cx="1338834" cy="533400"/>
          </a:xfrm>
        </p:grpSpPr>
        <p:sp>
          <p:nvSpPr>
            <p:cNvPr id="5" name="Line 5"/>
            <p:cNvSpPr/>
            <p:nvPr/>
          </p:nvSpPr>
          <p:spPr>
            <a:xfrm>
              <a:off x="571500" y="5524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791528"/>
              <a:ext cx="695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225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高亮观点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571500" y="1047750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19050" y="0"/>
                  </a:moveTo>
                  <a:lnTo>
                    <a:pt x="552450" y="0"/>
                  </a:lnTo>
                  <a:cubicBezTo>
                    <a:pt x="562971" y="0"/>
                    <a:pt x="571500" y="8529"/>
                    <a:pt x="571500" y="19050"/>
                  </a:cubicBezTo>
                  <a:lnTo>
                    <a:pt x="571500" y="19050"/>
                  </a:lnTo>
                  <a:cubicBezTo>
                    <a:pt x="571500" y="29571"/>
                    <a:pt x="562971" y="38100"/>
                    <a:pt x="5524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557784" y="1423035"/>
            <a:ext cx="11062716" cy="4672965"/>
            <a:chOff x="557784" y="1423035"/>
            <a:chExt cx="11062716" cy="4672965"/>
          </a:xfrm>
        </p:grpSpPr>
        <p:sp>
          <p:nvSpPr>
            <p:cNvPr id="9" name="TextBox 9"/>
            <p:cNvSpPr txBox="1"/>
            <p:nvPr/>
          </p:nvSpPr>
          <p:spPr>
            <a:xfrm>
              <a:off x="557784" y="1423035"/>
              <a:ext cx="460720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决策层必须正视的三个现实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71500" y="2095500"/>
              <a:ext cx="11049000" cy="952500"/>
            </a:xfrm>
            <a:custGeom>
              <a:avLst/>
              <a:gdLst/>
              <a:ahLst/>
              <a:cxnLst/>
              <a:rect l="l" t="t" r="r" b="b"/>
              <a:pathLst>
                <a:path w="11049000" h="952500">
                  <a:moveTo>
                    <a:pt x="152400" y="0"/>
                  </a:moveTo>
                  <a:lnTo>
                    <a:pt x="10896600" y="0"/>
                  </a:lnTo>
                  <a:cubicBezTo>
                    <a:pt x="10980768" y="0"/>
                    <a:pt x="11049000" y="68232"/>
                    <a:pt x="11049000" y="152400"/>
                  </a:cubicBezTo>
                  <a:lnTo>
                    <a:pt x="11049000" y="800100"/>
                  </a:lnTo>
                  <a:cubicBezTo>
                    <a:pt x="11049000" y="884268"/>
                    <a:pt x="10980768" y="952500"/>
                    <a:pt x="10896600" y="952500"/>
                  </a:cubicBezTo>
                  <a:lnTo>
                    <a:pt x="152400" y="952500"/>
                  </a:lnTo>
                  <a:cubicBezTo>
                    <a:pt x="68232" y="952500"/>
                    <a:pt x="0" y="884268"/>
                    <a:pt x="0" y="8001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15000"/>
                  </a:schemeClr>
                </a:gs>
                <a:gs pos="100000">
                  <a:schemeClr val="accent2">
                    <a:alpha val="8000"/>
                  </a:schemeClr>
                </a:gs>
              </a:gsLst>
              <a:lin ang="2700000" scaled="1"/>
            </a:gradFill>
            <a:ln w="9525">
              <a:solidFill>
                <a:srgbClr val="FFFFFF">
                  <a:alpha val="12000"/>
                </a:srgbClr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2095500"/>
              <a:ext cx="11049000" cy="952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3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8868" y="2374582"/>
              <a:ext cx="13310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营销ROI下滑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63368" y="23745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7185"/>
                  </a:solidFill>
                  <a:latin typeface="+mj-lt"/>
                  <a:ea typeface="+mj-ea"/>
                  <a:cs typeface="+mj-cs"/>
                </a:rPr>
                <a:t>不是趋势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6368" y="23745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，是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82618" y="23745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B7185"/>
                  </a:solidFill>
                  <a:latin typeface="+mj-lt"/>
                  <a:ea typeface="+mj-ea"/>
                  <a:cs typeface="+mj-cs"/>
                </a:rPr>
                <a:t>正在发生的危机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01993" y="237458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。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571500" y="3429000"/>
              <a:ext cx="11049000" cy="2667000"/>
              <a:chOff x="571500" y="3429000"/>
              <a:chExt cx="11049000" cy="2667000"/>
            </a:xfrm>
          </p:grpSpPr>
          <p:grpSp>
            <p:nvGrpSpPr>
              <p:cNvPr id="29" name="Group 29"/>
              <p:cNvGrpSpPr/>
              <p:nvPr/>
            </p:nvGrpSpPr>
            <p:grpSpPr>
              <a:xfrm>
                <a:off x="571500" y="3429000"/>
                <a:ext cx="3429000" cy="2667000"/>
                <a:chOff x="571500" y="3429000"/>
                <a:chExt cx="3429000" cy="26670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571500" y="3429000"/>
                  <a:ext cx="34290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2667000">
                      <a:moveTo>
                        <a:pt x="152400" y="0"/>
                      </a:moveTo>
                      <a:lnTo>
                        <a:pt x="3276600" y="0"/>
                      </a:lnTo>
                      <a:cubicBezTo>
                        <a:pt x="3360768" y="0"/>
                        <a:pt x="3429000" y="68232"/>
                        <a:pt x="3429000" y="152400"/>
                      </a:cubicBezTo>
                      <a:lnTo>
                        <a:pt x="3429000" y="2514600"/>
                      </a:lnTo>
                      <a:cubicBezTo>
                        <a:pt x="3429000" y="2598768"/>
                        <a:pt x="3360768" y="2667000"/>
                        <a:pt x="3276600" y="2667000"/>
                      </a:cubicBezTo>
                      <a:lnTo>
                        <a:pt x="152400" y="2667000"/>
                      </a:lnTo>
                      <a:cubicBezTo>
                        <a:pt x="68232" y="2667000"/>
                        <a:pt x="0" y="2598768"/>
                        <a:pt x="0" y="251460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5000"/>
                      </a:schemeClr>
                    </a:gs>
                    <a:gs pos="100000">
                      <a:schemeClr val="accent2">
                        <a:alpha val="8000"/>
                      </a:schemeClr>
                    </a:gs>
                  </a:gsLst>
                  <a:lin ang="2700000" scaled="1"/>
                </a:gradFill>
                <a:ln w="9525">
                  <a:solidFill>
                    <a:srgbClr val="FFFFFF">
                      <a:alpha val="15000"/>
                    </a:srgbClr>
                  </a:solidFill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571500" y="3429000"/>
                  <a:ext cx="34290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62000" y="3619500"/>
                  <a:ext cx="41910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419100">
                      <a:moveTo>
                        <a:pt x="95250" y="0"/>
                      </a:moveTo>
                      <a:lnTo>
                        <a:pt x="323850" y="0"/>
                      </a:lnTo>
                      <a:cubicBezTo>
                        <a:pt x="376455" y="0"/>
                        <a:pt x="419100" y="42645"/>
                        <a:pt x="419100" y="95250"/>
                      </a:cubicBezTo>
                      <a:lnTo>
                        <a:pt x="419100" y="323850"/>
                      </a:lnTo>
                      <a:cubicBezTo>
                        <a:pt x="419100" y="376455"/>
                        <a:pt x="376455" y="419100"/>
                        <a:pt x="323850" y="419100"/>
                      </a:cubicBezTo>
                      <a:lnTo>
                        <a:pt x="95250" y="419100"/>
                      </a:lnTo>
                      <a:cubicBezTo>
                        <a:pt x="42645" y="419100"/>
                        <a:pt x="0" y="376455"/>
                        <a:pt x="0" y="323850"/>
                      </a:cubicBezTo>
                      <a:lnTo>
                        <a:pt x="0" y="95250"/>
                      </a:lnTo>
                      <a:cubicBezTo>
                        <a:pt x="0" y="42645"/>
                        <a:pt x="42645" y="0"/>
                        <a:pt x="95250" y="0"/>
                      </a:cubicBezTo>
                      <a:close/>
                    </a:path>
                  </a:pathLst>
                </a:custGeom>
                <a:solidFill>
                  <a:srgbClr val="FB7185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33640" y="3743325"/>
                  <a:ext cx="7581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rgbClr val="FB7185"/>
                      </a:solidFill>
                      <a:latin typeface="+mj-lt"/>
                      <a:ea typeface="+mj-ea"/>
                      <a:cs typeface="+mj-cs"/>
                    </a:rPr>
                    <a:t>!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326642" y="37595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成本失控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742950" y="3989070"/>
                  <a:ext cx="1450196" cy="1047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5400" b="1" dirty="0">
                      <a:solidFill>
                        <a:srgbClr val="FB7185"/>
                      </a:solidFill>
                      <a:latin typeface="+mn-lt"/>
                      <a:ea typeface="+mn-ea"/>
                      <a:cs typeface="+mn-cs"/>
                    </a:rPr>
                    <a:t>22%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755904" y="4823460"/>
                  <a:ext cx="162763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人工运营成本年增幅度</a:t>
                  </a:r>
                </a:p>
              </p:txBody>
            </p:sp>
            <p:sp>
              <p:nvSpPr>
                <p:cNvPr id="24" name="Freeform 24"/>
                <p:cNvSpPr/>
                <p:nvPr/>
              </p:nvSpPr>
              <p:spPr>
                <a:xfrm>
                  <a:off x="762000" y="5191125"/>
                  <a:ext cx="2857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57150">
                      <a:moveTo>
                        <a:pt x="28575" y="0"/>
                      </a:moveTo>
                      <a:lnTo>
                        <a:pt x="2828925" y="0"/>
                      </a:lnTo>
                      <a:cubicBezTo>
                        <a:pt x="2844707" y="0"/>
                        <a:pt x="2857500" y="12793"/>
                        <a:pt x="2857500" y="28575"/>
                      </a:cubicBezTo>
                      <a:lnTo>
                        <a:pt x="2857500" y="28575"/>
                      </a:lnTo>
                      <a:cubicBezTo>
                        <a:pt x="2857500" y="44357"/>
                        <a:pt x="2844707" y="57150"/>
                        <a:pt x="2828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762000" y="5191125"/>
                  <a:ext cx="6286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0" h="57150">
                      <a:moveTo>
                        <a:pt x="28575" y="0"/>
                      </a:moveTo>
                      <a:lnTo>
                        <a:pt x="600075" y="0"/>
                      </a:lnTo>
                      <a:cubicBezTo>
                        <a:pt x="615857" y="0"/>
                        <a:pt x="628650" y="12793"/>
                        <a:pt x="628650" y="28575"/>
                      </a:cubicBezTo>
                      <a:lnTo>
                        <a:pt x="628650" y="28575"/>
                      </a:lnTo>
                      <a:cubicBezTo>
                        <a:pt x="628650" y="44357"/>
                        <a:pt x="615857" y="57150"/>
                        <a:pt x="60007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rgbClr val="FB7185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56666" y="541115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j-lt"/>
                      <a:ea typeface="+mj-ea"/>
                      <a:cs typeface="+mj-cs"/>
                    </a:rPr>
                    <a:t>但转化率基本持平</a:t>
                  </a:r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762000" y="5762625"/>
                  <a:ext cx="2857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9525">
                      <a:moveTo>
                        <a:pt x="0" y="0"/>
                      </a:moveTo>
                      <a:lnTo>
                        <a:pt x="2857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57047" y="5847874"/>
                  <a:ext cx="231206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accent5"/>
                      </a:solidFill>
                      <a:latin typeface="+mj-lt"/>
                      <a:ea typeface="+mj-ea"/>
                      <a:cs typeface="+mj-cs"/>
                    </a:rPr>
                    <a:t>ROI持续承压，人力投入边际效益递减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4381500" y="3429000"/>
                <a:ext cx="3429000" cy="2667000"/>
                <a:chOff x="4381500" y="3429000"/>
                <a:chExt cx="3429000" cy="266700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4381500" y="3429000"/>
                  <a:ext cx="34290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2667000">
                      <a:moveTo>
                        <a:pt x="152400" y="0"/>
                      </a:moveTo>
                      <a:lnTo>
                        <a:pt x="3276600" y="0"/>
                      </a:lnTo>
                      <a:cubicBezTo>
                        <a:pt x="3360768" y="0"/>
                        <a:pt x="3429000" y="68232"/>
                        <a:pt x="3429000" y="152400"/>
                      </a:cubicBezTo>
                      <a:lnTo>
                        <a:pt x="3429000" y="2514600"/>
                      </a:lnTo>
                      <a:cubicBezTo>
                        <a:pt x="3429000" y="2598768"/>
                        <a:pt x="3360768" y="2667000"/>
                        <a:pt x="3276600" y="2667000"/>
                      </a:cubicBezTo>
                      <a:lnTo>
                        <a:pt x="152400" y="2667000"/>
                      </a:lnTo>
                      <a:cubicBezTo>
                        <a:pt x="68232" y="2667000"/>
                        <a:pt x="0" y="2598768"/>
                        <a:pt x="0" y="251460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5000"/>
                      </a:schemeClr>
                    </a:gs>
                    <a:gs pos="100000">
                      <a:schemeClr val="accent2">
                        <a:alpha val="8000"/>
                      </a:schemeClr>
                    </a:gs>
                  </a:gsLst>
                  <a:lin ang="2700000" scaled="1"/>
                </a:gradFill>
                <a:ln w="9525">
                  <a:solidFill>
                    <a:srgbClr val="FFFFFF">
                      <a:alpha val="15000"/>
                    </a:srgbClr>
                  </a:solidFill>
                </a:ln>
              </p:spPr>
            </p:sp>
            <p:sp>
              <p:nvSpPr>
                <p:cNvPr id="31" name="Rectangle 31"/>
                <p:cNvSpPr/>
                <p:nvPr/>
              </p:nvSpPr>
              <p:spPr>
                <a:xfrm>
                  <a:off x="4381500" y="3429000"/>
                  <a:ext cx="34290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572000" y="3619500"/>
                  <a:ext cx="41910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419100">
                      <a:moveTo>
                        <a:pt x="95250" y="0"/>
                      </a:moveTo>
                      <a:lnTo>
                        <a:pt x="323850" y="0"/>
                      </a:lnTo>
                      <a:cubicBezTo>
                        <a:pt x="376455" y="0"/>
                        <a:pt x="419100" y="42645"/>
                        <a:pt x="419100" y="95250"/>
                      </a:cubicBezTo>
                      <a:lnTo>
                        <a:pt x="419100" y="323850"/>
                      </a:lnTo>
                      <a:cubicBezTo>
                        <a:pt x="419100" y="376455"/>
                        <a:pt x="376455" y="419100"/>
                        <a:pt x="323850" y="419100"/>
                      </a:cubicBezTo>
                      <a:lnTo>
                        <a:pt x="95250" y="419100"/>
                      </a:lnTo>
                      <a:cubicBezTo>
                        <a:pt x="42645" y="419100"/>
                        <a:pt x="0" y="376455"/>
                        <a:pt x="0" y="323850"/>
                      </a:cubicBezTo>
                      <a:lnTo>
                        <a:pt x="0" y="95250"/>
                      </a:lnTo>
                      <a:cubicBezTo>
                        <a:pt x="0" y="42645"/>
                        <a:pt x="42645" y="0"/>
                        <a:pt x="95250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4718399" y="3743325"/>
                  <a:ext cx="12630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⌘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5136642" y="3759518"/>
                  <a:ext cx="96783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触点碎片化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4553712" y="4183380"/>
                  <a:ext cx="596326" cy="704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6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7+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136642" y="4426268"/>
                  <a:ext cx="19545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个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327142" y="4426268"/>
                  <a:ext cx="37719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渠道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4565904" y="4823460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客户旅程涉及的渠道数量</a:t>
                  </a:r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4572000" y="5191125"/>
                  <a:ext cx="2857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57150">
                      <a:moveTo>
                        <a:pt x="28575" y="0"/>
                      </a:moveTo>
                      <a:lnTo>
                        <a:pt x="2828925" y="0"/>
                      </a:lnTo>
                      <a:cubicBezTo>
                        <a:pt x="2844707" y="0"/>
                        <a:pt x="2857500" y="12793"/>
                        <a:pt x="2857500" y="28575"/>
                      </a:cubicBezTo>
                      <a:lnTo>
                        <a:pt x="2857500" y="28575"/>
                      </a:lnTo>
                      <a:cubicBezTo>
                        <a:pt x="2857500" y="44357"/>
                        <a:pt x="2844707" y="57150"/>
                        <a:pt x="2828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4572000" y="5191125"/>
                  <a:ext cx="19050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57150">
                      <a:moveTo>
                        <a:pt x="28575" y="0"/>
                      </a:moveTo>
                      <a:lnTo>
                        <a:pt x="1876425" y="0"/>
                      </a:lnTo>
                      <a:cubicBezTo>
                        <a:pt x="1892207" y="0"/>
                        <a:pt x="1905000" y="12793"/>
                        <a:pt x="1905000" y="28575"/>
                      </a:cubicBezTo>
                      <a:lnTo>
                        <a:pt x="1905000" y="28575"/>
                      </a:lnTo>
                      <a:cubicBezTo>
                        <a:pt x="1905000" y="44357"/>
                        <a:pt x="1892207" y="57150"/>
                        <a:pt x="18764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4566666" y="541115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j-lt"/>
                      <a:ea typeface="+mj-ea"/>
                      <a:cs typeface="+mj-cs"/>
                    </a:rPr>
                    <a:t>单一团队已无法有效追踪</a:t>
                  </a:r>
                </a:p>
              </p:txBody>
            </p:sp>
            <p:sp>
              <p:nvSpPr>
                <p:cNvPr id="42" name="Line 42"/>
                <p:cNvSpPr/>
                <p:nvPr/>
              </p:nvSpPr>
              <p:spPr>
                <a:xfrm>
                  <a:off x="4572000" y="5762625"/>
                  <a:ext cx="2857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9525">
                      <a:moveTo>
                        <a:pt x="0" y="0"/>
                      </a:moveTo>
                      <a:lnTo>
                        <a:pt x="2857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4567047" y="5847874"/>
                  <a:ext cx="158496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accent5"/>
                      </a:solidFill>
                      <a:latin typeface="+mj-lt"/>
                      <a:ea typeface="+mj-ea"/>
                      <a:cs typeface="+mj-cs"/>
                    </a:rPr>
                    <a:t>数据孤岛导致决策盲区扩大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8191500" y="3429000"/>
                <a:ext cx="3429000" cy="2667000"/>
                <a:chOff x="8191500" y="3429000"/>
                <a:chExt cx="3429000" cy="2667000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8191500" y="3429000"/>
                  <a:ext cx="3429000" cy="266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2667000">
                      <a:moveTo>
                        <a:pt x="152400" y="0"/>
                      </a:moveTo>
                      <a:lnTo>
                        <a:pt x="3276600" y="0"/>
                      </a:lnTo>
                      <a:cubicBezTo>
                        <a:pt x="3360768" y="0"/>
                        <a:pt x="3429000" y="68232"/>
                        <a:pt x="3429000" y="152400"/>
                      </a:cubicBezTo>
                      <a:lnTo>
                        <a:pt x="3429000" y="2514600"/>
                      </a:lnTo>
                      <a:cubicBezTo>
                        <a:pt x="3429000" y="2598768"/>
                        <a:pt x="3360768" y="2667000"/>
                        <a:pt x="3276600" y="2667000"/>
                      </a:cubicBezTo>
                      <a:lnTo>
                        <a:pt x="152400" y="2667000"/>
                      </a:lnTo>
                      <a:cubicBezTo>
                        <a:pt x="68232" y="2667000"/>
                        <a:pt x="0" y="2598768"/>
                        <a:pt x="0" y="251460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5000"/>
                      </a:schemeClr>
                    </a:gs>
                    <a:gs pos="100000">
                      <a:schemeClr val="accent2">
                        <a:alpha val="8000"/>
                      </a:schemeClr>
                    </a:gs>
                  </a:gsLst>
                  <a:lin ang="2700000" scaled="1"/>
                </a:gradFill>
                <a:ln w="9525">
                  <a:solidFill>
                    <a:srgbClr val="FFFFFF">
                      <a:alpha val="15000"/>
                    </a:srgbClr>
                  </a:solidFill>
                </a:ln>
              </p:spPr>
            </p:sp>
            <p:sp>
              <p:nvSpPr>
                <p:cNvPr id="46" name="Rectangle 46"/>
                <p:cNvSpPr/>
                <p:nvPr/>
              </p:nvSpPr>
              <p:spPr>
                <a:xfrm>
                  <a:off x="8191500" y="3429000"/>
                  <a:ext cx="34290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0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8382000" y="3619500"/>
                  <a:ext cx="419100" cy="41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419100">
                      <a:moveTo>
                        <a:pt x="95250" y="0"/>
                      </a:moveTo>
                      <a:lnTo>
                        <a:pt x="323850" y="0"/>
                      </a:lnTo>
                      <a:cubicBezTo>
                        <a:pt x="376455" y="0"/>
                        <a:pt x="419100" y="42645"/>
                        <a:pt x="419100" y="95250"/>
                      </a:cubicBezTo>
                      <a:lnTo>
                        <a:pt x="419100" y="323850"/>
                      </a:lnTo>
                      <a:cubicBezTo>
                        <a:pt x="419100" y="376455"/>
                        <a:pt x="376455" y="419100"/>
                        <a:pt x="323850" y="419100"/>
                      </a:cubicBezTo>
                      <a:lnTo>
                        <a:pt x="95250" y="419100"/>
                      </a:lnTo>
                      <a:cubicBezTo>
                        <a:pt x="42645" y="419100"/>
                        <a:pt x="0" y="376455"/>
                        <a:pt x="0" y="323850"/>
                      </a:cubicBezTo>
                      <a:lnTo>
                        <a:pt x="0" y="95250"/>
                      </a:lnTo>
                      <a:cubicBezTo>
                        <a:pt x="0" y="42645"/>
                        <a:pt x="42645" y="0"/>
                        <a:pt x="95250" y="0"/>
                      </a:cubicBezTo>
                      <a:close/>
                    </a:path>
                  </a:pathLst>
                </a:custGeom>
                <a:solidFill>
                  <a:schemeClr val="accent3">
                    <a:alpha val="20000"/>
                  </a:schemeClr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528399" y="3743325"/>
                  <a:ext cx="12630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dirty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rPr>
                    <a:t>⚡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8946642" y="37595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竞争窗口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8363712" y="4183380"/>
                  <a:ext cx="735543" cy="7040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600" b="1" dirty="0">
                      <a:solidFill>
                        <a:schemeClr val="accent3"/>
                      </a:solidFill>
                      <a:latin typeface="+mj-lt"/>
                      <a:ea typeface="+mj-ea"/>
                      <a:cs typeface="+mj-cs"/>
                    </a:rPr>
                    <a:t>Q3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9137142" y="4426268"/>
                  <a:ext cx="19545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前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8375904" y="4823460"/>
                  <a:ext cx="203484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竞品完成AI营销布局截止期</a:t>
                  </a:r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8382000" y="5191125"/>
                  <a:ext cx="28575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57150">
                      <a:moveTo>
                        <a:pt x="28575" y="0"/>
                      </a:moveTo>
                      <a:lnTo>
                        <a:pt x="2828925" y="0"/>
                      </a:lnTo>
                      <a:cubicBezTo>
                        <a:pt x="2844707" y="0"/>
                        <a:pt x="2857500" y="12793"/>
                        <a:pt x="2857500" y="28575"/>
                      </a:cubicBezTo>
                      <a:lnTo>
                        <a:pt x="2857500" y="28575"/>
                      </a:lnTo>
                      <a:cubicBezTo>
                        <a:pt x="2857500" y="44357"/>
                        <a:pt x="2844707" y="57150"/>
                        <a:pt x="28289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382000" y="5191125"/>
                  <a:ext cx="7620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0" h="57150">
                      <a:moveTo>
                        <a:pt x="28575" y="0"/>
                      </a:moveTo>
                      <a:lnTo>
                        <a:pt x="733425" y="0"/>
                      </a:lnTo>
                      <a:cubicBezTo>
                        <a:pt x="749207" y="0"/>
                        <a:pt x="762000" y="12793"/>
                        <a:pt x="762000" y="28575"/>
                      </a:cubicBezTo>
                      <a:lnTo>
                        <a:pt x="762000" y="28575"/>
                      </a:lnTo>
                      <a:cubicBezTo>
                        <a:pt x="762000" y="44357"/>
                        <a:pt x="749207" y="57150"/>
                        <a:pt x="733425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376666" y="5411152"/>
                  <a:ext cx="114147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accent5"/>
                      </a:solidFill>
                      <a:latin typeface="+mj-lt"/>
                      <a:ea typeface="+mj-ea"/>
                      <a:cs typeface="+mj-cs"/>
                    </a:rPr>
                    <a:t>时间窗口正在收窄</a:t>
                  </a:r>
                </a:p>
              </p:txBody>
            </p:sp>
            <p:sp>
              <p:nvSpPr>
                <p:cNvPr id="56" name="Line 56"/>
                <p:cNvSpPr/>
                <p:nvPr/>
              </p:nvSpPr>
              <p:spPr>
                <a:xfrm>
                  <a:off x="8382000" y="5762625"/>
                  <a:ext cx="2857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0" h="9525">
                      <a:moveTo>
                        <a:pt x="0" y="0"/>
                      </a:moveTo>
                      <a:lnTo>
                        <a:pt x="28575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377047" y="5847874"/>
                  <a:ext cx="1584960" cy="1906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80" dirty="0">
                      <a:solidFill>
                        <a:schemeClr val="accent5"/>
                      </a:solidFill>
                      <a:latin typeface="+mj-lt"/>
                      <a:ea typeface="+mj-ea"/>
                      <a:cs typeface="+mj-cs"/>
                    </a:rPr>
                    <a:t>先发优势一旦形成难以追赶</a:t>
                  </a:r>
                </a:p>
              </p:txBody>
            </p:sp>
          </p:grpSp>
        </p:grpSp>
      </p:grpSp>
      <p:grpSp>
        <p:nvGrpSpPr>
          <p:cNvPr id="63" name="Group 63"/>
          <p:cNvGrpSpPr/>
          <p:nvPr/>
        </p:nvGrpSpPr>
        <p:grpSpPr>
          <a:xfrm>
            <a:off x="566738" y="6578441"/>
            <a:ext cx="10677524" cy="161925"/>
            <a:chOff x="566738" y="6578441"/>
            <a:chExt cx="10677524" cy="161925"/>
          </a:xfrm>
        </p:grpSpPr>
        <p:sp>
          <p:nvSpPr>
            <p:cNvPr id="61" name="TextBox 61"/>
            <p:cNvSpPr txBox="1"/>
            <p:nvPr/>
          </p:nvSpPr>
          <p:spPr>
            <a:xfrm>
              <a:off x="10862681" y="65784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03 / 08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66738" y="65784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2324100" y="-2438400"/>
            <a:ext cx="17792700" cy="11258550"/>
            <a:chOff x="-2324100" y="-2438400"/>
            <a:chExt cx="17792700" cy="112585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4038600" y="-2438400"/>
              <a:ext cx="11430000" cy="7620000"/>
            </a:xfrm>
            <a:prstGeom prst="ellipse">
              <a:avLst/>
            </a:prstGeom>
            <a:gradFill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324100" y="2152650"/>
              <a:ext cx="9525000" cy="6667500"/>
            </a:xfrm>
            <a:prstGeom prst="ellipse">
              <a:avLst/>
            </a:pr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799"/>
                  </a:schemeClr>
                </a:gs>
                <a:gs pos="100000">
                  <a:schemeClr val="accent2">
                    <a:alpha val="800"/>
                  </a:scheme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0" y="0"/>
            <a:ext cx="12599556" cy="581025"/>
            <a:chOff x="0" y="0"/>
            <a:chExt cx="12599556" cy="581025"/>
          </a:xfrm>
        </p:grpSpPr>
        <p:sp>
          <p:nvSpPr>
            <p:cNvPr id="7" name="Rectangle 7"/>
            <p:cNvSpPr/>
            <p:nvPr/>
          </p:nvSpPr>
          <p:spPr>
            <a:xfrm>
              <a:off x="571500" y="0"/>
              <a:ext cx="28575" cy="571500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0" y="571500"/>
              <a:ext cx="12192000" cy="9525"/>
            </a:xfrm>
            <a:prstGeom prst="rect">
              <a:avLst/>
            </a:prstGeom>
            <a:gradFill>
              <a:gsLst>
                <a:gs pos="0">
                  <a:schemeClr val="accent1">
                    <a:alpha val="60000"/>
                  </a:schemeClr>
                </a:gs>
                <a:gs pos="100000">
                  <a:schemeClr val="accent2">
                    <a:alpha val="60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7616" y="24860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玩法对比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44288" y="264795"/>
              <a:ext cx="11552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AI 营销工作台 · 4/8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2000" y="851535"/>
            <a:ext cx="10668000" cy="5549265"/>
            <a:chOff x="762000" y="851535"/>
            <a:chExt cx="10668000" cy="5549265"/>
          </a:xfrm>
        </p:grpSpPr>
        <p:sp>
          <p:nvSpPr>
            <p:cNvPr id="12" name="TextBox 12"/>
            <p:cNvSpPr txBox="1"/>
            <p:nvPr/>
          </p:nvSpPr>
          <p:spPr>
            <a:xfrm>
              <a:off x="3601574" y="851535"/>
              <a:ext cx="498885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5000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j-lt"/>
                  <a:ea typeface="+mj-ea"/>
                  <a:cs typeface="+mj-cs"/>
                </a:rPr>
                <a:t>三条路径，投入产出截然不同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03244" y="1330642"/>
              <a:ext cx="47855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自建系统周期长、成本高；AI工作台即开即用、持续迭代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762000" y="1809750"/>
              <a:ext cx="3238500" cy="4000500"/>
              <a:chOff x="762000" y="1809750"/>
              <a:chExt cx="3238500" cy="4000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62000" y="1809750"/>
                <a:ext cx="323850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4000500">
                    <a:moveTo>
                      <a:pt x="152400" y="0"/>
                    </a:moveTo>
                    <a:lnTo>
                      <a:pt x="3086100" y="0"/>
                    </a:lnTo>
                    <a:cubicBezTo>
                      <a:pt x="3170268" y="0"/>
                      <a:pt x="3238500" y="68232"/>
                      <a:pt x="3238500" y="152400"/>
                    </a:cubicBezTo>
                    <a:lnTo>
                      <a:pt x="3238500" y="3848100"/>
                    </a:lnTo>
                    <a:cubicBezTo>
                      <a:pt x="3238500" y="3932268"/>
                      <a:pt x="3170268" y="4000500"/>
                      <a:pt x="3086100" y="4000500"/>
                    </a:cubicBezTo>
                    <a:lnTo>
                      <a:pt x="152400" y="4000500"/>
                    </a:lnTo>
                    <a:cubicBezTo>
                      <a:pt x="68232" y="4000500"/>
                      <a:pt x="0" y="3932268"/>
                      <a:pt x="0" y="3848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B7185">
                      <a:alpha val="20000"/>
                    </a:srgbClr>
                  </a:gs>
                  <a:gs pos="100000">
                    <a:srgbClr val="FB7185">
                      <a:alpha val="8000"/>
                    </a:srgbClr>
                  </a:gs>
                </a:gsLst>
                <a:lin ang="2700000" scaled="1"/>
              </a:gradFill>
              <a:ln w="9525">
                <a:solidFill>
                  <a:srgbClr val="FB7185">
                    <a:alpha val="40000"/>
                  </a:srgbClr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62000" y="1809750"/>
                <a:ext cx="3238500" cy="9525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3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62000" y="1809750"/>
                <a:ext cx="32385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38100">
                    <a:moveTo>
                      <a:pt x="19050" y="0"/>
                    </a:moveTo>
                    <a:lnTo>
                      <a:pt x="3219450" y="0"/>
                    </a:lnTo>
                    <a:cubicBezTo>
                      <a:pt x="3229971" y="0"/>
                      <a:pt x="3238500" y="8529"/>
                      <a:pt x="3238500" y="19050"/>
                    </a:cubicBezTo>
                    <a:lnTo>
                      <a:pt x="3238500" y="19050"/>
                    </a:lnTo>
                    <a:cubicBezTo>
                      <a:pt x="3238500" y="29571"/>
                      <a:pt x="3229971" y="38100"/>
                      <a:pt x="32194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FB7185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949577" y="20288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B7185"/>
                    </a:solidFill>
                    <a:latin typeface="+mj-lt"/>
                    <a:ea typeface="+mj-ea"/>
                    <a:cs typeface="+mj-cs"/>
                  </a:rPr>
                  <a:t>自建系统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093214" y="2315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定制开发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1143000" y="2667000"/>
                <a:ext cx="2476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9525">
                    <a:moveTo>
                      <a:pt x="0" y="0"/>
                    </a:moveTo>
                    <a:lnTo>
                      <a:pt x="2476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083087" y="2849880"/>
                <a:ext cx="596326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FB7185"/>
                    </a:solidFill>
                    <a:latin typeface="+mj-lt"/>
                    <a:ea typeface="+mj-ea"/>
                    <a:cs typeface="+mj-cs"/>
                  </a:rPr>
                  <a:t>18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890522" y="33947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个月建设周期</a:t>
                </a:r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1137666" y="3887152"/>
                <a:ext cx="2487168" cy="1348359"/>
                <a:chOff x="1137666" y="3887152"/>
                <a:chExt cx="2487168" cy="1348359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1137666" y="38871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初始投入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3139227" y="3887152"/>
                  <a:ext cx="48560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B7185"/>
                      </a:solidFill>
                      <a:latin typeface="+mj-lt"/>
                      <a:ea typeface="+mj-ea"/>
                      <a:cs typeface="+mj-cs"/>
                    </a:rPr>
                    <a:t>800万+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137666" y="41729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运维成本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020492" y="4172902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B7185"/>
                      </a:solidFill>
                      <a:latin typeface="+mj-lt"/>
                      <a:ea typeface="+mj-ea"/>
                      <a:cs typeface="+mj-cs"/>
                    </a:rPr>
                    <a:t>持续攀升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137666" y="44586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集成难度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317329" y="445865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B7185"/>
                      </a:solidFill>
                      <a:latin typeface="+mj-lt"/>
                      <a:ea typeface="+mj-ea"/>
                      <a:cs typeface="+mj-cs"/>
                    </a:rPr>
                    <a:t>极高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137666" y="4744402"/>
                  <a:ext cx="4811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AI 能力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3020492" y="4744402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B7185"/>
                      </a:solidFill>
                      <a:latin typeface="+mj-lt"/>
                      <a:ea typeface="+mj-ea"/>
                      <a:cs typeface="+mj-cs"/>
                    </a:rPr>
                    <a:t>依赖自研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137666" y="5030152"/>
                  <a:ext cx="59314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ROI 周期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2909178" y="5030152"/>
                  <a:ext cx="71565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B7185"/>
                      </a:solidFill>
                      <a:latin typeface="+mj-lt"/>
                      <a:ea typeface="+mj-ea"/>
                      <a:cs typeface="+mj-cs"/>
                    </a:rPr>
                    <a:t>24-36个月</a:t>
                  </a:r>
                </a:p>
              </p:txBody>
            </p:sp>
          </p:grpSp>
          <p:sp>
            <p:nvSpPr>
              <p:cNvPr id="33" name="Freeform 33"/>
              <p:cNvSpPr/>
              <p:nvPr/>
            </p:nvSpPr>
            <p:spPr>
              <a:xfrm>
                <a:off x="1714500" y="5429250"/>
                <a:ext cx="1333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266700">
                    <a:moveTo>
                      <a:pt x="133350" y="0"/>
                    </a:moveTo>
                    <a:lnTo>
                      <a:pt x="1200150" y="0"/>
                    </a:lnTo>
                    <a:cubicBezTo>
                      <a:pt x="1273797" y="0"/>
                      <a:pt x="1333500" y="59703"/>
                      <a:pt x="1333500" y="133350"/>
                    </a:cubicBezTo>
                    <a:lnTo>
                      <a:pt x="1333500" y="133350"/>
                    </a:lnTo>
                    <a:cubicBezTo>
                      <a:pt x="1333500" y="206997"/>
                      <a:pt x="1273797" y="266700"/>
                      <a:pt x="12001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B7185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943348" y="5522595"/>
                <a:ext cx="8758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B7185"/>
                    </a:solidFill>
                    <a:latin typeface="+mj-lt"/>
                    <a:ea typeface="+mj-ea"/>
                    <a:cs typeface="+mj-cs"/>
                  </a:rPr>
                  <a:t>高风险 · 低灵活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476750" y="1809750"/>
              <a:ext cx="3238500" cy="4000500"/>
              <a:chOff x="4476750" y="1809750"/>
              <a:chExt cx="3238500" cy="40005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476750" y="1809750"/>
                <a:ext cx="323850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4000500">
                    <a:moveTo>
                      <a:pt x="152400" y="0"/>
                    </a:moveTo>
                    <a:lnTo>
                      <a:pt x="3086100" y="0"/>
                    </a:lnTo>
                    <a:cubicBezTo>
                      <a:pt x="3170268" y="0"/>
                      <a:pt x="3238500" y="68232"/>
                      <a:pt x="3238500" y="152400"/>
                    </a:cubicBezTo>
                    <a:lnTo>
                      <a:pt x="3238500" y="3848100"/>
                    </a:lnTo>
                    <a:cubicBezTo>
                      <a:pt x="3238500" y="3932268"/>
                      <a:pt x="3170268" y="4000500"/>
                      <a:pt x="3086100" y="4000500"/>
                    </a:cubicBezTo>
                    <a:lnTo>
                      <a:pt x="152400" y="4000500"/>
                    </a:lnTo>
                    <a:cubicBezTo>
                      <a:pt x="68232" y="4000500"/>
                      <a:pt x="0" y="3932268"/>
                      <a:pt x="0" y="3848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9E0B">
                      <a:alpha val="20000"/>
                    </a:srgbClr>
                  </a:gs>
                  <a:gs pos="100000">
                    <a:srgbClr val="F59E0B">
                      <a:alpha val="8000"/>
                    </a:srgbClr>
                  </a:gs>
                </a:gsLst>
                <a:lin ang="2700000" scaled="1"/>
              </a:gradFill>
              <a:ln w="9525">
                <a:solidFill>
                  <a:srgbClr val="F59E0B">
                    <a:alpha val="40000"/>
                  </a:srgbClr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476750" y="1809750"/>
                <a:ext cx="3238500" cy="9525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3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476750" y="1809750"/>
                <a:ext cx="32385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38100">
                    <a:moveTo>
                      <a:pt x="19050" y="0"/>
                    </a:moveTo>
                    <a:lnTo>
                      <a:pt x="3219450" y="0"/>
                    </a:lnTo>
                    <a:cubicBezTo>
                      <a:pt x="3229971" y="0"/>
                      <a:pt x="3238500" y="8529"/>
                      <a:pt x="3238500" y="19050"/>
                    </a:cubicBezTo>
                    <a:lnTo>
                      <a:pt x="3238500" y="19050"/>
                    </a:lnTo>
                    <a:cubicBezTo>
                      <a:pt x="3238500" y="29571"/>
                      <a:pt x="3229971" y="38100"/>
                      <a:pt x="32194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rgbClr val="F59E0B">
                  <a:alpha val="60000"/>
                </a:srgbClr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597819" y="2028825"/>
                <a:ext cx="996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59E0B"/>
                    </a:solidFill>
                    <a:latin typeface="+mj-lt"/>
                    <a:ea typeface="+mj-ea"/>
                    <a:cs typeface="+mj-cs"/>
                  </a:rPr>
                  <a:t>传统 SaaS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807964" y="2315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单点工具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4857750" y="2667000"/>
                <a:ext cx="2476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9525">
                    <a:moveTo>
                      <a:pt x="0" y="0"/>
                    </a:moveTo>
                    <a:lnTo>
                      <a:pt x="2476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568848" y="2849880"/>
                <a:ext cx="1054303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600" b="1" dirty="0">
                    <a:solidFill>
                      <a:srgbClr val="F59E0B"/>
                    </a:solidFill>
                    <a:latin typeface="+mj-lt"/>
                    <a:ea typeface="+mj-ea"/>
                    <a:cs typeface="+mj-cs"/>
                  </a:rPr>
                  <a:t>数据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605272" y="33947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孤岛问题未解</a:t>
                </a:r>
              </a:p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4852416" y="3887152"/>
                <a:ext cx="2487168" cy="1348359"/>
                <a:chOff x="4852416" y="3887152"/>
                <a:chExt cx="2487168" cy="1348359"/>
              </a:xfrm>
            </p:grpSpPr>
            <p:sp>
              <p:nvSpPr>
                <p:cNvPr id="44" name="TextBox 44"/>
                <p:cNvSpPr txBox="1"/>
                <p:nvPr/>
              </p:nvSpPr>
              <p:spPr>
                <a:xfrm>
                  <a:off x="4852416" y="38871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初始成本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7032079" y="388715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59E0B"/>
                      </a:solidFill>
                      <a:latin typeface="+mj-lt"/>
                      <a:ea typeface="+mj-ea"/>
                      <a:cs typeface="+mj-cs"/>
                    </a:rPr>
                    <a:t>中低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4852416" y="417290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集成成本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6735242" y="4172902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59E0B"/>
                      </a:solidFill>
                      <a:latin typeface="+mj-lt"/>
                      <a:ea typeface="+mj-ea"/>
                      <a:cs typeface="+mj-cs"/>
                    </a:rPr>
                    <a:t>持续累积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4852416" y="4458652"/>
                  <a:ext cx="4811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AI 能力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7032079" y="445865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59E0B"/>
                      </a:solidFill>
                      <a:latin typeface="+mj-lt"/>
                      <a:ea typeface="+mj-ea"/>
                      <a:cs typeface="+mj-cs"/>
                    </a:rPr>
                    <a:t>较弱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4852416" y="4744402"/>
                  <a:ext cx="43472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扩展性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032079" y="474440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59E0B"/>
                      </a:solidFill>
                      <a:latin typeface="+mj-lt"/>
                      <a:ea typeface="+mj-ea"/>
                      <a:cs typeface="+mj-cs"/>
                    </a:rPr>
                    <a:t>受限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4852416" y="5030152"/>
                  <a:ext cx="59314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ROI 周期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6623928" y="5030152"/>
                  <a:ext cx="71565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F59E0B"/>
                      </a:solidFill>
                      <a:latin typeface="+mj-lt"/>
                      <a:ea typeface="+mj-ea"/>
                      <a:cs typeface="+mj-cs"/>
                    </a:rPr>
                    <a:t>12-18个月</a:t>
                  </a:r>
                </a:p>
              </p:txBody>
            </p:sp>
          </p:grpSp>
          <p:sp>
            <p:nvSpPr>
              <p:cNvPr id="55" name="Freeform 55"/>
              <p:cNvSpPr/>
              <p:nvPr/>
            </p:nvSpPr>
            <p:spPr>
              <a:xfrm>
                <a:off x="5429250" y="5429250"/>
                <a:ext cx="1333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266700">
                    <a:moveTo>
                      <a:pt x="133350" y="0"/>
                    </a:moveTo>
                    <a:lnTo>
                      <a:pt x="1200150" y="0"/>
                    </a:lnTo>
                    <a:cubicBezTo>
                      <a:pt x="1273797" y="0"/>
                      <a:pt x="1333500" y="59703"/>
                      <a:pt x="1333500" y="133350"/>
                    </a:cubicBezTo>
                    <a:lnTo>
                      <a:pt x="1333500" y="133350"/>
                    </a:lnTo>
                    <a:cubicBezTo>
                      <a:pt x="1333500" y="206997"/>
                      <a:pt x="1273797" y="266700"/>
                      <a:pt x="12001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59E0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5658098" y="5522595"/>
                <a:ext cx="8758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59E0B"/>
                    </a:solidFill>
                    <a:latin typeface="+mj-lt"/>
                    <a:ea typeface="+mj-ea"/>
                    <a:cs typeface="+mj-cs"/>
                  </a:rPr>
                  <a:t>中风险 · 局限性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8191500" y="1809750"/>
              <a:ext cx="3238500" cy="4000500"/>
              <a:chOff x="8191500" y="1809750"/>
              <a:chExt cx="3238500" cy="40005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191500" y="1809750"/>
                <a:ext cx="3238500" cy="4000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4000500">
                    <a:moveTo>
                      <a:pt x="152400" y="0"/>
                    </a:moveTo>
                    <a:lnTo>
                      <a:pt x="3086100" y="0"/>
                    </a:lnTo>
                    <a:cubicBezTo>
                      <a:pt x="3170268" y="0"/>
                      <a:pt x="3238500" y="68232"/>
                      <a:pt x="3238500" y="152400"/>
                    </a:cubicBezTo>
                    <a:lnTo>
                      <a:pt x="3238500" y="3848100"/>
                    </a:lnTo>
                    <a:cubicBezTo>
                      <a:pt x="3238500" y="3932268"/>
                      <a:pt x="3170268" y="4000500"/>
                      <a:pt x="3086100" y="4000500"/>
                    </a:cubicBezTo>
                    <a:lnTo>
                      <a:pt x="152400" y="4000500"/>
                    </a:lnTo>
                    <a:cubicBezTo>
                      <a:pt x="68232" y="4000500"/>
                      <a:pt x="0" y="3932268"/>
                      <a:pt x="0" y="3848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>
                      <a:alpha val="20000"/>
                    </a:schemeClr>
                  </a:gs>
                  <a:gs pos="100000">
                    <a:schemeClr val="accent6">
                      <a:alpha val="8000"/>
                    </a:schemeClr>
                  </a:gs>
                </a:gsLst>
                <a:lin ang="2700000" scaled="1"/>
              </a:gradFill>
              <a:ln w="9525">
                <a:solidFill>
                  <a:schemeClr val="accent6">
                    <a:alpha val="40000"/>
                  </a:schemeClr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191500" y="1809750"/>
                <a:ext cx="3238500" cy="9525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3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91500" y="1809750"/>
                <a:ext cx="32385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38100">
                    <a:moveTo>
                      <a:pt x="19050" y="0"/>
                    </a:moveTo>
                    <a:lnTo>
                      <a:pt x="3219450" y="0"/>
                    </a:lnTo>
                    <a:cubicBezTo>
                      <a:pt x="3229971" y="0"/>
                      <a:pt x="3238500" y="8529"/>
                      <a:pt x="3238500" y="19050"/>
                    </a:cubicBezTo>
                    <a:lnTo>
                      <a:pt x="3238500" y="19050"/>
                    </a:lnTo>
                    <a:cubicBezTo>
                      <a:pt x="3238500" y="29571"/>
                      <a:pt x="3229971" y="38100"/>
                      <a:pt x="3219450" y="38100"/>
                    </a:cubicBezTo>
                    <a:lnTo>
                      <a:pt x="19050" y="38100"/>
                    </a:lnTo>
                    <a:cubicBezTo>
                      <a:pt x="8529" y="38100"/>
                      <a:pt x="0" y="29571"/>
                      <a:pt x="0" y="19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6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9338272" y="2028825"/>
                <a:ext cx="9449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AI 工作台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9452038" y="23155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一体化平台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8572500" y="2667000"/>
                <a:ext cx="2476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9525">
                    <a:moveTo>
                      <a:pt x="0" y="0"/>
                    </a:moveTo>
                    <a:lnTo>
                      <a:pt x="2476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652525" y="2849880"/>
                <a:ext cx="31645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4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400794" y="33947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周快速上线</a:t>
                </a:r>
              </a:p>
            </p:txBody>
          </p:sp>
          <p:grpSp>
            <p:nvGrpSpPr>
              <p:cNvPr id="76" name="Group 76"/>
              <p:cNvGrpSpPr/>
              <p:nvPr/>
            </p:nvGrpSpPr>
            <p:grpSpPr>
              <a:xfrm>
                <a:off x="8567166" y="3887152"/>
                <a:ext cx="2487168" cy="1348359"/>
                <a:chOff x="8567166" y="3887152"/>
                <a:chExt cx="2487168" cy="1348359"/>
              </a:xfrm>
            </p:grpSpPr>
            <p:sp>
              <p:nvSpPr>
                <p:cNvPr id="66" name="TextBox 66"/>
                <p:cNvSpPr txBox="1"/>
                <p:nvPr/>
              </p:nvSpPr>
              <p:spPr>
                <a:xfrm>
                  <a:off x="8567166" y="38871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初始成本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10746829" y="3887152"/>
                  <a:ext cx="3075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chemeClr val="accent6"/>
                      </a:solidFill>
                      <a:latin typeface="+mj-lt"/>
                      <a:ea typeface="+mj-ea"/>
                      <a:cs typeface="+mj-cs"/>
                    </a:rPr>
                    <a:t>可控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8567166" y="4172902"/>
                  <a:ext cx="59314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ROI 转正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10516780" y="4172902"/>
                  <a:ext cx="53755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chemeClr val="accent6"/>
                      </a:solidFill>
                      <a:latin typeface="+mj-lt"/>
                      <a:ea typeface="+mj-ea"/>
                      <a:cs typeface="+mj-cs"/>
                    </a:rPr>
                    <a:t>6个月内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567166" y="4458652"/>
                  <a:ext cx="4811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AI 能力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10449992" y="4458652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chemeClr val="accent6"/>
                      </a:solidFill>
                      <a:latin typeface="+mj-lt"/>
                      <a:ea typeface="+mj-ea"/>
                      <a:cs typeface="+mj-cs"/>
                    </a:rPr>
                    <a:t>持续升级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8567166" y="4744402"/>
                  <a:ext cx="434721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扩展性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10449992" y="4744402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chemeClr val="accent6"/>
                      </a:solidFill>
                      <a:latin typeface="+mj-lt"/>
                      <a:ea typeface="+mj-ea"/>
                      <a:cs typeface="+mj-cs"/>
                    </a:rPr>
                    <a:t>按需弹性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567166" y="5030152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运维成本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10449992" y="5030152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chemeClr val="accent6"/>
                      </a:solidFill>
                      <a:latin typeface="+mj-lt"/>
                      <a:ea typeface="+mj-ea"/>
                      <a:cs typeface="+mj-cs"/>
                    </a:rPr>
                    <a:t>托管无忧</a:t>
                  </a:r>
                </a:p>
              </p:txBody>
            </p:sp>
          </p:grpSp>
          <p:sp>
            <p:nvSpPr>
              <p:cNvPr id="77" name="Freeform 77"/>
              <p:cNvSpPr/>
              <p:nvPr/>
            </p:nvSpPr>
            <p:spPr>
              <a:xfrm>
                <a:off x="9144000" y="5429250"/>
                <a:ext cx="1333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" h="266700">
                    <a:moveTo>
                      <a:pt x="133350" y="0"/>
                    </a:moveTo>
                    <a:lnTo>
                      <a:pt x="1200150" y="0"/>
                    </a:lnTo>
                    <a:cubicBezTo>
                      <a:pt x="1273797" y="0"/>
                      <a:pt x="1333500" y="59703"/>
                      <a:pt x="1333500" y="133350"/>
                    </a:cubicBezTo>
                    <a:lnTo>
                      <a:pt x="1333500" y="133350"/>
                    </a:lnTo>
                    <a:cubicBezTo>
                      <a:pt x="1333500" y="206997"/>
                      <a:pt x="1273797" y="266700"/>
                      <a:pt x="1200150" y="266700"/>
                    </a:cubicBezTo>
                    <a:lnTo>
                      <a:pt x="133350" y="266700"/>
                    </a:lnTo>
                    <a:cubicBezTo>
                      <a:pt x="59703" y="266700"/>
                      <a:pt x="0" y="206997"/>
                      <a:pt x="0" y="1333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9372848" y="5522595"/>
                <a:ext cx="8758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低风险 · 高回报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4000500" y="3762375"/>
              <a:ext cx="4238625" cy="95250"/>
              <a:chOff x="4000500" y="3762375"/>
              <a:chExt cx="4238625" cy="95250"/>
            </a:xfrm>
          </p:grpSpPr>
          <p:sp>
            <p:nvSpPr>
              <p:cNvPr id="80" name="Line 80"/>
              <p:cNvSpPr/>
              <p:nvPr/>
            </p:nvSpPr>
            <p:spPr>
              <a:xfrm>
                <a:off x="4000500" y="381000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solidFill>
                  <a:srgbClr val="6B7299"/>
                </a:solidFill>
                <a:prstDash val="dash"/>
              </a:ln>
            </p:spPr>
          </p:sp>
          <p:sp>
            <p:nvSpPr>
              <p:cNvPr id="81" name="Polygon 81"/>
              <p:cNvSpPr/>
              <p:nvPr/>
            </p:nvSpPr>
            <p:spPr>
              <a:xfrm>
                <a:off x="4429125" y="3762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6B7299"/>
              </a:solidFill>
              <a:ln>
                <a:noFill/>
              </a:ln>
            </p:spPr>
          </p:sp>
          <p:sp>
            <p:nvSpPr>
              <p:cNvPr id="82" name="Line 82"/>
              <p:cNvSpPr/>
              <p:nvPr/>
            </p:nvSpPr>
            <p:spPr>
              <a:xfrm>
                <a:off x="7715250" y="3810000"/>
                <a:ext cx="476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9525">
                    <a:moveTo>
                      <a:pt x="0" y="0"/>
                    </a:moveTo>
                    <a:lnTo>
                      <a:pt x="476250" y="0"/>
                    </a:lnTo>
                  </a:path>
                </a:pathLst>
              </a:custGeom>
              <a:noFill/>
              <a:ln w="19050">
                <a:solidFill>
                  <a:srgbClr val="6B7299"/>
                </a:solidFill>
                <a:prstDash val="dash"/>
              </a:ln>
            </p:spPr>
          </p:sp>
          <p:sp>
            <p:nvSpPr>
              <p:cNvPr id="83" name="Polygon 83"/>
              <p:cNvSpPr/>
              <p:nvPr/>
            </p:nvSpPr>
            <p:spPr>
              <a:xfrm>
                <a:off x="8143875" y="3762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6B7299"/>
              </a:solidFill>
              <a:ln>
                <a:noFill/>
              </a:ln>
            </p:spPr>
          </p:sp>
        </p:grpSp>
        <p:grpSp>
          <p:nvGrpSpPr>
            <p:cNvPr id="87" name="Group 87"/>
            <p:cNvGrpSpPr/>
            <p:nvPr/>
          </p:nvGrpSpPr>
          <p:grpSpPr>
            <a:xfrm>
              <a:off x="5143500" y="6096000"/>
              <a:ext cx="1905000" cy="304800"/>
              <a:chOff x="5143500" y="6096000"/>
              <a:chExt cx="1905000" cy="3048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5143500" y="6096000"/>
                <a:ext cx="19050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3048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68232"/>
                      <a:pt x="1905000" y="152400"/>
                    </a:cubicBezTo>
                    <a:lnTo>
                      <a:pt x="1905000" y="152400"/>
                    </a:lnTo>
                    <a:cubicBezTo>
                      <a:pt x="1905000" y="236568"/>
                      <a:pt x="1836768" y="304800"/>
                      <a:pt x="1752600" y="304800"/>
                    </a:cubicBezTo>
                    <a:lnTo>
                      <a:pt x="152400" y="304800"/>
                    </a:lnTo>
                    <a:cubicBezTo>
                      <a:pt x="68232" y="304800"/>
                      <a:pt x="0" y="236568"/>
                      <a:pt x="0" y="152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5666613" y="61922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关键变量对比</a:t>
                </a:r>
              </a:p>
            </p:txBody>
          </p:sp>
        </p:grpSp>
      </p:grpSp>
      <p:grpSp>
        <p:nvGrpSpPr>
          <p:cNvPr id="93" name="Group 93"/>
          <p:cNvGrpSpPr/>
          <p:nvPr/>
        </p:nvGrpSpPr>
        <p:grpSpPr>
          <a:xfrm>
            <a:off x="0" y="0"/>
            <a:ext cx="12192000" cy="6886575"/>
            <a:chOff x="0" y="0"/>
            <a:chExt cx="12192000" cy="6886575"/>
          </a:xfrm>
        </p:grpSpPr>
        <p:sp>
          <p:nvSpPr>
            <p:cNvPr id="89" name="Rectangle 89"/>
            <p:cNvSpPr/>
            <p:nvPr/>
          </p:nvSpPr>
          <p:spPr>
            <a:xfrm>
              <a:off x="0" y="0"/>
              <a:ext cx="571500" cy="28575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0" y="0"/>
              <a:ext cx="28575" cy="5715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1620500" y="6858000"/>
              <a:ext cx="571500" cy="28575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2163425" y="6286500"/>
              <a:ext cx="28575" cy="571500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566738" y="6464141"/>
            <a:ext cx="11058525" cy="212884"/>
            <a:chOff x="566738" y="6464141"/>
            <a:chExt cx="11058525" cy="212884"/>
          </a:xfrm>
        </p:grpSpPr>
        <p:sp>
          <p:nvSpPr>
            <p:cNvPr id="94" name="Line 94"/>
            <p:cNvSpPr/>
            <p:nvPr/>
          </p:nvSpPr>
          <p:spPr>
            <a:xfrm>
              <a:off x="571500" y="666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66738" y="64641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企业 AI 营销工作台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277000" y="6464141"/>
              <a:ext cx="3482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© 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2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81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571500"/>
            <a:ext cx="708622" cy="381000"/>
            <a:chOff x="571500" y="571500"/>
            <a:chExt cx="708622" cy="381000"/>
          </a:xfrm>
        </p:grpSpPr>
        <p:sp>
          <p:nvSpPr>
            <p:cNvPr id="6" name="Rectangle 6"/>
            <p:cNvSpPr/>
            <p:nvPr/>
          </p:nvSpPr>
          <p:spPr>
            <a:xfrm>
              <a:off x="571500" y="571500"/>
              <a:ext cx="38100" cy="381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8947" y="713899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信号贴纸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57784" y="1042035"/>
            <a:ext cx="11062716" cy="4482465"/>
            <a:chOff x="557784" y="1042035"/>
            <a:chExt cx="11062716" cy="4482465"/>
          </a:xfrm>
        </p:grpSpPr>
        <p:sp>
          <p:nvSpPr>
            <p:cNvPr id="9" name="TextBox 9"/>
            <p:cNvSpPr txBox="1"/>
            <p:nvPr/>
          </p:nvSpPr>
          <p:spPr>
            <a:xfrm>
              <a:off x="557784" y="1042035"/>
              <a:ext cx="44354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标杆客户：3个月看见成效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15335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头部零售企业已率先落地。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71500" y="2095500"/>
              <a:ext cx="11049000" cy="3429000"/>
            </a:xfrm>
            <a:custGeom>
              <a:avLst/>
              <a:gdLst/>
              <a:ahLst/>
              <a:cxnLst/>
              <a:rect l="l" t="t" r="r" b="b"/>
              <a:pathLst>
                <a:path w="11049000" h="34290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0" y="0"/>
                    <a:pt x="11049000" y="85290"/>
                    <a:pt x="11049000" y="190500"/>
                  </a:cubicBezTo>
                  <a:lnTo>
                    <a:pt x="11049000" y="3238500"/>
                  </a:lnTo>
                  <a:cubicBezTo>
                    <a:pt x="11049000" y="3343710"/>
                    <a:pt x="10963710" y="3429000"/>
                    <a:pt x="10858500" y="3429000"/>
                  </a:cubicBezTo>
                  <a:lnTo>
                    <a:pt x="190500" y="3429000"/>
                  </a:lnTo>
                  <a:cubicBezTo>
                    <a:pt x="85290" y="3429000"/>
                    <a:pt x="0" y="3343710"/>
                    <a:pt x="0" y="3238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2000"/>
                  </a:schemeClr>
                </a:gs>
                <a:gs pos="100000">
                  <a:schemeClr val="accent2">
                    <a:alpha val="10000"/>
                  </a:schemeClr>
                </a:gs>
              </a:gsLst>
              <a:lin ang="2700000" scaled="1"/>
            </a:gradFill>
            <a:ln w="9525">
              <a:solidFill>
                <a:srgbClr val="FFFFFF">
                  <a:alpha val="15000"/>
                </a:srgb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71500" y="2095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9525" y="0"/>
                  </a:moveTo>
                  <a:lnTo>
                    <a:pt x="11039475" y="0"/>
                  </a:lnTo>
                  <a:cubicBezTo>
                    <a:pt x="11044736" y="0"/>
                    <a:pt x="11049000" y="2132"/>
                    <a:pt x="11049000" y="4762"/>
                  </a:cubicBezTo>
                  <a:lnTo>
                    <a:pt x="11049000" y="4762"/>
                  </a:lnTo>
                  <a:cubicBezTo>
                    <a:pt x="11049000" y="7393"/>
                    <a:pt x="11044736" y="9525"/>
                    <a:pt x="11039475" y="9525"/>
                  </a:cubicBezTo>
                  <a:lnTo>
                    <a:pt x="9525" y="9525"/>
                  </a:lnTo>
                  <a:cubicBezTo>
                    <a:pt x="4264" y="9525"/>
                    <a:pt x="0" y="7393"/>
                    <a:pt x="0" y="4762"/>
                  </a:cubicBezTo>
                  <a:lnTo>
                    <a:pt x="0" y="4762"/>
                  </a:lnTo>
                  <a:cubicBezTo>
                    <a:pt x="0" y="2132"/>
                    <a:pt x="4264" y="0"/>
                    <a:pt x="9525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3">
                    <a:alpha val="50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57250" y="2667000"/>
              <a:ext cx="3238500" cy="2286000"/>
            </a:xfrm>
            <a:custGeom>
              <a:avLst/>
              <a:gdLst/>
              <a:ahLst/>
              <a:cxnLst/>
              <a:rect l="l" t="t" r="r" b="b"/>
              <a:pathLst>
                <a:path w="3238500" h="2286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2133600"/>
                  </a:lnTo>
                  <a:cubicBezTo>
                    <a:pt x="3238500" y="2217768"/>
                    <a:pt x="3170268" y="2286000"/>
                    <a:pt x="3086100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2000"/>
                  </a:srgbClr>
                </a:gs>
                <a:gs pos="100000">
                  <a:srgbClr val="FFFFFF">
                    <a:alpha val="4000"/>
                  </a:srgbClr>
                </a:gs>
              </a:gsLst>
              <a:lin ang="5400000" scaled="1"/>
            </a:gra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857250" y="2667000"/>
              <a:ext cx="3238500" cy="28575"/>
            </a:xfrm>
            <a:custGeom>
              <a:avLst/>
              <a:gdLst/>
              <a:ahLst/>
              <a:cxnLst/>
              <a:rect l="l" t="t" r="r" b="b"/>
              <a:pathLst>
                <a:path w="3238500" h="28575">
                  <a:moveTo>
                    <a:pt x="14288" y="0"/>
                  </a:moveTo>
                  <a:lnTo>
                    <a:pt x="3224212" y="0"/>
                  </a:lnTo>
                  <a:cubicBezTo>
                    <a:pt x="3232103" y="0"/>
                    <a:pt x="3238500" y="6397"/>
                    <a:pt x="3238500" y="14288"/>
                  </a:cubicBezTo>
                  <a:lnTo>
                    <a:pt x="3238500" y="14288"/>
                  </a:lnTo>
                  <a:cubicBezTo>
                    <a:pt x="3238500" y="22178"/>
                    <a:pt x="3232103" y="28575"/>
                    <a:pt x="3224212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24712" y="2754630"/>
              <a:ext cx="8968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gradFill>
                    <a:gsLst>
                      <a:gs pos="0">
                        <a:schemeClr val="accent1"/>
                      </a:gs>
                      <a:gs pos="5000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j-lt"/>
                  <a:ea typeface="+mj-ea"/>
                  <a:cs typeface="+mj-cs"/>
                </a:rPr>
                <a:t>ROI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2332" y="3488055"/>
              <a:ext cx="19953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1:2.3 → 1:5.1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3974306"/>
              <a:ext cx="1048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客单价提升18%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212431"/>
              <a:ext cx="1503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营销人力成本下降40%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4450556"/>
              <a:ext cx="1547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广告ROI翻倍以上增长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381500" y="2667000"/>
              <a:ext cx="3238500" cy="2286000"/>
            </a:xfrm>
            <a:custGeom>
              <a:avLst/>
              <a:gdLst/>
              <a:ahLst/>
              <a:cxnLst/>
              <a:rect l="l" t="t" r="r" b="b"/>
              <a:pathLst>
                <a:path w="3238500" h="2286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2133600"/>
                  </a:lnTo>
                  <a:cubicBezTo>
                    <a:pt x="3238500" y="2217768"/>
                    <a:pt x="3170268" y="2286000"/>
                    <a:pt x="3086100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2000"/>
                  </a:srgbClr>
                </a:gs>
                <a:gs pos="100000">
                  <a:srgbClr val="FFFFFF">
                    <a:alpha val="4000"/>
                  </a:srgbClr>
                </a:gs>
              </a:gsLst>
              <a:lin ang="5400000" scaled="1"/>
            </a:gra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81500" y="2667000"/>
              <a:ext cx="3238500" cy="28575"/>
            </a:xfrm>
            <a:custGeom>
              <a:avLst/>
              <a:gdLst/>
              <a:ahLst/>
              <a:cxnLst/>
              <a:rect l="l" t="t" r="r" b="b"/>
              <a:pathLst>
                <a:path w="3238500" h="28575">
                  <a:moveTo>
                    <a:pt x="14288" y="0"/>
                  </a:moveTo>
                  <a:lnTo>
                    <a:pt x="3224212" y="0"/>
                  </a:lnTo>
                  <a:cubicBezTo>
                    <a:pt x="3232103" y="0"/>
                    <a:pt x="3238500" y="6397"/>
                    <a:pt x="3238500" y="14288"/>
                  </a:cubicBezTo>
                  <a:lnTo>
                    <a:pt x="3238500" y="14288"/>
                  </a:lnTo>
                  <a:cubicBezTo>
                    <a:pt x="3238500" y="22178"/>
                    <a:pt x="3232103" y="28575"/>
                    <a:pt x="3224212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48962" y="2754630"/>
              <a:ext cx="125784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+32%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582" y="34880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潜客转化率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1535" y="3974306"/>
              <a:ext cx="12230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客户生命周期价值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1535" y="421243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预测准确率达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1535" y="4450556"/>
              <a:ext cx="291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91%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905750" y="2667000"/>
              <a:ext cx="3238500" cy="2286000"/>
            </a:xfrm>
            <a:custGeom>
              <a:avLst/>
              <a:gdLst/>
              <a:ahLst/>
              <a:cxnLst/>
              <a:rect l="l" t="t" r="r" b="b"/>
              <a:pathLst>
                <a:path w="3238500" h="2286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2133600"/>
                  </a:lnTo>
                  <a:cubicBezTo>
                    <a:pt x="3238500" y="2217768"/>
                    <a:pt x="3170268" y="2286000"/>
                    <a:pt x="3086100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2000"/>
                  </a:srgbClr>
                </a:gs>
                <a:gs pos="100000">
                  <a:srgbClr val="FFFFFF">
                    <a:alpha val="4000"/>
                  </a:srgbClr>
                </a:gs>
              </a:gsLst>
              <a:lin ang="5400000" scaled="1"/>
            </a:gradFill>
            <a:ln w="9525">
              <a:solidFill>
                <a:srgbClr val="FFFFFF">
                  <a:alpha val="10000"/>
                </a:srgbClr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905750" y="2667000"/>
              <a:ext cx="3238500" cy="28575"/>
            </a:xfrm>
            <a:custGeom>
              <a:avLst/>
              <a:gdLst/>
              <a:ahLst/>
              <a:cxnLst/>
              <a:rect l="l" t="t" r="r" b="b"/>
              <a:pathLst>
                <a:path w="3238500" h="28575">
                  <a:moveTo>
                    <a:pt x="14288" y="0"/>
                  </a:moveTo>
                  <a:lnTo>
                    <a:pt x="3224212" y="0"/>
                  </a:lnTo>
                  <a:cubicBezTo>
                    <a:pt x="3232103" y="0"/>
                    <a:pt x="3238500" y="6397"/>
                    <a:pt x="3238500" y="14288"/>
                  </a:cubicBezTo>
                  <a:lnTo>
                    <a:pt x="3238500" y="14288"/>
                  </a:lnTo>
                  <a:cubicBezTo>
                    <a:pt x="3238500" y="22178"/>
                    <a:pt x="3232103" y="28575"/>
                    <a:pt x="3224212" y="28575"/>
                  </a:cubicBezTo>
                  <a:lnTo>
                    <a:pt x="14288" y="28575"/>
                  </a:lnTo>
                  <a:cubicBezTo>
                    <a:pt x="6397" y="28575"/>
                    <a:pt x="0" y="22178"/>
                    <a:pt x="0" y="14288"/>
                  </a:cubicBezTo>
                  <a:lnTo>
                    <a:pt x="0" y="14288"/>
                  </a:lnTo>
                  <a:cubicBezTo>
                    <a:pt x="0" y="6397"/>
                    <a:pt x="6397" y="0"/>
                    <a:pt x="142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73212" y="2754630"/>
              <a:ext cx="138506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10万+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80832" y="34880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自动文案生成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85785" y="3974306"/>
              <a:ext cx="1048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点击率提升26%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5785" y="421243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大促期间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85785" y="4450556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退货率下降9%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10191750" y="2571750"/>
              <a:ext cx="571500" cy="571500"/>
            </a:xfrm>
            <a:prstGeom prst="ellipse">
              <a:avLst/>
            </a:prstGeom>
            <a:noFill/>
            <a:ln w="19050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0363200" y="2771775"/>
              <a:ext cx="228600" cy="171450"/>
            </a:xfrm>
            <a:custGeom>
              <a:avLst/>
              <a:gdLst/>
              <a:ahLst/>
              <a:cxnLst/>
              <a:rect l="l" t="t" r="r" b="b"/>
              <a:pathLst>
                <a:path w="228600" h="171450">
                  <a:moveTo>
                    <a:pt x="0" y="85725"/>
                  </a:moveTo>
                  <a:lnTo>
                    <a:pt x="85725" y="171450"/>
                  </a:lnTo>
                  <a:lnTo>
                    <a:pt x="228600" y="0"/>
                  </a:lnTo>
                </a:path>
              </a:pathLst>
            </a:custGeom>
            <a:noFill/>
            <a:ln w="28575" cap="rnd">
              <a:solidFill>
                <a:schemeClr val="accent6"/>
              </a:solidFill>
              <a:round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571500" y="5905500"/>
            <a:ext cx="11049000" cy="9525"/>
            <a:chOff x="571500" y="5905500"/>
            <a:chExt cx="11049000" cy="9525"/>
          </a:xfrm>
        </p:grpSpPr>
        <p:sp>
          <p:nvSpPr>
            <p:cNvPr id="37" name="Rectangle 37"/>
            <p:cNvSpPr/>
            <p:nvPr/>
          </p:nvSpPr>
          <p:spPr>
            <a:xfrm>
              <a:off x="571500" y="590550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153002" y="6189345"/>
            <a:ext cx="1091260" cy="509587"/>
            <a:chOff x="10153002" y="6189345"/>
            <a:chExt cx="1091260" cy="509587"/>
          </a:xfrm>
        </p:grpSpPr>
        <p:sp>
          <p:nvSpPr>
            <p:cNvPr id="39" name="TextBox 39"/>
            <p:cNvSpPr txBox="1"/>
            <p:nvPr/>
          </p:nvSpPr>
          <p:spPr>
            <a:xfrm>
              <a:off x="10153002" y="6189345"/>
              <a:ext cx="10912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企业 AI 营销工作台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62132" y="6522720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5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371600" y="-1962150"/>
            <a:ext cx="15887700" cy="10306050"/>
            <a:chOff x="-1371600" y="-1962150"/>
            <a:chExt cx="15887700" cy="103060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4991100" y="-1962150"/>
              <a:ext cx="9525000" cy="6667500"/>
            </a:xfrm>
            <a:prstGeom prst="ellipse">
              <a:avLst/>
            </a:prstGeom>
            <a:gradFill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1371600" y="2628900"/>
              <a:ext cx="7620000" cy="5715000"/>
            </a:xfrm>
            <a:prstGeom prst="ellipse">
              <a:avLst/>
            </a:pr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459105"/>
            <a:ext cx="3169539" cy="611696"/>
            <a:chOff x="571500" y="459105"/>
            <a:chExt cx="3169539" cy="611696"/>
          </a:xfrm>
        </p:grpSpPr>
        <p:sp>
          <p:nvSpPr>
            <p:cNvPr id="6" name="Freeform 6"/>
            <p:cNvSpPr/>
            <p:nvPr/>
          </p:nvSpPr>
          <p:spPr>
            <a:xfrm>
              <a:off x="571500" y="476250"/>
              <a:ext cx="76200" cy="266700"/>
            </a:xfrm>
            <a:custGeom>
              <a:avLst/>
              <a:gdLst/>
              <a:ahLst/>
              <a:cxnLst/>
              <a:rect l="l" t="t" r="r" b="b"/>
              <a:pathLst>
                <a:path w="76200" h="26670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228600"/>
                  </a:lnTo>
                  <a:cubicBezTo>
                    <a:pt x="76200" y="249642"/>
                    <a:pt x="59142" y="266700"/>
                    <a:pt x="38100" y="266700"/>
                  </a:cubicBezTo>
                  <a:lnTo>
                    <a:pt x="38100" y="266700"/>
                  </a:lnTo>
                  <a:cubicBezTo>
                    <a:pt x="17058" y="266700"/>
                    <a:pt x="0" y="249642"/>
                    <a:pt x="0" y="2286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45910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gradFill>
                    <a:gsLst>
                      <a:gs pos="0">
                        <a:schemeClr val="accent1"/>
                      </a:gs>
                      <a:gs pos="5000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j-lt"/>
                  <a:ea typeface="+mj-ea"/>
                  <a:cs typeface="+mj-cs"/>
                </a:rPr>
                <a:t>核心指标：真实可量化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142" y="8067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基于已交付项目的数据沉淀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143000" y="1428750"/>
            <a:ext cx="9906000" cy="4667250"/>
            <a:chOff x="1143000" y="1428750"/>
            <a:chExt cx="9906000" cy="4667250"/>
          </a:xfrm>
        </p:grpSpPr>
        <p:grpSp>
          <p:nvGrpSpPr>
            <p:cNvPr id="18" name="Group 18"/>
            <p:cNvGrpSpPr/>
            <p:nvPr/>
          </p:nvGrpSpPr>
          <p:grpSpPr>
            <a:xfrm>
              <a:off x="1143000" y="1428750"/>
              <a:ext cx="4762500" cy="2286000"/>
              <a:chOff x="1143000" y="1428750"/>
              <a:chExt cx="4762500" cy="228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43000" y="1524000"/>
                <a:ext cx="47625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2095500">
                    <a:moveTo>
                      <a:pt x="152400" y="0"/>
                    </a:moveTo>
                    <a:lnTo>
                      <a:pt x="4610100" y="0"/>
                    </a:lnTo>
                    <a:cubicBezTo>
                      <a:pt x="4694268" y="0"/>
                      <a:pt x="4762500" y="68232"/>
                      <a:pt x="4762500" y="152400"/>
                    </a:cubicBezTo>
                    <a:lnTo>
                      <a:pt x="4762500" y="1943100"/>
                    </a:lnTo>
                    <a:cubicBezTo>
                      <a:pt x="4762500" y="2027268"/>
                      <a:pt x="4694268" y="2095500"/>
                      <a:pt x="4610100" y="2095500"/>
                    </a:cubicBezTo>
                    <a:lnTo>
                      <a:pt x="152400" y="2095500"/>
                    </a:lnTo>
                    <a:cubicBezTo>
                      <a:pt x="68232" y="2095500"/>
                      <a:pt x="0" y="2027268"/>
                      <a:pt x="0" y="1943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18000"/>
                    </a:schemeClr>
                  </a:gs>
                  <a:gs pos="100000">
                    <a:schemeClr val="accent2">
                      <a:alpha val="8000"/>
                    </a:schemeClr>
                  </a:gs>
                </a:gsLst>
                <a:lin ang="2700000" scaled="1"/>
              </a:gradFill>
              <a:ln w="9525">
                <a:solidFill>
                  <a:srgbClr val="FFFFFF">
                    <a:alpha val="18000"/>
                  </a:srgbClr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43000" y="15240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4762" y="0"/>
                    </a:moveTo>
                    <a:lnTo>
                      <a:pt x="4757738" y="0"/>
                    </a:lnTo>
                    <a:cubicBezTo>
                      <a:pt x="4760368" y="0"/>
                      <a:pt x="4762500" y="2132"/>
                      <a:pt x="4762500" y="4762"/>
                    </a:cubicBezTo>
                    <a:lnTo>
                      <a:pt x="4762500" y="4762"/>
                    </a:lnTo>
                    <a:cubicBezTo>
                      <a:pt x="4762500" y="7393"/>
                      <a:pt x="4760368" y="9525"/>
                      <a:pt x="4757738" y="9525"/>
                    </a:cubicBezTo>
                    <a:lnTo>
                      <a:pt x="4762" y="9525"/>
                    </a:lnTo>
                    <a:cubicBezTo>
                      <a:pt x="2132" y="9525"/>
                      <a:pt x="0" y="7393"/>
                      <a:pt x="0" y="4762"/>
                    </a:cubicBezTo>
                    <a:lnTo>
                      <a:pt x="0" y="4762"/>
                    </a:lnTo>
                    <a:cubicBezTo>
                      <a:pt x="0" y="2132"/>
                      <a:pt x="2132" y="0"/>
                      <a:pt x="476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3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619250" y="1428750"/>
                <a:ext cx="3810000" cy="2286000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alpha val="15000"/>
                    </a:schemeClr>
                  </a:gs>
                  <a:gs pos="100000">
                    <a:schemeClr val="accent6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792791" y="1832610"/>
                <a:ext cx="1462918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340%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825862" y="2441258"/>
                <a:ext cx="1396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平均ROI提升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158471" y="2791778"/>
                <a:ext cx="73155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12个月累计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1905000" y="3095625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chemeClr val="accent4">
                    <a:alpha val="50000"/>
                  </a:schemeClr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2928652" y="3228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投入产出比显著提升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286500" y="1428750"/>
              <a:ext cx="4762500" cy="2286000"/>
              <a:chOff x="6286500" y="1428750"/>
              <a:chExt cx="4762500" cy="2286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286500" y="1524000"/>
                <a:ext cx="47625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2095500">
                    <a:moveTo>
                      <a:pt x="152400" y="0"/>
                    </a:moveTo>
                    <a:lnTo>
                      <a:pt x="4610100" y="0"/>
                    </a:lnTo>
                    <a:cubicBezTo>
                      <a:pt x="4694268" y="0"/>
                      <a:pt x="4762500" y="68232"/>
                      <a:pt x="4762500" y="152400"/>
                    </a:cubicBezTo>
                    <a:lnTo>
                      <a:pt x="4762500" y="1943100"/>
                    </a:lnTo>
                    <a:cubicBezTo>
                      <a:pt x="4762500" y="2027268"/>
                      <a:pt x="4694268" y="2095500"/>
                      <a:pt x="4610100" y="2095500"/>
                    </a:cubicBezTo>
                    <a:lnTo>
                      <a:pt x="152400" y="2095500"/>
                    </a:lnTo>
                    <a:cubicBezTo>
                      <a:pt x="68232" y="2095500"/>
                      <a:pt x="0" y="2027268"/>
                      <a:pt x="0" y="1943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18000"/>
                    </a:schemeClr>
                  </a:gs>
                  <a:gs pos="100000">
                    <a:schemeClr val="accent2">
                      <a:alpha val="8000"/>
                    </a:schemeClr>
                  </a:gs>
                </a:gsLst>
                <a:lin ang="2700000" scaled="1"/>
              </a:gradFill>
              <a:ln w="9525">
                <a:solidFill>
                  <a:srgbClr val="FFFFFF">
                    <a:alpha val="18000"/>
                  </a:srgbClr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286500" y="15240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4762" y="0"/>
                    </a:moveTo>
                    <a:lnTo>
                      <a:pt x="4757738" y="0"/>
                    </a:lnTo>
                    <a:cubicBezTo>
                      <a:pt x="4760368" y="0"/>
                      <a:pt x="4762500" y="2132"/>
                      <a:pt x="4762500" y="4762"/>
                    </a:cubicBezTo>
                    <a:lnTo>
                      <a:pt x="4762500" y="4762"/>
                    </a:lnTo>
                    <a:cubicBezTo>
                      <a:pt x="4762500" y="7393"/>
                      <a:pt x="4760368" y="9525"/>
                      <a:pt x="4757738" y="9525"/>
                    </a:cubicBezTo>
                    <a:lnTo>
                      <a:pt x="4762" y="9525"/>
                    </a:lnTo>
                    <a:cubicBezTo>
                      <a:pt x="2132" y="9525"/>
                      <a:pt x="0" y="7393"/>
                      <a:pt x="0" y="4762"/>
                    </a:cubicBezTo>
                    <a:lnTo>
                      <a:pt x="0" y="4762"/>
                    </a:lnTo>
                    <a:cubicBezTo>
                      <a:pt x="0" y="2132"/>
                      <a:pt x="2132" y="0"/>
                      <a:pt x="476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3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762750" y="1428750"/>
                <a:ext cx="3810000" cy="228600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alpha val="15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099551" y="1832610"/>
                <a:ext cx="1136397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68%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59681" y="2441258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运营效率提升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238363" y="279177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人力成本节省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7048500" y="3095625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chemeClr val="accent4">
                    <a:alpha val="50000"/>
                  </a:schemeClr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072152" y="3228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流程自动化替代人工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143000" y="3810000"/>
              <a:ext cx="4762500" cy="2286000"/>
              <a:chOff x="1143000" y="3810000"/>
              <a:chExt cx="4762500" cy="2286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143000" y="3905250"/>
                <a:ext cx="47625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2095500">
                    <a:moveTo>
                      <a:pt x="152400" y="0"/>
                    </a:moveTo>
                    <a:lnTo>
                      <a:pt x="4610100" y="0"/>
                    </a:lnTo>
                    <a:cubicBezTo>
                      <a:pt x="4694268" y="0"/>
                      <a:pt x="4762500" y="68232"/>
                      <a:pt x="4762500" y="152400"/>
                    </a:cubicBezTo>
                    <a:lnTo>
                      <a:pt x="4762500" y="1943100"/>
                    </a:lnTo>
                    <a:cubicBezTo>
                      <a:pt x="4762500" y="2027268"/>
                      <a:pt x="4694268" y="2095500"/>
                      <a:pt x="4610100" y="2095500"/>
                    </a:cubicBezTo>
                    <a:lnTo>
                      <a:pt x="152400" y="2095500"/>
                    </a:lnTo>
                    <a:cubicBezTo>
                      <a:pt x="68232" y="2095500"/>
                      <a:pt x="0" y="2027268"/>
                      <a:pt x="0" y="1943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18000"/>
                    </a:schemeClr>
                  </a:gs>
                  <a:gs pos="100000">
                    <a:schemeClr val="accent2">
                      <a:alpha val="8000"/>
                    </a:schemeClr>
                  </a:gs>
                </a:gsLst>
                <a:lin ang="2700000" scaled="1"/>
              </a:gradFill>
              <a:ln w="9525">
                <a:solidFill>
                  <a:srgbClr val="FFFFFF">
                    <a:alpha val="18000"/>
                  </a:srgbClr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43000" y="390525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4762" y="0"/>
                    </a:moveTo>
                    <a:lnTo>
                      <a:pt x="4757738" y="0"/>
                    </a:lnTo>
                    <a:cubicBezTo>
                      <a:pt x="4760368" y="0"/>
                      <a:pt x="4762500" y="2132"/>
                      <a:pt x="4762500" y="4762"/>
                    </a:cubicBezTo>
                    <a:lnTo>
                      <a:pt x="4762500" y="4762"/>
                    </a:lnTo>
                    <a:cubicBezTo>
                      <a:pt x="4762500" y="7393"/>
                      <a:pt x="4760368" y="9525"/>
                      <a:pt x="4757738" y="9525"/>
                    </a:cubicBezTo>
                    <a:lnTo>
                      <a:pt x="4762" y="9525"/>
                    </a:lnTo>
                    <a:cubicBezTo>
                      <a:pt x="2132" y="9525"/>
                      <a:pt x="0" y="7393"/>
                      <a:pt x="0" y="4762"/>
                    </a:cubicBezTo>
                    <a:lnTo>
                      <a:pt x="0" y="4762"/>
                    </a:lnTo>
                    <a:cubicBezTo>
                      <a:pt x="0" y="2132"/>
                      <a:pt x="2132" y="0"/>
                      <a:pt x="476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3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1619250" y="3810000"/>
                <a:ext cx="3810000" cy="2286000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alpha val="15000"/>
                    </a:schemeClr>
                  </a:gs>
                  <a:gs pos="100000">
                    <a:schemeClr val="accent3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045102" y="4213860"/>
                <a:ext cx="95829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4200" b="1" dirty="0">
                    <a:solidFill>
                      <a:schemeClr val="accent3"/>
                    </a:solidFill>
                    <a:latin typeface="+mj-lt"/>
                    <a:ea typeface="+mj-ea"/>
                    <a:cs typeface="+mj-cs"/>
                  </a:rPr>
                  <a:t>4周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049410" y="482250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快速上线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156737" y="5173028"/>
                <a:ext cx="7350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POC到生产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1905000" y="5476875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chemeClr val="accent4">
                    <a:alpha val="50000"/>
                  </a:schemeClr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3125534" y="560974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极速交付能力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286500" y="3810000"/>
              <a:ext cx="4762500" cy="2286000"/>
              <a:chOff x="6286500" y="3810000"/>
              <a:chExt cx="4762500" cy="2286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286500" y="3905250"/>
                <a:ext cx="4762500" cy="20955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2095500">
                    <a:moveTo>
                      <a:pt x="152400" y="0"/>
                    </a:moveTo>
                    <a:lnTo>
                      <a:pt x="4610100" y="0"/>
                    </a:lnTo>
                    <a:cubicBezTo>
                      <a:pt x="4694268" y="0"/>
                      <a:pt x="4762500" y="68232"/>
                      <a:pt x="4762500" y="152400"/>
                    </a:cubicBezTo>
                    <a:lnTo>
                      <a:pt x="4762500" y="1943100"/>
                    </a:lnTo>
                    <a:cubicBezTo>
                      <a:pt x="4762500" y="2027268"/>
                      <a:pt x="4694268" y="2095500"/>
                      <a:pt x="4610100" y="2095500"/>
                    </a:cubicBezTo>
                    <a:lnTo>
                      <a:pt x="152400" y="2095500"/>
                    </a:lnTo>
                    <a:cubicBezTo>
                      <a:pt x="68232" y="2095500"/>
                      <a:pt x="0" y="2027268"/>
                      <a:pt x="0" y="19431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18000"/>
                    </a:schemeClr>
                  </a:gs>
                  <a:gs pos="100000">
                    <a:schemeClr val="accent2">
                      <a:alpha val="8000"/>
                    </a:schemeClr>
                  </a:gs>
                </a:gsLst>
                <a:lin ang="2700000" scaled="1"/>
              </a:gradFill>
              <a:ln w="9525">
                <a:solidFill>
                  <a:srgbClr val="FFFFFF">
                    <a:alpha val="18000"/>
                  </a:srgbClr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286500" y="390525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4762" y="0"/>
                    </a:moveTo>
                    <a:lnTo>
                      <a:pt x="4757738" y="0"/>
                    </a:lnTo>
                    <a:cubicBezTo>
                      <a:pt x="4760368" y="0"/>
                      <a:pt x="4762500" y="2132"/>
                      <a:pt x="4762500" y="4762"/>
                    </a:cubicBezTo>
                    <a:lnTo>
                      <a:pt x="4762500" y="4762"/>
                    </a:lnTo>
                    <a:cubicBezTo>
                      <a:pt x="4762500" y="7393"/>
                      <a:pt x="4760368" y="9525"/>
                      <a:pt x="4757738" y="9525"/>
                    </a:cubicBezTo>
                    <a:lnTo>
                      <a:pt x="4762" y="9525"/>
                    </a:lnTo>
                    <a:cubicBezTo>
                      <a:pt x="2132" y="9525"/>
                      <a:pt x="0" y="7393"/>
                      <a:pt x="0" y="4762"/>
                    </a:cubicBezTo>
                    <a:lnTo>
                      <a:pt x="0" y="4762"/>
                    </a:lnTo>
                    <a:cubicBezTo>
                      <a:pt x="0" y="2132"/>
                      <a:pt x="2132" y="0"/>
                      <a:pt x="4762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0"/>
                    </a:srgbClr>
                  </a:gs>
                  <a:gs pos="50000">
                    <a:srgbClr val="FFFFFF">
                      <a:alpha val="35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762750" y="3810000"/>
                <a:ext cx="3810000" cy="2286000"/>
              </a:xfrm>
              <a:prstGeom prst="ellipse">
                <a:avLst/>
              </a:prstGeom>
              <a:gradFill>
                <a:gsLst>
                  <a:gs pos="0">
                    <a:schemeClr val="accent2">
                      <a:alpha val="15000"/>
                    </a:schemeClr>
                  </a:gs>
                  <a:gs pos="100000">
                    <a:schemeClr val="accent2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099551" y="4213860"/>
                <a:ext cx="1136397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2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91%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076295" y="4822508"/>
                <a:ext cx="1182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客户留存率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443322" y="5173028"/>
                <a:ext cx="44885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12个月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7048500" y="5476875"/>
                <a:ext cx="323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9525">
                    <a:moveTo>
                      <a:pt x="0" y="0"/>
                    </a:moveTo>
                    <a:lnTo>
                      <a:pt x="3238500" y="0"/>
                    </a:lnTo>
                  </a:path>
                </a:pathLst>
              </a:custGeom>
              <a:noFill/>
              <a:ln w="9525">
                <a:solidFill>
                  <a:schemeClr val="accent4">
                    <a:alpha val="50000"/>
                  </a:schemeClr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269034" y="560974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持续服务保障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66738" y="6379845"/>
            <a:ext cx="11058524" cy="176212"/>
            <a:chOff x="566738" y="6379845"/>
            <a:chExt cx="11058524" cy="176212"/>
          </a:xfrm>
        </p:grpSpPr>
        <p:sp>
          <p:nvSpPr>
            <p:cNvPr id="47" name="TextBox 47"/>
            <p:cNvSpPr txBox="1"/>
            <p:nvPr/>
          </p:nvSpPr>
          <p:spPr>
            <a:xfrm>
              <a:off x="566738" y="6379845"/>
              <a:ext cx="1750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企业 AI 营销工作台 · 方案概览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43132" y="637984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6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2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6547" y="381000"/>
            <a:ext cx="11058906" cy="418814"/>
            <a:chOff x="566547" y="381000"/>
            <a:chExt cx="11058906" cy="418814"/>
          </a:xfrm>
        </p:grpSpPr>
        <p:sp>
          <p:nvSpPr>
            <p:cNvPr id="6" name="Rectangle 6"/>
            <p:cNvSpPr/>
            <p:nvPr/>
          </p:nvSpPr>
          <p:spPr>
            <a:xfrm>
              <a:off x="571500" y="381000"/>
              <a:ext cx="11049000" cy="9525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3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66547" y="60912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扩散图谱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20224" y="609124"/>
              <a:ext cx="305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7 / 8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946785"/>
            <a:ext cx="10287000" cy="4704397"/>
            <a:chOff x="571500" y="946785"/>
            <a:chExt cx="10287000" cy="4704397"/>
          </a:xfrm>
        </p:grpSpPr>
        <p:sp>
          <p:nvSpPr>
            <p:cNvPr id="10" name="TextBox 10"/>
            <p:cNvSpPr txBox="1"/>
            <p:nvPr/>
          </p:nvSpPr>
          <p:spPr>
            <a:xfrm>
              <a:off x="3878269" y="946785"/>
              <a:ext cx="44354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50000">
                        <a:schemeClr val="accent2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j-lt"/>
                  <a:ea typeface="+mj-ea"/>
                  <a:cs typeface="+mj-cs"/>
                </a:rPr>
                <a:t>投入产出曲线：6个月转正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3304" y="1425892"/>
              <a:ext cx="3825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随时间推移，AI能力持续优化，成本持续下降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147000" y="2381250"/>
              <a:ext cx="9711500" cy="2888932"/>
              <a:chOff x="1147000" y="2381250"/>
              <a:chExt cx="9711500" cy="288893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333500" y="2381250"/>
                <a:ext cx="9525000" cy="2571750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2571750">
                    <a:moveTo>
                      <a:pt x="0" y="2190750"/>
                    </a:moveTo>
                    <a:cubicBezTo>
                      <a:pt x="762000" y="2063750"/>
                      <a:pt x="1524000" y="1873250"/>
                      <a:pt x="2286000" y="1619250"/>
                    </a:cubicBezTo>
                    <a:cubicBezTo>
                      <a:pt x="3048000" y="1365250"/>
                      <a:pt x="3810000" y="1111250"/>
                      <a:pt x="4572000" y="857250"/>
                    </a:cubicBezTo>
                    <a:cubicBezTo>
                      <a:pt x="5334000" y="603250"/>
                      <a:pt x="6096000" y="412750"/>
                      <a:pt x="6858000" y="285750"/>
                    </a:cubicBezTo>
                    <a:cubicBezTo>
                      <a:pt x="7620000" y="158750"/>
                      <a:pt x="8382000" y="63500"/>
                      <a:pt x="9144000" y="0"/>
                    </a:cubicBezTo>
                    <a:lnTo>
                      <a:pt x="9525000" y="0"/>
                    </a:lnTo>
                    <a:lnTo>
                      <a:pt x="9525000" y="2571750"/>
                    </a:lnTo>
                    <a:lnTo>
                      <a:pt x="0" y="257175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30000"/>
                    </a:schemeClr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33500" y="2381250"/>
                <a:ext cx="914400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190750">
                    <a:moveTo>
                      <a:pt x="0" y="2190750"/>
                    </a:moveTo>
                    <a:cubicBezTo>
                      <a:pt x="762000" y="2063750"/>
                      <a:pt x="1524000" y="1873250"/>
                      <a:pt x="2286000" y="1619250"/>
                    </a:cubicBezTo>
                    <a:cubicBezTo>
                      <a:pt x="3048000" y="1365250"/>
                      <a:pt x="3810000" y="1111250"/>
                      <a:pt x="4572000" y="857250"/>
                    </a:cubicBezTo>
                    <a:cubicBezTo>
                      <a:pt x="5334000" y="603250"/>
                      <a:pt x="6096000" y="412750"/>
                      <a:pt x="6858000" y="285750"/>
                    </a:cubicBezTo>
                    <a:cubicBezTo>
                      <a:pt x="7620000" y="158750"/>
                      <a:pt x="8382000" y="63500"/>
                      <a:pt x="9144000" y="0"/>
                    </a:cubicBezTo>
                  </a:path>
                </a:pathLst>
              </a:custGeom>
              <a:noFill/>
              <a:ln w="38100" cap="rnd">
                <a:gradFill>
                  <a:gsLst>
                    <a:gs pos="0">
                      <a:schemeClr val="accent1">
                        <a:alpha val="80000"/>
                      </a:schemeClr>
                    </a:gs>
                    <a:gs pos="33000">
                      <a:schemeClr val="accent2">
                        <a:alpha val="80000"/>
                      </a:schemeClr>
                    </a:gs>
                    <a:gs pos="66000">
                      <a:schemeClr val="accent2">
                        <a:alpha val="80000"/>
                      </a:schemeClr>
                    </a:gs>
                    <a:gs pos="100000">
                      <a:schemeClr val="accent6">
                        <a:alpha val="80000"/>
                      </a:schemeClr>
                    </a:gs>
                  </a:gsLst>
                  <a:lin ang="0" scaled="1"/>
                </a:gra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33500" y="2667000"/>
                <a:ext cx="914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24000">
                    <a:moveTo>
                      <a:pt x="0" y="0"/>
                    </a:moveTo>
                    <a:cubicBezTo>
                      <a:pt x="762000" y="190500"/>
                      <a:pt x="1524000" y="381000"/>
                      <a:pt x="2286000" y="571500"/>
                    </a:cubicBezTo>
                    <a:cubicBezTo>
                      <a:pt x="3048000" y="762000"/>
                      <a:pt x="3810000" y="920750"/>
                      <a:pt x="4572000" y="1047750"/>
                    </a:cubicBezTo>
                    <a:cubicBezTo>
                      <a:pt x="5334000" y="1174750"/>
                      <a:pt x="6096000" y="1270000"/>
                      <a:pt x="6858000" y="1333500"/>
                    </a:cubicBezTo>
                    <a:cubicBezTo>
                      <a:pt x="7620000" y="1397000"/>
                      <a:pt x="8382000" y="1460500"/>
                      <a:pt x="9144000" y="1524000"/>
                    </a:cubicBezTo>
                  </a:path>
                </a:pathLst>
              </a:custGeom>
              <a:noFill/>
              <a:ln w="19050" cap="rnd">
                <a:solidFill>
                  <a:schemeClr val="accent3">
                    <a:alpha val="60000"/>
                  </a:schemeClr>
                </a:solidFill>
                <a:custDash>
                  <a:ds d="400000" sp="300000"/>
                </a:custDash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333500" y="4953000"/>
                <a:ext cx="952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00" h="9525">
                    <a:moveTo>
                      <a:pt x="0" y="0"/>
                    </a:moveTo>
                    <a:lnTo>
                      <a:pt x="9525000" y="0"/>
                    </a:lnTo>
                  </a:path>
                </a:pathLst>
              </a:custGeom>
              <a:noFill/>
              <a:ln w="9525">
                <a:solidFill>
                  <a:schemeClr val="accent4">
                    <a:alpha val="50000"/>
                  </a:schemeClr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147000" y="5093970"/>
                <a:ext cx="3729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启动期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555511" y="5093970"/>
                <a:ext cx="3184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第1月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746261" y="5093970"/>
                <a:ext cx="3184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第3月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32261" y="5093970"/>
                <a:ext cx="3184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第5月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318261" y="5093970"/>
                <a:ext cx="31847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第6月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714500" y="1905000"/>
              <a:ext cx="8572500" cy="2343150"/>
              <a:chOff x="1714500" y="1905000"/>
              <a:chExt cx="8572500" cy="2343150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1714500" y="1905000"/>
                <a:ext cx="1714500" cy="2343150"/>
                <a:chOff x="1714500" y="1905000"/>
                <a:chExt cx="1714500" cy="23431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1714500" y="1905000"/>
                  <a:ext cx="1714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762000">
                      <a:moveTo>
                        <a:pt x="114300" y="0"/>
                      </a:moveTo>
                      <a:lnTo>
                        <a:pt x="1600200" y="0"/>
                      </a:lnTo>
                      <a:cubicBezTo>
                        <a:pt x="1663326" y="0"/>
                        <a:pt x="1714500" y="51174"/>
                        <a:pt x="1714500" y="114300"/>
                      </a:cubicBezTo>
                      <a:lnTo>
                        <a:pt x="1714500" y="647700"/>
                      </a:lnTo>
                      <a:cubicBezTo>
                        <a:pt x="1714500" y="710826"/>
                        <a:pt x="1663326" y="762000"/>
                        <a:pt x="1600200" y="762000"/>
                      </a:cubicBezTo>
                      <a:lnTo>
                        <a:pt x="114300" y="762000"/>
                      </a:lnTo>
                      <a:cubicBezTo>
                        <a:pt x="51174" y="762000"/>
                        <a:pt x="0" y="710826"/>
                        <a:pt x="0" y="647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>
                    <a:alpha val="60000"/>
                  </a:schemeClr>
                </a:solidFill>
                <a:ln w="9525">
                  <a:solidFill>
                    <a:srgbClr val="FFFFFF">
                      <a:alpha val="15000"/>
                    </a:srgbClr>
                  </a:solidFill>
                </a:ln>
              </p:spPr>
            </p:sp>
            <p:sp>
              <p:nvSpPr>
                <p:cNvPr id="23" name="Rectangle 23"/>
                <p:cNvSpPr/>
                <p:nvPr/>
              </p:nvSpPr>
              <p:spPr>
                <a:xfrm>
                  <a:off x="1714500" y="1905000"/>
                  <a:ext cx="17145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103491" y="2153602"/>
                  <a:ext cx="93651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首年软件+实施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2397822" y="2297430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88</a:t>
                  </a:r>
                </a:p>
              </p:txBody>
            </p:sp>
            <p:sp>
              <p:nvSpPr>
                <p:cNvPr id="26" name="Ellipse 26"/>
                <p:cNvSpPr/>
                <p:nvPr/>
              </p:nvSpPr>
              <p:spPr>
                <a:xfrm>
                  <a:off x="2514600" y="4133850"/>
                  <a:ext cx="114300" cy="1143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7" name="Line 27"/>
                <p:cNvSpPr/>
                <p:nvPr/>
              </p:nvSpPr>
              <p:spPr>
                <a:xfrm>
                  <a:off x="2571750" y="2667000"/>
                  <a:ext cx="9525" cy="146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66850">
                      <a:moveTo>
                        <a:pt x="0" y="0"/>
                      </a:moveTo>
                      <a:lnTo>
                        <a:pt x="0" y="1466850"/>
                      </a:lnTo>
                    </a:path>
                  </a:pathLst>
                </a:custGeom>
                <a:noFill/>
                <a:ln w="19050">
                  <a:solidFill>
                    <a:schemeClr val="accent1">
                      <a:alpha val="40000"/>
                    </a:schemeClr>
                  </a:solidFill>
                  <a:prstDash val="dash"/>
                </a:ln>
              </p:spPr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4000500" y="2286000"/>
                <a:ext cx="1714500" cy="1485900"/>
                <a:chOff x="4000500" y="2286000"/>
                <a:chExt cx="1714500" cy="14859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000500" y="2286000"/>
                  <a:ext cx="1714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762000">
                      <a:moveTo>
                        <a:pt x="114300" y="0"/>
                      </a:moveTo>
                      <a:lnTo>
                        <a:pt x="1600200" y="0"/>
                      </a:lnTo>
                      <a:cubicBezTo>
                        <a:pt x="1663326" y="0"/>
                        <a:pt x="1714500" y="51174"/>
                        <a:pt x="1714500" y="114300"/>
                      </a:cubicBezTo>
                      <a:lnTo>
                        <a:pt x="1714500" y="647700"/>
                      </a:lnTo>
                      <a:cubicBezTo>
                        <a:pt x="1714500" y="710826"/>
                        <a:pt x="1663326" y="762000"/>
                        <a:pt x="1600200" y="762000"/>
                      </a:cubicBezTo>
                      <a:lnTo>
                        <a:pt x="114300" y="762000"/>
                      </a:lnTo>
                      <a:cubicBezTo>
                        <a:pt x="51174" y="762000"/>
                        <a:pt x="0" y="710826"/>
                        <a:pt x="0" y="647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>
                    <a:alpha val="60000"/>
                  </a:schemeClr>
                </a:solidFill>
                <a:ln w="9525">
                  <a:solidFill>
                    <a:srgbClr val="FFFFFF">
                      <a:alpha val="15000"/>
                    </a:srgbClr>
                  </a:solidFill>
                </a:ln>
              </p:spPr>
            </p:sp>
            <p:sp>
              <p:nvSpPr>
                <p:cNvPr id="30" name="Rectangle 30"/>
                <p:cNvSpPr/>
                <p:nvPr/>
              </p:nvSpPr>
              <p:spPr>
                <a:xfrm>
                  <a:off x="4000500" y="2286000"/>
                  <a:ext cx="17145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357688" y="2534602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已覆盖当期投入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683822" y="2678430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74</a:t>
                  </a:r>
                </a:p>
              </p:txBody>
            </p:sp>
            <p:sp>
              <p:nvSpPr>
                <p:cNvPr id="33" name="Ellipse 33"/>
                <p:cNvSpPr/>
                <p:nvPr/>
              </p:nvSpPr>
              <p:spPr>
                <a:xfrm>
                  <a:off x="4800600" y="3657600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4857750" y="3048000"/>
                  <a:ext cx="9525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609600">
                      <a:moveTo>
                        <a:pt x="0" y="0"/>
                      </a:moveTo>
                      <a:lnTo>
                        <a:pt x="0" y="609600"/>
                      </a:lnTo>
                    </a:path>
                  </a:pathLst>
                </a:custGeom>
                <a:noFill/>
                <a:ln w="19050">
                  <a:solidFill>
                    <a:schemeClr val="accent2">
                      <a:alpha val="40000"/>
                    </a:schemeClr>
                  </a:solidFill>
                  <a:prstDash val="dash"/>
                </a:ln>
              </p:spPr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6286500" y="2857500"/>
                <a:ext cx="1714500" cy="803148"/>
                <a:chOff x="6286500" y="2857500"/>
                <a:chExt cx="1714500" cy="803148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6286500" y="2857500"/>
                  <a:ext cx="1714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762000">
                      <a:moveTo>
                        <a:pt x="114300" y="0"/>
                      </a:moveTo>
                      <a:lnTo>
                        <a:pt x="1600200" y="0"/>
                      </a:lnTo>
                      <a:cubicBezTo>
                        <a:pt x="1663326" y="0"/>
                        <a:pt x="1714500" y="51174"/>
                        <a:pt x="1714500" y="114300"/>
                      </a:cubicBezTo>
                      <a:lnTo>
                        <a:pt x="1714500" y="647700"/>
                      </a:lnTo>
                      <a:cubicBezTo>
                        <a:pt x="1714500" y="710826"/>
                        <a:pt x="1663326" y="762000"/>
                        <a:pt x="1600200" y="762000"/>
                      </a:cubicBezTo>
                      <a:lnTo>
                        <a:pt x="114300" y="762000"/>
                      </a:lnTo>
                      <a:cubicBezTo>
                        <a:pt x="51174" y="762000"/>
                        <a:pt x="0" y="710826"/>
                        <a:pt x="0" y="647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>
                    <a:alpha val="60000"/>
                  </a:schemeClr>
                </a:solidFill>
                <a:ln w="9525">
                  <a:solidFill>
                    <a:srgbClr val="FFFFFF">
                      <a:alpha val="15000"/>
                    </a:srgbClr>
                  </a:solidFill>
                </a:ln>
              </p:spPr>
            </p:sp>
            <p:sp>
              <p:nvSpPr>
                <p:cNvPr id="37" name="Rectangle 37"/>
                <p:cNvSpPr/>
                <p:nvPr/>
              </p:nvSpPr>
              <p:spPr>
                <a:xfrm>
                  <a:off x="6286500" y="2857500"/>
                  <a:ext cx="17145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714363" y="310610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进入盈利区间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969822" y="3249930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60</a:t>
                  </a:r>
                </a:p>
              </p:txBody>
            </p:sp>
            <p:sp>
              <p:nvSpPr>
                <p:cNvPr id="40" name="Ellipse 40"/>
                <p:cNvSpPr/>
                <p:nvPr/>
              </p:nvSpPr>
              <p:spPr>
                <a:xfrm>
                  <a:off x="7086600" y="3228975"/>
                  <a:ext cx="114300" cy="1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1" name="Line 41"/>
                <p:cNvSpPr/>
                <p:nvPr/>
              </p:nvSpPr>
              <p:spPr>
                <a:xfrm>
                  <a:off x="7143750" y="3228975"/>
                  <a:ext cx="9525" cy="39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90525">
                      <a:moveTo>
                        <a:pt x="0" y="3905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2">
                      <a:alpha val="40000"/>
                    </a:schemeClr>
                  </a:solidFill>
                  <a:prstDash val="dash"/>
                </a:ln>
              </p:spPr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8572500" y="2466975"/>
                <a:ext cx="1714500" cy="1765173"/>
                <a:chOff x="8572500" y="2466975"/>
                <a:chExt cx="1714500" cy="1765173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8572500" y="3429000"/>
                  <a:ext cx="17145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0" h="762000">
                      <a:moveTo>
                        <a:pt x="114300" y="0"/>
                      </a:moveTo>
                      <a:lnTo>
                        <a:pt x="1600200" y="0"/>
                      </a:lnTo>
                      <a:cubicBezTo>
                        <a:pt x="1663326" y="0"/>
                        <a:pt x="1714500" y="51174"/>
                        <a:pt x="1714500" y="114300"/>
                      </a:cubicBezTo>
                      <a:lnTo>
                        <a:pt x="1714500" y="647700"/>
                      </a:lnTo>
                      <a:cubicBezTo>
                        <a:pt x="1714500" y="710826"/>
                        <a:pt x="1663326" y="762000"/>
                        <a:pt x="1600200" y="762000"/>
                      </a:cubicBezTo>
                      <a:lnTo>
                        <a:pt x="114300" y="762000"/>
                      </a:lnTo>
                      <a:cubicBezTo>
                        <a:pt x="51174" y="762000"/>
                        <a:pt x="0" y="710826"/>
                        <a:pt x="0" y="647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>
                    <a:alpha val="60000"/>
                  </a:schemeClr>
                </a:solidFill>
                <a:ln w="9525">
                  <a:solidFill>
                    <a:srgbClr val="FFFFFF">
                      <a:alpha val="15000"/>
                    </a:srgbClr>
                  </a:solidFill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8572500" y="3429000"/>
                  <a:ext cx="17145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9071038" y="3677602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持续优化中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9255822" y="3821430"/>
                  <a:ext cx="347857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chemeClr val="accent6"/>
                      </a:solidFill>
                      <a:latin typeface="+mj-lt"/>
                      <a:ea typeface="+mj-ea"/>
                      <a:cs typeface="+mj-cs"/>
                    </a:rPr>
                    <a:t>46</a:t>
                  </a:r>
                </a:p>
              </p:txBody>
            </p:sp>
            <p:sp>
              <p:nvSpPr>
                <p:cNvPr id="47" name="Ellipse 47"/>
                <p:cNvSpPr/>
                <p:nvPr/>
              </p:nvSpPr>
              <p:spPr>
                <a:xfrm>
                  <a:off x="9372600" y="2466975"/>
                  <a:ext cx="114300" cy="1143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8" name="Line 48"/>
                <p:cNvSpPr/>
                <p:nvPr/>
              </p:nvSpPr>
              <p:spPr>
                <a:xfrm>
                  <a:off x="9429750" y="2581275"/>
                  <a:ext cx="9525" cy="160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609725">
                      <a:moveTo>
                        <a:pt x="0" y="1609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6">
                      <a:alpha val="40000"/>
                    </a:schemeClr>
                  </a:solidFill>
                  <a:prstDash val="dash"/>
                </a:ln>
              </p:spPr>
            </p:sp>
          </p:grpSp>
        </p:grpSp>
        <p:grpSp>
          <p:nvGrpSpPr>
            <p:cNvPr id="57" name="Group 57"/>
            <p:cNvGrpSpPr/>
            <p:nvPr/>
          </p:nvGrpSpPr>
          <p:grpSpPr>
            <a:xfrm>
              <a:off x="571500" y="5474970"/>
              <a:ext cx="4032695" cy="176212"/>
              <a:chOff x="571500" y="5474970"/>
              <a:chExt cx="4032695" cy="17621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571500" y="5524500"/>
                <a:ext cx="2286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8575">
                    <a:moveTo>
                      <a:pt x="14288" y="0"/>
                    </a:moveTo>
                    <a:lnTo>
                      <a:pt x="214312" y="0"/>
                    </a:lnTo>
                    <a:cubicBezTo>
                      <a:pt x="222203" y="0"/>
                      <a:pt x="228600" y="6397"/>
                      <a:pt x="228600" y="14288"/>
                    </a:cubicBezTo>
                    <a:lnTo>
                      <a:pt x="228600" y="14288"/>
                    </a:lnTo>
                    <a:cubicBezTo>
                      <a:pt x="228600" y="22178"/>
                      <a:pt x="222203" y="28575"/>
                      <a:pt x="214312" y="28575"/>
                    </a:cubicBezTo>
                    <a:lnTo>
                      <a:pt x="14288" y="28575"/>
                    </a:lnTo>
                    <a:cubicBezTo>
                      <a:pt x="6397" y="28575"/>
                      <a:pt x="0" y="22178"/>
                      <a:pt x="0" y="142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chemeClr val="accent1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71538" y="5474970"/>
                <a:ext cx="63040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AI能力指数</a:t>
                </a:r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2095500" y="5524500"/>
                <a:ext cx="2286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8575">
                    <a:moveTo>
                      <a:pt x="14288" y="0"/>
                    </a:moveTo>
                    <a:lnTo>
                      <a:pt x="214312" y="0"/>
                    </a:lnTo>
                    <a:cubicBezTo>
                      <a:pt x="222203" y="0"/>
                      <a:pt x="228600" y="6397"/>
                      <a:pt x="228600" y="14288"/>
                    </a:cubicBezTo>
                    <a:lnTo>
                      <a:pt x="228600" y="14288"/>
                    </a:lnTo>
                    <a:cubicBezTo>
                      <a:pt x="228600" y="22178"/>
                      <a:pt x="222203" y="28575"/>
                      <a:pt x="214312" y="28575"/>
                    </a:cubicBezTo>
                    <a:lnTo>
                      <a:pt x="14288" y="28575"/>
                    </a:lnTo>
                    <a:cubicBezTo>
                      <a:pt x="6397" y="28575"/>
                      <a:pt x="0" y="22178"/>
                      <a:pt x="0" y="142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chemeClr val="accent3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2395538" y="5474970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成本指数（下降）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3962400" y="5500688"/>
                <a:ext cx="76200" cy="762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110038" y="54749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转正节点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3619500" y="2571750"/>
              <a:ext cx="4762500" cy="1524000"/>
              <a:chOff x="3619500" y="2571750"/>
              <a:chExt cx="4762500" cy="15240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3619500" y="39052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90500"/>
                    </a:moveTo>
                    <a:lnTo>
                      <a:pt x="190500" y="95250"/>
                    </a:lnTo>
                    <a:lnTo>
                      <a:pt x="0" y="0"/>
                    </a:lnTo>
                    <a:lnTo>
                      <a:pt x="47625" y="95250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905500" y="3333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90500"/>
                    </a:moveTo>
                    <a:lnTo>
                      <a:pt x="190500" y="95250"/>
                    </a:lnTo>
                    <a:lnTo>
                      <a:pt x="0" y="0"/>
                    </a:lnTo>
                    <a:lnTo>
                      <a:pt x="47625" y="95250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191500" y="257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90500"/>
                    </a:moveTo>
                    <a:lnTo>
                      <a:pt x="190500" y="95250"/>
                    </a:lnTo>
                    <a:lnTo>
                      <a:pt x="0" y="0"/>
                    </a:lnTo>
                    <a:lnTo>
                      <a:pt x="47625" y="95250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</p:spPr>
          </p:sp>
        </p:grpSp>
      </p:grpSp>
      <p:grpSp>
        <p:nvGrpSpPr>
          <p:cNvPr id="67" name="Group 67"/>
          <p:cNvGrpSpPr/>
          <p:nvPr/>
        </p:nvGrpSpPr>
        <p:grpSpPr>
          <a:xfrm>
            <a:off x="9525000" y="1333500"/>
            <a:ext cx="1143000" cy="505206"/>
            <a:chOff x="9525000" y="1333500"/>
            <a:chExt cx="1143000" cy="505206"/>
          </a:xfrm>
        </p:grpSpPr>
        <p:grpSp>
          <p:nvGrpSpPr>
            <p:cNvPr id="66" name="Group 66"/>
            <p:cNvGrpSpPr/>
            <p:nvPr/>
          </p:nvGrpSpPr>
          <p:grpSpPr>
            <a:xfrm>
              <a:off x="9525000" y="1333500"/>
              <a:ext cx="1143000" cy="505206"/>
              <a:chOff x="9525000" y="1333500"/>
              <a:chExt cx="1143000" cy="50520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9525000" y="1333500"/>
                <a:ext cx="1143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476250">
                    <a:moveTo>
                      <a:pt x="95250" y="0"/>
                    </a:moveTo>
                    <a:lnTo>
                      <a:pt x="1047750" y="0"/>
                    </a:lnTo>
                    <a:cubicBezTo>
                      <a:pt x="1100355" y="0"/>
                      <a:pt x="1143000" y="42645"/>
                      <a:pt x="1143000" y="95250"/>
                    </a:cubicBezTo>
                    <a:lnTo>
                      <a:pt x="1143000" y="381000"/>
                    </a:lnTo>
                    <a:cubicBezTo>
                      <a:pt x="1143000" y="433605"/>
                      <a:pt x="1100355" y="476250"/>
                      <a:pt x="1047750" y="476250"/>
                    </a:cubicBezTo>
                    <a:lnTo>
                      <a:pt x="95250" y="476250"/>
                    </a:lnTo>
                    <a:cubicBezTo>
                      <a:pt x="42645" y="476250"/>
                      <a:pt x="0" y="433605"/>
                      <a:pt x="0" y="3810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chemeClr val="accent6">
                  <a:alpha val="15000"/>
                </a:schemeClr>
              </a:solidFill>
              <a:ln w="9525">
                <a:solidFill>
                  <a:schemeClr val="accent6">
                    <a:alpha val="40000"/>
                  </a:schemeClr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862909" y="1482566"/>
                <a:ext cx="46718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ROI 转正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874137" y="1604010"/>
                <a:ext cx="4447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6个月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1905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476250"/>
            <a:ext cx="381000" cy="76200"/>
            <a:chOff x="571500" y="476250"/>
            <a:chExt cx="381000" cy="76200"/>
          </a:xfrm>
        </p:grpSpPr>
        <p:sp>
          <p:nvSpPr>
            <p:cNvPr id="6" name="Freeform 6"/>
            <p:cNvSpPr/>
            <p:nvPr/>
          </p:nvSpPr>
          <p:spPr>
            <a:xfrm>
              <a:off x="571500" y="4762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38100"/>
                  </a:lnTo>
                  <a:cubicBezTo>
                    <a:pt x="76200" y="59142"/>
                    <a:pt x="59142" y="76200"/>
                    <a:pt x="38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723900" y="4762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38100"/>
                  </a:lnTo>
                  <a:cubicBezTo>
                    <a:pt x="76200" y="59142"/>
                    <a:pt x="59142" y="76200"/>
                    <a:pt x="38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76300" y="4762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42" y="0"/>
                    <a:pt x="76200" y="17058"/>
                    <a:pt x="76200" y="38100"/>
                  </a:cubicBezTo>
                  <a:lnTo>
                    <a:pt x="76200" y="38100"/>
                  </a:lnTo>
                  <a:cubicBezTo>
                    <a:pt x="76200" y="59142"/>
                    <a:pt x="59142" y="76200"/>
                    <a:pt x="381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57784" y="791528"/>
            <a:ext cx="10491216" cy="5875972"/>
            <a:chOff x="557784" y="791528"/>
            <a:chExt cx="10491216" cy="5875972"/>
          </a:xfrm>
        </p:grpSpPr>
        <p:grpSp>
          <p:nvGrpSpPr>
            <p:cNvPr id="13" name="Group 13"/>
            <p:cNvGrpSpPr/>
            <p:nvPr/>
          </p:nvGrpSpPr>
          <p:grpSpPr>
            <a:xfrm>
              <a:off x="557784" y="791528"/>
              <a:ext cx="3843909" cy="1054417"/>
              <a:chOff x="557784" y="791528"/>
              <a:chExt cx="3843909" cy="105441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566166" y="79152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节奏安排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7784" y="1089660"/>
                <a:ext cx="384390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gradFill>
                      <a:gsLst>
                        <a:gs pos="0">
                          <a:schemeClr val="accent1"/>
                        </a:gs>
                        <a:gs pos="50000">
                          <a:schemeClr val="accent2"/>
                        </a:gs>
                        <a:gs pos="100000">
                          <a:schemeClr val="accent3"/>
                        </a:gs>
                      </a:gsLst>
                      <a:lin ang="0" scaled="1"/>
                    </a:gradFill>
                    <a:latin typeface="+mj-lt"/>
                    <a:ea typeface="+mj-ea"/>
                    <a:cs typeface="+mj-cs"/>
                  </a:rPr>
                  <a:t>下一步：从决策到行动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63880" y="1552575"/>
                <a:ext cx="367017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j-lt"/>
                    <a:ea typeface="+mj-ea"/>
                    <a:cs typeface="+mj-cs"/>
                  </a:rPr>
                  <a:t>12周分阶段落地，风险可控、价值可见。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762000" y="3162300"/>
              <a:ext cx="10287000" cy="1790700"/>
              <a:chOff x="762000" y="3162300"/>
              <a:chExt cx="10287000" cy="17907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1143000" y="3429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28575">
                <a:gradFill>
                  <a:gsLst>
                    <a:gs pos="0">
                      <a:schemeClr val="accent1">
                        <a:alpha val="60000"/>
                      </a:schemeClr>
                    </a:gs>
                    <a:gs pos="100000">
                      <a:schemeClr val="accent3">
                        <a:alpha val="60000"/>
                      </a:schemeClr>
                    </a:gs>
                  </a:gsLst>
                  <a:lin ang="0" scaled="1"/>
                </a:gra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762000" y="3200400"/>
                <a:ext cx="1905000" cy="1752600"/>
                <a:chOff x="762000" y="3200400"/>
                <a:chExt cx="1905000" cy="1752600"/>
              </a:xfrm>
            </p:grpSpPr>
            <p:sp>
              <p:nvSpPr>
                <p:cNvPr id="15" name="Ellipse 15"/>
                <p:cNvSpPr/>
                <p:nvPr/>
              </p:nvSpPr>
              <p:spPr>
                <a:xfrm>
                  <a:off x="1485900" y="3200400"/>
                  <a:ext cx="457200" cy="457200"/>
                </a:xfrm>
                <a:prstGeom prst="ellipse">
                  <a:avLst/>
                </a:prstGeom>
                <a:solidFill>
                  <a:schemeClr val="lt2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Ellipse 16"/>
                <p:cNvSpPr/>
                <p:nvPr/>
              </p:nvSpPr>
              <p:spPr>
                <a:xfrm>
                  <a:off x="1600200" y="33147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62000" y="3810000"/>
                  <a:ext cx="1905000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1143000">
                      <a:moveTo>
                        <a:pt x="152400" y="0"/>
                      </a:moveTo>
                      <a:lnTo>
                        <a:pt x="1752600" y="0"/>
                      </a:lnTo>
                      <a:cubicBezTo>
                        <a:pt x="1836768" y="0"/>
                        <a:pt x="1905000" y="68232"/>
                        <a:pt x="1905000" y="152400"/>
                      </a:cubicBezTo>
                      <a:lnTo>
                        <a:pt x="1905000" y="990600"/>
                      </a:lnTo>
                      <a:cubicBezTo>
                        <a:pt x="1905000" y="1074768"/>
                        <a:pt x="1836768" y="1143000"/>
                        <a:pt x="1752600" y="1143000"/>
                      </a:cubicBezTo>
                      <a:lnTo>
                        <a:pt x="152400" y="1143000"/>
                      </a:lnTo>
                      <a:cubicBezTo>
                        <a:pt x="68232" y="1143000"/>
                        <a:pt x="0" y="1074768"/>
                        <a:pt x="0" y="99060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8000"/>
                      </a:schemeClr>
                    </a:gs>
                    <a:gs pos="100000">
                      <a:schemeClr val="accent2">
                        <a:alpha val="8000"/>
                      </a:schemeClr>
                    </a:gs>
                  </a:gsLst>
                  <a:lin ang="2700000" scaled="1"/>
                </a:gradFill>
                <a:ln w="9525">
                  <a:solidFill>
                    <a:srgbClr val="FFFFFF">
                      <a:alpha val="18000"/>
                    </a:srgbClr>
                  </a:solidFill>
                </a:ln>
              </p:spPr>
            </p:sp>
            <p:sp>
              <p:nvSpPr>
                <p:cNvPr id="18" name="Rectangle 18"/>
                <p:cNvSpPr/>
                <p:nvPr/>
              </p:nvSpPr>
              <p:spPr>
                <a:xfrm>
                  <a:off x="762000" y="3810000"/>
                  <a:ext cx="19050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415129" y="4125278"/>
                  <a:ext cx="5987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chemeClr val="accent3"/>
                      </a:solidFill>
                      <a:latin typeface="+mj-lt"/>
                      <a:ea typeface="+mj-ea"/>
                      <a:cs typeface="+mj-cs"/>
                    </a:rPr>
                    <a:t>W1 - W2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369162" y="4394835"/>
                  <a:ext cx="69067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需求对齐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272311" y="4649152"/>
                  <a:ext cx="88437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POC方案确认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3048000" y="3200400"/>
                <a:ext cx="1905000" cy="1752600"/>
                <a:chOff x="3048000" y="3200400"/>
                <a:chExt cx="1905000" cy="1752600"/>
              </a:xfrm>
            </p:grpSpPr>
            <p:sp>
              <p:nvSpPr>
                <p:cNvPr id="23" name="Ellipse 23"/>
                <p:cNvSpPr/>
                <p:nvPr/>
              </p:nvSpPr>
              <p:spPr>
                <a:xfrm>
                  <a:off x="3771900" y="3200400"/>
                  <a:ext cx="457200" cy="457200"/>
                </a:xfrm>
                <a:prstGeom prst="ellipse">
                  <a:avLst/>
                </a:prstGeom>
                <a:solidFill>
                  <a:schemeClr val="lt2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4" name="Ellipse 24"/>
                <p:cNvSpPr/>
                <p:nvPr/>
              </p:nvSpPr>
              <p:spPr>
                <a:xfrm>
                  <a:off x="3886200" y="33147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3048000" y="3810000"/>
                  <a:ext cx="1905000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1143000">
                      <a:moveTo>
                        <a:pt x="152400" y="0"/>
                      </a:moveTo>
                      <a:lnTo>
                        <a:pt x="1752600" y="0"/>
                      </a:lnTo>
                      <a:cubicBezTo>
                        <a:pt x="1836768" y="0"/>
                        <a:pt x="1905000" y="68232"/>
                        <a:pt x="1905000" y="152400"/>
                      </a:cubicBezTo>
                      <a:lnTo>
                        <a:pt x="1905000" y="990600"/>
                      </a:lnTo>
                      <a:cubicBezTo>
                        <a:pt x="1905000" y="1074768"/>
                        <a:pt x="1836768" y="1143000"/>
                        <a:pt x="1752600" y="1143000"/>
                      </a:cubicBezTo>
                      <a:lnTo>
                        <a:pt x="152400" y="1143000"/>
                      </a:lnTo>
                      <a:cubicBezTo>
                        <a:pt x="68232" y="1143000"/>
                        <a:pt x="0" y="1074768"/>
                        <a:pt x="0" y="99060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8000"/>
                      </a:schemeClr>
                    </a:gs>
                    <a:gs pos="100000">
                      <a:schemeClr val="accent2">
                        <a:alpha val="8000"/>
                      </a:schemeClr>
                    </a:gs>
                  </a:gsLst>
                  <a:lin ang="2700000" scaled="1"/>
                </a:gradFill>
                <a:ln w="9525">
                  <a:solidFill>
                    <a:srgbClr val="FFFFFF">
                      <a:alpha val="18000"/>
                    </a:srgbClr>
                  </a:solidFill>
                </a:ln>
              </p:spPr>
            </p:sp>
            <p:sp>
              <p:nvSpPr>
                <p:cNvPr id="26" name="Rectangle 26"/>
                <p:cNvSpPr/>
                <p:nvPr/>
              </p:nvSpPr>
              <p:spPr>
                <a:xfrm>
                  <a:off x="3048000" y="3810000"/>
                  <a:ext cx="19050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3701129" y="4125278"/>
                  <a:ext cx="5987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W3 - W6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655162" y="4394835"/>
                  <a:ext cx="69067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数据接入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3571113" y="464915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核心模块部署</a:t>
                  </a:r>
                </a:p>
              </p:txBody>
            </p:sp>
          </p:grpSp>
          <p:grpSp>
            <p:nvGrpSpPr>
              <p:cNvPr id="38" name="Group 38"/>
              <p:cNvGrpSpPr/>
              <p:nvPr/>
            </p:nvGrpSpPr>
            <p:grpSpPr>
              <a:xfrm>
                <a:off x="5334000" y="3200400"/>
                <a:ext cx="1905000" cy="1752600"/>
                <a:chOff x="5334000" y="3200400"/>
                <a:chExt cx="1905000" cy="1752600"/>
              </a:xfrm>
            </p:grpSpPr>
            <p:sp>
              <p:nvSpPr>
                <p:cNvPr id="31" name="Ellipse 31"/>
                <p:cNvSpPr/>
                <p:nvPr/>
              </p:nvSpPr>
              <p:spPr>
                <a:xfrm>
                  <a:off x="6057900" y="3200400"/>
                  <a:ext cx="457200" cy="457200"/>
                </a:xfrm>
                <a:prstGeom prst="ellipse">
                  <a:avLst/>
                </a:prstGeom>
                <a:solidFill>
                  <a:schemeClr val="lt2"/>
                </a:solidFill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2" name="Ellipse 32"/>
                <p:cNvSpPr/>
                <p:nvPr/>
              </p:nvSpPr>
              <p:spPr>
                <a:xfrm>
                  <a:off x="6172200" y="3314700"/>
                  <a:ext cx="228600" cy="2286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5334000" y="3810000"/>
                  <a:ext cx="1905000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1143000">
                      <a:moveTo>
                        <a:pt x="152400" y="0"/>
                      </a:moveTo>
                      <a:lnTo>
                        <a:pt x="1752600" y="0"/>
                      </a:lnTo>
                      <a:cubicBezTo>
                        <a:pt x="1836768" y="0"/>
                        <a:pt x="1905000" y="68232"/>
                        <a:pt x="1905000" y="152400"/>
                      </a:cubicBezTo>
                      <a:lnTo>
                        <a:pt x="1905000" y="990600"/>
                      </a:lnTo>
                      <a:cubicBezTo>
                        <a:pt x="1905000" y="1074768"/>
                        <a:pt x="1836768" y="1143000"/>
                        <a:pt x="1752600" y="1143000"/>
                      </a:cubicBezTo>
                      <a:lnTo>
                        <a:pt x="152400" y="1143000"/>
                      </a:lnTo>
                      <a:cubicBezTo>
                        <a:pt x="68232" y="1143000"/>
                        <a:pt x="0" y="1074768"/>
                        <a:pt x="0" y="99060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8000"/>
                      </a:schemeClr>
                    </a:gs>
                    <a:gs pos="100000">
                      <a:schemeClr val="accent2">
                        <a:alpha val="8000"/>
                      </a:schemeClr>
                    </a:gs>
                  </a:gsLst>
                  <a:lin ang="2700000" scaled="1"/>
                </a:gradFill>
                <a:ln w="9525">
                  <a:solidFill>
                    <a:srgbClr val="FFFFFF">
                      <a:alpha val="18000"/>
                    </a:srgbClr>
                  </a:solidFill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5334000" y="3810000"/>
                  <a:ext cx="19050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944004" y="4125278"/>
                  <a:ext cx="68499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W7 - W10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845790" y="4394835"/>
                  <a:ext cx="88142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AI模型调优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5927788" y="4649152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全渠道打通</a:t>
                  </a:r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7620000" y="3162300"/>
                <a:ext cx="1905000" cy="1790700"/>
                <a:chOff x="7620000" y="3162300"/>
                <a:chExt cx="1905000" cy="1790700"/>
              </a:xfrm>
            </p:grpSpPr>
            <p:sp>
              <p:nvSpPr>
                <p:cNvPr id="39" name="Ellipse 39"/>
                <p:cNvSpPr/>
                <p:nvPr/>
              </p:nvSpPr>
              <p:spPr>
                <a:xfrm>
                  <a:off x="8305800" y="3162300"/>
                  <a:ext cx="533400" cy="533400"/>
                </a:xfrm>
                <a:prstGeom prst="ellipse">
                  <a:avLst/>
                </a:prstGeom>
                <a:solidFill>
                  <a:schemeClr val="lt2"/>
                </a:solidFill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0" name="Ellipse 40"/>
                <p:cNvSpPr/>
                <p:nvPr/>
              </p:nvSpPr>
              <p:spPr>
                <a:xfrm>
                  <a:off x="8439150" y="3295650"/>
                  <a:ext cx="266700" cy="2667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7620000" y="3810000"/>
                  <a:ext cx="1905000" cy="114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0" h="1143000">
                      <a:moveTo>
                        <a:pt x="152400" y="0"/>
                      </a:moveTo>
                      <a:lnTo>
                        <a:pt x="1752600" y="0"/>
                      </a:lnTo>
                      <a:cubicBezTo>
                        <a:pt x="1836768" y="0"/>
                        <a:pt x="1905000" y="68232"/>
                        <a:pt x="1905000" y="152400"/>
                      </a:cubicBezTo>
                      <a:lnTo>
                        <a:pt x="1905000" y="990600"/>
                      </a:lnTo>
                      <a:cubicBezTo>
                        <a:pt x="1905000" y="1074768"/>
                        <a:pt x="1836768" y="1143000"/>
                        <a:pt x="1752600" y="1143000"/>
                      </a:cubicBezTo>
                      <a:lnTo>
                        <a:pt x="152400" y="1143000"/>
                      </a:lnTo>
                      <a:cubicBezTo>
                        <a:pt x="68232" y="1143000"/>
                        <a:pt x="0" y="1074768"/>
                        <a:pt x="0" y="990600"/>
                      </a:cubicBezTo>
                      <a:lnTo>
                        <a:pt x="0" y="152400"/>
                      </a:lnTo>
                      <a:cubicBezTo>
                        <a:pt x="0" y="68232"/>
                        <a:pt x="68232" y="0"/>
                        <a:pt x="1524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>
                        <a:alpha val="18000"/>
                      </a:schemeClr>
                    </a:gs>
                    <a:gs pos="100000">
                      <a:schemeClr val="accent2">
                        <a:alpha val="8000"/>
                      </a:schemeClr>
                    </a:gs>
                  </a:gsLst>
                  <a:lin ang="2700000" scaled="1"/>
                </a:gradFill>
                <a:ln w="9525">
                  <a:solidFill>
                    <a:schemeClr val="accent3">
                      <a:alpha val="40000"/>
                    </a:schemeClr>
                  </a:solidFill>
                </a:ln>
              </p:spPr>
            </p:sp>
            <p:sp>
              <p:nvSpPr>
                <p:cNvPr id="42" name="Rectangle 42"/>
                <p:cNvSpPr/>
                <p:nvPr/>
              </p:nvSpPr>
              <p:spPr>
                <a:xfrm>
                  <a:off x="7620000" y="3810000"/>
                  <a:ext cx="1905000" cy="9525"/>
                </a:xfrm>
                <a:prstGeom prst="rect">
                  <a:avLst/>
                </a:prstGeom>
                <a:gradFill>
                  <a:gsLst>
                    <a:gs pos="0">
                      <a:srgbClr val="FFFFFF">
                        <a:alpha val="0"/>
                      </a:srgbClr>
                    </a:gs>
                    <a:gs pos="50000">
                      <a:srgbClr val="FFFFFF">
                        <a:alpha val="3500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186878" y="4125278"/>
                  <a:ext cx="77124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050" b="1" dirty="0">
                      <a:solidFill>
                        <a:schemeClr val="accent6"/>
                      </a:solidFill>
                      <a:latin typeface="+mj-lt"/>
                      <a:ea typeface="+mj-ea"/>
                      <a:cs typeface="+mj-cs"/>
                    </a:rPr>
                    <a:t>W11 - W12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8227162" y="4394835"/>
                  <a:ext cx="690677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+mj-lt"/>
                      <a:ea typeface="+mj-ea"/>
                      <a:cs typeface="+mj-cs"/>
                    </a:rPr>
                    <a:t>效果验证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213788" y="4649152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dk2"/>
                      </a:solidFill>
                      <a:latin typeface="+mj-lt"/>
                      <a:ea typeface="+mj-ea"/>
                      <a:cs typeface="+mj-cs"/>
                    </a:rPr>
                    <a:t>规模化推广</a:t>
                  </a:r>
                </a:p>
              </p:txBody>
            </p:sp>
          </p:grpSp>
          <p:sp>
            <p:nvSpPr>
              <p:cNvPr id="47" name="Freeform 47"/>
              <p:cNvSpPr/>
              <p:nvPr/>
            </p:nvSpPr>
            <p:spPr>
              <a:xfrm>
                <a:off x="8858250" y="3238500"/>
                <a:ext cx="2857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81000">
                    <a:moveTo>
                      <a:pt x="0" y="142875"/>
                    </a:moveTo>
                    <a:lnTo>
                      <a:pt x="285750" y="0"/>
                    </a:lnTo>
                    <a:lnTo>
                      <a:pt x="285750" y="381000"/>
                    </a:lnTo>
                    <a:close/>
                  </a:path>
                </a:pathLst>
              </a:custGeom>
              <a:solidFill>
                <a:schemeClr val="accent3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8953500" y="34290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19050">
                <a:solidFill>
                  <a:schemeClr val="accent3">
                    <a:alpha val="60000"/>
                  </a:schemeClr>
                </a:solidFill>
                <a:custDash>
                  <a:ds d="300000" sp="200000"/>
                </a:custDash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0089642" y="3235642"/>
                <a:ext cx="4526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6"/>
                    </a:solidFill>
                    <a:latin typeface="+mj-lt"/>
                    <a:ea typeface="+mj-ea"/>
                    <a:cs typeface="+mj-cs"/>
                  </a:rPr>
                  <a:t>上线!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091738" y="3503295"/>
                <a:ext cx="47038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j-lt"/>
                    <a:ea typeface="+mj-ea"/>
                    <a:cs typeface="+mj-cs"/>
                  </a:rPr>
                  <a:t>ROI转正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71500" y="6191250"/>
              <a:ext cx="1905000" cy="476250"/>
              <a:chOff x="571500" y="6191250"/>
              <a:chExt cx="1905000" cy="4762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571500" y="6191250"/>
                <a:ext cx="1905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476250">
                    <a:moveTo>
                      <a:pt x="238125" y="0"/>
                    </a:moveTo>
                    <a:lnTo>
                      <a:pt x="1666875" y="0"/>
                    </a:lnTo>
                    <a:cubicBezTo>
                      <a:pt x="1798388" y="0"/>
                      <a:pt x="1905000" y="106612"/>
                      <a:pt x="1905000" y="238125"/>
                    </a:cubicBezTo>
                    <a:lnTo>
                      <a:pt x="1905000" y="238125"/>
                    </a:lnTo>
                    <a:cubicBezTo>
                      <a:pt x="1905000" y="369638"/>
                      <a:pt x="1798388" y="476250"/>
                      <a:pt x="1666875" y="476250"/>
                    </a:cubicBezTo>
                    <a:lnTo>
                      <a:pt x="238125" y="476250"/>
                    </a:lnTo>
                    <a:cubicBezTo>
                      <a:pt x="106612" y="476250"/>
                      <a:pt x="0" y="369638"/>
                      <a:pt x="0" y="238125"/>
                    </a:cubicBezTo>
                    <a:lnTo>
                      <a:pt x="0" y="238125"/>
                    </a:lnTo>
                    <a:cubicBezTo>
                      <a:pt x="0" y="106612"/>
                      <a:pt x="106612" y="0"/>
                      <a:pt x="238125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alpha val="18000"/>
                    </a:schemeClr>
                  </a:gs>
                  <a:gs pos="100000">
                    <a:schemeClr val="accent2">
                      <a:alpha val="8000"/>
                    </a:schemeClr>
                  </a:gs>
                </a:gsLst>
                <a:lin ang="2700000" scaled="1"/>
              </a:gradFill>
              <a:ln w="9525">
                <a:solidFill>
                  <a:schemeClr val="accent1">
                    <a:alpha val="40000"/>
                  </a:schemeClr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009040" y="6366510"/>
                <a:ext cx="10299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立即开启合作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10771632" y="6475095"/>
            <a:ext cx="282130" cy="176212"/>
            <a:chOff x="10771632" y="6475095"/>
            <a:chExt cx="282130" cy="176212"/>
          </a:xfrm>
        </p:grpSpPr>
        <p:sp>
          <p:nvSpPr>
            <p:cNvPr id="56" name="TextBox 56"/>
            <p:cNvSpPr txBox="1"/>
            <p:nvPr/>
          </p:nvSpPr>
          <p:spPr>
            <a:xfrm>
              <a:off x="10771632" y="6475095"/>
              <a:ext cx="2821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8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E8ECFF"/>
      </a:dk1>
      <a:lt1>
        <a:srgbClr val="0A0E27"/>
      </a:lt1>
      <a:dk2>
        <a:srgbClr val="A8B0D0"/>
      </a:dk2>
      <a:lt2>
        <a:srgbClr val="1A2150"/>
      </a:lt2>
      <a:accent1>
        <a:srgbClr val="5B8DEF"/>
      </a:accent1>
      <a:accent2>
        <a:srgbClr val="A26BFA"/>
      </a:accent2>
      <a:accent3>
        <a:srgbClr val="3DDDFC"/>
      </a:accent3>
      <a:accent4>
        <a:srgbClr val="2E3672"/>
      </a:accent4>
      <a:accent5>
        <a:srgbClr val="6B7299"/>
      </a:accent5>
      <a:accent6>
        <a:srgbClr val="4ADE80"/>
      </a:accent6>
      <a:hlink>
        <a:srgbClr val="A26BFA"/>
      </a:hlink>
      <a:folHlink>
        <a:srgbClr val="3DDDFC"/>
      </a:folHlink>
    </a:clrScheme>
    <a:fontScheme name="PPT 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E8ECFF"/>
      </a:dk1>
      <a:lt1>
        <a:srgbClr val="0A0E27"/>
      </a:lt1>
      <a:dk2>
        <a:srgbClr val="A8B0D0"/>
      </a:dk2>
      <a:lt2>
        <a:srgbClr val="1A2150"/>
      </a:lt2>
      <a:accent1>
        <a:srgbClr val="5B8DEF"/>
      </a:accent1>
      <a:accent2>
        <a:srgbClr val="A26BFA"/>
      </a:accent2>
      <a:accent3>
        <a:srgbClr val="3DDDFC"/>
      </a:accent3>
      <a:accent4>
        <a:srgbClr val="2E3672"/>
      </a:accent4>
      <a:accent5>
        <a:srgbClr val="6B7299"/>
      </a:accent5>
      <a:accent6>
        <a:srgbClr val="4ADE80"/>
      </a:accent6>
      <a:hlink>
        <a:srgbClr val="A26BFA"/>
      </a:hlink>
      <a:folHlink>
        <a:srgbClr val="3DDDFC"/>
      </a:folHlink>
    </a:clrScheme>
    <a:fontScheme name="PPT Master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2026-07-11T09:43:27Z</dcterms:created>
  <dcterms:modified xsi:type="dcterms:W3CDTF">2026-07-11T09:43:27Z</dcterms:modified>
  <cp:category/>
  <cp:contentStatus/>
</cp:coreProperties>
</file>