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企业AI营销工作台</a:t>
            </a:r>
          </a:p>
          <a:p>
            <a:endParaRPr lang="en-US" dirty="0"/>
          </a:p>
          <a:p>
            <a:r>
              <a:rPr lang="zh-CN" dirty="0"/>
              <a:t>以数据整合、AI分析、自动化执行、效果度量四个模块，帮助企业把营销从分散动作收束为可度量的经营系统。</a:t>
            </a:r>
          </a:p>
          <a:p>
            <a:endParaRPr lang="en-US" dirty="0"/>
          </a:p>
          <a:p>
            <a:r>
              <a:rPr lang="zh-CN" dirty="0"/>
              <a:t>• 企业AI营销工作台</a:t>
            </a:r>
          </a:p>
          <a:p>
            <a:r>
              <a:rPr lang="zh-CN" dirty="0"/>
              <a:t>• 现状概览</a:t>
            </a:r>
          </a:p>
          <a:p>
            <a:r>
              <a:rPr lang="zh-CN" dirty="0"/>
              <a:t>• 核心风险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决策脉络</a:t>
            </a:r>
          </a:p>
          <a:p>
            <a:endParaRPr lang="en-US" dirty="0"/>
          </a:p>
          <a:p>
            <a:r>
              <a:rPr lang="zh-CN" dirty="0"/>
              <a:t>本次汇报围绕业务判断、平台闭环、价值证据、经营指标与上线安排五个层次展开。</a:t>
            </a:r>
          </a:p>
          <a:p>
            <a:endParaRPr lang="en-US" dirty="0"/>
          </a:p>
          <a:p>
            <a:r>
              <a:rPr lang="zh-CN" dirty="0"/>
              <a:t>• AI营销工作台应作为增长基础设施，而非单点工具采购</a:t>
            </a:r>
          </a:p>
          <a:p>
            <a:r>
              <a:rPr lang="zh-CN" dirty="0"/>
              <a:t>• 营销链路当前卡在数据分散、分析滞后、执行割裂、复盘失真</a:t>
            </a:r>
          </a:p>
          <a:p>
            <a:r>
              <a:rPr lang="zh-CN" dirty="0"/>
              <a:t>• 四个模块形成从洞察到执行再到度量的统一工作台</a:t>
            </a:r>
          </a:p>
          <a:p>
            <a:r>
              <a:rPr lang="zh-CN" dirty="0"/>
              <a:t>• 通过场景证据与指标卡判断是否具备规模化推广条件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窗口已到</a:t>
            </a:r>
          </a:p>
          <a:p>
            <a:endParaRPr lang="en-US" dirty="0"/>
          </a:p>
          <a:p>
            <a:r>
              <a:rPr lang="zh-CN" dirty="0"/>
              <a:t>企业营销的核心矛盾已从流量不足，转向响应慢、协同散和复用弱。</a:t>
            </a:r>
          </a:p>
          <a:p>
            <a:endParaRPr lang="en-US" dirty="0"/>
          </a:p>
          <a:p>
            <a:r>
              <a:rPr lang="zh-CN" dirty="0"/>
              <a:t>• 数据在多系统沉淀，团队很难形成统一客户视图</a:t>
            </a:r>
          </a:p>
          <a:p>
            <a:r>
              <a:rPr lang="zh-CN" dirty="0"/>
              <a:t>• 分析依赖人工拉数，决策常慢于市场变化</a:t>
            </a:r>
          </a:p>
          <a:p>
            <a:r>
              <a:rPr lang="zh-CN" dirty="0"/>
              <a:t>• 执行与复盘脱节，预算难持续投向高回报动作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四段闭环</a:t>
            </a:r>
          </a:p>
          <a:p>
            <a:endParaRPr lang="en-US" dirty="0"/>
          </a:p>
          <a:p>
            <a:r>
              <a:rPr lang="zh-CN" dirty="0"/>
              <a:t>平台价值不在单点智能，而在把营销经营拆成可连接、可追责、可放大的四段闭环。</a:t>
            </a:r>
          </a:p>
          <a:p>
            <a:endParaRPr lang="en-US" dirty="0"/>
          </a:p>
          <a:p>
            <a:r>
              <a:rPr lang="zh-CN" dirty="0"/>
              <a:t>• 汇聚CRM、广告、内容、线索与交易数据，形成统一营销底座</a:t>
            </a:r>
          </a:p>
          <a:p>
            <a:r>
              <a:rPr lang="zh-CN" dirty="0"/>
              <a:t>• 识别客群、机会、内容方向与投放偏差，把经验判断变成可复用洞察</a:t>
            </a:r>
          </a:p>
          <a:p>
            <a:r>
              <a:rPr lang="zh-CN" dirty="0"/>
              <a:t>• 基于规则与模型触发投放、触达、跟进与协同动作，缩短反应链路</a:t>
            </a:r>
          </a:p>
          <a:p>
            <a:r>
              <a:rPr lang="zh-CN" dirty="0"/>
              <a:t>• 按活动、渠道、人群与转化阶段追踪结果，让预算回流高价值组合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场景见效</a:t>
            </a:r>
          </a:p>
          <a:p>
            <a:endParaRPr lang="en-US" dirty="0"/>
          </a:p>
          <a:p>
            <a:r>
              <a:rPr lang="zh-CN" dirty="0"/>
              <a:t>平台优先服务三个高频场景，在不增加组织复杂度的前提下提升营销产出。</a:t>
            </a:r>
          </a:p>
          <a:p>
            <a:endParaRPr lang="en-US" dirty="0"/>
          </a:p>
          <a:p>
            <a:r>
              <a:rPr lang="zh-CN" dirty="0"/>
              <a:t>• 基于客户意向与历史转化信号自动分层，把高潜线索优先送达正确团队</a:t>
            </a:r>
          </a:p>
          <a:p>
            <a:r>
              <a:rPr lang="zh-CN" dirty="0"/>
              <a:t>• 监测渠道与素材表现后自动调整预算与内容节奏，减少人工盯盘延迟</a:t>
            </a:r>
          </a:p>
          <a:p>
            <a:r>
              <a:rPr lang="zh-CN" dirty="0"/>
              <a:t>• 从曝光到成交统一归因视图，管理层可直接看到哪些动作真正带来收入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价值指标</a:t>
            </a:r>
          </a:p>
          <a:p>
            <a:endParaRPr lang="en-US" dirty="0"/>
          </a:p>
          <a:p>
            <a:r>
              <a:rPr lang="zh-CN" dirty="0"/>
              <a:t>该工作台首先改善的是决策速度、转化效率和预算可控性，而不是单纯增加工具数量。</a:t>
            </a:r>
          </a:p>
          <a:p>
            <a:endParaRPr lang="en-US" dirty="0"/>
          </a:p>
          <a:p>
            <a:r>
              <a:rPr lang="zh-CN" dirty="0"/>
              <a:t>• 分析准备提速</a:t>
            </a:r>
          </a:p>
          <a:p>
            <a:r>
              <a:rPr lang="zh-CN" dirty="0"/>
              <a:t>• 线索转化提升</a:t>
            </a:r>
          </a:p>
          <a:p>
            <a:r>
              <a:rPr lang="zh-CN" dirty="0"/>
              <a:t>• 投放数据可归因</a:t>
            </a:r>
          </a:p>
          <a:p>
            <a:r>
              <a:rPr lang="zh-CN" dirty="0"/>
              <a:t>• 关键数字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经营回路</a:t>
            </a:r>
          </a:p>
          <a:p>
            <a:endParaRPr lang="en-US" dirty="0"/>
          </a:p>
          <a:p>
            <a:r>
              <a:rPr lang="zh-CN" dirty="0"/>
              <a:t>平台以数据回流驱动持续优化，每一轮执行都会反向训练下一轮判断。</a:t>
            </a:r>
          </a:p>
          <a:p>
            <a:endParaRPr lang="en-US" dirty="0"/>
          </a:p>
          <a:p>
            <a:r>
              <a:rPr lang="zh-CN" dirty="0"/>
              <a:t>• 沉淀统一客户、渠道与活动数据口径</a:t>
            </a:r>
          </a:p>
          <a:p>
            <a:r>
              <a:rPr lang="zh-CN" dirty="0"/>
              <a:t>• 输出客群、内容、渠道与预算建议</a:t>
            </a:r>
          </a:p>
          <a:p>
            <a:r>
              <a:rPr lang="zh-CN" dirty="0"/>
              <a:t>• 触发投放、触达、分发与协同动作</a:t>
            </a:r>
          </a:p>
          <a:p>
            <a:r>
              <a:rPr lang="zh-CN" dirty="0"/>
              <a:t>• 回收结果并修正模型、规则与预算配置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推进建议</a:t>
            </a:r>
          </a:p>
          <a:p>
            <a:endParaRPr lang="en-US" dirty="0"/>
          </a:p>
          <a:p>
            <a:r>
              <a:rPr lang="zh-CN" dirty="0"/>
              <a:t>建议以三个月完成首轮上线验证，先跑通核心闭环，再扩展更多场景与组织覆盖。</a:t>
            </a:r>
          </a:p>
          <a:p>
            <a:endParaRPr lang="en-US" dirty="0"/>
          </a:p>
          <a:p>
            <a:r>
              <a:rPr lang="zh-CN" dirty="0"/>
              <a:t>• 将企业AI营销工作台定义为增长基础设施项目，由市场、销售与数据团队联合推进</a:t>
            </a:r>
          </a:p>
          <a:p>
            <a:r>
              <a:rPr lang="zh-CN" dirty="0"/>
              <a:t>• 首期聚焦一条业务线与两个重点场景，优先验证线索分发和投放优化的业务收益</a:t>
            </a:r>
          </a:p>
          <a:p>
            <a:r>
              <a:rPr lang="zh-CN" dirty="0"/>
              <a:t>• 同步建立数据口径、权限边界与人工兜底机制，避免自动化放大原有流程偏差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0130fb9d5652e39c.jp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>
                <a:alpha val="32000"/>
              </a:schemeClr>
            </a:soli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819150" y="914400"/>
              <a:ext cx="2724150" cy="1200150"/>
            </a:xfrm>
            <a:custGeom>
              <a:avLst/>
              <a:gdLst/>
              <a:ahLst/>
              <a:cxnLst/>
              <a:rect l="l" t="t" r="r" b="b"/>
              <a:pathLst>
                <a:path w="2724150" h="1200150">
                  <a:moveTo>
                    <a:pt x="0" y="209550"/>
                  </a:moveTo>
                  <a:cubicBezTo>
                    <a:pt x="933450" y="0"/>
                    <a:pt x="1943100" y="57150"/>
                    <a:pt x="2724150" y="400050"/>
                  </a:cubicBezTo>
                  <a:cubicBezTo>
                    <a:pt x="2114550" y="514350"/>
                    <a:pt x="1562100" y="800100"/>
                    <a:pt x="1066800" y="1200150"/>
                  </a:cubicBezTo>
                  <a:cubicBezTo>
                    <a:pt x="742950" y="933450"/>
                    <a:pt x="381000" y="609600"/>
                    <a:pt x="0" y="209550"/>
                  </a:cubicBezTo>
                  <a:close/>
                </a:path>
              </a:pathLst>
            </a:custGeom>
            <a:solidFill>
              <a:schemeClr val="lt2">
                <a:alpha val="52000"/>
              </a:schemeClr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8629650" y="4876800"/>
              <a:ext cx="2876550" cy="1504950"/>
            </a:xfrm>
            <a:custGeom>
              <a:avLst/>
              <a:gdLst/>
              <a:ahLst/>
              <a:cxnLst/>
              <a:rect l="l" t="t" r="r" b="b"/>
              <a:pathLst>
                <a:path w="2876550" h="1504950">
                  <a:moveTo>
                    <a:pt x="0" y="342900"/>
                  </a:moveTo>
                  <a:cubicBezTo>
                    <a:pt x="971550" y="0"/>
                    <a:pt x="2057400" y="76200"/>
                    <a:pt x="2876550" y="590550"/>
                  </a:cubicBezTo>
                  <a:cubicBezTo>
                    <a:pt x="2228850" y="762000"/>
                    <a:pt x="1676400" y="1066800"/>
                    <a:pt x="1257300" y="1504950"/>
                  </a:cubicBezTo>
                  <a:cubicBezTo>
                    <a:pt x="781050" y="1238250"/>
                    <a:pt x="381000" y="857250"/>
                    <a:pt x="0" y="342900"/>
                  </a:cubicBez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925050" y="857250"/>
              <a:ext cx="1028700" cy="1028700"/>
            </a:xfrm>
            <a:prstGeom prst="ellipse">
              <a:avLst/>
            </a:prstGeom>
            <a:solidFill>
              <a:schemeClr val="lt2">
                <a:alpha val="36000"/>
              </a:scheme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0020300" y="952500"/>
              <a:ext cx="1028700" cy="1028700"/>
            </a:xfrm>
            <a:prstGeom prst="ellipse">
              <a:avLst/>
            </a:prstGeom>
            <a:noFill/>
            <a:ln w="11430">
              <a:solidFill>
                <a:schemeClr val="accent4">
                  <a:alpha val="80000"/>
                </a:schemeClr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862584" y="742950"/>
            <a:ext cx="10458450" cy="5400675"/>
            <a:chOff x="862584" y="742950"/>
            <a:chExt cx="10458450" cy="5400675"/>
          </a:xfrm>
        </p:grpSpPr>
        <p:sp>
          <p:nvSpPr>
            <p:cNvPr id="10" name="Line 10"/>
            <p:cNvSpPr/>
            <p:nvPr/>
          </p:nvSpPr>
          <p:spPr>
            <a:xfrm>
              <a:off x="876300" y="742950"/>
              <a:ext cx="10439400" cy="9525"/>
            </a:xfrm>
            <a:custGeom>
              <a:avLst/>
              <a:gdLst/>
              <a:ahLst/>
              <a:cxnLst/>
              <a:rect l="l" t="t" r="r" b="b"/>
              <a:pathLst>
                <a:path w="10439400" h="9525">
                  <a:moveTo>
                    <a:pt x="0" y="0"/>
                  </a:moveTo>
                  <a:lnTo>
                    <a:pt x="10439400" y="0"/>
                  </a:lnTo>
                </a:path>
              </a:pathLst>
            </a:custGeom>
            <a:noFill/>
            <a:ln w="11430">
              <a:solidFill>
                <a:schemeClr val="accent4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876300" y="6134100"/>
              <a:ext cx="10439400" cy="9525"/>
            </a:xfrm>
            <a:custGeom>
              <a:avLst/>
              <a:gdLst/>
              <a:ahLst/>
              <a:cxnLst/>
              <a:rect l="l" t="t" r="r" b="b"/>
              <a:pathLst>
                <a:path w="10439400" h="9525">
                  <a:moveTo>
                    <a:pt x="0" y="0"/>
                  </a:moveTo>
                  <a:lnTo>
                    <a:pt x="10439400" y="0"/>
                  </a:lnTo>
                </a:path>
              </a:pathLst>
            </a:custGeom>
            <a:noFill/>
            <a:ln w="11430">
              <a:solidFill>
                <a:schemeClr val="accent4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876300" y="914400"/>
              <a:ext cx="838200" cy="266700"/>
            </a:xfrm>
            <a:custGeom>
              <a:avLst/>
              <a:gdLst/>
              <a:ahLst/>
              <a:cxnLst/>
              <a:rect l="l" t="t" r="r" b="b"/>
              <a:pathLst>
                <a:path w="838200" h="266700">
                  <a:moveTo>
                    <a:pt x="19050" y="0"/>
                  </a:moveTo>
                  <a:lnTo>
                    <a:pt x="819150" y="0"/>
                  </a:lnTo>
                  <a:cubicBezTo>
                    <a:pt x="829671" y="0"/>
                    <a:pt x="838200" y="8529"/>
                    <a:pt x="838200" y="19050"/>
                  </a:cubicBezTo>
                  <a:lnTo>
                    <a:pt x="838200" y="247650"/>
                  </a:lnTo>
                  <a:cubicBezTo>
                    <a:pt x="838200" y="258171"/>
                    <a:pt x="829671" y="266700"/>
                    <a:pt x="819150" y="266700"/>
                  </a:cubicBezTo>
                  <a:lnTo>
                    <a:pt x="19050" y="266700"/>
                  </a:lnTo>
                  <a:cubicBezTo>
                    <a:pt x="8529" y="266700"/>
                    <a:pt x="0" y="258171"/>
                    <a:pt x="0" y="2476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noFill/>
            <a:ln w="11430">
              <a:solidFill>
                <a:schemeClr val="accent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62584" y="975360"/>
              <a:ext cx="865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长桌主议题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0591800" y="876300"/>
              <a:ext cx="723900" cy="9525"/>
            </a:xfrm>
            <a:custGeom>
              <a:avLst/>
              <a:gdLst/>
              <a:ahLst/>
              <a:cxnLst/>
              <a:rect l="l" t="t" r="r" b="b"/>
              <a:pathLst>
                <a:path w="723900" h="9525">
                  <a:moveTo>
                    <a:pt x="0" y="0"/>
                  </a:moveTo>
                  <a:lnTo>
                    <a:pt x="7239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154880" y="9439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905658" y="1545908"/>
            <a:ext cx="6380683" cy="4092892"/>
            <a:chOff x="2905658" y="1545908"/>
            <a:chExt cx="6380683" cy="4092892"/>
          </a:xfrm>
        </p:grpSpPr>
        <p:sp>
          <p:nvSpPr>
            <p:cNvPr id="17" name="TextBox 17"/>
            <p:cNvSpPr txBox="1"/>
            <p:nvPr/>
          </p:nvSpPr>
          <p:spPr>
            <a:xfrm>
              <a:off x="4563275" y="1545908"/>
              <a:ext cx="3065450" cy="1190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企业AI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90010" y="2422208"/>
              <a:ext cx="4411980" cy="1190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营销工作台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438650" y="3352800"/>
              <a:ext cx="3314700" cy="9525"/>
            </a:xfrm>
            <a:custGeom>
              <a:avLst/>
              <a:gdLst/>
              <a:ahLst/>
              <a:cxnLst/>
              <a:rect l="l" t="t" r="r" b="b"/>
              <a:pathLst>
                <a:path w="3314700" h="9525">
                  <a:moveTo>
                    <a:pt x="0" y="0"/>
                  </a:moveTo>
                  <a:lnTo>
                    <a:pt x="3314700" y="0"/>
                  </a:lnTo>
                </a:path>
              </a:pathLst>
            </a:custGeom>
            <a:noFill/>
            <a:ln w="20955">
              <a:solidFill>
                <a:schemeClr val="accent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844290" y="3662362"/>
              <a:ext cx="45034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把分散营销动作收束为经营系统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05658" y="4491990"/>
              <a:ext cx="63806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以数据整合、AI分析、自动化执行、效果度量四个模块，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179064" y="485394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帮助企业把营销从分散动作收束为可度量的经营系统。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3905250" y="5219700"/>
              <a:ext cx="4381500" cy="419100"/>
            </a:xfrm>
            <a:custGeom>
              <a:avLst/>
              <a:gdLst/>
              <a:ahLst/>
              <a:cxnLst/>
              <a:rect l="l" t="t" r="r" b="b"/>
              <a:pathLst>
                <a:path w="4381500" h="419100">
                  <a:moveTo>
                    <a:pt x="209550" y="0"/>
                  </a:moveTo>
                  <a:lnTo>
                    <a:pt x="4171950" y="0"/>
                  </a:lnTo>
                  <a:cubicBezTo>
                    <a:pt x="4287681" y="0"/>
                    <a:pt x="4381500" y="93819"/>
                    <a:pt x="4381500" y="209550"/>
                  </a:cubicBezTo>
                  <a:lnTo>
                    <a:pt x="4381500" y="209550"/>
                  </a:lnTo>
                  <a:cubicBezTo>
                    <a:pt x="4381500" y="325281"/>
                    <a:pt x="4287681" y="419100"/>
                    <a:pt x="4171950" y="419100"/>
                  </a:cubicBezTo>
                  <a:lnTo>
                    <a:pt x="209550" y="419100"/>
                  </a:lnTo>
                  <a:cubicBezTo>
                    <a:pt x="93819" y="419100"/>
                    <a:pt x="0" y="325281"/>
                    <a:pt x="0" y="20955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chemeClr val="lt2">
                <a:alpha val="82000"/>
              </a:schemeClr>
            </a:solidFill>
            <a:ln w="9525">
              <a:solidFill>
                <a:schemeClr val="accent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236110" y="5350192"/>
              <a:ext cx="37197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数据整合 · AI分析 · 自动化执行 · 效果度量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1550" y="6268402"/>
            <a:ext cx="10254234" cy="205359"/>
            <a:chOff x="971550" y="6268402"/>
            <a:chExt cx="10254234" cy="205359"/>
          </a:xfrm>
        </p:grpSpPr>
        <p:sp>
          <p:nvSpPr>
            <p:cNvPr id="26" name="Rectangle 26"/>
            <p:cNvSpPr/>
            <p:nvPr/>
          </p:nvSpPr>
          <p:spPr>
            <a:xfrm>
              <a:off x="971550" y="6286500"/>
              <a:ext cx="95250" cy="95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94816" y="6268402"/>
              <a:ext cx="21618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面向企业管理层的 SaaS 方案封面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682658" y="6268402"/>
              <a:ext cx="1543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企业 AI 营销工作台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514350" y="419100"/>
              <a:ext cx="11163300" cy="6019800"/>
            </a:xfrm>
            <a:custGeom>
              <a:avLst/>
              <a:gdLst/>
              <a:ahLst/>
              <a:cxnLst/>
              <a:rect l="l" t="t" r="r" b="b"/>
              <a:pathLst>
                <a:path w="11163300" h="6019800">
                  <a:moveTo>
                    <a:pt x="95250" y="0"/>
                  </a:moveTo>
                  <a:lnTo>
                    <a:pt x="11068050" y="0"/>
                  </a:lnTo>
                  <a:cubicBezTo>
                    <a:pt x="11120655" y="0"/>
                    <a:pt x="11163300" y="42645"/>
                    <a:pt x="11163300" y="95250"/>
                  </a:cubicBezTo>
                  <a:lnTo>
                    <a:pt x="11163300" y="5924550"/>
                  </a:lnTo>
                  <a:cubicBezTo>
                    <a:pt x="11163300" y="5977155"/>
                    <a:pt x="11120655" y="6019800"/>
                    <a:pt x="11068050" y="6019800"/>
                  </a:cubicBezTo>
                  <a:lnTo>
                    <a:pt x="95250" y="6019800"/>
                  </a:lnTo>
                  <a:cubicBezTo>
                    <a:pt x="42645" y="6019800"/>
                    <a:pt x="0" y="5977155"/>
                    <a:pt x="0" y="59245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876300" y="876300"/>
              <a:ext cx="2114550" cy="247650"/>
            </a:xfrm>
            <a:custGeom>
              <a:avLst/>
              <a:gdLst/>
              <a:ahLst/>
              <a:cxnLst/>
              <a:rect l="l" t="t" r="r" b="b"/>
              <a:pathLst>
                <a:path w="2114550" h="247650">
                  <a:moveTo>
                    <a:pt x="0" y="247650"/>
                  </a:moveTo>
                  <a:cubicBezTo>
                    <a:pt x="666750" y="0"/>
                    <a:pt x="1333500" y="76200"/>
                    <a:pt x="2114550" y="247650"/>
                  </a:cubicBezTo>
                </a:path>
              </a:pathLst>
            </a:custGeom>
            <a:noFill/>
            <a:ln w="11430">
              <a:solidFill>
                <a:schemeClr val="accent4">
                  <a:alpha val="70000"/>
                </a:schemeClr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9391650" y="5543550"/>
              <a:ext cx="2000250" cy="304800"/>
            </a:xfrm>
            <a:custGeom>
              <a:avLst/>
              <a:gdLst/>
              <a:ahLst/>
              <a:cxnLst/>
              <a:rect l="l" t="t" r="r" b="b"/>
              <a:pathLst>
                <a:path w="2000250" h="304800">
                  <a:moveTo>
                    <a:pt x="0" y="209550"/>
                  </a:moveTo>
                  <a:cubicBezTo>
                    <a:pt x="800100" y="0"/>
                    <a:pt x="1485900" y="76200"/>
                    <a:pt x="2000250" y="304800"/>
                  </a:cubicBezTo>
                </a:path>
              </a:pathLst>
            </a:custGeom>
            <a:noFill/>
            <a:ln w="11430">
              <a:solidFill>
                <a:schemeClr val="accent4">
                  <a:alpha val="50000"/>
                </a:scheme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038225" y="8858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1096625" y="5876925"/>
              <a:ext cx="57150" cy="5715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832104" y="730568"/>
            <a:ext cx="10527030" cy="5686043"/>
            <a:chOff x="832104" y="730568"/>
            <a:chExt cx="10527030" cy="5686043"/>
          </a:xfrm>
        </p:grpSpPr>
        <p:sp>
          <p:nvSpPr>
            <p:cNvPr id="9" name="TextBox 9"/>
            <p:cNvSpPr txBox="1"/>
            <p:nvPr/>
          </p:nvSpPr>
          <p:spPr>
            <a:xfrm>
              <a:off x="832104" y="7467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议程清单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838200" y="1009650"/>
              <a:ext cx="781050" cy="9525"/>
            </a:xfrm>
            <a:custGeom>
              <a:avLst/>
              <a:gdLst/>
              <a:ahLst/>
              <a:cxnLst/>
              <a:rect l="l" t="t" r="r" b="b"/>
              <a:pathLst>
                <a:path w="781050" h="9525">
                  <a:moveTo>
                    <a:pt x="0" y="0"/>
                  </a:moveTo>
                  <a:lnTo>
                    <a:pt x="7810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116666" y="730568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0325100" y="838200"/>
              <a:ext cx="723900" cy="9525"/>
            </a:xfrm>
            <a:custGeom>
              <a:avLst/>
              <a:gdLst/>
              <a:ahLst/>
              <a:cxnLst/>
              <a:rect l="l" t="t" r="r" b="b"/>
              <a:pathLst>
                <a:path w="723900" h="9525">
                  <a:moveTo>
                    <a:pt x="0" y="0"/>
                  </a:moveTo>
                  <a:lnTo>
                    <a:pt x="7239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838200" y="6115050"/>
              <a:ext cx="10515600" cy="9525"/>
            </a:xfrm>
            <a:custGeom>
              <a:avLst/>
              <a:gdLst/>
              <a:ahLst/>
              <a:cxnLst/>
              <a:rect l="l" t="t" r="r" b="b"/>
              <a:pathLst>
                <a:path w="10515600" h="9525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2866" y="6211252"/>
              <a:ext cx="12726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24413" y="62112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决策页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22198" y="1279208"/>
            <a:ext cx="10531602" cy="4607242"/>
            <a:chOff x="822198" y="1279208"/>
            <a:chExt cx="10531602" cy="4607242"/>
          </a:xfrm>
        </p:grpSpPr>
        <p:sp>
          <p:nvSpPr>
            <p:cNvPr id="17" name="TextBox 17"/>
            <p:cNvSpPr txBox="1"/>
            <p:nvPr/>
          </p:nvSpPr>
          <p:spPr>
            <a:xfrm>
              <a:off x="822198" y="1279208"/>
              <a:ext cx="18242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决策脉络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9437" y="1852136"/>
              <a:ext cx="698411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本次汇报围绕业务判断、平台闭环、价值证据、经营指标与上线安排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9437" y="2175986"/>
              <a:ext cx="164306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五个层次展开。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838200" y="2495550"/>
              <a:ext cx="2667000" cy="2667000"/>
            </a:xfrm>
            <a:custGeom>
              <a:avLst/>
              <a:gdLst/>
              <a:ahLst/>
              <a:cxnLst/>
              <a:rect l="l" t="t" r="r" b="b"/>
              <a:pathLst>
                <a:path w="2667000" h="2667000">
                  <a:moveTo>
                    <a:pt x="76200" y="0"/>
                  </a:moveTo>
                  <a:lnTo>
                    <a:pt x="2590800" y="0"/>
                  </a:lnTo>
                  <a:cubicBezTo>
                    <a:pt x="2632884" y="0"/>
                    <a:pt x="2667000" y="34116"/>
                    <a:pt x="2667000" y="76200"/>
                  </a:cubicBezTo>
                  <a:lnTo>
                    <a:pt x="2667000" y="2590800"/>
                  </a:lnTo>
                  <a:cubicBezTo>
                    <a:pt x="2667000" y="2632884"/>
                    <a:pt x="2632884" y="2667000"/>
                    <a:pt x="2590800" y="2667000"/>
                  </a:cubicBezTo>
                  <a:lnTo>
                    <a:pt x="76200" y="2667000"/>
                  </a:lnTo>
                  <a:cubicBezTo>
                    <a:pt x="34116" y="2667000"/>
                    <a:pt x="0" y="2632884"/>
                    <a:pt x="0" y="2590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110996" y="2734628"/>
              <a:ext cx="42489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3282" y="3164205"/>
              <a:ext cx="18135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增长基础设施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6330" y="3648075"/>
              <a:ext cx="23301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AI营销工作台应作为增长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16330" y="39338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基础设施，而非单点工具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16330" y="421957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采购。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1123950" y="4267200"/>
              <a:ext cx="1981200" cy="9525"/>
            </a:xfrm>
            <a:custGeom>
              <a:avLst/>
              <a:gdLst/>
              <a:ahLst/>
              <a:cxnLst/>
              <a:rect l="l" t="t" r="r" b="b"/>
              <a:pathLst>
                <a:path w="1981200" h="9525">
                  <a:moveTo>
                    <a:pt x="0" y="0"/>
                  </a:moveTo>
                  <a:lnTo>
                    <a:pt x="19812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17473" y="4472464"/>
              <a:ext cx="2244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先统一判断，再决定投入方式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3924300" y="2495550"/>
              <a:ext cx="3429000" cy="1047750"/>
            </a:xfrm>
            <a:custGeom>
              <a:avLst/>
              <a:gdLst/>
              <a:ahLst/>
              <a:cxnLst/>
              <a:rect l="l" t="t" r="r" b="b"/>
              <a:pathLst>
                <a:path w="3429000" h="1047750">
                  <a:moveTo>
                    <a:pt x="76200" y="0"/>
                  </a:moveTo>
                  <a:lnTo>
                    <a:pt x="3352800" y="0"/>
                  </a:lnTo>
                  <a:cubicBezTo>
                    <a:pt x="3394884" y="0"/>
                    <a:pt x="3429000" y="34116"/>
                    <a:pt x="3429000" y="76200"/>
                  </a:cubicBezTo>
                  <a:lnTo>
                    <a:pt x="3429000" y="971550"/>
                  </a:lnTo>
                  <a:cubicBezTo>
                    <a:pt x="3429000" y="1013634"/>
                    <a:pt x="3394884" y="1047750"/>
                    <a:pt x="3352800" y="1047750"/>
                  </a:cubicBezTo>
                  <a:lnTo>
                    <a:pt x="76200" y="1047750"/>
                  </a:lnTo>
                  <a:cubicBezTo>
                    <a:pt x="34116" y="1047750"/>
                    <a:pt x="0" y="1013634"/>
                    <a:pt x="0" y="971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179570" y="2633662"/>
              <a:ext cx="3749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95444" y="2666048"/>
              <a:ext cx="11292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链路卡点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183761" y="3046571"/>
              <a:ext cx="28919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数据分散、分析滞后、执行割裂、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183761" y="3313271"/>
              <a:ext cx="9736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复盘失真。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3924300" y="3771900"/>
              <a:ext cx="3429000" cy="1047750"/>
            </a:xfrm>
            <a:custGeom>
              <a:avLst/>
              <a:gdLst/>
              <a:ahLst/>
              <a:cxnLst/>
              <a:rect l="l" t="t" r="r" b="b"/>
              <a:pathLst>
                <a:path w="3429000" h="1047750">
                  <a:moveTo>
                    <a:pt x="76200" y="0"/>
                  </a:moveTo>
                  <a:lnTo>
                    <a:pt x="3352800" y="0"/>
                  </a:lnTo>
                  <a:cubicBezTo>
                    <a:pt x="3394884" y="0"/>
                    <a:pt x="3429000" y="34116"/>
                    <a:pt x="3429000" y="76200"/>
                  </a:cubicBezTo>
                  <a:lnTo>
                    <a:pt x="3429000" y="971550"/>
                  </a:lnTo>
                  <a:cubicBezTo>
                    <a:pt x="3429000" y="1013634"/>
                    <a:pt x="3394884" y="1047750"/>
                    <a:pt x="3352800" y="1047750"/>
                  </a:cubicBezTo>
                  <a:lnTo>
                    <a:pt x="76200" y="1047750"/>
                  </a:lnTo>
                  <a:cubicBezTo>
                    <a:pt x="34116" y="1047750"/>
                    <a:pt x="0" y="1013634"/>
                    <a:pt x="0" y="971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179570" y="3910012"/>
              <a:ext cx="3749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95444" y="3942398"/>
              <a:ext cx="11292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四段闭环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183761" y="4322921"/>
              <a:ext cx="27001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四个模块形成从洞察到执行再到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183761" y="4589621"/>
              <a:ext cx="17409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度量的统一工作台。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7772400" y="2495550"/>
              <a:ext cx="3581400" cy="1047750"/>
            </a:xfrm>
            <a:custGeom>
              <a:avLst/>
              <a:gdLst/>
              <a:ahLst/>
              <a:cxnLst/>
              <a:rect l="l" t="t" r="r" b="b"/>
              <a:pathLst>
                <a:path w="3581400" h="1047750">
                  <a:moveTo>
                    <a:pt x="76200" y="0"/>
                  </a:moveTo>
                  <a:lnTo>
                    <a:pt x="3505200" y="0"/>
                  </a:lnTo>
                  <a:cubicBezTo>
                    <a:pt x="3547284" y="0"/>
                    <a:pt x="3581400" y="34116"/>
                    <a:pt x="3581400" y="76200"/>
                  </a:cubicBezTo>
                  <a:lnTo>
                    <a:pt x="3581400" y="971550"/>
                  </a:lnTo>
                  <a:cubicBezTo>
                    <a:pt x="3581400" y="1013634"/>
                    <a:pt x="3547284" y="1047750"/>
                    <a:pt x="3505200" y="1047750"/>
                  </a:cubicBezTo>
                  <a:lnTo>
                    <a:pt x="76200" y="1047750"/>
                  </a:lnTo>
                  <a:cubicBezTo>
                    <a:pt x="34116" y="1047750"/>
                    <a:pt x="0" y="1013634"/>
                    <a:pt x="0" y="971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027670" y="2633662"/>
              <a:ext cx="3749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43544" y="2666048"/>
              <a:ext cx="11292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价值证据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031861" y="3046571"/>
              <a:ext cx="27001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通过场景证据与指标卡判断是否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31861" y="3313271"/>
              <a:ext cx="19328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具备规模化推广条件。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7772400" y="3771900"/>
              <a:ext cx="3581400" cy="1047750"/>
            </a:xfrm>
            <a:custGeom>
              <a:avLst/>
              <a:gdLst/>
              <a:ahLst/>
              <a:cxnLst/>
              <a:rect l="l" t="t" r="r" b="b"/>
              <a:pathLst>
                <a:path w="3581400" h="1047750">
                  <a:moveTo>
                    <a:pt x="76200" y="0"/>
                  </a:moveTo>
                  <a:lnTo>
                    <a:pt x="3505200" y="0"/>
                  </a:lnTo>
                  <a:cubicBezTo>
                    <a:pt x="3547284" y="0"/>
                    <a:pt x="3581400" y="34116"/>
                    <a:pt x="3581400" y="76200"/>
                  </a:cubicBezTo>
                  <a:lnTo>
                    <a:pt x="3581400" y="971550"/>
                  </a:lnTo>
                  <a:cubicBezTo>
                    <a:pt x="3581400" y="1013634"/>
                    <a:pt x="3547284" y="1047750"/>
                    <a:pt x="3505200" y="1047750"/>
                  </a:cubicBezTo>
                  <a:lnTo>
                    <a:pt x="76200" y="1047750"/>
                  </a:lnTo>
                  <a:cubicBezTo>
                    <a:pt x="34116" y="1047750"/>
                    <a:pt x="0" y="1013634"/>
                    <a:pt x="0" y="971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027670" y="3910012"/>
              <a:ext cx="3749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543544" y="3942398"/>
              <a:ext cx="11292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上线安排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031861" y="4322921"/>
              <a:ext cx="30838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用分阶段上线与治理机制控制风险、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031861" y="4589621"/>
              <a:ext cx="9736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加快见效。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3505200" y="3019425"/>
              <a:ext cx="419100" cy="809625"/>
            </a:xfrm>
            <a:custGeom>
              <a:avLst/>
              <a:gdLst/>
              <a:ahLst/>
              <a:cxnLst/>
              <a:rect l="l" t="t" r="r" b="b"/>
              <a:pathLst>
                <a:path w="419100" h="809625">
                  <a:moveTo>
                    <a:pt x="0" y="809625"/>
                  </a:moveTo>
                  <a:lnTo>
                    <a:pt x="41910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3505200" y="3829050"/>
              <a:ext cx="419100" cy="466725"/>
            </a:xfrm>
            <a:custGeom>
              <a:avLst/>
              <a:gdLst/>
              <a:ahLst/>
              <a:cxnLst/>
              <a:rect l="l" t="t" r="r" b="b"/>
              <a:pathLst>
                <a:path w="419100" h="466725">
                  <a:moveTo>
                    <a:pt x="0" y="0"/>
                  </a:moveTo>
                  <a:lnTo>
                    <a:pt x="419100" y="466725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7353300" y="301942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7353300" y="429577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3467100" y="37909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3895725" y="2990850"/>
              <a:ext cx="57150" cy="571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3895725" y="4267200"/>
              <a:ext cx="57150" cy="571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7743825" y="2990850"/>
              <a:ext cx="57150" cy="571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7743825" y="4267200"/>
              <a:ext cx="57150" cy="571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838200" y="5429250"/>
              <a:ext cx="10515600" cy="457200"/>
            </a:xfrm>
            <a:custGeom>
              <a:avLst/>
              <a:gdLst/>
              <a:ahLst/>
              <a:cxnLst/>
              <a:rect l="l" t="t" r="r" b="b"/>
              <a:pathLst>
                <a:path w="10515600" h="457200">
                  <a:moveTo>
                    <a:pt x="57150" y="0"/>
                  </a:moveTo>
                  <a:lnTo>
                    <a:pt x="10458450" y="0"/>
                  </a:lnTo>
                  <a:cubicBezTo>
                    <a:pt x="10490013" y="0"/>
                    <a:pt x="10515600" y="25587"/>
                    <a:pt x="10515600" y="57150"/>
                  </a:cubicBezTo>
                  <a:lnTo>
                    <a:pt x="10515600" y="400050"/>
                  </a:lnTo>
                  <a:cubicBezTo>
                    <a:pt x="10515600" y="431613"/>
                    <a:pt x="10490013" y="457200"/>
                    <a:pt x="10458450" y="457200"/>
                  </a:cubicBezTo>
                  <a:lnTo>
                    <a:pt x="57150" y="457200"/>
                  </a:lnTo>
                  <a:cubicBezTo>
                    <a:pt x="25587" y="457200"/>
                    <a:pt x="0" y="431613"/>
                    <a:pt x="0" y="4000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chemeClr val="lt2">
                <a:alpha val="70000"/>
              </a:schemeClr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097280" y="5562600"/>
              <a:ext cx="61135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从“是否值得做”到“如何稳妥做成”，五步串起整套管理层决策路径。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9258300" y="2004060"/>
            <a:ext cx="2705862" cy="358140"/>
            <a:chOff x="9258300" y="2004060"/>
            <a:chExt cx="2705862" cy="358140"/>
          </a:xfrm>
        </p:grpSpPr>
        <p:sp>
          <p:nvSpPr>
            <p:cNvPr id="60" name="TextBox 60"/>
            <p:cNvSpPr txBox="1"/>
            <p:nvPr/>
          </p:nvSpPr>
          <p:spPr>
            <a:xfrm>
              <a:off x="9690354" y="20040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先判断方向，再展开闭环与落地</a:t>
              </a:r>
            </a:p>
          </p:txBody>
        </p:sp>
        <p:sp>
          <p:nvSpPr>
            <p:cNvPr id="61" name="Freeform 61"/>
            <p:cNvSpPr/>
            <p:nvPr/>
          </p:nvSpPr>
          <p:spPr>
            <a:xfrm>
              <a:off x="9258300" y="2171700"/>
              <a:ext cx="342900" cy="190500"/>
            </a:xfrm>
            <a:custGeom>
              <a:avLst/>
              <a:gdLst/>
              <a:ahLst/>
              <a:cxnLst/>
              <a:rect l="l" t="t" r="r" b="b"/>
              <a:pathLst>
                <a:path w="342900" h="190500">
                  <a:moveTo>
                    <a:pt x="342900" y="0"/>
                  </a:move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9577388" y="2147888"/>
              <a:ext cx="47625" cy="47625"/>
            </a:xfrm>
            <a:prstGeom prst="ellips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-304800" y="0"/>
            <a:ext cx="12534900" cy="6858000"/>
            <a:chOff x="-304800" y="0"/>
            <a:chExt cx="125349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-304800" y="838200"/>
              <a:ext cx="4248150" cy="2647950"/>
            </a:xfrm>
            <a:custGeom>
              <a:avLst/>
              <a:gdLst/>
              <a:ahLst/>
              <a:cxnLst/>
              <a:rect l="l" t="t" r="r" b="b"/>
              <a:pathLst>
                <a:path w="4248150" h="2647950">
                  <a:moveTo>
                    <a:pt x="304800" y="381000"/>
                  </a:moveTo>
                  <a:cubicBezTo>
                    <a:pt x="1562100" y="0"/>
                    <a:pt x="2647950" y="38100"/>
                    <a:pt x="3448050" y="457200"/>
                  </a:cubicBezTo>
                  <a:cubicBezTo>
                    <a:pt x="4133850" y="819150"/>
                    <a:pt x="4248150" y="1485900"/>
                    <a:pt x="3829050" y="1943100"/>
                  </a:cubicBezTo>
                  <a:cubicBezTo>
                    <a:pt x="3276600" y="2514600"/>
                    <a:pt x="2114550" y="2647950"/>
                    <a:pt x="1181100" y="2286000"/>
                  </a:cubicBezTo>
                  <a:cubicBezTo>
                    <a:pt x="419100" y="1981200"/>
                    <a:pt x="0" y="1200150"/>
                    <a:pt x="304800" y="381000"/>
                  </a:cubicBezTo>
                  <a:close/>
                </a:path>
              </a:pathLst>
            </a:custGeom>
            <a:solidFill>
              <a:schemeClr val="accent1">
                <a:alpha val="3000"/>
              </a:schemeClr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810500" y="3600450"/>
              <a:ext cx="4419600" cy="3200400"/>
            </a:xfrm>
            <a:custGeom>
              <a:avLst/>
              <a:gdLst/>
              <a:ahLst/>
              <a:cxnLst/>
              <a:rect l="l" t="t" r="r" b="b"/>
              <a:pathLst>
                <a:path w="4419600" h="3200400">
                  <a:moveTo>
                    <a:pt x="723900" y="400050"/>
                  </a:moveTo>
                  <a:cubicBezTo>
                    <a:pt x="1543050" y="0"/>
                    <a:pt x="2990850" y="114300"/>
                    <a:pt x="3790950" y="876300"/>
                  </a:cubicBezTo>
                  <a:cubicBezTo>
                    <a:pt x="4267200" y="1333500"/>
                    <a:pt x="4419600" y="2133600"/>
                    <a:pt x="3943350" y="2590800"/>
                  </a:cubicBezTo>
                  <a:cubicBezTo>
                    <a:pt x="3295650" y="3200400"/>
                    <a:pt x="1866900" y="3067050"/>
                    <a:pt x="952500" y="2457450"/>
                  </a:cubicBezTo>
                  <a:cubicBezTo>
                    <a:pt x="95250" y="1885950"/>
                    <a:pt x="0" y="781050"/>
                    <a:pt x="723900" y="400050"/>
                  </a:cubicBezTo>
                  <a:close/>
                </a:path>
              </a:pathLst>
            </a:custGeom>
            <a:solidFill>
              <a:schemeClr val="accent1">
                <a:alpha val="3500"/>
              </a:schemeClr>
            </a:soli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9010650" y="5391150"/>
              <a:ext cx="2057400" cy="171450"/>
            </a:xfrm>
            <a:custGeom>
              <a:avLst/>
              <a:gdLst/>
              <a:ahLst/>
              <a:cxnLst/>
              <a:rect l="l" t="t" r="r" b="b"/>
              <a:pathLst>
                <a:path w="2057400" h="171450">
                  <a:moveTo>
                    <a:pt x="0" y="152400"/>
                  </a:moveTo>
                  <a:cubicBezTo>
                    <a:pt x="628650" y="0"/>
                    <a:pt x="1352550" y="0"/>
                    <a:pt x="2057400" y="171450"/>
                  </a:cubicBezTo>
                </a:path>
              </a:pathLst>
            </a:custGeom>
            <a:noFill/>
            <a:ln w="19050" cap="rnd">
              <a:solidFill>
                <a:schemeClr val="accent2">
                  <a:alpha val="16000"/>
                </a:schemeClr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66166" y="495300"/>
            <a:ext cx="11054334" cy="6173915"/>
            <a:chOff x="566166" y="495300"/>
            <a:chExt cx="11054334" cy="6173915"/>
          </a:xfrm>
        </p:grpSpPr>
        <p:sp>
          <p:nvSpPr>
            <p:cNvPr id="7" name="Freeform 7"/>
            <p:cNvSpPr/>
            <p:nvPr/>
          </p:nvSpPr>
          <p:spPr>
            <a:xfrm>
              <a:off x="571500" y="49530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57150" y="0"/>
                  </a:moveTo>
                  <a:lnTo>
                    <a:pt x="438150" y="0"/>
                  </a:lnTo>
                  <a:cubicBezTo>
                    <a:pt x="469713" y="0"/>
                    <a:pt x="495300" y="25587"/>
                    <a:pt x="495300" y="57150"/>
                  </a:cubicBezTo>
                  <a:lnTo>
                    <a:pt x="495300" y="438150"/>
                  </a:lnTo>
                  <a:cubicBezTo>
                    <a:pt x="495300" y="469713"/>
                    <a:pt x="469713" y="495300"/>
                    <a:pt x="4381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chemeClr val="accent2">
                <a:alpha val="4000"/>
              </a:schemeClr>
            </a:solidFill>
            <a:ln w="14288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3425" y="573881"/>
              <a:ext cx="171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33425" y="745331"/>
              <a:ext cx="171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50442" y="644842"/>
              <a:ext cx="8012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案头判断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2038350" y="762000"/>
              <a:ext cx="9582150" cy="9525"/>
            </a:xfrm>
            <a:custGeom>
              <a:avLst/>
              <a:gdLst/>
              <a:ahLst/>
              <a:cxnLst/>
              <a:rect l="l" t="t" r="r" b="b"/>
              <a:pathLst>
                <a:path w="9582150" h="9525">
                  <a:moveTo>
                    <a:pt x="0" y="0"/>
                  </a:moveTo>
                  <a:lnTo>
                    <a:pt x="95821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571500" y="6305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66166" y="6411278"/>
              <a:ext cx="12726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049152" y="6346508"/>
              <a:ext cx="2749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6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20482" y="6411278"/>
              <a:ext cx="2863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/ 08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066800" y="1103948"/>
            <a:ext cx="10553700" cy="4916805"/>
            <a:chOff x="1066800" y="1103948"/>
            <a:chExt cx="10553700" cy="4916805"/>
          </a:xfrm>
        </p:grpSpPr>
        <p:sp>
          <p:nvSpPr>
            <p:cNvPr id="17" name="Line 17"/>
            <p:cNvSpPr/>
            <p:nvPr/>
          </p:nvSpPr>
          <p:spPr>
            <a:xfrm>
              <a:off x="1143000" y="112395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63599" y="1103948"/>
              <a:ext cx="1997964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窗口已到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1066800" y="1981200"/>
              <a:ext cx="6858000" cy="3181350"/>
            </a:xfrm>
            <a:custGeom>
              <a:avLst/>
              <a:gdLst/>
              <a:ahLst/>
              <a:cxnLst/>
              <a:rect l="l" t="t" r="r" b="b"/>
              <a:pathLst>
                <a:path w="6858000" h="3181350">
                  <a:moveTo>
                    <a:pt x="76200" y="0"/>
                  </a:moveTo>
                  <a:lnTo>
                    <a:pt x="6781800" y="0"/>
                  </a:lnTo>
                  <a:cubicBezTo>
                    <a:pt x="6823884" y="0"/>
                    <a:pt x="6858000" y="34116"/>
                    <a:pt x="6858000" y="76200"/>
                  </a:cubicBezTo>
                  <a:lnTo>
                    <a:pt x="6858000" y="3105150"/>
                  </a:lnTo>
                  <a:cubicBezTo>
                    <a:pt x="6858000" y="3147234"/>
                    <a:pt x="6823884" y="3181350"/>
                    <a:pt x="6781800" y="3181350"/>
                  </a:cubicBezTo>
                  <a:lnTo>
                    <a:pt x="76200" y="3181350"/>
                  </a:lnTo>
                  <a:cubicBezTo>
                    <a:pt x="34116" y="3181350"/>
                    <a:pt x="0" y="3147234"/>
                    <a:pt x="0" y="31051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2">
                <a:alpha val="92000"/>
              </a:schemeClr>
            </a:solidFill>
            <a:ln w="14288">
              <a:solidFill>
                <a:schemeClr val="accent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81100" y="1915478"/>
              <a:ext cx="1680972" cy="22193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550" dirty="0">
                  <a:solidFill>
                    <a:schemeClr val="accent2">
                      <a:alphaMod val="8000"/>
                    </a:schemeClr>
                  </a:solidFill>
                  <a:latin typeface="+mj-lt"/>
                  <a:ea typeface="+mj-ea"/>
                  <a:cs typeface="+mj-cs"/>
                </a:rPr>
                <a:t>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91300" y="3801428"/>
              <a:ext cx="1680972" cy="22193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550" dirty="0">
                  <a:solidFill>
                    <a:schemeClr val="accent2">
                      <a:alphaMod val="8000"/>
                    </a:schemeClr>
                  </a:solidFill>
                  <a:latin typeface="+mj-lt"/>
                  <a:ea typeface="+mj-ea"/>
                  <a:cs typeface="+mj-cs"/>
                </a:rPr>
                <a:t>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89532" y="2459355"/>
              <a:ext cx="323202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spc="75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企业营销的核心矛盾已从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81150" y="2978468"/>
              <a:ext cx="3131820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流量不足，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1600200" y="3724275"/>
              <a:ext cx="876300" cy="400050"/>
            </a:xfrm>
            <a:custGeom>
              <a:avLst/>
              <a:gdLst/>
              <a:ahLst/>
              <a:cxnLst/>
              <a:rect l="l" t="t" r="r" b="b"/>
              <a:pathLst>
                <a:path w="876300" h="400050">
                  <a:moveTo>
                    <a:pt x="57150" y="0"/>
                  </a:moveTo>
                  <a:lnTo>
                    <a:pt x="819150" y="0"/>
                  </a:lnTo>
                  <a:cubicBezTo>
                    <a:pt x="850713" y="0"/>
                    <a:pt x="876300" y="25587"/>
                    <a:pt x="876300" y="57150"/>
                  </a:cubicBezTo>
                  <a:lnTo>
                    <a:pt x="876300" y="342900"/>
                  </a:lnTo>
                  <a:cubicBezTo>
                    <a:pt x="876300" y="374463"/>
                    <a:pt x="850713" y="400050"/>
                    <a:pt x="819150" y="400050"/>
                  </a:cubicBezTo>
                  <a:lnTo>
                    <a:pt x="57150" y="400050"/>
                  </a:lnTo>
                  <a:cubicBezTo>
                    <a:pt x="25587" y="400050"/>
                    <a:pt x="0" y="374463"/>
                    <a:pt x="0" y="3429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chemeClr val="accent2">
                <a:alpha val="6000"/>
              </a:schemeClr>
            </a:solidFill>
            <a:ln w="9525">
              <a:solidFill>
                <a:schemeClr val="accent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773174" y="3806190"/>
              <a:ext cx="5303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转向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83436" y="4291965"/>
              <a:ext cx="563102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响应慢、协同散和复用弱。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1619250" y="4819650"/>
              <a:ext cx="5467350" cy="171450"/>
            </a:xfrm>
            <a:custGeom>
              <a:avLst/>
              <a:gdLst/>
              <a:ahLst/>
              <a:cxnLst/>
              <a:rect l="l" t="t" r="r" b="b"/>
              <a:pathLst>
                <a:path w="5467350" h="171450">
                  <a:moveTo>
                    <a:pt x="0" y="0"/>
                  </a:moveTo>
                  <a:cubicBezTo>
                    <a:pt x="1314450" y="171450"/>
                    <a:pt x="3362325" y="171450"/>
                    <a:pt x="5467350" y="0"/>
                  </a:cubicBezTo>
                </a:path>
              </a:pathLst>
            </a:custGeom>
            <a:noFill/>
            <a:ln w="19050" cap="rnd">
              <a:solidFill>
                <a:schemeClr val="accent2">
                  <a:alpha val="50000"/>
                </a:scheme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8134350" y="1981200"/>
              <a:ext cx="9525" cy="3581400"/>
            </a:xfrm>
            <a:custGeom>
              <a:avLst/>
              <a:gdLst/>
              <a:ahLst/>
              <a:cxnLst/>
              <a:rect l="l" t="t" r="r" b="b"/>
              <a:pathLst>
                <a:path w="9525" h="3581400">
                  <a:moveTo>
                    <a:pt x="0" y="0"/>
                  </a:moveTo>
                  <a:lnTo>
                    <a:pt x="0" y="35814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8134350" y="19812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8343900" y="2114550"/>
              <a:ext cx="3276600" cy="990600"/>
            </a:xfrm>
            <a:custGeom>
              <a:avLst/>
              <a:gdLst/>
              <a:ahLst/>
              <a:cxnLst/>
              <a:rect l="l" t="t" r="r" b="b"/>
              <a:pathLst>
                <a:path w="3276600" h="990600">
                  <a:moveTo>
                    <a:pt x="76200" y="0"/>
                  </a:moveTo>
                  <a:lnTo>
                    <a:pt x="3200400" y="0"/>
                  </a:lnTo>
                  <a:cubicBezTo>
                    <a:pt x="3242484" y="0"/>
                    <a:pt x="3276600" y="34116"/>
                    <a:pt x="3276600" y="76200"/>
                  </a:cubicBezTo>
                  <a:lnTo>
                    <a:pt x="3276600" y="914400"/>
                  </a:lnTo>
                  <a:cubicBezTo>
                    <a:pt x="3276600" y="956484"/>
                    <a:pt x="3242484" y="990600"/>
                    <a:pt x="3200400" y="990600"/>
                  </a:cubicBezTo>
                  <a:lnTo>
                    <a:pt x="76200" y="990600"/>
                  </a:lnTo>
                  <a:cubicBezTo>
                    <a:pt x="34116" y="990600"/>
                    <a:pt x="0" y="956484"/>
                    <a:pt x="0" y="9144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2">
                <a:alpha val="72000"/>
              </a:schemeClr>
            </a:solidFill>
            <a:ln w="9525">
              <a:solidFill>
                <a:schemeClr val="accent4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8343900" y="2114550"/>
              <a:ext cx="723900" cy="9525"/>
            </a:xfrm>
            <a:custGeom>
              <a:avLst/>
              <a:gdLst/>
              <a:ahLst/>
              <a:cxnLst/>
              <a:rect l="l" t="t" r="r" b="b"/>
              <a:pathLst>
                <a:path w="723900" h="9525">
                  <a:moveTo>
                    <a:pt x="0" y="0"/>
                  </a:moveTo>
                  <a:lnTo>
                    <a:pt x="7239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572500" y="239077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1227156" y="226123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812530" y="24669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数据在多系统沉淀，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12530" y="27527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团队很难形成统一客户视图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8343900" y="3333750"/>
              <a:ext cx="3276600" cy="990600"/>
            </a:xfrm>
            <a:custGeom>
              <a:avLst/>
              <a:gdLst/>
              <a:ahLst/>
              <a:cxnLst/>
              <a:rect l="l" t="t" r="r" b="b"/>
              <a:pathLst>
                <a:path w="3276600" h="990600">
                  <a:moveTo>
                    <a:pt x="76200" y="0"/>
                  </a:moveTo>
                  <a:lnTo>
                    <a:pt x="3200400" y="0"/>
                  </a:lnTo>
                  <a:cubicBezTo>
                    <a:pt x="3242484" y="0"/>
                    <a:pt x="3276600" y="34116"/>
                    <a:pt x="3276600" y="76200"/>
                  </a:cubicBezTo>
                  <a:lnTo>
                    <a:pt x="3276600" y="914400"/>
                  </a:lnTo>
                  <a:cubicBezTo>
                    <a:pt x="3276600" y="956484"/>
                    <a:pt x="3242484" y="990600"/>
                    <a:pt x="3200400" y="990600"/>
                  </a:cubicBezTo>
                  <a:lnTo>
                    <a:pt x="76200" y="990600"/>
                  </a:lnTo>
                  <a:cubicBezTo>
                    <a:pt x="34116" y="990600"/>
                    <a:pt x="0" y="956484"/>
                    <a:pt x="0" y="9144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2">
                <a:alpha val="72000"/>
              </a:schemeClr>
            </a:solidFill>
            <a:ln w="9525">
              <a:solidFill>
                <a:schemeClr val="accent4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8343900" y="3333750"/>
              <a:ext cx="723900" cy="9525"/>
            </a:xfrm>
            <a:custGeom>
              <a:avLst/>
              <a:gdLst/>
              <a:ahLst/>
              <a:cxnLst/>
              <a:rect l="l" t="t" r="r" b="b"/>
              <a:pathLst>
                <a:path w="723900" h="9525">
                  <a:moveTo>
                    <a:pt x="0" y="0"/>
                  </a:moveTo>
                  <a:lnTo>
                    <a:pt x="7239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8572500" y="360997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1227156" y="348043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812530" y="36861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分析依赖人工拉数，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812530" y="39719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决策常慢于市场变化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8343900" y="4552950"/>
              <a:ext cx="3276600" cy="990600"/>
            </a:xfrm>
            <a:custGeom>
              <a:avLst/>
              <a:gdLst/>
              <a:ahLst/>
              <a:cxnLst/>
              <a:rect l="l" t="t" r="r" b="b"/>
              <a:pathLst>
                <a:path w="3276600" h="990600">
                  <a:moveTo>
                    <a:pt x="76200" y="0"/>
                  </a:moveTo>
                  <a:lnTo>
                    <a:pt x="3200400" y="0"/>
                  </a:lnTo>
                  <a:cubicBezTo>
                    <a:pt x="3242484" y="0"/>
                    <a:pt x="3276600" y="34116"/>
                    <a:pt x="3276600" y="76200"/>
                  </a:cubicBezTo>
                  <a:lnTo>
                    <a:pt x="3276600" y="914400"/>
                  </a:lnTo>
                  <a:cubicBezTo>
                    <a:pt x="3276600" y="956484"/>
                    <a:pt x="3242484" y="990600"/>
                    <a:pt x="3200400" y="990600"/>
                  </a:cubicBezTo>
                  <a:lnTo>
                    <a:pt x="76200" y="990600"/>
                  </a:lnTo>
                  <a:cubicBezTo>
                    <a:pt x="34116" y="990600"/>
                    <a:pt x="0" y="956484"/>
                    <a:pt x="0" y="9144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2">
                <a:alpha val="72000"/>
              </a:schemeClr>
            </a:solidFill>
            <a:ln w="9525">
              <a:solidFill>
                <a:schemeClr val="accent4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8343900" y="4552950"/>
              <a:ext cx="723900" cy="9525"/>
            </a:xfrm>
            <a:custGeom>
              <a:avLst/>
              <a:gdLst/>
              <a:ahLst/>
              <a:cxnLst/>
              <a:rect l="l" t="t" r="r" b="b"/>
              <a:pathLst>
                <a:path w="723900" h="9525">
                  <a:moveTo>
                    <a:pt x="0" y="0"/>
                  </a:moveTo>
                  <a:lnTo>
                    <a:pt x="7239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8572500" y="482917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1227156" y="469963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812530" y="49053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执行与复盘脱节，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812530" y="51911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预算难持续投向高回报动作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838200" y="800100"/>
              <a:ext cx="3981450" cy="342900"/>
            </a:xfrm>
            <a:custGeom>
              <a:avLst/>
              <a:gdLst/>
              <a:ahLst/>
              <a:cxnLst/>
              <a:rect l="l" t="t" r="r" b="b"/>
              <a:pathLst>
                <a:path w="3981450" h="342900">
                  <a:moveTo>
                    <a:pt x="0" y="304800"/>
                  </a:moveTo>
                  <a:cubicBezTo>
                    <a:pt x="838200" y="171450"/>
                    <a:pt x="1371600" y="342900"/>
                    <a:pt x="2057400" y="228600"/>
                  </a:cubicBezTo>
                  <a:cubicBezTo>
                    <a:pt x="2724150" y="114300"/>
                    <a:pt x="3257550" y="0"/>
                    <a:pt x="3981450" y="114300"/>
                  </a:cubicBezTo>
                </a:path>
              </a:pathLst>
            </a:custGeom>
            <a:noFill/>
            <a:ln w="19050" cap="rnd">
              <a:solidFill>
                <a:schemeClr val="accent4">
                  <a:alpha val="70000"/>
                </a:schemeClr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8858250" y="876300"/>
              <a:ext cx="2381250" cy="190500"/>
            </a:xfrm>
            <a:custGeom>
              <a:avLst/>
              <a:gdLst/>
              <a:ahLst/>
              <a:cxnLst/>
              <a:rect l="l" t="t" r="r" b="b"/>
              <a:pathLst>
                <a:path w="2381250" h="190500">
                  <a:moveTo>
                    <a:pt x="0" y="190500"/>
                  </a:moveTo>
                  <a:cubicBezTo>
                    <a:pt x="800100" y="19050"/>
                    <a:pt x="1543050" y="133350"/>
                    <a:pt x="2381250" y="0"/>
                  </a:cubicBezTo>
                </a:path>
              </a:pathLst>
            </a:custGeom>
            <a:noFill/>
            <a:ln w="19050" cap="rnd">
              <a:solidFill>
                <a:schemeClr val="accent4">
                  <a:alpha val="55000"/>
                </a:schemeClr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10325100" y="895350"/>
              <a:ext cx="647700" cy="647700"/>
            </a:xfrm>
            <a:prstGeom prst="ellipse">
              <a:avLst/>
            </a:prstGeom>
            <a:solidFill>
              <a:schemeClr val="lt2">
                <a:alpha val="75000"/>
              </a:scheme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820400" y="1295400"/>
              <a:ext cx="190500" cy="190500"/>
            </a:xfrm>
            <a:prstGeom prst="ellipse">
              <a:avLst/>
            </a:prstGeom>
            <a:solidFill>
              <a:schemeClr val="accent4">
                <a:alpha val="55000"/>
              </a:schemeClr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66166" y="457200"/>
            <a:ext cx="11059668" cy="6016561"/>
            <a:chOff x="566166" y="457200"/>
            <a:chExt cx="11059668" cy="6016561"/>
          </a:xfrm>
        </p:grpSpPr>
        <p:sp>
          <p:nvSpPr>
            <p:cNvPr id="8" name="Line 8"/>
            <p:cNvSpPr/>
            <p:nvPr/>
          </p:nvSpPr>
          <p:spPr>
            <a:xfrm>
              <a:off x="571500" y="7048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571500" y="6191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71500" y="457200"/>
              <a:ext cx="876300" cy="285750"/>
            </a:xfrm>
            <a:custGeom>
              <a:avLst/>
              <a:gdLst/>
              <a:ahLst/>
              <a:cxnLst/>
              <a:rect l="l" t="t" r="r" b="b"/>
              <a:pathLst>
                <a:path w="876300" h="285750">
                  <a:moveTo>
                    <a:pt x="38100" y="0"/>
                  </a:moveTo>
                  <a:lnTo>
                    <a:pt x="838200" y="0"/>
                  </a:lnTo>
                  <a:cubicBezTo>
                    <a:pt x="859242" y="0"/>
                    <a:pt x="876300" y="17058"/>
                    <a:pt x="876300" y="38100"/>
                  </a:cubicBezTo>
                  <a:lnTo>
                    <a:pt x="876300" y="247650"/>
                  </a:lnTo>
                  <a:cubicBezTo>
                    <a:pt x="876300" y="268692"/>
                    <a:pt x="859242" y="285750"/>
                    <a:pt x="83820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chemeClr val="accent2">
                <a:alpha val="10000"/>
              </a:schemeClr>
            </a:solidFill>
            <a:ln w="9525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18744" y="501968"/>
              <a:ext cx="781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路径并置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459680" y="62684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166" y="6268402"/>
              <a:ext cx="12726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55498" y="974408"/>
            <a:ext cx="11065002" cy="4607242"/>
            <a:chOff x="555498" y="974408"/>
            <a:chExt cx="11065002" cy="4607242"/>
          </a:xfrm>
        </p:grpSpPr>
        <p:sp>
          <p:nvSpPr>
            <p:cNvPr id="15" name="TextBox 15"/>
            <p:cNvSpPr txBox="1"/>
            <p:nvPr/>
          </p:nvSpPr>
          <p:spPr>
            <a:xfrm>
              <a:off x="555498" y="974408"/>
              <a:ext cx="18242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四段闭环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2737" y="1547336"/>
              <a:ext cx="744855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平台价值不在单点智能，而在把营销经营拆成可连接、可追责、可放大的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2737" y="1871186"/>
              <a:ext cx="117862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四段闭环。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571500" y="2152650"/>
              <a:ext cx="11049000" cy="3429000"/>
            </a:xfrm>
            <a:custGeom>
              <a:avLst/>
              <a:gdLst/>
              <a:ahLst/>
              <a:cxnLst/>
              <a:rect l="l" t="t" r="r" b="b"/>
              <a:pathLst>
                <a:path w="11049000" h="3429000">
                  <a:moveTo>
                    <a:pt x="76200" y="0"/>
                  </a:moveTo>
                  <a:lnTo>
                    <a:pt x="10972800" y="0"/>
                  </a:lnTo>
                  <a:cubicBezTo>
                    <a:pt x="11014884" y="0"/>
                    <a:pt x="11049000" y="34116"/>
                    <a:pt x="11049000" y="76200"/>
                  </a:cubicBezTo>
                  <a:lnTo>
                    <a:pt x="11049000" y="3352800"/>
                  </a:lnTo>
                  <a:cubicBezTo>
                    <a:pt x="11049000" y="3394884"/>
                    <a:pt x="11014884" y="3429000"/>
                    <a:pt x="10972800" y="3429000"/>
                  </a:cubicBezTo>
                  <a:lnTo>
                    <a:pt x="76200" y="3429000"/>
                  </a:lnTo>
                  <a:cubicBezTo>
                    <a:pt x="34116" y="3429000"/>
                    <a:pt x="0" y="3394884"/>
                    <a:pt x="0" y="3352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2">
                <a:alpha val="45000"/>
              </a:schemeClr>
            </a:solidFill>
            <a:ln w="9525">
              <a:solidFill>
                <a:schemeClr val="accent4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3333750" y="215265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6096000" y="215265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8858250" y="215265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781050" y="2362200"/>
              <a:ext cx="2343150" cy="1200150"/>
            </a:xfrm>
            <a:custGeom>
              <a:avLst/>
              <a:gdLst/>
              <a:ahLst/>
              <a:cxnLst/>
              <a:rect l="l" t="t" r="r" b="b"/>
              <a:pathLst>
                <a:path w="2343150" h="1200150">
                  <a:moveTo>
                    <a:pt x="76200" y="0"/>
                  </a:moveTo>
                  <a:lnTo>
                    <a:pt x="2266950" y="0"/>
                  </a:lnTo>
                  <a:cubicBezTo>
                    <a:pt x="2309034" y="0"/>
                    <a:pt x="2343150" y="34116"/>
                    <a:pt x="2343150" y="76200"/>
                  </a:cubicBezTo>
                  <a:lnTo>
                    <a:pt x="2343150" y="1123950"/>
                  </a:lnTo>
                  <a:cubicBezTo>
                    <a:pt x="2343150" y="1166034"/>
                    <a:pt x="2309034" y="1200150"/>
                    <a:pt x="2266950" y="1200150"/>
                  </a:cubicBezTo>
                  <a:lnTo>
                    <a:pt x="76200" y="1200150"/>
                  </a:lnTo>
                  <a:cubicBezTo>
                    <a:pt x="34116" y="1200150"/>
                    <a:pt x="0" y="1166034"/>
                    <a:pt x="0" y="11239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952500" y="253365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98220" y="2584132"/>
              <a:ext cx="2514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一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17320" y="2509838"/>
              <a:ext cx="1303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数据整合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1428750" y="2895600"/>
              <a:ext cx="1371600" cy="9525"/>
            </a:xfrm>
            <a:custGeom>
              <a:avLst/>
              <a:gdLst/>
              <a:ahLst/>
              <a:cxnLst/>
              <a:rect l="l" t="t" r="r" b="b"/>
              <a:pathLst>
                <a:path w="1371600" h="9525">
                  <a:moveTo>
                    <a:pt x="0" y="0"/>
                  </a:moveTo>
                  <a:lnTo>
                    <a:pt x="13716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02030" y="3048000"/>
              <a:ext cx="23942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汇聚 CRM、广告、内容、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02030" y="333375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线索与交易数据，形成统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02030" y="361950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一营销底座。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3543300" y="2362200"/>
              <a:ext cx="2343150" cy="1200150"/>
            </a:xfrm>
            <a:custGeom>
              <a:avLst/>
              <a:gdLst/>
              <a:ahLst/>
              <a:cxnLst/>
              <a:rect l="l" t="t" r="r" b="b"/>
              <a:pathLst>
                <a:path w="2343150" h="1200150">
                  <a:moveTo>
                    <a:pt x="76200" y="0"/>
                  </a:moveTo>
                  <a:lnTo>
                    <a:pt x="2266950" y="0"/>
                  </a:lnTo>
                  <a:cubicBezTo>
                    <a:pt x="2309034" y="0"/>
                    <a:pt x="2343150" y="34116"/>
                    <a:pt x="2343150" y="76200"/>
                  </a:cubicBezTo>
                  <a:lnTo>
                    <a:pt x="2343150" y="1123950"/>
                  </a:lnTo>
                  <a:cubicBezTo>
                    <a:pt x="2343150" y="1166034"/>
                    <a:pt x="2309034" y="1200150"/>
                    <a:pt x="2266950" y="1200150"/>
                  </a:cubicBezTo>
                  <a:lnTo>
                    <a:pt x="76200" y="1200150"/>
                  </a:lnTo>
                  <a:cubicBezTo>
                    <a:pt x="34116" y="1200150"/>
                    <a:pt x="0" y="1166034"/>
                    <a:pt x="0" y="11239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3714750" y="253365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760470" y="2584132"/>
              <a:ext cx="2514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179570" y="2509838"/>
              <a:ext cx="124701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AI 分析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4191000" y="2895600"/>
              <a:ext cx="1371600" cy="9525"/>
            </a:xfrm>
            <a:custGeom>
              <a:avLst/>
              <a:gdLst/>
              <a:ahLst/>
              <a:cxnLst/>
              <a:rect l="l" t="t" r="r" b="b"/>
              <a:pathLst>
                <a:path w="1371600" h="9525">
                  <a:moveTo>
                    <a:pt x="0" y="0"/>
                  </a:moveTo>
                  <a:lnTo>
                    <a:pt x="13716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764280" y="304800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识别客群、机会、内容方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764280" y="333375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向与投放偏差，把经验判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764280" y="36195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断变成可复用洞察。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6305550" y="2362200"/>
              <a:ext cx="2343150" cy="1200150"/>
            </a:xfrm>
            <a:custGeom>
              <a:avLst/>
              <a:gdLst/>
              <a:ahLst/>
              <a:cxnLst/>
              <a:rect l="l" t="t" r="r" b="b"/>
              <a:pathLst>
                <a:path w="2343150" h="1200150">
                  <a:moveTo>
                    <a:pt x="76200" y="0"/>
                  </a:moveTo>
                  <a:lnTo>
                    <a:pt x="2266950" y="0"/>
                  </a:lnTo>
                  <a:cubicBezTo>
                    <a:pt x="2309034" y="0"/>
                    <a:pt x="2343150" y="34116"/>
                    <a:pt x="2343150" y="76200"/>
                  </a:cubicBezTo>
                  <a:lnTo>
                    <a:pt x="2343150" y="1123950"/>
                  </a:lnTo>
                  <a:cubicBezTo>
                    <a:pt x="2343150" y="1166034"/>
                    <a:pt x="2309034" y="1200150"/>
                    <a:pt x="2266950" y="1200150"/>
                  </a:cubicBezTo>
                  <a:lnTo>
                    <a:pt x="76200" y="1200150"/>
                  </a:lnTo>
                  <a:cubicBezTo>
                    <a:pt x="34116" y="1200150"/>
                    <a:pt x="0" y="1166034"/>
                    <a:pt x="0" y="11239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6477000" y="253365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22720" y="2584132"/>
              <a:ext cx="2514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41820" y="2509838"/>
              <a:ext cx="162306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自动化执行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6953250" y="2895600"/>
              <a:ext cx="1371600" cy="9525"/>
            </a:xfrm>
            <a:custGeom>
              <a:avLst/>
              <a:gdLst/>
              <a:ahLst/>
              <a:cxnLst/>
              <a:rect l="l" t="t" r="r" b="b"/>
              <a:pathLst>
                <a:path w="1371600" h="9525">
                  <a:moveTo>
                    <a:pt x="0" y="0"/>
                  </a:moveTo>
                  <a:lnTo>
                    <a:pt x="13716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26530" y="304800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基于规则与模型触发投放、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26530" y="333375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触达、跟进与协同动作，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26530" y="36195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缩短反应链路。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9067800" y="2362200"/>
              <a:ext cx="2343150" cy="1200150"/>
            </a:xfrm>
            <a:custGeom>
              <a:avLst/>
              <a:gdLst/>
              <a:ahLst/>
              <a:cxnLst/>
              <a:rect l="l" t="t" r="r" b="b"/>
              <a:pathLst>
                <a:path w="2343150" h="1200150">
                  <a:moveTo>
                    <a:pt x="76200" y="0"/>
                  </a:moveTo>
                  <a:lnTo>
                    <a:pt x="2266950" y="0"/>
                  </a:lnTo>
                  <a:cubicBezTo>
                    <a:pt x="2309034" y="0"/>
                    <a:pt x="2343150" y="34116"/>
                    <a:pt x="2343150" y="76200"/>
                  </a:cubicBezTo>
                  <a:lnTo>
                    <a:pt x="2343150" y="1123950"/>
                  </a:lnTo>
                  <a:cubicBezTo>
                    <a:pt x="2343150" y="1166034"/>
                    <a:pt x="2309034" y="1200150"/>
                    <a:pt x="2266950" y="1200150"/>
                  </a:cubicBezTo>
                  <a:lnTo>
                    <a:pt x="76200" y="1200150"/>
                  </a:lnTo>
                  <a:cubicBezTo>
                    <a:pt x="34116" y="1200150"/>
                    <a:pt x="0" y="1166034"/>
                    <a:pt x="0" y="11239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9239250" y="253365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284970" y="2584132"/>
              <a:ext cx="2514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四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704070" y="2509838"/>
              <a:ext cx="1303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效果度量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9715500" y="2895600"/>
              <a:ext cx="1371600" cy="9525"/>
            </a:xfrm>
            <a:custGeom>
              <a:avLst/>
              <a:gdLst/>
              <a:ahLst/>
              <a:cxnLst/>
              <a:rect l="l" t="t" r="r" b="b"/>
              <a:pathLst>
                <a:path w="1371600" h="9525">
                  <a:moveTo>
                    <a:pt x="0" y="0"/>
                  </a:moveTo>
                  <a:lnTo>
                    <a:pt x="13716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288780" y="304800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按活动、渠道、人群与转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288780" y="333375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化阶段追踪结果，让预算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288780" y="361950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回流高价值组合。</a:t>
              </a:r>
            </a:p>
          </p:txBody>
        </p:sp>
        <p:sp>
          <p:nvSpPr>
            <p:cNvPr id="54" name="Freeform 54"/>
            <p:cNvSpPr/>
            <p:nvPr/>
          </p:nvSpPr>
          <p:spPr>
            <a:xfrm>
              <a:off x="1952625" y="3829050"/>
              <a:ext cx="1524000" cy="342900"/>
            </a:xfrm>
            <a:custGeom>
              <a:avLst/>
              <a:gdLst/>
              <a:ahLst/>
              <a:cxnLst/>
              <a:rect l="l" t="t" r="r" b="b"/>
              <a:pathLst>
                <a:path w="1524000" h="342900">
                  <a:moveTo>
                    <a:pt x="0" y="342900"/>
                  </a:moveTo>
                  <a:cubicBezTo>
                    <a:pt x="600075" y="0"/>
                    <a:pt x="942975" y="0"/>
                    <a:pt x="1524000" y="342900"/>
                  </a:cubicBezTo>
                </a:path>
              </a:pathLst>
            </a:custGeom>
            <a:noFill/>
            <a:ln w="23812" cap="rnd">
              <a:solidFill>
                <a:schemeClr val="accent2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4714875" y="3829050"/>
              <a:ext cx="1524000" cy="342900"/>
            </a:xfrm>
            <a:custGeom>
              <a:avLst/>
              <a:gdLst/>
              <a:ahLst/>
              <a:cxnLst/>
              <a:rect l="l" t="t" r="r" b="b"/>
              <a:pathLst>
                <a:path w="1524000" h="342900">
                  <a:moveTo>
                    <a:pt x="0" y="342900"/>
                  </a:moveTo>
                  <a:cubicBezTo>
                    <a:pt x="600075" y="0"/>
                    <a:pt x="942975" y="0"/>
                    <a:pt x="1524000" y="342900"/>
                  </a:cubicBezTo>
                </a:path>
              </a:pathLst>
            </a:custGeom>
            <a:noFill/>
            <a:ln w="23812" cap="rnd">
              <a:solidFill>
                <a:schemeClr val="accent2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7477125" y="3829050"/>
              <a:ext cx="1524000" cy="342900"/>
            </a:xfrm>
            <a:custGeom>
              <a:avLst/>
              <a:gdLst/>
              <a:ahLst/>
              <a:cxnLst/>
              <a:rect l="l" t="t" r="r" b="b"/>
              <a:pathLst>
                <a:path w="1524000" h="342900">
                  <a:moveTo>
                    <a:pt x="0" y="342900"/>
                  </a:moveTo>
                  <a:cubicBezTo>
                    <a:pt x="600075" y="0"/>
                    <a:pt x="942975" y="0"/>
                    <a:pt x="1524000" y="342900"/>
                  </a:cubicBezTo>
                </a:path>
              </a:pathLst>
            </a:custGeom>
            <a:noFill/>
            <a:ln w="23812" cap="rnd">
              <a:solidFill>
                <a:schemeClr val="accent2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1914525" y="41338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3438525" y="41338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4676775" y="41338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6200775" y="41338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7439025" y="41338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8963025" y="41338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1066800" y="4476750"/>
              <a:ext cx="10058400" cy="800100"/>
            </a:xfrm>
            <a:custGeom>
              <a:avLst/>
              <a:gdLst/>
              <a:ahLst/>
              <a:cxnLst/>
              <a:rect l="l" t="t" r="r" b="b"/>
              <a:pathLst>
                <a:path w="10058400" h="800100">
                  <a:moveTo>
                    <a:pt x="400050" y="0"/>
                  </a:moveTo>
                  <a:lnTo>
                    <a:pt x="9658350" y="0"/>
                  </a:lnTo>
                  <a:cubicBezTo>
                    <a:pt x="9879292" y="0"/>
                    <a:pt x="10058400" y="179108"/>
                    <a:pt x="10058400" y="400050"/>
                  </a:cubicBezTo>
                  <a:lnTo>
                    <a:pt x="10058400" y="400050"/>
                  </a:lnTo>
                  <a:cubicBezTo>
                    <a:pt x="10058400" y="620992"/>
                    <a:pt x="9879292" y="800100"/>
                    <a:pt x="9658350" y="800100"/>
                  </a:cubicBezTo>
                  <a:lnTo>
                    <a:pt x="400050" y="800100"/>
                  </a:lnTo>
                  <a:cubicBezTo>
                    <a:pt x="179108" y="800100"/>
                    <a:pt x="0" y="620992"/>
                    <a:pt x="0" y="400050"/>
                  </a:cubicBezTo>
                  <a:lnTo>
                    <a:pt x="0" y="400050"/>
                  </a:lnTo>
                  <a:cubicBezTo>
                    <a:pt x="0" y="179108"/>
                    <a:pt x="179108" y="0"/>
                    <a:pt x="400050" y="0"/>
                  </a:cubicBezTo>
                  <a:close/>
                </a:path>
              </a:pathLst>
            </a:custGeom>
            <a:solidFill>
              <a:schemeClr val="lt1"/>
            </a:solidFill>
            <a:ln w="11430">
              <a:solidFill>
                <a:schemeClr val="accent4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004310" y="4567238"/>
              <a:ext cx="418338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从底座到洞察，从动作到结果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2866834" y="4927282"/>
              <a:ext cx="645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每一段都可单独问责，也必须首尾相接，形成持续迭代的经营回路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431226" y="5686425"/>
            <a:ext cx="9329548" cy="387953"/>
            <a:chOff x="1431226" y="5686425"/>
            <a:chExt cx="9329548" cy="387953"/>
          </a:xfrm>
        </p:grpSpPr>
        <p:sp>
          <p:nvSpPr>
            <p:cNvPr id="67" name="Line 67"/>
            <p:cNvSpPr/>
            <p:nvPr/>
          </p:nvSpPr>
          <p:spPr>
            <a:xfrm>
              <a:off x="1952625" y="5734050"/>
              <a:ext cx="8286750" cy="9525"/>
            </a:xfrm>
            <a:custGeom>
              <a:avLst/>
              <a:gdLst/>
              <a:ahLst/>
              <a:cxnLst/>
              <a:rect l="l" t="t" r="r" b="b"/>
              <a:pathLst>
                <a:path w="8286750" h="9525">
                  <a:moveTo>
                    <a:pt x="0" y="0"/>
                  </a:moveTo>
                  <a:lnTo>
                    <a:pt x="82867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1905000" y="56864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4667250" y="56864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7429500" y="56864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10191750" y="56864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431226" y="5825014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统一客户视图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4193476" y="5825014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生成经营判断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955727" y="5825014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触发协同动作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717977" y="5825014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回流预算策略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-323850"/>
            <a:ext cx="12192000" cy="7181850"/>
            <a:chOff x="0" y="-323850"/>
            <a:chExt cx="12192000" cy="71818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7200900" y="-323850"/>
              <a:ext cx="4724400" cy="2857500"/>
            </a:xfrm>
            <a:prstGeom prst="ellipse">
              <a:avLst/>
            </a:prstGeom>
            <a:gradFill>
              <a:gsLst>
                <a:gs pos="0">
                  <a:schemeClr val="accent1">
                    <a:alpha val="10000"/>
                  </a:schemeClr>
                </a:gs>
                <a:gs pos="55000">
                  <a:schemeClr val="accent1">
                    <a:alpha val="3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38100" y="4362450"/>
              <a:ext cx="4000500" cy="2286000"/>
            </a:xfrm>
            <a:prstGeom prst="ellipse">
              <a:avLst/>
            </a:prstGeom>
            <a:gradFill>
              <a:gsLst>
                <a:gs pos="0">
                  <a:schemeClr val="accent2">
                    <a:alpha val="8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742950" y="1066800"/>
              <a:ext cx="2343150" cy="304800"/>
            </a:xfrm>
            <a:custGeom>
              <a:avLst/>
              <a:gdLst/>
              <a:ahLst/>
              <a:cxnLst/>
              <a:rect l="l" t="t" r="r" b="b"/>
              <a:pathLst>
                <a:path w="2343150" h="304800">
                  <a:moveTo>
                    <a:pt x="0" y="304800"/>
                  </a:moveTo>
                  <a:cubicBezTo>
                    <a:pt x="704850" y="38100"/>
                    <a:pt x="1504950" y="0"/>
                    <a:pt x="2343150" y="152400"/>
                  </a:cubicBezTo>
                </a:path>
              </a:pathLst>
            </a:custGeom>
            <a:noFill/>
            <a:ln w="285750" cap="rnd">
              <a:solidFill>
                <a:schemeClr val="accent2">
                  <a:alpha val="8000"/>
                </a:schemeClr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8667750" y="5448300"/>
              <a:ext cx="2876550" cy="533400"/>
            </a:xfrm>
            <a:custGeom>
              <a:avLst/>
              <a:gdLst/>
              <a:ahLst/>
              <a:cxnLst/>
              <a:rect l="l" t="t" r="r" b="b"/>
              <a:pathLst>
                <a:path w="2876550" h="533400">
                  <a:moveTo>
                    <a:pt x="0" y="533400"/>
                  </a:moveTo>
                  <a:cubicBezTo>
                    <a:pt x="819150" y="266700"/>
                    <a:pt x="1828800" y="247650"/>
                    <a:pt x="2876550" y="0"/>
                  </a:cubicBezTo>
                </a:path>
              </a:pathLst>
            </a:custGeom>
            <a:noFill/>
            <a:ln w="190500" cap="rnd">
              <a:solidFill>
                <a:schemeClr val="accent1">
                  <a:alpha val="6000"/>
                </a:schemeClr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9220200" y="5848350"/>
              <a:ext cx="2305050" cy="323850"/>
            </a:xfrm>
            <a:custGeom>
              <a:avLst/>
              <a:gdLst/>
              <a:ahLst/>
              <a:cxnLst/>
              <a:rect l="l" t="t" r="r" b="b"/>
              <a:pathLst>
                <a:path w="2305050" h="323850">
                  <a:moveTo>
                    <a:pt x="0" y="323850"/>
                  </a:moveTo>
                  <a:cubicBezTo>
                    <a:pt x="838200" y="133350"/>
                    <a:pt x="1657350" y="133350"/>
                    <a:pt x="2305050" y="0"/>
                  </a:cubicBezTo>
                </a:path>
              </a:pathLst>
            </a:custGeom>
            <a:noFill/>
            <a:ln w="95250" cap="rnd">
              <a:solidFill>
                <a:schemeClr val="accent1">
                  <a:alpha val="4000"/>
                </a:schemeClr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71500" y="552450"/>
            <a:ext cx="11036046" cy="356425"/>
            <a:chOff x="571500" y="552450"/>
            <a:chExt cx="11036046" cy="356425"/>
          </a:xfrm>
        </p:grpSpPr>
        <p:sp>
          <p:nvSpPr>
            <p:cNvPr id="9" name="Rectangle 9"/>
            <p:cNvSpPr/>
            <p:nvPr/>
          </p:nvSpPr>
          <p:spPr>
            <a:xfrm>
              <a:off x="571500" y="552450"/>
              <a:ext cx="323850" cy="32385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30555" y="625792"/>
              <a:ext cx="2057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59942" y="644842"/>
              <a:ext cx="8618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3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证据摘录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428750" y="723900"/>
              <a:ext cx="6762750" cy="9525"/>
            </a:xfrm>
            <a:custGeom>
              <a:avLst/>
              <a:gdLst/>
              <a:ahLst/>
              <a:cxnLst/>
              <a:rect l="l" t="t" r="r" b="b"/>
              <a:pathLst>
                <a:path w="6762750" h="9525">
                  <a:moveTo>
                    <a:pt x="0" y="0"/>
                  </a:moveTo>
                  <a:lnTo>
                    <a:pt x="67627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153040" y="661035"/>
              <a:ext cx="14545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163574" y="1181100"/>
            <a:ext cx="10418826" cy="4686300"/>
            <a:chOff x="1163574" y="1181100"/>
            <a:chExt cx="10418826" cy="4686300"/>
          </a:xfrm>
        </p:grpSpPr>
        <p:sp>
          <p:nvSpPr>
            <p:cNvPr id="15" name="TextBox 15"/>
            <p:cNvSpPr txBox="1"/>
            <p:nvPr/>
          </p:nvSpPr>
          <p:spPr>
            <a:xfrm>
              <a:off x="1163574" y="1208722"/>
              <a:ext cx="1997964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场景见效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1181100" y="1704975"/>
              <a:ext cx="1085850" cy="47625"/>
            </a:xfrm>
            <a:custGeom>
              <a:avLst/>
              <a:gdLst/>
              <a:ahLst/>
              <a:cxnLst/>
              <a:rect l="l" t="t" r="r" b="b"/>
              <a:pathLst>
                <a:path w="1085850" h="47625">
                  <a:moveTo>
                    <a:pt x="0" y="47625"/>
                  </a:moveTo>
                  <a:cubicBezTo>
                    <a:pt x="323850" y="9525"/>
                    <a:pt x="685800" y="0"/>
                    <a:pt x="1085850" y="28575"/>
                  </a:cubicBezTo>
                </a:path>
              </a:pathLst>
            </a:custGeom>
            <a:noFill/>
            <a:ln w="28575" cap="rnd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71956" y="207264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平台优先服务三个高频场景，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71956" y="243459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在不增加组织复杂度的前提下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71956" y="27965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提升营销产出。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810000" y="1257300"/>
              <a:ext cx="7772400" cy="1409700"/>
            </a:xfrm>
            <a:prstGeom prst="rect">
              <a:avLst/>
            </a:prstGeom>
            <a:solidFill>
              <a:schemeClr val="accent1">
                <a:alpha val="3000"/>
              </a:schemeClr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3733800" y="1181100"/>
              <a:ext cx="7772400" cy="1409700"/>
            </a:xfrm>
            <a:custGeom>
              <a:avLst/>
              <a:gdLst/>
              <a:ahLst/>
              <a:cxnLst/>
              <a:rect l="l" t="t" r="r" b="b"/>
              <a:pathLst>
                <a:path w="7772400" h="1409700">
                  <a:moveTo>
                    <a:pt x="76200" y="0"/>
                  </a:moveTo>
                  <a:lnTo>
                    <a:pt x="7696200" y="0"/>
                  </a:lnTo>
                  <a:cubicBezTo>
                    <a:pt x="7738284" y="0"/>
                    <a:pt x="7772400" y="34116"/>
                    <a:pt x="7772400" y="76200"/>
                  </a:cubicBezTo>
                  <a:lnTo>
                    <a:pt x="7772400" y="1333500"/>
                  </a:lnTo>
                  <a:cubicBezTo>
                    <a:pt x="7772400" y="1375584"/>
                    <a:pt x="7738284" y="1409700"/>
                    <a:pt x="7696200" y="1409700"/>
                  </a:cubicBezTo>
                  <a:lnTo>
                    <a:pt x="76200" y="1409700"/>
                  </a:lnTo>
                  <a:cubicBezTo>
                    <a:pt x="34116" y="1409700"/>
                    <a:pt x="0" y="1375584"/>
                    <a:pt x="0" y="13335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2">
                <a:alpha val="88000"/>
              </a:schemeClr>
            </a:solidFill>
            <a:ln w="11430">
              <a:solidFill>
                <a:schemeClr val="accent4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000500" y="1438275"/>
              <a:ext cx="552450" cy="55245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139260" y="1612582"/>
              <a:ext cx="2749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chemeClr val="accent2"/>
                  </a:solidFill>
                  <a:latin typeface="Georgia"/>
                  <a:ea typeface="Georgia"/>
                  <a:cs typeface="Georgia"/>
                </a:rPr>
                <a:t>01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08220" y="1433512"/>
              <a:ext cx="19431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线索分发更准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472928" y="15468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自动分层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819650" y="1790700"/>
              <a:ext cx="5848350" cy="9525"/>
            </a:xfrm>
            <a:custGeom>
              <a:avLst/>
              <a:gdLst/>
              <a:ahLst/>
              <a:cxnLst/>
              <a:rect l="l" t="t" r="r" b="b"/>
              <a:pathLst>
                <a:path w="5848350" h="9525">
                  <a:moveTo>
                    <a:pt x="0" y="0"/>
                  </a:moveTo>
                  <a:lnTo>
                    <a:pt x="58483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4819650" y="1790700"/>
              <a:ext cx="1028700" cy="9525"/>
            </a:xfrm>
            <a:custGeom>
              <a:avLst/>
              <a:gdLst/>
              <a:ahLst/>
              <a:cxnLst/>
              <a:rect l="l" t="t" r="r" b="b"/>
              <a:pathLst>
                <a:path w="1028700" h="9525">
                  <a:moveTo>
                    <a:pt x="0" y="0"/>
                  </a:moveTo>
                  <a:lnTo>
                    <a:pt x="10287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11649" y="1963579"/>
              <a:ext cx="383247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基于客户意向与历史转化信号自动分层，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811649" y="2268379"/>
              <a:ext cx="298437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把高潜线索优先送达正确团队。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810000" y="2857500"/>
              <a:ext cx="7772400" cy="1409700"/>
            </a:xfrm>
            <a:prstGeom prst="rect">
              <a:avLst/>
            </a:prstGeom>
            <a:solidFill>
              <a:schemeClr val="accent1">
                <a:alpha val="3000"/>
              </a:schemeClr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3733800" y="2781300"/>
              <a:ext cx="7772400" cy="1409700"/>
            </a:xfrm>
            <a:custGeom>
              <a:avLst/>
              <a:gdLst/>
              <a:ahLst/>
              <a:cxnLst/>
              <a:rect l="l" t="t" r="r" b="b"/>
              <a:pathLst>
                <a:path w="7772400" h="1409700">
                  <a:moveTo>
                    <a:pt x="76200" y="0"/>
                  </a:moveTo>
                  <a:lnTo>
                    <a:pt x="7696200" y="0"/>
                  </a:lnTo>
                  <a:cubicBezTo>
                    <a:pt x="7738284" y="0"/>
                    <a:pt x="7772400" y="34116"/>
                    <a:pt x="7772400" y="76200"/>
                  </a:cubicBezTo>
                  <a:lnTo>
                    <a:pt x="7772400" y="1333500"/>
                  </a:lnTo>
                  <a:cubicBezTo>
                    <a:pt x="7772400" y="1375584"/>
                    <a:pt x="7738284" y="1409700"/>
                    <a:pt x="7696200" y="1409700"/>
                  </a:cubicBezTo>
                  <a:lnTo>
                    <a:pt x="76200" y="1409700"/>
                  </a:lnTo>
                  <a:cubicBezTo>
                    <a:pt x="34116" y="1409700"/>
                    <a:pt x="0" y="1375584"/>
                    <a:pt x="0" y="13335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2">
                <a:alpha val="88000"/>
              </a:schemeClr>
            </a:solidFill>
            <a:ln w="11430">
              <a:solidFill>
                <a:schemeClr val="accent4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4000500" y="3038475"/>
              <a:ext cx="552450" cy="55245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139260" y="3212782"/>
              <a:ext cx="2749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chemeClr val="accent2"/>
                  </a:solidFill>
                  <a:latin typeface="Georgia"/>
                  <a:ea typeface="Georgia"/>
                  <a:cs typeface="Georgia"/>
                </a:rPr>
                <a:t>02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808220" y="3033712"/>
              <a:ext cx="19431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活动响应更快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472928" y="31470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自动调节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4819650" y="3390900"/>
              <a:ext cx="5848350" cy="9525"/>
            </a:xfrm>
            <a:custGeom>
              <a:avLst/>
              <a:gdLst/>
              <a:ahLst/>
              <a:cxnLst/>
              <a:rect l="l" t="t" r="r" b="b"/>
              <a:pathLst>
                <a:path w="5848350" h="9525">
                  <a:moveTo>
                    <a:pt x="0" y="0"/>
                  </a:moveTo>
                  <a:lnTo>
                    <a:pt x="58483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4819650" y="3390900"/>
              <a:ext cx="1028700" cy="9525"/>
            </a:xfrm>
            <a:custGeom>
              <a:avLst/>
              <a:gdLst/>
              <a:ahLst/>
              <a:cxnLst/>
              <a:rect l="l" t="t" r="r" b="b"/>
              <a:pathLst>
                <a:path w="1028700" h="9525">
                  <a:moveTo>
                    <a:pt x="0" y="0"/>
                  </a:moveTo>
                  <a:lnTo>
                    <a:pt x="10287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811649" y="3563779"/>
              <a:ext cx="468058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监测渠道与素材表现后自动调整预算与内容节奏，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811649" y="3868579"/>
              <a:ext cx="19242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减少人工盯盘延迟。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810000" y="4457700"/>
              <a:ext cx="7772400" cy="1409700"/>
            </a:xfrm>
            <a:prstGeom prst="rect">
              <a:avLst/>
            </a:prstGeom>
            <a:solidFill>
              <a:schemeClr val="accent1">
                <a:alpha val="3000"/>
              </a:schemeClr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3733800" y="4381500"/>
              <a:ext cx="7772400" cy="1409700"/>
            </a:xfrm>
            <a:custGeom>
              <a:avLst/>
              <a:gdLst/>
              <a:ahLst/>
              <a:cxnLst/>
              <a:rect l="l" t="t" r="r" b="b"/>
              <a:pathLst>
                <a:path w="7772400" h="1409700">
                  <a:moveTo>
                    <a:pt x="76200" y="0"/>
                  </a:moveTo>
                  <a:lnTo>
                    <a:pt x="7696200" y="0"/>
                  </a:lnTo>
                  <a:cubicBezTo>
                    <a:pt x="7738284" y="0"/>
                    <a:pt x="7772400" y="34116"/>
                    <a:pt x="7772400" y="76200"/>
                  </a:cubicBezTo>
                  <a:lnTo>
                    <a:pt x="7772400" y="1333500"/>
                  </a:lnTo>
                  <a:cubicBezTo>
                    <a:pt x="7772400" y="1375584"/>
                    <a:pt x="7738284" y="1409700"/>
                    <a:pt x="7696200" y="1409700"/>
                  </a:cubicBezTo>
                  <a:lnTo>
                    <a:pt x="76200" y="1409700"/>
                  </a:lnTo>
                  <a:cubicBezTo>
                    <a:pt x="34116" y="1409700"/>
                    <a:pt x="0" y="1375584"/>
                    <a:pt x="0" y="13335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2">
                <a:alpha val="88000"/>
              </a:schemeClr>
            </a:solidFill>
            <a:ln w="11430">
              <a:solidFill>
                <a:schemeClr val="accent4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4000500" y="4638675"/>
              <a:ext cx="552450" cy="55245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139260" y="4812982"/>
              <a:ext cx="2749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chemeClr val="accent2"/>
                  </a:solidFill>
                  <a:latin typeface="Georgia"/>
                  <a:ea typeface="Georgia"/>
                  <a:cs typeface="Georgia"/>
                </a:rPr>
                <a:t>03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808220" y="4633912"/>
              <a:ext cx="19431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复盘口径统一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472928" y="47472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统一归因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4819650" y="4991100"/>
              <a:ext cx="5848350" cy="9525"/>
            </a:xfrm>
            <a:custGeom>
              <a:avLst/>
              <a:gdLst/>
              <a:ahLst/>
              <a:cxnLst/>
              <a:rect l="l" t="t" r="r" b="b"/>
              <a:pathLst>
                <a:path w="5848350" h="9525">
                  <a:moveTo>
                    <a:pt x="0" y="0"/>
                  </a:moveTo>
                  <a:lnTo>
                    <a:pt x="58483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4819650" y="4991100"/>
              <a:ext cx="1028700" cy="9525"/>
            </a:xfrm>
            <a:custGeom>
              <a:avLst/>
              <a:gdLst/>
              <a:ahLst/>
              <a:cxnLst/>
              <a:rect l="l" t="t" r="r" b="b"/>
              <a:pathLst>
                <a:path w="1028700" h="9525">
                  <a:moveTo>
                    <a:pt x="0" y="0"/>
                  </a:moveTo>
                  <a:lnTo>
                    <a:pt x="10287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811649" y="5163979"/>
              <a:ext cx="277234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从曝光到成交统一归因视图，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811649" y="5468779"/>
              <a:ext cx="404450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管理层可直接看到哪些动作真正带来收入。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71500" y="1104900"/>
            <a:ext cx="11035284" cy="5264087"/>
            <a:chOff x="571500" y="1104900"/>
            <a:chExt cx="11035284" cy="5264087"/>
          </a:xfrm>
        </p:grpSpPr>
        <p:sp>
          <p:nvSpPr>
            <p:cNvPr id="51" name="Line 51"/>
            <p:cNvSpPr/>
            <p:nvPr/>
          </p:nvSpPr>
          <p:spPr>
            <a:xfrm>
              <a:off x="3390900" y="1104900"/>
              <a:ext cx="9525" cy="4705350"/>
            </a:xfrm>
            <a:custGeom>
              <a:avLst/>
              <a:gdLst/>
              <a:ahLst/>
              <a:cxnLst/>
              <a:rect l="l" t="t" r="r" b="b"/>
              <a:pathLst>
                <a:path w="9525" h="4705350">
                  <a:moveTo>
                    <a:pt x="0" y="0"/>
                  </a:moveTo>
                  <a:lnTo>
                    <a:pt x="0" y="47053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3352800" y="18478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3352800" y="34480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3352800" y="50482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2703576" y="1774508"/>
              <a:ext cx="4861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分发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703576" y="3374708"/>
              <a:ext cx="4861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响应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703576" y="4974908"/>
              <a:ext cx="4861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归因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571500" y="6229350"/>
              <a:ext cx="10153650" cy="9525"/>
            </a:xfrm>
            <a:custGeom>
              <a:avLst/>
              <a:gdLst/>
              <a:ahLst/>
              <a:cxnLst/>
              <a:rect l="l" t="t" r="r" b="b"/>
              <a:pathLst>
                <a:path w="10153650" h="9525">
                  <a:moveTo>
                    <a:pt x="0" y="0"/>
                  </a:moveTo>
                  <a:lnTo>
                    <a:pt x="101536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1095787" y="6163628"/>
              <a:ext cx="5109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Georgia"/>
                  <a:ea typeface="Georgia"/>
                  <a:cs typeface="Georgia"/>
                </a:rPr>
                <a:t>05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0"/>
              <a:ext cx="12192000" cy="1619250"/>
            </a:xfrm>
            <a:custGeom>
              <a:avLst/>
              <a:gdLst/>
              <a:ahLst/>
              <a:cxnLst/>
              <a:rect l="l" t="t" r="r" b="b"/>
              <a:pathLst>
                <a:path w="12192000" h="1619250">
                  <a:moveTo>
                    <a:pt x="0" y="1314450"/>
                  </a:moveTo>
                  <a:cubicBezTo>
                    <a:pt x="1524000" y="1123950"/>
                    <a:pt x="2381250" y="1466850"/>
                    <a:pt x="3524250" y="1390650"/>
                  </a:cubicBezTo>
                  <a:cubicBezTo>
                    <a:pt x="4953000" y="1295400"/>
                    <a:pt x="5810250" y="914400"/>
                    <a:pt x="7239000" y="1028700"/>
                  </a:cubicBezTo>
                  <a:cubicBezTo>
                    <a:pt x="8667750" y="1143000"/>
                    <a:pt x="9906000" y="1619250"/>
                    <a:pt x="12192000" y="1314450"/>
                  </a:cubicBezTo>
                  <a:lnTo>
                    <a:pt x="12192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55000"/>
              </a:schemeClr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66750" y="5086350"/>
              <a:ext cx="10648950" cy="762000"/>
            </a:xfrm>
            <a:custGeom>
              <a:avLst/>
              <a:gdLst/>
              <a:ahLst/>
              <a:cxnLst/>
              <a:rect l="l" t="t" r="r" b="b"/>
              <a:pathLst>
                <a:path w="10648950" h="762000">
                  <a:moveTo>
                    <a:pt x="0" y="514350"/>
                  </a:moveTo>
                  <a:cubicBezTo>
                    <a:pt x="1047750" y="228600"/>
                    <a:pt x="2057400" y="685800"/>
                    <a:pt x="3181350" y="533400"/>
                  </a:cubicBezTo>
                  <a:cubicBezTo>
                    <a:pt x="4305300" y="381000"/>
                    <a:pt x="5314950" y="0"/>
                    <a:pt x="6572250" y="114300"/>
                  </a:cubicBezTo>
                  <a:cubicBezTo>
                    <a:pt x="8001000" y="247650"/>
                    <a:pt x="9258300" y="762000"/>
                    <a:pt x="10648950" y="571500"/>
                  </a:cubicBezTo>
                </a:path>
              </a:pathLst>
            </a:custGeom>
            <a:noFill/>
            <a:ln w="11430">
              <a:solidFill>
                <a:schemeClr val="accent4">
                  <a:alpha val="45000"/>
                </a:schemeClr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933450" y="5391150"/>
              <a:ext cx="10706100" cy="628650"/>
            </a:xfrm>
            <a:custGeom>
              <a:avLst/>
              <a:gdLst/>
              <a:ahLst/>
              <a:cxnLst/>
              <a:rect l="l" t="t" r="r" b="b"/>
              <a:pathLst>
                <a:path w="10706100" h="628650">
                  <a:moveTo>
                    <a:pt x="0" y="438150"/>
                  </a:moveTo>
                  <a:cubicBezTo>
                    <a:pt x="1276350" y="209550"/>
                    <a:pt x="2343150" y="590550"/>
                    <a:pt x="3562350" y="495300"/>
                  </a:cubicBezTo>
                  <a:cubicBezTo>
                    <a:pt x="4972050" y="381000"/>
                    <a:pt x="6057900" y="0"/>
                    <a:pt x="7372350" y="114300"/>
                  </a:cubicBezTo>
                  <a:cubicBezTo>
                    <a:pt x="8724900" y="228600"/>
                    <a:pt x="9715500" y="628650"/>
                    <a:pt x="10706100" y="514350"/>
                  </a:cubicBezTo>
                </a:path>
              </a:pathLst>
            </a:custGeom>
            <a:noFill/>
            <a:ln w="9525">
              <a:solidFill>
                <a:schemeClr val="accent4">
                  <a:alpha val="32000"/>
                </a:scheme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0153650" y="704850"/>
              <a:ext cx="838200" cy="838200"/>
            </a:xfrm>
            <a:prstGeom prst="ellipse">
              <a:avLst/>
            </a:prstGeom>
            <a:noFill/>
            <a:ln w="11430">
              <a:solidFill>
                <a:schemeClr val="accent4">
                  <a:alpha val="50000"/>
                </a:schemeClr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0267950" y="819150"/>
              <a:ext cx="609600" cy="609600"/>
            </a:xfrm>
            <a:prstGeom prst="ellipse">
              <a:avLst/>
            </a:prstGeom>
            <a:noFill/>
            <a:ln w="7620">
              <a:solidFill>
                <a:schemeClr val="accent4">
                  <a:alpha val="35000"/>
                </a:schemeClr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63880" y="514350"/>
            <a:ext cx="11056620" cy="6092761"/>
            <a:chOff x="563880" y="514350"/>
            <a:chExt cx="11056620" cy="6092761"/>
          </a:xfrm>
        </p:grpSpPr>
        <p:sp>
          <p:nvSpPr>
            <p:cNvPr id="9" name="TextBox 9"/>
            <p:cNvSpPr txBox="1"/>
            <p:nvPr/>
          </p:nvSpPr>
          <p:spPr>
            <a:xfrm>
              <a:off x="563880" y="581025"/>
              <a:ext cx="868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数字记录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71500" y="8763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1430">
              <a:solidFill>
                <a:schemeClr val="accent4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0744200" y="514350"/>
              <a:ext cx="876300" cy="323850"/>
            </a:xfrm>
            <a:custGeom>
              <a:avLst/>
              <a:gdLst/>
              <a:ahLst/>
              <a:cxnLst/>
              <a:rect l="l" t="t" r="r" b="b"/>
              <a:pathLst>
                <a:path w="876300" h="323850">
                  <a:moveTo>
                    <a:pt x="38100" y="0"/>
                  </a:moveTo>
                  <a:lnTo>
                    <a:pt x="838200" y="0"/>
                  </a:lnTo>
                  <a:cubicBezTo>
                    <a:pt x="859242" y="0"/>
                    <a:pt x="876300" y="17058"/>
                    <a:pt x="876300" y="38100"/>
                  </a:cubicBezTo>
                  <a:lnTo>
                    <a:pt x="876300" y="285750"/>
                  </a:lnTo>
                  <a:cubicBezTo>
                    <a:pt x="876300" y="306792"/>
                    <a:pt x="859242" y="323850"/>
                    <a:pt x="838200" y="323850"/>
                  </a:cubicBezTo>
                  <a:lnTo>
                    <a:pt x="38100" y="323850"/>
                  </a:lnTo>
                  <a:cubicBezTo>
                    <a:pt x="17058" y="323850"/>
                    <a:pt x="0" y="306792"/>
                    <a:pt x="0" y="2857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noFill/>
            <a:ln w="10478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873054" y="587692"/>
              <a:ext cx="6185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第 6 页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5216" y="6401752"/>
              <a:ext cx="12726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68817" y="6401752"/>
              <a:ext cx="29379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数据整合 · AI 分析 · 自动化执行 · 效果度量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55498" y="1126808"/>
            <a:ext cx="11065002" cy="4854892"/>
            <a:chOff x="555498" y="1126808"/>
            <a:chExt cx="11065002" cy="4854892"/>
          </a:xfrm>
        </p:grpSpPr>
        <p:sp>
          <p:nvSpPr>
            <p:cNvPr id="16" name="TextBox 16"/>
            <p:cNvSpPr txBox="1"/>
            <p:nvPr/>
          </p:nvSpPr>
          <p:spPr>
            <a:xfrm>
              <a:off x="555498" y="1126808"/>
              <a:ext cx="18242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价值指标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2737" y="1699736"/>
              <a:ext cx="605523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该工作台首先改善的是决策速度、转化效率和预算可控性，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2737" y="2023586"/>
              <a:ext cx="280416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而不是单纯增加工具数量。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571500" y="2343150"/>
              <a:ext cx="1619250" cy="361950"/>
            </a:xfrm>
            <a:custGeom>
              <a:avLst/>
              <a:gdLst/>
              <a:ahLst/>
              <a:cxnLst/>
              <a:rect l="l" t="t" r="r" b="b"/>
              <a:pathLst>
                <a:path w="1619250" h="361950">
                  <a:moveTo>
                    <a:pt x="180975" y="0"/>
                  </a:moveTo>
                  <a:lnTo>
                    <a:pt x="1438275" y="0"/>
                  </a:lnTo>
                  <a:cubicBezTo>
                    <a:pt x="1538225" y="0"/>
                    <a:pt x="1619250" y="81025"/>
                    <a:pt x="1619250" y="180975"/>
                  </a:cubicBezTo>
                  <a:lnTo>
                    <a:pt x="1619250" y="180975"/>
                  </a:lnTo>
                  <a:cubicBezTo>
                    <a:pt x="1619250" y="280925"/>
                    <a:pt x="1538225" y="361950"/>
                    <a:pt x="1438275" y="361950"/>
                  </a:cubicBezTo>
                  <a:lnTo>
                    <a:pt x="180975" y="361950"/>
                  </a:lnTo>
                  <a:cubicBezTo>
                    <a:pt x="81025" y="361950"/>
                    <a:pt x="0" y="280925"/>
                    <a:pt x="0" y="180975"/>
                  </a:cubicBezTo>
                  <a:lnTo>
                    <a:pt x="0" y="180975"/>
                  </a:lnTo>
                  <a:cubicBezTo>
                    <a:pt x="0" y="81025"/>
                    <a:pt x="81025" y="0"/>
                    <a:pt x="1809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742950" y="248602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26592" y="24355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分析准备提速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2343150" y="2343150"/>
              <a:ext cx="1619250" cy="361950"/>
            </a:xfrm>
            <a:custGeom>
              <a:avLst/>
              <a:gdLst/>
              <a:ahLst/>
              <a:cxnLst/>
              <a:rect l="l" t="t" r="r" b="b"/>
              <a:pathLst>
                <a:path w="1619250" h="361950">
                  <a:moveTo>
                    <a:pt x="180975" y="0"/>
                  </a:moveTo>
                  <a:lnTo>
                    <a:pt x="1438275" y="0"/>
                  </a:lnTo>
                  <a:cubicBezTo>
                    <a:pt x="1538225" y="0"/>
                    <a:pt x="1619250" y="81025"/>
                    <a:pt x="1619250" y="180975"/>
                  </a:cubicBezTo>
                  <a:lnTo>
                    <a:pt x="1619250" y="180975"/>
                  </a:lnTo>
                  <a:cubicBezTo>
                    <a:pt x="1619250" y="280925"/>
                    <a:pt x="1538225" y="361950"/>
                    <a:pt x="1438275" y="361950"/>
                  </a:cubicBezTo>
                  <a:lnTo>
                    <a:pt x="180975" y="361950"/>
                  </a:lnTo>
                  <a:cubicBezTo>
                    <a:pt x="81025" y="361950"/>
                    <a:pt x="0" y="280925"/>
                    <a:pt x="0" y="180975"/>
                  </a:cubicBezTo>
                  <a:lnTo>
                    <a:pt x="0" y="180975"/>
                  </a:lnTo>
                  <a:cubicBezTo>
                    <a:pt x="0" y="81025"/>
                    <a:pt x="81025" y="0"/>
                    <a:pt x="1809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2514600" y="248602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698242" y="24355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线索转化提升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4114800" y="2343150"/>
              <a:ext cx="1771650" cy="361950"/>
            </a:xfrm>
            <a:custGeom>
              <a:avLst/>
              <a:gdLst/>
              <a:ahLst/>
              <a:cxnLst/>
              <a:rect l="l" t="t" r="r" b="b"/>
              <a:pathLst>
                <a:path w="1771650" h="361950">
                  <a:moveTo>
                    <a:pt x="180975" y="0"/>
                  </a:moveTo>
                  <a:lnTo>
                    <a:pt x="1590675" y="0"/>
                  </a:lnTo>
                  <a:cubicBezTo>
                    <a:pt x="1690625" y="0"/>
                    <a:pt x="1771650" y="81025"/>
                    <a:pt x="1771650" y="180975"/>
                  </a:cubicBezTo>
                  <a:lnTo>
                    <a:pt x="1771650" y="180975"/>
                  </a:lnTo>
                  <a:cubicBezTo>
                    <a:pt x="1771650" y="280925"/>
                    <a:pt x="1690625" y="361950"/>
                    <a:pt x="1590675" y="361950"/>
                  </a:cubicBezTo>
                  <a:lnTo>
                    <a:pt x="180975" y="361950"/>
                  </a:lnTo>
                  <a:cubicBezTo>
                    <a:pt x="81025" y="361950"/>
                    <a:pt x="0" y="280925"/>
                    <a:pt x="0" y="180975"/>
                  </a:cubicBezTo>
                  <a:lnTo>
                    <a:pt x="0" y="180975"/>
                  </a:lnTo>
                  <a:cubicBezTo>
                    <a:pt x="0" y="81025"/>
                    <a:pt x="81025" y="0"/>
                    <a:pt x="1809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4286250" y="248602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469892" y="24355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投放数据可归因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038850" y="2343150"/>
              <a:ext cx="1162050" cy="361950"/>
            </a:xfrm>
            <a:custGeom>
              <a:avLst/>
              <a:gdLst/>
              <a:ahLst/>
              <a:cxnLst/>
              <a:rect l="l" t="t" r="r" b="b"/>
              <a:pathLst>
                <a:path w="1162050" h="361950">
                  <a:moveTo>
                    <a:pt x="180975" y="0"/>
                  </a:moveTo>
                  <a:lnTo>
                    <a:pt x="981075" y="0"/>
                  </a:lnTo>
                  <a:cubicBezTo>
                    <a:pt x="1081025" y="0"/>
                    <a:pt x="1162050" y="81025"/>
                    <a:pt x="1162050" y="180975"/>
                  </a:cubicBezTo>
                  <a:lnTo>
                    <a:pt x="1162050" y="180975"/>
                  </a:lnTo>
                  <a:cubicBezTo>
                    <a:pt x="1162050" y="280925"/>
                    <a:pt x="1081025" y="361950"/>
                    <a:pt x="981075" y="361950"/>
                  </a:cubicBezTo>
                  <a:lnTo>
                    <a:pt x="180975" y="361950"/>
                  </a:lnTo>
                  <a:cubicBezTo>
                    <a:pt x="81025" y="361950"/>
                    <a:pt x="0" y="280925"/>
                    <a:pt x="0" y="180975"/>
                  </a:cubicBezTo>
                  <a:lnTo>
                    <a:pt x="0" y="180975"/>
                  </a:lnTo>
                  <a:cubicBezTo>
                    <a:pt x="0" y="81025"/>
                    <a:pt x="81025" y="0"/>
                    <a:pt x="1809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6210300" y="248602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93942" y="24355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关键数字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571500" y="3028950"/>
              <a:ext cx="6724650" cy="2952750"/>
            </a:xfrm>
            <a:custGeom>
              <a:avLst/>
              <a:gdLst/>
              <a:ahLst/>
              <a:cxnLst/>
              <a:rect l="l" t="t" r="r" b="b"/>
              <a:pathLst>
                <a:path w="6724650" h="2952750">
                  <a:moveTo>
                    <a:pt x="76200" y="0"/>
                  </a:moveTo>
                  <a:lnTo>
                    <a:pt x="6648450" y="0"/>
                  </a:lnTo>
                  <a:cubicBezTo>
                    <a:pt x="6690534" y="0"/>
                    <a:pt x="6724650" y="34116"/>
                    <a:pt x="6724650" y="76200"/>
                  </a:cubicBezTo>
                  <a:lnTo>
                    <a:pt x="6724650" y="2876550"/>
                  </a:lnTo>
                  <a:cubicBezTo>
                    <a:pt x="6724650" y="2918634"/>
                    <a:pt x="6690534" y="2952750"/>
                    <a:pt x="6648450" y="2952750"/>
                  </a:cubicBezTo>
                  <a:lnTo>
                    <a:pt x="76200" y="2952750"/>
                  </a:lnTo>
                  <a:cubicBezTo>
                    <a:pt x="34116" y="2952750"/>
                    <a:pt x="0" y="2918634"/>
                    <a:pt x="0" y="2876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2">
                <a:alpha val="60000"/>
              </a:schemeClr>
            </a:solidFill>
            <a:ln w="11430">
              <a:solidFill>
                <a:schemeClr val="accent4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2819400" y="3257550"/>
              <a:ext cx="9525" cy="2495550"/>
            </a:xfrm>
            <a:custGeom>
              <a:avLst/>
              <a:gdLst/>
              <a:ahLst/>
              <a:cxnLst/>
              <a:rect l="l" t="t" r="r" b="b"/>
              <a:pathLst>
                <a:path w="9525" h="2495550">
                  <a:moveTo>
                    <a:pt x="0" y="0"/>
                  </a:moveTo>
                  <a:lnTo>
                    <a:pt x="0" y="24955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5057775" y="3257550"/>
              <a:ext cx="9525" cy="2495550"/>
            </a:xfrm>
            <a:custGeom>
              <a:avLst/>
              <a:gdLst/>
              <a:ahLst/>
              <a:cxnLst/>
              <a:rect l="l" t="t" r="r" b="b"/>
              <a:pathLst>
                <a:path w="9525" h="2495550">
                  <a:moveTo>
                    <a:pt x="0" y="0"/>
                  </a:moveTo>
                  <a:lnTo>
                    <a:pt x="0" y="24955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57250" y="3261360"/>
              <a:ext cx="147187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50%+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65632" y="3869055"/>
              <a:ext cx="18135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分析准备提速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9061" y="4341971"/>
              <a:ext cx="19328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减少人工汇总与跨系统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9061" y="4608671"/>
              <a:ext cx="19328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对账时间，让周报变成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69061" y="4875371"/>
              <a:ext cx="11654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日常经营视图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105150" y="3261360"/>
              <a:ext cx="257708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20%-35%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113532" y="3869055"/>
              <a:ext cx="18135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线索转化提升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116961" y="4341971"/>
              <a:ext cx="21246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通过客群分层、触达编排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116961" y="4608671"/>
              <a:ext cx="17409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与优先级机制，抬高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116961" y="4875371"/>
              <a:ext cx="7818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有效转化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343525" y="3261360"/>
              <a:ext cx="114330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90%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351907" y="3869055"/>
              <a:ext cx="21122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投放数据可归因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355336" y="4341971"/>
              <a:ext cx="19328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活动、渠道与线索结果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355336" y="4608671"/>
              <a:ext cx="21246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进入统一口径，预算调整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355336" y="4875371"/>
              <a:ext cx="7818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更有依据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7696200" y="1733550"/>
              <a:ext cx="3924300" cy="4248150"/>
            </a:xfrm>
            <a:custGeom>
              <a:avLst/>
              <a:gdLst/>
              <a:ahLst/>
              <a:cxnLst/>
              <a:rect l="l" t="t" r="r" b="b"/>
              <a:pathLst>
                <a:path w="3924300" h="4248150">
                  <a:moveTo>
                    <a:pt x="76200" y="0"/>
                  </a:moveTo>
                  <a:lnTo>
                    <a:pt x="3848100" y="0"/>
                  </a:lnTo>
                  <a:cubicBezTo>
                    <a:pt x="3890184" y="0"/>
                    <a:pt x="3924300" y="34116"/>
                    <a:pt x="3924300" y="76200"/>
                  </a:cubicBezTo>
                  <a:lnTo>
                    <a:pt x="3924300" y="4171950"/>
                  </a:lnTo>
                  <a:cubicBezTo>
                    <a:pt x="3924300" y="4214034"/>
                    <a:pt x="3890184" y="4248150"/>
                    <a:pt x="3848100" y="4248150"/>
                  </a:cubicBezTo>
                  <a:lnTo>
                    <a:pt x="76200" y="4248150"/>
                  </a:lnTo>
                  <a:cubicBezTo>
                    <a:pt x="34116" y="4248150"/>
                    <a:pt x="0" y="4214034"/>
                    <a:pt x="0" y="41719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065770" y="2024062"/>
              <a:ext cx="322326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从动作量转向经营信号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8077200" y="2438400"/>
              <a:ext cx="3162300" cy="9525"/>
            </a:xfrm>
            <a:custGeom>
              <a:avLst/>
              <a:gdLst/>
              <a:ahLst/>
              <a:cxnLst/>
              <a:rect l="l" t="t" r="r" b="b"/>
              <a:pathLst>
                <a:path w="3162300" h="9525">
                  <a:moveTo>
                    <a:pt x="0" y="0"/>
                  </a:moveTo>
                  <a:lnTo>
                    <a:pt x="3162300" y="0"/>
                  </a:lnTo>
                </a:path>
              </a:pathLst>
            </a:custGeom>
            <a:noFill/>
            <a:ln w="9525">
              <a:solidFill>
                <a:schemeClr val="accent4">
                  <a:alpha val="45000"/>
                </a:schemeClr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068056" y="2815590"/>
              <a:ext cx="2999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563356" y="28155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5F1E8"/>
                  </a:solidFill>
                  <a:latin typeface="+mn-lt"/>
                  <a:ea typeface="+mn-ea"/>
                  <a:cs typeface="+mn-cs"/>
                </a:rPr>
                <a:t>决策更快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565642" y="31880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FC8BA"/>
                  </a:solidFill>
                  <a:latin typeface="+mn-lt"/>
                  <a:ea typeface="+mn-ea"/>
                  <a:cs typeface="+mn-cs"/>
                </a:rPr>
                <a:t>统一数据底座后，团队不再反复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565642" y="34356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FC8BA"/>
                  </a:solidFill>
                  <a:latin typeface="+mn-lt"/>
                  <a:ea typeface="+mn-ea"/>
                  <a:cs typeface="+mn-cs"/>
                </a:rPr>
                <a:t>比对口径，异常能当天发现。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068056" y="3844290"/>
              <a:ext cx="2999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563356" y="38442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5F1E8"/>
                  </a:solidFill>
                  <a:latin typeface="+mn-lt"/>
                  <a:ea typeface="+mn-ea"/>
                  <a:cs typeface="+mn-cs"/>
                </a:rPr>
                <a:t>转化更稳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565642" y="42167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FC8BA"/>
                  </a:solidFill>
                  <a:latin typeface="+mn-lt"/>
                  <a:ea typeface="+mn-ea"/>
                  <a:cs typeface="+mn-cs"/>
                </a:rPr>
                <a:t>线索分层、触达编排与销售承接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565642" y="44643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FC8BA"/>
                  </a:solidFill>
                  <a:latin typeface="+mn-lt"/>
                  <a:ea typeface="+mn-ea"/>
                  <a:cs typeface="+mn-cs"/>
                </a:rPr>
                <a:t>进入同一节奏，减少流失。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068056" y="4872990"/>
              <a:ext cx="2999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563356" y="48729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5F1E8"/>
                  </a:solidFill>
                  <a:latin typeface="+mn-lt"/>
                  <a:ea typeface="+mn-ea"/>
                  <a:cs typeface="+mn-cs"/>
                </a:rPr>
                <a:t>预算更可控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565642" y="52454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FC8BA"/>
                  </a:solidFill>
                  <a:latin typeface="+mn-lt"/>
                  <a:ea typeface="+mn-ea"/>
                  <a:cs typeface="+mn-cs"/>
                </a:rPr>
                <a:t>渠道、活动、结果形成闭环归因，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565642" y="54930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FC8BA"/>
                  </a:solidFill>
                  <a:latin typeface="+mn-lt"/>
                  <a:ea typeface="+mn-ea"/>
                  <a:cs typeface="+mn-cs"/>
                </a:rPr>
                <a:t>投放调整有证据可依。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391400" y="3200400"/>
            <a:ext cx="4501134" cy="3191256"/>
            <a:chOff x="7391400" y="3200400"/>
            <a:chExt cx="4501134" cy="3191256"/>
          </a:xfrm>
        </p:grpSpPr>
        <p:sp>
          <p:nvSpPr>
            <p:cNvPr id="65" name="Freeform 65"/>
            <p:cNvSpPr/>
            <p:nvPr/>
          </p:nvSpPr>
          <p:spPr>
            <a:xfrm>
              <a:off x="7391400" y="3200400"/>
              <a:ext cx="228600" cy="762000"/>
            </a:xfrm>
            <a:custGeom>
              <a:avLst/>
              <a:gdLst/>
              <a:ahLst/>
              <a:cxnLst/>
              <a:rect l="l" t="t" r="r" b="b"/>
              <a:pathLst>
                <a:path w="228600" h="762000">
                  <a:moveTo>
                    <a:pt x="0" y="0"/>
                  </a:moveTo>
                  <a:cubicBezTo>
                    <a:pt x="152400" y="76200"/>
                    <a:pt x="228600" y="209550"/>
                    <a:pt x="228600" y="381000"/>
                  </a:cubicBezTo>
                  <a:cubicBezTo>
                    <a:pt x="228600" y="552450"/>
                    <a:pt x="152400" y="685800"/>
                    <a:pt x="0" y="76200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7391400" y="4229100"/>
              <a:ext cx="228600" cy="762000"/>
            </a:xfrm>
            <a:custGeom>
              <a:avLst/>
              <a:gdLst/>
              <a:ahLst/>
              <a:cxnLst/>
              <a:rect l="l" t="t" r="r" b="b"/>
              <a:pathLst>
                <a:path w="228600" h="762000">
                  <a:moveTo>
                    <a:pt x="0" y="0"/>
                  </a:moveTo>
                  <a:cubicBezTo>
                    <a:pt x="152400" y="76200"/>
                    <a:pt x="228600" y="209550"/>
                    <a:pt x="228600" y="381000"/>
                  </a:cubicBezTo>
                  <a:cubicBezTo>
                    <a:pt x="228600" y="552450"/>
                    <a:pt x="152400" y="685800"/>
                    <a:pt x="0" y="76200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7391400" y="5257800"/>
              <a:ext cx="228600" cy="762000"/>
            </a:xfrm>
            <a:custGeom>
              <a:avLst/>
              <a:gdLst/>
              <a:ahLst/>
              <a:cxnLst/>
              <a:rect l="l" t="t" r="r" b="b"/>
              <a:pathLst>
                <a:path w="228600" h="762000">
                  <a:moveTo>
                    <a:pt x="0" y="0"/>
                  </a:moveTo>
                  <a:cubicBezTo>
                    <a:pt x="152400" y="76200"/>
                    <a:pt x="228600" y="209550"/>
                    <a:pt x="228600" y="381000"/>
                  </a:cubicBezTo>
                  <a:cubicBezTo>
                    <a:pt x="228600" y="552450"/>
                    <a:pt x="152400" y="685800"/>
                    <a:pt x="0" y="76200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518654" y="6156960"/>
              <a:ext cx="4373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关键数字不是展示规模，而是帮助管理层更快判断投入去向。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781050" y="819150"/>
              <a:ext cx="2762250" cy="400050"/>
            </a:xfrm>
            <a:custGeom>
              <a:avLst/>
              <a:gdLst/>
              <a:ahLst/>
              <a:cxnLst/>
              <a:rect l="l" t="t" r="r" b="b"/>
              <a:pathLst>
                <a:path w="2762250" h="400050">
                  <a:moveTo>
                    <a:pt x="0" y="304800"/>
                  </a:moveTo>
                  <a:cubicBezTo>
                    <a:pt x="914400" y="0"/>
                    <a:pt x="1847850" y="38100"/>
                    <a:pt x="2762250" y="400050"/>
                  </a:cubicBezTo>
                </a:path>
              </a:pathLst>
            </a:custGeom>
            <a:noFill/>
            <a:ln w="11430">
              <a:solidFill>
                <a:schemeClr val="accent4">
                  <a:alpha val="55000"/>
                </a:schemeClr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8915400" y="742950"/>
              <a:ext cx="2552700" cy="647700"/>
            </a:xfrm>
            <a:custGeom>
              <a:avLst/>
              <a:gdLst/>
              <a:ahLst/>
              <a:cxnLst/>
              <a:rect l="l" t="t" r="r" b="b"/>
              <a:pathLst>
                <a:path w="2552700" h="647700">
                  <a:moveTo>
                    <a:pt x="0" y="152400"/>
                  </a:moveTo>
                  <a:cubicBezTo>
                    <a:pt x="971550" y="0"/>
                    <a:pt x="1866900" y="209550"/>
                    <a:pt x="2552700" y="647700"/>
                  </a:cubicBezTo>
                </a:path>
              </a:pathLst>
            </a:custGeom>
            <a:noFill/>
            <a:ln w="11430">
              <a:solidFill>
                <a:schemeClr val="accent4">
                  <a:alpha val="45000"/>
                </a:schemeClr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9124950" y="5219700"/>
              <a:ext cx="2476500" cy="552450"/>
            </a:xfrm>
            <a:custGeom>
              <a:avLst/>
              <a:gdLst/>
              <a:ahLst/>
              <a:cxnLst/>
              <a:rect l="l" t="t" r="r" b="b"/>
              <a:pathLst>
                <a:path w="2476500" h="552450">
                  <a:moveTo>
                    <a:pt x="0" y="400050"/>
                  </a:moveTo>
                  <a:cubicBezTo>
                    <a:pt x="781050" y="0"/>
                    <a:pt x="1809750" y="76200"/>
                    <a:pt x="2476500" y="552450"/>
                  </a:cubicBezTo>
                </a:path>
              </a:pathLst>
            </a:custGeom>
            <a:noFill/>
            <a:ln w="11430">
              <a:solidFill>
                <a:schemeClr val="accent4">
                  <a:alpha val="35000"/>
                </a:scheme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0401300" y="723900"/>
              <a:ext cx="800100" cy="800100"/>
            </a:xfrm>
            <a:prstGeom prst="ellipse">
              <a:avLst/>
            </a:prstGeom>
            <a:solidFill>
              <a:schemeClr val="lt2">
                <a:alpha val="55000"/>
              </a:schemeClr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64642" y="349568"/>
            <a:ext cx="11061192" cy="6067043"/>
            <a:chOff x="564642" y="349568"/>
            <a:chExt cx="11061192" cy="6067043"/>
          </a:xfrm>
        </p:grpSpPr>
        <p:sp>
          <p:nvSpPr>
            <p:cNvPr id="8" name="Line 8"/>
            <p:cNvSpPr/>
            <p:nvPr/>
          </p:nvSpPr>
          <p:spPr>
            <a:xfrm>
              <a:off x="571500" y="74295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571500" y="61150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64642" y="349568"/>
              <a:ext cx="781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图示展开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59680" y="62112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55498" y="860108"/>
            <a:ext cx="10893552" cy="5417248"/>
            <a:chOff x="555498" y="860108"/>
            <a:chExt cx="10893552" cy="5417248"/>
          </a:xfrm>
        </p:grpSpPr>
        <p:sp>
          <p:nvSpPr>
            <p:cNvPr id="13" name="TextBox 13"/>
            <p:cNvSpPr txBox="1"/>
            <p:nvPr/>
          </p:nvSpPr>
          <p:spPr>
            <a:xfrm>
              <a:off x="555498" y="860108"/>
              <a:ext cx="18242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经营回路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3118" y="1422082"/>
              <a:ext cx="69025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平台以数据回流驱动持续优化，每一轮执行都会反向训练下一轮判断。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742950" y="2247900"/>
              <a:ext cx="10706100" cy="3143250"/>
            </a:xfrm>
            <a:custGeom>
              <a:avLst/>
              <a:gdLst/>
              <a:ahLst/>
              <a:cxnLst/>
              <a:rect l="l" t="t" r="r" b="b"/>
              <a:pathLst>
                <a:path w="10706100" h="3143250">
                  <a:moveTo>
                    <a:pt x="209550" y="0"/>
                  </a:moveTo>
                  <a:lnTo>
                    <a:pt x="10496550" y="0"/>
                  </a:lnTo>
                  <a:cubicBezTo>
                    <a:pt x="10612281" y="0"/>
                    <a:pt x="10706100" y="93819"/>
                    <a:pt x="10706100" y="209550"/>
                  </a:cubicBezTo>
                  <a:lnTo>
                    <a:pt x="10706100" y="2933700"/>
                  </a:lnTo>
                  <a:cubicBezTo>
                    <a:pt x="10706100" y="3049431"/>
                    <a:pt x="10612281" y="3143250"/>
                    <a:pt x="10496550" y="3143250"/>
                  </a:cubicBezTo>
                  <a:lnTo>
                    <a:pt x="209550" y="3143250"/>
                  </a:lnTo>
                  <a:cubicBezTo>
                    <a:pt x="93819" y="3143250"/>
                    <a:pt x="0" y="3049431"/>
                    <a:pt x="0" y="293370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048000" y="2324100"/>
              <a:ext cx="6229350" cy="2990850"/>
            </a:xfrm>
            <a:custGeom>
              <a:avLst/>
              <a:gdLst/>
              <a:ahLst/>
              <a:cxnLst/>
              <a:rect l="l" t="t" r="r" b="b"/>
              <a:pathLst>
                <a:path w="6229350" h="2990850">
                  <a:moveTo>
                    <a:pt x="0" y="1495425"/>
                  </a:moveTo>
                  <a:cubicBezTo>
                    <a:pt x="0" y="600075"/>
                    <a:pt x="1123950" y="0"/>
                    <a:pt x="3048000" y="0"/>
                  </a:cubicBezTo>
                  <a:cubicBezTo>
                    <a:pt x="5143500" y="0"/>
                    <a:pt x="6229350" y="647700"/>
                    <a:pt x="6229350" y="1495425"/>
                  </a:cubicBezTo>
                  <a:cubicBezTo>
                    <a:pt x="6229350" y="2400300"/>
                    <a:pt x="5143500" y="2990850"/>
                    <a:pt x="3048000" y="2990850"/>
                  </a:cubicBezTo>
                  <a:cubicBezTo>
                    <a:pt x="1076325" y="2990850"/>
                    <a:pt x="0" y="2419350"/>
                    <a:pt x="0" y="1495425"/>
                  </a:cubicBezTo>
                  <a:close/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371850" y="2571750"/>
              <a:ext cx="5467350" cy="2495550"/>
            </a:xfrm>
            <a:custGeom>
              <a:avLst/>
              <a:gdLst/>
              <a:ahLst/>
              <a:cxnLst/>
              <a:rect l="l" t="t" r="r" b="b"/>
              <a:pathLst>
                <a:path w="5467350" h="2495550">
                  <a:moveTo>
                    <a:pt x="0" y="1247775"/>
                  </a:moveTo>
                  <a:cubicBezTo>
                    <a:pt x="0" y="523875"/>
                    <a:pt x="942975" y="0"/>
                    <a:pt x="2724150" y="0"/>
                  </a:cubicBezTo>
                  <a:cubicBezTo>
                    <a:pt x="4524375" y="0"/>
                    <a:pt x="5467350" y="542925"/>
                    <a:pt x="5467350" y="1247775"/>
                  </a:cubicBezTo>
                  <a:cubicBezTo>
                    <a:pt x="5467350" y="2000250"/>
                    <a:pt x="4533900" y="2495550"/>
                    <a:pt x="2724150" y="2495550"/>
                  </a:cubicBezTo>
                  <a:cubicBezTo>
                    <a:pt x="971550" y="2495550"/>
                    <a:pt x="0" y="2009775"/>
                    <a:pt x="0" y="1247775"/>
                  </a:cubicBezTo>
                  <a:close/>
                </a:path>
              </a:pathLst>
            </a:custGeom>
            <a:noFill/>
            <a:ln w="11430">
              <a:solidFill>
                <a:schemeClr val="accent4">
                  <a:alpha val="90000"/>
                </a:schemeClr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5276850" y="3000375"/>
              <a:ext cx="1638300" cy="1638300"/>
            </a:xfrm>
            <a:prstGeom prst="ellipse">
              <a:avLst/>
            </a:prstGeom>
            <a:solidFill>
              <a:schemeClr val="lt2"/>
            </a:solidFill>
            <a:ln w="17145">
              <a:solidFill>
                <a:schemeClr val="accent2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5524500" y="3248025"/>
              <a:ext cx="1143000" cy="1143000"/>
            </a:xfrm>
            <a:prstGeom prst="ellipse">
              <a:avLst/>
            </a:prstGeom>
            <a:solidFill>
              <a:schemeClr val="lt1"/>
            </a:solidFill>
            <a:ln w="11430">
              <a:solidFill>
                <a:schemeClr val="accent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444490" y="3490912"/>
              <a:ext cx="1303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持续优化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34799" y="39214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回流即训练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5981700" y="25717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2286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8610600" y="3705225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114300"/>
                  </a:move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5981700" y="48387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228600"/>
                  </a:moveTo>
                  <a:lnTo>
                    <a:pt x="0" y="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3371850" y="3705225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228600" y="0"/>
                  </a:lnTo>
                  <a:lnTo>
                    <a:pt x="228600" y="2286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4895850" y="1428750"/>
              <a:ext cx="2400300" cy="838200"/>
            </a:xfrm>
            <a:custGeom>
              <a:avLst/>
              <a:gdLst/>
              <a:ahLst/>
              <a:cxnLst/>
              <a:rect l="l" t="t" r="r" b="b"/>
              <a:pathLst>
                <a:path w="2400300" h="838200">
                  <a:moveTo>
                    <a:pt x="114300" y="0"/>
                  </a:moveTo>
                  <a:lnTo>
                    <a:pt x="2286000" y="0"/>
                  </a:lnTo>
                  <a:cubicBezTo>
                    <a:pt x="2349126" y="0"/>
                    <a:pt x="2400300" y="51174"/>
                    <a:pt x="2400300" y="114300"/>
                  </a:cubicBezTo>
                  <a:lnTo>
                    <a:pt x="2400300" y="723900"/>
                  </a:lnTo>
                  <a:cubicBezTo>
                    <a:pt x="2400300" y="787026"/>
                    <a:pt x="2349126" y="838200"/>
                    <a:pt x="2286000" y="838200"/>
                  </a:cubicBezTo>
                  <a:lnTo>
                    <a:pt x="114300" y="838200"/>
                  </a:lnTo>
                  <a:cubicBezTo>
                    <a:pt x="51174" y="838200"/>
                    <a:pt x="0" y="787026"/>
                    <a:pt x="0" y="7239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940476" y="1613535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28%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87924" y="1792605"/>
              <a:ext cx="12161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数据整合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120640" y="208026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统一客户、渠道、活动口径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6096000" y="2266950"/>
              <a:ext cx="9525" cy="628650"/>
            </a:xfrm>
            <a:custGeom>
              <a:avLst/>
              <a:gdLst/>
              <a:ahLst/>
              <a:cxnLst/>
              <a:rect l="l" t="t" r="r" b="b"/>
              <a:pathLst>
                <a:path w="9525" h="628650">
                  <a:moveTo>
                    <a:pt x="0" y="0"/>
                  </a:moveTo>
                  <a:lnTo>
                    <a:pt x="0" y="628650"/>
                  </a:lnTo>
                </a:path>
              </a:pathLst>
            </a:custGeom>
            <a:noFill/>
            <a:ln w="11430">
              <a:solidFill>
                <a:schemeClr val="accent4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8991600" y="3400425"/>
              <a:ext cx="2324100" cy="838200"/>
            </a:xfrm>
            <a:custGeom>
              <a:avLst/>
              <a:gdLst/>
              <a:ahLst/>
              <a:cxnLst/>
              <a:rect l="l" t="t" r="r" b="b"/>
              <a:pathLst>
                <a:path w="2324100" h="838200">
                  <a:moveTo>
                    <a:pt x="114300" y="0"/>
                  </a:moveTo>
                  <a:lnTo>
                    <a:pt x="2209800" y="0"/>
                  </a:lnTo>
                  <a:cubicBezTo>
                    <a:pt x="2272926" y="0"/>
                    <a:pt x="2324100" y="51174"/>
                    <a:pt x="2324100" y="114300"/>
                  </a:cubicBezTo>
                  <a:lnTo>
                    <a:pt x="2324100" y="723900"/>
                  </a:lnTo>
                  <a:cubicBezTo>
                    <a:pt x="2324100" y="787026"/>
                    <a:pt x="2272926" y="838200"/>
                    <a:pt x="2209800" y="838200"/>
                  </a:cubicBezTo>
                  <a:lnTo>
                    <a:pt x="114300" y="838200"/>
                  </a:lnTo>
                  <a:cubicBezTo>
                    <a:pt x="51174" y="838200"/>
                    <a:pt x="0" y="787026"/>
                    <a:pt x="0" y="7239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998126" y="3585210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24%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626117" y="3764280"/>
              <a:ext cx="105506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AI分析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97518" y="4051935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客群、内容、渠道、预算建议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324850" y="3819525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666750" y="0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chemeClr val="accent4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4876800" y="5391150"/>
              <a:ext cx="2438400" cy="838200"/>
            </a:xfrm>
            <a:custGeom>
              <a:avLst/>
              <a:gdLst/>
              <a:ahLst/>
              <a:cxnLst/>
              <a:rect l="l" t="t" r="r" b="b"/>
              <a:pathLst>
                <a:path w="2438400" h="838200">
                  <a:moveTo>
                    <a:pt x="114300" y="0"/>
                  </a:moveTo>
                  <a:lnTo>
                    <a:pt x="2324100" y="0"/>
                  </a:lnTo>
                  <a:cubicBezTo>
                    <a:pt x="2387226" y="0"/>
                    <a:pt x="2438400" y="51174"/>
                    <a:pt x="2438400" y="114300"/>
                  </a:cubicBezTo>
                  <a:lnTo>
                    <a:pt x="2438400" y="723900"/>
                  </a:lnTo>
                  <a:cubicBezTo>
                    <a:pt x="2438400" y="787026"/>
                    <a:pt x="2387226" y="838200"/>
                    <a:pt x="2324100" y="838200"/>
                  </a:cubicBezTo>
                  <a:lnTo>
                    <a:pt x="114300" y="838200"/>
                  </a:lnTo>
                  <a:cubicBezTo>
                    <a:pt x="51174" y="838200"/>
                    <a:pt x="0" y="787026"/>
                    <a:pt x="0" y="7239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40476" y="5575935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30%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338572" y="5755005"/>
              <a:ext cx="15148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自动化执行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039868" y="60426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投放、触达、分发、协同动作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6096000" y="4743450"/>
              <a:ext cx="9525" cy="647700"/>
            </a:xfrm>
            <a:custGeom>
              <a:avLst/>
              <a:gdLst/>
              <a:ahLst/>
              <a:cxnLst/>
              <a:rect l="l" t="t" r="r" b="b"/>
              <a:pathLst>
                <a:path w="9525" h="647700">
                  <a:moveTo>
                    <a:pt x="0" y="647700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chemeClr val="accent4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76300" y="3400425"/>
              <a:ext cx="2324100" cy="838200"/>
            </a:xfrm>
            <a:custGeom>
              <a:avLst/>
              <a:gdLst/>
              <a:ahLst/>
              <a:cxnLst/>
              <a:rect l="l" t="t" r="r" b="b"/>
              <a:pathLst>
                <a:path w="2324100" h="838200">
                  <a:moveTo>
                    <a:pt x="114300" y="0"/>
                  </a:moveTo>
                  <a:lnTo>
                    <a:pt x="2209800" y="0"/>
                  </a:lnTo>
                  <a:cubicBezTo>
                    <a:pt x="2272926" y="0"/>
                    <a:pt x="2324100" y="51174"/>
                    <a:pt x="2324100" y="114300"/>
                  </a:cubicBezTo>
                  <a:lnTo>
                    <a:pt x="2324100" y="723900"/>
                  </a:lnTo>
                  <a:cubicBezTo>
                    <a:pt x="2324100" y="787026"/>
                    <a:pt x="2272926" y="838200"/>
                    <a:pt x="2209800" y="838200"/>
                  </a:cubicBezTo>
                  <a:lnTo>
                    <a:pt x="114300" y="838200"/>
                  </a:lnTo>
                  <a:cubicBezTo>
                    <a:pt x="51174" y="838200"/>
                    <a:pt x="0" y="787026"/>
                    <a:pt x="0" y="7239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882826" y="3585210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18%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430274" y="3764280"/>
              <a:ext cx="12161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效果度量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62990" y="405193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回收结果并修正模型与预算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3200400" y="3819525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1430">
              <a:solidFill>
                <a:schemeClr val="accent4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6000750" y="1819275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10058400" y="3724275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6000750" y="571500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1943100" y="3724275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538162" y="2464118"/>
            <a:ext cx="9814751" cy="4302633"/>
            <a:chOff x="538162" y="2464118"/>
            <a:chExt cx="9814751" cy="4302633"/>
          </a:xfrm>
        </p:grpSpPr>
        <p:sp>
          <p:nvSpPr>
            <p:cNvPr id="51" name="TextBox 51"/>
            <p:cNvSpPr txBox="1"/>
            <p:nvPr/>
          </p:nvSpPr>
          <p:spPr>
            <a:xfrm>
              <a:off x="1193292" y="56073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统一口径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594342" y="24831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生成建议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384792" y="55311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触发动作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260092" y="24641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结果回流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538162" y="6557962"/>
              <a:ext cx="66675" cy="6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7992" y="650271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沉淀统一客户、渠道与活动数据口径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3700462" y="6557962"/>
              <a:ext cx="66675" cy="6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860292" y="65027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输出客群、内容、渠道与预算建议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7453312" y="6557962"/>
              <a:ext cx="66675" cy="6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613142" y="65027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触发投放、触达、分发与协同动作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0"/>
              <a:ext cx="12192000" cy="1314450"/>
            </a:xfrm>
            <a:custGeom>
              <a:avLst/>
              <a:gdLst/>
              <a:ahLst/>
              <a:cxnLst/>
              <a:rect l="l" t="t" r="r" b="b"/>
              <a:pathLst>
                <a:path w="12192000" h="1314450">
                  <a:moveTo>
                    <a:pt x="0" y="876300"/>
                  </a:moveTo>
                  <a:cubicBezTo>
                    <a:pt x="914400" y="723900"/>
                    <a:pt x="1724025" y="1028700"/>
                    <a:pt x="2628900" y="962025"/>
                  </a:cubicBezTo>
                  <a:cubicBezTo>
                    <a:pt x="3695700" y="885825"/>
                    <a:pt x="4257675" y="485775"/>
                    <a:pt x="5362575" y="552450"/>
                  </a:cubicBezTo>
                  <a:cubicBezTo>
                    <a:pt x="6153150" y="600075"/>
                    <a:pt x="6858000" y="1057275"/>
                    <a:pt x="7686675" y="1123950"/>
                  </a:cubicBezTo>
                  <a:cubicBezTo>
                    <a:pt x="8743950" y="1219200"/>
                    <a:pt x="9658350" y="828675"/>
                    <a:pt x="10629900" y="923925"/>
                  </a:cubicBezTo>
                  <a:cubicBezTo>
                    <a:pt x="11258550" y="990600"/>
                    <a:pt x="11782425" y="1181100"/>
                    <a:pt x="12192000" y="1314450"/>
                  </a:cubicBezTo>
                  <a:lnTo>
                    <a:pt x="12192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68000"/>
              </a:schemeClr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5591175"/>
              <a:ext cx="12192000" cy="1266825"/>
            </a:xfrm>
            <a:custGeom>
              <a:avLst/>
              <a:gdLst/>
              <a:ahLst/>
              <a:cxnLst/>
              <a:rect l="l" t="t" r="r" b="b"/>
              <a:pathLst>
                <a:path w="12192000" h="1266825">
                  <a:moveTo>
                    <a:pt x="0" y="457200"/>
                  </a:moveTo>
                  <a:cubicBezTo>
                    <a:pt x="1171575" y="190500"/>
                    <a:pt x="2133600" y="0"/>
                    <a:pt x="3238500" y="152400"/>
                  </a:cubicBezTo>
                  <a:cubicBezTo>
                    <a:pt x="4105275" y="266700"/>
                    <a:pt x="4857750" y="619125"/>
                    <a:pt x="5734050" y="647700"/>
                  </a:cubicBezTo>
                  <a:cubicBezTo>
                    <a:pt x="6791325" y="676275"/>
                    <a:pt x="7534275" y="285750"/>
                    <a:pt x="8524875" y="180975"/>
                  </a:cubicBezTo>
                  <a:cubicBezTo>
                    <a:pt x="9525000" y="85725"/>
                    <a:pt x="10801350" y="209550"/>
                    <a:pt x="12192000" y="571500"/>
                  </a:cubicBezTo>
                  <a:lnTo>
                    <a:pt x="12192000" y="1266825"/>
                  </a:lnTo>
                  <a:lnTo>
                    <a:pt x="0" y="1266825"/>
                  </a:lnTo>
                  <a:close/>
                </a:path>
              </a:pathLst>
            </a:custGeom>
            <a:solidFill>
              <a:schemeClr val="lt2">
                <a:alpha val="70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810750" y="457200"/>
              <a:ext cx="1181100" cy="1181100"/>
            </a:xfrm>
            <a:prstGeom prst="ellipse">
              <a:avLst/>
            </a:prstGeom>
            <a:solidFill>
              <a:schemeClr val="lt2">
                <a:alpha val="90000"/>
              </a:scheme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9944100" y="590550"/>
              <a:ext cx="914400" cy="914400"/>
            </a:xfrm>
            <a:prstGeom prst="ellipse">
              <a:avLst/>
            </a:prstGeom>
            <a:noFill/>
            <a:ln w="11430">
              <a:solidFill>
                <a:schemeClr val="accent4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1781175" y="5210175"/>
              <a:ext cx="990600" cy="523875"/>
            </a:xfrm>
            <a:custGeom>
              <a:avLst/>
              <a:gdLst/>
              <a:ahLst/>
              <a:cxnLst/>
              <a:rect l="l" t="t" r="r" b="b"/>
              <a:pathLst>
                <a:path w="990600" h="523875">
                  <a:moveTo>
                    <a:pt x="0" y="295275"/>
                  </a:moveTo>
                  <a:cubicBezTo>
                    <a:pt x="314325" y="38100"/>
                    <a:pt x="704850" y="0"/>
                    <a:pt x="990600" y="219075"/>
                  </a:cubicBezTo>
                  <a:cubicBezTo>
                    <a:pt x="695325" y="228600"/>
                    <a:pt x="390525" y="352425"/>
                    <a:pt x="85725" y="523875"/>
                  </a:cubicBezTo>
                </a:path>
              </a:pathLst>
            </a:custGeom>
            <a:noFill/>
            <a:ln w="14288" cap="rnd">
              <a:solidFill>
                <a:schemeClr val="accent4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8782050" y="1352550"/>
              <a:ext cx="876300" cy="171450"/>
            </a:xfrm>
            <a:custGeom>
              <a:avLst/>
              <a:gdLst/>
              <a:ahLst/>
              <a:cxnLst/>
              <a:rect l="l" t="t" r="r" b="b"/>
              <a:pathLst>
                <a:path w="876300" h="171450">
                  <a:moveTo>
                    <a:pt x="0" y="152400"/>
                  </a:moveTo>
                  <a:cubicBezTo>
                    <a:pt x="238125" y="9525"/>
                    <a:pt x="581025" y="0"/>
                    <a:pt x="876300" y="171450"/>
                  </a:cubicBezTo>
                </a:path>
              </a:pathLst>
            </a:custGeom>
            <a:noFill/>
            <a:ln w="11430" cap="rnd">
              <a:solidFill>
                <a:schemeClr val="accent4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65785" y="292418"/>
            <a:ext cx="11060049" cy="6390893"/>
            <a:chOff x="565785" y="292418"/>
            <a:chExt cx="11060049" cy="6390893"/>
          </a:xfrm>
        </p:grpSpPr>
        <p:sp>
          <p:nvSpPr>
            <p:cNvPr id="10" name="Line 10"/>
            <p:cNvSpPr/>
            <p:nvPr/>
          </p:nvSpPr>
          <p:spPr>
            <a:xfrm>
              <a:off x="571500" y="59055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906000" y="59055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65785" y="307181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执行排期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07116" y="292418"/>
              <a:ext cx="224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08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571500" y="63627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66166" y="6477952"/>
              <a:ext cx="12726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43007" y="647795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三个月首轮上线验证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55498" y="936308"/>
            <a:ext cx="10912983" cy="4656581"/>
            <a:chOff x="555498" y="936308"/>
            <a:chExt cx="10912983" cy="4656581"/>
          </a:xfrm>
        </p:grpSpPr>
        <p:sp>
          <p:nvSpPr>
            <p:cNvPr id="18" name="TextBox 18"/>
            <p:cNvSpPr txBox="1"/>
            <p:nvPr/>
          </p:nvSpPr>
          <p:spPr>
            <a:xfrm>
              <a:off x="555498" y="936308"/>
              <a:ext cx="18242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推进建议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2356" y="155829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建议以三个月完成首轮上线验证，先跑通核心闭环，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2356" y="188214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再扩展更多场景与组织覆盖。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1619250" y="3219450"/>
              <a:ext cx="8953500" cy="9525"/>
            </a:xfrm>
            <a:custGeom>
              <a:avLst/>
              <a:gdLst/>
              <a:ahLst/>
              <a:cxnLst/>
              <a:rect l="l" t="t" r="r" b="b"/>
              <a:pathLst>
                <a:path w="8953500" h="9525">
                  <a:moveTo>
                    <a:pt x="0" y="0"/>
                  </a:moveTo>
                  <a:lnTo>
                    <a:pt x="8953500" y="0"/>
                  </a:lnTo>
                </a:path>
              </a:pathLst>
            </a:custGeom>
            <a:solidFill>
              <a:srgbClr val="000000"/>
            </a:solidFill>
            <a:ln w="19050" cap="rnd">
              <a:solidFill>
                <a:schemeClr val="accent4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2209800" y="2952750"/>
              <a:ext cx="533400" cy="533400"/>
            </a:xfrm>
            <a:prstGeom prst="ellipse">
              <a:avLst/>
            </a:prstGeom>
            <a:solidFill>
              <a:schemeClr val="lt1"/>
            </a:solidFill>
            <a:ln w="23812">
              <a:solidFill>
                <a:schemeClr val="accent2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5829300" y="2952750"/>
              <a:ext cx="533400" cy="533400"/>
            </a:xfrm>
            <a:prstGeom prst="ellipse">
              <a:avLst/>
            </a:prstGeom>
            <a:solidFill>
              <a:schemeClr val="lt1"/>
            </a:solidFill>
            <a:ln w="23812">
              <a:solidFill>
                <a:schemeClr val="accent2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9448800" y="2952750"/>
              <a:ext cx="533400" cy="533400"/>
            </a:xfrm>
            <a:prstGeom prst="ellipse">
              <a:avLst/>
            </a:prstGeom>
            <a:solidFill>
              <a:schemeClr val="lt1"/>
            </a:solidFill>
            <a:ln w="23812">
              <a:solidFill>
                <a:schemeClr val="accent2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2400300" y="31432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6019800" y="31432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9639300" y="31432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1047750" y="3714750"/>
              <a:ext cx="2857500" cy="1752600"/>
            </a:xfrm>
            <a:custGeom>
              <a:avLst/>
              <a:gdLst/>
              <a:ahLst/>
              <a:cxnLst/>
              <a:rect l="l" t="t" r="r" b="b"/>
              <a:pathLst>
                <a:path w="2857500" h="1752600">
                  <a:moveTo>
                    <a:pt x="76200" y="0"/>
                  </a:moveTo>
                  <a:lnTo>
                    <a:pt x="2781300" y="0"/>
                  </a:lnTo>
                  <a:cubicBezTo>
                    <a:pt x="2823384" y="0"/>
                    <a:pt x="2857500" y="34116"/>
                    <a:pt x="2857500" y="76200"/>
                  </a:cubicBezTo>
                  <a:lnTo>
                    <a:pt x="2857500" y="1676400"/>
                  </a:lnTo>
                  <a:cubicBezTo>
                    <a:pt x="2857500" y="1718484"/>
                    <a:pt x="2823384" y="1752600"/>
                    <a:pt x="2781300" y="1752600"/>
                  </a:cubicBezTo>
                  <a:lnTo>
                    <a:pt x="76200" y="1752600"/>
                  </a:lnTo>
                  <a:cubicBezTo>
                    <a:pt x="34116" y="1752600"/>
                    <a:pt x="0" y="1718484"/>
                    <a:pt x="0" y="16764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4667250" y="3714750"/>
              <a:ext cx="2857500" cy="1752600"/>
            </a:xfrm>
            <a:custGeom>
              <a:avLst/>
              <a:gdLst/>
              <a:ahLst/>
              <a:cxnLst/>
              <a:rect l="l" t="t" r="r" b="b"/>
              <a:pathLst>
                <a:path w="2857500" h="1752600">
                  <a:moveTo>
                    <a:pt x="76200" y="0"/>
                  </a:moveTo>
                  <a:lnTo>
                    <a:pt x="2781300" y="0"/>
                  </a:lnTo>
                  <a:cubicBezTo>
                    <a:pt x="2823384" y="0"/>
                    <a:pt x="2857500" y="34116"/>
                    <a:pt x="2857500" y="76200"/>
                  </a:cubicBezTo>
                  <a:lnTo>
                    <a:pt x="2857500" y="1676400"/>
                  </a:lnTo>
                  <a:cubicBezTo>
                    <a:pt x="2857500" y="1718484"/>
                    <a:pt x="2823384" y="1752600"/>
                    <a:pt x="2781300" y="1752600"/>
                  </a:cubicBezTo>
                  <a:lnTo>
                    <a:pt x="76200" y="1752600"/>
                  </a:lnTo>
                  <a:cubicBezTo>
                    <a:pt x="34116" y="1752600"/>
                    <a:pt x="0" y="1718484"/>
                    <a:pt x="0" y="16764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8286750" y="3714750"/>
              <a:ext cx="2857500" cy="1752600"/>
            </a:xfrm>
            <a:custGeom>
              <a:avLst/>
              <a:gdLst/>
              <a:ahLst/>
              <a:cxnLst/>
              <a:rect l="l" t="t" r="r" b="b"/>
              <a:pathLst>
                <a:path w="2857500" h="1752600">
                  <a:moveTo>
                    <a:pt x="76200" y="0"/>
                  </a:moveTo>
                  <a:lnTo>
                    <a:pt x="2781300" y="0"/>
                  </a:lnTo>
                  <a:cubicBezTo>
                    <a:pt x="2823384" y="0"/>
                    <a:pt x="2857500" y="34116"/>
                    <a:pt x="2857500" y="76200"/>
                  </a:cubicBezTo>
                  <a:lnTo>
                    <a:pt x="2857500" y="1676400"/>
                  </a:lnTo>
                  <a:cubicBezTo>
                    <a:pt x="2857500" y="1718484"/>
                    <a:pt x="2823384" y="1752600"/>
                    <a:pt x="2781300" y="1752600"/>
                  </a:cubicBezTo>
                  <a:lnTo>
                    <a:pt x="76200" y="1752600"/>
                  </a:lnTo>
                  <a:cubicBezTo>
                    <a:pt x="34116" y="1752600"/>
                    <a:pt x="0" y="1718484"/>
                    <a:pt x="0" y="16764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2476500" y="348615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6096000" y="348615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9715500" y="348615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911858" y="2608898"/>
              <a:ext cx="11292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定位项目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531358" y="2608898"/>
              <a:ext cx="11292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首期落地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150858" y="2608898"/>
              <a:ext cx="11292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风险兜底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26642" y="3950018"/>
              <a:ext cx="7121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Month 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22070" y="4214812"/>
              <a:ext cx="29032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统一目标与牵引机制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325118" y="4679632"/>
              <a:ext cx="27979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将企业AI营销工作台定义为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325118" y="4974908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增长基础设施项目，由市场、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325118" y="52701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销售与数据团队联合推进。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946142" y="3950018"/>
              <a:ext cx="7121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Month 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941570" y="4214812"/>
              <a:ext cx="258318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验证一条线两场景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944618" y="467963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首期聚焦一条业务线与两个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944618" y="4974908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重点场景，优先验证线索分发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944618" y="527018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和投放优化的业务收益。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565642" y="3950018"/>
              <a:ext cx="7121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Month 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561070" y="4214812"/>
              <a:ext cx="29032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补齐边界与人工兜底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564118" y="467963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同步建立数据口径、权限边界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564118" y="4974908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与人工兜底机制，避免自动化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564118" y="527018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放大原有流程偏差。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571500" y="2095500"/>
              <a:ext cx="2381250" cy="419100"/>
            </a:xfrm>
            <a:custGeom>
              <a:avLst/>
              <a:gdLst/>
              <a:ahLst/>
              <a:cxnLst/>
              <a:rect l="l" t="t" r="r" b="b"/>
              <a:pathLst>
                <a:path w="2381250" h="419100">
                  <a:moveTo>
                    <a:pt x="209550" y="0"/>
                  </a:moveTo>
                  <a:lnTo>
                    <a:pt x="2171700" y="0"/>
                  </a:lnTo>
                  <a:cubicBezTo>
                    <a:pt x="2287431" y="0"/>
                    <a:pt x="2381250" y="93819"/>
                    <a:pt x="2381250" y="209550"/>
                  </a:cubicBezTo>
                  <a:lnTo>
                    <a:pt x="2381250" y="209550"/>
                  </a:lnTo>
                  <a:cubicBezTo>
                    <a:pt x="2381250" y="325281"/>
                    <a:pt x="2287431" y="419100"/>
                    <a:pt x="2171700" y="419100"/>
                  </a:cubicBezTo>
                  <a:lnTo>
                    <a:pt x="209550" y="419100"/>
                  </a:lnTo>
                  <a:cubicBezTo>
                    <a:pt x="93819" y="419100"/>
                    <a:pt x="0" y="325281"/>
                    <a:pt x="0" y="20955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43890" y="22002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先跑通闭环，再扩展覆盖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71500" y="5667375"/>
            <a:ext cx="11049000" cy="495300"/>
            <a:chOff x="571500" y="5667375"/>
            <a:chExt cx="11049000" cy="495300"/>
          </a:xfrm>
        </p:grpSpPr>
        <p:sp>
          <p:nvSpPr>
            <p:cNvPr id="55" name="Freeform 55"/>
            <p:cNvSpPr/>
            <p:nvPr/>
          </p:nvSpPr>
          <p:spPr>
            <a:xfrm>
              <a:off x="571500" y="5667375"/>
              <a:ext cx="11049000" cy="495300"/>
            </a:xfrm>
            <a:custGeom>
              <a:avLst/>
              <a:gdLst/>
              <a:ahLst/>
              <a:cxnLst/>
              <a:rect l="l" t="t" r="r" b="b"/>
              <a:pathLst>
                <a:path w="11049000" h="495300">
                  <a:moveTo>
                    <a:pt x="57150" y="0"/>
                  </a:moveTo>
                  <a:lnTo>
                    <a:pt x="10991850" y="0"/>
                  </a:lnTo>
                  <a:cubicBezTo>
                    <a:pt x="11023413" y="0"/>
                    <a:pt x="11049000" y="25587"/>
                    <a:pt x="11049000" y="57150"/>
                  </a:cubicBezTo>
                  <a:lnTo>
                    <a:pt x="11049000" y="438150"/>
                  </a:lnTo>
                  <a:cubicBezTo>
                    <a:pt x="11049000" y="469713"/>
                    <a:pt x="11023413" y="495300"/>
                    <a:pt x="10991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chemeClr val="accent1">
                <a:alpha val="4000"/>
              </a:schemeClr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92480" y="5819775"/>
              <a:ext cx="6477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最终落点：以业务收益验证牵引组织协同，形成可复制的增长基础设施。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A1A1A"/>
      </a:dk1>
      <a:lt1>
        <a:srgbClr val="F5F1E8"/>
      </a:lt1>
      <a:dk2>
        <a:srgbClr val="5C5852"/>
      </a:dk2>
      <a:lt2>
        <a:srgbClr val="EFEAD9"/>
      </a:lt2>
      <a:accent1>
        <a:srgbClr val="1A1A1A"/>
      </a:accent1>
      <a:accent2>
        <a:srgbClr val="A52A2A"/>
      </a:accent2>
      <a:accent3>
        <a:srgbClr val="A52A2A"/>
      </a:accent3>
      <a:accent4>
        <a:srgbClr val="C8C0AE"/>
      </a:accent4>
      <a:accent5>
        <a:srgbClr val="8B8680"/>
      </a:accent5>
      <a:accent6>
        <a:srgbClr val="F79646"/>
      </a:accent6>
      <a:hlink>
        <a:srgbClr val="A52A2A"/>
      </a:hlink>
      <a:folHlink>
        <a:srgbClr val="A52A2A"/>
      </a:folHlink>
    </a:clrScheme>
    <a:fontScheme name="PPT Master">
      <a:majorFont>
        <a:latin typeface="Georgia"/>
        <a:ea typeface="KaiTi"/>
        <a:cs typeface="Georgia"/>
        <a:font script="Jpan" typeface="KaiTi"/>
        <a:font script="Hang" typeface="KaiTi"/>
        <a:font script="Hans" typeface="KaiTi"/>
        <a:font script="Hant" typeface="KaiT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A1A1A"/>
      </a:dk1>
      <a:lt1>
        <a:srgbClr val="F5F1E8"/>
      </a:lt1>
      <a:dk2>
        <a:srgbClr val="5C5852"/>
      </a:dk2>
      <a:lt2>
        <a:srgbClr val="EFEAD9"/>
      </a:lt2>
      <a:accent1>
        <a:srgbClr val="1A1A1A"/>
      </a:accent1>
      <a:accent2>
        <a:srgbClr val="A52A2A"/>
      </a:accent2>
      <a:accent3>
        <a:srgbClr val="A52A2A"/>
      </a:accent3>
      <a:accent4>
        <a:srgbClr val="C8C0AE"/>
      </a:accent4>
      <a:accent5>
        <a:srgbClr val="8B8680"/>
      </a:accent5>
      <a:accent6>
        <a:srgbClr val="F79646"/>
      </a:accent6>
      <a:hlink>
        <a:srgbClr val="A52A2A"/>
      </a:hlink>
      <a:folHlink>
        <a:srgbClr val="A52A2A"/>
      </a:folHlink>
    </a:clrScheme>
    <a:fontScheme name="PPT Master">
      <a:majorFont>
        <a:latin typeface="Georgia"/>
        <a:ea typeface="KaiTi"/>
        <a:cs typeface="Georgia"/>
        <a:font script="Jpan" typeface="KaiTi"/>
        <a:font script="Hang" typeface="KaiTi"/>
        <a:font script="Hans" typeface="KaiTi"/>
        <a:font script="Hant" typeface="KaiT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2026-07-11T09:43:27Z</dcterms:created>
  <dcterms:modified xsi:type="dcterms:W3CDTF">2026-07-11T09:43:27Z</dcterms:modified>
  <cp:category/>
  <cp:contentStatus/>
</cp:coreProperties>
</file>