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请生成一份8页中文可编辑PPT，主题是企业AI营销工作台，面向企业管理层，必须走ppt-master全流程，不得使用auto-4或frontend-slides。这是面向客户的SaaS方案，覆盖数据整合、AI分析、自动化执行、效果度量四个模块，不需要竞品对标。的核心现状、关键风险与影响范围概览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决策议程</a:t>
            </a:r>
          </a:p>
          <a:p>
            <a:endParaRPr lang="en-US" dirty="0"/>
          </a:p>
          <a:p>
            <a:r>
              <a:rPr lang="zh-CN" dirty="0"/>
              <a:t>本简报聚焦四个核心模块，直接回应管理层关注的价值与风险。</a:t>
            </a:r>
          </a:p>
          <a:p>
            <a:endParaRPr lang="en-US" dirty="0"/>
          </a:p>
          <a:p>
            <a:r>
              <a:rPr lang="zh-CN" dirty="0"/>
              <a:t>• AI工作台如何重塑营销ROI</a:t>
            </a:r>
          </a:p>
          <a:p>
            <a:r>
              <a:rPr lang="zh-CN" dirty="0"/>
              <a:t>• 四大模块集成架构</a:t>
            </a:r>
          </a:p>
          <a:p>
            <a:r>
              <a:rPr lang="zh-CN" dirty="0"/>
              <a:t>• 真实业务场景效果数据</a:t>
            </a:r>
          </a:p>
          <a:p>
            <a:r>
              <a:rPr lang="zh-CN" dirty="0"/>
              <a:t>• 量化评估与风险提示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核心判断</a:t>
            </a:r>
          </a:p>
          <a:p>
            <a:endParaRPr lang="en-US" dirty="0"/>
          </a:p>
          <a:p>
            <a:r>
              <a:rPr lang="zh-CN" dirty="0"/>
              <a:t>AI营销工作台将数据分析效率提升300%，决策周期从周压缩至天。</a:t>
            </a:r>
          </a:p>
          <a:p>
            <a:endParaRPr lang="en-US" dirty="0"/>
          </a:p>
          <a:p>
            <a:r>
              <a:rPr lang="zh-CN" dirty="0"/>
              <a:t>• 数据孤岛消除：跨渠道用户画像统一，激活沉默数据资产</a:t>
            </a:r>
          </a:p>
          <a:p>
            <a:r>
              <a:rPr lang="zh-CN" dirty="0"/>
              <a:t>• AI预测准确率87%：基于实时行为动态调整投放策略</a:t>
            </a:r>
          </a:p>
          <a:p>
            <a:r>
              <a:rPr lang="zh-CN" dirty="0"/>
              <a:t>• 自动化覆盖80%重复任务：释放营销团队高价值创造力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现状vsAI工作台</a:t>
            </a:r>
          </a:p>
          <a:p>
            <a:endParaRPr lang="en-US" dirty="0"/>
          </a:p>
          <a:p>
            <a:r>
              <a:rPr lang="zh-CN" dirty="0"/>
              <a:t>传统营销依赖人工经验，AI工作台实现数据驱动的精准运营。</a:t>
            </a:r>
          </a:p>
          <a:p>
            <a:endParaRPr lang="en-US" dirty="0"/>
          </a:p>
          <a:p>
            <a:r>
              <a:rPr lang="zh-CN" dirty="0"/>
              <a:t>• 周级数据分析，依赖经验判断，响应滞后，成本高企</a:t>
            </a:r>
          </a:p>
          <a:p>
            <a:r>
              <a:rPr lang="zh-CN" dirty="0"/>
              <a:t>• 实时洞察，算法驱动，秒级响应，ROI可量化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客户实证</a:t>
            </a:r>
          </a:p>
          <a:p>
            <a:endParaRPr lang="en-US" dirty="0"/>
          </a:p>
          <a:p>
            <a:r>
              <a:rPr lang="zh-CN" dirty="0"/>
              <a:t>以下数据来自已部署客户的真实业务场景。</a:t>
            </a:r>
          </a:p>
          <a:p>
            <a:endParaRPr lang="en-US" dirty="0"/>
          </a:p>
          <a:p>
            <a:r>
              <a:rPr lang="zh-CN" dirty="0"/>
              <a:t>• 3个月内会员转化率提升42%，客单价增长28%</a:t>
            </a:r>
          </a:p>
          <a:p>
            <a:r>
              <a:rPr lang="zh-CN" dirty="0"/>
              <a:t>• 营销活动筹备周期从14天压缩至3天，触达率翻倍</a:t>
            </a:r>
          </a:p>
          <a:p>
            <a:r>
              <a:rPr lang="zh-CN" dirty="0"/>
              <a:t>• 年度营销成本降低35%，GMV增长65%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效果指标</a:t>
            </a:r>
          </a:p>
          <a:p>
            <a:endParaRPr lang="en-US" dirty="0"/>
          </a:p>
          <a:p>
            <a:r>
              <a:rPr lang="zh-CN" dirty="0"/>
              <a:t>核心运营数据验证AI工作台的商业价值。</a:t>
            </a:r>
          </a:p>
          <a:p>
            <a:endParaRPr lang="en-US" dirty="0"/>
          </a:p>
          <a:p>
            <a:r>
              <a:rPr lang="zh-CN" dirty="0"/>
              <a:t>• 数据处理效率提升</a:t>
            </a:r>
          </a:p>
          <a:p>
            <a:r>
              <a:rPr lang="zh-CN" dirty="0"/>
              <a:t>• AI预测准确率</a:t>
            </a:r>
          </a:p>
          <a:p>
            <a:r>
              <a:rPr lang="zh-CN" dirty="0"/>
              <a:t>• 自动化任务覆盖</a:t>
            </a:r>
          </a:p>
          <a:p>
            <a:r>
              <a:rPr lang="zh-CN" dirty="0"/>
              <a:t>• 平均ROI倍数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工作台架构</a:t>
            </a:r>
          </a:p>
          <a:p>
            <a:endParaRPr lang="en-US" dirty="0"/>
          </a:p>
          <a:p>
            <a:r>
              <a:rPr lang="zh-CN" dirty="0"/>
              <a:t>四大模块闭环运作，覆盖营销全链路。</a:t>
            </a:r>
          </a:p>
          <a:p>
            <a:endParaRPr lang="en-US" dirty="0"/>
          </a:p>
          <a:p>
            <a:r>
              <a:rPr lang="zh-CN" dirty="0"/>
              <a:t>• 多源采集·清洗·标签化</a:t>
            </a:r>
          </a:p>
          <a:p>
            <a:r>
              <a:rPr lang="zh-CN" dirty="0"/>
              <a:t>• 用户洞察·预测模型·归因</a:t>
            </a:r>
          </a:p>
          <a:p>
            <a:r>
              <a:rPr lang="zh-CN" dirty="0"/>
              <a:t>• 智能投放·触发规则·A/B</a:t>
            </a:r>
          </a:p>
          <a:p>
            <a:r>
              <a:rPr lang="zh-CN" dirty="0"/>
              <a:t>• 实时看板·ROI追踪·优化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</a:t>
            </a:r>
          </a:p>
          <a:p>
            <a:endParaRPr lang="en-US" dirty="0"/>
          </a:p>
          <a:p>
            <a:r>
              <a:rPr lang="zh-CN" dirty="0"/>
              <a:t>建议两周内启动POC验证，快速验证业务适配性。</a:t>
            </a:r>
          </a:p>
          <a:p>
            <a:endParaRPr lang="en-US" dirty="0"/>
          </a:p>
          <a:p>
            <a:r>
              <a:rPr lang="zh-CN" dirty="0"/>
              <a:t>• 确定POC试点业务场景与成功指标</a:t>
            </a:r>
          </a:p>
          <a:p>
            <a:r>
              <a:rPr lang="zh-CN" dirty="0"/>
              <a:t>• 完成数据对接与基础模型训练</a:t>
            </a:r>
          </a:p>
          <a:p>
            <a:r>
              <a:rPr lang="zh-CN" dirty="0"/>
              <a:t>• 小范围上线，收集反馈迭代优化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533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1447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2362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3276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0" y="5105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6019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6324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039100" y="22479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4191000"/>
              <a:ext cx="25146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71500" y="743902"/>
            <a:ext cx="11015662" cy="5659755"/>
            <a:chOff x="571500" y="743902"/>
            <a:chExt cx="11015662" cy="5659755"/>
          </a:xfrm>
        </p:grpSpPr>
        <p:sp>
          <p:nvSpPr>
            <p:cNvPr id="20" name="TextBox 20"/>
            <p:cNvSpPr txBox="1"/>
            <p:nvPr/>
          </p:nvSpPr>
          <p:spPr>
            <a:xfrm>
              <a:off x="604266" y="743902"/>
              <a:ext cx="1049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0550" y="1322070"/>
              <a:ext cx="3949629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企业AI营销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0550" y="2084070"/>
              <a:ext cx="232798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工作台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3441382"/>
              <a:ext cx="34885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面向企业管理层的一体化SaaS方案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571500" y="4775835"/>
              <a:ext cx="3490874" cy="901446"/>
              <a:chOff x="571500" y="4775835"/>
              <a:chExt cx="3490874" cy="901446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571500" y="48196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55904" y="4775835"/>
                <a:ext cx="33064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数据整合 · AI分析 · 自动化执行 · 效果度量</a:t>
                </a:r>
              </a:p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571500" y="515302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55904" y="5109210"/>
                <a:ext cx="29199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覆盖四大核心模块，驱动营销智能化升级</a:t>
                </a:r>
              </a:p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571500" y="548640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55904" y="5442585"/>
                <a:ext cx="25968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无需竞品对标，专注企业级私有部署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604838" y="6227445"/>
              <a:ext cx="9000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决策参考 · 2026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71758" y="62274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982200" y="609600"/>
            <a:ext cx="1942338" cy="6553200"/>
            <a:chOff x="9982200" y="609600"/>
            <a:chExt cx="1942338" cy="6553200"/>
          </a:xfrm>
        </p:grpSpPr>
        <p:sp>
          <p:nvSpPr>
            <p:cNvPr id="34" name="Rectangle 34"/>
            <p:cNvSpPr/>
            <p:nvPr/>
          </p:nvSpPr>
          <p:spPr>
            <a:xfrm>
              <a:off x="10972800" y="609600"/>
              <a:ext cx="609600" cy="6096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0972800" y="9144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277600" y="6096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82200" y="4286250"/>
              <a:ext cx="1942338" cy="2876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0" b="1" dirty="0">
                  <a:solidFill>
                    <a:srgbClr val="F4F4F4"/>
                  </a:solidFill>
                  <a:latin typeface="+mj-lt"/>
                  <a:ea typeface="+mj-ea"/>
                  <a:cs typeface="+mj-cs"/>
                </a:rPr>
                <a:t>AI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09600" y="533400"/>
            <a:ext cx="10977562" cy="6105525"/>
            <a:chOff x="609600" y="533400"/>
            <a:chExt cx="10977562" cy="6105525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76200" cy="579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609600" y="533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171758" y="64179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6629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896112" y="953452"/>
            <a:ext cx="10533888" cy="5304187"/>
            <a:chOff x="896112" y="953452"/>
            <a:chExt cx="10533888" cy="5304187"/>
          </a:xfrm>
        </p:grpSpPr>
        <p:sp>
          <p:nvSpPr>
            <p:cNvPr id="7" name="TextBox 7"/>
            <p:cNvSpPr txBox="1"/>
            <p:nvPr/>
          </p:nvSpPr>
          <p:spPr>
            <a:xfrm>
              <a:off x="909066" y="953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6112" y="1211580"/>
              <a:ext cx="207203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决策议程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542" y="194976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本简报聚焦四个核心模块，直接回应管理层关注的价值与风险。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00684" y="2604135"/>
              <a:ext cx="3823716" cy="3387090"/>
              <a:chOff x="900684" y="2604135"/>
              <a:chExt cx="3823716" cy="3387090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900684" y="2604135"/>
                <a:ext cx="3823716" cy="758190"/>
                <a:chOff x="900684" y="2604135"/>
                <a:chExt cx="3823716" cy="758190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900684" y="2604135"/>
                  <a:ext cx="447244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7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01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1591818" y="2717482"/>
                  <a:ext cx="94968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战略价值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594866" y="3010852"/>
                  <a:ext cx="172074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AI工作台如何重塑营销ROI</a:t>
                  </a:r>
                </a:p>
              </p:txBody>
            </p:sp>
            <p:sp>
              <p:nvSpPr>
                <p:cNvPr id="13" name="Line 13"/>
                <p:cNvSpPr/>
                <p:nvPr/>
              </p:nvSpPr>
              <p:spPr>
                <a:xfrm>
                  <a:off x="914400" y="3352800"/>
                  <a:ext cx="3810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0" h="9525">
                      <a:moveTo>
                        <a:pt x="0" y="0"/>
                      </a:moveTo>
                      <a:lnTo>
                        <a:pt x="3810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19" name="Group 19"/>
              <p:cNvGrpSpPr/>
              <p:nvPr/>
            </p:nvGrpSpPr>
            <p:grpSpPr>
              <a:xfrm>
                <a:off x="900684" y="3480435"/>
                <a:ext cx="3823716" cy="758190"/>
                <a:chOff x="900684" y="3480435"/>
                <a:chExt cx="3823716" cy="758190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900684" y="3480435"/>
                  <a:ext cx="447244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7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02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591818" y="3593782"/>
                  <a:ext cx="94968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核心能力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594866" y="3887152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四大模块集成架构</a:t>
                  </a:r>
                </a:p>
              </p:txBody>
            </p:sp>
            <p:sp>
              <p:nvSpPr>
                <p:cNvPr id="18" name="Line 18"/>
                <p:cNvSpPr/>
                <p:nvPr/>
              </p:nvSpPr>
              <p:spPr>
                <a:xfrm>
                  <a:off x="914400" y="4229100"/>
                  <a:ext cx="3810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0" h="9525">
                      <a:moveTo>
                        <a:pt x="0" y="0"/>
                      </a:moveTo>
                      <a:lnTo>
                        <a:pt x="3810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900684" y="4356735"/>
                <a:ext cx="3823716" cy="758190"/>
                <a:chOff x="900684" y="4356735"/>
                <a:chExt cx="3823716" cy="758190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900684" y="4356735"/>
                  <a:ext cx="447244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7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03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591818" y="4470082"/>
                  <a:ext cx="94968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客户验证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594866" y="4763452"/>
                  <a:ext cx="14241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真实业务场景效果数据</a:t>
                  </a:r>
                </a:p>
              </p:txBody>
            </p:sp>
            <p:sp>
              <p:nvSpPr>
                <p:cNvPr id="23" name="Line 23"/>
                <p:cNvSpPr/>
                <p:nvPr/>
              </p:nvSpPr>
              <p:spPr>
                <a:xfrm>
                  <a:off x="914400" y="5105400"/>
                  <a:ext cx="3810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0" h="9525">
                      <a:moveTo>
                        <a:pt x="0" y="0"/>
                      </a:moveTo>
                      <a:lnTo>
                        <a:pt x="3810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900684" y="5233035"/>
                <a:ext cx="3823716" cy="758190"/>
                <a:chOff x="900684" y="5233035"/>
                <a:chExt cx="3823716" cy="758190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900684" y="5233035"/>
                  <a:ext cx="447244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7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04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591818" y="5346382"/>
                  <a:ext cx="949681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投入产出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594866" y="5639752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量化评估与风险提示</a:t>
                  </a:r>
                </a:p>
              </p:txBody>
            </p:sp>
            <p:sp>
              <p:nvSpPr>
                <p:cNvPr id="28" name="Line 28"/>
                <p:cNvSpPr/>
                <p:nvPr/>
              </p:nvSpPr>
              <p:spPr>
                <a:xfrm>
                  <a:off x="914400" y="5981700"/>
                  <a:ext cx="3810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0" h="9525">
                      <a:moveTo>
                        <a:pt x="0" y="0"/>
                      </a:moveTo>
                      <a:lnTo>
                        <a:pt x="3810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</p:grpSp>
        </p:grpSp>
        <p:grpSp>
          <p:nvGrpSpPr>
            <p:cNvPr id="39" name="Group 39"/>
            <p:cNvGrpSpPr/>
            <p:nvPr/>
          </p:nvGrpSpPr>
          <p:grpSpPr>
            <a:xfrm>
              <a:off x="5334000" y="2667000"/>
              <a:ext cx="6096000" cy="2857500"/>
              <a:chOff x="5334000" y="2667000"/>
              <a:chExt cx="6096000" cy="28575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0" y="2667000"/>
                <a:ext cx="6096000" cy="2857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5619750" y="3051810"/>
                <a:ext cx="1661541" cy="1524191"/>
                <a:chOff x="5619750" y="3051810"/>
                <a:chExt cx="1661541" cy="1524191"/>
              </a:xfrm>
            </p:grpSpPr>
            <p:sp>
              <p:nvSpPr>
                <p:cNvPr id="32" name="TextBox 32"/>
                <p:cNvSpPr txBox="1"/>
                <p:nvPr/>
              </p:nvSpPr>
              <p:spPr>
                <a:xfrm>
                  <a:off x="5619750" y="3051810"/>
                  <a:ext cx="691142" cy="819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2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05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5628132" y="3811905"/>
                  <a:ext cx="1208684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实施路径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5631942" y="4311968"/>
                  <a:ext cx="164934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快速落地三阶段计划</a:t>
                  </a:r>
                </a:p>
              </p:txBody>
            </p:sp>
          </p:grpSp>
          <p:sp>
            <p:nvSpPr>
              <p:cNvPr id="36" name="Line 36"/>
              <p:cNvSpPr/>
              <p:nvPr/>
            </p:nvSpPr>
            <p:spPr>
              <a:xfrm>
                <a:off x="5638800" y="4572000"/>
                <a:ext cx="5486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9525">
                    <a:moveTo>
                      <a:pt x="0" y="0"/>
                    </a:moveTo>
                    <a:lnTo>
                      <a:pt x="54864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5638800" y="4953000"/>
                <a:ext cx="350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505200" h="9525">
                    <a:moveTo>
                      <a:pt x="0" y="0"/>
                    </a:moveTo>
                    <a:lnTo>
                      <a:pt x="35052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5638800" y="5143500"/>
                <a:ext cx="457200" cy="38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5305425" y="5609749"/>
              <a:ext cx="4546473" cy="647890"/>
              <a:chOff x="5305425" y="5609749"/>
              <a:chExt cx="4546473" cy="647890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5329047" y="560974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聚焦要点</a:t>
                </a:r>
              </a:p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5305425" y="587692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481447" y="5838349"/>
                <a:ext cx="159783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AI工作台如何重塑营销ROI</a:t>
                </a:r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5305425" y="610552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481447" y="606694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四大模块集成架构</a:t>
                </a:r>
              </a:p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8353425" y="587692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8529447" y="58383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真实业务场景效果数据</a:t>
                </a:r>
              </a:p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8353425" y="610552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529447" y="606694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量化评估与风险提示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11195990" y="969645"/>
            <a:ext cx="391173" cy="176212"/>
            <a:chOff x="11195990" y="969645"/>
            <a:chExt cx="391173" cy="176212"/>
          </a:xfrm>
        </p:grpSpPr>
        <p:sp>
          <p:nvSpPr>
            <p:cNvPr id="51" name="TextBox 51"/>
            <p:cNvSpPr txBox="1"/>
            <p:nvPr/>
          </p:nvSpPr>
          <p:spPr>
            <a:xfrm>
              <a:off x="11195990" y="969645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2 页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533400"/>
            <a:ext cx="10977562" cy="269557"/>
            <a:chOff x="609600" y="533400"/>
            <a:chExt cx="10977562" cy="269557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1143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171758" y="6267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52450" y="1029652"/>
            <a:ext cx="11029950" cy="4313873"/>
            <a:chOff x="552450" y="1029652"/>
            <a:chExt cx="11029950" cy="4313873"/>
          </a:xfrm>
        </p:grpSpPr>
        <p:sp>
          <p:nvSpPr>
            <p:cNvPr id="5" name="TextBox 5"/>
            <p:cNvSpPr txBox="1"/>
            <p:nvPr/>
          </p:nvSpPr>
          <p:spPr>
            <a:xfrm>
              <a:off x="604266" y="102965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5884" y="1346835"/>
              <a:ext cx="14813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核心判断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590550" y="2266950"/>
              <a:ext cx="2553462" cy="1733550"/>
              <a:chOff x="590550" y="2266950"/>
              <a:chExt cx="2553462" cy="173355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90550" y="2266950"/>
                <a:ext cx="2137162" cy="173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300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743962" y="2849880"/>
                <a:ext cx="400050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%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03504" y="34899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数据分析效率提升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810000" y="2095500"/>
              <a:ext cx="7772400" cy="1714500"/>
              <a:chOff x="3810000" y="2095500"/>
              <a:chExt cx="7772400" cy="17145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810000" y="2095500"/>
                <a:ext cx="77724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106418" y="2488882"/>
                <a:ext cx="45141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AI营销工作台将数据分析效率提升300%，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106418" y="2831782"/>
                <a:ext cx="25822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决策周期从周压缩至天。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52450" y="4404360"/>
              <a:ext cx="10117074" cy="463296"/>
              <a:chOff x="552450" y="4404360"/>
              <a:chExt cx="10117074" cy="463296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552450" y="4404360"/>
                <a:ext cx="3161538" cy="463296"/>
                <a:chOff x="552450" y="4404360"/>
                <a:chExt cx="3161538" cy="463296"/>
              </a:xfrm>
            </p:grpSpPr>
            <p:sp>
              <p:nvSpPr>
                <p:cNvPr id="15" name="Ellipse 15"/>
                <p:cNvSpPr/>
                <p:nvPr/>
              </p:nvSpPr>
              <p:spPr>
                <a:xfrm>
                  <a:off x="552450" y="45148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794004" y="4404360"/>
                  <a:ext cx="102991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数据孤岛消除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794004" y="4632960"/>
                  <a:ext cx="29199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跨渠道用户画像统一，激活沉默数据资产</a:t>
                  </a: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4514850" y="4404360"/>
                <a:ext cx="2515362" cy="463296"/>
                <a:chOff x="4514850" y="4404360"/>
                <a:chExt cx="2515362" cy="463296"/>
              </a:xfrm>
            </p:grpSpPr>
            <p:sp>
              <p:nvSpPr>
                <p:cNvPr id="19" name="Ellipse 19"/>
                <p:cNvSpPr/>
                <p:nvPr/>
              </p:nvSpPr>
              <p:spPr>
                <a:xfrm>
                  <a:off x="4514850" y="45148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4756404" y="4404360"/>
                  <a:ext cx="139220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AI预测准确率87%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4756404" y="4632960"/>
                  <a:ext cx="227380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基于实时行为动态调整投放策略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8477250" y="4404360"/>
                <a:ext cx="2192274" cy="463296"/>
                <a:chOff x="8477250" y="4404360"/>
                <a:chExt cx="2192274" cy="463296"/>
              </a:xfrm>
            </p:grpSpPr>
            <p:sp>
              <p:nvSpPr>
                <p:cNvPr id="23" name="Ellipse 23"/>
                <p:cNvSpPr/>
                <p:nvPr/>
              </p:nvSpPr>
              <p:spPr>
                <a:xfrm>
                  <a:off x="8477250" y="45148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8718804" y="4404360"/>
                  <a:ext cx="185258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自动化覆盖80%重复任务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8718804" y="4632960"/>
                  <a:ext cx="195072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释放营销团队高价值创造力</a:t>
                  </a:r>
                </a:p>
              </p:txBody>
            </p:sp>
          </p:grpSp>
        </p:grpSp>
        <p:sp>
          <p:nvSpPr>
            <p:cNvPr id="28" name="Line 28"/>
            <p:cNvSpPr/>
            <p:nvPr/>
          </p:nvSpPr>
          <p:spPr>
            <a:xfrm>
              <a:off x="609600" y="533400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4572000" y="533400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8534400" y="5334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9745942" y="2821305"/>
            <a:ext cx="742226" cy="572452"/>
            <a:chOff x="9745942" y="2821305"/>
            <a:chExt cx="742226" cy="572452"/>
          </a:xfrm>
        </p:grpSpPr>
        <p:grpSp>
          <p:nvGrpSpPr>
            <p:cNvPr id="34" name="Group 34"/>
            <p:cNvGrpSpPr/>
            <p:nvPr/>
          </p:nvGrpSpPr>
          <p:grpSpPr>
            <a:xfrm>
              <a:off x="9745942" y="2821305"/>
              <a:ext cx="742226" cy="572452"/>
              <a:chOff x="9745942" y="2821305"/>
              <a:chExt cx="742226" cy="572452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9745942" y="2821305"/>
                <a:ext cx="74222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100" dirty="0">
                    <a:solidFill>
                      <a:schemeClr val="accent3"/>
                    </a:solidFill>
                    <a:latin typeface="+mj-lt"/>
                    <a:ea typeface="+mj-ea"/>
                    <a:cs typeface="+mj-cs"/>
                  </a:rPr>
                  <a:t>周→天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988105" y="321754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决策周期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11663362" cy="6858000"/>
            <a:chOff x="0" y="0"/>
            <a:chExt cx="11663362" cy="6858000"/>
          </a:xfrm>
        </p:grpSpPr>
        <p:sp>
          <p:nvSpPr>
            <p:cNvPr id="7" name="Rectangle 7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47958" y="3600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595884" y="648652"/>
            <a:ext cx="10986516" cy="5875973"/>
            <a:chOff x="595884" y="648652"/>
            <a:chExt cx="10986516" cy="5875973"/>
          </a:xfrm>
        </p:grpSpPr>
        <p:sp>
          <p:nvSpPr>
            <p:cNvPr id="11" name="TextBox 11"/>
            <p:cNvSpPr txBox="1"/>
            <p:nvPr/>
          </p:nvSpPr>
          <p:spPr>
            <a:xfrm>
              <a:off x="604266" y="648652"/>
              <a:ext cx="725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5884" y="851535"/>
              <a:ext cx="28493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现状 vs AI工作台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2742" y="1521142"/>
              <a:ext cx="5169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传统营销依赖人工经验，AI工作台实现数据驱动的精准运营。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609600" y="2000250"/>
              <a:ext cx="5143500" cy="4000500"/>
              <a:chOff x="609600" y="2000250"/>
              <a:chExt cx="5143500" cy="4000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2000250"/>
                <a:ext cx="5143500" cy="400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609600" y="2000250"/>
                <a:ext cx="5143500" cy="533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92480" y="21812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传统模式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801362" y="22298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人工决策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609600" y="2533650"/>
                <a:ext cx="76200" cy="346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876300" y="2800350"/>
                <a:ext cx="1544193" cy="2435161"/>
                <a:chOff x="876300" y="2800350"/>
                <a:chExt cx="1544193" cy="2435161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876300" y="2800350"/>
                  <a:ext cx="1402842" cy="434911"/>
                  <a:chOff x="876300" y="2800350"/>
                  <a:chExt cx="1402842" cy="434911"/>
                </a:xfrm>
              </p:grpSpPr>
              <p:sp>
                <p:nvSpPr>
                  <p:cNvPr id="19" name="Ellipse 19"/>
                  <p:cNvSpPr/>
                  <p:nvPr/>
                </p:nvSpPr>
                <p:spPr>
                  <a:xfrm>
                    <a:off x="876300" y="2800350"/>
                    <a:ext cx="152400" cy="1524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1136904" y="2804160"/>
                    <a:ext cx="1029919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周级数据分析</a:t>
                    </a:r>
                  </a:p>
                </p:txBody>
              </p:sp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1137666" y="3029902"/>
                    <a:ext cx="1141476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周期长，信息滞后</a:t>
                    </a:r>
                  </a:p>
                </p:txBody>
              </p:sp>
            </p:grpSp>
            <p:grpSp>
              <p:nvGrpSpPr>
                <p:cNvPr id="26" name="Group 26"/>
                <p:cNvGrpSpPr/>
                <p:nvPr/>
              </p:nvGrpSpPr>
              <p:grpSpPr>
                <a:xfrm>
                  <a:off x="876300" y="3467100"/>
                  <a:ext cx="1402842" cy="434911"/>
                  <a:chOff x="876300" y="3467100"/>
                  <a:chExt cx="1402842" cy="434911"/>
                </a:xfrm>
              </p:grpSpPr>
              <p:sp>
                <p:nvSpPr>
                  <p:cNvPr id="23" name="Ellipse 23"/>
                  <p:cNvSpPr/>
                  <p:nvPr/>
                </p:nvSpPr>
                <p:spPr>
                  <a:xfrm>
                    <a:off x="876300" y="3467100"/>
                    <a:ext cx="152400" cy="1524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</p:sp>
              <p:sp>
                <p:nvSpPr>
                  <p:cNvPr id="24" name="TextBox 24"/>
                  <p:cNvSpPr txBox="1"/>
                  <p:nvPr/>
                </p:nvSpPr>
                <p:spPr>
                  <a:xfrm>
                    <a:off x="1136904" y="3470910"/>
                    <a:ext cx="1029919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依赖经验判断</a:t>
                    </a:r>
                  </a:p>
                </p:txBody>
              </p:sp>
              <p:sp>
                <p:nvSpPr>
                  <p:cNvPr id="25" name="TextBox 25"/>
                  <p:cNvSpPr txBox="1"/>
                  <p:nvPr/>
                </p:nvSpPr>
                <p:spPr>
                  <a:xfrm>
                    <a:off x="1137666" y="3696652"/>
                    <a:ext cx="1141476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主观性强，风险高</a:t>
                    </a:r>
                  </a:p>
                </p:txBody>
              </p:sp>
            </p:grpSp>
            <p:grpSp>
              <p:nvGrpSpPr>
                <p:cNvPr id="30" name="Group 30"/>
                <p:cNvGrpSpPr/>
                <p:nvPr/>
              </p:nvGrpSpPr>
              <p:grpSpPr>
                <a:xfrm>
                  <a:off x="876300" y="4133850"/>
                  <a:ext cx="1402842" cy="434911"/>
                  <a:chOff x="876300" y="4133850"/>
                  <a:chExt cx="1402842" cy="434911"/>
                </a:xfrm>
              </p:grpSpPr>
              <p:sp>
                <p:nvSpPr>
                  <p:cNvPr id="27" name="Ellipse 27"/>
                  <p:cNvSpPr/>
                  <p:nvPr/>
                </p:nvSpPr>
                <p:spPr>
                  <a:xfrm>
                    <a:off x="876300" y="4133850"/>
                    <a:ext cx="152400" cy="1524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</p:sp>
              <p:sp>
                <p:nvSpPr>
                  <p:cNvPr id="28" name="TextBox 28"/>
                  <p:cNvSpPr txBox="1"/>
                  <p:nvPr/>
                </p:nvSpPr>
                <p:spPr>
                  <a:xfrm>
                    <a:off x="1136904" y="4137660"/>
                    <a:ext cx="690677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响应滞后</a:t>
                    </a:r>
                  </a:p>
                </p:txBody>
              </p:sp>
              <p:sp>
                <p:nvSpPr>
                  <p:cNvPr id="29" name="TextBox 29"/>
                  <p:cNvSpPr txBox="1"/>
                  <p:nvPr/>
                </p:nvSpPr>
                <p:spPr>
                  <a:xfrm>
                    <a:off x="1137666" y="4363402"/>
                    <a:ext cx="1141476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错失最佳决策窗口</a:t>
                    </a:r>
                  </a:p>
                </p:txBody>
              </p:sp>
            </p:grpSp>
            <p:grpSp>
              <p:nvGrpSpPr>
                <p:cNvPr id="34" name="Group 34"/>
                <p:cNvGrpSpPr/>
                <p:nvPr/>
              </p:nvGrpSpPr>
              <p:grpSpPr>
                <a:xfrm>
                  <a:off x="876300" y="4800600"/>
                  <a:ext cx="1544193" cy="434911"/>
                  <a:chOff x="876300" y="4800600"/>
                  <a:chExt cx="1544193" cy="434911"/>
                </a:xfrm>
              </p:grpSpPr>
              <p:sp>
                <p:nvSpPr>
                  <p:cNvPr id="31" name="Ellipse 31"/>
                  <p:cNvSpPr/>
                  <p:nvPr/>
                </p:nvSpPr>
                <p:spPr>
                  <a:xfrm>
                    <a:off x="876300" y="4800600"/>
                    <a:ext cx="152400" cy="1524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</p:sp>
              <p:sp>
                <p:nvSpPr>
                  <p:cNvPr id="32" name="TextBox 32"/>
                  <p:cNvSpPr txBox="1"/>
                  <p:nvPr/>
                </p:nvSpPr>
                <p:spPr>
                  <a:xfrm>
                    <a:off x="1136904" y="4804410"/>
                    <a:ext cx="690677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成本高企</a:t>
                    </a:r>
                  </a:p>
                </p:txBody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1137666" y="5030152"/>
                    <a:ext cx="1282827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人力投入大，效率低</a:t>
                    </a:r>
                  </a:p>
                </p:txBody>
              </p:sp>
            </p:grpSp>
          </p:grpSp>
        </p:grpSp>
        <p:grpSp>
          <p:nvGrpSpPr>
            <p:cNvPr id="40" name="Group 40"/>
            <p:cNvGrpSpPr/>
            <p:nvPr/>
          </p:nvGrpSpPr>
          <p:grpSpPr>
            <a:xfrm>
              <a:off x="5943600" y="3848100"/>
              <a:ext cx="304800" cy="304800"/>
              <a:chOff x="5943600" y="3848100"/>
              <a:chExt cx="304800" cy="304800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5943600" y="4000500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">
                    <a:moveTo>
                      <a:pt x="0" y="0"/>
                    </a:moveTo>
                    <a:lnTo>
                      <a:pt x="30480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5943600" y="384810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008522" y="3934778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VS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438900" y="2000250"/>
              <a:ext cx="5143500" cy="4000500"/>
              <a:chOff x="6438900" y="2000250"/>
              <a:chExt cx="5143500" cy="40005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438900" y="2000250"/>
                <a:ext cx="5143500" cy="4000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6438900" y="2000250"/>
                <a:ext cx="5143500" cy="400050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6438900" y="2000250"/>
                <a:ext cx="5143500" cy="533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621780" y="2181225"/>
                <a:ext cx="83667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AI工作台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630662" y="22298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智能决策</a:t>
                </a:r>
              </a:p>
            </p:txBody>
          </p:sp>
          <p:grpSp>
            <p:nvGrpSpPr>
              <p:cNvPr id="62" name="Group 62"/>
              <p:cNvGrpSpPr/>
              <p:nvPr/>
            </p:nvGrpSpPr>
            <p:grpSpPr>
              <a:xfrm>
                <a:off x="6705600" y="2800350"/>
                <a:ext cx="1261491" cy="2435161"/>
                <a:chOff x="6705600" y="2800350"/>
                <a:chExt cx="1261491" cy="2435161"/>
              </a:xfrm>
            </p:grpSpPr>
            <p:grpSp>
              <p:nvGrpSpPr>
                <p:cNvPr id="49" name="Group 49"/>
                <p:cNvGrpSpPr/>
                <p:nvPr/>
              </p:nvGrpSpPr>
              <p:grpSpPr>
                <a:xfrm>
                  <a:off x="6705600" y="2800350"/>
                  <a:ext cx="1120140" cy="434911"/>
                  <a:chOff x="6705600" y="2800350"/>
                  <a:chExt cx="1120140" cy="434911"/>
                </a:xfrm>
              </p:grpSpPr>
              <p:sp>
                <p:nvSpPr>
                  <p:cNvPr id="46" name="Ellipse 46"/>
                  <p:cNvSpPr/>
                  <p:nvPr/>
                </p:nvSpPr>
                <p:spPr>
                  <a:xfrm>
                    <a:off x="6705600" y="2800350"/>
                    <a:ext cx="152400" cy="1524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</p:sp>
              <p:sp>
                <p:nvSpPr>
                  <p:cNvPr id="47" name="TextBox 47"/>
                  <p:cNvSpPr txBox="1"/>
                  <p:nvPr/>
                </p:nvSpPr>
                <p:spPr>
                  <a:xfrm>
                    <a:off x="6966204" y="2804160"/>
                    <a:ext cx="690677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实时洞察</a:t>
                    </a:r>
                  </a:p>
                </p:txBody>
              </p:sp>
              <p:sp>
                <p:nvSpPr>
                  <p:cNvPr id="48" name="TextBox 48"/>
                  <p:cNvSpPr txBox="1"/>
                  <p:nvPr/>
                </p:nvSpPr>
                <p:spPr>
                  <a:xfrm>
                    <a:off x="6966966" y="3029902"/>
                    <a:ext cx="858774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数据秒级更新</a:t>
                    </a:r>
                  </a:p>
                </p:txBody>
              </p:sp>
            </p:grpSp>
            <p:grpSp>
              <p:nvGrpSpPr>
                <p:cNvPr id="53" name="Group 53"/>
                <p:cNvGrpSpPr/>
                <p:nvPr/>
              </p:nvGrpSpPr>
              <p:grpSpPr>
                <a:xfrm>
                  <a:off x="6705600" y="3467100"/>
                  <a:ext cx="1120140" cy="434911"/>
                  <a:chOff x="6705600" y="3467100"/>
                  <a:chExt cx="1120140" cy="434911"/>
                </a:xfrm>
              </p:grpSpPr>
              <p:sp>
                <p:nvSpPr>
                  <p:cNvPr id="50" name="Ellipse 50"/>
                  <p:cNvSpPr/>
                  <p:nvPr/>
                </p:nvSpPr>
                <p:spPr>
                  <a:xfrm>
                    <a:off x="6705600" y="3467100"/>
                    <a:ext cx="152400" cy="1524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</p:sp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6966204" y="3470910"/>
                    <a:ext cx="690677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算法驱动</a:t>
                    </a:r>
                  </a:p>
                </p:txBody>
              </p:sp>
              <p:sp>
                <p:nvSpPr>
                  <p:cNvPr id="52" name="TextBox 52"/>
                  <p:cNvSpPr txBox="1"/>
                  <p:nvPr/>
                </p:nvSpPr>
                <p:spPr>
                  <a:xfrm>
                    <a:off x="6966966" y="3696652"/>
                    <a:ext cx="858774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模型自动优化</a:t>
                    </a:r>
                  </a:p>
                </p:txBody>
              </p:sp>
            </p:grpSp>
            <p:grpSp>
              <p:nvGrpSpPr>
                <p:cNvPr id="57" name="Group 57"/>
                <p:cNvGrpSpPr/>
                <p:nvPr/>
              </p:nvGrpSpPr>
              <p:grpSpPr>
                <a:xfrm>
                  <a:off x="6705600" y="4133850"/>
                  <a:ext cx="1120140" cy="434911"/>
                  <a:chOff x="6705600" y="4133850"/>
                  <a:chExt cx="1120140" cy="434911"/>
                </a:xfrm>
              </p:grpSpPr>
              <p:sp>
                <p:nvSpPr>
                  <p:cNvPr id="54" name="Ellipse 54"/>
                  <p:cNvSpPr/>
                  <p:nvPr/>
                </p:nvSpPr>
                <p:spPr>
                  <a:xfrm>
                    <a:off x="6705600" y="4133850"/>
                    <a:ext cx="152400" cy="1524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</p:sp>
              <p:sp>
                <p:nvSpPr>
                  <p:cNvPr id="55" name="TextBox 55"/>
                  <p:cNvSpPr txBox="1"/>
                  <p:nvPr/>
                </p:nvSpPr>
                <p:spPr>
                  <a:xfrm>
                    <a:off x="6966204" y="4137660"/>
                    <a:ext cx="690677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秒级响应</a:t>
                    </a:r>
                  </a:p>
                </p:txBody>
              </p:sp>
              <p:sp>
                <p:nvSpPr>
                  <p:cNvPr id="56" name="TextBox 56"/>
                  <p:cNvSpPr txBox="1"/>
                  <p:nvPr/>
                </p:nvSpPr>
                <p:spPr>
                  <a:xfrm>
                    <a:off x="6966966" y="4363402"/>
                    <a:ext cx="858774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即时策略调整</a:t>
                    </a:r>
                  </a:p>
                </p:txBody>
              </p:sp>
            </p:grpSp>
            <p:grpSp>
              <p:nvGrpSpPr>
                <p:cNvPr id="61" name="Group 61"/>
                <p:cNvGrpSpPr/>
                <p:nvPr/>
              </p:nvGrpSpPr>
              <p:grpSpPr>
                <a:xfrm>
                  <a:off x="6705600" y="4800600"/>
                  <a:ext cx="1261491" cy="434911"/>
                  <a:chOff x="6705600" y="4800600"/>
                  <a:chExt cx="1261491" cy="434911"/>
                </a:xfrm>
              </p:grpSpPr>
              <p:sp>
                <p:nvSpPr>
                  <p:cNvPr id="58" name="Ellipse 58"/>
                  <p:cNvSpPr/>
                  <p:nvPr/>
                </p:nvSpPr>
                <p:spPr>
                  <a:xfrm>
                    <a:off x="6705600" y="4800600"/>
                    <a:ext cx="152400" cy="1524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</p:sp>
              <p:sp>
                <p:nvSpPr>
                  <p:cNvPr id="59" name="TextBox 59"/>
                  <p:cNvSpPr txBox="1"/>
                  <p:nvPr/>
                </p:nvSpPr>
                <p:spPr>
                  <a:xfrm>
                    <a:off x="6966204" y="4804410"/>
                    <a:ext cx="836615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ROI可量化</a:t>
                    </a:r>
                  </a:p>
                </p:txBody>
              </p:sp>
              <p:sp>
                <p:nvSpPr>
                  <p:cNvPr id="60" name="TextBox 60"/>
                  <p:cNvSpPr txBox="1"/>
                  <p:nvPr/>
                </p:nvSpPr>
                <p:spPr>
                  <a:xfrm>
                    <a:off x="6966966" y="5030152"/>
                    <a:ext cx="1000125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效果透明可追溯</a:t>
                    </a:r>
                  </a:p>
                </p:txBody>
              </p:sp>
            </p:grpSp>
          </p:grpSp>
        </p:grpSp>
        <p:grpSp>
          <p:nvGrpSpPr>
            <p:cNvPr id="68" name="Group 68"/>
            <p:cNvGrpSpPr/>
            <p:nvPr/>
          </p:nvGrpSpPr>
          <p:grpSpPr>
            <a:xfrm>
              <a:off x="609600" y="6143625"/>
              <a:ext cx="10972800" cy="381000"/>
              <a:chOff x="609600" y="6143625"/>
              <a:chExt cx="10972800" cy="3810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609600" y="6143625"/>
                <a:ext cx="10972800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94766" y="627792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关键变量：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709166" y="6277928"/>
                <a:ext cx="17100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数据 → 决策 → 执行 → 度量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712204" y="6277928"/>
                <a:ext cx="13040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不同路径 → 不同结果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609600" y="609600"/>
            <a:ext cx="10972800" cy="6029325"/>
            <a:chOff x="609600" y="609600"/>
            <a:chExt cx="10972800" cy="6029325"/>
          </a:xfrm>
        </p:grpSpPr>
        <p:sp>
          <p:nvSpPr>
            <p:cNvPr id="70" name="Rectangle 70"/>
            <p:cNvSpPr/>
            <p:nvPr/>
          </p:nvSpPr>
          <p:spPr>
            <a:xfrm>
              <a:off x="11277600" y="609600"/>
              <a:ext cx="304800" cy="30480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1" name="Line 71"/>
            <p:cNvSpPr/>
            <p:nvPr/>
          </p:nvSpPr>
          <p:spPr>
            <a:xfrm>
              <a:off x="11277600" y="609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3048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11277600" y="609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609600" y="6629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9600" y="533400"/>
            <a:ext cx="10977562" cy="231457"/>
            <a:chOff x="609600" y="533400"/>
            <a:chExt cx="10977562" cy="231457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171758" y="5886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97408" y="923449"/>
            <a:ext cx="11013567" cy="5353526"/>
            <a:chOff x="597408" y="923449"/>
            <a:chExt cx="11013567" cy="5353526"/>
          </a:xfrm>
        </p:grpSpPr>
        <p:sp>
          <p:nvSpPr>
            <p:cNvPr id="5" name="TextBox 5"/>
            <p:cNvSpPr txBox="1"/>
            <p:nvPr/>
          </p:nvSpPr>
          <p:spPr>
            <a:xfrm>
              <a:off x="604647" y="923449"/>
              <a:ext cx="8878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PROOFGRID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7408" y="12268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客户实证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2742" y="17211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以下数据来自已部署客户的真实业务场景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09600" y="2286000"/>
              <a:ext cx="3429000" cy="3048000"/>
              <a:chOff x="609600" y="2286000"/>
              <a:chExt cx="3429000" cy="3048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09600" y="2286000"/>
                <a:ext cx="3429000" cy="3048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09600" y="2286000"/>
                <a:ext cx="57150" cy="304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32866" y="2553652"/>
                <a:ext cx="7712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零售集团 A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24484" y="2947035"/>
                <a:ext cx="89977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+42%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33247" y="3466624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会员转化率提升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24484" y="3661410"/>
                <a:ext cx="89977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+28%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33247" y="4180999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客单价增长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2485" y="4641056"/>
                <a:ext cx="115485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3个月内可见成效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267200" y="2286000"/>
              <a:ext cx="3429000" cy="3048000"/>
              <a:chOff x="4267200" y="2286000"/>
              <a:chExt cx="3429000" cy="3048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267200" y="2286000"/>
                <a:ext cx="3429000" cy="3048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4267200" y="2286000"/>
                <a:ext cx="57150" cy="304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90466" y="2553652"/>
                <a:ext cx="7712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金融科技 B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82084" y="2947035"/>
                <a:ext cx="119054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14→3天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90847" y="346662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活动筹备周期压缩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82084" y="3661410"/>
                <a:ext cx="42725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×2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490847" y="4180999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触达率翻倍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90085" y="4641056"/>
                <a:ext cx="9201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效率大幅提升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924800" y="2286000"/>
              <a:ext cx="3429000" cy="3048000"/>
              <a:chOff x="7924800" y="2286000"/>
              <a:chExt cx="3429000" cy="3048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924800" y="2286000"/>
                <a:ext cx="3429000" cy="3048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7924800" y="2286000"/>
                <a:ext cx="57150" cy="304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48066" y="2553652"/>
                <a:ext cx="7712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电商平台 C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39684" y="2947035"/>
                <a:ext cx="89977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-35%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148447" y="346662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年度营销成本降低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39684" y="3661410"/>
                <a:ext cx="89977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+65%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48447" y="4180999"/>
                <a:ext cx="54383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GMV增长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47685" y="4641056"/>
                <a:ext cx="9075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ROI显著改善</a:t>
                </a:r>
              </a:p>
            </p:txBody>
          </p:sp>
        </p:grpSp>
        <p:sp>
          <p:nvSpPr>
            <p:cNvPr id="35" name="Ellipse 35"/>
            <p:cNvSpPr/>
            <p:nvPr/>
          </p:nvSpPr>
          <p:spPr>
            <a:xfrm>
              <a:off x="11249025" y="60674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1401425" y="60674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553825" y="60674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249025" y="62198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401425" y="62198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553825" y="62198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09600" y="6477000"/>
            <a:ext cx="1295400" cy="9525"/>
            <a:chOff x="609600" y="6477000"/>
            <a:chExt cx="1295400" cy="9525"/>
          </a:xfrm>
        </p:grpSpPr>
        <p:sp>
          <p:nvSpPr>
            <p:cNvPr id="42" name="Line 42"/>
            <p:cNvSpPr/>
            <p:nvPr/>
          </p:nvSpPr>
          <p:spPr>
            <a:xfrm>
              <a:off x="609600" y="647700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33400"/>
            <a:ext cx="381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609600" y="502920"/>
            <a:ext cx="9601200" cy="5021580"/>
            <a:chOff x="609600" y="502920"/>
            <a:chExt cx="9601200" cy="5021580"/>
          </a:xfrm>
        </p:grpSpPr>
        <p:sp>
          <p:nvSpPr>
            <p:cNvPr id="3" name="TextBox 3"/>
            <p:cNvSpPr txBox="1"/>
            <p:nvPr/>
          </p:nvSpPr>
          <p:spPr>
            <a:xfrm>
              <a:off x="787908" y="502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效果指标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93242" y="949642"/>
              <a:ext cx="3249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核心运营数据验证AI工作台的商业价值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09600" y="1524000"/>
              <a:ext cx="4495800" cy="1714500"/>
              <a:chOff x="609600" y="1524000"/>
              <a:chExt cx="4495800" cy="17145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609600" y="1524000"/>
                <a:ext cx="4495800" cy="17145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6" name="Ellipse 6"/>
              <p:cNvSpPr/>
              <p:nvPr/>
            </p:nvSpPr>
            <p:spPr>
              <a:xfrm>
                <a:off x="819150" y="1581150"/>
                <a:ext cx="838200" cy="838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6557" y="1851660"/>
                <a:ext cx="94338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300%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804797" y="184737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数据处理效率提升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804797" y="20664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较传统人工模式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5715000" y="1524000"/>
              <a:ext cx="4495800" cy="1714500"/>
              <a:chOff x="5715000" y="1524000"/>
              <a:chExt cx="4495800" cy="17145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0" y="1524000"/>
                <a:ext cx="4495800" cy="17145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5924550" y="1581150"/>
                <a:ext cx="838200" cy="838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976910" y="1851660"/>
                <a:ext cx="73348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87%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910197" y="1847374"/>
                <a:ext cx="82120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AI预测准确率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910197" y="2066449"/>
                <a:ext cx="11321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基于6个月运营数据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09600" y="3810000"/>
              <a:ext cx="4495800" cy="1714500"/>
              <a:chOff x="609600" y="3810000"/>
              <a:chExt cx="4495800" cy="1714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09600" y="3810000"/>
                <a:ext cx="4495800" cy="17145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819150" y="3867150"/>
                <a:ext cx="838200" cy="838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71510" y="4137660"/>
                <a:ext cx="73348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80%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804797" y="4133374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自动化任务覆盖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04797" y="43524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重复性工作占比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715000" y="3810000"/>
              <a:ext cx="4495800" cy="1714500"/>
              <a:chOff x="5715000" y="3810000"/>
              <a:chExt cx="4495800" cy="17145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0" y="3810000"/>
                <a:ext cx="4495800" cy="171450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5924550" y="3867150"/>
                <a:ext cx="838200" cy="838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910122" y="4137660"/>
                <a:ext cx="86705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2.8x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910197" y="4133374"/>
                <a:ext cx="78653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平均ROI倍数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910197" y="435244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客户平均投入产出比</a:t>
                </a:r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10695432" y="6379845"/>
            <a:ext cx="2821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 / 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33400"/>
            <a:ext cx="10972800" cy="5791200"/>
          </a:xfrm>
          <a:prstGeom prst="rect">
            <a:avLst/>
          </a:prstGeom>
          <a:noFill/>
          <a:ln w="9525">
            <a:solidFill>
              <a:schemeClr val="accent4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604838" y="283845"/>
            <a:ext cx="10982324" cy="6456521"/>
            <a:chOff x="604838" y="283845"/>
            <a:chExt cx="10982324" cy="6456521"/>
          </a:xfrm>
        </p:grpSpPr>
        <p:sp>
          <p:nvSpPr>
            <p:cNvPr id="3" name="TextBox 3"/>
            <p:cNvSpPr txBox="1"/>
            <p:nvPr/>
          </p:nvSpPr>
          <p:spPr>
            <a:xfrm>
              <a:off x="604838" y="283845"/>
              <a:ext cx="9578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495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277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 / 8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97408" y="693420"/>
            <a:ext cx="10993145" cy="4161091"/>
            <a:chOff x="597408" y="693420"/>
            <a:chExt cx="10993145" cy="4161091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6934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工作台架构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2742" y="11115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四大模块闭环运作，覆盖营销全链路。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1143000" y="1714500"/>
              <a:ext cx="10447553" cy="3140011"/>
              <a:chOff x="1143000" y="1714500"/>
              <a:chExt cx="10447553" cy="3140011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1143000" y="1714500"/>
                <a:ext cx="2286000" cy="1524000"/>
                <a:chOff x="1143000" y="1714500"/>
                <a:chExt cx="2286000" cy="1524000"/>
              </a:xfrm>
            </p:grpSpPr>
            <p:sp>
              <p:nvSpPr>
                <p:cNvPr id="9" name="Rectangle 9"/>
                <p:cNvSpPr/>
                <p:nvPr/>
              </p:nvSpPr>
              <p:spPr>
                <a:xfrm>
                  <a:off x="1143000" y="1714500"/>
                  <a:ext cx="2286000" cy="1524000"/>
                </a:xfrm>
                <a:prstGeom prst="rect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" name="Ellipse 10"/>
                <p:cNvSpPr/>
                <p:nvPr/>
              </p:nvSpPr>
              <p:spPr>
                <a:xfrm>
                  <a:off x="1219200" y="1790700"/>
                  <a:ext cx="304800" cy="3048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1318858" y="1861185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669542" y="185451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数据整合</a:t>
                  </a:r>
                </a:p>
              </p:txBody>
            </p:sp>
            <p:sp>
              <p:nvSpPr>
                <p:cNvPr id="13" name="Line 13"/>
                <p:cNvSpPr/>
                <p:nvPr/>
              </p:nvSpPr>
              <p:spPr>
                <a:xfrm>
                  <a:off x="1143000" y="2247900"/>
                  <a:ext cx="2286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9525">
                      <a:moveTo>
                        <a:pt x="0" y="0"/>
                      </a:moveTo>
                      <a:lnTo>
                        <a:pt x="2286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290066" y="24203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多源采集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290066" y="2629852"/>
                  <a:ext cx="29337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清洗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290066" y="2839402"/>
                  <a:ext cx="43472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标签化</a:t>
                  </a:r>
                </a:p>
              </p:txBody>
            </p:sp>
            <p:sp>
              <p:nvSpPr>
                <p:cNvPr id="17" name="Ellipse 17"/>
                <p:cNvSpPr/>
                <p:nvPr/>
              </p:nvSpPr>
              <p:spPr>
                <a:xfrm>
                  <a:off x="2819400" y="2628900"/>
                  <a:ext cx="457200" cy="457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8" name="Ellipse 18"/>
                <p:cNvSpPr/>
                <p:nvPr/>
              </p:nvSpPr>
              <p:spPr>
                <a:xfrm>
                  <a:off x="2933700" y="2743200"/>
                  <a:ext cx="228600" cy="228600"/>
                </a:xfrm>
                <a:prstGeom prst="ellipse">
                  <a:avLst/>
                </a:prstGeom>
                <a:solidFill>
                  <a:schemeClr val="accent2">
                    <a:alpha val="30000"/>
                  </a:schemeClr>
                </a:solidFill>
                <a:ln>
                  <a:noFill/>
                </a:ln>
              </p:spPr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4191000" y="1714500"/>
                <a:ext cx="2286000" cy="1524000"/>
                <a:chOff x="4191000" y="1714500"/>
                <a:chExt cx="2286000" cy="1524000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4191000" y="1714500"/>
                  <a:ext cx="2286000" cy="1524000"/>
                </a:xfrm>
                <a:prstGeom prst="rect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1" name="Ellipse 21"/>
                <p:cNvSpPr/>
                <p:nvPr/>
              </p:nvSpPr>
              <p:spPr>
                <a:xfrm>
                  <a:off x="4267200" y="1790700"/>
                  <a:ext cx="304800" cy="3048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366858" y="1861185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717542" y="1854518"/>
                  <a:ext cx="588348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AI分析</a:t>
                  </a:r>
                </a:p>
              </p:txBody>
            </p:sp>
            <p:sp>
              <p:nvSpPr>
                <p:cNvPr id="24" name="Line 24"/>
                <p:cNvSpPr/>
                <p:nvPr/>
              </p:nvSpPr>
              <p:spPr>
                <a:xfrm>
                  <a:off x="4191000" y="2247900"/>
                  <a:ext cx="2286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9525">
                      <a:moveTo>
                        <a:pt x="0" y="0"/>
                      </a:moveTo>
                      <a:lnTo>
                        <a:pt x="2286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338066" y="24203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用户洞察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338066" y="262985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预测模型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338066" y="2839402"/>
                  <a:ext cx="29337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归因</a:t>
                  </a:r>
                </a:p>
              </p:txBody>
            </p:sp>
            <p:sp>
              <p:nvSpPr>
                <p:cNvPr id="28" name="Ellipse 28"/>
                <p:cNvSpPr/>
                <p:nvPr/>
              </p:nvSpPr>
              <p:spPr>
                <a:xfrm>
                  <a:off x="5867400" y="2628900"/>
                  <a:ext cx="457200" cy="457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29" name="Ellipse 29"/>
                <p:cNvSpPr/>
                <p:nvPr/>
              </p:nvSpPr>
              <p:spPr>
                <a:xfrm>
                  <a:off x="5981700" y="2743200"/>
                  <a:ext cx="228600" cy="228600"/>
                </a:xfrm>
                <a:prstGeom prst="ellipse">
                  <a:avLst/>
                </a:prstGeom>
                <a:solidFill>
                  <a:schemeClr val="accent2">
                    <a:alpha val="30000"/>
                  </a:schemeClr>
                </a:solidFill>
                <a:ln>
                  <a:noFill/>
                </a:ln>
              </p:spPr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7239000" y="1714500"/>
                <a:ext cx="2286000" cy="1524000"/>
                <a:chOff x="7239000" y="1714500"/>
                <a:chExt cx="2286000" cy="1524000"/>
              </a:xfrm>
            </p:grpSpPr>
            <p:sp>
              <p:nvSpPr>
                <p:cNvPr id="31" name="Rectangle 31"/>
                <p:cNvSpPr/>
                <p:nvPr/>
              </p:nvSpPr>
              <p:spPr>
                <a:xfrm>
                  <a:off x="7239000" y="1714500"/>
                  <a:ext cx="2286000" cy="1524000"/>
                </a:xfrm>
                <a:prstGeom prst="rect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2" name="Ellipse 32"/>
                <p:cNvSpPr/>
                <p:nvPr/>
              </p:nvSpPr>
              <p:spPr>
                <a:xfrm>
                  <a:off x="7315200" y="1790700"/>
                  <a:ext cx="304800" cy="3048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414858" y="1861185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765542" y="1854518"/>
                  <a:ext cx="96783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自动化执行</a:t>
                  </a:r>
                </a:p>
              </p:txBody>
            </p:sp>
            <p:sp>
              <p:nvSpPr>
                <p:cNvPr id="35" name="Line 35"/>
                <p:cNvSpPr/>
                <p:nvPr/>
              </p:nvSpPr>
              <p:spPr>
                <a:xfrm>
                  <a:off x="7239000" y="2247900"/>
                  <a:ext cx="2286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9525">
                      <a:moveTo>
                        <a:pt x="0" y="0"/>
                      </a:moveTo>
                      <a:lnTo>
                        <a:pt x="2286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7386066" y="24203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智能投放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386066" y="262985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触发规则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386066" y="2839402"/>
                  <a:ext cx="55580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A/B测试</a:t>
                  </a:r>
                </a:p>
              </p:txBody>
            </p:sp>
            <p:sp>
              <p:nvSpPr>
                <p:cNvPr id="39" name="Ellipse 39"/>
                <p:cNvSpPr/>
                <p:nvPr/>
              </p:nvSpPr>
              <p:spPr>
                <a:xfrm>
                  <a:off x="8915400" y="2628900"/>
                  <a:ext cx="457200" cy="457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40" name="Ellipse 40"/>
                <p:cNvSpPr/>
                <p:nvPr/>
              </p:nvSpPr>
              <p:spPr>
                <a:xfrm>
                  <a:off x="9029700" y="2743200"/>
                  <a:ext cx="228600" cy="228600"/>
                </a:xfrm>
                <a:prstGeom prst="ellipse">
                  <a:avLst/>
                </a:prstGeom>
                <a:solidFill>
                  <a:schemeClr val="accent2">
                    <a:alpha val="30000"/>
                  </a:schemeClr>
                </a:solidFill>
                <a:ln>
                  <a:noFill/>
                </a:ln>
              </p:spPr>
            </p:sp>
          </p:grpSp>
          <p:grpSp>
            <p:nvGrpSpPr>
              <p:cNvPr id="50" name="Group 50"/>
              <p:cNvGrpSpPr/>
              <p:nvPr/>
            </p:nvGrpSpPr>
            <p:grpSpPr>
              <a:xfrm>
                <a:off x="10287000" y="1714500"/>
                <a:ext cx="1303553" cy="1524000"/>
                <a:chOff x="10287000" y="1714500"/>
                <a:chExt cx="1303553" cy="1524000"/>
              </a:xfrm>
            </p:grpSpPr>
            <p:sp>
              <p:nvSpPr>
                <p:cNvPr id="42" name="Rectangle 42"/>
                <p:cNvSpPr/>
                <p:nvPr/>
              </p:nvSpPr>
              <p:spPr>
                <a:xfrm>
                  <a:off x="10287000" y="1714500"/>
                  <a:ext cx="1295400" cy="1524000"/>
                </a:xfrm>
                <a:prstGeom prst="rect">
                  <a:avLst/>
                </a:prstGeom>
                <a:solidFill>
                  <a:schemeClr val="l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43" name="Ellipse 43"/>
                <p:cNvSpPr/>
                <p:nvPr/>
              </p:nvSpPr>
              <p:spPr>
                <a:xfrm>
                  <a:off x="10363200" y="1790700"/>
                  <a:ext cx="304800" cy="3048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10462858" y="1861185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0813542" y="185451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效果度量</a:t>
                  </a:r>
                </a:p>
              </p:txBody>
            </p:sp>
            <p:sp>
              <p:nvSpPr>
                <p:cNvPr id="46" name="Line 46"/>
                <p:cNvSpPr/>
                <p:nvPr/>
              </p:nvSpPr>
              <p:spPr>
                <a:xfrm>
                  <a:off x="10287000" y="2247900"/>
                  <a:ext cx="129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5400" h="9525">
                      <a:moveTo>
                        <a:pt x="0" y="0"/>
                      </a:moveTo>
                      <a:lnTo>
                        <a:pt x="12954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0434066" y="24203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实时看板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10434066" y="2629852"/>
                  <a:ext cx="5483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ROI追踪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10434066" y="2839402"/>
                  <a:ext cx="29337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优化</a:t>
                  </a:r>
                </a:p>
              </p:txBody>
            </p:sp>
          </p:grpSp>
          <p:grpSp>
            <p:nvGrpSpPr>
              <p:cNvPr id="57" name="Group 57"/>
              <p:cNvGrpSpPr/>
              <p:nvPr/>
            </p:nvGrpSpPr>
            <p:grpSpPr>
              <a:xfrm>
                <a:off x="3429000" y="2419350"/>
                <a:ext cx="6934200" cy="114300"/>
                <a:chOff x="3429000" y="2419350"/>
                <a:chExt cx="6934200" cy="114300"/>
              </a:xfrm>
            </p:grpSpPr>
            <p:sp>
              <p:nvSpPr>
                <p:cNvPr id="51" name="Line 51"/>
                <p:cNvSpPr/>
                <p:nvPr/>
              </p:nvSpPr>
              <p:spPr>
                <a:xfrm>
                  <a:off x="3429000" y="2476500"/>
                  <a:ext cx="76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9525">
                      <a:moveTo>
                        <a:pt x="0" y="0"/>
                      </a:moveTo>
                      <a:lnTo>
                        <a:pt x="762000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52" name="Polygon 52"/>
                <p:cNvSpPr/>
                <p:nvPr/>
              </p:nvSpPr>
              <p:spPr>
                <a:xfrm>
                  <a:off x="4152900" y="241935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57150"/>
                      </a:lnTo>
                      <a:lnTo>
                        <a:pt x="0" y="1143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3" name="Line 53"/>
                <p:cNvSpPr/>
                <p:nvPr/>
              </p:nvSpPr>
              <p:spPr>
                <a:xfrm>
                  <a:off x="6477000" y="2476500"/>
                  <a:ext cx="76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9525">
                      <a:moveTo>
                        <a:pt x="0" y="0"/>
                      </a:moveTo>
                      <a:lnTo>
                        <a:pt x="762000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54" name="Polygon 54"/>
                <p:cNvSpPr/>
                <p:nvPr/>
              </p:nvSpPr>
              <p:spPr>
                <a:xfrm>
                  <a:off x="7200900" y="241935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57150"/>
                      </a:lnTo>
                      <a:lnTo>
                        <a:pt x="0" y="1143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5" name="Line 55"/>
                <p:cNvSpPr/>
                <p:nvPr/>
              </p:nvSpPr>
              <p:spPr>
                <a:xfrm>
                  <a:off x="9525000" y="2476500"/>
                  <a:ext cx="76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9525">
                      <a:moveTo>
                        <a:pt x="0" y="0"/>
                      </a:moveTo>
                      <a:lnTo>
                        <a:pt x="762000" y="0"/>
                      </a:lnTo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56" name="Polygon 56"/>
                <p:cNvSpPr/>
                <p:nvPr/>
              </p:nvSpPr>
              <p:spPr>
                <a:xfrm>
                  <a:off x="10248900" y="241935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57150"/>
                      </a:lnTo>
                      <a:lnTo>
                        <a:pt x="0" y="1143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grpSp>
            <p:nvGrpSpPr>
              <p:cNvPr id="61" name="Group 61"/>
              <p:cNvGrpSpPr/>
              <p:nvPr/>
            </p:nvGrpSpPr>
            <p:grpSpPr>
              <a:xfrm>
                <a:off x="1866900" y="3162300"/>
                <a:ext cx="9067800" cy="1692211"/>
                <a:chOff x="1866900" y="3162300"/>
                <a:chExt cx="9067800" cy="1692211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1905000" y="3238500"/>
                  <a:ext cx="9029700" cy="133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29700" h="1333500">
                      <a:moveTo>
                        <a:pt x="9029700" y="0"/>
                      </a:moveTo>
                      <a:lnTo>
                        <a:pt x="9029700" y="952500"/>
                      </a:lnTo>
                      <a:cubicBezTo>
                        <a:pt x="9029700" y="1206500"/>
                        <a:pt x="8902700" y="1333500"/>
                        <a:pt x="8648700" y="1333500"/>
                      </a:cubicBezTo>
                      <a:lnTo>
                        <a:pt x="381000" y="1333500"/>
                      </a:lnTo>
                      <a:cubicBezTo>
                        <a:pt x="127000" y="1333500"/>
                        <a:pt x="0" y="1206500"/>
                        <a:pt x="0" y="95250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prstDash val="lgDash"/>
                </a:ln>
              </p:spPr>
            </p:sp>
            <p:sp>
              <p:nvSpPr>
                <p:cNvPr id="59" name="Polygon 59"/>
                <p:cNvSpPr/>
                <p:nvPr/>
              </p:nvSpPr>
              <p:spPr>
                <a:xfrm>
                  <a:off x="1866900" y="3162300"/>
                  <a:ext cx="76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14300">
                      <a:moveTo>
                        <a:pt x="76200" y="114300"/>
                      </a:moveTo>
                      <a:lnTo>
                        <a:pt x="38100" y="0"/>
                      </a:lnTo>
                      <a:lnTo>
                        <a:pt x="0" y="1143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6117679" y="4649152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闭环反馈</a:t>
                  </a:r>
                </a:p>
              </p:txBody>
            </p:sp>
          </p:grpSp>
          <p:grpSp>
            <p:nvGrpSpPr>
              <p:cNvPr id="65" name="Group 65"/>
              <p:cNvGrpSpPr/>
              <p:nvPr/>
            </p:nvGrpSpPr>
            <p:grpSpPr>
              <a:xfrm>
                <a:off x="5143500" y="2952750"/>
                <a:ext cx="1905000" cy="571500"/>
                <a:chOff x="5143500" y="2952750"/>
                <a:chExt cx="1905000" cy="571500"/>
              </a:xfrm>
            </p:grpSpPr>
            <p:sp>
              <p:nvSpPr>
                <p:cNvPr id="62" name="Rectangle 62"/>
                <p:cNvSpPr/>
                <p:nvPr/>
              </p:nvSpPr>
              <p:spPr>
                <a:xfrm>
                  <a:off x="5143500" y="2952750"/>
                  <a:ext cx="1905000" cy="5715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5828538" y="3114199"/>
                  <a:ext cx="53492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数据驱动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5828538" y="3304699"/>
                  <a:ext cx="53492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智能决策</a:t>
                  </a:r>
                </a:p>
              </p:txBody>
            </p:sp>
          </p:grpSp>
        </p:grpSp>
      </p:grpSp>
      <p:grpSp>
        <p:nvGrpSpPr>
          <p:cNvPr id="73" name="Group 73"/>
          <p:cNvGrpSpPr/>
          <p:nvPr/>
        </p:nvGrpSpPr>
        <p:grpSpPr>
          <a:xfrm>
            <a:off x="604647" y="5334000"/>
            <a:ext cx="10977753" cy="618839"/>
            <a:chOff x="604647" y="5334000"/>
            <a:chExt cx="10977753" cy="618839"/>
          </a:xfrm>
        </p:grpSpPr>
        <p:sp>
          <p:nvSpPr>
            <p:cNvPr id="68" name="Rectangle 68"/>
            <p:cNvSpPr/>
            <p:nvPr/>
          </p:nvSpPr>
          <p:spPr>
            <a:xfrm>
              <a:off x="609600" y="5334000"/>
              <a:ext cx="109728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04647" y="5533549"/>
              <a:ext cx="1335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多源采集·清洗·标签化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04647" y="5762149"/>
              <a:ext cx="1466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用户洞察·预测模型·归因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186047" y="5533549"/>
              <a:ext cx="15007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智能投放·触发规则·A/B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186047" y="5762149"/>
              <a:ext cx="1493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实时看板·ROI追踪·优化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609600" y="0"/>
            <a:ext cx="10067925" cy="6858000"/>
            <a:chOff x="609600" y="0"/>
            <a:chExt cx="10067925" cy="6858000"/>
          </a:xfrm>
        </p:grpSpPr>
        <p:sp>
          <p:nvSpPr>
            <p:cNvPr id="2" name="Line 2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3124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563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153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sp>
        <p:nvSpPr>
          <p:cNvPr id="8" name="Rectangle 8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7" name="Group 47"/>
          <p:cNvGrpSpPr/>
          <p:nvPr/>
        </p:nvGrpSpPr>
        <p:grpSpPr>
          <a:xfrm>
            <a:off x="-152400" y="648652"/>
            <a:ext cx="12496800" cy="5171504"/>
            <a:chOff x="-152400" y="648652"/>
            <a:chExt cx="12496800" cy="5171504"/>
          </a:xfrm>
        </p:grpSpPr>
        <p:sp>
          <p:nvSpPr>
            <p:cNvPr id="9" name="TextBox 9"/>
            <p:cNvSpPr txBox="1"/>
            <p:nvPr/>
          </p:nvSpPr>
          <p:spPr>
            <a:xfrm>
              <a:off x="604266" y="648652"/>
              <a:ext cx="695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1312" y="84963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下一步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1521142"/>
              <a:ext cx="42094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建议两周内启动POC验证，快速验证业务适配性。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-152400" y="2895600"/>
              <a:ext cx="12496800" cy="1581150"/>
              <a:chOff x="-152400" y="2895600"/>
              <a:chExt cx="12496800" cy="1581150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609600" y="30480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-152400" y="2895600"/>
                <a:ext cx="1524000" cy="1581150"/>
                <a:chOff x="-152400" y="2895600"/>
                <a:chExt cx="1524000" cy="1581150"/>
              </a:xfrm>
            </p:grpSpPr>
            <p:sp>
              <p:nvSpPr>
                <p:cNvPr id="13" name="Ellipse 13"/>
                <p:cNvSpPr/>
                <p:nvPr/>
              </p:nvSpPr>
              <p:spPr>
                <a:xfrm>
                  <a:off x="457200" y="2895600"/>
                  <a:ext cx="304800" cy="3048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563451" y="2896552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5" name="Rectangle 15"/>
                <p:cNvSpPr/>
                <p:nvPr/>
              </p:nvSpPr>
              <p:spPr>
                <a:xfrm>
                  <a:off x="-152400" y="3333750"/>
                  <a:ext cx="1524000" cy="1143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358140" y="3472815"/>
                  <a:ext cx="50292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立即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67411" y="3839528"/>
                  <a:ext cx="88437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确定POC试点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250888" y="403002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业务场景与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321564" y="42205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成功指标</a:t>
                  </a:r>
                </a:p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3505200" y="2895600"/>
                <a:ext cx="1524000" cy="1581150"/>
                <a:chOff x="3505200" y="2895600"/>
                <a:chExt cx="1524000" cy="1581150"/>
              </a:xfrm>
            </p:grpSpPr>
            <p:sp>
              <p:nvSpPr>
                <p:cNvPr id="21" name="Ellipse 21"/>
                <p:cNvSpPr/>
                <p:nvPr/>
              </p:nvSpPr>
              <p:spPr>
                <a:xfrm>
                  <a:off x="4114800" y="2895600"/>
                  <a:ext cx="304800" cy="3048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221051" y="2896552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3" name="Rectangle 23"/>
                <p:cNvSpPr/>
                <p:nvPr/>
              </p:nvSpPr>
              <p:spPr>
                <a:xfrm>
                  <a:off x="3505200" y="3333750"/>
                  <a:ext cx="1524000" cy="1143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949103" y="3472815"/>
                  <a:ext cx="636194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第1月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837813" y="383952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完成数据对接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3767138" y="403002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与基础模型训练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7162800" y="2895600"/>
                <a:ext cx="1524000" cy="1581150"/>
                <a:chOff x="7162800" y="2895600"/>
                <a:chExt cx="1524000" cy="1581150"/>
              </a:xfrm>
            </p:grpSpPr>
            <p:sp>
              <p:nvSpPr>
                <p:cNvPr id="28" name="Ellipse 28"/>
                <p:cNvSpPr/>
                <p:nvPr/>
              </p:nvSpPr>
              <p:spPr>
                <a:xfrm>
                  <a:off x="7772400" y="2895600"/>
                  <a:ext cx="304800" cy="3048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878651" y="2896552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30" name="Rectangle 30"/>
                <p:cNvSpPr/>
                <p:nvPr/>
              </p:nvSpPr>
              <p:spPr>
                <a:xfrm>
                  <a:off x="7162800" y="3333750"/>
                  <a:ext cx="1524000" cy="1143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7606703" y="3472815"/>
                  <a:ext cx="636194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第2月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495413" y="383952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小范围上线，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636764" y="40300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收集反馈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636764" y="42205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迭代优化</a:t>
                  </a: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10820400" y="2895600"/>
                <a:ext cx="1524000" cy="1581150"/>
                <a:chOff x="10820400" y="2895600"/>
                <a:chExt cx="1524000" cy="1581150"/>
              </a:xfrm>
            </p:grpSpPr>
            <p:sp>
              <p:nvSpPr>
                <p:cNvPr id="36" name="Ellipse 36"/>
                <p:cNvSpPr/>
                <p:nvPr/>
              </p:nvSpPr>
              <p:spPr>
                <a:xfrm>
                  <a:off x="11430000" y="2895600"/>
                  <a:ext cx="304800" cy="3048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1536251" y="2896552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38" name="Rectangle 38"/>
                <p:cNvSpPr/>
                <p:nvPr/>
              </p:nvSpPr>
              <p:spPr>
                <a:xfrm>
                  <a:off x="10820400" y="3333750"/>
                  <a:ext cx="1524000" cy="1143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11264303" y="3472815"/>
                  <a:ext cx="636194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800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第3月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11223689" y="383952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全面推广，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11294364" y="40300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建立持续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11294364" y="42205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优化机制</a:t>
                  </a:r>
                </a:p>
              </p:txBody>
            </p:sp>
          </p:grpSp>
        </p:grpSp>
        <p:sp>
          <p:nvSpPr>
            <p:cNvPr id="45" name="Rectangle 45"/>
            <p:cNvSpPr/>
            <p:nvPr/>
          </p:nvSpPr>
          <p:spPr>
            <a:xfrm>
              <a:off x="609600" y="5334000"/>
              <a:ext cx="1905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3504" y="558546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三个月内完成从验证到规模化推广的完整闭环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4838" y="6570345"/>
            <a:ext cx="10982325" cy="176212"/>
            <a:chOff x="604838" y="6570345"/>
            <a:chExt cx="10982325" cy="176212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57034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72712" y="6570345"/>
              <a:ext cx="10144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1A1A"/>
      </a:dk1>
      <a:lt1>
        <a:srgbClr val="FFFFFF"/>
      </a:lt1>
      <a:dk2>
        <a:srgbClr val="666666"/>
      </a:dk2>
      <a:lt2>
        <a:srgbClr val="F4F4F4"/>
      </a:lt2>
      <a:accent1>
        <a:srgbClr val="1A1A1A"/>
      </a:accent1>
      <a:accent2>
        <a:srgbClr val="D9251D"/>
      </a:accent2>
      <a:accent3>
        <a:srgbClr val="1A4FA0"/>
      </a:accent3>
      <a:accent4>
        <a:srgbClr val="E8E8E8"/>
      </a:accent4>
      <a:accent5>
        <a:srgbClr val="999999"/>
      </a:accent5>
      <a:accent6>
        <a:srgbClr val="F79646"/>
      </a:accent6>
      <a:hlink>
        <a:srgbClr val="D9251D"/>
      </a:hlink>
      <a:folHlink>
        <a:srgbClr val="1A4FA0"/>
      </a:folHlink>
    </a:clrScheme>
    <a:fontScheme name="PPT Master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1A1A"/>
      </a:dk1>
      <a:lt1>
        <a:srgbClr val="FFFFFF"/>
      </a:lt1>
      <a:dk2>
        <a:srgbClr val="666666"/>
      </a:dk2>
      <a:lt2>
        <a:srgbClr val="F4F4F4"/>
      </a:lt2>
      <a:accent1>
        <a:srgbClr val="1A1A1A"/>
      </a:accent1>
      <a:accent2>
        <a:srgbClr val="D9251D"/>
      </a:accent2>
      <a:accent3>
        <a:srgbClr val="1A4FA0"/>
      </a:accent3>
      <a:accent4>
        <a:srgbClr val="E8E8E8"/>
      </a:accent4>
      <a:accent5>
        <a:srgbClr val="999999"/>
      </a:accent5>
      <a:accent6>
        <a:srgbClr val="F79646"/>
      </a:accent6>
      <a:hlink>
        <a:srgbClr val="D9251D"/>
      </a:hlink>
      <a:folHlink>
        <a:srgbClr val="1A4FA0"/>
      </a:folHlink>
    </a:clrScheme>
    <a:fontScheme name="PPT Master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2026-07-11T09:43:26Z</dcterms:created>
  <dcterms:modified xsi:type="dcterms:W3CDTF">2026-07-11T09:43:26Z</dcterms:modified>
  <cp:category/>
  <cp:contentStatus/>
</cp:coreProperties>
</file>