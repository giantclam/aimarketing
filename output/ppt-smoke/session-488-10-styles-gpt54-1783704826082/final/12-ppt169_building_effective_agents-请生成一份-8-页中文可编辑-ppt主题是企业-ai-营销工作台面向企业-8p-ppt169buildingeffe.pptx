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企业AI营销工作台</a:t>
            </a:r>
          </a:p>
          <a:p>
            <a:endParaRPr lang="en-US" dirty="0"/>
          </a:p>
          <a:p>
            <a:r>
              <a:rPr lang="zh-CN" dirty="0"/>
              <a:t>一套覆盖数据整合、AI分析、自动化执行、效果度量的全链路营销操作系统。</a:t>
            </a:r>
          </a:p>
          <a:p>
            <a:endParaRPr lang="en-US" dirty="0"/>
          </a:p>
          <a:p>
            <a:r>
              <a:rPr lang="zh-CN" dirty="0"/>
              <a:t>• 企业AI营销工作台</a:t>
            </a:r>
          </a:p>
          <a:p>
            <a:r>
              <a:rPr lang="zh-CN" dirty="0"/>
              <a:t>• 现状概览</a:t>
            </a:r>
          </a:p>
          <a:p>
            <a:r>
              <a:rPr lang="zh-CN" dirty="0"/>
              <a:t>• 核心风险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议程：管理决策优先</a:t>
            </a:r>
          </a:p>
          <a:p>
            <a:endParaRPr lang="en-US" dirty="0"/>
          </a:p>
          <a:p>
            <a:r>
              <a:rPr lang="zh-CN" dirty="0"/>
              <a:t>本次汇报聚焦四个核心模块，优先呈现结论与风险敞口。</a:t>
            </a:r>
          </a:p>
          <a:p>
            <a:endParaRPr lang="en-US" dirty="0"/>
          </a:p>
          <a:p>
            <a:r>
              <a:rPr lang="zh-CN" dirty="0"/>
              <a:t>• 多源数据统一接入，打通CRM/广告平台/私域触点</a:t>
            </a:r>
          </a:p>
          <a:p>
            <a:r>
              <a:rPr lang="zh-CN" dirty="0"/>
              <a:t>• 实时识别高价值客群与流失预警信号</a:t>
            </a:r>
          </a:p>
          <a:p>
            <a:r>
              <a:rPr lang="zh-CN" dirty="0"/>
              <a:t>• 策略到落地的零时差闭环</a:t>
            </a:r>
          </a:p>
          <a:p>
            <a:r>
              <a:rPr lang="zh-CN" dirty="0"/>
              <a:t>• 营销归因与投资回报实时可见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核心洞察</a:t>
            </a:r>
          </a:p>
          <a:p>
            <a:endParaRPr lang="en-US" dirty="0"/>
          </a:p>
          <a:p>
            <a:r>
              <a:rPr lang="zh-CN" dirty="0"/>
              <a:t>传统营销依赖人工经验，响应滞后且归因断裂；AI工作台实现从洞察到执行的端到端提速。</a:t>
            </a:r>
          </a:p>
          <a:p>
            <a:endParaRPr lang="en-US" dirty="0"/>
          </a:p>
          <a:p>
            <a:r>
              <a:rPr lang="zh-CN" dirty="0"/>
              <a:t>• 核心洞察</a:t>
            </a:r>
          </a:p>
          <a:p>
            <a:r>
              <a:rPr lang="zh-CN" dirty="0"/>
              <a:t>• 当前事实</a:t>
            </a:r>
          </a:p>
          <a:p>
            <a:r>
              <a:rPr lang="zh-CN" dirty="0"/>
              <a:t>• 变化趋势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现状vsAI工作台</a:t>
            </a:r>
          </a:p>
          <a:p>
            <a:endParaRPr lang="en-US" dirty="0"/>
          </a:p>
          <a:p>
            <a:r>
              <a:rPr lang="zh-CN" dirty="0"/>
              <a:t>左列：传统营销痛点；右列：AI工作台能力映射。</a:t>
            </a:r>
          </a:p>
          <a:p>
            <a:endParaRPr lang="en-US" dirty="0"/>
          </a:p>
          <a:p>
            <a:r>
              <a:rPr lang="zh-CN" dirty="0"/>
              <a:t>• 跨平台数据依赖人工导出Excel，耗时8h/周</a:t>
            </a:r>
          </a:p>
          <a:p>
            <a:r>
              <a:rPr lang="zh-CN" dirty="0"/>
              <a:t>• API直连8大平台，实时自动同步，耗时归零</a:t>
            </a:r>
          </a:p>
          <a:p>
            <a:r>
              <a:rPr lang="zh-CN" dirty="0"/>
              <a:t>• 优化师凭直觉调整出价，转化率波动±25%</a:t>
            </a:r>
          </a:p>
          <a:p>
            <a:r>
              <a:rPr lang="zh-CN" dirty="0"/>
              <a:t>• 实时竞情分析+转化预测，点击成本降低18%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落地验证</a:t>
            </a:r>
          </a:p>
          <a:p>
            <a:endParaRPr lang="en-US" dirty="0"/>
          </a:p>
          <a:p>
            <a:r>
              <a:rPr lang="zh-CN" dirty="0"/>
              <a:t>某头部零售品牌接入工作台3个月后的实测数据。</a:t>
            </a:r>
          </a:p>
          <a:p>
            <a:endParaRPr lang="en-US" dirty="0"/>
          </a:p>
          <a:p>
            <a:r>
              <a:rPr lang="zh-CN" dirty="0"/>
              <a:t>• 打通天猫、京东、微信私域全渠道数据，AI识别高潜复购用户，活动响应速度提升6倍</a:t>
            </a:r>
          </a:p>
          <a:p>
            <a:r>
              <a:rPr lang="zh-CN" dirty="0"/>
              <a:t>• 自动化内容生成+智能分发，营销团队人力成本下降35%，线索转化率提升22%</a:t>
            </a:r>
          </a:p>
          <a:p>
            <a:r>
              <a:rPr lang="zh-CN" dirty="0"/>
              <a:t>• 基于LBS+消费画像的个性化推送，门店到店率提升31%，客单价提升15%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核心效能指标</a:t>
            </a:r>
          </a:p>
          <a:p>
            <a:endParaRPr lang="en-US" dirty="0"/>
          </a:p>
          <a:p>
            <a:r>
              <a:rPr lang="zh-CN" dirty="0"/>
              <a:t>基于20+家企业接入数据的中位表现。</a:t>
            </a:r>
          </a:p>
          <a:p>
            <a:endParaRPr lang="en-US" dirty="0"/>
          </a:p>
          <a:p>
            <a:r>
              <a:rPr lang="zh-CN" dirty="0"/>
              <a:t>• 营销效率提升</a:t>
            </a:r>
          </a:p>
          <a:p>
            <a:r>
              <a:rPr lang="zh-CN" dirty="0"/>
              <a:t>• 归因准确率</a:t>
            </a:r>
          </a:p>
          <a:p>
            <a:r>
              <a:rPr lang="zh-CN" dirty="0"/>
              <a:t>• 平均上线周期</a:t>
            </a:r>
          </a:p>
          <a:p>
            <a:r>
              <a:rPr lang="zh-CN" dirty="0"/>
              <a:t>• 平均获客成本降低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四模块协同架构</a:t>
            </a:r>
          </a:p>
          <a:p>
            <a:endParaRPr lang="en-US" dirty="0"/>
          </a:p>
          <a:p>
            <a:r>
              <a:rPr lang="zh-CN" dirty="0"/>
              <a:t>数据→洞察→执行→度量，形成营销闭环。</a:t>
            </a:r>
          </a:p>
          <a:p>
            <a:endParaRPr lang="en-US" dirty="0"/>
          </a:p>
          <a:p>
            <a:r>
              <a:rPr lang="zh-CN" dirty="0"/>
              <a:t>• 统一数据湖，支持实时清洗与标签化</a:t>
            </a:r>
          </a:p>
          <a:p>
            <a:r>
              <a:rPr lang="zh-CN" dirty="0"/>
              <a:t>• 大模型驱动，输出可执行策略建议</a:t>
            </a:r>
          </a:p>
          <a:p>
            <a:r>
              <a:rPr lang="zh-CN" dirty="0"/>
              <a:t>• 规则引擎+AI决策双模式，支持人工审核</a:t>
            </a:r>
          </a:p>
          <a:p>
            <a:r>
              <a:rPr lang="zh-CN" dirty="0"/>
              <a:t>• 实时大盘，支持按渠道/客群/活动多维拆解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下一步行动</a:t>
            </a:r>
          </a:p>
          <a:p>
            <a:endParaRPr lang="en-US" dirty="0"/>
          </a:p>
          <a:p>
            <a:r>
              <a:rPr lang="zh-CN" dirty="0"/>
              <a:t>建议按以下路径推进，最小化试错成本。</a:t>
            </a:r>
          </a:p>
          <a:p>
            <a:endParaRPr lang="en-US" dirty="0"/>
          </a:p>
          <a:p>
            <a:r>
              <a:rPr lang="zh-CN" dirty="0"/>
              <a:t>• 锁定1个试点场景（如私域复购提升），启动数据对接评估</a:t>
            </a:r>
          </a:p>
          <a:p>
            <a:r>
              <a:rPr lang="zh-CN" dirty="0"/>
              <a:t>• 完成POC方案评审，确认KPI基线与ROI测算模型</a:t>
            </a:r>
          </a:p>
          <a:p>
            <a:r>
              <a:rPr lang="zh-CN" dirty="0"/>
              <a:t>• 灰度上线，优先跑通数据整合+AI洞察两个模块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1">
                    <a:alpha val="8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6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" name="Rectangle 6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1049000" y="190500"/>
              <a:ext cx="1143000" cy="1143000"/>
            </a:xfrm>
            <a:prstGeom prst="ellipse">
              <a:avLst/>
            </a:prstGeom>
            <a:solidFill>
              <a:schemeClr val="accent1">
                <a:alpha val="7000"/>
              </a:scheme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0953750" y="857250"/>
              <a:ext cx="571500" cy="571500"/>
            </a:xfrm>
            <a:prstGeom prst="ellipse">
              <a:avLst/>
            </a:prstGeom>
            <a:solidFill>
              <a:schemeClr val="accent2">
                <a:alpha val="6000"/>
              </a:schemeClr>
            </a:solidFill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1143000" y="11430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123950" y="1791652"/>
            <a:ext cx="4962235" cy="3184399"/>
            <a:chOff x="1123950" y="1791652"/>
            <a:chExt cx="4962235" cy="3184399"/>
          </a:xfrm>
        </p:grpSpPr>
        <p:sp>
          <p:nvSpPr>
            <p:cNvPr id="11" name="TextBox 11"/>
            <p:cNvSpPr txBox="1"/>
            <p:nvPr/>
          </p:nvSpPr>
          <p:spPr>
            <a:xfrm>
              <a:off x="1137666" y="1791652"/>
              <a:ext cx="6669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22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系统封面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23950" y="2404110"/>
              <a:ext cx="496223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3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  <a:t>企业AI营销工作台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143000" y="3143250"/>
              <a:ext cx="7620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34618" y="35366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全链路营销操作系统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6142" y="4140518"/>
              <a:ext cx="37197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数据整合 · AI分析 · 自动化执行 · 效果度量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6142" y="471201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面向企业管理层的一站式智能营销解决方案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137666" y="5524500"/>
            <a:ext cx="10487596" cy="1031557"/>
            <a:chOff x="1137666" y="5524500"/>
            <a:chExt cx="10487596" cy="1031557"/>
          </a:xfrm>
        </p:grpSpPr>
        <p:sp>
          <p:nvSpPr>
            <p:cNvPr id="18" name="Line 18"/>
            <p:cNvSpPr/>
            <p:nvPr/>
          </p:nvSpPr>
          <p:spPr>
            <a:xfrm>
              <a:off x="1143000" y="55245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37666" y="5792152"/>
              <a:ext cx="13921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01 企业AI营销工作台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000500" y="5762625"/>
              <a:ext cx="9525" cy="190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280916" y="5792152"/>
              <a:ext cx="14807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议程：管理决策优先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191250" y="5762625"/>
              <a:ext cx="9525" cy="190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71666" y="5792152"/>
              <a:ext cx="7739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核心洞察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43132" y="6379845"/>
              <a:ext cx="2821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 / 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952500" y="-1905000"/>
            <a:ext cx="15240000" cy="10001250"/>
            <a:chOff x="-952500" y="-1905000"/>
            <a:chExt cx="15240000" cy="10001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6667500" y="-1905000"/>
              <a:ext cx="7620000" cy="5715000"/>
            </a:xfrm>
            <a:prstGeom prst="ellipse">
              <a:avLst/>
            </a:prstGeom>
            <a:solidFill>
              <a:schemeClr val="accent1">
                <a:alpha val="4000"/>
              </a:scheme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952500" y="4286250"/>
              <a:ext cx="5715000" cy="3810000"/>
            </a:xfrm>
            <a:prstGeom prst="ellipse">
              <a:avLst/>
            </a:prstGeom>
            <a:solidFill>
              <a:schemeClr val="accent2">
                <a:alpha val="3000"/>
              </a:schemeClr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66738" y="476250"/>
            <a:ext cx="11058525" cy="6162676"/>
            <a:chOff x="566738" y="476250"/>
            <a:chExt cx="11058525" cy="6162676"/>
          </a:xfrm>
        </p:grpSpPr>
        <p:sp>
          <p:nvSpPr>
            <p:cNvPr id="6" name="Line 6"/>
            <p:cNvSpPr/>
            <p:nvPr/>
          </p:nvSpPr>
          <p:spPr>
            <a:xfrm>
              <a:off x="571500" y="47625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6666" y="5915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能力目录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571500" y="6286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66738" y="6491288"/>
              <a:ext cx="12058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778300" y="6491288"/>
              <a:ext cx="84696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企业AI营销工作台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559308" y="1074420"/>
            <a:ext cx="11061192" cy="4923091"/>
            <a:chOff x="559308" y="1074420"/>
            <a:chExt cx="11061192" cy="4923091"/>
          </a:xfrm>
        </p:grpSpPr>
        <p:sp>
          <p:nvSpPr>
            <p:cNvPr id="12" name="TextBox 12"/>
            <p:cNvSpPr txBox="1"/>
            <p:nvPr/>
          </p:nvSpPr>
          <p:spPr>
            <a:xfrm>
              <a:off x="559308" y="1074420"/>
              <a:ext cx="307756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议程：管理决策优先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4642" y="1616392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本次汇报聚焦四个核心模块，优先呈现结论与风险敞口。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71500" y="2095500"/>
              <a:ext cx="5334000" cy="3810000"/>
            </a:xfrm>
            <a:custGeom>
              <a:avLst/>
              <a:gdLst/>
              <a:ahLst/>
              <a:cxnLst/>
              <a:rect l="l" t="t" r="r" b="b"/>
              <a:pathLst>
                <a:path w="5334000" h="38100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3695700"/>
                  </a:lnTo>
                  <a:cubicBezTo>
                    <a:pt x="5334000" y="3758826"/>
                    <a:pt x="5282826" y="3810000"/>
                    <a:pt x="5219700" y="3810000"/>
                  </a:cubicBezTo>
                  <a:lnTo>
                    <a:pt x="114300" y="3810000"/>
                  </a:lnTo>
                  <a:cubicBezTo>
                    <a:pt x="51174" y="3810000"/>
                    <a:pt x="0" y="3758826"/>
                    <a:pt x="0" y="3695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62000" y="2476500"/>
              <a:ext cx="4762500" cy="3521011"/>
              <a:chOff x="762000" y="2476500"/>
              <a:chExt cx="4762500" cy="3521011"/>
            </a:xfrm>
          </p:grpSpPr>
          <p:grpSp>
            <p:nvGrpSpPr>
              <p:cNvPr id="20" name="Group 20"/>
              <p:cNvGrpSpPr/>
              <p:nvPr/>
            </p:nvGrpSpPr>
            <p:grpSpPr>
              <a:xfrm>
                <a:off x="762000" y="2476500"/>
                <a:ext cx="4762500" cy="581025"/>
                <a:chOff x="762000" y="2476500"/>
                <a:chExt cx="4762500" cy="581025"/>
              </a:xfrm>
            </p:grpSpPr>
            <p:sp>
              <p:nvSpPr>
                <p:cNvPr id="15" name="Ellipse 15"/>
                <p:cNvSpPr/>
                <p:nvPr/>
              </p:nvSpPr>
              <p:spPr>
                <a:xfrm>
                  <a:off x="762000" y="2476500"/>
                  <a:ext cx="381000" cy="3810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865536" y="2610802"/>
                  <a:ext cx="17392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b="1" dirty="0">
                      <a:solidFill>
                        <a:srgbClr val="0F1117"/>
                      </a:solidFill>
                      <a:latin typeface="+mn-lt"/>
                      <a:ea typeface="+mn-ea"/>
                      <a:cs typeface="+mn-cs"/>
                    </a:rPr>
                    <a:t>01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1326642" y="2483168"/>
                  <a:ext cx="1540307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多源数据统一接入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1328166" y="2744152"/>
                  <a:ext cx="194477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打通CRM/广告平台/私域触点</a:t>
                  </a:r>
                </a:p>
              </p:txBody>
            </p:sp>
            <p:sp>
              <p:nvSpPr>
                <p:cNvPr id="19" name="Line 19"/>
                <p:cNvSpPr/>
                <p:nvPr/>
              </p:nvSpPr>
              <p:spPr>
                <a:xfrm>
                  <a:off x="952500" y="3048000"/>
                  <a:ext cx="4572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000" h="9525">
                      <a:moveTo>
                        <a:pt x="0" y="0"/>
                      </a:moveTo>
                      <a:lnTo>
                        <a:pt x="45720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</p:grpSp>
          <p:grpSp>
            <p:nvGrpSpPr>
              <p:cNvPr id="26" name="Group 26"/>
              <p:cNvGrpSpPr/>
              <p:nvPr/>
            </p:nvGrpSpPr>
            <p:grpSpPr>
              <a:xfrm>
                <a:off x="762000" y="3238500"/>
                <a:ext cx="4762500" cy="581025"/>
                <a:chOff x="762000" y="3238500"/>
                <a:chExt cx="4762500" cy="581025"/>
              </a:xfrm>
            </p:grpSpPr>
            <p:sp>
              <p:nvSpPr>
                <p:cNvPr id="21" name="Ellipse 21"/>
                <p:cNvSpPr/>
                <p:nvPr/>
              </p:nvSpPr>
              <p:spPr>
                <a:xfrm>
                  <a:off x="762000" y="3238500"/>
                  <a:ext cx="381000" cy="3810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865536" y="3372802"/>
                  <a:ext cx="17392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b="1" dirty="0">
                      <a:solidFill>
                        <a:srgbClr val="0F1117"/>
                      </a:solidFill>
                      <a:latin typeface="+mn-lt"/>
                      <a:ea typeface="+mn-ea"/>
                      <a:cs typeface="+mn-cs"/>
                    </a:rPr>
                    <a:t>02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1326642" y="3245168"/>
                  <a:ext cx="173113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实时识别高价值客群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1328166" y="3506152"/>
                  <a:ext cx="227228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实时识别高价值客群与流失预警信号</a:t>
                  </a:r>
                </a:p>
              </p:txBody>
            </p:sp>
            <p:sp>
              <p:nvSpPr>
                <p:cNvPr id="25" name="Line 25"/>
                <p:cNvSpPr/>
                <p:nvPr/>
              </p:nvSpPr>
              <p:spPr>
                <a:xfrm>
                  <a:off x="952500" y="3810000"/>
                  <a:ext cx="4572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000" h="9525">
                      <a:moveTo>
                        <a:pt x="0" y="0"/>
                      </a:moveTo>
                      <a:lnTo>
                        <a:pt x="45720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</p:grpSp>
          <p:grpSp>
            <p:nvGrpSpPr>
              <p:cNvPr id="32" name="Group 32"/>
              <p:cNvGrpSpPr/>
              <p:nvPr/>
            </p:nvGrpSpPr>
            <p:grpSpPr>
              <a:xfrm>
                <a:off x="762000" y="4000500"/>
                <a:ext cx="4762500" cy="581025"/>
                <a:chOff x="762000" y="4000500"/>
                <a:chExt cx="4762500" cy="581025"/>
              </a:xfrm>
            </p:grpSpPr>
            <p:sp>
              <p:nvSpPr>
                <p:cNvPr id="27" name="Ellipse 27"/>
                <p:cNvSpPr/>
                <p:nvPr/>
              </p:nvSpPr>
              <p:spPr>
                <a:xfrm>
                  <a:off x="762000" y="4000500"/>
                  <a:ext cx="381000" cy="3810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865536" y="4134802"/>
                  <a:ext cx="17392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b="1" dirty="0">
                      <a:solidFill>
                        <a:srgbClr val="0F1117"/>
                      </a:solidFill>
                      <a:latin typeface="+mn-lt"/>
                      <a:ea typeface="+mn-ea"/>
                      <a:cs typeface="+mn-cs"/>
                    </a:rPr>
                    <a:t>03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1326642" y="4007168"/>
                  <a:ext cx="2112778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策略到落地的零时差闭环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1328166" y="4268152"/>
                  <a:ext cx="156552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策略到落地的零时差闭环</a:t>
                  </a:r>
                </a:p>
              </p:txBody>
            </p:sp>
            <p:sp>
              <p:nvSpPr>
                <p:cNvPr id="31" name="Line 31"/>
                <p:cNvSpPr/>
                <p:nvPr/>
              </p:nvSpPr>
              <p:spPr>
                <a:xfrm>
                  <a:off x="952500" y="4572000"/>
                  <a:ext cx="4572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000" h="9525">
                      <a:moveTo>
                        <a:pt x="0" y="0"/>
                      </a:moveTo>
                      <a:lnTo>
                        <a:pt x="45720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</p:grpSp>
          <p:grpSp>
            <p:nvGrpSpPr>
              <p:cNvPr id="38" name="Group 38"/>
              <p:cNvGrpSpPr/>
              <p:nvPr/>
            </p:nvGrpSpPr>
            <p:grpSpPr>
              <a:xfrm>
                <a:off x="762000" y="4762500"/>
                <a:ext cx="4762500" cy="581025"/>
                <a:chOff x="762000" y="4762500"/>
                <a:chExt cx="4762500" cy="581025"/>
              </a:xfrm>
            </p:grpSpPr>
            <p:sp>
              <p:nvSpPr>
                <p:cNvPr id="33" name="Ellipse 33"/>
                <p:cNvSpPr/>
                <p:nvPr/>
              </p:nvSpPr>
              <p:spPr>
                <a:xfrm>
                  <a:off x="762000" y="4762500"/>
                  <a:ext cx="381000" cy="381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865536" y="4896802"/>
                  <a:ext cx="17392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b="1" dirty="0">
                      <a:solidFill>
                        <a:srgbClr val="0F1117"/>
                      </a:solidFill>
                      <a:latin typeface="+mn-lt"/>
                      <a:ea typeface="+mn-ea"/>
                      <a:cs typeface="+mn-cs"/>
                    </a:rPr>
                    <a:t>04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1326642" y="4769168"/>
                  <a:ext cx="173113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营销归因与投资回报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1328166" y="5030152"/>
                  <a:ext cx="184823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营销归因与投资回报实时可见</a:t>
                  </a:r>
                </a:p>
              </p:txBody>
            </p:sp>
            <p:sp>
              <p:nvSpPr>
                <p:cNvPr id="37" name="Line 37"/>
                <p:cNvSpPr/>
                <p:nvPr/>
              </p:nvSpPr>
              <p:spPr>
                <a:xfrm>
                  <a:off x="952500" y="5334000"/>
                  <a:ext cx="4572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000" h="9525">
                      <a:moveTo>
                        <a:pt x="0" y="0"/>
                      </a:moveTo>
                      <a:lnTo>
                        <a:pt x="45720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</p:grpSp>
          <p:grpSp>
            <p:nvGrpSpPr>
              <p:cNvPr id="43" name="Group 43"/>
              <p:cNvGrpSpPr/>
              <p:nvPr/>
            </p:nvGrpSpPr>
            <p:grpSpPr>
              <a:xfrm>
                <a:off x="762000" y="5524500"/>
                <a:ext cx="1914125" cy="473011"/>
                <a:chOff x="762000" y="5524500"/>
                <a:chExt cx="1914125" cy="473011"/>
              </a:xfrm>
            </p:grpSpPr>
            <p:sp>
              <p:nvSpPr>
                <p:cNvPr id="39" name="Ellipse 39"/>
                <p:cNvSpPr/>
                <p:nvPr/>
              </p:nvSpPr>
              <p:spPr>
                <a:xfrm>
                  <a:off x="762000" y="5524500"/>
                  <a:ext cx="381000" cy="3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865536" y="5658802"/>
                  <a:ext cx="17392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b="1" dirty="0">
                      <a:solidFill>
                        <a:srgbClr val="0F1117"/>
                      </a:solidFill>
                      <a:latin typeface="+mn-lt"/>
                      <a:ea typeface="+mn-ea"/>
                      <a:cs typeface="+mn-cs"/>
                    </a:rPr>
                    <a:t>05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1326642" y="5531168"/>
                  <a:ext cx="1349483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业务现状与判断</a:t>
                  </a: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1328166" y="5792152"/>
                  <a:ext cx="100012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业务现状与判断</a:t>
                  </a:r>
                </a:p>
              </p:txBody>
            </p:sp>
          </p:grpSp>
        </p:grpSp>
        <p:grpSp>
          <p:nvGrpSpPr>
            <p:cNvPr id="80" name="Group 80"/>
            <p:cNvGrpSpPr/>
            <p:nvPr/>
          </p:nvGrpSpPr>
          <p:grpSpPr>
            <a:xfrm>
              <a:off x="6477000" y="2095500"/>
              <a:ext cx="5143500" cy="3810000"/>
              <a:chOff x="6477000" y="2095500"/>
              <a:chExt cx="5143500" cy="38100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477000" y="2095500"/>
                <a:ext cx="5143500" cy="3810000"/>
              </a:xfrm>
              <a:custGeom>
                <a:avLst/>
                <a:gdLst/>
                <a:ahLst/>
                <a:cxnLst/>
                <a:rect l="l" t="t" r="r" b="b"/>
                <a:pathLst>
                  <a:path w="5143500" h="3810000">
                    <a:moveTo>
                      <a:pt x="114300" y="0"/>
                    </a:moveTo>
                    <a:lnTo>
                      <a:pt x="5029200" y="0"/>
                    </a:lnTo>
                    <a:cubicBezTo>
                      <a:pt x="5092326" y="0"/>
                      <a:pt x="5143500" y="51174"/>
                      <a:pt x="5143500" y="114300"/>
                    </a:cubicBezTo>
                    <a:lnTo>
                      <a:pt x="5143500" y="3695700"/>
                    </a:lnTo>
                    <a:cubicBezTo>
                      <a:pt x="5143500" y="3758826"/>
                      <a:pt x="5092326" y="3810000"/>
                      <a:pt x="5029200" y="3810000"/>
                    </a:cubicBezTo>
                    <a:lnTo>
                      <a:pt x="114300" y="3810000"/>
                    </a:lnTo>
                    <a:cubicBezTo>
                      <a:pt x="51174" y="3810000"/>
                      <a:pt x="0" y="3758826"/>
                      <a:pt x="0" y="3695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grpSp>
            <p:nvGrpSpPr>
              <p:cNvPr id="49" name="Group 49"/>
              <p:cNvGrpSpPr/>
              <p:nvPr/>
            </p:nvGrpSpPr>
            <p:grpSpPr>
              <a:xfrm>
                <a:off x="8477250" y="3429000"/>
                <a:ext cx="1143000" cy="1143000"/>
                <a:chOff x="8477250" y="3429000"/>
                <a:chExt cx="1143000" cy="1143000"/>
              </a:xfrm>
            </p:grpSpPr>
            <p:sp>
              <p:nvSpPr>
                <p:cNvPr id="46" name="Ellipse 46"/>
                <p:cNvSpPr/>
                <p:nvPr/>
              </p:nvSpPr>
              <p:spPr>
                <a:xfrm>
                  <a:off x="8477250" y="3429000"/>
                  <a:ext cx="1143000" cy="1143000"/>
                </a:xfrm>
                <a:prstGeom prst="ellipse">
                  <a:avLst/>
                </a:prstGeom>
                <a:solidFill>
                  <a:schemeClr val="accent1">
                    <a:alpha val="15000"/>
                  </a:schemeClr>
                </a:solidFill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8787262" y="3823335"/>
                  <a:ext cx="52297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AI营销</a:t>
                  </a:r>
                </a:p>
              </p:txBody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8788222" y="4013835"/>
                  <a:ext cx="52105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工作台</a:t>
                  </a:r>
                </a:p>
              </p:txBody>
            </p:sp>
          </p:grpSp>
          <p:grpSp>
            <p:nvGrpSpPr>
              <p:cNvPr id="54" name="Group 54"/>
              <p:cNvGrpSpPr/>
              <p:nvPr/>
            </p:nvGrpSpPr>
            <p:grpSpPr>
              <a:xfrm>
                <a:off x="6667500" y="2667000"/>
                <a:ext cx="1809750" cy="762000"/>
                <a:chOff x="6667500" y="2667000"/>
                <a:chExt cx="1809750" cy="762000"/>
              </a:xfrm>
            </p:grpSpPr>
            <p:sp>
              <p:nvSpPr>
                <p:cNvPr id="50" name="Freeform 50"/>
                <p:cNvSpPr/>
                <p:nvPr/>
              </p:nvSpPr>
              <p:spPr>
                <a:xfrm>
                  <a:off x="6667500" y="2667000"/>
                  <a:ext cx="1333500" cy="66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0" h="666750">
                      <a:moveTo>
                        <a:pt x="76200" y="0"/>
                      </a:moveTo>
                      <a:lnTo>
                        <a:pt x="1257300" y="0"/>
                      </a:lnTo>
                      <a:cubicBezTo>
                        <a:pt x="1299384" y="0"/>
                        <a:pt x="1333500" y="34116"/>
                        <a:pt x="1333500" y="76200"/>
                      </a:cubicBezTo>
                      <a:lnTo>
                        <a:pt x="1333500" y="590550"/>
                      </a:lnTo>
                      <a:cubicBezTo>
                        <a:pt x="1333500" y="632634"/>
                        <a:pt x="1299384" y="666750"/>
                        <a:pt x="1257300" y="666750"/>
                      </a:cubicBezTo>
                      <a:lnTo>
                        <a:pt x="76200" y="666750"/>
                      </a:lnTo>
                      <a:cubicBezTo>
                        <a:pt x="34116" y="666750"/>
                        <a:pt x="0" y="632634"/>
                        <a:pt x="0" y="59055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7053663" y="2847499"/>
                  <a:ext cx="561175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数据整合</a:t>
                  </a:r>
                </a:p>
              </p:txBody>
            </p:sp>
            <p:sp>
              <p:nvSpPr>
                <p:cNvPr id="52" name="TextBox 52"/>
                <p:cNvSpPr txBox="1"/>
                <p:nvPr/>
              </p:nvSpPr>
              <p:spPr>
                <a:xfrm>
                  <a:off x="7268404" y="3073241"/>
                  <a:ext cx="131693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82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01</a:t>
                  </a:r>
                </a:p>
              </p:txBody>
            </p:sp>
            <p:sp>
              <p:nvSpPr>
                <p:cNvPr id="53" name="Line 53"/>
                <p:cNvSpPr/>
                <p:nvPr/>
              </p:nvSpPr>
              <p:spPr>
                <a:xfrm>
                  <a:off x="8001000" y="3000375"/>
                  <a:ext cx="476250" cy="4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0" h="428625">
                      <a:moveTo>
                        <a:pt x="0" y="0"/>
                      </a:moveTo>
                      <a:lnTo>
                        <a:pt x="476250" y="428625"/>
                      </a:lnTo>
                    </a:path>
                  </a:pathLst>
                </a:custGeom>
                <a:noFill/>
                <a:ln w="14288">
                  <a:solidFill>
                    <a:schemeClr val="accent1"/>
                  </a:solidFill>
                  <a:custDash>
                    <a:ds d="266666" sp="133333"/>
                  </a:custDash>
                </a:ln>
              </p:spPr>
            </p:sp>
          </p:grpSp>
          <p:grpSp>
            <p:nvGrpSpPr>
              <p:cNvPr id="59" name="Group 59"/>
              <p:cNvGrpSpPr/>
              <p:nvPr/>
            </p:nvGrpSpPr>
            <p:grpSpPr>
              <a:xfrm>
                <a:off x="6667500" y="3619500"/>
                <a:ext cx="1809750" cy="666750"/>
                <a:chOff x="6667500" y="3619500"/>
                <a:chExt cx="1809750" cy="666750"/>
              </a:xfrm>
            </p:grpSpPr>
            <p:sp>
              <p:nvSpPr>
                <p:cNvPr id="55" name="Freeform 55"/>
                <p:cNvSpPr/>
                <p:nvPr/>
              </p:nvSpPr>
              <p:spPr>
                <a:xfrm>
                  <a:off x="6667500" y="3619500"/>
                  <a:ext cx="1333500" cy="66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0" h="666750">
                      <a:moveTo>
                        <a:pt x="76200" y="0"/>
                      </a:moveTo>
                      <a:lnTo>
                        <a:pt x="1257300" y="0"/>
                      </a:lnTo>
                      <a:cubicBezTo>
                        <a:pt x="1299384" y="0"/>
                        <a:pt x="1333500" y="34116"/>
                        <a:pt x="1333500" y="76200"/>
                      </a:cubicBezTo>
                      <a:lnTo>
                        <a:pt x="1333500" y="590550"/>
                      </a:lnTo>
                      <a:cubicBezTo>
                        <a:pt x="1333500" y="632634"/>
                        <a:pt x="1299384" y="666750"/>
                        <a:pt x="1257300" y="666750"/>
                      </a:cubicBezTo>
                      <a:lnTo>
                        <a:pt x="76200" y="666750"/>
                      </a:lnTo>
                      <a:cubicBezTo>
                        <a:pt x="34116" y="666750"/>
                        <a:pt x="0" y="632634"/>
                        <a:pt x="0" y="59055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56" name="TextBox 56"/>
                <p:cNvSpPr txBox="1"/>
                <p:nvPr/>
              </p:nvSpPr>
              <p:spPr>
                <a:xfrm>
                  <a:off x="7121791" y="3799999"/>
                  <a:ext cx="424918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AI分析</a:t>
                  </a:r>
                </a:p>
              </p:txBody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7268404" y="4025741"/>
                  <a:ext cx="131693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82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02</a:t>
                  </a:r>
                </a:p>
              </p:txBody>
            </p:sp>
            <p:sp>
              <p:nvSpPr>
                <p:cNvPr id="58" name="Line 58"/>
                <p:cNvSpPr/>
                <p:nvPr/>
              </p:nvSpPr>
              <p:spPr>
                <a:xfrm>
                  <a:off x="8001000" y="3952875"/>
                  <a:ext cx="47625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0" h="47625">
                      <a:moveTo>
                        <a:pt x="0" y="0"/>
                      </a:moveTo>
                      <a:lnTo>
                        <a:pt x="476250" y="47625"/>
                      </a:lnTo>
                    </a:path>
                  </a:pathLst>
                </a:custGeom>
                <a:noFill/>
                <a:ln w="14288">
                  <a:solidFill>
                    <a:schemeClr val="accent2"/>
                  </a:solidFill>
                  <a:custDash>
                    <a:ds d="266666" sp="133333"/>
                  </a:custDash>
                </a:ln>
              </p:spPr>
            </p:sp>
          </p:grpSp>
          <p:grpSp>
            <p:nvGrpSpPr>
              <p:cNvPr id="64" name="Group 64"/>
              <p:cNvGrpSpPr/>
              <p:nvPr/>
            </p:nvGrpSpPr>
            <p:grpSpPr>
              <a:xfrm>
                <a:off x="6667500" y="4572000"/>
                <a:ext cx="1809750" cy="666750"/>
                <a:chOff x="6667500" y="4572000"/>
                <a:chExt cx="1809750" cy="666750"/>
              </a:xfrm>
            </p:grpSpPr>
            <p:sp>
              <p:nvSpPr>
                <p:cNvPr id="60" name="Freeform 60"/>
                <p:cNvSpPr/>
                <p:nvPr/>
              </p:nvSpPr>
              <p:spPr>
                <a:xfrm>
                  <a:off x="6667500" y="4572000"/>
                  <a:ext cx="1333500" cy="66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0" h="666750">
                      <a:moveTo>
                        <a:pt x="76200" y="0"/>
                      </a:moveTo>
                      <a:lnTo>
                        <a:pt x="1257300" y="0"/>
                      </a:lnTo>
                      <a:cubicBezTo>
                        <a:pt x="1299384" y="0"/>
                        <a:pt x="1333500" y="34116"/>
                        <a:pt x="1333500" y="76200"/>
                      </a:cubicBezTo>
                      <a:lnTo>
                        <a:pt x="1333500" y="590550"/>
                      </a:lnTo>
                      <a:cubicBezTo>
                        <a:pt x="1333500" y="632634"/>
                        <a:pt x="1299384" y="666750"/>
                        <a:pt x="1257300" y="666750"/>
                      </a:cubicBezTo>
                      <a:lnTo>
                        <a:pt x="76200" y="666750"/>
                      </a:lnTo>
                      <a:cubicBezTo>
                        <a:pt x="34116" y="666750"/>
                        <a:pt x="0" y="632634"/>
                        <a:pt x="0" y="59055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61" name="TextBox 61"/>
                <p:cNvSpPr txBox="1"/>
                <p:nvPr/>
              </p:nvSpPr>
              <p:spPr>
                <a:xfrm>
                  <a:off x="6984754" y="4752499"/>
                  <a:ext cx="698992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自动化执行</a:t>
                  </a:r>
                </a:p>
              </p:txBody>
            </p:sp>
            <p:sp>
              <p:nvSpPr>
                <p:cNvPr id="62" name="TextBox 62"/>
                <p:cNvSpPr txBox="1"/>
                <p:nvPr/>
              </p:nvSpPr>
              <p:spPr>
                <a:xfrm>
                  <a:off x="7268404" y="4978241"/>
                  <a:ext cx="131693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82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03</a:t>
                  </a:r>
                </a:p>
              </p:txBody>
            </p:sp>
            <p:sp>
              <p:nvSpPr>
                <p:cNvPr id="63" name="Line 63"/>
                <p:cNvSpPr/>
                <p:nvPr/>
              </p:nvSpPr>
              <p:spPr>
                <a:xfrm>
                  <a:off x="8001000" y="4572000"/>
                  <a:ext cx="476250" cy="33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0" h="333375">
                      <a:moveTo>
                        <a:pt x="0" y="333375"/>
                      </a:moveTo>
                      <a:lnTo>
                        <a:pt x="476250" y="0"/>
                      </a:lnTo>
                    </a:path>
                  </a:pathLst>
                </a:custGeom>
                <a:noFill/>
                <a:ln w="14288">
                  <a:solidFill>
                    <a:schemeClr val="accent3"/>
                  </a:solidFill>
                  <a:custDash>
                    <a:ds d="266666" sp="133333"/>
                  </a:custDash>
                </a:ln>
              </p:spPr>
            </p:sp>
          </p:grpSp>
          <p:grpSp>
            <p:nvGrpSpPr>
              <p:cNvPr id="69" name="Group 69"/>
              <p:cNvGrpSpPr/>
              <p:nvPr/>
            </p:nvGrpSpPr>
            <p:grpSpPr>
              <a:xfrm>
                <a:off x="9620250" y="3238500"/>
                <a:ext cx="1619250" cy="762000"/>
                <a:chOff x="9620250" y="3238500"/>
                <a:chExt cx="1619250" cy="762000"/>
              </a:xfrm>
            </p:grpSpPr>
            <p:sp>
              <p:nvSpPr>
                <p:cNvPr id="65" name="Freeform 65"/>
                <p:cNvSpPr/>
                <p:nvPr/>
              </p:nvSpPr>
              <p:spPr>
                <a:xfrm>
                  <a:off x="9906000" y="3238500"/>
                  <a:ext cx="1333500" cy="66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0" h="666750">
                      <a:moveTo>
                        <a:pt x="76200" y="0"/>
                      </a:moveTo>
                      <a:lnTo>
                        <a:pt x="1257300" y="0"/>
                      </a:lnTo>
                      <a:cubicBezTo>
                        <a:pt x="1299384" y="0"/>
                        <a:pt x="1333500" y="34116"/>
                        <a:pt x="1333500" y="76200"/>
                      </a:cubicBezTo>
                      <a:lnTo>
                        <a:pt x="1333500" y="590550"/>
                      </a:lnTo>
                      <a:cubicBezTo>
                        <a:pt x="1333500" y="632634"/>
                        <a:pt x="1299384" y="666750"/>
                        <a:pt x="1257300" y="666750"/>
                      </a:cubicBezTo>
                      <a:lnTo>
                        <a:pt x="76200" y="666750"/>
                      </a:lnTo>
                      <a:cubicBezTo>
                        <a:pt x="34116" y="666750"/>
                        <a:pt x="0" y="632634"/>
                        <a:pt x="0" y="59055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9050">
                  <a:solidFill>
                    <a:schemeClr val="accent6"/>
                  </a:solidFill>
                </a:ln>
              </p:spPr>
            </p:sp>
            <p:sp>
              <p:nvSpPr>
                <p:cNvPr id="66" name="TextBox 66"/>
                <p:cNvSpPr txBox="1"/>
                <p:nvPr/>
              </p:nvSpPr>
              <p:spPr>
                <a:xfrm>
                  <a:off x="10292163" y="3418999"/>
                  <a:ext cx="561175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效果度量</a:t>
                  </a:r>
                </a:p>
              </p:txBody>
            </p:sp>
            <p:sp>
              <p:nvSpPr>
                <p:cNvPr id="67" name="TextBox 67"/>
                <p:cNvSpPr txBox="1"/>
                <p:nvPr/>
              </p:nvSpPr>
              <p:spPr>
                <a:xfrm>
                  <a:off x="10506904" y="3644741"/>
                  <a:ext cx="131693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82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04</a:t>
                  </a:r>
                </a:p>
              </p:txBody>
            </p:sp>
            <p:sp>
              <p:nvSpPr>
                <p:cNvPr id="68" name="Line 68"/>
                <p:cNvSpPr/>
                <p:nvPr/>
              </p:nvSpPr>
              <p:spPr>
                <a:xfrm>
                  <a:off x="9620250" y="3571875"/>
                  <a:ext cx="285750" cy="4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" h="428625">
                      <a:moveTo>
                        <a:pt x="285750" y="0"/>
                      </a:moveTo>
                      <a:lnTo>
                        <a:pt x="0" y="428625"/>
                      </a:lnTo>
                    </a:path>
                  </a:pathLst>
                </a:custGeom>
                <a:noFill/>
                <a:ln w="14288">
                  <a:solidFill>
                    <a:schemeClr val="accent6"/>
                  </a:solidFill>
                  <a:custDash>
                    <a:ds d="266666" sp="133333"/>
                  </a:custDash>
                </a:ln>
              </p:spPr>
            </p:sp>
          </p:grpSp>
          <p:grpSp>
            <p:nvGrpSpPr>
              <p:cNvPr id="74" name="Group 74"/>
              <p:cNvGrpSpPr/>
              <p:nvPr/>
            </p:nvGrpSpPr>
            <p:grpSpPr>
              <a:xfrm>
                <a:off x="9620250" y="4000500"/>
                <a:ext cx="1619250" cy="762000"/>
                <a:chOff x="9620250" y="4000500"/>
                <a:chExt cx="1619250" cy="762000"/>
              </a:xfrm>
            </p:grpSpPr>
            <p:sp>
              <p:nvSpPr>
                <p:cNvPr id="70" name="Freeform 70"/>
                <p:cNvSpPr/>
                <p:nvPr/>
              </p:nvSpPr>
              <p:spPr>
                <a:xfrm>
                  <a:off x="9906000" y="4095750"/>
                  <a:ext cx="1333500" cy="66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0" h="666750">
                      <a:moveTo>
                        <a:pt x="76200" y="0"/>
                      </a:moveTo>
                      <a:lnTo>
                        <a:pt x="1257300" y="0"/>
                      </a:lnTo>
                      <a:cubicBezTo>
                        <a:pt x="1299384" y="0"/>
                        <a:pt x="1333500" y="34116"/>
                        <a:pt x="1333500" y="76200"/>
                      </a:cubicBezTo>
                      <a:lnTo>
                        <a:pt x="1333500" y="590550"/>
                      </a:lnTo>
                      <a:cubicBezTo>
                        <a:pt x="1333500" y="632634"/>
                        <a:pt x="1299384" y="666750"/>
                        <a:pt x="1257300" y="666750"/>
                      </a:cubicBezTo>
                      <a:lnTo>
                        <a:pt x="76200" y="666750"/>
                      </a:lnTo>
                      <a:cubicBezTo>
                        <a:pt x="34116" y="666750"/>
                        <a:pt x="0" y="632634"/>
                        <a:pt x="0" y="59055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9050">
                  <a:solidFill>
                    <a:schemeClr val="dk2"/>
                  </a:solidFill>
                </a:ln>
              </p:spPr>
            </p:sp>
            <p:sp>
              <p:nvSpPr>
                <p:cNvPr id="71" name="TextBox 71"/>
                <p:cNvSpPr txBox="1"/>
                <p:nvPr/>
              </p:nvSpPr>
              <p:spPr>
                <a:xfrm>
                  <a:off x="10292163" y="4276249"/>
                  <a:ext cx="561175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业务判断</a:t>
                  </a:r>
                </a:p>
              </p:txBody>
            </p:sp>
            <p:sp>
              <p:nvSpPr>
                <p:cNvPr id="72" name="TextBox 72"/>
                <p:cNvSpPr txBox="1"/>
                <p:nvPr/>
              </p:nvSpPr>
              <p:spPr>
                <a:xfrm>
                  <a:off x="10506904" y="4501991"/>
                  <a:ext cx="131693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82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05</a:t>
                  </a:r>
                </a:p>
              </p:txBody>
            </p:sp>
            <p:sp>
              <p:nvSpPr>
                <p:cNvPr id="73" name="Line 73"/>
                <p:cNvSpPr/>
                <p:nvPr/>
              </p:nvSpPr>
              <p:spPr>
                <a:xfrm>
                  <a:off x="9620250" y="4000500"/>
                  <a:ext cx="285750" cy="4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" h="428625">
                      <a:moveTo>
                        <a:pt x="285750" y="42862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4288">
                  <a:solidFill>
                    <a:schemeClr val="dk2"/>
                  </a:solidFill>
                  <a:custDash>
                    <a:ds d="266666" sp="133333"/>
                  </a:custDash>
                </a:ln>
              </p:spPr>
            </p:sp>
          </p:grpSp>
          <p:grpSp>
            <p:nvGrpSpPr>
              <p:cNvPr id="79" name="Group 79"/>
              <p:cNvGrpSpPr/>
              <p:nvPr/>
            </p:nvGrpSpPr>
            <p:grpSpPr>
              <a:xfrm>
                <a:off x="8763000" y="3810000"/>
                <a:ext cx="857250" cy="857250"/>
                <a:chOff x="8763000" y="3810000"/>
                <a:chExt cx="857250" cy="857250"/>
              </a:xfrm>
            </p:grpSpPr>
            <p:sp>
              <p:nvSpPr>
                <p:cNvPr id="75" name="Polygon 75"/>
                <p:cNvSpPr/>
                <p:nvPr/>
              </p:nvSpPr>
              <p:spPr>
                <a:xfrm>
                  <a:off x="8763000" y="3810000"/>
                  <a:ext cx="142875" cy="3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381000">
                      <a:moveTo>
                        <a:pt x="0" y="0"/>
                      </a:moveTo>
                      <a:lnTo>
                        <a:pt x="142875" y="190500"/>
                      </a:lnTo>
                      <a:lnTo>
                        <a:pt x="0" y="381000"/>
                      </a:lnTo>
                      <a:close/>
                    </a:path>
                  </a:pathLst>
                </a:custGeom>
                <a:solidFill>
                  <a:schemeClr val="accent1">
                    <a:alpha val="60000"/>
                  </a:schemeClr>
                </a:solidFill>
                <a:ln>
                  <a:noFill/>
                </a:ln>
              </p:spPr>
            </p:sp>
            <p:sp>
              <p:nvSpPr>
                <p:cNvPr id="76" name="Polygon 76"/>
                <p:cNvSpPr/>
                <p:nvPr/>
              </p:nvSpPr>
              <p:spPr>
                <a:xfrm>
                  <a:off x="9096375" y="3810000"/>
                  <a:ext cx="142875" cy="3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381000">
                      <a:moveTo>
                        <a:pt x="142875" y="0"/>
                      </a:moveTo>
                      <a:lnTo>
                        <a:pt x="0" y="190500"/>
                      </a:lnTo>
                      <a:lnTo>
                        <a:pt x="142875" y="381000"/>
                      </a:lnTo>
                      <a:close/>
                    </a:path>
                  </a:pathLst>
                </a:custGeom>
                <a:solidFill>
                  <a:schemeClr val="accent2">
                    <a:alpha val="60000"/>
                  </a:schemeClr>
                </a:solidFill>
                <a:ln>
                  <a:noFill/>
                </a:ln>
              </p:spPr>
            </p:sp>
            <p:sp>
              <p:nvSpPr>
                <p:cNvPr id="77" name="Polygon 77"/>
                <p:cNvSpPr/>
                <p:nvPr/>
              </p:nvSpPr>
              <p:spPr>
                <a:xfrm>
                  <a:off x="8858250" y="4476750"/>
                  <a:ext cx="3810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190500">
                      <a:moveTo>
                        <a:pt x="190500" y="0"/>
                      </a:moveTo>
                      <a:lnTo>
                        <a:pt x="381000" y="190500"/>
                      </a:lnTo>
                      <a:lnTo>
                        <a:pt x="0" y="190500"/>
                      </a:lnTo>
                      <a:close/>
                    </a:path>
                  </a:pathLst>
                </a:custGeom>
                <a:solidFill>
                  <a:schemeClr val="accent3">
                    <a:alpha val="60000"/>
                  </a:schemeClr>
                </a:solidFill>
                <a:ln>
                  <a:noFill/>
                </a:ln>
              </p:spPr>
            </p:sp>
            <p:sp>
              <p:nvSpPr>
                <p:cNvPr id="78" name="Polygon 78"/>
                <p:cNvSpPr/>
                <p:nvPr/>
              </p:nvSpPr>
              <p:spPr>
                <a:xfrm>
                  <a:off x="9334500" y="3810000"/>
                  <a:ext cx="285750" cy="3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" h="381000">
                      <a:moveTo>
                        <a:pt x="0" y="0"/>
                      </a:moveTo>
                      <a:lnTo>
                        <a:pt x="285750" y="190500"/>
                      </a:lnTo>
                      <a:lnTo>
                        <a:pt x="0" y="381000"/>
                      </a:lnTo>
                      <a:close/>
                    </a:path>
                  </a:pathLst>
                </a:custGeom>
                <a:solidFill>
                  <a:schemeClr val="accent6">
                    <a:alpha val="60000"/>
                  </a:schemeClr>
                </a:solidFill>
                <a:ln>
                  <a:noFill/>
                </a:ln>
              </p:spPr>
            </p:sp>
          </p:grpSp>
        </p:grpSp>
      </p:grpSp>
      <p:grpSp>
        <p:nvGrpSpPr>
          <p:cNvPr id="83" name="Group 83"/>
          <p:cNvGrpSpPr/>
          <p:nvPr/>
        </p:nvGrpSpPr>
        <p:grpSpPr>
          <a:xfrm>
            <a:off x="6472238" y="2284095"/>
            <a:ext cx="736473" cy="176212"/>
            <a:chOff x="6472238" y="2284095"/>
            <a:chExt cx="736473" cy="176212"/>
          </a:xfrm>
        </p:grpSpPr>
        <p:sp>
          <p:nvSpPr>
            <p:cNvPr id="82" name="TextBox 82"/>
            <p:cNvSpPr txBox="1"/>
            <p:nvPr/>
          </p:nvSpPr>
          <p:spPr>
            <a:xfrm>
              <a:off x="6472238" y="228409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模块协同关系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-1428750"/>
            <a:ext cx="13335000" cy="8286750"/>
            <a:chOff x="0" y="-1428750"/>
            <a:chExt cx="13335000" cy="82867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3810000" y="-1428750"/>
              <a:ext cx="9525000" cy="6667500"/>
            </a:xfrm>
            <a:prstGeom prst="ellipse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71500" y="476250"/>
            <a:ext cx="11049000" cy="581025"/>
            <a:chOff x="571500" y="476250"/>
            <a:chExt cx="11049000" cy="581025"/>
          </a:xfrm>
        </p:grpSpPr>
        <p:sp>
          <p:nvSpPr>
            <p:cNvPr id="5" name="Rectangle 5"/>
            <p:cNvSpPr/>
            <p:nvPr/>
          </p:nvSpPr>
          <p:spPr>
            <a:xfrm>
              <a:off x="571500" y="476250"/>
              <a:ext cx="5715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6666" y="62960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核心判断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1047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571500" y="1333500"/>
            <a:ext cx="11049000" cy="4191000"/>
            <a:chOff x="571500" y="1333500"/>
            <a:chExt cx="11049000" cy="4191000"/>
          </a:xfrm>
        </p:grpSpPr>
        <p:grpSp>
          <p:nvGrpSpPr>
            <p:cNvPr id="20" name="Group 20"/>
            <p:cNvGrpSpPr/>
            <p:nvPr/>
          </p:nvGrpSpPr>
          <p:grpSpPr>
            <a:xfrm>
              <a:off x="571500" y="1333500"/>
              <a:ext cx="6477000" cy="4191000"/>
              <a:chOff x="571500" y="1333500"/>
              <a:chExt cx="6477000" cy="4191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571500" y="1333500"/>
                <a:ext cx="6477000" cy="4191000"/>
              </a:xfrm>
              <a:custGeom>
                <a:avLst/>
                <a:gdLst/>
                <a:ahLst/>
                <a:cxnLst/>
                <a:rect l="l" t="t" r="r" b="b"/>
                <a:pathLst>
                  <a:path w="6477000" h="4191000">
                    <a:moveTo>
                      <a:pt x="114300" y="0"/>
                    </a:moveTo>
                    <a:lnTo>
                      <a:pt x="6362700" y="0"/>
                    </a:lnTo>
                    <a:cubicBezTo>
                      <a:pt x="6425826" y="0"/>
                      <a:pt x="6477000" y="51174"/>
                      <a:pt x="6477000" y="114300"/>
                    </a:cubicBezTo>
                    <a:lnTo>
                      <a:pt x="6477000" y="4076700"/>
                    </a:lnTo>
                    <a:cubicBezTo>
                      <a:pt x="6477000" y="4139826"/>
                      <a:pt x="6425826" y="4191000"/>
                      <a:pt x="6362700" y="4191000"/>
                    </a:cubicBezTo>
                    <a:lnTo>
                      <a:pt x="114300" y="4191000"/>
                    </a:lnTo>
                    <a:cubicBezTo>
                      <a:pt x="51174" y="4191000"/>
                      <a:pt x="0" y="4139826"/>
                      <a:pt x="0" y="4076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838200" y="1600200"/>
                <a:ext cx="609600" cy="609600"/>
                <a:chOff x="838200" y="1600200"/>
                <a:chExt cx="609600" cy="609600"/>
              </a:xfrm>
            </p:grpSpPr>
            <p:sp>
              <p:nvSpPr>
                <p:cNvPr id="10" name="Ellipse 10"/>
                <p:cNvSpPr/>
                <p:nvPr/>
              </p:nvSpPr>
              <p:spPr>
                <a:xfrm>
                  <a:off x="838200" y="1600200"/>
                  <a:ext cx="609600" cy="609600"/>
                </a:xfrm>
                <a:prstGeom prst="ellipse">
                  <a:avLst/>
                </a:prstGeom>
                <a:solidFill>
                  <a:schemeClr val="accent1">
                    <a:alpha val="15000"/>
                  </a:schemeClr>
                </a:solidFill>
                <a:ln>
                  <a:noFill/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047750" y="1714500"/>
                  <a:ext cx="190500" cy="3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381000">
                      <a:moveTo>
                        <a:pt x="95250" y="0"/>
                      </a:moveTo>
                      <a:lnTo>
                        <a:pt x="190500" y="190500"/>
                      </a:lnTo>
                      <a:lnTo>
                        <a:pt x="95250" y="381000"/>
                      </a:lnTo>
                      <a:lnTo>
                        <a:pt x="0" y="19050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2" name="Ellipse 12"/>
                <p:cNvSpPr/>
                <p:nvPr/>
              </p:nvSpPr>
              <p:spPr>
                <a:xfrm>
                  <a:off x="1085850" y="1847850"/>
                  <a:ext cx="114300" cy="1143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933450" y="2371725"/>
                <a:ext cx="737787" cy="87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4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43356" y="3139440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核心洞察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45642" y="3616642"/>
                <a:ext cx="38301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传统营销依赖人工经验，响应滞后且归因断裂；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45642" y="3883342"/>
                <a:ext cx="363336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AI工作台实现从洞察到执行的端到端提速。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952500" y="4286250"/>
                <a:ext cx="1905000" cy="381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3238500" y="1619250"/>
                <a:ext cx="9525" cy="3524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524250">
                    <a:moveTo>
                      <a:pt x="0" y="0"/>
                    </a:moveTo>
                    <a:lnTo>
                      <a:pt x="0" y="352425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  <a:prstDash val="dash"/>
              </a:ln>
            </p:spPr>
          </p:sp>
        </p:grpSp>
        <p:grpSp>
          <p:nvGrpSpPr>
            <p:cNvPr id="36" name="Group 36"/>
            <p:cNvGrpSpPr/>
            <p:nvPr/>
          </p:nvGrpSpPr>
          <p:grpSpPr>
            <a:xfrm>
              <a:off x="7429500" y="1333500"/>
              <a:ext cx="4191000" cy="3810000"/>
              <a:chOff x="7429500" y="1333500"/>
              <a:chExt cx="4191000" cy="3810000"/>
            </a:xfrm>
          </p:grpSpPr>
          <p:grpSp>
            <p:nvGrpSpPr>
              <p:cNvPr id="25" name="Group 25"/>
              <p:cNvGrpSpPr/>
              <p:nvPr/>
            </p:nvGrpSpPr>
            <p:grpSpPr>
              <a:xfrm>
                <a:off x="7429500" y="1333500"/>
                <a:ext cx="4191000" cy="1143000"/>
                <a:chOff x="7429500" y="1333500"/>
                <a:chExt cx="4191000" cy="1143000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7429500" y="1333500"/>
                  <a:ext cx="4191000" cy="114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000" h="1143000">
                      <a:moveTo>
                        <a:pt x="114300" y="0"/>
                      </a:moveTo>
                      <a:lnTo>
                        <a:pt x="4076700" y="0"/>
                      </a:lnTo>
                      <a:cubicBezTo>
                        <a:pt x="4139826" y="0"/>
                        <a:pt x="4191000" y="51174"/>
                        <a:pt x="4191000" y="114300"/>
                      </a:cubicBezTo>
                      <a:lnTo>
                        <a:pt x="4191000" y="1028700"/>
                      </a:lnTo>
                      <a:cubicBezTo>
                        <a:pt x="4191000" y="1091826"/>
                        <a:pt x="4139826" y="1143000"/>
                        <a:pt x="4076700" y="1143000"/>
                      </a:cubicBezTo>
                      <a:lnTo>
                        <a:pt x="114300" y="1143000"/>
                      </a:lnTo>
                      <a:cubicBezTo>
                        <a:pt x="51174" y="1143000"/>
                        <a:pt x="0" y="1091826"/>
                        <a:pt x="0" y="10287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22" name="Rectangle 22"/>
                <p:cNvSpPr/>
                <p:nvPr/>
              </p:nvSpPr>
              <p:spPr>
                <a:xfrm>
                  <a:off x="7620000" y="1524000"/>
                  <a:ext cx="57150" cy="5715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7805166" y="1553528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核心洞察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7613904" y="1918335"/>
                  <a:ext cx="146608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数据驱动的实时决策</a:t>
                  </a:r>
                </a:p>
              </p:txBody>
            </p:sp>
          </p:grpSp>
          <p:grpSp>
            <p:nvGrpSpPr>
              <p:cNvPr id="30" name="Group 30"/>
              <p:cNvGrpSpPr/>
              <p:nvPr/>
            </p:nvGrpSpPr>
            <p:grpSpPr>
              <a:xfrm>
                <a:off x="7429500" y="2667000"/>
                <a:ext cx="4191000" cy="1143000"/>
                <a:chOff x="7429500" y="2667000"/>
                <a:chExt cx="4191000" cy="1143000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7429500" y="2667000"/>
                  <a:ext cx="4191000" cy="114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000" h="1143000">
                      <a:moveTo>
                        <a:pt x="114300" y="0"/>
                      </a:moveTo>
                      <a:lnTo>
                        <a:pt x="4076700" y="0"/>
                      </a:lnTo>
                      <a:cubicBezTo>
                        <a:pt x="4139826" y="0"/>
                        <a:pt x="4191000" y="51174"/>
                        <a:pt x="4191000" y="114300"/>
                      </a:cubicBezTo>
                      <a:lnTo>
                        <a:pt x="4191000" y="1028700"/>
                      </a:lnTo>
                      <a:cubicBezTo>
                        <a:pt x="4191000" y="1091826"/>
                        <a:pt x="4139826" y="1143000"/>
                        <a:pt x="4076700" y="1143000"/>
                      </a:cubicBezTo>
                      <a:lnTo>
                        <a:pt x="114300" y="1143000"/>
                      </a:lnTo>
                      <a:cubicBezTo>
                        <a:pt x="51174" y="1143000"/>
                        <a:pt x="0" y="1091826"/>
                        <a:pt x="0" y="10287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27" name="Rectangle 27"/>
                <p:cNvSpPr/>
                <p:nvPr/>
              </p:nvSpPr>
              <p:spPr>
                <a:xfrm>
                  <a:off x="7620000" y="2857500"/>
                  <a:ext cx="57150" cy="5715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7805166" y="2887028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当前事实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7613904" y="3251835"/>
                  <a:ext cx="178917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人工经验主导，响应延迟</a:t>
                  </a:r>
                </a:p>
              </p:txBody>
            </p:sp>
          </p:grpSp>
          <p:grpSp>
            <p:nvGrpSpPr>
              <p:cNvPr id="35" name="Group 35"/>
              <p:cNvGrpSpPr/>
              <p:nvPr/>
            </p:nvGrpSpPr>
            <p:grpSpPr>
              <a:xfrm>
                <a:off x="7429500" y="4000500"/>
                <a:ext cx="4191000" cy="1143000"/>
                <a:chOff x="7429500" y="4000500"/>
                <a:chExt cx="4191000" cy="1143000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7429500" y="4000500"/>
                  <a:ext cx="4191000" cy="114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000" h="1143000">
                      <a:moveTo>
                        <a:pt x="114300" y="0"/>
                      </a:moveTo>
                      <a:lnTo>
                        <a:pt x="4076700" y="0"/>
                      </a:lnTo>
                      <a:cubicBezTo>
                        <a:pt x="4139826" y="0"/>
                        <a:pt x="4191000" y="51174"/>
                        <a:pt x="4191000" y="114300"/>
                      </a:cubicBezTo>
                      <a:lnTo>
                        <a:pt x="4191000" y="1028700"/>
                      </a:lnTo>
                      <a:cubicBezTo>
                        <a:pt x="4191000" y="1091826"/>
                        <a:pt x="4139826" y="1143000"/>
                        <a:pt x="4076700" y="1143000"/>
                      </a:cubicBezTo>
                      <a:lnTo>
                        <a:pt x="114300" y="1143000"/>
                      </a:lnTo>
                      <a:cubicBezTo>
                        <a:pt x="51174" y="1143000"/>
                        <a:pt x="0" y="1091826"/>
                        <a:pt x="0" y="10287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32" name="Rectangle 32"/>
                <p:cNvSpPr/>
                <p:nvPr/>
              </p:nvSpPr>
              <p:spPr>
                <a:xfrm>
                  <a:off x="7620000" y="4191000"/>
                  <a:ext cx="57150" cy="57150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7805166" y="4220528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变化趋势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7613904" y="4585335"/>
                  <a:ext cx="152278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AI赋能的端到端闭环</a:t>
                  </a:r>
                </a:p>
              </p:txBody>
            </p:sp>
          </p:grpSp>
        </p:grpSp>
      </p:grpSp>
      <p:grpSp>
        <p:nvGrpSpPr>
          <p:cNvPr id="40" name="Group 40"/>
          <p:cNvGrpSpPr/>
          <p:nvPr/>
        </p:nvGrpSpPr>
        <p:grpSpPr>
          <a:xfrm>
            <a:off x="566738" y="6396038"/>
            <a:ext cx="11058525" cy="147638"/>
            <a:chOff x="566738" y="6396038"/>
            <a:chExt cx="11058525" cy="147638"/>
          </a:xfrm>
        </p:grpSpPr>
        <p:sp>
          <p:nvSpPr>
            <p:cNvPr id="38" name="TextBox 38"/>
            <p:cNvSpPr txBox="1"/>
            <p:nvPr/>
          </p:nvSpPr>
          <p:spPr>
            <a:xfrm>
              <a:off x="566738" y="6396038"/>
              <a:ext cx="84696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企业AI营销工作台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277505" y="6396038"/>
              <a:ext cx="34775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6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6096000" cy="6858000"/>
            </a:xfrm>
            <a:prstGeom prst="rect">
              <a:avLst/>
            </a:prstGeom>
            <a:gradFill>
              <a:gsLst>
                <a:gs pos="0">
                  <a:srgbClr val="F87171">
                    <a:alpha val="8000"/>
                  </a:srgbClr>
                </a:gs>
                <a:gs pos="100000">
                  <a:srgbClr val="F87171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0" y="0"/>
            <a:ext cx="11625262" cy="6667500"/>
            <a:chOff x="0" y="0"/>
            <a:chExt cx="11625262" cy="6667500"/>
          </a:xfrm>
        </p:grpSpPr>
        <p:sp>
          <p:nvSpPr>
            <p:cNvPr id="6" name="Rectangle 6"/>
            <p:cNvSpPr/>
            <p:nvPr/>
          </p:nvSpPr>
          <p:spPr>
            <a:xfrm>
              <a:off x="571500" y="381000"/>
              <a:ext cx="38100" cy="3429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19138" y="5124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编排对照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9308" y="788670"/>
              <a:ext cx="244884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现状vsAI工作台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0" y="0"/>
              <a:ext cx="571500" cy="6667500"/>
            </a:xfrm>
            <a:custGeom>
              <a:avLst/>
              <a:gdLst/>
              <a:ahLst/>
              <a:cxnLst/>
              <a:rect l="l" t="t" r="r" b="b"/>
              <a:pathLst>
                <a:path w="571500" h="6667500">
                  <a:moveTo>
                    <a:pt x="571500" y="666750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66738" y="6443662"/>
              <a:ext cx="139636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企业AI营销工作台 · 方案概览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49145" y="6443662"/>
              <a:ext cx="17611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4/8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71500" y="1476375"/>
            <a:ext cx="11049000" cy="4810125"/>
            <a:chOff x="571500" y="1476375"/>
            <a:chExt cx="11049000" cy="4810125"/>
          </a:xfrm>
        </p:grpSpPr>
        <p:grpSp>
          <p:nvGrpSpPr>
            <p:cNvPr id="71" name="Group 71"/>
            <p:cNvGrpSpPr/>
            <p:nvPr/>
          </p:nvGrpSpPr>
          <p:grpSpPr>
            <a:xfrm>
              <a:off x="571500" y="1476375"/>
              <a:ext cx="11049000" cy="4810125"/>
              <a:chOff x="571500" y="1476375"/>
              <a:chExt cx="11049000" cy="4810125"/>
            </a:xfrm>
          </p:grpSpPr>
          <p:grpSp>
            <p:nvGrpSpPr>
              <p:cNvPr id="39" name="Group 39"/>
              <p:cNvGrpSpPr/>
              <p:nvPr/>
            </p:nvGrpSpPr>
            <p:grpSpPr>
              <a:xfrm>
                <a:off x="571500" y="1476375"/>
                <a:ext cx="5143500" cy="3206686"/>
                <a:chOff x="571500" y="1476375"/>
                <a:chExt cx="5143500" cy="3206686"/>
              </a:xfrm>
            </p:grpSpPr>
            <p:grpSp>
              <p:nvGrpSpPr>
                <p:cNvPr id="18" name="Group 18"/>
                <p:cNvGrpSpPr/>
                <p:nvPr/>
              </p:nvGrpSpPr>
              <p:grpSpPr>
                <a:xfrm>
                  <a:off x="571500" y="1476375"/>
                  <a:ext cx="5143500" cy="457200"/>
                  <a:chOff x="571500" y="1476375"/>
                  <a:chExt cx="5143500" cy="457200"/>
                </a:xfrm>
              </p:grpSpPr>
              <p:sp>
                <p:nvSpPr>
                  <p:cNvPr id="13" name="Freeform 13"/>
                  <p:cNvSpPr/>
                  <p:nvPr/>
                </p:nvSpPr>
                <p:spPr>
                  <a:xfrm>
                    <a:off x="571500" y="1476375"/>
                    <a:ext cx="5143500" cy="457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43500" h="457200">
                        <a:moveTo>
                          <a:pt x="76200" y="0"/>
                        </a:moveTo>
                        <a:lnTo>
                          <a:pt x="5067300" y="0"/>
                        </a:lnTo>
                        <a:cubicBezTo>
                          <a:pt x="5109384" y="0"/>
                          <a:pt x="5143500" y="34116"/>
                          <a:pt x="5143500" y="76200"/>
                        </a:cubicBezTo>
                        <a:lnTo>
                          <a:pt x="5143500" y="381000"/>
                        </a:lnTo>
                        <a:cubicBezTo>
                          <a:pt x="5143500" y="423084"/>
                          <a:pt x="5109384" y="457200"/>
                          <a:pt x="5067300" y="457200"/>
                        </a:cubicBezTo>
                        <a:lnTo>
                          <a:pt x="76200" y="457200"/>
                        </a:lnTo>
                        <a:cubicBezTo>
                          <a:pt x="34116" y="457200"/>
                          <a:pt x="0" y="423084"/>
                          <a:pt x="0" y="381000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>
                    <a:solidFill>
                      <a:schemeClr val="accent4"/>
                    </a:solidFill>
                  </a:ln>
                </p:spPr>
              </p:sp>
              <p:sp>
                <p:nvSpPr>
                  <p:cNvPr id="14" name="Freeform 14"/>
                  <p:cNvSpPr/>
                  <p:nvPr/>
                </p:nvSpPr>
                <p:spPr>
                  <a:xfrm>
                    <a:off x="571500" y="1476375"/>
                    <a:ext cx="5143500" cy="38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43500" h="38100">
                        <a:moveTo>
                          <a:pt x="19050" y="0"/>
                        </a:moveTo>
                        <a:lnTo>
                          <a:pt x="5124450" y="0"/>
                        </a:lnTo>
                        <a:cubicBezTo>
                          <a:pt x="5134971" y="0"/>
                          <a:pt x="5143500" y="8529"/>
                          <a:pt x="5143500" y="19050"/>
                        </a:cubicBezTo>
                        <a:lnTo>
                          <a:pt x="5143500" y="19050"/>
                        </a:lnTo>
                        <a:cubicBezTo>
                          <a:pt x="5143500" y="29571"/>
                          <a:pt x="5134971" y="38100"/>
                          <a:pt x="5124450" y="38100"/>
                        </a:cubicBezTo>
                        <a:lnTo>
                          <a:pt x="19050" y="38100"/>
                        </a:lnTo>
                        <a:cubicBezTo>
                          <a:pt x="8529" y="38100"/>
                          <a:pt x="0" y="29571"/>
                          <a:pt x="0" y="19050"/>
                        </a:cubicBezTo>
                        <a:lnTo>
                          <a:pt x="0" y="19050"/>
                        </a:lnTo>
                        <a:cubicBezTo>
                          <a:pt x="0" y="8529"/>
                          <a:pt x="8529" y="0"/>
                          <a:pt x="19050" y="0"/>
                        </a:cubicBezTo>
                        <a:close/>
                      </a:path>
                    </a:pathLst>
                  </a:custGeom>
                  <a:solidFill>
                    <a:srgbClr val="F87171"/>
                  </a:solidFill>
                  <a:ln>
                    <a:noFill/>
                  </a:ln>
                </p:spPr>
              </p:sp>
              <p:sp>
                <p:nvSpPr>
                  <p:cNvPr id="15" name="Ellipse 15"/>
                  <p:cNvSpPr/>
                  <p:nvPr/>
                </p:nvSpPr>
                <p:spPr>
                  <a:xfrm>
                    <a:off x="714375" y="1609725"/>
                    <a:ext cx="190500" cy="190500"/>
                  </a:xfrm>
                  <a:prstGeom prst="ellipse">
                    <a:avLst/>
                  </a:prstGeom>
                  <a:solidFill>
                    <a:srgbClr val="F87171">
                      <a:alpha val="15000"/>
                    </a:srgbClr>
                  </a:solidFill>
                  <a:ln>
                    <a:noFill/>
                  </a:ln>
                </p:spPr>
              </p:sp>
              <p:sp>
                <p:nvSpPr>
                  <p:cNvPr id="16" name="TextBox 16"/>
                  <p:cNvSpPr txBox="1"/>
                  <p:nvPr/>
                </p:nvSpPr>
                <p:spPr>
                  <a:xfrm>
                    <a:off x="763476" y="1639252"/>
                    <a:ext cx="92298" cy="2053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en-US" sz="1050" b="1" dirty="0">
                        <a:solidFill>
                          <a:srgbClr val="F87171"/>
                        </a:solidFill>
                        <a:latin typeface="+mn-lt"/>
                        <a:ea typeface="+mn-ea"/>
                        <a:cs typeface="+mn-cs"/>
                      </a:rPr>
                      <a:t>✕</a:t>
                    </a:r>
                  </a:p>
                </p:txBody>
              </p:sp>
              <p:sp>
                <p:nvSpPr>
                  <p:cNvPr id="17" name="TextBox 17"/>
                  <p:cNvSpPr txBox="1"/>
                  <p:nvPr/>
                </p:nvSpPr>
                <p:spPr>
                  <a:xfrm>
                    <a:off x="1021842" y="1606868"/>
                    <a:ext cx="1158659" cy="26403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350" b="1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传统营销痛点</a:t>
                    </a:r>
                  </a:p>
                </p:txBody>
              </p:sp>
            </p:grpSp>
            <p:grpSp>
              <p:nvGrpSpPr>
                <p:cNvPr id="28" name="Group 28"/>
                <p:cNvGrpSpPr/>
                <p:nvPr/>
              </p:nvGrpSpPr>
              <p:grpSpPr>
                <a:xfrm>
                  <a:off x="571500" y="2095500"/>
                  <a:ext cx="5143500" cy="1254061"/>
                  <a:chOff x="571500" y="2095500"/>
                  <a:chExt cx="5143500" cy="1254061"/>
                </a:xfrm>
              </p:grpSpPr>
              <p:sp>
                <p:nvSpPr>
                  <p:cNvPr id="19" name="Freeform 19"/>
                  <p:cNvSpPr/>
                  <p:nvPr/>
                </p:nvSpPr>
                <p:spPr>
                  <a:xfrm>
                    <a:off x="571500" y="2095500"/>
                    <a:ext cx="5143500" cy="1143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43500" h="1143000">
                        <a:moveTo>
                          <a:pt x="114300" y="0"/>
                        </a:moveTo>
                        <a:lnTo>
                          <a:pt x="5029200" y="0"/>
                        </a:lnTo>
                        <a:cubicBezTo>
                          <a:pt x="5092326" y="0"/>
                          <a:pt x="5143500" y="51174"/>
                          <a:pt x="5143500" y="114300"/>
                        </a:cubicBezTo>
                        <a:lnTo>
                          <a:pt x="5143500" y="1028700"/>
                        </a:lnTo>
                        <a:cubicBezTo>
                          <a:pt x="5143500" y="1091826"/>
                          <a:pt x="5092326" y="1143000"/>
                          <a:pt x="5029200" y="1143000"/>
                        </a:cubicBezTo>
                        <a:lnTo>
                          <a:pt x="114300" y="1143000"/>
                        </a:lnTo>
                        <a:cubicBezTo>
                          <a:pt x="51174" y="1143000"/>
                          <a:pt x="0" y="1091826"/>
                          <a:pt x="0" y="1028700"/>
                        </a:cubicBezTo>
                        <a:lnTo>
                          <a:pt x="0" y="114300"/>
                        </a:lnTo>
                        <a:cubicBezTo>
                          <a:pt x="0" y="51174"/>
                          <a:pt x="51174" y="0"/>
                          <a:pt x="114300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>
                    <a:solidFill>
                      <a:schemeClr val="accent4"/>
                    </a:solidFill>
                  </a:ln>
                </p:spPr>
              </p:sp>
              <p:sp>
                <p:nvSpPr>
                  <p:cNvPr id="20" name="Freeform 20"/>
                  <p:cNvSpPr/>
                  <p:nvPr/>
                </p:nvSpPr>
                <p:spPr>
                  <a:xfrm>
                    <a:off x="723900" y="2247900"/>
                    <a:ext cx="571500" cy="228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1500" h="228600">
                        <a:moveTo>
                          <a:pt x="38100" y="0"/>
                        </a:moveTo>
                        <a:lnTo>
                          <a:pt x="533400" y="0"/>
                        </a:lnTo>
                        <a:cubicBezTo>
                          <a:pt x="554442" y="0"/>
                          <a:pt x="571500" y="17058"/>
                          <a:pt x="571500" y="38100"/>
                        </a:cubicBezTo>
                        <a:lnTo>
                          <a:pt x="571500" y="190500"/>
                        </a:lnTo>
                        <a:cubicBezTo>
                          <a:pt x="571500" y="211542"/>
                          <a:pt x="554442" y="228600"/>
                          <a:pt x="533400" y="228600"/>
                        </a:cubicBezTo>
                        <a:lnTo>
                          <a:pt x="38100" y="228600"/>
                        </a:lnTo>
                        <a:cubicBezTo>
                          <a:pt x="17058" y="228600"/>
                          <a:pt x="0" y="211542"/>
                          <a:pt x="0" y="190500"/>
                        </a:cubicBezTo>
                        <a:lnTo>
                          <a:pt x="0" y="38100"/>
                        </a:lnTo>
                        <a:cubicBezTo>
                          <a:pt x="0" y="17058"/>
                          <a:pt x="17058" y="0"/>
                          <a:pt x="38100" y="0"/>
                        </a:cubicBezTo>
                        <a:close/>
                      </a:path>
                    </a:pathLst>
                  </a:custGeom>
                  <a:solidFill>
                    <a:srgbClr val="F87171">
                      <a:alpha val="15000"/>
                    </a:srgbClr>
                  </a:solidFill>
                  <a:ln>
                    <a:noFill/>
                  </a:ln>
                </p:spPr>
              </p:sp>
              <p:sp>
                <p:nvSpPr>
                  <p:cNvPr id="21" name="TextBox 21"/>
                  <p:cNvSpPr txBox="1"/>
                  <p:nvPr/>
                </p:nvSpPr>
                <p:spPr>
                  <a:xfrm>
                    <a:off x="793001" y="2312670"/>
                    <a:ext cx="433298" cy="17621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en-US" sz="900" b="1" dirty="0">
                        <a:solidFill>
                          <a:srgbClr val="F87171"/>
                        </a:solidFill>
                        <a:latin typeface="+mn-lt"/>
                        <a:ea typeface="+mn-ea"/>
                        <a:cs typeface="+mn-cs"/>
                      </a:rPr>
                      <a:t>Before</a:t>
                    </a:r>
                  </a:p>
                </p:txBody>
              </p:sp>
              <p:sp>
                <p:nvSpPr>
                  <p:cNvPr id="22" name="TextBox 22"/>
                  <p:cNvSpPr txBox="1"/>
                  <p:nvPr/>
                </p:nvSpPr>
                <p:spPr>
                  <a:xfrm>
                    <a:off x="717804" y="2680335"/>
                    <a:ext cx="1029919" cy="2346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200" b="1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手动数据清洗</a:t>
                    </a:r>
                  </a:p>
                </p:txBody>
              </p:sp>
              <p:sp>
                <p:nvSpPr>
                  <p:cNvPr id="23" name="TextBox 23"/>
                  <p:cNvSpPr txBox="1"/>
                  <p:nvPr/>
                </p:nvSpPr>
                <p:spPr>
                  <a:xfrm>
                    <a:off x="718566" y="2934652"/>
                    <a:ext cx="2083460" cy="2053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050" dirty="0">
                        <a:solidFill>
                          <a:schemeClr val="dk2"/>
                        </a:solidFill>
                        <a:latin typeface="+mn-lt"/>
                        <a:ea typeface="+mn-ea"/>
                        <a:cs typeface="+mn-cs"/>
                      </a:rPr>
                      <a:t>跨平台数据依赖人工导出Excel，</a:t>
                    </a:r>
                  </a:p>
                </p:txBody>
              </p:sp>
              <p:sp>
                <p:nvSpPr>
                  <p:cNvPr id="24" name="TextBox 24"/>
                  <p:cNvSpPr txBox="1"/>
                  <p:nvPr/>
                </p:nvSpPr>
                <p:spPr>
                  <a:xfrm>
                    <a:off x="718566" y="3144202"/>
                    <a:ext cx="667950" cy="2053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050" dirty="0">
                        <a:solidFill>
                          <a:schemeClr val="dk2"/>
                        </a:solidFill>
                        <a:latin typeface="+mn-lt"/>
                        <a:ea typeface="+mn-ea"/>
                        <a:cs typeface="+mn-cs"/>
                      </a:rPr>
                      <a:t>耗时8h/周</a:t>
                    </a:r>
                  </a:p>
                </p:txBody>
              </p:sp>
              <p:sp>
                <p:nvSpPr>
                  <p:cNvPr id="25" name="Freeform 25"/>
                  <p:cNvSpPr/>
                  <p:nvPr/>
                </p:nvSpPr>
                <p:spPr>
                  <a:xfrm>
                    <a:off x="4191000" y="2476500"/>
                    <a:ext cx="1333500" cy="571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3500" h="571500">
                        <a:moveTo>
                          <a:pt x="57150" y="0"/>
                        </a:moveTo>
                        <a:lnTo>
                          <a:pt x="1276350" y="0"/>
                        </a:lnTo>
                        <a:cubicBezTo>
                          <a:pt x="1307913" y="0"/>
                          <a:pt x="1333500" y="25587"/>
                          <a:pt x="1333500" y="57150"/>
                        </a:cubicBezTo>
                        <a:lnTo>
                          <a:pt x="1333500" y="514350"/>
                        </a:lnTo>
                        <a:cubicBezTo>
                          <a:pt x="1333500" y="545913"/>
                          <a:pt x="1307913" y="571500"/>
                          <a:pt x="1276350" y="571500"/>
                        </a:cubicBezTo>
                        <a:lnTo>
                          <a:pt x="57150" y="571500"/>
                        </a:lnTo>
                        <a:cubicBezTo>
                          <a:pt x="25587" y="571500"/>
                          <a:pt x="0" y="545913"/>
                          <a:pt x="0" y="514350"/>
                        </a:cubicBezTo>
                        <a:lnTo>
                          <a:pt x="0" y="57150"/>
                        </a:lnTo>
                        <a:cubicBezTo>
                          <a:pt x="0" y="25587"/>
                          <a:pt x="25587" y="0"/>
                          <a:pt x="57150" y="0"/>
                        </a:cubicBezTo>
                        <a:close/>
                      </a:path>
                    </a:pathLst>
                  </a:custGeom>
                  <a:solidFill>
                    <a:srgbClr val="F87171">
                      <a:alpha val="10000"/>
                    </a:srgbClr>
                  </a:solidFill>
                  <a:ln>
                    <a:noFill/>
                  </a:ln>
                </p:spPr>
              </p:sp>
              <p:sp>
                <p:nvSpPr>
                  <p:cNvPr id="26" name="TextBox 26"/>
                  <p:cNvSpPr txBox="1"/>
                  <p:nvPr/>
                </p:nvSpPr>
                <p:spPr>
                  <a:xfrm>
                    <a:off x="4708669" y="2615565"/>
                    <a:ext cx="298163" cy="35204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en-US" sz="1800" b="1" dirty="0">
                        <a:solidFill>
                          <a:srgbClr val="F87171"/>
                        </a:solidFill>
                        <a:latin typeface="+mn-lt"/>
                        <a:ea typeface="+mn-ea"/>
                        <a:cs typeface="+mn-cs"/>
                      </a:rPr>
                      <a:t>8h</a:t>
                    </a:r>
                  </a:p>
                </p:txBody>
              </p:sp>
              <p:sp>
                <p:nvSpPr>
                  <p:cNvPr id="27" name="TextBox 27"/>
                  <p:cNvSpPr txBox="1"/>
                  <p:nvPr/>
                </p:nvSpPr>
                <p:spPr>
                  <a:xfrm>
                    <a:off x="4630864" y="2882741"/>
                    <a:ext cx="453771" cy="1619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820" dirty="0">
                        <a:solidFill>
                          <a:schemeClr val="dk2"/>
                        </a:solidFill>
                        <a:latin typeface="+mn-lt"/>
                        <a:ea typeface="+mn-ea"/>
                        <a:cs typeface="+mn-cs"/>
                      </a:rPr>
                      <a:t>周均耗时</a:t>
                    </a:r>
                  </a:p>
                </p:txBody>
              </p:sp>
            </p:grpSp>
            <p:grpSp>
              <p:nvGrpSpPr>
                <p:cNvPr id="38" name="Group 38"/>
                <p:cNvGrpSpPr/>
                <p:nvPr/>
              </p:nvGrpSpPr>
              <p:grpSpPr>
                <a:xfrm>
                  <a:off x="571500" y="3429000"/>
                  <a:ext cx="5143500" cy="1254061"/>
                  <a:chOff x="571500" y="3429000"/>
                  <a:chExt cx="5143500" cy="1254061"/>
                </a:xfrm>
              </p:grpSpPr>
              <p:sp>
                <p:nvSpPr>
                  <p:cNvPr id="29" name="Freeform 29"/>
                  <p:cNvSpPr/>
                  <p:nvPr/>
                </p:nvSpPr>
                <p:spPr>
                  <a:xfrm>
                    <a:off x="571500" y="3429000"/>
                    <a:ext cx="5143500" cy="1143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43500" h="1143000">
                        <a:moveTo>
                          <a:pt x="114300" y="0"/>
                        </a:moveTo>
                        <a:lnTo>
                          <a:pt x="5029200" y="0"/>
                        </a:lnTo>
                        <a:cubicBezTo>
                          <a:pt x="5092326" y="0"/>
                          <a:pt x="5143500" y="51174"/>
                          <a:pt x="5143500" y="114300"/>
                        </a:cubicBezTo>
                        <a:lnTo>
                          <a:pt x="5143500" y="1028700"/>
                        </a:lnTo>
                        <a:cubicBezTo>
                          <a:pt x="5143500" y="1091826"/>
                          <a:pt x="5092326" y="1143000"/>
                          <a:pt x="5029200" y="1143000"/>
                        </a:cubicBezTo>
                        <a:lnTo>
                          <a:pt x="114300" y="1143000"/>
                        </a:lnTo>
                        <a:cubicBezTo>
                          <a:pt x="51174" y="1143000"/>
                          <a:pt x="0" y="1091826"/>
                          <a:pt x="0" y="1028700"/>
                        </a:cubicBezTo>
                        <a:lnTo>
                          <a:pt x="0" y="114300"/>
                        </a:lnTo>
                        <a:cubicBezTo>
                          <a:pt x="0" y="51174"/>
                          <a:pt x="51174" y="0"/>
                          <a:pt x="114300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>
                    <a:solidFill>
                      <a:schemeClr val="accent4"/>
                    </a:solidFill>
                  </a:ln>
                </p:spPr>
              </p:sp>
              <p:sp>
                <p:nvSpPr>
                  <p:cNvPr id="30" name="Freeform 30"/>
                  <p:cNvSpPr/>
                  <p:nvPr/>
                </p:nvSpPr>
                <p:spPr>
                  <a:xfrm>
                    <a:off x="723900" y="3581400"/>
                    <a:ext cx="571500" cy="228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1500" h="228600">
                        <a:moveTo>
                          <a:pt x="38100" y="0"/>
                        </a:moveTo>
                        <a:lnTo>
                          <a:pt x="533400" y="0"/>
                        </a:lnTo>
                        <a:cubicBezTo>
                          <a:pt x="554442" y="0"/>
                          <a:pt x="571500" y="17058"/>
                          <a:pt x="571500" y="38100"/>
                        </a:cubicBezTo>
                        <a:lnTo>
                          <a:pt x="571500" y="190500"/>
                        </a:lnTo>
                        <a:cubicBezTo>
                          <a:pt x="571500" y="211542"/>
                          <a:pt x="554442" y="228600"/>
                          <a:pt x="533400" y="228600"/>
                        </a:cubicBezTo>
                        <a:lnTo>
                          <a:pt x="38100" y="228600"/>
                        </a:lnTo>
                        <a:cubicBezTo>
                          <a:pt x="17058" y="228600"/>
                          <a:pt x="0" y="211542"/>
                          <a:pt x="0" y="190500"/>
                        </a:cubicBezTo>
                        <a:lnTo>
                          <a:pt x="0" y="38100"/>
                        </a:lnTo>
                        <a:cubicBezTo>
                          <a:pt x="0" y="17058"/>
                          <a:pt x="17058" y="0"/>
                          <a:pt x="38100" y="0"/>
                        </a:cubicBezTo>
                        <a:close/>
                      </a:path>
                    </a:pathLst>
                  </a:custGeom>
                  <a:solidFill>
                    <a:srgbClr val="F87171">
                      <a:alpha val="15000"/>
                    </a:srgbClr>
                  </a:solidFill>
                  <a:ln>
                    <a:noFill/>
                  </a:ln>
                </p:spPr>
              </p:sp>
              <p:sp>
                <p:nvSpPr>
                  <p:cNvPr id="31" name="TextBox 31"/>
                  <p:cNvSpPr txBox="1"/>
                  <p:nvPr/>
                </p:nvSpPr>
                <p:spPr>
                  <a:xfrm>
                    <a:off x="793001" y="3646170"/>
                    <a:ext cx="433298" cy="17621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en-US" sz="900" b="1" dirty="0">
                        <a:solidFill>
                          <a:srgbClr val="F87171"/>
                        </a:solidFill>
                        <a:latin typeface="+mn-lt"/>
                        <a:ea typeface="+mn-ea"/>
                        <a:cs typeface="+mn-cs"/>
                      </a:rPr>
                      <a:t>Before</a:t>
                    </a:r>
                  </a:p>
                </p:txBody>
              </p:sp>
              <p:sp>
                <p:nvSpPr>
                  <p:cNvPr id="32" name="TextBox 32"/>
                  <p:cNvSpPr txBox="1"/>
                  <p:nvPr/>
                </p:nvSpPr>
                <p:spPr>
                  <a:xfrm>
                    <a:off x="717804" y="4013835"/>
                    <a:ext cx="1029919" cy="2346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200" b="1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经验驱动投放</a:t>
                    </a:r>
                  </a:p>
                </p:txBody>
              </p:sp>
              <p:sp>
                <p:nvSpPr>
                  <p:cNvPr id="33" name="TextBox 33"/>
                  <p:cNvSpPr txBox="1"/>
                  <p:nvPr/>
                </p:nvSpPr>
                <p:spPr>
                  <a:xfrm>
                    <a:off x="718566" y="4268152"/>
                    <a:ext cx="1565529" cy="2053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050" dirty="0">
                        <a:solidFill>
                          <a:schemeClr val="dk2"/>
                        </a:solidFill>
                        <a:latin typeface="+mn-lt"/>
                        <a:ea typeface="+mn-ea"/>
                        <a:cs typeface="+mn-cs"/>
                      </a:rPr>
                      <a:t>优化师凭直觉调整出价，</a:t>
                    </a:r>
                  </a:p>
                </p:txBody>
              </p:sp>
              <p:sp>
                <p:nvSpPr>
                  <p:cNvPr id="34" name="TextBox 34"/>
                  <p:cNvSpPr txBox="1"/>
                  <p:nvPr/>
                </p:nvSpPr>
                <p:spPr>
                  <a:xfrm>
                    <a:off x="718566" y="4477702"/>
                    <a:ext cx="1056665" cy="2053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050" dirty="0">
                        <a:solidFill>
                          <a:schemeClr val="dk2"/>
                        </a:solidFill>
                        <a:latin typeface="+mn-lt"/>
                        <a:ea typeface="+mn-ea"/>
                        <a:cs typeface="+mn-cs"/>
                      </a:rPr>
                      <a:t>转化率波动±25%</a:t>
                    </a:r>
                  </a:p>
                </p:txBody>
              </p:sp>
              <p:sp>
                <p:nvSpPr>
                  <p:cNvPr id="35" name="Freeform 35"/>
                  <p:cNvSpPr/>
                  <p:nvPr/>
                </p:nvSpPr>
                <p:spPr>
                  <a:xfrm>
                    <a:off x="4191000" y="3810000"/>
                    <a:ext cx="1333500" cy="571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3500" h="571500">
                        <a:moveTo>
                          <a:pt x="57150" y="0"/>
                        </a:moveTo>
                        <a:lnTo>
                          <a:pt x="1276350" y="0"/>
                        </a:lnTo>
                        <a:cubicBezTo>
                          <a:pt x="1307913" y="0"/>
                          <a:pt x="1333500" y="25587"/>
                          <a:pt x="1333500" y="57150"/>
                        </a:cubicBezTo>
                        <a:lnTo>
                          <a:pt x="1333500" y="514350"/>
                        </a:lnTo>
                        <a:cubicBezTo>
                          <a:pt x="1333500" y="545913"/>
                          <a:pt x="1307913" y="571500"/>
                          <a:pt x="1276350" y="571500"/>
                        </a:cubicBezTo>
                        <a:lnTo>
                          <a:pt x="57150" y="571500"/>
                        </a:lnTo>
                        <a:cubicBezTo>
                          <a:pt x="25587" y="571500"/>
                          <a:pt x="0" y="545913"/>
                          <a:pt x="0" y="514350"/>
                        </a:cubicBezTo>
                        <a:lnTo>
                          <a:pt x="0" y="57150"/>
                        </a:lnTo>
                        <a:cubicBezTo>
                          <a:pt x="0" y="25587"/>
                          <a:pt x="25587" y="0"/>
                          <a:pt x="57150" y="0"/>
                        </a:cubicBezTo>
                        <a:close/>
                      </a:path>
                    </a:pathLst>
                  </a:custGeom>
                  <a:solidFill>
                    <a:srgbClr val="F87171">
                      <a:alpha val="10000"/>
                    </a:srgbClr>
                  </a:solidFill>
                  <a:ln>
                    <a:noFill/>
                  </a:ln>
                </p:spPr>
              </p:sp>
              <p:sp>
                <p:nvSpPr>
                  <p:cNvPr id="36" name="TextBox 36"/>
                  <p:cNvSpPr txBox="1"/>
                  <p:nvPr/>
                </p:nvSpPr>
                <p:spPr>
                  <a:xfrm>
                    <a:off x="4543288" y="3949065"/>
                    <a:ext cx="628924" cy="35204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en-US" sz="1800" b="1" dirty="0">
                        <a:solidFill>
                          <a:srgbClr val="F87171"/>
                        </a:solidFill>
                        <a:latin typeface="+mn-lt"/>
                        <a:ea typeface="+mn-ea"/>
                        <a:cs typeface="+mn-cs"/>
                      </a:rPr>
                      <a:t>±25%</a:t>
                    </a:r>
                  </a:p>
                </p:txBody>
              </p:sp>
              <p:sp>
                <p:nvSpPr>
                  <p:cNvPr id="37" name="TextBox 37"/>
                  <p:cNvSpPr txBox="1"/>
                  <p:nvPr/>
                </p:nvSpPr>
                <p:spPr>
                  <a:xfrm>
                    <a:off x="4630864" y="4216241"/>
                    <a:ext cx="453771" cy="1619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820" dirty="0">
                        <a:solidFill>
                          <a:schemeClr val="dk2"/>
                        </a:solidFill>
                        <a:latin typeface="+mn-lt"/>
                        <a:ea typeface="+mn-ea"/>
                        <a:cs typeface="+mn-cs"/>
                      </a:rPr>
                      <a:t>波动幅度</a:t>
                    </a:r>
                  </a:p>
                </p:txBody>
              </p:sp>
            </p:grpSp>
          </p:grpSp>
          <p:grpSp>
            <p:nvGrpSpPr>
              <p:cNvPr id="43" name="Group 43"/>
              <p:cNvGrpSpPr/>
              <p:nvPr/>
            </p:nvGrpSpPr>
            <p:grpSpPr>
              <a:xfrm>
                <a:off x="5905500" y="1476375"/>
                <a:ext cx="381000" cy="4810125"/>
                <a:chOff x="5905500" y="1476375"/>
                <a:chExt cx="381000" cy="4810125"/>
              </a:xfrm>
            </p:grpSpPr>
            <p:sp>
              <p:nvSpPr>
                <p:cNvPr id="40" name="Line 40"/>
                <p:cNvSpPr/>
                <p:nvPr/>
              </p:nvSpPr>
              <p:spPr>
                <a:xfrm>
                  <a:off x="6096000" y="1476375"/>
                  <a:ext cx="9525" cy="481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810125">
                      <a:moveTo>
                        <a:pt x="0" y="0"/>
                      </a:moveTo>
                      <a:lnTo>
                        <a:pt x="0" y="4810125"/>
                      </a:lnTo>
                    </a:path>
                  </a:pathLst>
                </a:custGeom>
                <a:noFill/>
                <a:ln w="19050">
                  <a:solidFill>
                    <a:schemeClr val="accent4"/>
                  </a:solidFill>
                  <a:custDash>
                    <a:ds d="400000" sp="300000"/>
                  </a:custDash>
                </a:ln>
              </p:spPr>
            </p:sp>
            <p:sp>
              <p:nvSpPr>
                <p:cNvPr id="41" name="Polygon 41"/>
                <p:cNvSpPr/>
                <p:nvPr/>
              </p:nvSpPr>
              <p:spPr>
                <a:xfrm>
                  <a:off x="5905500" y="3524250"/>
                  <a:ext cx="190500" cy="3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381000">
                      <a:moveTo>
                        <a:pt x="190500" y="190500"/>
                      </a:moveTo>
                      <a:lnTo>
                        <a:pt x="0" y="0"/>
                      </a:lnTo>
                      <a:lnTo>
                        <a:pt x="0" y="38100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42" name="Polygon 42"/>
                <p:cNvSpPr/>
                <p:nvPr/>
              </p:nvSpPr>
              <p:spPr>
                <a:xfrm>
                  <a:off x="6096000" y="3524250"/>
                  <a:ext cx="190500" cy="3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381000">
                      <a:moveTo>
                        <a:pt x="0" y="190500"/>
                      </a:moveTo>
                      <a:lnTo>
                        <a:pt x="190500" y="0"/>
                      </a:lnTo>
                      <a:lnTo>
                        <a:pt x="190500" y="38100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</p:sp>
          </p:grpSp>
          <p:grpSp>
            <p:nvGrpSpPr>
              <p:cNvPr id="70" name="Group 70"/>
              <p:cNvGrpSpPr/>
              <p:nvPr/>
            </p:nvGrpSpPr>
            <p:grpSpPr>
              <a:xfrm>
                <a:off x="6477000" y="1476375"/>
                <a:ext cx="5143500" cy="3206686"/>
                <a:chOff x="6477000" y="1476375"/>
                <a:chExt cx="5143500" cy="3206686"/>
              </a:xfrm>
            </p:grpSpPr>
            <p:grpSp>
              <p:nvGrpSpPr>
                <p:cNvPr id="49" name="Group 49"/>
                <p:cNvGrpSpPr/>
                <p:nvPr/>
              </p:nvGrpSpPr>
              <p:grpSpPr>
                <a:xfrm>
                  <a:off x="6477000" y="1476375"/>
                  <a:ext cx="5143500" cy="457200"/>
                  <a:chOff x="6477000" y="1476375"/>
                  <a:chExt cx="5143500" cy="457200"/>
                </a:xfrm>
              </p:grpSpPr>
              <p:sp>
                <p:nvSpPr>
                  <p:cNvPr id="44" name="Freeform 44"/>
                  <p:cNvSpPr/>
                  <p:nvPr/>
                </p:nvSpPr>
                <p:spPr>
                  <a:xfrm>
                    <a:off x="6477000" y="1476375"/>
                    <a:ext cx="5143500" cy="457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43500" h="457200">
                        <a:moveTo>
                          <a:pt x="76200" y="0"/>
                        </a:moveTo>
                        <a:lnTo>
                          <a:pt x="5067300" y="0"/>
                        </a:lnTo>
                        <a:cubicBezTo>
                          <a:pt x="5109384" y="0"/>
                          <a:pt x="5143500" y="34116"/>
                          <a:pt x="5143500" y="76200"/>
                        </a:cubicBezTo>
                        <a:lnTo>
                          <a:pt x="5143500" y="381000"/>
                        </a:lnTo>
                        <a:cubicBezTo>
                          <a:pt x="5143500" y="423084"/>
                          <a:pt x="5109384" y="457200"/>
                          <a:pt x="5067300" y="457200"/>
                        </a:cubicBezTo>
                        <a:lnTo>
                          <a:pt x="76200" y="457200"/>
                        </a:lnTo>
                        <a:cubicBezTo>
                          <a:pt x="34116" y="457200"/>
                          <a:pt x="0" y="423084"/>
                          <a:pt x="0" y="381000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>
                    <a:solidFill>
                      <a:schemeClr val="accent4"/>
                    </a:solidFill>
                  </a:ln>
                </p:spPr>
              </p:sp>
              <p:sp>
                <p:nvSpPr>
                  <p:cNvPr id="45" name="Freeform 45"/>
                  <p:cNvSpPr/>
                  <p:nvPr/>
                </p:nvSpPr>
                <p:spPr>
                  <a:xfrm>
                    <a:off x="6477000" y="1476375"/>
                    <a:ext cx="5143500" cy="38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43500" h="38100">
                        <a:moveTo>
                          <a:pt x="19050" y="0"/>
                        </a:moveTo>
                        <a:lnTo>
                          <a:pt x="5124450" y="0"/>
                        </a:lnTo>
                        <a:cubicBezTo>
                          <a:pt x="5134971" y="0"/>
                          <a:pt x="5143500" y="8529"/>
                          <a:pt x="5143500" y="19050"/>
                        </a:cubicBezTo>
                        <a:lnTo>
                          <a:pt x="5143500" y="19050"/>
                        </a:lnTo>
                        <a:cubicBezTo>
                          <a:pt x="5143500" y="29571"/>
                          <a:pt x="5134971" y="38100"/>
                          <a:pt x="5124450" y="38100"/>
                        </a:cubicBezTo>
                        <a:lnTo>
                          <a:pt x="19050" y="38100"/>
                        </a:lnTo>
                        <a:cubicBezTo>
                          <a:pt x="8529" y="38100"/>
                          <a:pt x="0" y="29571"/>
                          <a:pt x="0" y="19050"/>
                        </a:cubicBezTo>
                        <a:lnTo>
                          <a:pt x="0" y="19050"/>
                        </a:lnTo>
                        <a:cubicBezTo>
                          <a:pt x="0" y="8529"/>
                          <a:pt x="8529" y="0"/>
                          <a:pt x="19050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</p:sp>
              <p:sp>
                <p:nvSpPr>
                  <p:cNvPr id="46" name="Ellipse 46"/>
                  <p:cNvSpPr/>
                  <p:nvPr/>
                </p:nvSpPr>
                <p:spPr>
                  <a:xfrm>
                    <a:off x="6619875" y="1609725"/>
                    <a:ext cx="190500" cy="190500"/>
                  </a:xfrm>
                  <a:prstGeom prst="ellipse">
                    <a:avLst/>
                  </a:prstGeom>
                  <a:solidFill>
                    <a:schemeClr val="accent6">
                      <a:alpha val="15000"/>
                    </a:schemeClr>
                  </a:solidFill>
                  <a:ln>
                    <a:noFill/>
                  </a:ln>
                </p:spPr>
              </p:sp>
              <p:sp>
                <p:nvSpPr>
                  <p:cNvPr id="47" name="TextBox 47"/>
                  <p:cNvSpPr txBox="1"/>
                  <p:nvPr/>
                </p:nvSpPr>
                <p:spPr>
                  <a:xfrm>
                    <a:off x="6668976" y="1639252"/>
                    <a:ext cx="92298" cy="2053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en-US" sz="1050" b="1" dirty="0">
                        <a:solidFill>
                          <a:schemeClr val="accent6"/>
                        </a:solidFill>
                        <a:latin typeface="+mn-lt"/>
                        <a:ea typeface="+mn-ea"/>
                        <a:cs typeface="+mn-cs"/>
                      </a:rPr>
                      <a:t>✓</a:t>
                    </a:r>
                  </a:p>
                </p:txBody>
              </p:sp>
              <p:sp>
                <p:nvSpPr>
                  <p:cNvPr id="48" name="TextBox 48"/>
                  <p:cNvSpPr txBox="1"/>
                  <p:nvPr/>
                </p:nvSpPr>
                <p:spPr>
                  <a:xfrm>
                    <a:off x="6927342" y="1606868"/>
                    <a:ext cx="1193223" cy="26403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350" b="1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AI工作台能力</a:t>
                    </a:r>
                  </a:p>
                </p:txBody>
              </p:sp>
            </p:grpSp>
            <p:grpSp>
              <p:nvGrpSpPr>
                <p:cNvPr id="59" name="Group 59"/>
                <p:cNvGrpSpPr/>
                <p:nvPr/>
              </p:nvGrpSpPr>
              <p:grpSpPr>
                <a:xfrm>
                  <a:off x="6477000" y="2095500"/>
                  <a:ext cx="5143500" cy="1254061"/>
                  <a:chOff x="6477000" y="2095500"/>
                  <a:chExt cx="5143500" cy="1254061"/>
                </a:xfrm>
              </p:grpSpPr>
              <p:sp>
                <p:nvSpPr>
                  <p:cNvPr id="50" name="Freeform 50"/>
                  <p:cNvSpPr/>
                  <p:nvPr/>
                </p:nvSpPr>
                <p:spPr>
                  <a:xfrm>
                    <a:off x="6477000" y="2095500"/>
                    <a:ext cx="5143500" cy="1143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43500" h="1143000">
                        <a:moveTo>
                          <a:pt x="114300" y="0"/>
                        </a:moveTo>
                        <a:lnTo>
                          <a:pt x="5029200" y="0"/>
                        </a:lnTo>
                        <a:cubicBezTo>
                          <a:pt x="5092326" y="0"/>
                          <a:pt x="5143500" y="51174"/>
                          <a:pt x="5143500" y="114300"/>
                        </a:cubicBezTo>
                        <a:lnTo>
                          <a:pt x="5143500" y="1028700"/>
                        </a:lnTo>
                        <a:cubicBezTo>
                          <a:pt x="5143500" y="1091826"/>
                          <a:pt x="5092326" y="1143000"/>
                          <a:pt x="5029200" y="1143000"/>
                        </a:cubicBezTo>
                        <a:lnTo>
                          <a:pt x="114300" y="1143000"/>
                        </a:lnTo>
                        <a:cubicBezTo>
                          <a:pt x="51174" y="1143000"/>
                          <a:pt x="0" y="1091826"/>
                          <a:pt x="0" y="1028700"/>
                        </a:cubicBezTo>
                        <a:lnTo>
                          <a:pt x="0" y="114300"/>
                        </a:lnTo>
                        <a:cubicBezTo>
                          <a:pt x="0" y="51174"/>
                          <a:pt x="51174" y="0"/>
                          <a:pt x="114300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>
                    <a:solidFill>
                      <a:schemeClr val="accent4"/>
                    </a:solidFill>
                  </a:ln>
                </p:spPr>
              </p:sp>
              <p:sp>
                <p:nvSpPr>
                  <p:cNvPr id="51" name="Freeform 51"/>
                  <p:cNvSpPr/>
                  <p:nvPr/>
                </p:nvSpPr>
                <p:spPr>
                  <a:xfrm>
                    <a:off x="6629400" y="2247900"/>
                    <a:ext cx="571500" cy="228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1500" h="228600">
                        <a:moveTo>
                          <a:pt x="38100" y="0"/>
                        </a:moveTo>
                        <a:lnTo>
                          <a:pt x="533400" y="0"/>
                        </a:lnTo>
                        <a:cubicBezTo>
                          <a:pt x="554442" y="0"/>
                          <a:pt x="571500" y="17058"/>
                          <a:pt x="571500" y="38100"/>
                        </a:cubicBezTo>
                        <a:lnTo>
                          <a:pt x="571500" y="190500"/>
                        </a:lnTo>
                        <a:cubicBezTo>
                          <a:pt x="571500" y="211542"/>
                          <a:pt x="554442" y="228600"/>
                          <a:pt x="533400" y="228600"/>
                        </a:cubicBezTo>
                        <a:lnTo>
                          <a:pt x="38100" y="228600"/>
                        </a:lnTo>
                        <a:cubicBezTo>
                          <a:pt x="17058" y="228600"/>
                          <a:pt x="0" y="211542"/>
                          <a:pt x="0" y="190500"/>
                        </a:cubicBezTo>
                        <a:lnTo>
                          <a:pt x="0" y="38100"/>
                        </a:lnTo>
                        <a:cubicBezTo>
                          <a:pt x="0" y="17058"/>
                          <a:pt x="17058" y="0"/>
                          <a:pt x="38100" y="0"/>
                        </a:cubicBezTo>
                        <a:close/>
                      </a:path>
                    </a:pathLst>
                  </a:custGeom>
                  <a:solidFill>
                    <a:schemeClr val="accent6">
                      <a:alpha val="15000"/>
                    </a:schemeClr>
                  </a:solidFill>
                  <a:ln>
                    <a:noFill/>
                  </a:ln>
                </p:spPr>
              </p:sp>
              <p:sp>
                <p:nvSpPr>
                  <p:cNvPr id="52" name="TextBox 52"/>
                  <p:cNvSpPr txBox="1"/>
                  <p:nvPr/>
                </p:nvSpPr>
                <p:spPr>
                  <a:xfrm>
                    <a:off x="6733485" y="2312670"/>
                    <a:ext cx="363329" cy="17621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en-US" sz="900" b="1" dirty="0">
                        <a:solidFill>
                          <a:schemeClr val="accent6"/>
                        </a:solidFill>
                        <a:latin typeface="+mn-lt"/>
                        <a:ea typeface="+mn-ea"/>
                        <a:cs typeface="+mn-cs"/>
                      </a:rPr>
                      <a:t>After</a:t>
                    </a:r>
                  </a:p>
                </p:txBody>
              </p:sp>
              <p:sp>
                <p:nvSpPr>
                  <p:cNvPr id="53" name="TextBox 53"/>
                  <p:cNvSpPr txBox="1"/>
                  <p:nvPr/>
                </p:nvSpPr>
                <p:spPr>
                  <a:xfrm>
                    <a:off x="6623304" y="2680335"/>
                    <a:ext cx="1029919" cy="2346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200" b="1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一键数据整合</a:t>
                    </a:r>
                  </a:p>
                </p:txBody>
              </p:sp>
              <p:sp>
                <p:nvSpPr>
                  <p:cNvPr id="54" name="TextBox 54"/>
                  <p:cNvSpPr txBox="1"/>
                  <p:nvPr/>
                </p:nvSpPr>
                <p:spPr>
                  <a:xfrm>
                    <a:off x="6624066" y="2934652"/>
                    <a:ext cx="2243480" cy="2053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050" dirty="0">
                        <a:solidFill>
                          <a:schemeClr val="dk2"/>
                        </a:solidFill>
                        <a:latin typeface="+mn-lt"/>
                        <a:ea typeface="+mn-ea"/>
                        <a:cs typeface="+mn-cs"/>
                      </a:rPr>
                      <a:t>API直连8大平台，实时自动同步，</a:t>
                    </a:r>
                  </a:p>
                </p:txBody>
              </p:sp>
              <p:sp>
                <p:nvSpPr>
                  <p:cNvPr id="55" name="TextBox 55"/>
                  <p:cNvSpPr txBox="1"/>
                  <p:nvPr/>
                </p:nvSpPr>
                <p:spPr>
                  <a:xfrm>
                    <a:off x="6624066" y="3144202"/>
                    <a:ext cx="576072" cy="2053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050" dirty="0">
                        <a:solidFill>
                          <a:schemeClr val="dk2"/>
                        </a:solidFill>
                        <a:latin typeface="+mn-lt"/>
                        <a:ea typeface="+mn-ea"/>
                        <a:cs typeface="+mn-cs"/>
                      </a:rPr>
                      <a:t>耗时归零</a:t>
                    </a:r>
                  </a:p>
                </p:txBody>
              </p:sp>
              <p:sp>
                <p:nvSpPr>
                  <p:cNvPr id="56" name="Freeform 56"/>
                  <p:cNvSpPr/>
                  <p:nvPr/>
                </p:nvSpPr>
                <p:spPr>
                  <a:xfrm>
                    <a:off x="10096500" y="2476500"/>
                    <a:ext cx="1333500" cy="571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3500" h="571500">
                        <a:moveTo>
                          <a:pt x="57150" y="0"/>
                        </a:moveTo>
                        <a:lnTo>
                          <a:pt x="1276350" y="0"/>
                        </a:lnTo>
                        <a:cubicBezTo>
                          <a:pt x="1307913" y="0"/>
                          <a:pt x="1333500" y="25587"/>
                          <a:pt x="1333500" y="57150"/>
                        </a:cubicBezTo>
                        <a:lnTo>
                          <a:pt x="1333500" y="514350"/>
                        </a:lnTo>
                        <a:cubicBezTo>
                          <a:pt x="1333500" y="545913"/>
                          <a:pt x="1307913" y="571500"/>
                          <a:pt x="1276350" y="571500"/>
                        </a:cubicBezTo>
                        <a:lnTo>
                          <a:pt x="57150" y="571500"/>
                        </a:lnTo>
                        <a:cubicBezTo>
                          <a:pt x="25587" y="571500"/>
                          <a:pt x="0" y="545913"/>
                          <a:pt x="0" y="514350"/>
                        </a:cubicBezTo>
                        <a:lnTo>
                          <a:pt x="0" y="57150"/>
                        </a:lnTo>
                        <a:cubicBezTo>
                          <a:pt x="0" y="25587"/>
                          <a:pt x="25587" y="0"/>
                          <a:pt x="57150" y="0"/>
                        </a:cubicBezTo>
                        <a:close/>
                      </a:path>
                    </a:pathLst>
                  </a:custGeom>
                  <a:solidFill>
                    <a:schemeClr val="accent6">
                      <a:alpha val="10000"/>
                    </a:schemeClr>
                  </a:solidFill>
                  <a:ln>
                    <a:noFill/>
                  </a:ln>
                </p:spPr>
              </p:sp>
              <p:sp>
                <p:nvSpPr>
                  <p:cNvPr id="57" name="TextBox 57"/>
                  <p:cNvSpPr txBox="1"/>
                  <p:nvPr/>
                </p:nvSpPr>
                <p:spPr>
                  <a:xfrm>
                    <a:off x="10614169" y="2615565"/>
                    <a:ext cx="298163" cy="35204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en-US" sz="1800" b="1" dirty="0">
                        <a:solidFill>
                          <a:schemeClr val="accent6"/>
                        </a:solidFill>
                        <a:latin typeface="+mn-lt"/>
                        <a:ea typeface="+mn-ea"/>
                        <a:cs typeface="+mn-cs"/>
                      </a:rPr>
                      <a:t>0h</a:t>
                    </a:r>
                  </a:p>
                </p:txBody>
              </p:sp>
              <p:sp>
                <p:nvSpPr>
                  <p:cNvPr id="58" name="TextBox 58"/>
                  <p:cNvSpPr txBox="1"/>
                  <p:nvPr/>
                </p:nvSpPr>
                <p:spPr>
                  <a:xfrm>
                    <a:off x="10536364" y="2882741"/>
                    <a:ext cx="453771" cy="1619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820" dirty="0">
                        <a:solidFill>
                          <a:schemeClr val="dk2"/>
                        </a:solidFill>
                        <a:latin typeface="+mn-lt"/>
                        <a:ea typeface="+mn-ea"/>
                        <a:cs typeface="+mn-cs"/>
                      </a:rPr>
                      <a:t>周均耗时</a:t>
                    </a:r>
                  </a:p>
                </p:txBody>
              </p:sp>
            </p:grpSp>
            <p:grpSp>
              <p:nvGrpSpPr>
                <p:cNvPr id="69" name="Group 69"/>
                <p:cNvGrpSpPr/>
                <p:nvPr/>
              </p:nvGrpSpPr>
              <p:grpSpPr>
                <a:xfrm>
                  <a:off x="6477000" y="3429000"/>
                  <a:ext cx="5143500" cy="1254061"/>
                  <a:chOff x="6477000" y="3429000"/>
                  <a:chExt cx="5143500" cy="1254061"/>
                </a:xfrm>
              </p:grpSpPr>
              <p:sp>
                <p:nvSpPr>
                  <p:cNvPr id="60" name="Freeform 60"/>
                  <p:cNvSpPr/>
                  <p:nvPr/>
                </p:nvSpPr>
                <p:spPr>
                  <a:xfrm>
                    <a:off x="6477000" y="3429000"/>
                    <a:ext cx="5143500" cy="1143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43500" h="1143000">
                        <a:moveTo>
                          <a:pt x="114300" y="0"/>
                        </a:moveTo>
                        <a:lnTo>
                          <a:pt x="5029200" y="0"/>
                        </a:lnTo>
                        <a:cubicBezTo>
                          <a:pt x="5092326" y="0"/>
                          <a:pt x="5143500" y="51174"/>
                          <a:pt x="5143500" y="114300"/>
                        </a:cubicBezTo>
                        <a:lnTo>
                          <a:pt x="5143500" y="1028700"/>
                        </a:lnTo>
                        <a:cubicBezTo>
                          <a:pt x="5143500" y="1091826"/>
                          <a:pt x="5092326" y="1143000"/>
                          <a:pt x="5029200" y="1143000"/>
                        </a:cubicBezTo>
                        <a:lnTo>
                          <a:pt x="114300" y="1143000"/>
                        </a:lnTo>
                        <a:cubicBezTo>
                          <a:pt x="51174" y="1143000"/>
                          <a:pt x="0" y="1091826"/>
                          <a:pt x="0" y="1028700"/>
                        </a:cubicBezTo>
                        <a:lnTo>
                          <a:pt x="0" y="114300"/>
                        </a:lnTo>
                        <a:cubicBezTo>
                          <a:pt x="0" y="51174"/>
                          <a:pt x="51174" y="0"/>
                          <a:pt x="114300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>
                    <a:solidFill>
                      <a:schemeClr val="accent4"/>
                    </a:solidFill>
                  </a:ln>
                </p:spPr>
              </p:sp>
              <p:sp>
                <p:nvSpPr>
                  <p:cNvPr id="61" name="Freeform 61"/>
                  <p:cNvSpPr/>
                  <p:nvPr/>
                </p:nvSpPr>
                <p:spPr>
                  <a:xfrm>
                    <a:off x="6629400" y="3581400"/>
                    <a:ext cx="571500" cy="228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1500" h="228600">
                        <a:moveTo>
                          <a:pt x="38100" y="0"/>
                        </a:moveTo>
                        <a:lnTo>
                          <a:pt x="533400" y="0"/>
                        </a:lnTo>
                        <a:cubicBezTo>
                          <a:pt x="554442" y="0"/>
                          <a:pt x="571500" y="17058"/>
                          <a:pt x="571500" y="38100"/>
                        </a:cubicBezTo>
                        <a:lnTo>
                          <a:pt x="571500" y="190500"/>
                        </a:lnTo>
                        <a:cubicBezTo>
                          <a:pt x="571500" y="211542"/>
                          <a:pt x="554442" y="228600"/>
                          <a:pt x="533400" y="228600"/>
                        </a:cubicBezTo>
                        <a:lnTo>
                          <a:pt x="38100" y="228600"/>
                        </a:lnTo>
                        <a:cubicBezTo>
                          <a:pt x="17058" y="228600"/>
                          <a:pt x="0" y="211542"/>
                          <a:pt x="0" y="190500"/>
                        </a:cubicBezTo>
                        <a:lnTo>
                          <a:pt x="0" y="38100"/>
                        </a:lnTo>
                        <a:cubicBezTo>
                          <a:pt x="0" y="17058"/>
                          <a:pt x="17058" y="0"/>
                          <a:pt x="38100" y="0"/>
                        </a:cubicBezTo>
                        <a:close/>
                      </a:path>
                    </a:pathLst>
                  </a:custGeom>
                  <a:solidFill>
                    <a:schemeClr val="accent6">
                      <a:alpha val="15000"/>
                    </a:schemeClr>
                  </a:solidFill>
                  <a:ln>
                    <a:noFill/>
                  </a:ln>
                </p:spPr>
              </p:sp>
              <p:sp>
                <p:nvSpPr>
                  <p:cNvPr id="62" name="TextBox 62"/>
                  <p:cNvSpPr txBox="1"/>
                  <p:nvPr/>
                </p:nvSpPr>
                <p:spPr>
                  <a:xfrm>
                    <a:off x="6733485" y="3646170"/>
                    <a:ext cx="363329" cy="17621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en-US" sz="900" b="1" dirty="0">
                        <a:solidFill>
                          <a:schemeClr val="accent6"/>
                        </a:solidFill>
                        <a:latin typeface="+mn-lt"/>
                        <a:ea typeface="+mn-ea"/>
                        <a:cs typeface="+mn-cs"/>
                      </a:rPr>
                      <a:t>After</a:t>
                    </a:r>
                  </a:p>
                </p:txBody>
              </p:sp>
              <p:sp>
                <p:nvSpPr>
                  <p:cNvPr id="63" name="TextBox 63"/>
                  <p:cNvSpPr txBox="1"/>
                  <p:nvPr/>
                </p:nvSpPr>
                <p:spPr>
                  <a:xfrm>
                    <a:off x="6623304" y="4013835"/>
                    <a:ext cx="881421" cy="2346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200" b="1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AI智能出价</a:t>
                    </a:r>
                  </a:p>
                </p:txBody>
              </p:sp>
              <p:sp>
                <p:nvSpPr>
                  <p:cNvPr id="64" name="TextBox 64"/>
                  <p:cNvSpPr txBox="1"/>
                  <p:nvPr/>
                </p:nvSpPr>
                <p:spPr>
                  <a:xfrm>
                    <a:off x="6624066" y="4268152"/>
                    <a:ext cx="1643272" cy="2053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050" dirty="0">
                        <a:solidFill>
                          <a:schemeClr val="dk2"/>
                        </a:solidFill>
                        <a:latin typeface="+mn-lt"/>
                        <a:ea typeface="+mn-ea"/>
                        <a:cs typeface="+mn-cs"/>
                      </a:rPr>
                      <a:t>实时竞情分析+转化预测，</a:t>
                    </a:r>
                  </a:p>
                </p:txBody>
              </p:sp>
              <p:sp>
                <p:nvSpPr>
                  <p:cNvPr id="65" name="TextBox 65"/>
                  <p:cNvSpPr txBox="1"/>
                  <p:nvPr/>
                </p:nvSpPr>
                <p:spPr>
                  <a:xfrm>
                    <a:off x="6624066" y="4477702"/>
                    <a:ext cx="1120273" cy="2053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050" dirty="0">
                        <a:solidFill>
                          <a:schemeClr val="dk2"/>
                        </a:solidFill>
                        <a:latin typeface="+mn-lt"/>
                        <a:ea typeface="+mn-ea"/>
                        <a:cs typeface="+mn-cs"/>
                      </a:rPr>
                      <a:t>点击成本降低18%</a:t>
                    </a:r>
                  </a:p>
                </p:txBody>
              </p:sp>
              <p:sp>
                <p:nvSpPr>
                  <p:cNvPr id="66" name="Freeform 66"/>
                  <p:cNvSpPr/>
                  <p:nvPr/>
                </p:nvSpPr>
                <p:spPr>
                  <a:xfrm>
                    <a:off x="10096500" y="3810000"/>
                    <a:ext cx="1333500" cy="571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3500" h="571500">
                        <a:moveTo>
                          <a:pt x="57150" y="0"/>
                        </a:moveTo>
                        <a:lnTo>
                          <a:pt x="1276350" y="0"/>
                        </a:lnTo>
                        <a:cubicBezTo>
                          <a:pt x="1307913" y="0"/>
                          <a:pt x="1333500" y="25587"/>
                          <a:pt x="1333500" y="57150"/>
                        </a:cubicBezTo>
                        <a:lnTo>
                          <a:pt x="1333500" y="514350"/>
                        </a:lnTo>
                        <a:cubicBezTo>
                          <a:pt x="1333500" y="545913"/>
                          <a:pt x="1307913" y="571500"/>
                          <a:pt x="1276350" y="571500"/>
                        </a:cubicBezTo>
                        <a:lnTo>
                          <a:pt x="57150" y="571500"/>
                        </a:lnTo>
                        <a:cubicBezTo>
                          <a:pt x="25587" y="571500"/>
                          <a:pt x="0" y="545913"/>
                          <a:pt x="0" y="514350"/>
                        </a:cubicBezTo>
                        <a:lnTo>
                          <a:pt x="0" y="57150"/>
                        </a:lnTo>
                        <a:cubicBezTo>
                          <a:pt x="0" y="25587"/>
                          <a:pt x="25587" y="0"/>
                          <a:pt x="57150" y="0"/>
                        </a:cubicBezTo>
                        <a:close/>
                      </a:path>
                    </a:pathLst>
                  </a:custGeom>
                  <a:solidFill>
                    <a:schemeClr val="accent6">
                      <a:alpha val="10000"/>
                    </a:schemeClr>
                  </a:solidFill>
                  <a:ln>
                    <a:noFill/>
                  </a:ln>
                </p:spPr>
              </p:sp>
              <p:sp>
                <p:nvSpPr>
                  <p:cNvPr id="67" name="TextBox 67"/>
                  <p:cNvSpPr txBox="1"/>
                  <p:nvPr/>
                </p:nvSpPr>
                <p:spPr>
                  <a:xfrm>
                    <a:off x="10448788" y="3949065"/>
                    <a:ext cx="628924" cy="35204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en-US" sz="1800" b="1" dirty="0">
                        <a:solidFill>
                          <a:schemeClr val="accent6"/>
                        </a:solidFill>
                        <a:latin typeface="+mn-lt"/>
                        <a:ea typeface="+mn-ea"/>
                        <a:cs typeface="+mn-cs"/>
                      </a:rPr>
                      <a:t>-18%</a:t>
                    </a:r>
                  </a:p>
                </p:txBody>
              </p:sp>
              <p:sp>
                <p:nvSpPr>
                  <p:cNvPr id="68" name="TextBox 68"/>
                  <p:cNvSpPr txBox="1"/>
                  <p:nvPr/>
                </p:nvSpPr>
                <p:spPr>
                  <a:xfrm>
                    <a:off x="10536364" y="4216241"/>
                    <a:ext cx="453771" cy="1619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820" dirty="0">
                        <a:solidFill>
                          <a:schemeClr val="dk2"/>
                        </a:solidFill>
                        <a:latin typeface="+mn-lt"/>
                        <a:ea typeface="+mn-ea"/>
                        <a:cs typeface="+mn-cs"/>
                      </a:rPr>
                      <a:t>成本降低</a:t>
                    </a:r>
                  </a:p>
                </p:txBody>
              </p:sp>
            </p:grpSp>
          </p:grpSp>
        </p:grpSp>
        <p:grpSp>
          <p:nvGrpSpPr>
            <p:cNvPr id="77" name="Group 77"/>
            <p:cNvGrpSpPr/>
            <p:nvPr/>
          </p:nvGrpSpPr>
          <p:grpSpPr>
            <a:xfrm>
              <a:off x="3619500" y="4953000"/>
              <a:ext cx="4953000" cy="762000"/>
              <a:chOff x="3619500" y="4953000"/>
              <a:chExt cx="4953000" cy="762000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3619500" y="4953000"/>
                <a:ext cx="4953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762000">
                    <a:moveTo>
                      <a:pt x="381000" y="0"/>
                    </a:moveTo>
                    <a:lnTo>
                      <a:pt x="4572000" y="0"/>
                    </a:lnTo>
                    <a:cubicBezTo>
                      <a:pt x="4782420" y="0"/>
                      <a:pt x="4953000" y="170580"/>
                      <a:pt x="4953000" y="381000"/>
                    </a:cubicBezTo>
                    <a:lnTo>
                      <a:pt x="4953000" y="381000"/>
                    </a:lnTo>
                    <a:cubicBezTo>
                      <a:pt x="4953000" y="591420"/>
                      <a:pt x="4782420" y="762000"/>
                      <a:pt x="4572000" y="762000"/>
                    </a:cubicBezTo>
                    <a:lnTo>
                      <a:pt x="381000" y="762000"/>
                    </a:lnTo>
                    <a:cubicBezTo>
                      <a:pt x="170580" y="762000"/>
                      <a:pt x="0" y="591420"/>
                      <a:pt x="0" y="381000"/>
                    </a:cubicBezTo>
                    <a:lnTo>
                      <a:pt x="0" y="381000"/>
                    </a:lnTo>
                    <a:cubicBezTo>
                      <a:pt x="0" y="170580"/>
                      <a:pt x="170580" y="0"/>
                      <a:pt x="381000" y="0"/>
                    </a:cubicBezTo>
                    <a:close/>
                  </a:path>
                </a:pathLst>
              </a:custGeom>
              <a:solidFill>
                <a:schemeClr val="accent2">
                  <a:alpha val="10000"/>
                </a:schemeClr>
              </a:solidFill>
              <a:ln w="9525">
                <a:solidFill>
                  <a:schemeClr val="accent2">
                    <a:alpha val="30000"/>
                  </a:schemeClr>
                </a:solidFill>
              </a:ln>
            </p:spPr>
          </p:sp>
          <p:sp>
            <p:nvSpPr>
              <p:cNvPr id="73" name="Ellipse 73"/>
              <p:cNvSpPr/>
              <p:nvPr/>
            </p:nvSpPr>
            <p:spPr>
              <a:xfrm>
                <a:off x="3848100" y="5181600"/>
                <a:ext cx="304800" cy="304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3954351" y="5277802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→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5241798" y="5156835"/>
                <a:ext cx="170840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从被动响应到主动优化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4506582" y="5419249"/>
                <a:ext cx="317883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AI工作台重构营销决策链路，实现效率与效果双提升</a:t>
                </a:r>
              </a:p>
            </p:txBody>
          </p:sp>
        </p:grpSp>
      </p:grpSp>
      <p:grpSp>
        <p:nvGrpSpPr>
          <p:cNvPr id="85" name="Group 85"/>
          <p:cNvGrpSpPr/>
          <p:nvPr/>
        </p:nvGrpSpPr>
        <p:grpSpPr>
          <a:xfrm>
            <a:off x="190500" y="2667000"/>
            <a:ext cx="12001500" cy="4000500"/>
            <a:chOff x="190500" y="2667000"/>
            <a:chExt cx="12001500" cy="4000500"/>
          </a:xfrm>
        </p:grpSpPr>
        <p:grpSp>
          <p:nvGrpSpPr>
            <p:cNvPr id="81" name="Group 81"/>
            <p:cNvGrpSpPr/>
            <p:nvPr/>
          </p:nvGrpSpPr>
          <p:grpSpPr>
            <a:xfrm>
              <a:off x="5715000" y="2667000"/>
              <a:ext cx="762000" cy="1343025"/>
              <a:chOff x="5715000" y="2667000"/>
              <a:chExt cx="762000" cy="1343025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5715000" y="2667000"/>
                <a:ext cx="76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9525">
                    <a:moveTo>
                      <a:pt x="0" y="0"/>
                    </a:moveTo>
                    <a:cubicBezTo>
                      <a:pt x="127000" y="0"/>
                      <a:pt x="190500" y="0"/>
                      <a:pt x="190500" y="0"/>
                    </a:cubicBezTo>
                    <a:lnTo>
                      <a:pt x="762000" y="0"/>
                    </a:lnTo>
                  </a:path>
                </a:pathLst>
              </a:custGeom>
              <a:noFill/>
              <a:ln w="14288">
                <a:solidFill>
                  <a:srgbClr val="F87171">
                    <a:alpha val="40000"/>
                  </a:srgbClr>
                </a:solidFill>
                <a:custDash>
                  <a:ds d="266666" sp="200000"/>
                </a:custDash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5715000" y="4000500"/>
                <a:ext cx="76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9525">
                    <a:moveTo>
                      <a:pt x="0" y="0"/>
                    </a:moveTo>
                    <a:cubicBezTo>
                      <a:pt x="127000" y="0"/>
                      <a:pt x="190500" y="0"/>
                      <a:pt x="190500" y="0"/>
                    </a:cubicBezTo>
                    <a:lnTo>
                      <a:pt x="762000" y="0"/>
                    </a:lnTo>
                  </a:path>
                </a:pathLst>
              </a:custGeom>
              <a:noFill/>
              <a:ln w="14288">
                <a:solidFill>
                  <a:srgbClr val="F87171">
                    <a:alpha val="40000"/>
                  </a:srgbClr>
                </a:solidFill>
                <a:custDash>
                  <a:ds d="266666" sp="200000"/>
                </a:custDash>
              </a:ln>
            </p:spPr>
          </p:sp>
        </p:grpSp>
        <p:grpSp>
          <p:nvGrpSpPr>
            <p:cNvPr id="84" name="Group 84"/>
            <p:cNvGrpSpPr/>
            <p:nvPr/>
          </p:nvGrpSpPr>
          <p:grpSpPr>
            <a:xfrm>
              <a:off x="190500" y="5143500"/>
              <a:ext cx="12001500" cy="1524000"/>
              <a:chOff x="190500" y="5143500"/>
              <a:chExt cx="12001500" cy="1524000"/>
            </a:xfrm>
          </p:grpSpPr>
          <p:sp>
            <p:nvSpPr>
              <p:cNvPr id="82" name="Ellipse 82"/>
              <p:cNvSpPr/>
              <p:nvPr/>
            </p:nvSpPr>
            <p:spPr>
              <a:xfrm>
                <a:off x="10668000" y="5143500"/>
                <a:ext cx="1524000" cy="1524000"/>
              </a:xfrm>
              <a:prstGeom prst="ellipse">
                <a:avLst/>
              </a:prstGeom>
              <a:solidFill>
                <a:schemeClr val="accent1">
                  <a:alpha val="3000"/>
                </a:schemeClr>
              </a:solidFill>
              <a:ln>
                <a:noFill/>
              </a:ln>
            </p:spPr>
          </p:sp>
          <p:sp>
            <p:nvSpPr>
              <p:cNvPr id="83" name="Ellipse 83"/>
              <p:cNvSpPr/>
              <p:nvPr/>
            </p:nvSpPr>
            <p:spPr>
              <a:xfrm>
                <a:off x="190500" y="5143500"/>
                <a:ext cx="1143000" cy="1143000"/>
              </a:xfrm>
              <a:prstGeom prst="ellipse">
                <a:avLst/>
              </a:prstGeom>
              <a:solidFill>
                <a:schemeClr val="accent2">
                  <a:alpha val="3000"/>
                </a:schemeClr>
              </a:solidFill>
              <a:ln>
                <a:noFill/>
              </a:ln>
            </p:spPr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1">
                    <a:alpha val="6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0" y="0"/>
            <a:ext cx="12192000" cy="857250"/>
            <a:chOff x="0" y="0"/>
            <a:chExt cx="12192000" cy="857250"/>
          </a:xfrm>
        </p:grpSpPr>
        <p:sp>
          <p:nvSpPr>
            <p:cNvPr id="5" name="Rectangle 5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476250"/>
              <a:ext cx="381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749808" y="791528"/>
            <a:ext cx="10680192" cy="5209222"/>
            <a:chOff x="749808" y="791528"/>
            <a:chExt cx="10680192" cy="5209222"/>
          </a:xfrm>
        </p:grpSpPr>
        <p:sp>
          <p:nvSpPr>
            <p:cNvPr id="8" name="TextBox 8"/>
            <p:cNvSpPr txBox="1"/>
            <p:nvPr/>
          </p:nvSpPr>
          <p:spPr>
            <a:xfrm>
              <a:off x="756666" y="7915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运行证据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9808" y="10744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落地验证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5142" y="1521142"/>
              <a:ext cx="37484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某头部零售品牌接入工作台3个月后的实测数据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762000" y="2000250"/>
              <a:ext cx="3333750" cy="4000500"/>
              <a:chOff x="762000" y="2000250"/>
              <a:chExt cx="3333750" cy="40005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762000" y="2000250"/>
                <a:ext cx="3333750" cy="4000500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4000500">
                    <a:moveTo>
                      <a:pt x="114300" y="0"/>
                    </a:moveTo>
                    <a:lnTo>
                      <a:pt x="3219450" y="0"/>
                    </a:lnTo>
                    <a:cubicBezTo>
                      <a:pt x="3282576" y="0"/>
                      <a:pt x="3333750" y="51174"/>
                      <a:pt x="3333750" y="114300"/>
                    </a:cubicBezTo>
                    <a:lnTo>
                      <a:pt x="3333750" y="3886200"/>
                    </a:lnTo>
                    <a:cubicBezTo>
                      <a:pt x="3333750" y="3949326"/>
                      <a:pt x="3282576" y="4000500"/>
                      <a:pt x="3219450" y="4000500"/>
                    </a:cubicBezTo>
                    <a:lnTo>
                      <a:pt x="114300" y="4000500"/>
                    </a:lnTo>
                    <a:cubicBezTo>
                      <a:pt x="51174" y="4000500"/>
                      <a:pt x="0" y="3949326"/>
                      <a:pt x="0" y="38862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15171D"/>
                  </a:gs>
                </a:gsLst>
                <a:lin ang="5400000" scaled="1"/>
              </a:gradFill>
              <a:ln w="9525">
                <a:solidFill>
                  <a:schemeClr val="accent4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62000" y="2000250"/>
                <a:ext cx="33337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38100">
                    <a:moveTo>
                      <a:pt x="19050" y="0"/>
                    </a:moveTo>
                    <a:lnTo>
                      <a:pt x="3314700" y="0"/>
                    </a:lnTo>
                    <a:cubicBezTo>
                      <a:pt x="3325221" y="0"/>
                      <a:pt x="3333750" y="8529"/>
                      <a:pt x="3333750" y="19050"/>
                    </a:cubicBezTo>
                    <a:lnTo>
                      <a:pt x="3333750" y="19050"/>
                    </a:lnTo>
                    <a:cubicBezTo>
                      <a:pt x="3333750" y="29571"/>
                      <a:pt x="3325221" y="38100"/>
                      <a:pt x="3314700" y="38100"/>
                    </a:cubicBezTo>
                    <a:lnTo>
                      <a:pt x="19050" y="38100"/>
                    </a:lnTo>
                    <a:cubicBezTo>
                      <a:pt x="8529" y="38100"/>
                      <a:pt x="0" y="29571"/>
                      <a:pt x="0" y="190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alpha val="90000"/>
                    </a:schemeClr>
                  </a:gs>
                  <a:gs pos="100000">
                    <a:schemeClr val="accent1">
                      <a:alpha val="30000"/>
                    </a:schemeClr>
                  </a:gs>
                </a:gsLst>
                <a:lin ang="5400000" scaled="1"/>
              </a:gra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985266" y="226790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某国际零售品牌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71550" y="2451735"/>
                <a:ext cx="364621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4200" b="1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6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657731" y="2710815"/>
                <a:ext cx="2727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倍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85266" y="3029902"/>
                <a:ext cx="114147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活动响应速度提升</a:t>
                </a:r>
              </a:p>
            </p:txBody>
          </p:sp>
          <p:sp>
            <p:nvSpPr>
              <p:cNvPr id="17" name="Line 17"/>
              <p:cNvSpPr/>
              <p:nvPr/>
            </p:nvSpPr>
            <p:spPr>
              <a:xfrm>
                <a:off x="990600" y="3381375"/>
                <a:ext cx="2876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76550" h="9525">
                    <a:moveTo>
                      <a:pt x="0" y="0"/>
                    </a:moveTo>
                    <a:lnTo>
                      <a:pt x="287655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984504" y="3537585"/>
                <a:ext cx="195072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打通天猫、京东、微信私域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84504" y="3766185"/>
                <a:ext cx="8199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全渠道数据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84504" y="4109085"/>
                <a:ext cx="152278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AI识别高潜复购用户</a:t>
                </a:r>
              </a:p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990600" y="4524375"/>
                <a:ext cx="7620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228600">
                    <a:moveTo>
                      <a:pt x="38100" y="0"/>
                    </a:moveTo>
                    <a:lnTo>
                      <a:pt x="723900" y="0"/>
                    </a:lnTo>
                    <a:cubicBezTo>
                      <a:pt x="744942" y="0"/>
                      <a:pt x="762000" y="17058"/>
                      <a:pt x="762000" y="38100"/>
                    </a:cubicBezTo>
                    <a:lnTo>
                      <a:pt x="762000" y="190500"/>
                    </a:lnTo>
                    <a:cubicBezTo>
                      <a:pt x="762000" y="211542"/>
                      <a:pt x="744942" y="228600"/>
                      <a:pt x="723900" y="228600"/>
                    </a:cubicBezTo>
                    <a:lnTo>
                      <a:pt x="38100" y="228600"/>
                    </a:lnTo>
                    <a:cubicBezTo>
                      <a:pt x="17058" y="228600"/>
                      <a:pt x="0" y="211542"/>
                      <a:pt x="0" y="1905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144714" y="4597241"/>
                <a:ext cx="45377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数据整合</a:t>
                </a:r>
              </a:p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1828800" y="4524375"/>
                <a:ext cx="5715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228600">
                    <a:moveTo>
                      <a:pt x="38100" y="0"/>
                    </a:moveTo>
                    <a:lnTo>
                      <a:pt x="533400" y="0"/>
                    </a:lnTo>
                    <a:cubicBezTo>
                      <a:pt x="554442" y="0"/>
                      <a:pt x="571500" y="17058"/>
                      <a:pt x="571500" y="38100"/>
                    </a:cubicBezTo>
                    <a:lnTo>
                      <a:pt x="571500" y="190500"/>
                    </a:lnTo>
                    <a:cubicBezTo>
                      <a:pt x="571500" y="211542"/>
                      <a:pt x="554442" y="228600"/>
                      <a:pt x="533400" y="228600"/>
                    </a:cubicBezTo>
                    <a:lnTo>
                      <a:pt x="38100" y="228600"/>
                    </a:lnTo>
                    <a:cubicBezTo>
                      <a:pt x="17058" y="228600"/>
                      <a:pt x="0" y="211542"/>
                      <a:pt x="0" y="1905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942567" y="4597241"/>
                <a:ext cx="343967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AI分析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4429125" y="2000250"/>
              <a:ext cx="3333750" cy="4000500"/>
              <a:chOff x="4429125" y="2000250"/>
              <a:chExt cx="3333750" cy="40005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4429125" y="2000250"/>
                <a:ext cx="3333750" cy="4000500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4000500">
                    <a:moveTo>
                      <a:pt x="114300" y="0"/>
                    </a:moveTo>
                    <a:lnTo>
                      <a:pt x="3219450" y="0"/>
                    </a:lnTo>
                    <a:cubicBezTo>
                      <a:pt x="3282576" y="0"/>
                      <a:pt x="3333750" y="51174"/>
                      <a:pt x="3333750" y="114300"/>
                    </a:cubicBezTo>
                    <a:lnTo>
                      <a:pt x="3333750" y="3886200"/>
                    </a:lnTo>
                    <a:cubicBezTo>
                      <a:pt x="3333750" y="3949326"/>
                      <a:pt x="3282576" y="4000500"/>
                      <a:pt x="3219450" y="4000500"/>
                    </a:cubicBezTo>
                    <a:lnTo>
                      <a:pt x="114300" y="4000500"/>
                    </a:lnTo>
                    <a:cubicBezTo>
                      <a:pt x="51174" y="4000500"/>
                      <a:pt x="0" y="3949326"/>
                      <a:pt x="0" y="38862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15171D"/>
                  </a:gs>
                </a:gsLst>
                <a:lin ang="5400000" scaled="1"/>
              </a:gradFill>
              <a:ln w="9525">
                <a:solidFill>
                  <a:schemeClr val="accent4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4429125" y="2000250"/>
                <a:ext cx="33337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38100">
                    <a:moveTo>
                      <a:pt x="19050" y="0"/>
                    </a:moveTo>
                    <a:lnTo>
                      <a:pt x="3314700" y="0"/>
                    </a:lnTo>
                    <a:cubicBezTo>
                      <a:pt x="3325221" y="0"/>
                      <a:pt x="3333750" y="8529"/>
                      <a:pt x="3333750" y="19050"/>
                    </a:cubicBezTo>
                    <a:lnTo>
                      <a:pt x="3333750" y="19050"/>
                    </a:lnTo>
                    <a:cubicBezTo>
                      <a:pt x="3333750" y="29571"/>
                      <a:pt x="3325221" y="38100"/>
                      <a:pt x="3314700" y="38100"/>
                    </a:cubicBezTo>
                    <a:lnTo>
                      <a:pt x="19050" y="38100"/>
                    </a:lnTo>
                    <a:cubicBezTo>
                      <a:pt x="8529" y="38100"/>
                      <a:pt x="0" y="29571"/>
                      <a:pt x="0" y="190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alpha val="90000"/>
                    </a:schemeClr>
                  </a:gs>
                  <a:gs pos="100000">
                    <a:schemeClr val="accent1">
                      <a:alpha val="30000"/>
                    </a:schemeClr>
                  </a:gs>
                </a:gsLst>
                <a:lin ang="5400000" scaled="1"/>
              </a:gra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4652391" y="226790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某金融科技公司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638675" y="2451735"/>
                <a:ext cx="691142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4200" b="1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35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420106" y="2710815"/>
                <a:ext cx="20911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%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652391" y="3029902"/>
                <a:ext cx="142417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营销团队人力成本下降</a:t>
                </a:r>
              </a:p>
            </p:txBody>
          </p:sp>
          <p:sp>
            <p:nvSpPr>
              <p:cNvPr id="32" name="Line 32"/>
              <p:cNvSpPr/>
              <p:nvPr/>
            </p:nvSpPr>
            <p:spPr>
              <a:xfrm>
                <a:off x="4429125" y="2000250"/>
                <a:ext cx="228600" cy="13811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381125">
                    <a:moveTo>
                      <a:pt x="228600" y="1381125"/>
                    </a:move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651629" y="3537585"/>
                <a:ext cx="187802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自动化内容生成+智能分发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651629" y="3870960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线索转化率提升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644009" y="4090035"/>
                <a:ext cx="447244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22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5231892" y="4235768"/>
                <a:ext cx="15001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%</a:t>
                </a:r>
              </a:p>
            </p:txBody>
          </p:sp>
          <p:sp>
            <p:nvSpPr>
              <p:cNvPr id="37" name="Freeform 37"/>
              <p:cNvSpPr/>
              <p:nvPr/>
            </p:nvSpPr>
            <p:spPr>
              <a:xfrm>
                <a:off x="4657725" y="4667250"/>
                <a:ext cx="7620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228600">
                    <a:moveTo>
                      <a:pt x="38100" y="0"/>
                    </a:moveTo>
                    <a:lnTo>
                      <a:pt x="723900" y="0"/>
                    </a:lnTo>
                    <a:cubicBezTo>
                      <a:pt x="744942" y="0"/>
                      <a:pt x="762000" y="17058"/>
                      <a:pt x="762000" y="38100"/>
                    </a:cubicBezTo>
                    <a:lnTo>
                      <a:pt x="762000" y="190500"/>
                    </a:lnTo>
                    <a:cubicBezTo>
                      <a:pt x="762000" y="211542"/>
                      <a:pt x="744942" y="228600"/>
                      <a:pt x="723900" y="228600"/>
                    </a:cubicBezTo>
                    <a:lnTo>
                      <a:pt x="38100" y="228600"/>
                    </a:lnTo>
                    <a:cubicBezTo>
                      <a:pt x="17058" y="228600"/>
                      <a:pt x="0" y="211542"/>
                      <a:pt x="0" y="1905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4756309" y="4740116"/>
                <a:ext cx="56483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自动化执行</a:t>
                </a:r>
              </a:p>
            </p:txBody>
          </p:sp>
          <p:sp>
            <p:nvSpPr>
              <p:cNvPr id="39" name="Freeform 39"/>
              <p:cNvSpPr/>
              <p:nvPr/>
            </p:nvSpPr>
            <p:spPr>
              <a:xfrm>
                <a:off x="5495925" y="4667250"/>
                <a:ext cx="7620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228600">
                    <a:moveTo>
                      <a:pt x="38100" y="0"/>
                    </a:moveTo>
                    <a:lnTo>
                      <a:pt x="723900" y="0"/>
                    </a:lnTo>
                    <a:cubicBezTo>
                      <a:pt x="744942" y="0"/>
                      <a:pt x="762000" y="17058"/>
                      <a:pt x="762000" y="38100"/>
                    </a:cubicBezTo>
                    <a:lnTo>
                      <a:pt x="762000" y="190500"/>
                    </a:lnTo>
                    <a:cubicBezTo>
                      <a:pt x="762000" y="211542"/>
                      <a:pt x="744942" y="228600"/>
                      <a:pt x="723900" y="228600"/>
                    </a:cubicBezTo>
                    <a:lnTo>
                      <a:pt x="38100" y="228600"/>
                    </a:lnTo>
                    <a:cubicBezTo>
                      <a:pt x="17058" y="228600"/>
                      <a:pt x="0" y="211542"/>
                      <a:pt x="0" y="1905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5650039" y="4740116"/>
                <a:ext cx="45377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效果度量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8096250" y="2000250"/>
              <a:ext cx="3333750" cy="4000500"/>
              <a:chOff x="8096250" y="2000250"/>
              <a:chExt cx="3333750" cy="40005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8096250" y="2000250"/>
                <a:ext cx="3333750" cy="4000500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4000500">
                    <a:moveTo>
                      <a:pt x="114300" y="0"/>
                    </a:moveTo>
                    <a:lnTo>
                      <a:pt x="3219450" y="0"/>
                    </a:lnTo>
                    <a:cubicBezTo>
                      <a:pt x="3282576" y="0"/>
                      <a:pt x="3333750" y="51174"/>
                      <a:pt x="3333750" y="114300"/>
                    </a:cubicBezTo>
                    <a:lnTo>
                      <a:pt x="3333750" y="3886200"/>
                    </a:lnTo>
                    <a:cubicBezTo>
                      <a:pt x="3333750" y="3949326"/>
                      <a:pt x="3282576" y="4000500"/>
                      <a:pt x="3219450" y="4000500"/>
                    </a:cubicBezTo>
                    <a:lnTo>
                      <a:pt x="114300" y="4000500"/>
                    </a:lnTo>
                    <a:cubicBezTo>
                      <a:pt x="51174" y="4000500"/>
                      <a:pt x="0" y="3949326"/>
                      <a:pt x="0" y="38862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15171D"/>
                  </a:gs>
                </a:gsLst>
                <a:lin ang="5400000" scaled="1"/>
              </a:gradFill>
              <a:ln w="9525">
                <a:solidFill>
                  <a:schemeClr val="accent4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096250" y="2000250"/>
                <a:ext cx="33337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38100">
                    <a:moveTo>
                      <a:pt x="19050" y="0"/>
                    </a:moveTo>
                    <a:lnTo>
                      <a:pt x="3314700" y="0"/>
                    </a:lnTo>
                    <a:cubicBezTo>
                      <a:pt x="3325221" y="0"/>
                      <a:pt x="3333750" y="8529"/>
                      <a:pt x="3333750" y="19050"/>
                    </a:cubicBezTo>
                    <a:lnTo>
                      <a:pt x="3333750" y="19050"/>
                    </a:lnTo>
                    <a:cubicBezTo>
                      <a:pt x="3333750" y="29571"/>
                      <a:pt x="3325221" y="38100"/>
                      <a:pt x="3314700" y="38100"/>
                    </a:cubicBezTo>
                    <a:lnTo>
                      <a:pt x="19050" y="38100"/>
                    </a:lnTo>
                    <a:cubicBezTo>
                      <a:pt x="8529" y="38100"/>
                      <a:pt x="0" y="29571"/>
                      <a:pt x="0" y="190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alpha val="90000"/>
                    </a:schemeClr>
                  </a:gs>
                  <a:gs pos="100000">
                    <a:schemeClr val="accent1">
                      <a:alpha val="30000"/>
                    </a:schemeClr>
                  </a:gs>
                </a:gsLst>
                <a:lin ang="5400000" scaled="1"/>
              </a:gra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8319516" y="226790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某连锁餐饮集团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305800" y="2451735"/>
                <a:ext cx="691142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4200" b="1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31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991981" y="2710815"/>
                <a:ext cx="20911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%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319516" y="302990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门店到店率提升</a:t>
                </a:r>
              </a:p>
            </p:txBody>
          </p:sp>
          <p:sp>
            <p:nvSpPr>
              <p:cNvPr id="48" name="Line 48"/>
              <p:cNvSpPr/>
              <p:nvPr/>
            </p:nvSpPr>
            <p:spPr>
              <a:xfrm>
                <a:off x="8096250" y="2000250"/>
                <a:ext cx="228600" cy="13811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381125">
                    <a:moveTo>
                      <a:pt x="228600" y="1381125"/>
                    </a:move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8318754" y="3537585"/>
                <a:ext cx="141183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基于LBS+消费画像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318754" y="3823335"/>
                <a:ext cx="8199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个性化推送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311134" y="4090035"/>
                <a:ext cx="447244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15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899017" y="4235768"/>
                <a:ext cx="15001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%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8319516" y="4553902"/>
                <a:ext cx="717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客单价提升</a:t>
                </a:r>
              </a:p>
            </p:txBody>
          </p:sp>
          <p:sp>
            <p:nvSpPr>
              <p:cNvPr id="54" name="Freeform 54"/>
              <p:cNvSpPr/>
              <p:nvPr/>
            </p:nvSpPr>
            <p:spPr>
              <a:xfrm>
                <a:off x="8324850" y="4953000"/>
                <a:ext cx="7620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228600">
                    <a:moveTo>
                      <a:pt x="38100" y="0"/>
                    </a:moveTo>
                    <a:lnTo>
                      <a:pt x="723900" y="0"/>
                    </a:lnTo>
                    <a:cubicBezTo>
                      <a:pt x="744942" y="0"/>
                      <a:pt x="762000" y="17058"/>
                      <a:pt x="762000" y="38100"/>
                    </a:cubicBezTo>
                    <a:lnTo>
                      <a:pt x="762000" y="190500"/>
                    </a:lnTo>
                    <a:cubicBezTo>
                      <a:pt x="762000" y="211542"/>
                      <a:pt x="744942" y="228600"/>
                      <a:pt x="723900" y="228600"/>
                    </a:cubicBezTo>
                    <a:lnTo>
                      <a:pt x="38100" y="228600"/>
                    </a:lnTo>
                    <a:cubicBezTo>
                      <a:pt x="17058" y="228600"/>
                      <a:pt x="0" y="211542"/>
                      <a:pt x="0" y="1905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8533867" y="5025866"/>
                <a:ext cx="343967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AI分析</a:t>
                </a:r>
              </a:p>
            </p:txBody>
          </p:sp>
          <p:sp>
            <p:nvSpPr>
              <p:cNvPr id="56" name="Freeform 56"/>
              <p:cNvSpPr/>
              <p:nvPr/>
            </p:nvSpPr>
            <p:spPr>
              <a:xfrm>
                <a:off x="9163050" y="4953000"/>
                <a:ext cx="7620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228600">
                    <a:moveTo>
                      <a:pt x="38100" y="0"/>
                    </a:moveTo>
                    <a:lnTo>
                      <a:pt x="723900" y="0"/>
                    </a:lnTo>
                    <a:cubicBezTo>
                      <a:pt x="744942" y="0"/>
                      <a:pt x="762000" y="17058"/>
                      <a:pt x="762000" y="38100"/>
                    </a:cubicBezTo>
                    <a:lnTo>
                      <a:pt x="762000" y="190500"/>
                    </a:lnTo>
                    <a:cubicBezTo>
                      <a:pt x="762000" y="211542"/>
                      <a:pt x="744942" y="228600"/>
                      <a:pt x="723900" y="228600"/>
                    </a:cubicBezTo>
                    <a:lnTo>
                      <a:pt x="38100" y="228600"/>
                    </a:lnTo>
                    <a:cubicBezTo>
                      <a:pt x="17058" y="228600"/>
                      <a:pt x="0" y="211542"/>
                      <a:pt x="0" y="1905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9261634" y="5025866"/>
                <a:ext cx="56483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自动化执行</a:t>
                </a:r>
              </a:p>
            </p:txBody>
          </p:sp>
        </p:grpSp>
      </p:grpSp>
      <p:grpSp>
        <p:nvGrpSpPr>
          <p:cNvPr id="62" name="Group 62"/>
          <p:cNvGrpSpPr/>
          <p:nvPr/>
        </p:nvGrpSpPr>
        <p:grpSpPr>
          <a:xfrm>
            <a:off x="566738" y="6586538"/>
            <a:ext cx="11058524" cy="147638"/>
            <a:chOff x="566738" y="6586538"/>
            <a:chExt cx="11058524" cy="147638"/>
          </a:xfrm>
        </p:grpSpPr>
        <p:sp>
          <p:nvSpPr>
            <p:cNvPr id="60" name="TextBox 60"/>
            <p:cNvSpPr txBox="1"/>
            <p:nvPr/>
          </p:nvSpPr>
          <p:spPr>
            <a:xfrm>
              <a:off x="11449145" y="6586538"/>
              <a:ext cx="17611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5/8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66738" y="6586538"/>
              <a:ext cx="91097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1">
                    <a:alpha val="6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71500" y="476250"/>
            <a:ext cx="11049000" cy="438150"/>
            <a:chOff x="571500" y="476250"/>
            <a:chExt cx="11049000" cy="438150"/>
          </a:xfrm>
        </p:grpSpPr>
        <p:sp>
          <p:nvSpPr>
            <p:cNvPr id="5" name="Rectangle 5"/>
            <p:cNvSpPr/>
            <p:nvPr/>
          </p:nvSpPr>
          <p:spPr>
            <a:xfrm>
              <a:off x="571500" y="476250"/>
              <a:ext cx="38100" cy="3810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6666" y="6296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能力指标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90487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559308" y="1169670"/>
            <a:ext cx="11061192" cy="4450080"/>
            <a:chOff x="559308" y="1169670"/>
            <a:chExt cx="11061192" cy="4450080"/>
          </a:xfrm>
        </p:grpSpPr>
        <p:sp>
          <p:nvSpPr>
            <p:cNvPr id="9" name="TextBox 9"/>
            <p:cNvSpPr txBox="1"/>
            <p:nvPr/>
          </p:nvSpPr>
          <p:spPr>
            <a:xfrm>
              <a:off x="559308" y="116967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核心效能指标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4642" y="1616392"/>
              <a:ext cx="28579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基于20+家企业接入数据的中位表现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571500" y="2190750"/>
              <a:ext cx="2571750" cy="3429000"/>
              <a:chOff x="571500" y="2190750"/>
              <a:chExt cx="2571750" cy="3429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571500" y="2190750"/>
                <a:ext cx="2571750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2571750" h="3429000">
                    <a:moveTo>
                      <a:pt x="114300" y="0"/>
                    </a:moveTo>
                    <a:lnTo>
                      <a:pt x="2457450" y="0"/>
                    </a:lnTo>
                    <a:cubicBezTo>
                      <a:pt x="2520576" y="0"/>
                      <a:pt x="2571750" y="51174"/>
                      <a:pt x="2571750" y="114300"/>
                    </a:cubicBezTo>
                    <a:lnTo>
                      <a:pt x="2571750" y="3314700"/>
                    </a:lnTo>
                    <a:cubicBezTo>
                      <a:pt x="2571750" y="3377826"/>
                      <a:pt x="2520576" y="3429000"/>
                      <a:pt x="2457450" y="3429000"/>
                    </a:cubicBezTo>
                    <a:lnTo>
                      <a:pt x="114300" y="3429000"/>
                    </a:lnTo>
                    <a:cubicBezTo>
                      <a:pt x="51174" y="3429000"/>
                      <a:pt x="0" y="3377826"/>
                      <a:pt x="0" y="3314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571500" y="2190750"/>
                <a:ext cx="38100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429000">
                    <a:moveTo>
                      <a:pt x="19050" y="0"/>
                    </a:moveTo>
                    <a:lnTo>
                      <a:pt x="19050" y="0"/>
                    </a:lnTo>
                    <a:cubicBezTo>
                      <a:pt x="29571" y="0"/>
                      <a:pt x="38100" y="8529"/>
                      <a:pt x="38100" y="19050"/>
                    </a:cubicBezTo>
                    <a:lnTo>
                      <a:pt x="38100" y="3409950"/>
                    </a:lnTo>
                    <a:cubicBezTo>
                      <a:pt x="38100" y="3420471"/>
                      <a:pt x="29571" y="3429000"/>
                      <a:pt x="19050" y="3429000"/>
                    </a:cubicBezTo>
                    <a:lnTo>
                      <a:pt x="19050" y="3429000"/>
                    </a:lnTo>
                    <a:cubicBezTo>
                      <a:pt x="8529" y="3429000"/>
                      <a:pt x="0" y="3420471"/>
                      <a:pt x="0" y="34099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210727" y="2720340"/>
                <a:ext cx="1293297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4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40%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213676" y="3552825"/>
                <a:ext cx="128739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营销效率提升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1143000" y="4000500"/>
                <a:ext cx="1428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0" h="9525">
                    <a:moveTo>
                      <a:pt x="0" y="0"/>
                    </a:moveTo>
                    <a:lnTo>
                      <a:pt x="142875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427988" y="4220528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人力投入减少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427988" y="445865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产出质量提升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381375" y="2190750"/>
              <a:ext cx="2571750" cy="3429000"/>
              <a:chOff x="3381375" y="2190750"/>
              <a:chExt cx="2571750" cy="3429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3381375" y="2190750"/>
                <a:ext cx="2571750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2571750" h="3429000">
                    <a:moveTo>
                      <a:pt x="114300" y="0"/>
                    </a:moveTo>
                    <a:lnTo>
                      <a:pt x="2457450" y="0"/>
                    </a:lnTo>
                    <a:cubicBezTo>
                      <a:pt x="2520576" y="0"/>
                      <a:pt x="2571750" y="51174"/>
                      <a:pt x="2571750" y="114300"/>
                    </a:cubicBezTo>
                    <a:lnTo>
                      <a:pt x="2571750" y="3314700"/>
                    </a:lnTo>
                    <a:cubicBezTo>
                      <a:pt x="2571750" y="3377826"/>
                      <a:pt x="2520576" y="3429000"/>
                      <a:pt x="2457450" y="3429000"/>
                    </a:cubicBezTo>
                    <a:lnTo>
                      <a:pt x="114300" y="3429000"/>
                    </a:lnTo>
                    <a:cubicBezTo>
                      <a:pt x="51174" y="3429000"/>
                      <a:pt x="0" y="3377826"/>
                      <a:pt x="0" y="3314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381375" y="2190750"/>
                <a:ext cx="38100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429000">
                    <a:moveTo>
                      <a:pt x="19050" y="0"/>
                    </a:moveTo>
                    <a:lnTo>
                      <a:pt x="19050" y="0"/>
                    </a:lnTo>
                    <a:cubicBezTo>
                      <a:pt x="29571" y="0"/>
                      <a:pt x="38100" y="8529"/>
                      <a:pt x="38100" y="19050"/>
                    </a:cubicBezTo>
                    <a:lnTo>
                      <a:pt x="38100" y="3409950"/>
                    </a:lnTo>
                    <a:cubicBezTo>
                      <a:pt x="38100" y="3420471"/>
                      <a:pt x="29571" y="3429000"/>
                      <a:pt x="19050" y="3429000"/>
                    </a:cubicBezTo>
                    <a:lnTo>
                      <a:pt x="19050" y="3429000"/>
                    </a:lnTo>
                    <a:cubicBezTo>
                      <a:pt x="8529" y="3429000"/>
                      <a:pt x="0" y="3420471"/>
                      <a:pt x="0" y="34099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4020602" y="2720340"/>
                <a:ext cx="1293297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4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82%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129564" y="3552825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归因准确率</a:t>
                </a:r>
              </a:p>
            </p:txBody>
          </p:sp>
          <p:sp>
            <p:nvSpPr>
              <p:cNvPr id="23" name="Line 23"/>
              <p:cNvSpPr/>
              <p:nvPr/>
            </p:nvSpPr>
            <p:spPr>
              <a:xfrm>
                <a:off x="3952875" y="4000500"/>
                <a:ext cx="1428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0" h="9525">
                    <a:moveTo>
                      <a:pt x="0" y="0"/>
                    </a:moveTo>
                    <a:lnTo>
                      <a:pt x="142875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167188" y="4220528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多触点归因模型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308538" y="4458652"/>
                <a:ext cx="717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覆盖全链路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6191250" y="2190750"/>
              <a:ext cx="2571750" cy="3429000"/>
              <a:chOff x="6191250" y="2190750"/>
              <a:chExt cx="2571750" cy="34290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191250" y="2190750"/>
                <a:ext cx="2571750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2571750" h="3429000">
                    <a:moveTo>
                      <a:pt x="114300" y="0"/>
                    </a:moveTo>
                    <a:lnTo>
                      <a:pt x="2457450" y="0"/>
                    </a:lnTo>
                    <a:cubicBezTo>
                      <a:pt x="2520576" y="0"/>
                      <a:pt x="2571750" y="51174"/>
                      <a:pt x="2571750" y="114300"/>
                    </a:cubicBezTo>
                    <a:lnTo>
                      <a:pt x="2571750" y="3314700"/>
                    </a:lnTo>
                    <a:cubicBezTo>
                      <a:pt x="2571750" y="3377826"/>
                      <a:pt x="2520576" y="3429000"/>
                      <a:pt x="2457450" y="3429000"/>
                    </a:cubicBezTo>
                    <a:lnTo>
                      <a:pt x="114300" y="3429000"/>
                    </a:lnTo>
                    <a:cubicBezTo>
                      <a:pt x="51174" y="3429000"/>
                      <a:pt x="0" y="3377826"/>
                      <a:pt x="0" y="3314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191250" y="2190750"/>
                <a:ext cx="38100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429000">
                    <a:moveTo>
                      <a:pt x="19050" y="0"/>
                    </a:moveTo>
                    <a:lnTo>
                      <a:pt x="19050" y="0"/>
                    </a:lnTo>
                    <a:cubicBezTo>
                      <a:pt x="29571" y="0"/>
                      <a:pt x="38100" y="8529"/>
                      <a:pt x="38100" y="19050"/>
                    </a:cubicBezTo>
                    <a:lnTo>
                      <a:pt x="38100" y="3409950"/>
                    </a:lnTo>
                    <a:cubicBezTo>
                      <a:pt x="38100" y="3420471"/>
                      <a:pt x="29571" y="3429000"/>
                      <a:pt x="19050" y="3429000"/>
                    </a:cubicBezTo>
                    <a:lnTo>
                      <a:pt x="19050" y="3429000"/>
                    </a:lnTo>
                    <a:cubicBezTo>
                      <a:pt x="8529" y="3429000"/>
                      <a:pt x="0" y="3420471"/>
                      <a:pt x="0" y="34099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318900" y="2659380"/>
                <a:ext cx="316451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360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769390" y="3044190"/>
                <a:ext cx="2727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周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833426" y="3552825"/>
                <a:ext cx="128739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平均上线周期</a:t>
                </a:r>
              </a:p>
            </p:txBody>
          </p:sp>
          <p:sp>
            <p:nvSpPr>
              <p:cNvPr id="32" name="Line 32"/>
              <p:cNvSpPr/>
              <p:nvPr/>
            </p:nvSpPr>
            <p:spPr>
              <a:xfrm>
                <a:off x="6762750" y="4000500"/>
                <a:ext cx="1428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0" h="9525">
                    <a:moveTo>
                      <a:pt x="0" y="0"/>
                    </a:moveTo>
                    <a:lnTo>
                      <a:pt x="142875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763202" y="4220528"/>
                <a:ext cx="142784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SaaS订阅+轻量化集成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189089" y="445865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开箱即用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9001125" y="2190750"/>
              <a:ext cx="2619375" cy="3429000"/>
              <a:chOff x="9001125" y="2190750"/>
              <a:chExt cx="2619375" cy="34290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9001125" y="2190750"/>
                <a:ext cx="2619375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2619375" h="3429000">
                    <a:moveTo>
                      <a:pt x="114300" y="0"/>
                    </a:moveTo>
                    <a:lnTo>
                      <a:pt x="2505075" y="0"/>
                    </a:lnTo>
                    <a:cubicBezTo>
                      <a:pt x="2568201" y="0"/>
                      <a:pt x="2619375" y="51174"/>
                      <a:pt x="2619375" y="114300"/>
                    </a:cubicBezTo>
                    <a:lnTo>
                      <a:pt x="2619375" y="3314700"/>
                    </a:lnTo>
                    <a:cubicBezTo>
                      <a:pt x="2619375" y="3377826"/>
                      <a:pt x="2568201" y="3429000"/>
                      <a:pt x="2505075" y="3429000"/>
                    </a:cubicBezTo>
                    <a:lnTo>
                      <a:pt x="114300" y="3429000"/>
                    </a:lnTo>
                    <a:cubicBezTo>
                      <a:pt x="51174" y="3429000"/>
                      <a:pt x="0" y="3377826"/>
                      <a:pt x="0" y="3314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9001125" y="2190750"/>
                <a:ext cx="38100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429000">
                    <a:moveTo>
                      <a:pt x="19050" y="0"/>
                    </a:moveTo>
                    <a:lnTo>
                      <a:pt x="19050" y="0"/>
                    </a:lnTo>
                    <a:cubicBezTo>
                      <a:pt x="29571" y="0"/>
                      <a:pt x="38100" y="8529"/>
                      <a:pt x="38100" y="19050"/>
                    </a:cubicBezTo>
                    <a:lnTo>
                      <a:pt x="38100" y="3409950"/>
                    </a:lnTo>
                    <a:cubicBezTo>
                      <a:pt x="38100" y="3420471"/>
                      <a:pt x="29571" y="3429000"/>
                      <a:pt x="19050" y="3429000"/>
                    </a:cubicBezTo>
                    <a:lnTo>
                      <a:pt x="19050" y="3429000"/>
                    </a:lnTo>
                    <a:cubicBezTo>
                      <a:pt x="8529" y="3429000"/>
                      <a:pt x="0" y="3420471"/>
                      <a:pt x="0" y="34099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9659402" y="2720340"/>
                <a:ext cx="1293297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4800" b="1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18%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450324" y="3552825"/>
                <a:ext cx="171145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平均获客成本降低</a:t>
                </a:r>
              </a:p>
            </p:txBody>
          </p:sp>
          <p:sp>
            <p:nvSpPr>
              <p:cNvPr id="40" name="Line 40"/>
              <p:cNvSpPr/>
              <p:nvPr/>
            </p:nvSpPr>
            <p:spPr>
              <a:xfrm>
                <a:off x="9572625" y="4000500"/>
                <a:ext cx="1476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76375" h="9525">
                    <a:moveTo>
                      <a:pt x="0" y="0"/>
                    </a:moveTo>
                    <a:lnTo>
                      <a:pt x="1476375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9938537" y="4220528"/>
                <a:ext cx="7350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AI出价优化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876663" y="445865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精准人群定向</a:t>
                </a:r>
              </a:p>
            </p:txBody>
          </p:sp>
        </p:grpSp>
      </p:grpSp>
      <p:grpSp>
        <p:nvGrpSpPr>
          <p:cNvPr id="47" name="Group 47"/>
          <p:cNvGrpSpPr/>
          <p:nvPr/>
        </p:nvGrpSpPr>
        <p:grpSpPr>
          <a:xfrm>
            <a:off x="566738" y="6396038"/>
            <a:ext cx="11058524" cy="147638"/>
            <a:chOff x="566738" y="6396038"/>
            <a:chExt cx="11058524" cy="147638"/>
          </a:xfrm>
        </p:grpSpPr>
        <p:sp>
          <p:nvSpPr>
            <p:cNvPr id="45" name="TextBox 45"/>
            <p:cNvSpPr txBox="1"/>
            <p:nvPr/>
          </p:nvSpPr>
          <p:spPr>
            <a:xfrm>
              <a:off x="566738" y="6396038"/>
              <a:ext cx="91097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388566" y="6396038"/>
              <a:ext cx="23669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 / 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1689925"/>
            <a:chOff x="0" y="0"/>
            <a:chExt cx="12192000" cy="1689925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71500" y="476250"/>
              <a:ext cx="381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8566" y="6296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系统图谱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9308" y="979170"/>
              <a:ext cx="23990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四模块协同架构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4642" y="1425892"/>
              <a:ext cx="32213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数据→洞察→执行→度量，形成营销闭环。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2000250" y="1905000"/>
            <a:ext cx="9620250" cy="3429000"/>
            <a:chOff x="2000250" y="1905000"/>
            <a:chExt cx="9620250" cy="3429000"/>
          </a:xfrm>
        </p:grpSpPr>
        <p:grpSp>
          <p:nvGrpSpPr>
            <p:cNvPr id="36" name="Group 36"/>
            <p:cNvGrpSpPr/>
            <p:nvPr/>
          </p:nvGrpSpPr>
          <p:grpSpPr>
            <a:xfrm>
              <a:off x="2000250" y="2571750"/>
              <a:ext cx="7620000" cy="2000250"/>
              <a:chOff x="2000250" y="2571750"/>
              <a:chExt cx="7620000" cy="2000250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2000250" y="2571750"/>
                <a:ext cx="1333500" cy="1333500"/>
              </a:xfrm>
              <a:prstGeom prst="ellipse">
                <a:avLst/>
              </a:prstGeom>
              <a:solidFill>
                <a:schemeClr val="lt2"/>
              </a:solidFill>
              <a:ln w="19050">
                <a:solidFill>
                  <a:schemeClr val="accent4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2095500" y="2667000"/>
                <a:ext cx="1143000" cy="1143000"/>
              </a:xfrm>
              <a:prstGeom prst="ellipse">
                <a:avLst/>
              </a:prstGeom>
              <a:solidFill>
                <a:schemeClr val="accent1">
                  <a:alpha val="15000"/>
                </a:schemeClr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2447354" y="3000375"/>
                <a:ext cx="4392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数据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2520315" y="3296602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整合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627033" y="3808095"/>
                <a:ext cx="79934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A</a:t>
                </a:r>
              </a:p>
            </p:txBody>
          </p:sp>
          <p:sp>
            <p:nvSpPr>
              <p:cNvPr id="13" name="Line 13"/>
              <p:cNvSpPr/>
              <p:nvPr/>
            </p:nvSpPr>
            <p:spPr>
              <a:xfrm>
                <a:off x="3333750" y="3238500"/>
                <a:ext cx="666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0" h="9525">
                    <a:moveTo>
                      <a:pt x="0" y="0"/>
                    </a:moveTo>
                    <a:lnTo>
                      <a:pt x="66675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  <a:prstDash val="lgDash"/>
              </a:ln>
            </p:spPr>
          </p:sp>
          <p:sp>
            <p:nvSpPr>
              <p:cNvPr id="14" name="Polygon 14"/>
              <p:cNvSpPr/>
              <p:nvPr/>
            </p:nvSpPr>
            <p:spPr>
              <a:xfrm>
                <a:off x="3952875" y="31908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95250" y="47625"/>
                    </a:move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4095750" y="2571750"/>
                <a:ext cx="1333500" cy="1333500"/>
              </a:xfrm>
              <a:prstGeom prst="ellipse">
                <a:avLst/>
              </a:prstGeom>
              <a:solidFill>
                <a:schemeClr val="lt2"/>
              </a:solidFill>
              <a:ln w="19050">
                <a:solidFill>
                  <a:schemeClr val="accent4"/>
                </a:solidFill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4191000" y="2667000"/>
                <a:ext cx="1143000" cy="1143000"/>
              </a:xfrm>
              <a:prstGeom prst="ellipse">
                <a:avLst/>
              </a:prstGeom>
              <a:solidFill>
                <a:schemeClr val="accent2">
                  <a:alpha val="15000"/>
                </a:schemeClr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542854" y="3000375"/>
                <a:ext cx="4392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洞察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615815" y="3296602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分析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722533" y="3808095"/>
                <a:ext cx="79934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B</a:t>
                </a:r>
              </a:p>
            </p:txBody>
          </p:sp>
          <p:sp>
            <p:nvSpPr>
              <p:cNvPr id="20" name="Line 20"/>
              <p:cNvSpPr/>
              <p:nvPr/>
            </p:nvSpPr>
            <p:spPr>
              <a:xfrm>
                <a:off x="5429250" y="3238500"/>
                <a:ext cx="666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0" h="9525">
                    <a:moveTo>
                      <a:pt x="0" y="0"/>
                    </a:moveTo>
                    <a:lnTo>
                      <a:pt x="66675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  <a:prstDash val="lgDash"/>
              </a:ln>
            </p:spPr>
          </p:sp>
          <p:sp>
            <p:nvSpPr>
              <p:cNvPr id="21" name="Polygon 21"/>
              <p:cNvSpPr/>
              <p:nvPr/>
            </p:nvSpPr>
            <p:spPr>
              <a:xfrm>
                <a:off x="6048375" y="31908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95250" y="47625"/>
                    </a:move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6191250" y="2571750"/>
                <a:ext cx="1333500" cy="1333500"/>
              </a:xfrm>
              <a:prstGeom prst="ellipse">
                <a:avLst/>
              </a:prstGeom>
              <a:solidFill>
                <a:schemeClr val="lt2"/>
              </a:solidFill>
              <a:ln w="19050">
                <a:solidFill>
                  <a:schemeClr val="accent4"/>
                </a:solidFill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6286500" y="2667000"/>
                <a:ext cx="1143000" cy="1143000"/>
              </a:xfrm>
              <a:prstGeom prst="ellipse">
                <a:avLst/>
              </a:prstGeom>
              <a:solidFill>
                <a:schemeClr val="accent3">
                  <a:alpha val="15000"/>
                </a:schemeClr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638354" y="3000375"/>
                <a:ext cx="4392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执行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640640" y="3296602"/>
                <a:ext cx="4347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自动化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818033" y="3808095"/>
                <a:ext cx="79934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C</a:t>
                </a:r>
              </a:p>
            </p:txBody>
          </p:sp>
          <p:sp>
            <p:nvSpPr>
              <p:cNvPr id="27" name="Line 27"/>
              <p:cNvSpPr/>
              <p:nvPr/>
            </p:nvSpPr>
            <p:spPr>
              <a:xfrm>
                <a:off x="7524750" y="3238500"/>
                <a:ext cx="666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0" h="9525">
                    <a:moveTo>
                      <a:pt x="0" y="0"/>
                    </a:moveTo>
                    <a:lnTo>
                      <a:pt x="666750" y="0"/>
                    </a:lnTo>
                  </a:path>
                </a:pathLst>
              </a:custGeom>
              <a:noFill/>
              <a:ln w="19050">
                <a:solidFill>
                  <a:schemeClr val="accent6"/>
                </a:solidFill>
                <a:prstDash val="lgDash"/>
              </a:ln>
            </p:spPr>
          </p:sp>
          <p:sp>
            <p:nvSpPr>
              <p:cNvPr id="28" name="Polygon 28"/>
              <p:cNvSpPr/>
              <p:nvPr/>
            </p:nvSpPr>
            <p:spPr>
              <a:xfrm>
                <a:off x="8143875" y="31908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95250" y="47625"/>
                    </a:move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8286750" y="2571750"/>
                <a:ext cx="1333500" cy="1333500"/>
              </a:xfrm>
              <a:prstGeom prst="ellipse">
                <a:avLst/>
              </a:prstGeom>
              <a:solidFill>
                <a:schemeClr val="lt2"/>
              </a:solidFill>
              <a:ln w="19050">
                <a:solidFill>
                  <a:schemeClr val="accent4"/>
                </a:solidFill>
              </a:ln>
            </p:spPr>
          </p:sp>
          <p:sp>
            <p:nvSpPr>
              <p:cNvPr id="30" name="Ellipse 30"/>
              <p:cNvSpPr/>
              <p:nvPr/>
            </p:nvSpPr>
            <p:spPr>
              <a:xfrm>
                <a:off x="8382000" y="2667000"/>
                <a:ext cx="1143000" cy="1143000"/>
              </a:xfrm>
              <a:prstGeom prst="ellipse">
                <a:avLst/>
              </a:prstGeom>
              <a:solidFill>
                <a:schemeClr val="accent6">
                  <a:alpha val="15000"/>
                </a:schemeClr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8733854" y="3000375"/>
                <a:ext cx="4392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度量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665464" y="329660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效果评估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913533" y="3808095"/>
                <a:ext cx="79934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D</a:t>
                </a:r>
              </a:p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2667000" y="3905250"/>
                <a:ext cx="628650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6286500" h="666750">
                    <a:moveTo>
                      <a:pt x="6286500" y="0"/>
                    </a:moveTo>
                    <a:cubicBezTo>
                      <a:pt x="6286500" y="444500"/>
                      <a:pt x="5238750" y="666750"/>
                      <a:pt x="3143250" y="666750"/>
                    </a:cubicBezTo>
                    <a:cubicBezTo>
                      <a:pt x="1047750" y="666750"/>
                      <a:pt x="0" y="444500"/>
                      <a:pt x="0" y="0"/>
                    </a:cubicBezTo>
                  </a:path>
                </a:pathLst>
              </a:custGeom>
              <a:noFill/>
              <a:ln w="19050">
                <a:solidFill>
                  <a:schemeClr val="accent1">
                    <a:alpha val="60000"/>
                  </a:schemeClr>
                </a:solidFill>
                <a:prstDash val="dash"/>
              </a:ln>
            </p:spPr>
          </p:sp>
          <p:sp>
            <p:nvSpPr>
              <p:cNvPr id="35" name="Polygon 35"/>
              <p:cNvSpPr/>
              <p:nvPr/>
            </p:nvSpPr>
            <p:spPr>
              <a:xfrm>
                <a:off x="2619375" y="38576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47625" y="0"/>
                    </a:moveTo>
                    <a:lnTo>
                      <a:pt x="0" y="95250"/>
                    </a:lnTo>
                    <a:lnTo>
                      <a:pt x="95250" y="95250"/>
                    </a:lnTo>
                    <a:close/>
                  </a:path>
                </a:pathLst>
              </a:custGeom>
              <a:solidFill>
                <a:schemeClr val="accent1">
                  <a:alpha val="60000"/>
                </a:schemeClr>
              </a:solidFill>
              <a:ln>
                <a:noFill/>
              </a:ln>
            </p:spPr>
          </p:sp>
        </p:grpSp>
        <p:grpSp>
          <p:nvGrpSpPr>
            <p:cNvPr id="51" name="Group 51"/>
            <p:cNvGrpSpPr/>
            <p:nvPr/>
          </p:nvGrpSpPr>
          <p:grpSpPr>
            <a:xfrm>
              <a:off x="10096500" y="1905000"/>
              <a:ext cx="1524000" cy="3429000"/>
              <a:chOff x="10096500" y="1905000"/>
              <a:chExt cx="1524000" cy="34290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10096500" y="1905000"/>
                <a:ext cx="1524000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3429000">
                    <a:moveTo>
                      <a:pt x="76200" y="0"/>
                    </a:moveTo>
                    <a:lnTo>
                      <a:pt x="1447800" y="0"/>
                    </a:lnTo>
                    <a:cubicBezTo>
                      <a:pt x="1489884" y="0"/>
                      <a:pt x="1524000" y="34116"/>
                      <a:pt x="1524000" y="76200"/>
                    </a:cubicBezTo>
                    <a:lnTo>
                      <a:pt x="1524000" y="3352800"/>
                    </a:lnTo>
                    <a:cubicBezTo>
                      <a:pt x="1524000" y="3394884"/>
                      <a:pt x="1489884" y="3429000"/>
                      <a:pt x="1447800" y="3429000"/>
                    </a:cubicBezTo>
                    <a:lnTo>
                      <a:pt x="76200" y="3429000"/>
                    </a:lnTo>
                    <a:cubicBezTo>
                      <a:pt x="34116" y="3429000"/>
                      <a:pt x="0" y="3394884"/>
                      <a:pt x="0" y="33528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0287000" y="2190750"/>
                <a:ext cx="11430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228600">
                    <a:moveTo>
                      <a:pt x="38100" y="0"/>
                    </a:moveTo>
                    <a:lnTo>
                      <a:pt x="1104900" y="0"/>
                    </a:lnTo>
                    <a:cubicBezTo>
                      <a:pt x="1125942" y="0"/>
                      <a:pt x="1143000" y="17058"/>
                      <a:pt x="1143000" y="38100"/>
                    </a:cubicBezTo>
                    <a:lnTo>
                      <a:pt x="1143000" y="190500"/>
                    </a:lnTo>
                    <a:cubicBezTo>
                      <a:pt x="1143000" y="211542"/>
                      <a:pt x="1125942" y="228600"/>
                      <a:pt x="1104900" y="228600"/>
                    </a:cubicBezTo>
                    <a:lnTo>
                      <a:pt x="38100" y="228600"/>
                    </a:lnTo>
                    <a:cubicBezTo>
                      <a:pt x="17058" y="228600"/>
                      <a:pt x="0" y="211542"/>
                      <a:pt x="0" y="1905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287000" y="2190750"/>
                <a:ext cx="100965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009650" h="228600">
                    <a:moveTo>
                      <a:pt x="38100" y="0"/>
                    </a:moveTo>
                    <a:lnTo>
                      <a:pt x="971550" y="0"/>
                    </a:lnTo>
                    <a:cubicBezTo>
                      <a:pt x="992592" y="0"/>
                      <a:pt x="1009650" y="17058"/>
                      <a:pt x="1009650" y="38100"/>
                    </a:cubicBezTo>
                    <a:lnTo>
                      <a:pt x="1009650" y="190500"/>
                    </a:lnTo>
                    <a:cubicBezTo>
                      <a:pt x="1009650" y="211542"/>
                      <a:pt x="992592" y="228600"/>
                      <a:pt x="971550" y="228600"/>
                    </a:cubicBezTo>
                    <a:lnTo>
                      <a:pt x="38100" y="228600"/>
                    </a:lnTo>
                    <a:cubicBezTo>
                      <a:pt x="17058" y="228600"/>
                      <a:pt x="0" y="211542"/>
                      <a:pt x="0" y="1905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0376916" y="2229802"/>
                <a:ext cx="31646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A 88</a:t>
                </a:r>
              </a:p>
            </p:txBody>
          </p:sp>
          <p:sp>
            <p:nvSpPr>
              <p:cNvPr id="41" name="Freeform 41"/>
              <p:cNvSpPr/>
              <p:nvPr/>
            </p:nvSpPr>
            <p:spPr>
              <a:xfrm>
                <a:off x="10287000" y="2667000"/>
                <a:ext cx="11430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228600">
                    <a:moveTo>
                      <a:pt x="38100" y="0"/>
                    </a:moveTo>
                    <a:lnTo>
                      <a:pt x="1104900" y="0"/>
                    </a:lnTo>
                    <a:cubicBezTo>
                      <a:pt x="1125942" y="0"/>
                      <a:pt x="1143000" y="17058"/>
                      <a:pt x="1143000" y="38100"/>
                    </a:cubicBezTo>
                    <a:lnTo>
                      <a:pt x="1143000" y="190500"/>
                    </a:lnTo>
                    <a:cubicBezTo>
                      <a:pt x="1143000" y="211542"/>
                      <a:pt x="1125942" y="228600"/>
                      <a:pt x="1104900" y="228600"/>
                    </a:cubicBezTo>
                    <a:lnTo>
                      <a:pt x="38100" y="228600"/>
                    </a:lnTo>
                    <a:cubicBezTo>
                      <a:pt x="17058" y="228600"/>
                      <a:pt x="0" y="211542"/>
                      <a:pt x="0" y="1905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0287000" y="2667000"/>
                <a:ext cx="8477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847725" h="228600">
                    <a:moveTo>
                      <a:pt x="38100" y="0"/>
                    </a:moveTo>
                    <a:lnTo>
                      <a:pt x="809625" y="0"/>
                    </a:lnTo>
                    <a:cubicBezTo>
                      <a:pt x="830667" y="0"/>
                      <a:pt x="847725" y="17058"/>
                      <a:pt x="847725" y="38100"/>
                    </a:cubicBezTo>
                    <a:lnTo>
                      <a:pt x="847725" y="190500"/>
                    </a:lnTo>
                    <a:cubicBezTo>
                      <a:pt x="847725" y="211542"/>
                      <a:pt x="830667" y="228600"/>
                      <a:pt x="809625" y="228600"/>
                    </a:cubicBezTo>
                    <a:lnTo>
                      <a:pt x="38100" y="228600"/>
                    </a:lnTo>
                    <a:cubicBezTo>
                      <a:pt x="17058" y="228600"/>
                      <a:pt x="0" y="211542"/>
                      <a:pt x="0" y="1905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0376916" y="2706052"/>
                <a:ext cx="31646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B 74</a:t>
                </a:r>
              </a:p>
            </p:txBody>
          </p:sp>
          <p:sp>
            <p:nvSpPr>
              <p:cNvPr id="44" name="Freeform 44"/>
              <p:cNvSpPr/>
              <p:nvPr/>
            </p:nvSpPr>
            <p:spPr>
              <a:xfrm>
                <a:off x="10287000" y="3143250"/>
                <a:ext cx="11430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228600">
                    <a:moveTo>
                      <a:pt x="38100" y="0"/>
                    </a:moveTo>
                    <a:lnTo>
                      <a:pt x="1104900" y="0"/>
                    </a:lnTo>
                    <a:cubicBezTo>
                      <a:pt x="1125942" y="0"/>
                      <a:pt x="1143000" y="17058"/>
                      <a:pt x="1143000" y="38100"/>
                    </a:cubicBezTo>
                    <a:lnTo>
                      <a:pt x="1143000" y="190500"/>
                    </a:lnTo>
                    <a:cubicBezTo>
                      <a:pt x="1143000" y="211542"/>
                      <a:pt x="1125942" y="228600"/>
                      <a:pt x="1104900" y="228600"/>
                    </a:cubicBezTo>
                    <a:lnTo>
                      <a:pt x="38100" y="228600"/>
                    </a:lnTo>
                    <a:cubicBezTo>
                      <a:pt x="17058" y="228600"/>
                      <a:pt x="0" y="211542"/>
                      <a:pt x="0" y="1905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0287000" y="3143250"/>
                <a:ext cx="6858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685800" h="228600">
                    <a:moveTo>
                      <a:pt x="38100" y="0"/>
                    </a:moveTo>
                    <a:lnTo>
                      <a:pt x="647700" y="0"/>
                    </a:lnTo>
                    <a:cubicBezTo>
                      <a:pt x="668742" y="0"/>
                      <a:pt x="685800" y="17058"/>
                      <a:pt x="685800" y="38100"/>
                    </a:cubicBezTo>
                    <a:lnTo>
                      <a:pt x="685800" y="190500"/>
                    </a:lnTo>
                    <a:cubicBezTo>
                      <a:pt x="685800" y="211542"/>
                      <a:pt x="668742" y="228600"/>
                      <a:pt x="647700" y="228600"/>
                    </a:cubicBezTo>
                    <a:lnTo>
                      <a:pt x="38100" y="228600"/>
                    </a:lnTo>
                    <a:cubicBezTo>
                      <a:pt x="17058" y="228600"/>
                      <a:pt x="0" y="211542"/>
                      <a:pt x="0" y="1905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0376916" y="3182302"/>
                <a:ext cx="31646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C 60</a:t>
                </a:r>
              </a:p>
            </p:txBody>
          </p:sp>
          <p:sp>
            <p:nvSpPr>
              <p:cNvPr id="47" name="Freeform 47"/>
              <p:cNvSpPr/>
              <p:nvPr/>
            </p:nvSpPr>
            <p:spPr>
              <a:xfrm>
                <a:off x="10287000" y="3619500"/>
                <a:ext cx="11430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228600">
                    <a:moveTo>
                      <a:pt x="38100" y="0"/>
                    </a:moveTo>
                    <a:lnTo>
                      <a:pt x="1104900" y="0"/>
                    </a:lnTo>
                    <a:cubicBezTo>
                      <a:pt x="1125942" y="0"/>
                      <a:pt x="1143000" y="17058"/>
                      <a:pt x="1143000" y="38100"/>
                    </a:cubicBezTo>
                    <a:lnTo>
                      <a:pt x="1143000" y="190500"/>
                    </a:lnTo>
                    <a:cubicBezTo>
                      <a:pt x="1143000" y="211542"/>
                      <a:pt x="1125942" y="228600"/>
                      <a:pt x="1104900" y="228600"/>
                    </a:cubicBezTo>
                    <a:lnTo>
                      <a:pt x="38100" y="228600"/>
                    </a:lnTo>
                    <a:cubicBezTo>
                      <a:pt x="17058" y="228600"/>
                      <a:pt x="0" y="211542"/>
                      <a:pt x="0" y="1905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10287000" y="3619500"/>
                <a:ext cx="52387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523875" h="228600">
                    <a:moveTo>
                      <a:pt x="38100" y="0"/>
                    </a:moveTo>
                    <a:lnTo>
                      <a:pt x="485775" y="0"/>
                    </a:lnTo>
                    <a:cubicBezTo>
                      <a:pt x="506817" y="0"/>
                      <a:pt x="523875" y="17058"/>
                      <a:pt x="523875" y="38100"/>
                    </a:cubicBezTo>
                    <a:lnTo>
                      <a:pt x="523875" y="190500"/>
                    </a:lnTo>
                    <a:cubicBezTo>
                      <a:pt x="523875" y="211542"/>
                      <a:pt x="506817" y="228600"/>
                      <a:pt x="485775" y="228600"/>
                    </a:cubicBezTo>
                    <a:lnTo>
                      <a:pt x="38100" y="228600"/>
                    </a:lnTo>
                    <a:cubicBezTo>
                      <a:pt x="17058" y="228600"/>
                      <a:pt x="0" y="211542"/>
                      <a:pt x="0" y="1905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0376916" y="3658552"/>
                <a:ext cx="31646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D 46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0687145" y="2006441"/>
                <a:ext cx="342710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优先级</a:t>
                </a:r>
              </a:p>
            </p:txBody>
          </p:sp>
        </p:grpSp>
      </p:grpSp>
      <p:grpSp>
        <p:nvGrpSpPr>
          <p:cNvPr id="58" name="Group 58"/>
          <p:cNvGrpSpPr/>
          <p:nvPr/>
        </p:nvGrpSpPr>
        <p:grpSpPr>
          <a:xfrm>
            <a:off x="566166" y="5220652"/>
            <a:ext cx="2823820" cy="1180148"/>
            <a:chOff x="566166" y="5220652"/>
            <a:chExt cx="2823820" cy="1180148"/>
          </a:xfrm>
        </p:grpSpPr>
        <p:sp>
          <p:nvSpPr>
            <p:cNvPr id="53" name="TextBox 53"/>
            <p:cNvSpPr txBox="1"/>
            <p:nvPr/>
          </p:nvSpPr>
          <p:spPr>
            <a:xfrm>
              <a:off x="566166" y="5220652"/>
              <a:ext cx="23856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统一数据湖，支持实时清洗与标签化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66166" y="5487352"/>
              <a:ext cx="22442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大模型驱动，输出可执行策略建议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66166" y="5754052"/>
              <a:ext cx="27227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规则引擎+AI决策双模式，支持人工审核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66166" y="6020752"/>
              <a:ext cx="28238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实时大盘，支持按渠道/客群/活动多维拆解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71500" y="5334000"/>
              <a:ext cx="19050" cy="106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566738" y="6491288"/>
            <a:ext cx="10677524" cy="185737"/>
            <a:chOff x="566738" y="6491288"/>
            <a:chExt cx="10677524" cy="185737"/>
          </a:xfrm>
        </p:grpSpPr>
        <p:sp>
          <p:nvSpPr>
            <p:cNvPr id="59" name="Line 59"/>
            <p:cNvSpPr/>
            <p:nvPr/>
          </p:nvSpPr>
          <p:spPr>
            <a:xfrm>
              <a:off x="571500" y="66675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66738" y="6491288"/>
              <a:ext cx="91097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007566" y="6491288"/>
              <a:ext cx="23669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7 / 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1">
                    <a:alpha val="6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59308" y="476250"/>
            <a:ext cx="3108579" cy="1166051"/>
            <a:chOff x="559308" y="476250"/>
            <a:chExt cx="3108579" cy="1166051"/>
          </a:xfrm>
        </p:grpSpPr>
        <p:sp>
          <p:nvSpPr>
            <p:cNvPr id="5" name="Rectangle 5"/>
            <p:cNvSpPr/>
            <p:nvPr/>
          </p:nvSpPr>
          <p:spPr>
            <a:xfrm>
              <a:off x="571500" y="476250"/>
              <a:ext cx="38100" cy="3810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18566" y="62960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落地序列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59308" y="979170"/>
              <a:ext cx="17205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下一步行动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4642" y="137826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建议按以下路径推进，最小化试错成本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143000" y="2648902"/>
            <a:ext cx="9906000" cy="1253109"/>
            <a:chOff x="1143000" y="2648902"/>
            <a:chExt cx="9906000" cy="1253109"/>
          </a:xfrm>
        </p:grpSpPr>
        <p:grpSp>
          <p:nvGrpSpPr>
            <p:cNvPr id="43" name="Group 43"/>
            <p:cNvGrpSpPr/>
            <p:nvPr/>
          </p:nvGrpSpPr>
          <p:grpSpPr>
            <a:xfrm>
              <a:off x="1143000" y="2648902"/>
              <a:ext cx="9906000" cy="1253109"/>
              <a:chOff x="1143000" y="2648902"/>
              <a:chExt cx="9906000" cy="1253109"/>
            </a:xfrm>
          </p:grpSpPr>
          <p:sp>
            <p:nvSpPr>
              <p:cNvPr id="10" name="Line 10"/>
              <p:cNvSpPr/>
              <p:nvPr/>
            </p:nvSpPr>
            <p:spPr>
              <a:xfrm>
                <a:off x="1143000" y="2857500"/>
                <a:ext cx="990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906000" h="9525">
                    <a:moveTo>
                      <a:pt x="0" y="0"/>
                    </a:moveTo>
                    <a:lnTo>
                      <a:pt x="9906000" y="0"/>
                    </a:lnTo>
                  </a:path>
                </a:pathLst>
              </a:custGeom>
              <a:noFill/>
              <a:ln w="28575" cap="rnd">
                <a:gradFill>
                  <a:gsLst>
                    <a:gs pos="0">
                      <a:schemeClr val="accent1"/>
                    </a:gs>
                    <a:gs pos="50000">
                      <a:schemeClr val="accent2"/>
                    </a:gs>
                    <a:gs pos="100000">
                      <a:schemeClr val="accent6"/>
                    </a:gs>
                  </a:gsLst>
                  <a:lin ang="0" scaled="1"/>
                </a:gradFill>
              </a:ln>
            </p:spPr>
          </p:sp>
          <p:grpSp>
            <p:nvGrpSpPr>
              <p:cNvPr id="18" name="Group 18"/>
              <p:cNvGrpSpPr/>
              <p:nvPr/>
            </p:nvGrpSpPr>
            <p:grpSpPr>
              <a:xfrm>
                <a:off x="1143762" y="2648902"/>
                <a:ext cx="1141476" cy="1253109"/>
                <a:chOff x="1143762" y="2648902"/>
                <a:chExt cx="1141476" cy="1253109"/>
              </a:xfrm>
            </p:grpSpPr>
            <p:sp>
              <p:nvSpPr>
                <p:cNvPr id="11" name="Ellipse 11"/>
                <p:cNvSpPr/>
                <p:nvPr/>
              </p:nvSpPr>
              <p:spPr>
                <a:xfrm>
                  <a:off x="1524000" y="2667000"/>
                  <a:ext cx="381000" cy="3810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2" name="Ellipse 12"/>
                <p:cNvSpPr/>
                <p:nvPr/>
              </p:nvSpPr>
              <p:spPr>
                <a:xfrm>
                  <a:off x="1600200" y="2743200"/>
                  <a:ext cx="228600" cy="228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</p:sp>
            <p:sp>
              <p:nvSpPr>
                <p:cNvPr id="13" name="Ellipse 13"/>
                <p:cNvSpPr/>
                <p:nvPr/>
              </p:nvSpPr>
              <p:spPr>
                <a:xfrm>
                  <a:off x="1657350" y="2800350"/>
                  <a:ext cx="114300" cy="1143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1560747" y="2648902"/>
                  <a:ext cx="30750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立即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1199540" y="3204210"/>
                  <a:ext cx="102991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锁定试点场景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1285113" y="3458528"/>
                  <a:ext cx="85877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私域复购提升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1143762" y="3696652"/>
                  <a:ext cx="114147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启动数据对接评估</a:t>
                  </a:r>
                </a:p>
              </p:txBody>
            </p:sp>
          </p:grpSp>
          <p:grpSp>
            <p:nvGrpSpPr>
              <p:cNvPr id="26" name="Group 26"/>
              <p:cNvGrpSpPr/>
              <p:nvPr/>
            </p:nvGrpSpPr>
            <p:grpSpPr>
              <a:xfrm>
                <a:off x="3851178" y="2648902"/>
                <a:ext cx="1060643" cy="1253109"/>
                <a:chOff x="3851178" y="2648902"/>
                <a:chExt cx="1060643" cy="1253109"/>
              </a:xfrm>
            </p:grpSpPr>
            <p:sp>
              <p:nvSpPr>
                <p:cNvPr id="19" name="Ellipse 19"/>
                <p:cNvSpPr/>
                <p:nvPr/>
              </p:nvSpPr>
              <p:spPr>
                <a:xfrm>
                  <a:off x="4191000" y="2667000"/>
                  <a:ext cx="381000" cy="3810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20" name="Ellipse 20"/>
                <p:cNvSpPr/>
                <p:nvPr/>
              </p:nvSpPr>
              <p:spPr>
                <a:xfrm>
                  <a:off x="4267200" y="2743200"/>
                  <a:ext cx="228600" cy="228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</p:sp>
            <p:sp>
              <p:nvSpPr>
                <p:cNvPr id="21" name="Ellipse 21"/>
                <p:cNvSpPr/>
                <p:nvPr/>
              </p:nvSpPr>
              <p:spPr>
                <a:xfrm>
                  <a:off x="4324350" y="2800350"/>
                  <a:ext cx="114300" cy="1143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4186932" y="2648902"/>
                  <a:ext cx="38913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rPr>
                    <a:t>2周内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3851178" y="3204210"/>
                  <a:ext cx="1060643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完成POC评审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3972916" y="3458528"/>
                  <a:ext cx="81716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确认KPI基线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3957980" y="3696652"/>
                  <a:ext cx="84703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ROI测算模型</a:t>
                  </a:r>
                </a:p>
              </p:txBody>
            </p:sp>
          </p:grpSp>
          <p:grpSp>
            <p:nvGrpSpPr>
              <p:cNvPr id="34" name="Group 34"/>
              <p:cNvGrpSpPr/>
              <p:nvPr/>
            </p:nvGrpSpPr>
            <p:grpSpPr>
              <a:xfrm>
                <a:off x="6619113" y="2648902"/>
                <a:ext cx="858774" cy="1253109"/>
                <a:chOff x="6619113" y="2648902"/>
                <a:chExt cx="858774" cy="1253109"/>
              </a:xfrm>
            </p:grpSpPr>
            <p:sp>
              <p:nvSpPr>
                <p:cNvPr id="27" name="Ellipse 27"/>
                <p:cNvSpPr/>
                <p:nvPr/>
              </p:nvSpPr>
              <p:spPr>
                <a:xfrm>
                  <a:off x="6858000" y="2667000"/>
                  <a:ext cx="381000" cy="3810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8" name="Ellipse 28"/>
                <p:cNvSpPr/>
                <p:nvPr/>
              </p:nvSpPr>
              <p:spPr>
                <a:xfrm>
                  <a:off x="6934200" y="2743200"/>
                  <a:ext cx="228600" cy="228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</p:sp>
            <p:sp>
              <p:nvSpPr>
                <p:cNvPr id="29" name="Ellipse 29"/>
                <p:cNvSpPr/>
                <p:nvPr/>
              </p:nvSpPr>
              <p:spPr>
                <a:xfrm>
                  <a:off x="6991350" y="2800350"/>
                  <a:ext cx="114300" cy="1143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6853932" y="2648902"/>
                  <a:ext cx="38913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3周后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6703162" y="3204210"/>
                  <a:ext cx="690677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灰度上线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6619113" y="3458528"/>
                  <a:ext cx="85877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数据整合模块</a:t>
                  </a: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6680987" y="3696652"/>
                  <a:ext cx="73502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AI洞察模块</a:t>
                  </a:r>
                </a:p>
              </p:txBody>
            </p:sp>
          </p:grpSp>
          <p:grpSp>
            <p:nvGrpSpPr>
              <p:cNvPr id="42" name="Group 42"/>
              <p:cNvGrpSpPr/>
              <p:nvPr/>
            </p:nvGrpSpPr>
            <p:grpSpPr>
              <a:xfrm>
                <a:off x="9273311" y="2648902"/>
                <a:ext cx="884377" cy="1253109"/>
                <a:chOff x="9273311" y="2648902"/>
                <a:chExt cx="884377" cy="1253109"/>
              </a:xfrm>
            </p:grpSpPr>
            <p:sp>
              <p:nvSpPr>
                <p:cNvPr id="35" name="Ellipse 35"/>
                <p:cNvSpPr/>
                <p:nvPr/>
              </p:nvSpPr>
              <p:spPr>
                <a:xfrm>
                  <a:off x="9525000" y="2667000"/>
                  <a:ext cx="381000" cy="381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36" name="Ellipse 36"/>
                <p:cNvSpPr/>
                <p:nvPr/>
              </p:nvSpPr>
              <p:spPr>
                <a:xfrm>
                  <a:off x="9601200" y="2743200"/>
                  <a:ext cx="228600" cy="228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</p:sp>
            <p:sp>
              <p:nvSpPr>
                <p:cNvPr id="37" name="Ellipse 37"/>
                <p:cNvSpPr/>
                <p:nvPr/>
              </p:nvSpPr>
              <p:spPr>
                <a:xfrm>
                  <a:off x="9658350" y="2800350"/>
                  <a:ext cx="114300" cy="1143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9554327" y="2648902"/>
                  <a:ext cx="32234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chemeClr val="accent6"/>
                      </a:solidFill>
                      <a:latin typeface="+mn-lt"/>
                      <a:ea typeface="+mn-ea"/>
                      <a:cs typeface="+mn-cs"/>
                    </a:rPr>
                    <a:t>90天</a:t>
                  </a: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9285351" y="3204210"/>
                  <a:ext cx="86029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扩展全模块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9273311" y="3458528"/>
                  <a:ext cx="88437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沉淀营销SOP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9291980" y="3696652"/>
                  <a:ext cx="84703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输出ROI报告</a:t>
                  </a:r>
                </a:p>
              </p:txBody>
            </p:sp>
          </p:grpSp>
        </p:grpSp>
        <p:grpSp>
          <p:nvGrpSpPr>
            <p:cNvPr id="47" name="Group 47"/>
            <p:cNvGrpSpPr/>
            <p:nvPr/>
          </p:nvGrpSpPr>
          <p:grpSpPr>
            <a:xfrm>
              <a:off x="2190750" y="2857500"/>
              <a:ext cx="7143750" cy="9525"/>
              <a:chOff x="2190750" y="2857500"/>
              <a:chExt cx="7143750" cy="95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2190750" y="2857500"/>
                <a:ext cx="1809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9525">
                    <a:moveTo>
                      <a:pt x="0" y="0"/>
                    </a:moveTo>
                    <a:lnTo>
                      <a:pt x="180975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  <a:prstDash val="dash"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4857750" y="2857500"/>
                <a:ext cx="1809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9525">
                    <a:moveTo>
                      <a:pt x="0" y="0"/>
                    </a:moveTo>
                    <a:lnTo>
                      <a:pt x="180975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  <a:prstDash val="dash"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524750" y="2857500"/>
                <a:ext cx="1809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9525">
                    <a:moveTo>
                      <a:pt x="0" y="0"/>
                    </a:moveTo>
                    <a:lnTo>
                      <a:pt x="180975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  <a:prstDash val="dash"/>
              </a:ln>
            </p:spPr>
          </p:sp>
        </p:grpSp>
      </p:grpSp>
      <p:grpSp>
        <p:nvGrpSpPr>
          <p:cNvPr id="70" name="Group 70"/>
          <p:cNvGrpSpPr/>
          <p:nvPr/>
        </p:nvGrpSpPr>
        <p:grpSpPr>
          <a:xfrm>
            <a:off x="571500" y="4572000"/>
            <a:ext cx="11239500" cy="762000"/>
            <a:chOff x="571500" y="4572000"/>
            <a:chExt cx="11239500" cy="762000"/>
          </a:xfrm>
        </p:grpSpPr>
        <p:grpSp>
          <p:nvGrpSpPr>
            <p:cNvPr id="69" name="Group 69"/>
            <p:cNvGrpSpPr/>
            <p:nvPr/>
          </p:nvGrpSpPr>
          <p:grpSpPr>
            <a:xfrm>
              <a:off x="571500" y="4572000"/>
              <a:ext cx="11239500" cy="762000"/>
              <a:chOff x="571500" y="4572000"/>
              <a:chExt cx="11239500" cy="7620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571500" y="4572000"/>
                <a:ext cx="2667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2667000" h="762000">
                    <a:moveTo>
                      <a:pt x="76200" y="0"/>
                    </a:moveTo>
                    <a:lnTo>
                      <a:pt x="2590800" y="0"/>
                    </a:lnTo>
                    <a:cubicBezTo>
                      <a:pt x="2632884" y="0"/>
                      <a:pt x="2667000" y="34116"/>
                      <a:pt x="2667000" y="76200"/>
                    </a:cubicBezTo>
                    <a:lnTo>
                      <a:pt x="2667000" y="685800"/>
                    </a:lnTo>
                    <a:cubicBezTo>
                      <a:pt x="2667000" y="727884"/>
                      <a:pt x="2632884" y="762000"/>
                      <a:pt x="2590800" y="762000"/>
                    </a:cubicBezTo>
                    <a:lnTo>
                      <a:pt x="76200" y="762000"/>
                    </a:lnTo>
                    <a:cubicBezTo>
                      <a:pt x="34116" y="762000"/>
                      <a:pt x="0" y="727884"/>
                      <a:pt x="0" y="6858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571500" y="4572000"/>
                <a:ext cx="381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62000">
                    <a:moveTo>
                      <a:pt x="19050" y="0"/>
                    </a:moveTo>
                    <a:lnTo>
                      <a:pt x="19050" y="0"/>
                    </a:lnTo>
                    <a:cubicBezTo>
                      <a:pt x="29571" y="0"/>
                      <a:pt x="38100" y="8529"/>
                      <a:pt x="38100" y="19050"/>
                    </a:cubicBezTo>
                    <a:lnTo>
                      <a:pt x="38100" y="742950"/>
                    </a:lnTo>
                    <a:cubicBezTo>
                      <a:pt x="38100" y="753471"/>
                      <a:pt x="29571" y="762000"/>
                      <a:pt x="19050" y="762000"/>
                    </a:cubicBezTo>
                    <a:lnTo>
                      <a:pt x="19050" y="762000"/>
                    </a:lnTo>
                    <a:cubicBezTo>
                      <a:pt x="8529" y="762000"/>
                      <a:pt x="0" y="753471"/>
                      <a:pt x="0" y="7429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757238" y="4741545"/>
                <a:ext cx="7364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阶段一：启动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56666" y="4915852"/>
                <a:ext cx="107786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锁定1个试点场景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757238" y="5122545"/>
                <a:ext cx="85763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如私域复购提升</a:t>
                </a:r>
              </a:p>
            </p:txBody>
          </p:sp>
          <p:sp>
            <p:nvSpPr>
              <p:cNvPr id="54" name="Freeform 54"/>
              <p:cNvSpPr/>
              <p:nvPr/>
            </p:nvSpPr>
            <p:spPr>
              <a:xfrm>
                <a:off x="3429000" y="4572000"/>
                <a:ext cx="2667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2667000" h="762000">
                    <a:moveTo>
                      <a:pt x="76200" y="0"/>
                    </a:moveTo>
                    <a:lnTo>
                      <a:pt x="2590800" y="0"/>
                    </a:lnTo>
                    <a:cubicBezTo>
                      <a:pt x="2632884" y="0"/>
                      <a:pt x="2667000" y="34116"/>
                      <a:pt x="2667000" y="76200"/>
                    </a:cubicBezTo>
                    <a:lnTo>
                      <a:pt x="2667000" y="685800"/>
                    </a:lnTo>
                    <a:cubicBezTo>
                      <a:pt x="2667000" y="727884"/>
                      <a:pt x="2632884" y="762000"/>
                      <a:pt x="2590800" y="762000"/>
                    </a:cubicBezTo>
                    <a:lnTo>
                      <a:pt x="76200" y="762000"/>
                    </a:lnTo>
                    <a:cubicBezTo>
                      <a:pt x="34116" y="762000"/>
                      <a:pt x="0" y="727884"/>
                      <a:pt x="0" y="6858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3429000" y="4572000"/>
                <a:ext cx="381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62000">
                    <a:moveTo>
                      <a:pt x="19050" y="0"/>
                    </a:moveTo>
                    <a:lnTo>
                      <a:pt x="19050" y="0"/>
                    </a:lnTo>
                    <a:cubicBezTo>
                      <a:pt x="29571" y="0"/>
                      <a:pt x="38100" y="8529"/>
                      <a:pt x="38100" y="19050"/>
                    </a:cubicBezTo>
                    <a:lnTo>
                      <a:pt x="38100" y="742950"/>
                    </a:lnTo>
                    <a:cubicBezTo>
                      <a:pt x="38100" y="753471"/>
                      <a:pt x="29571" y="762000"/>
                      <a:pt x="19050" y="762000"/>
                    </a:cubicBezTo>
                    <a:lnTo>
                      <a:pt x="19050" y="762000"/>
                    </a:lnTo>
                    <a:cubicBezTo>
                      <a:pt x="8529" y="762000"/>
                      <a:pt x="0" y="753471"/>
                      <a:pt x="0" y="7429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3614738" y="4741545"/>
                <a:ext cx="7364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阶段二：验证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3614166" y="4915852"/>
                <a:ext cx="118308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完成POC方案评审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3614738" y="5122545"/>
                <a:ext cx="128968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确认KPI基线与ROI测算</a:t>
                </a:r>
              </a:p>
            </p:txBody>
          </p:sp>
          <p:sp>
            <p:nvSpPr>
              <p:cNvPr id="59" name="Freeform 59"/>
              <p:cNvSpPr/>
              <p:nvPr/>
            </p:nvSpPr>
            <p:spPr>
              <a:xfrm>
                <a:off x="6286500" y="4572000"/>
                <a:ext cx="2667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2667000" h="762000">
                    <a:moveTo>
                      <a:pt x="76200" y="0"/>
                    </a:moveTo>
                    <a:lnTo>
                      <a:pt x="2590800" y="0"/>
                    </a:lnTo>
                    <a:cubicBezTo>
                      <a:pt x="2632884" y="0"/>
                      <a:pt x="2667000" y="34116"/>
                      <a:pt x="2667000" y="76200"/>
                    </a:cubicBezTo>
                    <a:lnTo>
                      <a:pt x="2667000" y="685800"/>
                    </a:lnTo>
                    <a:cubicBezTo>
                      <a:pt x="2667000" y="727884"/>
                      <a:pt x="2632884" y="762000"/>
                      <a:pt x="2590800" y="762000"/>
                    </a:cubicBezTo>
                    <a:lnTo>
                      <a:pt x="76200" y="762000"/>
                    </a:lnTo>
                    <a:cubicBezTo>
                      <a:pt x="34116" y="762000"/>
                      <a:pt x="0" y="727884"/>
                      <a:pt x="0" y="6858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286500" y="4572000"/>
                <a:ext cx="381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62000">
                    <a:moveTo>
                      <a:pt x="19050" y="0"/>
                    </a:moveTo>
                    <a:lnTo>
                      <a:pt x="19050" y="0"/>
                    </a:lnTo>
                    <a:cubicBezTo>
                      <a:pt x="29571" y="0"/>
                      <a:pt x="38100" y="8529"/>
                      <a:pt x="38100" y="19050"/>
                    </a:cubicBezTo>
                    <a:lnTo>
                      <a:pt x="38100" y="742950"/>
                    </a:lnTo>
                    <a:cubicBezTo>
                      <a:pt x="38100" y="753471"/>
                      <a:pt x="29571" y="762000"/>
                      <a:pt x="19050" y="762000"/>
                    </a:cubicBezTo>
                    <a:lnTo>
                      <a:pt x="19050" y="762000"/>
                    </a:lnTo>
                    <a:cubicBezTo>
                      <a:pt x="8529" y="762000"/>
                      <a:pt x="0" y="753471"/>
                      <a:pt x="0" y="7429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6472238" y="4741545"/>
                <a:ext cx="7364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阶段三：灰度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6471666" y="491585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灰度上线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6472238" y="5122545"/>
                <a:ext cx="121287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优先数据整合+AI洞察</a:t>
                </a:r>
              </a:p>
            </p:txBody>
          </p:sp>
          <p:sp>
            <p:nvSpPr>
              <p:cNvPr id="64" name="Freeform 64"/>
              <p:cNvSpPr/>
              <p:nvPr/>
            </p:nvSpPr>
            <p:spPr>
              <a:xfrm>
                <a:off x="9144000" y="4572000"/>
                <a:ext cx="2667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2667000" h="762000">
                    <a:moveTo>
                      <a:pt x="76200" y="0"/>
                    </a:moveTo>
                    <a:lnTo>
                      <a:pt x="2590800" y="0"/>
                    </a:lnTo>
                    <a:cubicBezTo>
                      <a:pt x="2632884" y="0"/>
                      <a:pt x="2667000" y="34116"/>
                      <a:pt x="2667000" y="76200"/>
                    </a:cubicBezTo>
                    <a:lnTo>
                      <a:pt x="2667000" y="685800"/>
                    </a:lnTo>
                    <a:cubicBezTo>
                      <a:pt x="2667000" y="727884"/>
                      <a:pt x="2632884" y="762000"/>
                      <a:pt x="2590800" y="762000"/>
                    </a:cubicBezTo>
                    <a:lnTo>
                      <a:pt x="76200" y="762000"/>
                    </a:lnTo>
                    <a:cubicBezTo>
                      <a:pt x="34116" y="762000"/>
                      <a:pt x="0" y="727884"/>
                      <a:pt x="0" y="6858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9144000" y="4572000"/>
                <a:ext cx="381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62000">
                    <a:moveTo>
                      <a:pt x="19050" y="0"/>
                    </a:moveTo>
                    <a:lnTo>
                      <a:pt x="19050" y="0"/>
                    </a:lnTo>
                    <a:cubicBezTo>
                      <a:pt x="29571" y="0"/>
                      <a:pt x="38100" y="8529"/>
                      <a:pt x="38100" y="19050"/>
                    </a:cubicBezTo>
                    <a:lnTo>
                      <a:pt x="38100" y="742950"/>
                    </a:lnTo>
                    <a:cubicBezTo>
                      <a:pt x="38100" y="753471"/>
                      <a:pt x="29571" y="762000"/>
                      <a:pt x="19050" y="762000"/>
                    </a:cubicBezTo>
                    <a:lnTo>
                      <a:pt x="19050" y="762000"/>
                    </a:lnTo>
                    <a:cubicBezTo>
                      <a:pt x="8529" y="762000"/>
                      <a:pt x="0" y="753471"/>
                      <a:pt x="0" y="7429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9329738" y="4741545"/>
                <a:ext cx="7364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阶段四：扩展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9329166" y="491585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扩展至全模块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9329738" y="5122545"/>
                <a:ext cx="134729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沉淀SOP，输出ROI报告</a:t>
                </a:r>
              </a:p>
            </p:txBody>
          </p:sp>
        </p:grpSp>
      </p:grpSp>
      <p:grpSp>
        <p:nvGrpSpPr>
          <p:cNvPr id="74" name="Group 74"/>
          <p:cNvGrpSpPr/>
          <p:nvPr/>
        </p:nvGrpSpPr>
        <p:grpSpPr>
          <a:xfrm>
            <a:off x="566738" y="6477000"/>
            <a:ext cx="10677524" cy="257176"/>
            <a:chOff x="566738" y="6477000"/>
            <a:chExt cx="10677524" cy="257176"/>
          </a:xfrm>
        </p:grpSpPr>
        <p:sp>
          <p:nvSpPr>
            <p:cNvPr id="71" name="Line 71"/>
            <p:cNvSpPr/>
            <p:nvPr/>
          </p:nvSpPr>
          <p:spPr>
            <a:xfrm>
              <a:off x="5715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66738" y="6586538"/>
              <a:ext cx="171640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企业AI营销工作台 · 管理层决策简报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068145" y="6586538"/>
              <a:ext cx="17611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8/8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E8E8EC"/>
      </a:dk1>
      <a:lt1>
        <a:srgbClr val="0F1117"/>
      </a:lt1>
      <a:dk2>
        <a:srgbClr val="9CA3AF"/>
      </a:dk2>
      <a:lt2>
        <a:srgbClr val="1A1D27"/>
      </a:lt2>
      <a:accent1>
        <a:srgbClr val="D4845A"/>
      </a:accent1>
      <a:accent2>
        <a:srgbClr val="5B9BD5"/>
      </a:accent2>
      <a:accent3>
        <a:srgbClr val="E8B87D"/>
      </a:accent3>
      <a:accent4>
        <a:srgbClr val="2D3348"/>
      </a:accent4>
      <a:accent5>
        <a:srgbClr val="6B7280"/>
      </a:accent5>
      <a:accent6>
        <a:srgbClr val="4ADE80"/>
      </a:accent6>
      <a:hlink>
        <a:srgbClr val="5B9BD5"/>
      </a:hlink>
      <a:folHlink>
        <a:srgbClr val="E8B87D"/>
      </a:folHlink>
    </a:clrScheme>
    <a:fontScheme name="PPT Maste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E8E8EC"/>
      </a:dk1>
      <a:lt1>
        <a:srgbClr val="0F1117"/>
      </a:lt1>
      <a:dk2>
        <a:srgbClr val="9CA3AF"/>
      </a:dk2>
      <a:lt2>
        <a:srgbClr val="1A1D27"/>
      </a:lt2>
      <a:accent1>
        <a:srgbClr val="D4845A"/>
      </a:accent1>
      <a:accent2>
        <a:srgbClr val="5B9BD5"/>
      </a:accent2>
      <a:accent3>
        <a:srgbClr val="E8B87D"/>
      </a:accent3>
      <a:accent4>
        <a:srgbClr val="2D3348"/>
      </a:accent4>
      <a:accent5>
        <a:srgbClr val="6B7280"/>
      </a:accent5>
      <a:accent6>
        <a:srgbClr val="4ADE80"/>
      </a:accent6>
      <a:hlink>
        <a:srgbClr val="5B9BD5"/>
      </a:hlink>
      <a:folHlink>
        <a:srgbClr val="E8B87D"/>
      </a:folHlink>
    </a:clrScheme>
    <a:fontScheme name="PPT Maste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2026-07-11T09:43:27Z</dcterms:created>
  <dcterms:modified xsi:type="dcterms:W3CDTF">2026-07-11T09:43:27Z</dcterms:modified>
  <cp:category/>
  <cp:contentStatus/>
</cp:coreProperties>
</file>