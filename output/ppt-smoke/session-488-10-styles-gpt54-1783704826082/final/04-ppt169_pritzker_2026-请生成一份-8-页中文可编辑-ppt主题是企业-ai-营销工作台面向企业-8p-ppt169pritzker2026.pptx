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面向客户的SaaS方案，帮助管理层更快看清机会、更稳管控投放、更持续放大增长效率。</a:t>
            </a:r>
          </a:p>
          <a:p>
            <a:endParaRPr lang="en-US" dirty="0"/>
          </a:p>
          <a:p>
            <a:r>
              <a:rPr lang="zh-CN" dirty="0"/>
              <a:t>• 从分散协作转向统一作战</a:t>
            </a:r>
          </a:p>
          <a:p>
            <a:r>
              <a:rPr lang="zh-CN" dirty="0"/>
              <a:t>• 从经验驱动转向智能决策</a:t>
            </a:r>
          </a:p>
          <a:p>
            <a:r>
              <a:rPr lang="zh-CN" dirty="0"/>
              <a:t>• 从结果滞后转向实时闭环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决策导览</a:t>
            </a:r>
          </a:p>
          <a:p>
            <a:endParaRPr lang="en-US" dirty="0"/>
          </a:p>
          <a:p>
            <a:r>
              <a:rPr lang="zh-CN" dirty="0"/>
              <a:t>本方案的核心不是再加一层营销软件，而是重建企业营销的运营节奏与管理可见性。</a:t>
            </a:r>
          </a:p>
          <a:p>
            <a:endParaRPr lang="en-US" dirty="0"/>
          </a:p>
          <a:p>
            <a:r>
              <a:rPr lang="zh-CN" dirty="0"/>
              <a:t>• 增长机会先于功能清单</a:t>
            </a:r>
          </a:p>
          <a:p>
            <a:r>
              <a:rPr lang="zh-CN" dirty="0"/>
              <a:t>• 经营闭环重于单点提效</a:t>
            </a:r>
          </a:p>
          <a:p>
            <a:r>
              <a:rPr lang="zh-CN" dirty="0"/>
              <a:t>• 上线节奏服务业务落地</a:t>
            </a:r>
          </a:p>
          <a:p>
            <a:r>
              <a:rPr lang="zh-CN" dirty="0"/>
              <a:t>• 业务现状与判断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问题不在流量</a:t>
            </a:r>
          </a:p>
          <a:p>
            <a:endParaRPr lang="en-US" dirty="0"/>
          </a:p>
          <a:p>
            <a:r>
              <a:rPr lang="zh-CN" dirty="0"/>
              <a:t>当数据分散在渠道、CRM、内容与销售系统中，管理层看到的不是市场真相，而是滞后的碎片化结果。</a:t>
            </a:r>
          </a:p>
          <a:p>
            <a:endParaRPr lang="en-US" dirty="0"/>
          </a:p>
          <a:p>
            <a:r>
              <a:rPr lang="zh-CN" dirty="0"/>
              <a:t>• 跨渠道数据口径不一致</a:t>
            </a:r>
          </a:p>
          <a:p>
            <a:r>
              <a:rPr lang="zh-CN" dirty="0"/>
              <a:t>• 分析结论无法直接触发执行</a:t>
            </a:r>
          </a:p>
          <a:p>
            <a:r>
              <a:rPr lang="zh-CN" dirty="0"/>
              <a:t>• 复盘晚于预算消耗与窗口期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从割裂到闭环</a:t>
            </a:r>
          </a:p>
          <a:p>
            <a:endParaRPr lang="en-US" dirty="0"/>
          </a:p>
          <a:p>
            <a:r>
              <a:rPr lang="zh-CN" dirty="0"/>
              <a:t>企业AI营销工作台把原本分散的人、数据与动作收拢到统一流程中，让决策速度与执行一致性同步提升。</a:t>
            </a:r>
          </a:p>
          <a:p>
            <a:endParaRPr lang="en-US" dirty="0"/>
          </a:p>
          <a:p>
            <a:r>
              <a:rPr lang="zh-CN" dirty="0"/>
              <a:t>• 统一入口替代多系统跳转</a:t>
            </a:r>
          </a:p>
          <a:p>
            <a:r>
              <a:rPr lang="zh-CN" dirty="0"/>
              <a:t>• 模型建议直连营销动作</a:t>
            </a:r>
          </a:p>
          <a:p>
            <a:r>
              <a:rPr lang="zh-CN" dirty="0"/>
              <a:t>• 效果反馈反哺下一轮策略</a:t>
            </a:r>
          </a:p>
          <a:p>
            <a:r>
              <a:rPr lang="zh-CN" dirty="0"/>
              <a:t>• 关键变量对比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价值落点</a:t>
            </a:r>
          </a:p>
          <a:p>
            <a:endParaRPr lang="en-US" dirty="0"/>
          </a:p>
          <a:p>
            <a:r>
              <a:rPr lang="zh-CN" dirty="0"/>
              <a:t>方案价值体现在三个层面：更完整的数据底盘、更及时的智能建议，以及更稳定的自动化执行与度量闭环。</a:t>
            </a:r>
          </a:p>
          <a:p>
            <a:endParaRPr lang="en-US" dirty="0"/>
          </a:p>
          <a:p>
            <a:r>
              <a:rPr lang="zh-CN" dirty="0"/>
              <a:t>• 不是替代团队，而是放大团队</a:t>
            </a:r>
          </a:p>
          <a:p>
            <a:r>
              <a:rPr lang="zh-CN" dirty="0"/>
              <a:t>• 不是堆模型，而是沉淀流程</a:t>
            </a:r>
          </a:p>
          <a:p>
            <a:r>
              <a:rPr lang="zh-CN" dirty="0"/>
              <a:t>• 不是多报表，而是强决策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管理层指标面</a:t>
            </a:r>
          </a:p>
          <a:p>
            <a:endParaRPr lang="en-US" dirty="0"/>
          </a:p>
          <a:p>
            <a:r>
              <a:rPr lang="zh-CN" dirty="0"/>
              <a:t>这套工作台最适合先在高频营销场景中落地，用可量化指标验证经营价值，再逐步扩展到全域营销。</a:t>
            </a:r>
          </a:p>
          <a:p>
            <a:endParaRPr lang="en-US" dirty="0"/>
          </a:p>
          <a:p>
            <a:r>
              <a:rPr lang="zh-CN" dirty="0"/>
              <a:t>• 先抓高频场景形成样板</a:t>
            </a:r>
          </a:p>
          <a:p>
            <a:r>
              <a:rPr lang="zh-CN" dirty="0"/>
              <a:t>• 先看经营指标再扩范围</a:t>
            </a:r>
          </a:p>
          <a:p>
            <a:r>
              <a:rPr lang="zh-CN" dirty="0"/>
              <a:t>• 关键数字</a:t>
            </a:r>
          </a:p>
          <a:p>
            <a:r>
              <a:rPr lang="zh-CN" dirty="0"/>
              <a:t>• 压力指标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闭环增长引擎</a:t>
            </a:r>
          </a:p>
          <a:p>
            <a:endParaRPr lang="en-US" dirty="0"/>
          </a:p>
          <a:p>
            <a:r>
              <a:rPr lang="zh-CN" dirty="0"/>
              <a:t>四个模块不是并列采购清单，而是一条连续的经营回路，任何一段缺失都会削弱整体回报。</a:t>
            </a:r>
          </a:p>
          <a:p>
            <a:endParaRPr lang="en-US" dirty="0"/>
          </a:p>
          <a:p>
            <a:r>
              <a:rPr lang="zh-CN" dirty="0"/>
              <a:t>• 底层统一，决策才可信</a:t>
            </a:r>
          </a:p>
          <a:p>
            <a:r>
              <a:rPr lang="zh-CN" dirty="0"/>
              <a:t>• 动作联动，结果才放大</a:t>
            </a:r>
          </a:p>
          <a:p>
            <a:r>
              <a:rPr lang="zh-CN" dirty="0"/>
              <a:t>• 主轴关系</a:t>
            </a:r>
          </a:p>
          <a:p>
            <a:r>
              <a:rPr lang="zh-CN" dirty="0"/>
              <a:t>• 外溢路径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推进建议</a:t>
            </a:r>
          </a:p>
          <a:p>
            <a:endParaRPr lang="en-US" dirty="0"/>
          </a:p>
          <a:p>
            <a:r>
              <a:rPr lang="zh-CN" dirty="0"/>
              <a:t>建议以一个业务单元和两到三个核心营销场景试点上线，在八到十二周内验证效率、转化与治理三类成果。</a:t>
            </a:r>
          </a:p>
          <a:p>
            <a:endParaRPr lang="en-US" dirty="0"/>
          </a:p>
          <a:p>
            <a:r>
              <a:rPr lang="zh-CN" dirty="0"/>
              <a:t>• 优先选数据基础较好的业务线</a:t>
            </a:r>
          </a:p>
          <a:p>
            <a:r>
              <a:rPr lang="zh-CN" dirty="0"/>
              <a:t>• 把风险控制嵌入试点范围内</a:t>
            </a:r>
          </a:p>
          <a:p>
            <a:r>
              <a:rPr lang="zh-CN" dirty="0"/>
              <a:t>• 以经营结果决定扩面节奏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06c6cd901303c880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5708" t="0" r="5708" b="0"/>
            <a:stretch>
              <a:fillRect/>
            </a:stretch>
          </p:blipFill>
          <p:spPr>
            <a:xfrm>
              <a:off x="4095750" y="0"/>
              <a:ext cx="809625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4095750" y="0"/>
              <a:ext cx="8096250" cy="6858000"/>
            </a:xfrm>
            <a:prstGeom prst="rect">
              <a:avLst/>
            </a:prstGeom>
            <a:solidFill>
              <a:srgbClr val="0A0A0A">
                <a:alpha val="28000"/>
              </a:srgbClr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4953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953000" y="0"/>
              <a:ext cx="2095500" cy="6858000"/>
            </a:xfrm>
            <a:prstGeom prst="rect">
              <a:avLst/>
            </a:prstGeom>
            <a:solidFill>
              <a:schemeClr val="lt1">
                <a:alpha val="42000"/>
              </a:schemeClr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6858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6172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65023" y="319564"/>
            <a:ext cx="11060811" cy="6217443"/>
            <a:chOff x="565023" y="319564"/>
            <a:chExt cx="11060811" cy="6217443"/>
          </a:xfrm>
        </p:grpSpPr>
        <p:sp>
          <p:nvSpPr>
            <p:cNvPr id="10" name="TextBox 10"/>
            <p:cNvSpPr txBox="1"/>
            <p:nvPr/>
          </p:nvSpPr>
          <p:spPr>
            <a:xfrm>
              <a:off x="565023" y="319564"/>
              <a:ext cx="16976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i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PRODUCT LAUNCH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14837" y="343852"/>
              <a:ext cx="510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01 / 08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360795"/>
              <a:ext cx="12304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企业级 SaaS 解决方案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106624" y="6360795"/>
              <a:ext cx="25186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数据整合 · AI 分析 · 自动化执行 · 效果度量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52450" y="689610"/>
            <a:ext cx="13071348" cy="5029391"/>
            <a:chOff x="552450" y="689610"/>
            <a:chExt cx="13071348" cy="5029391"/>
          </a:xfrm>
        </p:grpSpPr>
        <p:sp>
          <p:nvSpPr>
            <p:cNvPr id="15" name="TextBox 15"/>
            <p:cNvSpPr txBox="1"/>
            <p:nvPr/>
          </p:nvSpPr>
          <p:spPr>
            <a:xfrm>
              <a:off x="552450" y="689610"/>
              <a:ext cx="1164641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2450" y="1798320"/>
              <a:ext cx="2829169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企业AI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2450" y="2598420"/>
              <a:ext cx="4070604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营销工作台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0456" y="3520440"/>
              <a:ext cx="55499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面向客户的SaaS方案，帮助管理层更快看清机会、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0456" y="38823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更稳管控投放、更持续放大增长效率。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" y="4476750"/>
              <a:ext cx="3028950" cy="1123950"/>
            </a:xfrm>
            <a:prstGeom prst="rect">
              <a:avLst/>
            </a:prstGeom>
            <a:solidFill>
              <a:schemeClr val="lt2">
                <a:alpha val="90000"/>
              </a:scheme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71500" y="4476750"/>
              <a:ext cx="38100" cy="1123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2099" y="4706779"/>
              <a:ext cx="23482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从分散协作转向统一作战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2099" y="5030629"/>
              <a:ext cx="23482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从经验驱动转向智能决策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2099" y="5354479"/>
              <a:ext cx="23482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从结果滞后转向实时闭环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20050" y="838200"/>
              <a:ext cx="3162300" cy="1257300"/>
            </a:xfrm>
            <a:prstGeom prst="rect">
              <a:avLst/>
            </a:prstGeom>
            <a:solidFill>
              <a:schemeClr val="lt1">
                <a:alpha val="76000"/>
              </a:scheme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79892" y="1073468"/>
              <a:ext cx="1666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i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Management View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77606" y="1405890"/>
              <a:ext cx="35803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统一入口，统一判断，统一动作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80654" y="1775460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让营销不再停留在报表汇总，而成为可预测、可执行、可复盘的增长系统。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029700" y="4743450"/>
              <a:ext cx="2209800" cy="819150"/>
            </a:xfrm>
            <a:prstGeom prst="rect">
              <a:avLst/>
            </a:prstGeom>
            <a:solidFill>
              <a:srgbClr val="0A0A0A">
                <a:alpha val="42000"/>
              </a:srgbClr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9029700" y="474345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33154" y="4937760"/>
              <a:ext cx="13815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chemeClr val="accent6"/>
                  </a:solidFill>
                  <a:latin typeface="Georgia"/>
                  <a:ea typeface="Georgia"/>
                  <a:cs typeface="Georgia"/>
                </a:rPr>
                <a:t>Executive Signal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32392" y="52073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5F2EC"/>
                  </a:solidFill>
                  <a:latin typeface="+mn-lt"/>
                  <a:ea typeface="+mn-ea"/>
                  <a:cs typeface="+mn-cs"/>
                </a:rPr>
                <a:t>把数据、判断与执行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32392" y="5454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5F2EC"/>
                  </a:solidFill>
                  <a:latin typeface="+mn-lt"/>
                  <a:ea typeface="+mn-ea"/>
                  <a:cs typeface="+mn-cs"/>
                </a:rPr>
                <a:t>收拢到同一工作台。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795712" y="1466850"/>
            <a:ext cx="7539038" cy="4276725"/>
            <a:chOff x="3795712" y="1466850"/>
            <a:chExt cx="7539038" cy="4276725"/>
          </a:xfrm>
        </p:grpSpPr>
        <p:sp>
          <p:nvSpPr>
            <p:cNvPr id="35" name="Ellipse 35"/>
            <p:cNvSpPr/>
            <p:nvPr/>
          </p:nvSpPr>
          <p:spPr>
            <a:xfrm>
              <a:off x="3795712" y="5005388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795712" y="5329238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795712" y="5653088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7791450" y="1466850"/>
              <a:ext cx="1733550" cy="9525"/>
            </a:xfrm>
            <a:custGeom>
              <a:avLst/>
              <a:gdLst/>
              <a:ahLst/>
              <a:cxnLst/>
              <a:rect l="l" t="t" r="r" b="b"/>
              <a:pathLst>
                <a:path w="1733550" h="9525">
                  <a:moveTo>
                    <a:pt x="0" y="0"/>
                  </a:moveTo>
                  <a:lnTo>
                    <a:pt x="173355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9810750" y="57340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476250"/>
              <a:ext cx="11049000" cy="5905500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476250"/>
              <a:ext cx="2000250" cy="5905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2571750" y="476250"/>
              <a:ext cx="9525" cy="5905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143250" y="1714500"/>
              <a:ext cx="8096250" cy="9525"/>
            </a:xfrm>
            <a:custGeom>
              <a:avLst/>
              <a:gdLst/>
              <a:ahLst/>
              <a:cxnLst/>
              <a:rect l="l" t="t" r="r" b="b"/>
              <a:pathLst>
                <a:path w="8096250" h="9525">
                  <a:moveTo>
                    <a:pt x="0" y="0"/>
                  </a:moveTo>
                  <a:lnTo>
                    <a:pt x="80962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143250" y="5067300"/>
              <a:ext cx="8096250" cy="9525"/>
            </a:xfrm>
            <a:custGeom>
              <a:avLst/>
              <a:gdLst/>
              <a:ahLst/>
              <a:cxnLst/>
              <a:rect l="l" t="t" r="r" b="b"/>
              <a:pathLst>
                <a:path w="8096250" h="9525">
                  <a:moveTo>
                    <a:pt x="0" y="0"/>
                  </a:moveTo>
                  <a:lnTo>
                    <a:pt x="80962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64870" y="882968"/>
            <a:ext cx="10455593" cy="5311139"/>
            <a:chOff x="864870" y="882968"/>
            <a:chExt cx="10455593" cy="5311139"/>
          </a:xfrm>
        </p:grpSpPr>
        <p:sp>
          <p:nvSpPr>
            <p:cNvPr id="9" name="TextBox 9"/>
            <p:cNvSpPr txBox="1"/>
            <p:nvPr/>
          </p:nvSpPr>
          <p:spPr>
            <a:xfrm>
              <a:off x="869442" y="88296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4870" y="1090612"/>
              <a:ext cx="13685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Decision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4870" y="1395412"/>
              <a:ext cx="8989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Guide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76300" y="1924050"/>
              <a:ext cx="1104900" cy="9525"/>
            </a:xfrm>
            <a:custGeom>
              <a:avLst/>
              <a:gdLst/>
              <a:ahLst/>
              <a:cxnLst/>
              <a:rect l="l" t="t" r="r" b="b"/>
              <a:pathLst>
                <a:path w="1104900" h="9525">
                  <a:moveTo>
                    <a:pt x="0" y="0"/>
                  </a:moveTo>
                  <a:lnTo>
                    <a:pt x="11049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70585" y="57269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栏目排版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1538" y="6017895"/>
              <a:ext cx="10912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77664" y="6017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2976562" y="844868"/>
            <a:ext cx="8943023" cy="5178933"/>
            <a:chOff x="2976562" y="844868"/>
            <a:chExt cx="8943023" cy="5178933"/>
          </a:xfrm>
        </p:grpSpPr>
        <p:sp>
          <p:nvSpPr>
            <p:cNvPr id="17" name="TextBox 17"/>
            <p:cNvSpPr txBox="1"/>
            <p:nvPr/>
          </p:nvSpPr>
          <p:spPr>
            <a:xfrm>
              <a:off x="3136392" y="844868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Georgia"/>
                  <a:ea typeface="KaiTi"/>
                  <a:cs typeface="Georgia"/>
                </a:rPr>
                <a:t>管理层目录页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28010" y="1143000"/>
              <a:ext cx="182270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决策导览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34106" y="190119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本方案的核心不是再加一层营销软件，而是重建企业营销的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34106" y="22250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运营节奏与管理可见性。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3143250" y="2743200"/>
              <a:ext cx="8096250" cy="9525"/>
            </a:xfrm>
            <a:custGeom>
              <a:avLst/>
              <a:gdLst/>
              <a:ahLst/>
              <a:cxnLst/>
              <a:rect l="l" t="t" r="r" b="b"/>
              <a:pathLst>
                <a:path w="8096250" h="9525">
                  <a:moveTo>
                    <a:pt x="0" y="0"/>
                  </a:moveTo>
                  <a:lnTo>
                    <a:pt x="809625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36392" y="29594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增长机会先于功能清单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2976562" y="301466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136642" y="29594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经营闭环重于单点提效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976812" y="301466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327392" y="29594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上线节奏服务业务落地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167562" y="301466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13392" y="29594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业务现状与判断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9453562" y="301466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143250" y="3505200"/>
              <a:ext cx="1600200" cy="1257300"/>
            </a:xfrm>
            <a:prstGeom prst="rect">
              <a:avLst/>
            </a:prstGeom>
            <a:noFill/>
            <a:ln w="11430">
              <a:solidFill>
                <a:schemeClr val="accent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301746" y="3629978"/>
              <a:ext cx="4248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58006" y="37109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经营症结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08985" y="4145756"/>
              <a:ext cx="1828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识别营销链路中数据断层、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08985" y="4374356"/>
              <a:ext cx="1828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分析滞后与执行分散的根因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838700" y="3505200"/>
              <a:ext cx="1600200" cy="1257300"/>
            </a:xfrm>
            <a:prstGeom prst="rect">
              <a:avLst/>
            </a:pr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997196" y="3629978"/>
              <a:ext cx="4248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53456" y="37109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能力框架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04435" y="4145756"/>
              <a:ext cx="1677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说明四个模块如何形成从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04435" y="4374356"/>
              <a:ext cx="152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洞察到行动的统一闭环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534150" y="3505200"/>
              <a:ext cx="1600200" cy="1257300"/>
            </a:xfrm>
            <a:prstGeom prst="rect">
              <a:avLst/>
            </a:prstGeom>
            <a:noFill/>
            <a:ln w="11430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92646" y="3629978"/>
              <a:ext cx="4248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48906" y="37109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落地证据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99885" y="4145756"/>
              <a:ext cx="1828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展示方案在组织协同、响应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99885" y="4374356"/>
              <a:ext cx="1677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速度与投放治理上的价值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229600" y="3505200"/>
              <a:ext cx="1600200" cy="1257300"/>
            </a:xfrm>
            <a:prstGeom prst="rect">
              <a:avLst/>
            </a:prstGeom>
            <a:noFill/>
            <a:ln w="11430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88096" y="3629978"/>
              <a:ext cx="4248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44356" y="37109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关键指标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95335" y="4145756"/>
              <a:ext cx="1828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聚焦管理层最关心的效率、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95335" y="4374356"/>
              <a:ext cx="1374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转化、成本与可控性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925050" y="3505200"/>
              <a:ext cx="1600200" cy="1257300"/>
            </a:xfrm>
            <a:prstGeom prst="rect">
              <a:avLst/>
            </a:prstGeom>
            <a:noFill/>
            <a:ln w="11430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083546" y="3629978"/>
              <a:ext cx="4248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39806" y="37109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推进路径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90785" y="4145756"/>
              <a:ext cx="1828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给出分阶段上线建议、风险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90785" y="4374356"/>
              <a:ext cx="152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边界与下一步决策动作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3943350" y="4972050"/>
              <a:ext cx="6781800" cy="9525"/>
            </a:xfrm>
            <a:custGeom>
              <a:avLst/>
              <a:gdLst/>
              <a:ahLst/>
              <a:cxnLst/>
              <a:rect l="l" t="t" r="r" b="b"/>
              <a:pathLst>
                <a:path w="6781800" h="9525">
                  <a:moveTo>
                    <a:pt x="0" y="0"/>
                  </a:moveTo>
                  <a:lnTo>
                    <a:pt x="6781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3943350" y="49720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5638800" y="49720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7334250" y="49720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9029700" y="49720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10725150" y="49720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137916" y="543020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从问题识别到决策动作，按管理层阅读顺序展开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136392" y="5759768"/>
              <a:ext cx="4429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业务现状与判断</a:t>
              </a: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en-US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能力闭环说明</a:t>
              </a: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en-US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价值证据与推进建议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464296" y="893445"/>
            <a:ext cx="2781300" cy="4621911"/>
            <a:chOff x="8464296" y="893445"/>
            <a:chExt cx="2781300" cy="4621911"/>
          </a:xfrm>
        </p:grpSpPr>
        <p:sp>
          <p:nvSpPr>
            <p:cNvPr id="64" name="TextBox 64"/>
            <p:cNvSpPr txBox="1"/>
            <p:nvPr/>
          </p:nvSpPr>
          <p:spPr>
            <a:xfrm>
              <a:off x="9302267" y="893445"/>
              <a:ext cx="19419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agenda / column-contents-board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464296" y="5280660"/>
              <a:ext cx="27813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Five-step executive reading path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8115300" y="0"/>
              <a:ext cx="4076700" cy="6858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8115300" y="571500"/>
              <a:ext cx="9525" cy="5524500"/>
            </a:xfrm>
            <a:custGeom>
              <a:avLst/>
              <a:gdLst/>
              <a:ahLst/>
              <a:cxnLst/>
              <a:rect l="l" t="t" r="r" b="b"/>
              <a:pathLst>
                <a:path w="9525" h="5524500">
                  <a:moveTo>
                    <a:pt x="0" y="0"/>
                  </a:moveTo>
                  <a:lnTo>
                    <a:pt x="0" y="5524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115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66738" y="211455"/>
            <a:ext cx="11058525" cy="6230302"/>
            <a:chOff x="566738" y="211455"/>
            <a:chExt cx="11058525" cy="6230302"/>
          </a:xfrm>
        </p:grpSpPr>
        <p:sp>
          <p:nvSpPr>
            <p:cNvPr id="7" name="Line 7"/>
            <p:cNvSpPr/>
            <p:nvPr/>
          </p:nvSpPr>
          <p:spPr>
            <a:xfrm>
              <a:off x="571500" y="74295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27404" y="670560"/>
              <a:ext cx="749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22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核心宣言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72550" y="211455"/>
              <a:ext cx="2244242" cy="2705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100" i="1" dirty="0">
                  <a:solidFill>
                    <a:schemeClr val="accent2">
                      <a:alphaMod val="26000"/>
                    </a:schemeClr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265545"/>
              <a:ext cx="10912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86884" y="6265545"/>
              <a:ext cx="4383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03 / 08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91615"/>
            <a:ext cx="6496050" cy="3423285"/>
            <a:chOff x="552450" y="1491615"/>
            <a:chExt cx="6496050" cy="3423285"/>
          </a:xfrm>
        </p:grpSpPr>
        <p:sp>
          <p:nvSpPr>
            <p:cNvPr id="13" name="TextBox 13"/>
            <p:cNvSpPr txBox="1"/>
            <p:nvPr/>
          </p:nvSpPr>
          <p:spPr>
            <a:xfrm>
              <a:off x="552450" y="1491615"/>
              <a:ext cx="5683606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问题不在流量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362200"/>
              <a:ext cx="12954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2781300"/>
              <a:ext cx="6477000" cy="2133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915150" y="2781300"/>
              <a:ext cx="133350" cy="2133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971550" y="3067050"/>
              <a:ext cx="70485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60882" y="3259455"/>
              <a:ext cx="44570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5F2EC">
                      <a:alphaMod val="92000"/>
                    </a:srgbClr>
                  </a:solidFill>
                  <a:latin typeface="+mn-lt"/>
                  <a:ea typeface="+mn-ea"/>
                  <a:cs typeface="+mn-cs"/>
                </a:rPr>
                <a:t>当数据分散在渠道、CRM、内容与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0882" y="369760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5F2EC">
                      <a:alphaMod val="92000"/>
                    </a:srgbClr>
                  </a:solidFill>
                  <a:latin typeface="+mn-lt"/>
                  <a:ea typeface="+mn-ea"/>
                  <a:cs typeface="+mn-cs"/>
                </a:rPr>
                <a:t>销售系统中，管理层看到的不是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60882" y="4135755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5F2EC">
                      <a:alphaMod val="92000"/>
                    </a:srgbClr>
                  </a:solidFill>
                  <a:latin typeface="+mn-lt"/>
                  <a:ea typeface="+mn-ea"/>
                  <a:cs typeface="+mn-cs"/>
                </a:rPr>
                <a:t>市场真相，而是滞后的碎片化结果。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048500" y="2152650"/>
            <a:ext cx="4572000" cy="3009900"/>
            <a:chOff x="7048500" y="2152650"/>
            <a:chExt cx="4572000" cy="3009900"/>
          </a:xfrm>
        </p:grpSpPr>
        <p:sp>
          <p:nvSpPr>
            <p:cNvPr id="22" name="Line 22"/>
            <p:cNvSpPr/>
            <p:nvPr/>
          </p:nvSpPr>
          <p:spPr>
            <a:xfrm>
              <a:off x="7048500" y="3848100"/>
              <a:ext cx="1066800" cy="9525"/>
            </a:xfrm>
            <a:custGeom>
              <a:avLst/>
              <a:gdLst/>
              <a:ahLst/>
              <a:cxnLst/>
              <a:rect l="l" t="t" r="r" b="b"/>
              <a:pathLst>
                <a:path w="1066800" h="9525">
                  <a:moveTo>
                    <a:pt x="0" y="0"/>
                  </a:moveTo>
                  <a:lnTo>
                    <a:pt x="10668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115300" y="260985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115300" y="26098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8115300" y="36576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115300" y="47053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477250" y="2152650"/>
              <a:ext cx="3143250" cy="9144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477250" y="2152650"/>
              <a:ext cx="762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793480" y="253365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跨渠道数据口径不一致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477250" y="3200400"/>
              <a:ext cx="3143250" cy="9144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477250" y="3200400"/>
              <a:ext cx="762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93480" y="35814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分析结论无法直接触发执行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4248150"/>
              <a:ext cx="3143250" cy="9144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477250" y="4248150"/>
              <a:ext cx="762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93480" y="46291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复盘晚于预算消耗与窗口期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476250"/>
              <a:ext cx="11049000" cy="5905500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0" y="476250"/>
              <a:ext cx="3429000" cy="5905500"/>
            </a:xfrm>
            <a:prstGeom prst="rect">
              <a:avLst/>
            </a:prstGeom>
            <a:solidFill>
              <a:schemeClr val="lt2">
                <a:alpha val="52000"/>
              </a:scheme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2450" y="125730"/>
            <a:ext cx="11072813" cy="6258877"/>
            <a:chOff x="552450" y="125730"/>
            <a:chExt cx="11072813" cy="6258877"/>
          </a:xfrm>
        </p:grpSpPr>
        <p:sp>
          <p:nvSpPr>
            <p:cNvPr id="6" name="TextBox 6"/>
            <p:cNvSpPr txBox="1"/>
            <p:nvPr/>
          </p:nvSpPr>
          <p:spPr>
            <a:xfrm>
              <a:off x="552450" y="125730"/>
              <a:ext cx="1070762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733550" y="704850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470785" y="640556"/>
              <a:ext cx="6777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正反对照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29202" y="664845"/>
              <a:ext cx="10912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6096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6738" y="6208395"/>
              <a:ext cx="12392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产品发布 / 管理层视角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27702" y="6208395"/>
              <a:ext cx="2975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Georgia"/>
                  <a:ea typeface="Georgia"/>
                  <a:cs typeface="Georgia"/>
                </a:rPr>
                <a:t>4 / 8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56260" y="1181100"/>
            <a:ext cx="11040161" cy="4438650"/>
            <a:chOff x="556260" y="1181100"/>
            <a:chExt cx="11040161" cy="4438650"/>
          </a:xfrm>
        </p:grpSpPr>
        <p:sp>
          <p:nvSpPr>
            <p:cNvPr id="14" name="TextBox 14"/>
            <p:cNvSpPr txBox="1"/>
            <p:nvPr/>
          </p:nvSpPr>
          <p:spPr>
            <a:xfrm>
              <a:off x="556260" y="1181100"/>
              <a:ext cx="27188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从割裂到闭环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3118" y="1707832"/>
              <a:ext cx="70224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企业AI营销工作台把原本分散的人、数据与动作收拢到统一流程中，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3118" y="2022158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让决策速度与执行一致性同步提升。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2266950"/>
              <a:ext cx="7524750" cy="3352800"/>
            </a:xfrm>
            <a:prstGeom prst="rect">
              <a:avLst/>
            </a:prstGeom>
            <a:noFill/>
            <a:ln w="11430">
              <a:solidFill>
                <a:schemeClr val="accent4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333875" y="2266950"/>
              <a:ext cx="9525" cy="3352800"/>
            </a:xfrm>
            <a:custGeom>
              <a:avLst/>
              <a:gdLst/>
              <a:ahLst/>
              <a:cxnLst/>
              <a:rect l="l" t="t" r="r" b="b"/>
              <a:pathLst>
                <a:path w="9525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71500" y="3943350"/>
              <a:ext cx="7524750" cy="9525"/>
            </a:xfrm>
            <a:custGeom>
              <a:avLst/>
              <a:gdLst/>
              <a:ahLst/>
              <a:cxnLst/>
              <a:rect l="l" t="t" r="r" b="b"/>
              <a:pathLst>
                <a:path w="7524750" h="9525">
                  <a:moveTo>
                    <a:pt x="0" y="0"/>
                  </a:moveTo>
                  <a:lnTo>
                    <a:pt x="7524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" y="2266950"/>
              <a:ext cx="3762375" cy="167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33875" y="2266950"/>
              <a:ext cx="3762375" cy="167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71500" y="3943350"/>
              <a:ext cx="3762375" cy="167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33875" y="3943350"/>
              <a:ext cx="3762375" cy="1676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1342" y="248316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i="1" dirty="0">
                  <a:solidFill>
                    <a:schemeClr val="accent5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13485" y="25074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传统方式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08532" y="2745105"/>
              <a:ext cx="15895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数据看见晚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0580" y="31527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报表分散在不同渠道与部门，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0580" y="34385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管理层难以形成单一经营视图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38200" y="3638550"/>
              <a:ext cx="3228975" cy="9525"/>
            </a:xfrm>
            <a:custGeom>
              <a:avLst/>
              <a:gdLst/>
              <a:ahLst/>
              <a:cxnLst/>
              <a:rect l="l" t="t" r="r" b="b"/>
              <a:pathLst>
                <a:path w="3228975" h="9525">
                  <a:moveTo>
                    <a:pt x="0" y="0"/>
                  </a:moveTo>
                  <a:lnTo>
                    <a:pt x="3228975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93717" y="248316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i="1" dirty="0">
                  <a:solidFill>
                    <a:schemeClr val="accent5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75860" y="2507456"/>
              <a:ext cx="7087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 工作台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70907" y="2745105"/>
              <a:ext cx="19031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洞察实时聚合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92955" y="31527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整合投放、线索、内容与转化数据，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92955" y="34385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自动生成统一判断与优先级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600575" y="3638550"/>
              <a:ext cx="3228975" cy="9525"/>
            </a:xfrm>
            <a:custGeom>
              <a:avLst/>
              <a:gdLst/>
              <a:ahLst/>
              <a:cxnLst/>
              <a:rect l="l" t="t" r="r" b="b"/>
              <a:pathLst>
                <a:path w="3228975" h="9525">
                  <a:moveTo>
                    <a:pt x="0" y="0"/>
                  </a:moveTo>
                  <a:lnTo>
                    <a:pt x="3228975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1342" y="415956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i="1" dirty="0">
                  <a:solidFill>
                    <a:schemeClr val="accent5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13485" y="41838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传统方式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08532" y="4421505"/>
              <a:ext cx="22168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执行依赖人盯人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0580" y="48291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分析、内容、投放、销售跟进彼此脱节，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0580" y="51149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动作延迟且容易失真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38200" y="5314950"/>
              <a:ext cx="3228975" cy="9525"/>
            </a:xfrm>
            <a:custGeom>
              <a:avLst/>
              <a:gdLst/>
              <a:ahLst/>
              <a:cxnLst/>
              <a:rect l="l" t="t" r="r" b="b"/>
              <a:pathLst>
                <a:path w="3228975" h="9525">
                  <a:moveTo>
                    <a:pt x="0" y="0"/>
                  </a:moveTo>
                  <a:lnTo>
                    <a:pt x="3228975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593717" y="415956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i="1" dirty="0">
                  <a:solidFill>
                    <a:schemeClr val="accent5"/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75860" y="4183856"/>
              <a:ext cx="7087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 工作台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70907" y="4421505"/>
              <a:ext cx="19031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动作自动联动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92955" y="48291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模型识别机会后可直接触发分群、投放、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92955" y="51149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内容分发与线索跟进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4600575" y="5314950"/>
              <a:ext cx="3228975" cy="9525"/>
            </a:xfrm>
            <a:custGeom>
              <a:avLst/>
              <a:gdLst/>
              <a:ahLst/>
              <a:cxnLst/>
              <a:rect l="l" t="t" r="r" b="b"/>
              <a:pathLst>
                <a:path w="3228975" h="9525">
                  <a:moveTo>
                    <a:pt x="0" y="0"/>
                  </a:moveTo>
                  <a:lnTo>
                    <a:pt x="3228975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524875" y="1333500"/>
              <a:ext cx="2667000" cy="14287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757285" y="1526381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统一入口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51570" y="1757362"/>
              <a:ext cx="237515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替代多系统跳转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56142" y="21878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减少切换损耗，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56142" y="24450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让经营动作落在同一界面。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048750" y="2990850"/>
              <a:ext cx="2143125" cy="1047750"/>
            </a:xfrm>
            <a:prstGeom prst="rect">
              <a:avLst/>
            </a:prstGeom>
            <a:solidFill>
              <a:schemeClr val="accent1">
                <a:alpha val="96000"/>
              </a:scheme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52585" y="3164681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模型建议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49156" y="3415665"/>
              <a:ext cx="16312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5F2EC"/>
                  </a:solidFill>
                  <a:latin typeface="+mj-lt"/>
                  <a:ea typeface="+mj-ea"/>
                  <a:cs typeface="+mj-cs"/>
                </a:rPr>
                <a:t>直连营销动作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52204" y="3737610"/>
              <a:ext cx="21445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F2EC"/>
                  </a:solidFill>
                  <a:latin typeface="+mn-lt"/>
                  <a:ea typeface="+mn-ea"/>
                  <a:cs typeface="+mn-cs"/>
                </a:rPr>
                <a:t>从“看见问题”走向“马上处理”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524875" y="4286250"/>
              <a:ext cx="2667000" cy="1333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757285" y="446960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反馈回路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52332" y="4688205"/>
              <a:ext cx="28440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效果反哺下一轮策略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56142" y="50739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投放结果、线索质量与转化表现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756142" y="533114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回流模型，持续更新优先级。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8382000" y="18669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8382000" y="35242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8382000" y="49530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565785" y="1828800"/>
            <a:ext cx="7806690" cy="4175284"/>
            <a:chOff x="565785" y="1828800"/>
            <a:chExt cx="7806690" cy="4175284"/>
          </a:xfrm>
        </p:grpSpPr>
        <p:sp>
          <p:nvSpPr>
            <p:cNvPr id="66" name="Rectangle 66"/>
            <p:cNvSpPr/>
            <p:nvPr/>
          </p:nvSpPr>
          <p:spPr>
            <a:xfrm>
              <a:off x="571500" y="5753100"/>
              <a:ext cx="7524750" cy="2286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65785" y="5784056"/>
              <a:ext cx="39490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关键变量对比：数据时效、协同链路、动作触发、反馈更新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8296275" y="18288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8296275" y="3486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8296275" y="49149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476250"/>
              <a:ext cx="2381250" cy="5905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3238500" y="1314450"/>
              <a:ext cx="8382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3238500" y="4514850"/>
              <a:ext cx="8382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2450" y="201930"/>
            <a:ext cx="10672763" cy="6239827"/>
            <a:chOff x="552450" y="201930"/>
            <a:chExt cx="10672763" cy="6239827"/>
          </a:xfrm>
        </p:grpSpPr>
        <p:sp>
          <p:nvSpPr>
            <p:cNvPr id="7" name="TextBox 7"/>
            <p:cNvSpPr txBox="1"/>
            <p:nvPr/>
          </p:nvSpPr>
          <p:spPr>
            <a:xfrm>
              <a:off x="552450" y="201930"/>
              <a:ext cx="1070762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05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90550" y="1085850"/>
              <a:ext cx="70485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5785" y="1326356"/>
              <a:ext cx="5061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引证栏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5884545"/>
              <a:ext cx="10912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082414" y="62655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223260" y="590550"/>
            <a:ext cx="8408670" cy="5863209"/>
            <a:chOff x="3223260" y="590550"/>
            <a:chExt cx="8408670" cy="5863209"/>
          </a:xfrm>
        </p:grpSpPr>
        <p:sp>
          <p:nvSpPr>
            <p:cNvPr id="13" name="TextBox 13"/>
            <p:cNvSpPr txBox="1"/>
            <p:nvPr/>
          </p:nvSpPr>
          <p:spPr>
            <a:xfrm>
              <a:off x="3223260" y="590550"/>
              <a:ext cx="182270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价值落点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29356" y="152019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方案价值体现在三个层面：更完整的数据底盘、更及时的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9356" y="18630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智能建议，以及更稳定的自动化执行与度量闭环。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238500" y="2171700"/>
              <a:ext cx="2667000" cy="186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476244" y="2361248"/>
              <a:ext cx="324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89832" y="23450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486150" y="274320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478530" y="29051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打通广告平台、私域触点、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78530" y="3190875"/>
              <a:ext cx="23942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CRM 与订单系统，让营销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78530" y="34766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投入与业务结果进入同一张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78530" y="37623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经营地图。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0" y="2171700"/>
              <a:ext cx="2667000" cy="18669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3744" y="2361248"/>
              <a:ext cx="324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47332" y="2345055"/>
              <a:ext cx="100929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分析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343650" y="274320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36030" y="29051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自动识别高价值客群、异常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36030" y="31908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波动与渠道机会，把多轮会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36030" y="34766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商压缩为可执行建议。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953500" y="2171700"/>
              <a:ext cx="2667000" cy="186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91244" y="2361248"/>
              <a:ext cx="324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04832" y="23450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执行与度量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201150" y="274320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93530" y="29051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围绕人群、内容、预算与线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93530" y="31908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索流转预设规则，并把线索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93530" y="34766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质量、回收与内容贡献连成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93530" y="37623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闭环。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27832" y="4840605"/>
              <a:ext cx="12758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三个判断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3238500" y="542925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3295650" y="56959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515106" y="560641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不是替代团队，而是放大团队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3238500" y="592455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3295650" y="61912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515106" y="610171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不是堆模型，而是沉淀流程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581900" y="56959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01356" y="560641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不是多报表，而是强决策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458450" y="4972050"/>
              <a:ext cx="116205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642092" y="5093018"/>
              <a:ext cx="8319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Evidence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643235" y="538400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统一经营地图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43235" y="559355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建议可执行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43235" y="580310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闭环可复盘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65785" y="2278856"/>
            <a:ext cx="2386965" cy="3817144"/>
            <a:chOff x="565785" y="2278856"/>
            <a:chExt cx="2386965" cy="3817144"/>
          </a:xfrm>
        </p:grpSpPr>
        <p:sp>
          <p:nvSpPr>
            <p:cNvPr id="54" name="Freeform 54"/>
            <p:cNvSpPr/>
            <p:nvPr/>
          </p:nvSpPr>
          <p:spPr>
            <a:xfrm>
              <a:off x="2724150" y="2381250"/>
              <a:ext cx="228600" cy="1447800"/>
            </a:xfrm>
            <a:custGeom>
              <a:avLst/>
              <a:gdLst/>
              <a:ahLst/>
              <a:cxnLst/>
              <a:rect l="l" t="t" r="r" b="b"/>
              <a:pathLst>
                <a:path w="228600" h="1447800">
                  <a:moveTo>
                    <a:pt x="0" y="0"/>
                  </a:moveTo>
                  <a:lnTo>
                    <a:pt x="228600" y="0"/>
                  </a:lnTo>
                  <a:lnTo>
                    <a:pt x="228600" y="14478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2690812" y="234791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65785" y="2278856"/>
              <a:ext cx="1677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把价值拆成可引用的三段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65785" y="2488406"/>
              <a:ext cx="1677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证明链，避免泛泛而谈。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2724150" y="5219700"/>
              <a:ext cx="228600" cy="876300"/>
            </a:xfrm>
            <a:custGeom>
              <a:avLst/>
              <a:gdLst/>
              <a:ahLst/>
              <a:cxnLst/>
              <a:rect l="l" t="t" r="r" b="b"/>
              <a:pathLst>
                <a:path w="228600" h="876300">
                  <a:moveTo>
                    <a:pt x="0" y="0"/>
                  </a:moveTo>
                  <a:lnTo>
                    <a:pt x="228600" y="0"/>
                  </a:lnTo>
                  <a:lnTo>
                    <a:pt x="228600" y="8763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2690812" y="518636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5785" y="5117306"/>
              <a:ext cx="1980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底部判断句可直接作为管理层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5785" y="5326856"/>
              <a:ext cx="1374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沟通时的决策口径。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476250"/>
              <a:ext cx="11049000" cy="5905500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0" y="0"/>
              <a:ext cx="4191000" cy="6858000"/>
            </a:xfrm>
            <a:prstGeom prst="rect">
              <a:avLst/>
            </a:prstGeom>
            <a:solidFill>
              <a:schemeClr val="lt2">
                <a:alpha val="45000"/>
              </a:scheme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64642" y="654368"/>
            <a:ext cx="11060621" cy="5958839"/>
            <a:chOff x="564642" y="654368"/>
            <a:chExt cx="11060621" cy="5958839"/>
          </a:xfrm>
        </p:grpSpPr>
        <p:sp>
          <p:nvSpPr>
            <p:cNvPr id="7" name="TextBox 7"/>
            <p:cNvSpPr txBox="1"/>
            <p:nvPr/>
          </p:nvSpPr>
          <p:spPr>
            <a:xfrm>
              <a:off x="564642" y="65436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06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14400" y="7334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47266" y="686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数字告示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02202" y="702945"/>
              <a:ext cx="13230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Georgia"/>
                  <a:ea typeface="SimSun"/>
                  <a:cs typeface="Georgia"/>
                </a:rPr>
                <a:t>企业 AI 营销工作台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" y="971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186884" y="6436995"/>
              <a:ext cx="4383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Georgia"/>
                  <a:ea typeface="Georgia"/>
                  <a:cs typeface="Georgia"/>
                </a:rPr>
                <a:t>06 / 08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61950" y="1217295"/>
            <a:ext cx="11571732" cy="5027866"/>
            <a:chOff x="361950" y="1217295"/>
            <a:chExt cx="11571732" cy="5027866"/>
          </a:xfrm>
        </p:grpSpPr>
        <p:sp>
          <p:nvSpPr>
            <p:cNvPr id="14" name="TextBox 14"/>
            <p:cNvSpPr txBox="1"/>
            <p:nvPr/>
          </p:nvSpPr>
          <p:spPr>
            <a:xfrm>
              <a:off x="556260" y="1276350"/>
              <a:ext cx="27188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管理层指标面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3118" y="1898332"/>
              <a:ext cx="734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这套工作台最适合先在高频营销场景中落地，用可量化指标验证经营价值，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3118" y="2212658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再逐步扩展到全域营销。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71500" y="253365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4642" y="286416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先抓高频场景形成样板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4642" y="318801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先看经营指标再扩范围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4642" y="35118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关键数字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4642" y="3835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压力指标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61950" y="29146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361950" y="32385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61950" y="35623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61950" y="3886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52450" y="4050030"/>
              <a:ext cx="3279300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i="1" dirty="0">
                  <a:solidFill>
                    <a:schemeClr val="accent5"/>
                  </a:solidFill>
                  <a:latin typeface="Georgia"/>
                  <a:ea typeface="Georgia"/>
                  <a:cs typeface="Georgia"/>
                </a:rPr>
                <a:t>Signals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71500" y="50101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000500" y="1333500"/>
              <a:ext cx="3429000" cy="2095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86250" y="1217295"/>
              <a:ext cx="2393594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900" i="1" dirty="0">
                  <a:solidFill>
                    <a:schemeClr val="accent6"/>
                  </a:solidFill>
                  <a:latin typeface="Georgia"/>
                  <a:ea typeface="Georgia"/>
                  <a:cs typeface="Georgia"/>
                </a:rPr>
                <a:t>50%+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94632" y="211645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F2EC"/>
                  </a:solidFill>
                  <a:latin typeface="+mn-lt"/>
                  <a:ea typeface="+mn-ea"/>
                  <a:cs typeface="+mn-cs"/>
                </a:rPr>
                <a:t>分析准备时间压缩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99204" y="258508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4CFC4"/>
                  </a:solidFill>
                  <a:latin typeface="+mn-lt"/>
                  <a:ea typeface="+mn-ea"/>
                  <a:cs typeface="+mn-cs"/>
                </a:rPr>
                <a:t>统一数据后，周报与专题复盘从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99204" y="281368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4CFC4"/>
                  </a:solidFill>
                  <a:latin typeface="+mn-lt"/>
                  <a:ea typeface="+mn-ea"/>
                  <a:cs typeface="+mn-cs"/>
                </a:rPr>
                <a:t>多人汇总转为系统自动生成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05300" y="3019425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000500" y="3695700"/>
              <a:ext cx="3429000" cy="2095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286250" y="3579495"/>
              <a:ext cx="2393594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90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30%+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94632" y="447865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线索响应效率提升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99204" y="494728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高意向线索自动分配与提醒，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99204" y="51758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减少销售跟进延迟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4305300" y="5381625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810500" y="1333500"/>
              <a:ext cx="3810000" cy="2857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96250" y="1217295"/>
              <a:ext cx="2393594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90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20%+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04632" y="211645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投放浪费下降空间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09204" y="25946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异常渠道与低效素材更早被识别，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09204" y="28232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并及时止损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115300" y="30289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810500" y="4457700"/>
              <a:ext cx="3810000" cy="13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096250" y="4373880"/>
              <a:ext cx="55443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i="1" dirty="0">
                  <a:solidFill>
                    <a:schemeClr val="accent6"/>
                  </a:solidFill>
                  <a:latin typeface="Georgia"/>
                  <a:ea typeface="Georgia"/>
                  <a:cs typeface="Georgia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47582" y="4821555"/>
              <a:ext cx="24850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F2EC"/>
                  </a:solidFill>
                  <a:latin typeface="+mn-lt"/>
                  <a:ea typeface="+mn-ea"/>
                  <a:cs typeface="+mn-cs"/>
                </a:rPr>
                <a:t>个 管理驾驶舱入口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52154" y="52616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4CFC4"/>
                  </a:solidFill>
                  <a:latin typeface="+mn-lt"/>
                  <a:ea typeface="+mn-ea"/>
                  <a:cs typeface="+mn-cs"/>
                </a:rPr>
                <a:t>同一界面查看预算、转化、风险与执行状态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8420100" y="4610100"/>
              <a:ext cx="9525" cy="1028700"/>
            </a:xfrm>
            <a:custGeom>
              <a:avLst/>
              <a:gdLst/>
              <a:ahLst/>
              <a:cxnLst/>
              <a:rect l="l" t="t" r="r" b="b"/>
              <a:pathLst>
                <a:path w="9525" h="1028700">
                  <a:moveTo>
                    <a:pt x="0" y="0"/>
                  </a:moveTo>
                  <a:lnTo>
                    <a:pt x="0" y="10287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109966" y="6039802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适合先用于周报复盘、线索跟进、投放优化等高频经营动作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591800" y="514350"/>
            <a:ext cx="1028700" cy="266700"/>
            <a:chOff x="10591800" y="514350"/>
            <a:chExt cx="1028700" cy="266700"/>
          </a:xfrm>
        </p:grpSpPr>
        <p:sp>
          <p:nvSpPr>
            <p:cNvPr id="53" name="Rectangle 53"/>
            <p:cNvSpPr/>
            <p:nvPr/>
          </p:nvSpPr>
          <p:spPr>
            <a:xfrm>
              <a:off x="10591800" y="514350"/>
              <a:ext cx="1028700" cy="2667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707434" y="590074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经营验证优先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8858250" y="0"/>
              <a:ext cx="3333750" cy="6858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5981700"/>
              <a:ext cx="12192000" cy="87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64642" y="254318"/>
            <a:ext cx="11060621" cy="6396989"/>
            <a:chOff x="564642" y="254318"/>
            <a:chExt cx="11060621" cy="6396989"/>
          </a:xfrm>
        </p:grpSpPr>
        <p:sp>
          <p:nvSpPr>
            <p:cNvPr id="6" name="Line 6"/>
            <p:cNvSpPr/>
            <p:nvPr/>
          </p:nvSpPr>
          <p:spPr>
            <a:xfrm>
              <a:off x="571500" y="742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8858250" y="476250"/>
              <a:ext cx="9525" cy="5905500"/>
            </a:xfrm>
            <a:custGeom>
              <a:avLst/>
              <a:gdLst/>
              <a:ahLst/>
              <a:cxnLst/>
              <a:rect l="l" t="t" r="r" b="b"/>
              <a:pathLst>
                <a:path w="9525" h="5905500">
                  <a:moveTo>
                    <a:pt x="0" y="0"/>
                  </a:moveTo>
                  <a:lnTo>
                    <a:pt x="0" y="5905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4642" y="25431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07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9066" y="286702"/>
              <a:ext cx="1272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09948" y="3028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增长结构图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27702" y="6475095"/>
              <a:ext cx="2975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Georgia"/>
                  <a:ea typeface="Georgia"/>
                  <a:cs typeface="Georgia"/>
                </a:rPr>
                <a:t>7 / 8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56260" y="990600"/>
            <a:ext cx="11159490" cy="4914900"/>
            <a:chOff x="556260" y="990600"/>
            <a:chExt cx="11159490" cy="4914900"/>
          </a:xfrm>
        </p:grpSpPr>
        <p:sp>
          <p:nvSpPr>
            <p:cNvPr id="13" name="TextBox 13"/>
            <p:cNvSpPr txBox="1"/>
            <p:nvPr/>
          </p:nvSpPr>
          <p:spPr>
            <a:xfrm>
              <a:off x="556260" y="990600"/>
              <a:ext cx="27188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闭环增长引擎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118" y="1498282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四个模块不是并列采购清单，而是一条连续的经营回路，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3118" y="180308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任何一段缺失都会削弱整体回报。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4642" y="2273618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Georgia"/>
                  <a:ea typeface="KaiTi"/>
                  <a:cs typeface="Georgia"/>
                </a:rPr>
                <a:t>主轴关系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333500" y="2362200"/>
              <a:ext cx="1352550" cy="9525"/>
            </a:xfrm>
            <a:custGeom>
              <a:avLst/>
              <a:gdLst/>
              <a:ahLst/>
              <a:cxnLst/>
              <a:rect l="l" t="t" r="r" b="b"/>
              <a:pathLst>
                <a:path w="1352550" h="9525">
                  <a:moveTo>
                    <a:pt x="0" y="0"/>
                  </a:moveTo>
                  <a:lnTo>
                    <a:pt x="135255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8650" y="2762250"/>
              <a:ext cx="1905000" cy="8763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3148" y="2746058"/>
              <a:ext cx="52486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79982" y="28403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84554" y="32042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统一数据底盘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952750" y="2762250"/>
              <a:ext cx="1905000" cy="8763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127248" y="2746058"/>
              <a:ext cx="52486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04082" y="2840355"/>
              <a:ext cx="100929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分析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08654" y="32042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判断与建议输出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276850" y="2762250"/>
              <a:ext cx="1905000" cy="8763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51348" y="2746058"/>
              <a:ext cx="52486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28182" y="28403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32754" y="32042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动作落地与协同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00950" y="2762250"/>
              <a:ext cx="1905000" cy="8763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75448" y="2746058"/>
              <a:ext cx="52486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52282" y="28403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56854" y="32042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回收评估与优化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533650" y="320040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2876550" y="31432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4857750" y="320040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5200650" y="31432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7181850" y="320040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524750" y="31432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3924300" y="3638550"/>
              <a:ext cx="4629150" cy="838200"/>
            </a:xfrm>
            <a:custGeom>
              <a:avLst/>
              <a:gdLst/>
              <a:ahLst/>
              <a:cxnLst/>
              <a:rect l="l" t="t" r="r" b="b"/>
              <a:pathLst>
                <a:path w="4629150" h="838200">
                  <a:moveTo>
                    <a:pt x="4629150" y="0"/>
                  </a:moveTo>
                  <a:cubicBezTo>
                    <a:pt x="4629150" y="552450"/>
                    <a:pt x="3600450" y="838200"/>
                    <a:pt x="2305050" y="838200"/>
                  </a:cubicBezTo>
                  <a:cubicBezTo>
                    <a:pt x="1028700" y="838200"/>
                    <a:pt x="0" y="552450"/>
                    <a:pt x="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3924300" y="3590925"/>
              <a:ext cx="95250" cy="123825"/>
            </a:xfrm>
            <a:custGeom>
              <a:avLst/>
              <a:gdLst/>
              <a:ahLst/>
              <a:cxnLst/>
              <a:rect l="l" t="t" r="r" b="b"/>
              <a:pathLst>
                <a:path w="95250" h="123825">
                  <a:moveTo>
                    <a:pt x="76200" y="123825"/>
                  </a:moveTo>
                  <a:lnTo>
                    <a:pt x="0" y="47625"/>
                  </a:ln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57495" y="4216718"/>
              <a:ext cx="1962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Georgia"/>
                  <a:ea typeface="KaiTi"/>
                  <a:cs typeface="Georgia"/>
                </a:rPr>
                <a:t>策略回收 → 下一轮优化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66750" y="4171950"/>
              <a:ext cx="8001000" cy="13906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2667000" y="4171950"/>
              <a:ext cx="9525" cy="1390650"/>
            </a:xfrm>
            <a:custGeom>
              <a:avLst/>
              <a:gdLst/>
              <a:ahLst/>
              <a:cxnLst/>
              <a:rect l="l" t="t" r="r" b="b"/>
              <a:pathLst>
                <a:path w="9525" h="1390650">
                  <a:moveTo>
                    <a:pt x="0" y="0"/>
                  </a:moveTo>
                  <a:lnTo>
                    <a:pt x="0" y="13906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4667250" y="4171950"/>
              <a:ext cx="9525" cy="1390650"/>
            </a:xfrm>
            <a:custGeom>
              <a:avLst/>
              <a:gdLst/>
              <a:ahLst/>
              <a:cxnLst/>
              <a:rect l="l" t="t" r="r" b="b"/>
              <a:pathLst>
                <a:path w="9525" h="1390650">
                  <a:moveTo>
                    <a:pt x="0" y="0"/>
                  </a:moveTo>
                  <a:lnTo>
                    <a:pt x="0" y="13906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6667500" y="4171950"/>
              <a:ext cx="9525" cy="1390650"/>
            </a:xfrm>
            <a:custGeom>
              <a:avLst/>
              <a:gdLst/>
              <a:ahLst/>
              <a:cxnLst/>
              <a:rect l="l" t="t" r="r" b="b"/>
              <a:pathLst>
                <a:path w="9525" h="1390650">
                  <a:moveTo>
                    <a:pt x="0" y="0"/>
                  </a:moveTo>
                  <a:lnTo>
                    <a:pt x="0" y="13906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9630" y="43148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042008" y="4250055"/>
              <a:ext cx="3499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10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28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1154" y="46329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汇聚渠道、客户、内容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1154" y="48615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与交易信号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1154" y="50901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形成统一底盘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849880" y="4314825"/>
              <a:ext cx="7209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分析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042258" y="4250055"/>
              <a:ext cx="3499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10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24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851404" y="4632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客群分层、归因洞察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851404" y="48615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预算建议与异常预警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851404" y="50901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输出经营判断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850130" y="43148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42508" y="4250055"/>
              <a:ext cx="3499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10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26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51654" y="4632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把分群、触达、投放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851654" y="48615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与销售协同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851654" y="50901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转成可重复动作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850380" y="43148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42758" y="4250055"/>
              <a:ext cx="3499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10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22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851904" y="46329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持续追踪转化质量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51904" y="48615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投入产出与策略回收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51904" y="50901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驱动下一轮优化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232392" y="1168718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Georgia"/>
                  <a:ea typeface="KaiTi"/>
                  <a:cs typeface="Georgia"/>
                </a:rPr>
                <a:t>外溢路径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9982200" y="12573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9239250" y="1600200"/>
              <a:ext cx="2095500" cy="9334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9420225" y="18288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630918" y="17745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经营中台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471279" y="208978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预算、线索、销售动作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471279" y="22993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在同一逻辑下联动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9620250" y="2800350"/>
              <a:ext cx="2095500" cy="9334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9801225" y="30289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0011918" y="29746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组织协同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852279" y="32899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市场、销售、运营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852279" y="34994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共享一套目标语言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9239250" y="4000500"/>
              <a:ext cx="2095500" cy="9334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9420225" y="42291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630918" y="41748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能力沉淀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471279" y="44900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把成功策略固化为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471279" y="46996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可复用的经营资产</a:t>
              </a:r>
            </a:p>
          </p:txBody>
        </p:sp>
        <p:sp>
          <p:nvSpPr>
            <p:cNvPr id="84" name="Line 84"/>
            <p:cNvSpPr/>
            <p:nvPr/>
          </p:nvSpPr>
          <p:spPr>
            <a:xfrm>
              <a:off x="10477500" y="25336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10420350" y="27241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86" name="Line 86"/>
            <p:cNvSpPr/>
            <p:nvPr/>
          </p:nvSpPr>
          <p:spPr>
            <a:xfrm>
              <a:off x="10477500" y="37338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0420350" y="39243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9239250" y="5314950"/>
              <a:ext cx="2095500" cy="590550"/>
            </a:xfrm>
            <a:prstGeom prst="rect">
              <a:avLst/>
            </a:prstGeom>
            <a:solidFill>
              <a:schemeClr val="accent1">
                <a:alpha val="3000"/>
              </a:schemeClr>
            </a:solidFill>
            <a:ln w="9525">
              <a:solidFill>
                <a:schemeClr val="accent4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9423654" y="54235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判断逻辑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423654" y="5652135"/>
              <a:ext cx="1719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Georgia"/>
                  <a:ea typeface="KaiTi"/>
                  <a:cs typeface="Georgia"/>
                </a:rPr>
                <a:t>底层统一，决策才可信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571500" y="6172200"/>
            <a:ext cx="7734300" cy="323850"/>
            <a:chOff x="571500" y="6172200"/>
            <a:chExt cx="7734300" cy="323850"/>
          </a:xfrm>
        </p:grpSpPr>
        <p:sp>
          <p:nvSpPr>
            <p:cNvPr id="92" name="Rectangle 92"/>
            <p:cNvSpPr/>
            <p:nvPr/>
          </p:nvSpPr>
          <p:spPr>
            <a:xfrm>
              <a:off x="571500" y="6172200"/>
              <a:ext cx="23431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18185" y="6260306"/>
              <a:ext cx="152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动作联动，结果才放大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3048000" y="6172200"/>
              <a:ext cx="21526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3194685" y="6260306"/>
              <a:ext cx="1980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外溢不是附加项，而是放大器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5334000" y="6172200"/>
              <a:ext cx="29718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5480685" y="6260306"/>
              <a:ext cx="2586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缺任一段，数据、策略与执行都会断链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495300"/>
              <a:ext cx="11049000" cy="5867400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495300"/>
              <a:ext cx="2095500" cy="586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2667000" y="495300"/>
              <a:ext cx="9525" cy="5867400"/>
            </a:xfrm>
            <a:custGeom>
              <a:avLst/>
              <a:gdLst/>
              <a:ahLst/>
              <a:cxnLst/>
              <a:rect l="l" t="t" r="r" b="b"/>
              <a:pathLst>
                <a:path w="9525" h="5867400">
                  <a:moveTo>
                    <a:pt x="0" y="0"/>
                  </a:moveTo>
                  <a:lnTo>
                    <a:pt x="0" y="58674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81050" y="335280"/>
            <a:ext cx="10539413" cy="5896927"/>
            <a:chOff x="781050" y="335280"/>
            <a:chExt cx="10539413" cy="5896927"/>
          </a:xfrm>
        </p:grpSpPr>
        <p:sp>
          <p:nvSpPr>
            <p:cNvPr id="7" name="TextBox 7"/>
            <p:cNvSpPr txBox="1"/>
            <p:nvPr/>
          </p:nvSpPr>
          <p:spPr>
            <a:xfrm>
              <a:off x="781050" y="335280"/>
              <a:ext cx="1070762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08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19150" y="1219200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4385" y="1383506"/>
              <a:ext cx="9848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38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NEXT NOTICE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5338" y="5732145"/>
              <a:ext cx="10912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5338" y="5941695"/>
              <a:ext cx="20328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product launch / closing broadside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70120" y="6055995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Georgia"/>
                  <a:ea typeface="Georgia"/>
                  <a:cs typeface="Georgia"/>
                </a:rPr>
                <a:t>08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0477500" y="6115050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3147060" y="1013460"/>
            <a:ext cx="8187690" cy="5177790"/>
            <a:chOff x="3147060" y="1013460"/>
            <a:chExt cx="8187690" cy="5177790"/>
          </a:xfrm>
        </p:grpSpPr>
        <p:sp>
          <p:nvSpPr>
            <p:cNvPr id="15" name="TextBox 15"/>
            <p:cNvSpPr txBox="1"/>
            <p:nvPr/>
          </p:nvSpPr>
          <p:spPr>
            <a:xfrm>
              <a:off x="3156204" y="1013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下一张告示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47060" y="1352550"/>
              <a:ext cx="182270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推进建议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53156" y="207264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建议以一个业务单元和两到三个核心营销场景试点上线，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53156" y="23964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在八到十二周内验证效率、转化与治理三类成果。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162300" y="2857500"/>
              <a:ext cx="7886700" cy="9525"/>
            </a:xfrm>
            <a:custGeom>
              <a:avLst/>
              <a:gdLst/>
              <a:ahLst/>
              <a:cxnLst/>
              <a:rect l="l" t="t" r="r" b="b"/>
              <a:pathLst>
                <a:path w="7886700" h="9525">
                  <a:moveTo>
                    <a:pt x="0" y="0"/>
                  </a:moveTo>
                  <a:lnTo>
                    <a:pt x="78867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095750" y="3848100"/>
              <a:ext cx="6267450" cy="9525"/>
            </a:xfrm>
            <a:custGeom>
              <a:avLst/>
              <a:gdLst/>
              <a:ahLst/>
              <a:cxnLst/>
              <a:rect l="l" t="t" r="r" b="b"/>
              <a:pathLst>
                <a:path w="6267450" h="9525">
                  <a:moveTo>
                    <a:pt x="0" y="0"/>
                  </a:moveTo>
                  <a:lnTo>
                    <a:pt x="62674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000500" y="3752850"/>
              <a:ext cx="190500" cy="1905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7143750" y="3752850"/>
              <a:ext cx="190500" cy="1905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0267950" y="37528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4095750" y="363855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2095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239000" y="363855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2095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0363200" y="363855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2095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162300" y="4171950"/>
              <a:ext cx="2438400" cy="14287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384804" y="432816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80232" y="45358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先行场景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83280" y="49434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从获客投放、线索分发、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83280" y="52292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内容分群触达中选择高频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83280" y="55149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且可量化的试点组合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19800" y="4171950"/>
              <a:ext cx="2438400" cy="14287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42304" y="432816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37732" y="45358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风险边界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40780" y="49434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提前定义数据权限、模型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40780" y="52292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审核、自动化阈值与人工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40780" y="55149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兜底机制，确保可控上线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877300" y="4171950"/>
              <a:ext cx="243840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099804" y="432816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chemeClr val="accent6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95232" y="45358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F2EC"/>
                  </a:solidFill>
                  <a:latin typeface="+mn-lt"/>
                  <a:ea typeface="+mn-ea"/>
                  <a:cs typeface="+mn-cs"/>
                </a:rPr>
                <a:t>决策动作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98280" y="49434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F2EC"/>
                  </a:solidFill>
                  <a:latin typeface="+mn-lt"/>
                  <a:ea typeface="+mn-ea"/>
                  <a:cs typeface="+mn-cs"/>
                </a:rPr>
                <a:t>确认试点负责人、接入系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98280" y="52292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F2EC"/>
                  </a:solidFill>
                  <a:latin typeface="+mn-lt"/>
                  <a:ea typeface="+mn-ea"/>
                  <a:cs typeface="+mn-cs"/>
                </a:rPr>
                <a:t>统清单与成功指标，进入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98280" y="55149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F2EC"/>
                  </a:solidFill>
                  <a:latin typeface="+mn-lt"/>
                  <a:ea typeface="+mn-ea"/>
                  <a:cs typeface="+mn-cs"/>
                </a:rPr>
                <a:t>实施评估与客户化配置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162300" y="3124200"/>
              <a:ext cx="1524000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308985" y="3212306"/>
              <a:ext cx="11472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8-12 周推进路径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162300" y="5810250"/>
              <a:ext cx="81534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3314700" y="59626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480435" y="5936456"/>
              <a:ext cx="1980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优先选数据基础较好的业务线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867400" y="59626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33135" y="5936456"/>
              <a:ext cx="1828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把风险控制嵌入试点范围内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8610600" y="59626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776335" y="5936456"/>
              <a:ext cx="1677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以经营结果决定扩面节奏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787140" y="3498056"/>
            <a:ext cx="7132015" cy="515017"/>
            <a:chOff x="3787140" y="3498056"/>
            <a:chExt cx="7132015" cy="515017"/>
          </a:xfrm>
        </p:grpSpPr>
        <p:sp>
          <p:nvSpPr>
            <p:cNvPr id="55" name="TextBox 55"/>
            <p:cNvSpPr txBox="1"/>
            <p:nvPr/>
          </p:nvSpPr>
          <p:spPr>
            <a:xfrm>
              <a:off x="3787140" y="34980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试点选择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30390" y="34980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治理嵌入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54590" y="34980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进入实施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733532" y="360235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→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C1C1C"/>
      </a:dk1>
      <a:lt1>
        <a:srgbClr val="F5F2EC"/>
      </a:lt1>
      <a:dk2>
        <a:srgbClr val="5C5852"/>
      </a:dk2>
      <a:lt2>
        <a:srgbClr val="EDE8DE"/>
      </a:lt2>
      <a:accent1>
        <a:srgbClr val="1C1C1C"/>
      </a:accent1>
      <a:accent2>
        <a:srgbClr val="B8935A"/>
      </a:accent2>
      <a:accent3>
        <a:srgbClr val="B8935A"/>
      </a:accent3>
      <a:accent4>
        <a:srgbClr val="D4CFC4"/>
      </a:accent4>
      <a:accent5>
        <a:srgbClr val="8B8680"/>
      </a:accent5>
      <a:accent6>
        <a:srgbClr val="E8C788"/>
      </a:accent6>
      <a:hlink>
        <a:srgbClr val="B8935A"/>
      </a:hlink>
      <a:folHlink>
        <a:srgbClr val="B8935A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C1C1C"/>
      </a:dk1>
      <a:lt1>
        <a:srgbClr val="F5F2EC"/>
      </a:lt1>
      <a:dk2>
        <a:srgbClr val="5C5852"/>
      </a:dk2>
      <a:lt2>
        <a:srgbClr val="EDE8DE"/>
      </a:lt2>
      <a:accent1>
        <a:srgbClr val="1C1C1C"/>
      </a:accent1>
      <a:accent2>
        <a:srgbClr val="B8935A"/>
      </a:accent2>
      <a:accent3>
        <a:srgbClr val="B8935A"/>
      </a:accent3>
      <a:accent4>
        <a:srgbClr val="D4CFC4"/>
      </a:accent4>
      <a:accent5>
        <a:srgbClr val="8B8680"/>
      </a:accent5>
      <a:accent6>
        <a:srgbClr val="E8C788"/>
      </a:accent6>
      <a:hlink>
        <a:srgbClr val="B8935A"/>
      </a:hlink>
      <a:folHlink>
        <a:srgbClr val="B8935A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2026-07-11T09:43:26Z</dcterms:created>
  <dcterms:modified xsi:type="dcterms:W3CDTF">2026-07-11T09:43:26Z</dcterms:modified>
  <cp:category/>
  <cp:contentStatus/>
</cp:coreProperties>
</file>