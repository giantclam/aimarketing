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</a:t>
            </a:r>
          </a:p>
          <a:p>
            <a:endParaRPr lang="en-US" dirty="0"/>
          </a:p>
          <a:p>
            <a:r>
              <a:rPr lang="zh-CN" dirty="0"/>
              <a:t>请生成一份8页中文可编辑PPT，主题是企业AI营销工作台，面向企业管理层，必须走ppt-master全流程，不得使用auto-4或frontend-slides。这是面向客户的SaaS方案，覆盖数据整合、AI分析、自动化执行、效果度量四个模块，不需要竞品对标。的核心现状、关键风险与影响范围概览。</a:t>
            </a:r>
          </a:p>
          <a:p>
            <a:endParaRPr lang="en-US" dirty="0"/>
          </a:p>
          <a:p>
            <a:r>
              <a:rPr lang="zh-CN" dirty="0"/>
              <a:t>• 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决策议程</a:t>
            </a:r>
          </a:p>
          <a:p>
            <a:endParaRPr lang="en-US" dirty="0"/>
          </a:p>
          <a:p>
            <a:r>
              <a:rPr lang="zh-CN" dirty="0"/>
              <a:t>本页概览核心议题：现状、风险、全球影响与后续观察重点。</a:t>
            </a:r>
          </a:p>
          <a:p>
            <a:endParaRPr lang="en-US" dirty="0"/>
          </a:p>
          <a:p>
            <a:r>
              <a:rPr lang="zh-CN" dirty="0"/>
              <a:t>• 当前营销数据孤岛与人工决策瓶颈</a:t>
            </a:r>
          </a:p>
          <a:p>
            <a:r>
              <a:rPr lang="zh-CN" dirty="0"/>
              <a:t>• 四大模块如何协同形成闭环</a:t>
            </a:r>
          </a:p>
          <a:p>
            <a:r>
              <a:rPr lang="zh-CN" dirty="0"/>
              <a:t>• 已落地客户的ROI数据与案例</a:t>
            </a:r>
          </a:p>
          <a:p>
            <a:r>
              <a:rPr lang="zh-CN" dirty="0"/>
              <a:t>• 60天快速部署与风险控制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核心洞察</a:t>
            </a:r>
          </a:p>
          <a:p>
            <a:endParaRPr lang="en-US" dirty="0"/>
          </a:p>
          <a:p>
            <a:r>
              <a:rPr lang="zh-CN" dirty="0"/>
              <a:t>70%的营销预算浪费在数据断裂与人工决策延迟上。AI工作台让响应速度提升8倍，成本下降40%。</a:t>
            </a:r>
          </a:p>
          <a:p>
            <a:endParaRPr lang="en-US" dirty="0"/>
          </a:p>
          <a:p>
            <a:r>
              <a:rPr lang="zh-CN" dirty="0"/>
              <a:t>• 传统营销：人工整合数据→滞后分析→被动调整</a:t>
            </a:r>
          </a:p>
          <a:p>
            <a:r>
              <a:rPr lang="zh-CN" dirty="0"/>
              <a:t>• AI工作台：实时采集→自动洞察→即时执行</a:t>
            </a:r>
          </a:p>
          <a:p>
            <a:r>
              <a:rPr lang="zh-CN" dirty="0"/>
              <a:t>• 当前事实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方案对比</a:t>
            </a:r>
          </a:p>
          <a:p>
            <a:endParaRPr lang="en-US" dirty="0"/>
          </a:p>
          <a:p>
            <a:r>
              <a:rPr lang="zh-CN" dirty="0"/>
              <a:t>对比关键变量、参与方立场或不同路径下的影响差异。</a:t>
            </a:r>
          </a:p>
          <a:p>
            <a:endParaRPr lang="en-US" dirty="0"/>
          </a:p>
          <a:p>
            <a:r>
              <a:rPr lang="zh-CN" dirty="0"/>
              <a:t>• 多系统数据手动导出Excel，跨平台标签体系无法互通，分析报告T+2天才能产出</a:t>
            </a:r>
          </a:p>
          <a:p>
            <a:r>
              <a:rPr lang="zh-CN" dirty="0"/>
              <a:t>• 全域数据自动归集，AI标签自动更新，洞察推送实时触达，执行动作自动触发</a:t>
            </a:r>
          </a:p>
          <a:p>
            <a:r>
              <a:rPr lang="zh-CN" dirty="0"/>
              <a:t>• 活动调整周期：从3天→4小时；受众触达精准度：+58%</a:t>
            </a:r>
          </a:p>
          <a:p>
            <a:r>
              <a:rPr lang="zh-CN" dirty="0"/>
              <a:t>• 6个月回本周期，年度营销效率提升2.3倍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客户实证</a:t>
            </a:r>
          </a:p>
          <a:p>
            <a:endParaRPr lang="en-US" dirty="0"/>
          </a:p>
          <a:p>
            <a:r>
              <a:rPr lang="zh-CN" dirty="0"/>
              <a:t>补充最值得引用的证据、事实锚点与支持判断。</a:t>
            </a:r>
          </a:p>
          <a:p>
            <a:endParaRPr lang="en-US" dirty="0"/>
          </a:p>
          <a:p>
            <a:r>
              <a:rPr lang="zh-CN" dirty="0"/>
              <a:t>• 接入AI工作台4个月：大促转化率提升34%，客服人力节省45%，会员复购周期缩短12天</a:t>
            </a:r>
          </a:p>
          <a:p>
            <a:r>
              <a:rPr lang="zh-CN" dirty="0"/>
              <a:t>• 私域运营自动化后：用户活跃度提升2.1倍，线索转化成本下降28%，内容生产成本降低60%</a:t>
            </a:r>
          </a:p>
          <a:p>
            <a:r>
              <a:rPr lang="zh-CN" dirty="0"/>
              <a:t>• 门店营销数字化：区域活动上线时间从2周→3天，促销ROI预测准确率达89%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核心指标</a:t>
            </a:r>
          </a:p>
          <a:p>
            <a:endParaRPr lang="en-US" dirty="0"/>
          </a:p>
          <a:p>
            <a:r>
              <a:rPr lang="zh-CN" dirty="0"/>
              <a:t>提炼会直接影响决策的关键数字与压力指标。</a:t>
            </a:r>
          </a:p>
          <a:p>
            <a:endParaRPr lang="en-US" dirty="0"/>
          </a:p>
          <a:p>
            <a:r>
              <a:rPr lang="zh-CN" dirty="0"/>
              <a:t>• 响应速度</a:t>
            </a:r>
          </a:p>
          <a:p>
            <a:r>
              <a:rPr lang="zh-CN" dirty="0"/>
              <a:t>• 营销成本</a:t>
            </a:r>
          </a:p>
          <a:p>
            <a:r>
              <a:rPr lang="zh-CN" dirty="0"/>
              <a:t>• 预测准确率</a:t>
            </a:r>
          </a:p>
          <a:p>
            <a:r>
              <a:rPr lang="zh-CN" dirty="0"/>
              <a:t>• 回本周期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能力架构</a:t>
            </a:r>
          </a:p>
          <a:p>
            <a:endParaRPr lang="en-US" dirty="0"/>
          </a:p>
          <a:p>
            <a:r>
              <a:rPr lang="zh-CN" dirty="0"/>
              <a:t>把影响链条压缩成一眼能看懂的扩散结构或图示。</a:t>
            </a:r>
          </a:p>
          <a:p>
            <a:endParaRPr lang="en-US" dirty="0"/>
          </a:p>
          <a:p>
            <a:r>
              <a:rPr lang="zh-CN" dirty="0"/>
              <a:t>• 全域数据源50+，自动清洗与标签化</a:t>
            </a:r>
          </a:p>
          <a:p>
            <a:r>
              <a:rPr lang="zh-CN" dirty="0"/>
              <a:t>• 实时洞察+预测模型+归因引擎</a:t>
            </a:r>
          </a:p>
          <a:p>
            <a:r>
              <a:rPr lang="zh-CN" dirty="0"/>
              <a:t>• 多渠道推送+智能素材生成+A/B自动决策</a:t>
            </a:r>
          </a:p>
          <a:p>
            <a:r>
              <a:rPr lang="zh-CN" dirty="0"/>
              <a:t>• 全链路归因+ROI看板+异常预警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行动路径</a:t>
            </a:r>
          </a:p>
          <a:p>
            <a:endParaRPr lang="en-US" dirty="0"/>
          </a:p>
          <a:p>
            <a:r>
              <a:rPr lang="zh-CN" dirty="0"/>
              <a:t>以收束页形式给出接下来最值得执行或持续观察的动作。</a:t>
            </a:r>
          </a:p>
          <a:p>
            <a:endParaRPr lang="en-US" dirty="0"/>
          </a:p>
          <a:p>
            <a:r>
              <a:rPr lang="zh-CN" dirty="0"/>
              <a:t>• 需求对齐+数据审计，确认接入范围</a:t>
            </a:r>
          </a:p>
          <a:p>
            <a:r>
              <a:rPr lang="zh-CN" dirty="0"/>
              <a:t>• 系统对接+标签体系搭建，完成数据贯通</a:t>
            </a:r>
          </a:p>
          <a:p>
            <a:r>
              <a:rPr lang="zh-CN" dirty="0"/>
              <a:t>• AI模型调优+自动化流程上线，开始小范围验证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90500" y="1333500"/>
              <a:ext cx="762000" cy="7620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" y="1857375"/>
              <a:ext cx="476250" cy="47625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209550" y="2305050"/>
              <a:ext cx="342900" cy="3429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477500" y="0"/>
              <a:ext cx="1714500" cy="698500"/>
            </a:xfrm>
            <a:custGeom>
              <a:avLst/>
              <a:gdLst/>
              <a:ahLst/>
              <a:cxnLst/>
              <a:rect l="l" t="t" r="r" b="b"/>
              <a:pathLst>
                <a:path w="1714500" h="698500">
                  <a:moveTo>
                    <a:pt x="0" y="571500"/>
                  </a:moveTo>
                  <a:cubicBezTo>
                    <a:pt x="317500" y="444500"/>
                    <a:pt x="635000" y="444500"/>
                    <a:pt x="952500" y="571500"/>
                  </a:cubicBezTo>
                  <a:cubicBezTo>
                    <a:pt x="1270000" y="698500"/>
                    <a:pt x="1524000" y="698500"/>
                    <a:pt x="1714500" y="571500"/>
                  </a:cubicBezTo>
                  <a:lnTo>
                    <a:pt x="1714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0953750" y="666750"/>
              <a:ext cx="1238250" cy="381000"/>
            </a:xfrm>
            <a:custGeom>
              <a:avLst/>
              <a:gdLst/>
              <a:ahLst/>
              <a:cxnLst/>
              <a:rect l="l" t="t" r="r" b="b"/>
              <a:pathLst>
                <a:path w="1238250" h="381000">
                  <a:moveTo>
                    <a:pt x="0" y="285750"/>
                  </a:moveTo>
                  <a:cubicBezTo>
                    <a:pt x="317500" y="158750"/>
                    <a:pt x="635000" y="158750"/>
                    <a:pt x="952500" y="285750"/>
                  </a:cubicBezTo>
                  <a:cubicBezTo>
                    <a:pt x="1143000" y="381000"/>
                    <a:pt x="1238250" y="381000"/>
                    <a:pt x="1238250" y="285750"/>
                  </a:cubicBezTo>
                  <a:lnTo>
                    <a:pt x="1238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11239500" y="5524500"/>
              <a:ext cx="952500" cy="1333500"/>
            </a:xfrm>
            <a:custGeom>
              <a:avLst/>
              <a:gdLst/>
              <a:ahLst/>
              <a:cxnLst/>
              <a:rect l="l" t="t" r="r" b="b"/>
              <a:pathLst>
                <a:path w="952500" h="1333500">
                  <a:moveTo>
                    <a:pt x="952500" y="0"/>
                  </a:moveTo>
                  <a:lnTo>
                    <a:pt x="0" y="1333500"/>
                  </a:lnTo>
                  <a:lnTo>
                    <a:pt x="952500" y="1333500"/>
                  </a:lnTo>
                  <a:close/>
                </a:path>
              </a:pathLst>
            </a:custGeom>
            <a:solidFill>
              <a:schemeClr val="accent3"/>
            </a:solidFill>
            <a:ln w="28575">
              <a:solidFill>
                <a:schemeClr val="accent4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1430000" y="6096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lnTo>
                    <a:pt x="0" y="762000"/>
                  </a:lnTo>
                  <a:lnTo>
                    <a:pt x="762000" y="7620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85800" y="5448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90600" y="56578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23875" y="5810250"/>
              <a:ext cx="190500" cy="190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266825" y="6029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04875" y="62388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0" y="67818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48000" y="67818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953000" y="67818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2286000" y="1524000"/>
            <a:ext cx="8953500" cy="3943350"/>
            <a:chOff x="2286000" y="1524000"/>
            <a:chExt cx="8953500" cy="3943350"/>
          </a:xfrm>
        </p:grpSpPr>
        <p:sp>
          <p:nvSpPr>
            <p:cNvPr id="19" name="Freeform 19"/>
            <p:cNvSpPr/>
            <p:nvPr/>
          </p:nvSpPr>
          <p:spPr>
            <a:xfrm>
              <a:off x="4191000" y="1524000"/>
              <a:ext cx="3810000" cy="476250"/>
            </a:xfrm>
            <a:custGeom>
              <a:avLst/>
              <a:gdLst/>
              <a:ahLst/>
              <a:cxnLst/>
              <a:rect l="l" t="t" r="r" b="b"/>
              <a:pathLst>
                <a:path w="3810000" h="476250">
                  <a:moveTo>
                    <a:pt x="238125" y="0"/>
                  </a:moveTo>
                  <a:lnTo>
                    <a:pt x="3571875" y="0"/>
                  </a:lnTo>
                  <a:cubicBezTo>
                    <a:pt x="3703388" y="0"/>
                    <a:pt x="3810000" y="106612"/>
                    <a:pt x="3810000" y="238125"/>
                  </a:cubicBezTo>
                  <a:lnTo>
                    <a:pt x="3810000" y="238125"/>
                  </a:lnTo>
                  <a:cubicBezTo>
                    <a:pt x="3810000" y="369638"/>
                    <a:pt x="3703388" y="476250"/>
                    <a:pt x="3571875" y="476250"/>
                  </a:cubicBezTo>
                  <a:lnTo>
                    <a:pt x="238125" y="476250"/>
                  </a:lnTo>
                  <a:cubicBezTo>
                    <a:pt x="106612" y="476250"/>
                    <a:pt x="0" y="369638"/>
                    <a:pt x="0" y="238125"/>
                  </a:cubicBez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96184" y="1669732"/>
              <a:ext cx="1199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PLAYMODE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65694" y="2907030"/>
              <a:ext cx="606061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spc="3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238500" y="3810000"/>
              <a:ext cx="5715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00500" y="3924300"/>
              <a:ext cx="419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65380" y="4345305"/>
              <a:ext cx="56612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面向企业管理层的一站式智能营销解决方案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2286000" y="5048250"/>
              <a:ext cx="7429500" cy="419100"/>
              <a:chOff x="2286000" y="5048250"/>
              <a:chExt cx="7429500" cy="4191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2286000" y="5048250"/>
                <a:ext cx="1714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419100">
                    <a:moveTo>
                      <a:pt x="76200" y="0"/>
                    </a:moveTo>
                    <a:lnTo>
                      <a:pt x="1638300" y="0"/>
                    </a:lnTo>
                    <a:cubicBezTo>
                      <a:pt x="1680384" y="0"/>
                      <a:pt x="1714500" y="34116"/>
                      <a:pt x="1714500" y="76200"/>
                    </a:cubicBezTo>
                    <a:lnTo>
                      <a:pt x="1714500" y="342900"/>
                    </a:lnTo>
                    <a:cubicBezTo>
                      <a:pt x="1714500" y="384984"/>
                      <a:pt x="1680384" y="419100"/>
                      <a:pt x="1638300" y="419100"/>
                    </a:cubicBezTo>
                    <a:lnTo>
                      <a:pt x="76200" y="419100"/>
                    </a:lnTo>
                    <a:cubicBezTo>
                      <a:pt x="34116" y="419100"/>
                      <a:pt x="0" y="384984"/>
                      <a:pt x="0" y="3429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814066" y="5185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4191000" y="5048250"/>
                <a:ext cx="1714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419100">
                    <a:moveTo>
                      <a:pt x="76200" y="0"/>
                    </a:moveTo>
                    <a:lnTo>
                      <a:pt x="1638300" y="0"/>
                    </a:lnTo>
                    <a:cubicBezTo>
                      <a:pt x="1680384" y="0"/>
                      <a:pt x="1714500" y="34116"/>
                      <a:pt x="1714500" y="76200"/>
                    </a:cubicBezTo>
                    <a:lnTo>
                      <a:pt x="1714500" y="342900"/>
                    </a:lnTo>
                    <a:cubicBezTo>
                      <a:pt x="1714500" y="384984"/>
                      <a:pt x="1680384" y="419100"/>
                      <a:pt x="1638300" y="419100"/>
                    </a:cubicBezTo>
                    <a:lnTo>
                      <a:pt x="76200" y="419100"/>
                    </a:lnTo>
                    <a:cubicBezTo>
                      <a:pt x="34116" y="419100"/>
                      <a:pt x="0" y="384984"/>
                      <a:pt x="0" y="3429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798924" y="5185410"/>
                <a:ext cx="4986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AI分析</a:t>
                </a: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096000" y="5048250"/>
                <a:ext cx="1714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419100">
                    <a:moveTo>
                      <a:pt x="76200" y="0"/>
                    </a:moveTo>
                    <a:lnTo>
                      <a:pt x="1638300" y="0"/>
                    </a:lnTo>
                    <a:cubicBezTo>
                      <a:pt x="1680384" y="0"/>
                      <a:pt x="1714500" y="34116"/>
                      <a:pt x="1714500" y="76200"/>
                    </a:cubicBezTo>
                    <a:lnTo>
                      <a:pt x="1714500" y="342900"/>
                    </a:lnTo>
                    <a:cubicBezTo>
                      <a:pt x="1714500" y="384984"/>
                      <a:pt x="1680384" y="419100"/>
                      <a:pt x="1638300" y="419100"/>
                    </a:cubicBezTo>
                    <a:lnTo>
                      <a:pt x="76200" y="419100"/>
                    </a:lnTo>
                    <a:cubicBezTo>
                      <a:pt x="34116" y="419100"/>
                      <a:pt x="0" y="384984"/>
                      <a:pt x="0" y="3429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543294" y="51854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8001000" y="5048250"/>
                <a:ext cx="1714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419100">
                    <a:moveTo>
                      <a:pt x="76200" y="0"/>
                    </a:moveTo>
                    <a:lnTo>
                      <a:pt x="1638300" y="0"/>
                    </a:lnTo>
                    <a:cubicBezTo>
                      <a:pt x="1680384" y="0"/>
                      <a:pt x="1714500" y="34116"/>
                      <a:pt x="1714500" y="76200"/>
                    </a:cubicBezTo>
                    <a:lnTo>
                      <a:pt x="1714500" y="342900"/>
                    </a:lnTo>
                    <a:cubicBezTo>
                      <a:pt x="1714500" y="384984"/>
                      <a:pt x="1680384" y="419100"/>
                      <a:pt x="1638300" y="419100"/>
                    </a:cubicBezTo>
                    <a:lnTo>
                      <a:pt x="76200" y="419100"/>
                    </a:lnTo>
                    <a:cubicBezTo>
                      <a:pt x="34116" y="419100"/>
                      <a:pt x="0" y="384984"/>
                      <a:pt x="0" y="3429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529066" y="5185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9525000" y="2857500"/>
              <a:ext cx="1714500" cy="1714500"/>
              <a:chOff x="9525000" y="2857500"/>
              <a:chExt cx="1714500" cy="1714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525000" y="2857500"/>
                <a:ext cx="17145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1714500">
                    <a:moveTo>
                      <a:pt x="114300" y="0"/>
                    </a:moveTo>
                    <a:lnTo>
                      <a:pt x="1600200" y="0"/>
                    </a:lnTo>
                    <a:cubicBezTo>
                      <a:pt x="1663326" y="0"/>
                      <a:pt x="1714500" y="51174"/>
                      <a:pt x="1714500" y="114300"/>
                    </a:cubicBezTo>
                    <a:lnTo>
                      <a:pt x="1714500" y="1600200"/>
                    </a:lnTo>
                    <a:cubicBezTo>
                      <a:pt x="1714500" y="1663326"/>
                      <a:pt x="1663326" y="1714500"/>
                      <a:pt x="1600200" y="1714500"/>
                    </a:cubicBezTo>
                    <a:lnTo>
                      <a:pt x="114300" y="1714500"/>
                    </a:lnTo>
                    <a:cubicBezTo>
                      <a:pt x="51174" y="1714500"/>
                      <a:pt x="0" y="1663326"/>
                      <a:pt x="0" y="1600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5">
                  <a:alpha val="20000"/>
                </a:schemeClr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10001250" y="3143250"/>
                <a:ext cx="762000" cy="762000"/>
              </a:xfrm>
              <a:prstGeom prst="ellipse">
                <a:avLst/>
              </a:prstGeom>
              <a:solidFill>
                <a:schemeClr val="accent5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239375" y="342900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85750" y="0"/>
                    </a:lnTo>
                  </a:path>
                </a:pathLst>
              </a:custGeom>
              <a:noFill/>
              <a:ln w="38100" cap="rnd">
                <a:solidFill>
                  <a:schemeClr val="accent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080079" y="40776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智能驱动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135172" y="42843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数据决策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62356" y="6282690"/>
            <a:ext cx="10682478" cy="352044"/>
            <a:chOff x="562356" y="6282690"/>
            <a:chExt cx="10682478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562356" y="62826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61424" y="6363652"/>
              <a:ext cx="1683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企业AI营销工作台 © 2024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495300" y="476250"/>
            <a:ext cx="1981200" cy="492125"/>
            <a:chOff x="495300" y="476250"/>
            <a:chExt cx="1981200" cy="492125"/>
          </a:xfrm>
        </p:grpSpPr>
        <p:grpSp>
          <p:nvGrpSpPr>
            <p:cNvPr id="6" name="Group 6"/>
            <p:cNvGrpSpPr/>
            <p:nvPr/>
          </p:nvGrpSpPr>
          <p:grpSpPr>
            <a:xfrm>
              <a:off x="495300" y="476250"/>
              <a:ext cx="495300" cy="323850"/>
              <a:chOff x="495300" y="476250"/>
              <a:chExt cx="495300" cy="32385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495300" y="495300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Ellipse 3"/>
              <p:cNvSpPr/>
              <p:nvPr/>
            </p:nvSpPr>
            <p:spPr>
              <a:xfrm>
                <a:off x="762000" y="476250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657225" y="6858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914400" y="609600"/>
                <a:ext cx="76200" cy="762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</p:grpSp>
        <p:sp>
          <p:nvSpPr>
            <p:cNvPr id="7" name="Rectangle 7"/>
            <p:cNvSpPr/>
            <p:nvPr/>
          </p:nvSpPr>
          <p:spPr>
            <a:xfrm>
              <a:off x="571500" y="904875"/>
              <a:ext cx="1143000" cy="3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714500" y="841375"/>
              <a:ext cx="762000" cy="127000"/>
            </a:xfrm>
            <a:custGeom>
              <a:avLst/>
              <a:gdLst/>
              <a:ahLst/>
              <a:cxnLst/>
              <a:rect l="l" t="t" r="r" b="b"/>
              <a:pathLst>
                <a:path w="762000" h="127000">
                  <a:moveTo>
                    <a:pt x="0" y="63500"/>
                  </a:moveTo>
                  <a:cubicBezTo>
                    <a:pt x="127000" y="0"/>
                    <a:pt x="254000" y="0"/>
                    <a:pt x="381000" y="63500"/>
                  </a:cubicBezTo>
                  <a:cubicBezTo>
                    <a:pt x="508000" y="127000"/>
                    <a:pt x="635000" y="127000"/>
                    <a:pt x="762000" y="6350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553212" y="952500"/>
            <a:ext cx="10686288" cy="5667375"/>
            <a:chOff x="553212" y="952500"/>
            <a:chExt cx="10686288" cy="5667375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1315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出场顺序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53212" y="1611630"/>
              <a:ext cx="2072030" cy="704088"/>
              <a:chOff x="553212" y="1611630"/>
              <a:chExt cx="2072030" cy="70408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53212" y="1611630"/>
                <a:ext cx="2072030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决策议程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71500" y="2143125"/>
                <a:ext cx="1905000" cy="57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64642" y="242601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本页概览核心议题：现状、风险、全球影响与后续观察重点。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71500" y="2952750"/>
              <a:ext cx="4953000" cy="3667125"/>
              <a:chOff x="571500" y="2952750"/>
              <a:chExt cx="4953000" cy="3667125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571500" y="2952750"/>
                <a:ext cx="4953000" cy="619125"/>
                <a:chOff x="571500" y="2952750"/>
                <a:chExt cx="4953000" cy="619125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571500" y="2952750"/>
                  <a:ext cx="4953000" cy="619125"/>
                </a:xfrm>
                <a:prstGeom prst="rect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51332" y="3126105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01</a:t>
                  </a:r>
                </a:p>
              </p:txBody>
            </p:sp>
            <p:sp>
              <p:nvSpPr>
                <p:cNvPr id="17" name="Line 17"/>
                <p:cNvSpPr/>
                <p:nvPr/>
              </p:nvSpPr>
              <p:spPr>
                <a:xfrm>
                  <a:off x="1238250" y="3048000"/>
                  <a:ext cx="95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5">
                      <a:moveTo>
                        <a:pt x="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421892" y="3207068"/>
                  <a:ext cx="273977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当前营销数据孤岛与人工决策瓶颈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571500" y="3714750"/>
                <a:ext cx="4953000" cy="619125"/>
                <a:chOff x="571500" y="3714750"/>
                <a:chExt cx="4953000" cy="619125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571500" y="3714750"/>
                  <a:ext cx="4953000" cy="619125"/>
                </a:xfrm>
                <a:prstGeom prst="rect">
                  <a:avLst/>
                </a:prstGeom>
                <a:solidFill>
                  <a:schemeClr val="lt1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51332" y="3888105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02</a:t>
                  </a:r>
                </a:p>
              </p:txBody>
            </p:sp>
            <p:sp>
              <p:nvSpPr>
                <p:cNvPr id="22" name="Line 22"/>
                <p:cNvSpPr/>
                <p:nvPr/>
              </p:nvSpPr>
              <p:spPr>
                <a:xfrm>
                  <a:off x="1238250" y="3810000"/>
                  <a:ext cx="95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5">
                      <a:moveTo>
                        <a:pt x="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421892" y="3969068"/>
                  <a:ext cx="219456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四大模块如何协同形成闭环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571500" y="4476750"/>
                <a:ext cx="4953000" cy="619125"/>
                <a:chOff x="571500" y="4476750"/>
                <a:chExt cx="4953000" cy="619125"/>
              </a:xfrm>
            </p:grpSpPr>
            <p:sp>
              <p:nvSpPr>
                <p:cNvPr id="25" name="Rectangle 25"/>
                <p:cNvSpPr/>
                <p:nvPr/>
              </p:nvSpPr>
              <p:spPr>
                <a:xfrm>
                  <a:off x="571500" y="4476750"/>
                  <a:ext cx="4953000" cy="619125"/>
                </a:xfrm>
                <a:prstGeom prst="rect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51332" y="4650105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3"/>
                      </a:solidFill>
                      <a:latin typeface="+mj-lt"/>
                      <a:ea typeface="+mj-ea"/>
                      <a:cs typeface="+mj-cs"/>
                    </a:rPr>
                    <a:t>03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1238250" y="4572000"/>
                  <a:ext cx="95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5">
                      <a:moveTo>
                        <a:pt x="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421892" y="4731068"/>
                  <a:ext cx="243321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已落地客户的ROI数据与案例</a:t>
                  </a: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571500" y="5238750"/>
                <a:ext cx="4953000" cy="619125"/>
                <a:chOff x="571500" y="5238750"/>
                <a:chExt cx="4953000" cy="619125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571500" y="5238750"/>
                  <a:ext cx="4953000" cy="619125"/>
                </a:xfrm>
                <a:prstGeom prst="rect">
                  <a:avLst/>
                </a:prstGeom>
                <a:solidFill>
                  <a:schemeClr val="lt1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51332" y="5412105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04</a:t>
                  </a:r>
                </a:p>
              </p:txBody>
            </p:sp>
            <p:sp>
              <p:nvSpPr>
                <p:cNvPr id="32" name="Line 32"/>
                <p:cNvSpPr/>
                <p:nvPr/>
              </p:nvSpPr>
              <p:spPr>
                <a:xfrm>
                  <a:off x="1238250" y="5334000"/>
                  <a:ext cx="95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5">
                      <a:moveTo>
                        <a:pt x="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421892" y="5493068"/>
                  <a:ext cx="203099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60天快速部署与风险控制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571500" y="6000750"/>
                <a:ext cx="4953000" cy="619125"/>
                <a:chOff x="571500" y="6000750"/>
                <a:chExt cx="4953000" cy="619125"/>
              </a:xfrm>
            </p:grpSpPr>
            <p:sp>
              <p:nvSpPr>
                <p:cNvPr id="35" name="Rectangle 35"/>
                <p:cNvSpPr/>
                <p:nvPr/>
              </p:nvSpPr>
              <p:spPr>
                <a:xfrm>
                  <a:off x="571500" y="6000750"/>
                  <a:ext cx="4953000" cy="619125"/>
                </a:xfrm>
                <a:prstGeom prst="rect">
                  <a:avLst/>
                </a:prstGeom>
                <a:solidFill>
                  <a:schemeClr val="lt2"/>
                </a:solidFill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51332" y="6174105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05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1238250" y="6096000"/>
                  <a:ext cx="9525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5">
                      <a:moveTo>
                        <a:pt x="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421892" y="6255068"/>
                  <a:ext cx="128587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业务现状与判断</a:t>
                  </a:r>
                </a:p>
              </p:txBody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6667500" y="952500"/>
              <a:ext cx="2998029" cy="5238750"/>
              <a:chOff x="6667500" y="952500"/>
              <a:chExt cx="2998029" cy="5238750"/>
            </a:xfrm>
          </p:grpSpPr>
          <p:sp>
            <p:nvSpPr>
              <p:cNvPr id="41" name="Polygon 41"/>
              <p:cNvSpPr/>
              <p:nvPr/>
            </p:nvSpPr>
            <p:spPr>
              <a:xfrm>
                <a:off x="6858000" y="952500"/>
                <a:ext cx="571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76250">
                    <a:moveTo>
                      <a:pt x="0" y="476250"/>
                    </a:moveTo>
                    <a:lnTo>
                      <a:pt x="571500" y="476250"/>
                    </a:lnTo>
                    <a:lnTo>
                      <a:pt x="2857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 rot="900000">
                <a:off x="7620000" y="1905000"/>
                <a:ext cx="762000" cy="762000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7715250" y="3429000"/>
                <a:ext cx="762000" cy="762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7858125" y="3571875"/>
                <a:ext cx="476250" cy="47625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72500" y="26670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190500"/>
                    </a:moveTo>
                    <a:lnTo>
                      <a:pt x="190500" y="0"/>
                    </a:lnTo>
                    <a:lnTo>
                      <a:pt x="381000" y="190500"/>
                    </a:lnTo>
                    <a:lnTo>
                      <a:pt x="190500" y="381000"/>
                    </a:lnTo>
                    <a:close/>
                  </a:path>
                </a:pathLst>
              </a:custGeom>
              <a:solidFill>
                <a:schemeClr val="accent5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 rot="-600000">
                <a:off x="9048750" y="4286250"/>
                <a:ext cx="571500" cy="571500"/>
              </a:xfrm>
              <a:prstGeom prst="rect">
                <a:avLst/>
              </a:prstGeom>
              <a:solidFill>
                <a:schemeClr val="accent6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6667500" y="4762500"/>
                <a:ext cx="1428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476250">
                    <a:moveTo>
                      <a:pt x="0" y="0"/>
                    </a:moveTo>
                    <a:lnTo>
                      <a:pt x="1428750" y="47625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  <a:prstDash val="lgDash"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7143750" y="5715000"/>
                <a:ext cx="1428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476250">
                    <a:moveTo>
                      <a:pt x="0" y="0"/>
                    </a:moveTo>
                    <a:lnTo>
                      <a:pt x="1428750" y="476250"/>
                    </a:lnTo>
                  </a:path>
                </a:pathLst>
              </a:custGeom>
              <a:noFill/>
              <a:ln w="19050">
                <a:solidFill>
                  <a:schemeClr val="dk2"/>
                </a:solidFill>
                <a:prstDash val="lgDash"/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5619750" y="2895600"/>
              <a:ext cx="952500" cy="3295650"/>
              <a:chOff x="5619750" y="2895600"/>
              <a:chExt cx="952500" cy="32956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842000" y="2952750"/>
                <a:ext cx="508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" h="3048000">
                    <a:moveTo>
                      <a:pt x="254000" y="0"/>
                    </a:moveTo>
                    <a:cubicBezTo>
                      <a:pt x="508000" y="508000"/>
                      <a:pt x="508000" y="1016000"/>
                      <a:pt x="254000" y="1524000"/>
                    </a:cubicBezTo>
                    <a:cubicBezTo>
                      <a:pt x="0" y="2032000"/>
                      <a:pt x="0" y="2540000"/>
                      <a:pt x="254000" y="3048000"/>
                    </a:cubicBezTo>
                  </a:path>
                </a:pathLst>
              </a:custGeom>
              <a:noFill/>
              <a:ln w="28575">
                <a:solidFill>
                  <a:schemeClr val="accent4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6038850" y="28956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6419850" y="36576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6038850" y="44196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5657850" y="5181600"/>
                <a:ext cx="114300" cy="114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6038850" y="594360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91250" y="295275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0"/>
                    </a:moveTo>
                    <a:lnTo>
                      <a:pt x="142875" y="95250"/>
                    </a:ln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29375" y="371475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142875" y="0"/>
                    </a:moveTo>
                    <a:lnTo>
                      <a:pt x="0" y="95250"/>
                    </a:lnTo>
                    <a:lnTo>
                      <a:pt x="142875" y="1905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91250" y="447675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0"/>
                    </a:moveTo>
                    <a:lnTo>
                      <a:pt x="142875" y="95250"/>
                    </a:ln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619750" y="523875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0"/>
                    </a:moveTo>
                    <a:lnTo>
                      <a:pt x="142875" y="95250"/>
                    </a:ln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191250" y="6000750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0" y="0"/>
                    </a:moveTo>
                    <a:lnTo>
                      <a:pt x="142875" y="95250"/>
                    </a:ln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6667500" y="2952750"/>
              <a:ext cx="4572000" cy="3191256"/>
              <a:chOff x="6667500" y="2952750"/>
              <a:chExt cx="4572000" cy="3191256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667500" y="2952750"/>
                <a:ext cx="4572000" cy="3048000"/>
              </a:xfrm>
              <a:prstGeom prst="rect">
                <a:avLst/>
              </a:pr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944868" y="3203258"/>
                <a:ext cx="15692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DECK OUTLINE</a:t>
                </a: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6953250" y="3524250"/>
                <a:ext cx="400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0" h="9525">
                    <a:moveTo>
                      <a:pt x="0" y="0"/>
                    </a:moveTo>
                    <a:lnTo>
                      <a:pt x="4000500" y="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6972300" y="3762375"/>
                <a:ext cx="1561490" cy="2381631"/>
                <a:chOff x="6972300" y="3762375"/>
                <a:chExt cx="1561490" cy="2381631"/>
              </a:xfrm>
            </p:grpSpPr>
            <p:grpSp>
              <p:nvGrpSpPr>
                <p:cNvPr id="67" name="Group 67"/>
                <p:cNvGrpSpPr/>
                <p:nvPr/>
              </p:nvGrpSpPr>
              <p:grpSpPr>
                <a:xfrm>
                  <a:off x="6991350" y="3762375"/>
                  <a:ext cx="1542440" cy="238506"/>
                  <a:chOff x="6991350" y="3762375"/>
                  <a:chExt cx="1542440" cy="238506"/>
                </a:xfrm>
              </p:grpSpPr>
              <p:sp>
                <p:nvSpPr>
                  <p:cNvPr id="65" name="Ellipse 65"/>
                  <p:cNvSpPr/>
                  <p:nvPr/>
                </p:nvSpPr>
                <p:spPr>
                  <a:xfrm>
                    <a:off x="6991350" y="3762375"/>
                    <a:ext cx="152400" cy="1524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7232904" y="3766185"/>
                    <a:ext cx="1300886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01 AI 营销工作台</a:t>
                    </a:r>
                  </a:p>
                </p:txBody>
              </p:sp>
            </p:grpSp>
            <p:grpSp>
              <p:nvGrpSpPr>
                <p:cNvPr id="70" name="Group 70"/>
                <p:cNvGrpSpPr/>
                <p:nvPr/>
              </p:nvGrpSpPr>
              <p:grpSpPr>
                <a:xfrm>
                  <a:off x="6991350" y="4191000"/>
                  <a:ext cx="1126084" cy="238506"/>
                  <a:chOff x="6991350" y="4191000"/>
                  <a:chExt cx="1126084" cy="238506"/>
                </a:xfrm>
              </p:grpSpPr>
              <p:sp>
                <p:nvSpPr>
                  <p:cNvPr id="68" name="Ellipse 68"/>
                  <p:cNvSpPr/>
                  <p:nvPr/>
                </p:nvSpPr>
                <p:spPr>
                  <a:xfrm>
                    <a:off x="6991350" y="4191000"/>
                    <a:ext cx="152400" cy="1524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69" name="TextBox 69"/>
                  <p:cNvSpPr txBox="1"/>
                  <p:nvPr/>
                </p:nvSpPr>
                <p:spPr>
                  <a:xfrm>
                    <a:off x="7232904" y="4194810"/>
                    <a:ext cx="884530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02 决策议程</a:t>
                    </a:r>
                  </a:p>
                </p:txBody>
              </p:sp>
            </p:grpSp>
            <p:grpSp>
              <p:nvGrpSpPr>
                <p:cNvPr id="73" name="Group 73"/>
                <p:cNvGrpSpPr/>
                <p:nvPr/>
              </p:nvGrpSpPr>
              <p:grpSpPr>
                <a:xfrm>
                  <a:off x="6991350" y="4619625"/>
                  <a:ext cx="1126084" cy="238506"/>
                  <a:chOff x="6991350" y="4619625"/>
                  <a:chExt cx="1126084" cy="238506"/>
                </a:xfrm>
              </p:grpSpPr>
              <p:sp>
                <p:nvSpPr>
                  <p:cNvPr id="71" name="Ellipse 71"/>
                  <p:cNvSpPr/>
                  <p:nvPr/>
                </p:nvSpPr>
                <p:spPr>
                  <a:xfrm>
                    <a:off x="6991350" y="4619625"/>
                    <a:ext cx="152400" cy="152400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</p:sp>
              <p:sp>
                <p:nvSpPr>
                  <p:cNvPr id="72" name="TextBox 72"/>
                  <p:cNvSpPr txBox="1"/>
                  <p:nvPr/>
                </p:nvSpPr>
                <p:spPr>
                  <a:xfrm>
                    <a:off x="7232904" y="4623435"/>
                    <a:ext cx="884530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03 核心洞察</a:t>
                    </a:r>
                  </a:p>
                </p:txBody>
              </p:sp>
            </p:grpSp>
            <p:grpSp>
              <p:nvGrpSpPr>
                <p:cNvPr id="76" name="Group 76"/>
                <p:cNvGrpSpPr/>
                <p:nvPr/>
              </p:nvGrpSpPr>
              <p:grpSpPr>
                <a:xfrm>
                  <a:off x="6991350" y="5048250"/>
                  <a:ext cx="1126084" cy="238506"/>
                  <a:chOff x="6991350" y="5048250"/>
                  <a:chExt cx="1126084" cy="238506"/>
                </a:xfrm>
              </p:grpSpPr>
              <p:sp>
                <p:nvSpPr>
                  <p:cNvPr id="74" name="Ellipse 74"/>
                  <p:cNvSpPr/>
                  <p:nvPr/>
                </p:nvSpPr>
                <p:spPr>
                  <a:xfrm>
                    <a:off x="6991350" y="5048250"/>
                    <a:ext cx="152400" cy="1524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</p:sp>
              <p:sp>
                <p:nvSpPr>
                  <p:cNvPr id="75" name="TextBox 75"/>
                  <p:cNvSpPr txBox="1"/>
                  <p:nvPr/>
                </p:nvSpPr>
                <p:spPr>
                  <a:xfrm>
                    <a:off x="7232904" y="5052060"/>
                    <a:ext cx="884530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04 方案对比</a:t>
                    </a:r>
                  </a:p>
                </p:txBody>
              </p:sp>
            </p:grpSp>
            <p:grpSp>
              <p:nvGrpSpPr>
                <p:cNvPr id="79" name="Group 79"/>
                <p:cNvGrpSpPr/>
                <p:nvPr/>
              </p:nvGrpSpPr>
              <p:grpSpPr>
                <a:xfrm>
                  <a:off x="6991350" y="5476875"/>
                  <a:ext cx="1126084" cy="238506"/>
                  <a:chOff x="6991350" y="5476875"/>
                  <a:chExt cx="1126084" cy="238506"/>
                </a:xfrm>
              </p:grpSpPr>
              <p:sp>
                <p:nvSpPr>
                  <p:cNvPr id="77" name="Ellipse 77"/>
                  <p:cNvSpPr/>
                  <p:nvPr/>
                </p:nvSpPr>
                <p:spPr>
                  <a:xfrm>
                    <a:off x="6991350" y="5476875"/>
                    <a:ext cx="152400" cy="1524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</p:sp>
              <p:sp>
                <p:nvSpPr>
                  <p:cNvPr id="78" name="TextBox 78"/>
                  <p:cNvSpPr txBox="1"/>
                  <p:nvPr/>
                </p:nvSpPr>
                <p:spPr>
                  <a:xfrm>
                    <a:off x="7232904" y="5480685"/>
                    <a:ext cx="884530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05 客户实证</a:t>
                    </a:r>
                  </a:p>
                </p:txBody>
              </p:sp>
            </p:grpSp>
            <p:grpSp>
              <p:nvGrpSpPr>
                <p:cNvPr id="82" name="Group 82"/>
                <p:cNvGrpSpPr/>
                <p:nvPr/>
              </p:nvGrpSpPr>
              <p:grpSpPr>
                <a:xfrm>
                  <a:off x="6972300" y="5909310"/>
                  <a:ext cx="1145134" cy="234696"/>
                  <a:chOff x="6972300" y="5909310"/>
                  <a:chExt cx="1145134" cy="234696"/>
                </a:xfrm>
              </p:grpSpPr>
              <p:sp>
                <p:nvSpPr>
                  <p:cNvPr id="80" name="Rectangle 80"/>
                  <p:cNvSpPr/>
                  <p:nvPr/>
                </p:nvSpPr>
                <p:spPr>
                  <a:xfrm>
                    <a:off x="6972300" y="5924550"/>
                    <a:ext cx="152400" cy="152400"/>
                  </a:xfrm>
                  <a:prstGeom prst="rect">
                    <a:avLst/>
                  </a:prstGeom>
                  <a:noFill/>
                  <a:ln w="19050">
                    <a:solidFill>
                      <a:schemeClr val="dk2"/>
                    </a:solidFill>
                  </a:ln>
                </p:spPr>
              </p:sp>
              <p:sp>
                <p:nvSpPr>
                  <p:cNvPr id="81" name="TextBox 81"/>
                  <p:cNvSpPr txBox="1"/>
                  <p:nvPr/>
                </p:nvSpPr>
                <p:spPr>
                  <a:xfrm>
                    <a:off x="7232904" y="5909310"/>
                    <a:ext cx="884530" cy="2346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200" dirty="0">
                        <a:solidFill>
                          <a:schemeClr val="dk2"/>
                        </a:solidFill>
                        <a:latin typeface="+mn-lt"/>
                        <a:ea typeface="+mn-ea"/>
                        <a:cs typeface="+mn-cs"/>
                      </a:rPr>
                      <a:t>06 核心指标</a:t>
                    </a:r>
                  </a:p>
                </p:txBody>
              </p:sp>
            </p:grpSp>
          </p:grpSp>
          <p:sp>
            <p:nvSpPr>
              <p:cNvPr id="84" name="Rectangle 84"/>
              <p:cNvSpPr/>
              <p:nvPr/>
            </p:nvSpPr>
            <p:spPr>
              <a:xfrm>
                <a:off x="9048750" y="3762375"/>
                <a:ext cx="1905000" cy="333375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9234297" y="3876199"/>
                <a:ext cx="11715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下一页：核心洞察 →</a:t>
                </a:r>
              </a:p>
            </p:txBody>
          </p:sp>
        </p:grpSp>
      </p:grpSp>
      <p:grpSp>
        <p:nvGrpSpPr>
          <p:cNvPr id="94" name="Group 94"/>
          <p:cNvGrpSpPr/>
          <p:nvPr/>
        </p:nvGrpSpPr>
        <p:grpSpPr>
          <a:xfrm>
            <a:off x="566738" y="6048375"/>
            <a:ext cx="11053762" cy="714375"/>
            <a:chOff x="566738" y="6048375"/>
            <a:chExt cx="11053762" cy="714375"/>
          </a:xfrm>
        </p:grpSpPr>
        <p:sp>
          <p:nvSpPr>
            <p:cNvPr id="88" name="Line 88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11239500" y="6381750"/>
              <a:ext cx="381000" cy="381000"/>
              <a:chOff x="11239500" y="6381750"/>
              <a:chExt cx="381000" cy="381000"/>
            </a:xfrm>
          </p:grpSpPr>
          <p:sp>
            <p:nvSpPr>
              <p:cNvPr id="89" name="Rectangle 89"/>
              <p:cNvSpPr/>
              <p:nvPr/>
            </p:nvSpPr>
            <p:spPr>
              <a:xfrm>
                <a:off x="11239500" y="6381750"/>
                <a:ext cx="381000" cy="38100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11325539" y="64931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</p:grpSp>
        <p:sp>
          <p:nvSpPr>
            <p:cNvPr id="92" name="TextBox 92"/>
            <p:cNvSpPr txBox="1"/>
            <p:nvPr/>
          </p:nvSpPr>
          <p:spPr>
            <a:xfrm>
              <a:off x="566738" y="6494145"/>
              <a:ext cx="17121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营销工作台 · 企业管理层版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10477500" y="6048375"/>
              <a:ext cx="571500" cy="142875"/>
            </a:xfrm>
            <a:custGeom>
              <a:avLst/>
              <a:gdLst/>
              <a:ahLst/>
              <a:cxnLst/>
              <a:rect l="l" t="t" r="r" b="b"/>
              <a:pathLst>
                <a:path w="571500" h="142875">
                  <a:moveTo>
                    <a:pt x="0" y="142875"/>
                  </a:moveTo>
                  <a:lnTo>
                    <a:pt x="142875" y="0"/>
                  </a:lnTo>
                  <a:lnTo>
                    <a:pt x="285750" y="142875"/>
                  </a:lnTo>
                  <a:lnTo>
                    <a:pt x="428625" y="0"/>
                  </a:lnTo>
                  <a:lnTo>
                    <a:pt x="571500" y="14287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647700" y="10287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23925" y="8763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287125" y="1285875"/>
            <a:ext cx="285750" cy="2857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068050" y="1162050"/>
            <a:ext cx="152400" cy="152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81000"/>
            <a:ext cx="5715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142" y="5019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核心洞察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114300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52400" y="0"/>
                </a:moveTo>
                <a:lnTo>
                  <a:pt x="5372100" y="0"/>
                </a:lnTo>
                <a:cubicBezTo>
                  <a:pt x="5456268" y="0"/>
                  <a:pt x="5524500" y="68232"/>
                  <a:pt x="5524500" y="152400"/>
                </a:cubicBezTo>
                <a:lnTo>
                  <a:pt x="5524500" y="3848100"/>
                </a:lnTo>
                <a:cubicBezTo>
                  <a:pt x="5524500" y="3932268"/>
                  <a:pt x="5456268" y="4000500"/>
                  <a:pt x="5372100" y="4000500"/>
                </a:cubicBezTo>
                <a:lnTo>
                  <a:pt x="152400" y="4000500"/>
                </a:lnTo>
                <a:cubicBezTo>
                  <a:pt x="68232" y="4000500"/>
                  <a:pt x="0" y="3932268"/>
                  <a:pt x="0" y="3848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chemeClr val="lt2"/>
          </a:solidFill>
          <a:ln w="28575">
            <a:solidFill>
              <a:schemeClr val="accent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745704" y="1371600"/>
            <a:ext cx="3176092" cy="2305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70%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7938" y="3250882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营销预算浪费在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2630" y="35556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数据断裂与人工决策延迟上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50100" y="4426268"/>
            <a:ext cx="21672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— 当前营销困境的真实写照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77000" y="1143000"/>
            <a:ext cx="5143500" cy="1714500"/>
          </a:xfrm>
          <a:custGeom>
            <a:avLst/>
            <a:gdLst/>
            <a:ahLst/>
            <a:cxnLst/>
            <a:rect l="l" t="t" r="r" b="b"/>
            <a:pathLst>
              <a:path w="5143500" h="1714500">
                <a:moveTo>
                  <a:pt x="152400" y="0"/>
                </a:moveTo>
                <a:lnTo>
                  <a:pt x="4991100" y="0"/>
                </a:lnTo>
                <a:cubicBezTo>
                  <a:pt x="5075268" y="0"/>
                  <a:pt x="5143500" y="68232"/>
                  <a:pt x="5143500" y="152400"/>
                </a:cubicBezTo>
                <a:lnTo>
                  <a:pt x="5143500" y="1562100"/>
                </a:lnTo>
                <a:cubicBezTo>
                  <a:pt x="5143500" y="1646268"/>
                  <a:pt x="5075268" y="1714500"/>
                  <a:pt x="4991100" y="1714500"/>
                </a:cubicBezTo>
                <a:lnTo>
                  <a:pt x="152400" y="1714500"/>
                </a:lnTo>
                <a:cubicBezTo>
                  <a:pt x="68232" y="1714500"/>
                  <a:pt x="0" y="1646268"/>
                  <a:pt x="0" y="1562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chemeClr val="dk1"/>
          </a:solidFill>
          <a:ln w="28575">
            <a:solidFill>
              <a:schemeClr val="accent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447380" y="1537335"/>
            <a:ext cx="1202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spc="225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AI工作台效果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0950" y="1798320"/>
            <a:ext cx="45791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77784" y="2089785"/>
            <a:ext cx="409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13904" y="2585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响应速度提升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82200" y="1798320"/>
            <a:ext cx="877725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40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54284" y="2089785"/>
            <a:ext cx="3136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95154" y="2585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成本下降</a:t>
            </a:r>
          </a:p>
        </p:txBody>
      </p:sp>
      <p:sp>
        <p:nvSpPr>
          <p:cNvPr id="21" name="Freeform 21"/>
          <p:cNvSpPr/>
          <p:nvPr/>
        </p:nvSpPr>
        <p:spPr>
          <a:xfrm>
            <a:off x="6477000" y="3048000"/>
            <a:ext cx="2476500" cy="2095500"/>
          </a:xfrm>
          <a:custGeom>
            <a:avLst/>
            <a:gdLst/>
            <a:ahLst/>
            <a:cxnLst/>
            <a:rect l="l" t="t" r="r" b="b"/>
            <a:pathLst>
              <a:path w="2476500" h="209550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1981200"/>
                </a:lnTo>
                <a:cubicBezTo>
                  <a:pt x="2476500" y="2044326"/>
                  <a:pt x="2425326" y="2095500"/>
                  <a:pt x="23622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accent4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6477000" y="3048000"/>
            <a:ext cx="2476500" cy="381000"/>
          </a:xfrm>
          <a:custGeom>
            <a:avLst/>
            <a:gdLst/>
            <a:ahLst/>
            <a:cxnLst/>
            <a:rect l="l" t="t" r="r" b="b"/>
            <a:pathLst>
              <a:path w="2476500" h="38100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266700"/>
                </a:lnTo>
                <a:cubicBezTo>
                  <a:pt x="2476500" y="329826"/>
                  <a:pt x="2425326" y="381000"/>
                  <a:pt x="2362200" y="381000"/>
                </a:cubicBezTo>
                <a:lnTo>
                  <a:pt x="114300" y="381000"/>
                </a:lnTo>
                <a:cubicBezTo>
                  <a:pt x="51174" y="381000"/>
                  <a:pt x="0" y="329826"/>
                  <a:pt x="0" y="266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3286125"/>
            <a:ext cx="2476500" cy="1428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386066" y="31851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传统营销</a:t>
            </a:r>
          </a:p>
        </p:txBody>
      </p:sp>
      <p:sp>
        <p:nvSpPr>
          <p:cNvPr id="25" name="Line 25"/>
          <p:cNvSpPr/>
          <p:nvPr/>
        </p:nvSpPr>
        <p:spPr>
          <a:xfrm>
            <a:off x="7143750" y="3619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285863" y="36966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人工整合数据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4000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427214" y="4077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滞后分析</a:t>
            </a:r>
          </a:p>
        </p:txBody>
      </p:sp>
      <p:sp>
        <p:nvSpPr>
          <p:cNvPr id="29" name="Line 29"/>
          <p:cNvSpPr/>
          <p:nvPr/>
        </p:nvSpPr>
        <p:spPr>
          <a:xfrm>
            <a:off x="7143750" y="4381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27214" y="4458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被动调整</a:t>
            </a:r>
          </a:p>
        </p:txBody>
      </p:sp>
      <p:sp>
        <p:nvSpPr>
          <p:cNvPr id="31" name="Freeform 31"/>
          <p:cNvSpPr/>
          <p:nvPr/>
        </p:nvSpPr>
        <p:spPr>
          <a:xfrm>
            <a:off x="9144000" y="3048000"/>
            <a:ext cx="2476500" cy="2095500"/>
          </a:xfrm>
          <a:custGeom>
            <a:avLst/>
            <a:gdLst/>
            <a:ahLst/>
            <a:cxnLst/>
            <a:rect l="l" t="t" r="r" b="b"/>
            <a:pathLst>
              <a:path w="2476500" h="209550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1981200"/>
                </a:lnTo>
                <a:cubicBezTo>
                  <a:pt x="2476500" y="2044326"/>
                  <a:pt x="2425326" y="2095500"/>
                  <a:pt x="23622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accent4"/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9144000" y="3048000"/>
            <a:ext cx="2476500" cy="381000"/>
          </a:xfrm>
          <a:custGeom>
            <a:avLst/>
            <a:gdLst/>
            <a:ahLst/>
            <a:cxnLst/>
            <a:rect l="l" t="t" r="r" b="b"/>
            <a:pathLst>
              <a:path w="2476500" h="38100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266700"/>
                </a:lnTo>
                <a:cubicBezTo>
                  <a:pt x="2476500" y="329826"/>
                  <a:pt x="2425326" y="381000"/>
                  <a:pt x="2362200" y="381000"/>
                </a:cubicBezTo>
                <a:lnTo>
                  <a:pt x="114300" y="381000"/>
                </a:lnTo>
                <a:cubicBezTo>
                  <a:pt x="51174" y="381000"/>
                  <a:pt x="0" y="329826"/>
                  <a:pt x="0" y="266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144000" y="3286125"/>
            <a:ext cx="2476500" cy="14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047580" y="3185160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AI工作台</a:t>
            </a:r>
          </a:p>
        </p:txBody>
      </p:sp>
      <p:sp>
        <p:nvSpPr>
          <p:cNvPr id="35" name="Line 35"/>
          <p:cNvSpPr/>
          <p:nvPr/>
        </p:nvSpPr>
        <p:spPr>
          <a:xfrm>
            <a:off x="9810750" y="3619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094214" y="3696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实时采集</a:t>
            </a:r>
          </a:p>
        </p:txBody>
      </p:sp>
      <p:sp>
        <p:nvSpPr>
          <p:cNvPr id="37" name="Line 37"/>
          <p:cNvSpPr/>
          <p:nvPr/>
        </p:nvSpPr>
        <p:spPr>
          <a:xfrm>
            <a:off x="9810750" y="4000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094214" y="4077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自动洞察</a:t>
            </a:r>
          </a:p>
        </p:txBody>
      </p:sp>
      <p:sp>
        <p:nvSpPr>
          <p:cNvPr id="39" name="Line 39"/>
          <p:cNvSpPr/>
          <p:nvPr/>
        </p:nvSpPr>
        <p:spPr>
          <a:xfrm>
            <a:off x="9810750" y="43815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094214" y="4458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即时执行</a:t>
            </a:r>
          </a:p>
        </p:txBody>
      </p:sp>
      <p:sp>
        <p:nvSpPr>
          <p:cNvPr id="41" name="Freeform 41"/>
          <p:cNvSpPr/>
          <p:nvPr/>
        </p:nvSpPr>
        <p:spPr>
          <a:xfrm>
            <a:off x="0" y="6350000"/>
            <a:ext cx="12192000" cy="508000"/>
          </a:xfrm>
          <a:custGeom>
            <a:avLst/>
            <a:gdLst/>
            <a:ahLst/>
            <a:cxnLst/>
            <a:rect l="l" t="t" r="r" b="b"/>
            <a:pathLst>
              <a:path w="12192000" h="508000">
                <a:moveTo>
                  <a:pt x="0" y="127000"/>
                </a:moveTo>
                <a:cubicBezTo>
                  <a:pt x="508000" y="0"/>
                  <a:pt x="1016000" y="0"/>
                  <a:pt x="1524000" y="127000"/>
                </a:cubicBezTo>
                <a:cubicBezTo>
                  <a:pt x="2032000" y="254000"/>
                  <a:pt x="2540000" y="254000"/>
                  <a:pt x="3048000" y="127000"/>
                </a:cubicBezTo>
                <a:cubicBezTo>
                  <a:pt x="3556000" y="0"/>
                  <a:pt x="4064000" y="0"/>
                  <a:pt x="4572000" y="127000"/>
                </a:cubicBezTo>
                <a:cubicBezTo>
                  <a:pt x="5080000" y="254000"/>
                  <a:pt x="5588000" y="254000"/>
                  <a:pt x="6096000" y="127000"/>
                </a:cubicBezTo>
                <a:cubicBezTo>
                  <a:pt x="6604000" y="0"/>
                  <a:pt x="7112000" y="0"/>
                  <a:pt x="7620000" y="127000"/>
                </a:cubicBezTo>
                <a:cubicBezTo>
                  <a:pt x="8128000" y="254000"/>
                  <a:pt x="8636000" y="254000"/>
                  <a:pt x="9144000" y="127000"/>
                </a:cubicBezTo>
                <a:cubicBezTo>
                  <a:pt x="9652000" y="0"/>
                  <a:pt x="10160000" y="0"/>
                  <a:pt x="10668000" y="127000"/>
                </a:cubicBezTo>
                <a:cubicBezTo>
                  <a:pt x="11176000" y="254000"/>
                  <a:pt x="11684000" y="254000"/>
                  <a:pt x="12192000" y="127000"/>
                </a:cubicBezTo>
                <a:lnTo>
                  <a:pt x="12192000" y="508000"/>
                </a:lnTo>
                <a:lnTo>
                  <a:pt x="0" y="50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6501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1382375" y="523875"/>
            <a:ext cx="476250" cy="476250"/>
          </a:xfrm>
          <a:prstGeom prst="ellipse">
            <a:avLst/>
          </a:prstGeom>
          <a:solidFill>
            <a:schemeClr val="accent3"/>
          </a:solidFill>
          <a:ln w="28575">
            <a:solidFill>
              <a:schemeClr val="accent4"/>
            </a:solidFill>
          </a:ln>
        </p:spPr>
      </p:sp>
      <p:sp>
        <p:nvSpPr>
          <p:cNvPr id="3" name="Ellipse 3"/>
          <p:cNvSpPr/>
          <p:nvPr/>
        </p:nvSpPr>
        <p:spPr>
          <a:xfrm>
            <a:off x="400050" y="6019800"/>
            <a:ext cx="342900" cy="3429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4"/>
            </a:solidFill>
          </a:ln>
        </p:spPr>
      </p:sp>
      <p:sp>
        <p:nvSpPr>
          <p:cNvPr id="4" name="Ellipse 4"/>
          <p:cNvSpPr/>
          <p:nvPr/>
        </p:nvSpPr>
        <p:spPr>
          <a:xfrm>
            <a:off x="742950" y="6362700"/>
            <a:ext cx="228600" cy="2286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0477500" y="47625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0" y="0"/>
                </a:moveTo>
                <a:lnTo>
                  <a:pt x="190500" y="190500"/>
                </a:lnTo>
                <a:lnTo>
                  <a:pt x="381000" y="0"/>
                </a:lnTo>
                <a:lnTo>
                  <a:pt x="571500" y="190500"/>
                </a:lnTo>
                <a:lnTo>
                  <a:pt x="762000" y="0"/>
                </a:lnTo>
              </a:path>
            </a:pathLst>
          </a:custGeom>
          <a:noFill/>
          <a:ln w="38100" cap="rnd">
            <a:solidFill>
              <a:schemeClr val="accent6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64642" y="378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玩法对比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736" y="596265"/>
            <a:ext cx="18993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方案对比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4642" y="1092518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对比关键变量与不同路径下的影响差异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19250"/>
            <a:ext cx="5143500" cy="3048000"/>
            <a:chOff x="571500" y="1619250"/>
            <a:chExt cx="5143500" cy="3048000"/>
          </a:xfrm>
        </p:grpSpPr>
        <p:sp>
          <p:nvSpPr>
            <p:cNvPr id="9" name="Freeform 9"/>
            <p:cNvSpPr/>
            <p:nvPr/>
          </p:nvSpPr>
          <p:spPr>
            <a:xfrm>
              <a:off x="571500" y="1619250"/>
              <a:ext cx="5143500" cy="3048000"/>
            </a:xfrm>
            <a:custGeom>
              <a:avLst/>
              <a:gdLst/>
              <a:ahLst/>
              <a:cxnLst/>
              <a:rect l="l" t="t" r="r" b="b"/>
              <a:pathLst>
                <a:path w="5143500" h="304800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2933700"/>
                  </a:lnTo>
                  <a:cubicBezTo>
                    <a:pt x="5143500" y="2996826"/>
                    <a:pt x="5092326" y="3048000"/>
                    <a:pt x="50292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1500" y="1619250"/>
              <a:ext cx="5143500" cy="571500"/>
            </a:xfrm>
            <a:custGeom>
              <a:avLst/>
              <a:gdLst/>
              <a:ahLst/>
              <a:cxnLst/>
              <a:rect l="l" t="t" r="r" b="b"/>
              <a:pathLst>
                <a:path w="5143500" h="57150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457200"/>
                  </a:lnTo>
                  <a:cubicBezTo>
                    <a:pt x="5143500" y="520326"/>
                    <a:pt x="5092326" y="571500"/>
                    <a:pt x="50292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047875"/>
              <a:ext cx="5143500" cy="190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3618" y="1841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传统方案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9904" y="1889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8EE"/>
                  </a:solidFill>
                  <a:latin typeface="+mn-lt"/>
                  <a:ea typeface="+mn-ea"/>
                  <a:cs typeface="+mn-cs"/>
                </a:rPr>
                <a:t>人工驱动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00100" y="2381250"/>
              <a:ext cx="2180158" cy="1000506"/>
              <a:chOff x="800100" y="2381250"/>
              <a:chExt cx="2180158" cy="100050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00100" y="2381250"/>
                <a:ext cx="152400" cy="1524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89279" y="2385060"/>
                <a:ext cx="18909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多系统数据手动导出Excel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800100" y="2762250"/>
                <a:ext cx="152400" cy="1524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9279" y="276606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跨平台标签体系无法互通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800100" y="3143250"/>
                <a:ext cx="152400" cy="1524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89279" y="3147060"/>
                <a:ext cx="18300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分析报告T+2天才能产出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809875" y="3952875"/>
              <a:ext cx="666750" cy="666750"/>
              <a:chOff x="2809875" y="3952875"/>
              <a:chExt cx="666750" cy="66675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2809875" y="3952875"/>
                <a:ext cx="666750" cy="6667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029579" y="4070985"/>
                <a:ext cx="22734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⚙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477000" y="1619250"/>
            <a:ext cx="5143500" cy="3048000"/>
            <a:chOff x="6477000" y="1619250"/>
            <a:chExt cx="5143500" cy="3048000"/>
          </a:xfrm>
        </p:grpSpPr>
        <p:sp>
          <p:nvSpPr>
            <p:cNvPr id="25" name="Freeform 25"/>
            <p:cNvSpPr/>
            <p:nvPr/>
          </p:nvSpPr>
          <p:spPr>
            <a:xfrm>
              <a:off x="6477000" y="1619250"/>
              <a:ext cx="5143500" cy="3048000"/>
            </a:xfrm>
            <a:custGeom>
              <a:avLst/>
              <a:gdLst/>
              <a:ahLst/>
              <a:cxnLst/>
              <a:rect l="l" t="t" r="r" b="b"/>
              <a:pathLst>
                <a:path w="5143500" h="304800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2933700"/>
                  </a:lnTo>
                  <a:cubicBezTo>
                    <a:pt x="5143500" y="2996826"/>
                    <a:pt x="5092326" y="3048000"/>
                    <a:pt x="50292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477000" y="1619250"/>
              <a:ext cx="5143500" cy="571500"/>
            </a:xfrm>
            <a:custGeom>
              <a:avLst/>
              <a:gdLst/>
              <a:ahLst/>
              <a:cxnLst/>
              <a:rect l="l" t="t" r="r" b="b"/>
              <a:pathLst>
                <a:path w="5143500" h="571500">
                  <a:moveTo>
                    <a:pt x="114300" y="0"/>
                  </a:moveTo>
                  <a:lnTo>
                    <a:pt x="5029200" y="0"/>
                  </a:lnTo>
                  <a:cubicBezTo>
                    <a:pt x="5092326" y="0"/>
                    <a:pt x="5143500" y="51174"/>
                    <a:pt x="5143500" y="114300"/>
                  </a:cubicBezTo>
                  <a:lnTo>
                    <a:pt x="5143500" y="457200"/>
                  </a:lnTo>
                  <a:cubicBezTo>
                    <a:pt x="5143500" y="520326"/>
                    <a:pt x="5092326" y="571500"/>
                    <a:pt x="50292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7000" y="2047875"/>
              <a:ext cx="514350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9118" y="1841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AI 工作台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5904" y="1889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8EE"/>
                  </a:solidFill>
                  <a:latin typeface="+mn-lt"/>
                  <a:ea typeface="+mn-ea"/>
                  <a:cs typeface="+mn-cs"/>
                </a:rPr>
                <a:t>智能闭环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705600" y="2381250"/>
              <a:ext cx="1593723" cy="1381506"/>
              <a:chOff x="6705600" y="2381250"/>
              <a:chExt cx="1593723" cy="138150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705600" y="23812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994779" y="2385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全域数据自动归集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6705600" y="27622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994779" y="2766060"/>
                <a:ext cx="11814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AI标签自动更新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6705600" y="31432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94779" y="3147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洞察推送实时触达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705600" y="35242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994779" y="3528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执行动作自动触发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715375" y="3952875"/>
              <a:ext cx="666750" cy="666750"/>
              <a:chOff x="8715375" y="3952875"/>
              <a:chExt cx="666750" cy="66675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8715375" y="3952875"/>
                <a:ext cx="666750" cy="6667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935079" y="4070985"/>
                <a:ext cx="22734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⚡</a:t>
                </a:r>
              </a:p>
            </p:txBody>
          </p:sp>
        </p:grpSp>
      </p:grpSp>
      <p:sp>
        <p:nvSpPr>
          <p:cNvPr id="43" name="Freeform 43"/>
          <p:cNvSpPr/>
          <p:nvPr/>
        </p:nvSpPr>
        <p:spPr>
          <a:xfrm>
            <a:off x="5715000" y="2762250"/>
            <a:ext cx="666750" cy="190500"/>
          </a:xfrm>
          <a:custGeom>
            <a:avLst/>
            <a:gdLst/>
            <a:ahLst/>
            <a:cxnLst/>
            <a:rect l="l" t="t" r="r" b="b"/>
            <a:pathLst>
              <a:path w="666750" h="190500">
                <a:moveTo>
                  <a:pt x="0" y="95250"/>
                </a:moveTo>
                <a:lnTo>
                  <a:pt x="571500" y="95250"/>
                </a:lnTo>
                <a:lnTo>
                  <a:pt x="476250" y="0"/>
                </a:lnTo>
                <a:lnTo>
                  <a:pt x="666750" y="95250"/>
                </a:lnTo>
                <a:lnTo>
                  <a:pt x="476250" y="190500"/>
                </a:lnTo>
                <a:lnTo>
                  <a:pt x="571500" y="95250"/>
                </a:lnTo>
              </a:path>
            </a:pathLst>
          </a:custGeom>
          <a:solidFill>
            <a:schemeClr val="accent3"/>
          </a:solidFill>
          <a:ln w="28575">
            <a:solidFill>
              <a:schemeClr val="accent4"/>
            </a:solidFill>
            <a:round/>
          </a:ln>
        </p:spPr>
      </p:sp>
      <p:grpSp>
        <p:nvGrpSpPr>
          <p:cNvPr id="51" name="Group 51"/>
          <p:cNvGrpSpPr/>
          <p:nvPr/>
        </p:nvGrpSpPr>
        <p:grpSpPr>
          <a:xfrm>
            <a:off x="571500" y="4953000"/>
            <a:ext cx="3429000" cy="1813084"/>
            <a:chOff x="571500" y="4953000"/>
            <a:chExt cx="3429000" cy="1813084"/>
          </a:xfrm>
        </p:grpSpPr>
        <p:sp>
          <p:nvSpPr>
            <p:cNvPr id="44" name="Freeform 44"/>
            <p:cNvSpPr/>
            <p:nvPr/>
          </p:nvSpPr>
          <p:spPr>
            <a:xfrm>
              <a:off x="571500" y="4953000"/>
              <a:ext cx="3429000" cy="1524000"/>
            </a:xfrm>
            <a:custGeom>
              <a:avLst/>
              <a:gdLst/>
              <a:ahLst/>
              <a:cxnLst/>
              <a:rect l="l" t="t" r="r" b="b"/>
              <a:pathLst>
                <a:path w="3429000" h="1524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409700"/>
                  </a:lnTo>
                  <a:cubicBezTo>
                    <a:pt x="3429000" y="1472826"/>
                    <a:pt x="3377826" y="1524000"/>
                    <a:pt x="3314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3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5904" y="5156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响应效率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43712" y="5374005"/>
              <a:ext cx="2402792" cy="1392079"/>
              <a:chOff x="743712" y="5374005"/>
              <a:chExt cx="2402792" cy="1392079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743712" y="5374005"/>
                <a:ext cx="2402792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3天→4小时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56285" y="5974556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活动调整周期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48284" y="6137910"/>
                <a:ext cx="94338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+58%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56285" y="6546056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受众触达精准度提升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4381500" y="4953000"/>
            <a:ext cx="3429000" cy="1591437"/>
            <a:chOff x="4381500" y="4953000"/>
            <a:chExt cx="3429000" cy="1591437"/>
          </a:xfrm>
        </p:grpSpPr>
        <p:sp>
          <p:nvSpPr>
            <p:cNvPr id="52" name="Freeform 52"/>
            <p:cNvSpPr/>
            <p:nvPr/>
          </p:nvSpPr>
          <p:spPr>
            <a:xfrm>
              <a:off x="4381500" y="4953000"/>
              <a:ext cx="3429000" cy="1524000"/>
            </a:xfrm>
            <a:custGeom>
              <a:avLst/>
              <a:gdLst/>
              <a:ahLst/>
              <a:cxnLst/>
              <a:rect l="l" t="t" r="r" b="b"/>
              <a:pathLst>
                <a:path w="3429000" h="1524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409700"/>
                  </a:lnTo>
                  <a:cubicBezTo>
                    <a:pt x="3429000" y="1472826"/>
                    <a:pt x="3377826" y="1524000"/>
                    <a:pt x="3314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5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65904" y="5156835"/>
              <a:ext cx="626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ROI对比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4556760" y="5486400"/>
              <a:ext cx="1905762" cy="1058037"/>
              <a:chOff x="4556760" y="5486400"/>
              <a:chExt cx="1905762" cy="1058037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4556760" y="5486400"/>
                <a:ext cx="1111815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FF8EE"/>
                    </a:solidFill>
                    <a:latin typeface="+mj-lt"/>
                    <a:ea typeface="+mj-ea"/>
                    <a:cs typeface="+mj-cs"/>
                  </a:rPr>
                  <a:t>6个月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804154" y="56807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回本周期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59808" y="6075045"/>
                <a:ext cx="7707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FFF8EE"/>
                    </a:solidFill>
                    <a:latin typeface="+mj-lt"/>
                    <a:ea typeface="+mj-ea"/>
                    <a:cs typeface="+mj-cs"/>
                  </a:rPr>
                  <a:t>2.3x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327904" y="6204585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年度营销效率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8191500" y="4953000"/>
            <a:ext cx="3429000" cy="1524000"/>
            <a:chOff x="8191500" y="4953000"/>
            <a:chExt cx="3429000" cy="1524000"/>
          </a:xfrm>
        </p:grpSpPr>
        <p:sp>
          <p:nvSpPr>
            <p:cNvPr id="60" name="Freeform 60"/>
            <p:cNvSpPr/>
            <p:nvPr/>
          </p:nvSpPr>
          <p:spPr>
            <a:xfrm>
              <a:off x="8191500" y="4953000"/>
              <a:ext cx="3429000" cy="1524000"/>
            </a:xfrm>
            <a:custGeom>
              <a:avLst/>
              <a:gdLst/>
              <a:ahLst/>
              <a:cxnLst/>
              <a:rect l="l" t="t" r="r" b="b"/>
              <a:pathLst>
                <a:path w="3429000" h="1524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409700"/>
                  </a:lnTo>
                  <a:cubicBezTo>
                    <a:pt x="3429000" y="1472826"/>
                    <a:pt x="3377826" y="1524000"/>
                    <a:pt x="3314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75142" y="5188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差距总结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376666" y="5524500"/>
              <a:ext cx="2958084" cy="901637"/>
              <a:chOff x="8376666" y="5524500"/>
              <a:chExt cx="2958084" cy="901637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0" y="5524500"/>
                <a:ext cx="1333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114300">
                    <a:moveTo>
                      <a:pt x="57150" y="0"/>
                    </a:moveTo>
                    <a:lnTo>
                      <a:pt x="1276350" y="0"/>
                    </a:lnTo>
                    <a:cubicBezTo>
                      <a:pt x="1307913" y="0"/>
                      <a:pt x="1333500" y="25587"/>
                      <a:pt x="1333500" y="57150"/>
                    </a:cubicBezTo>
                    <a:lnTo>
                      <a:pt x="1333500" y="57150"/>
                    </a:lnTo>
                    <a:cubicBezTo>
                      <a:pt x="1333500" y="88713"/>
                      <a:pt x="1307913" y="114300"/>
                      <a:pt x="1276350" y="114300"/>
                    </a:cubicBezTo>
                    <a:lnTo>
                      <a:pt x="57150" y="114300"/>
                    </a:lnTo>
                    <a:cubicBezTo>
                      <a:pt x="25587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0" y="5715000"/>
                <a:ext cx="29527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114300">
                    <a:moveTo>
                      <a:pt x="57150" y="0"/>
                    </a:moveTo>
                    <a:lnTo>
                      <a:pt x="2895600" y="0"/>
                    </a:lnTo>
                    <a:cubicBezTo>
                      <a:pt x="2927163" y="0"/>
                      <a:pt x="2952750" y="25587"/>
                      <a:pt x="2952750" y="57150"/>
                    </a:cubicBezTo>
                    <a:lnTo>
                      <a:pt x="2952750" y="57150"/>
                    </a:lnTo>
                    <a:cubicBezTo>
                      <a:pt x="2952750" y="88713"/>
                      <a:pt x="2927163" y="114300"/>
                      <a:pt x="2895600" y="114300"/>
                    </a:cubicBezTo>
                    <a:lnTo>
                      <a:pt x="57150" y="114300"/>
                    </a:lnTo>
                    <a:cubicBezTo>
                      <a:pt x="25587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376666" y="5982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传统方案效率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376666" y="6220778"/>
                <a:ext cx="8843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AI工作台效率</a:t>
                </a:r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11144250" y="5762625"/>
                <a:ext cx="19050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38125">
                    <a:moveTo>
                      <a:pt x="95250" y="238125"/>
                    </a:moveTo>
                    <a:lnTo>
                      <a:pt x="95250" y="0"/>
                    </a:lnTo>
                    <a:lnTo>
                      <a:pt x="0" y="95250"/>
                    </a:lnTo>
                    <a:moveTo>
                      <a:pt x="95250" y="0"/>
                    </a:moveTo>
                    <a:lnTo>
                      <a:pt x="190500" y="95250"/>
                    </a:lnTo>
                  </a:path>
                </a:pathLst>
              </a:custGeom>
              <a:noFill/>
              <a:ln w="28575" cap="rnd">
                <a:solidFill>
                  <a:srgbClr val="FFF8EE"/>
                </a:solidFill>
              </a:ln>
            </p:spPr>
          </p:sp>
        </p:grpSp>
      </p:grpSp>
      <p:sp>
        <p:nvSpPr>
          <p:cNvPr id="69" name="Ellipse 69"/>
          <p:cNvSpPr/>
          <p:nvPr/>
        </p:nvSpPr>
        <p:spPr>
          <a:xfrm>
            <a:off x="11163300" y="5829300"/>
            <a:ext cx="152400" cy="1524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accent4"/>
            </a:solidFill>
          </a:ln>
        </p:spPr>
      </p:sp>
      <p:sp>
        <p:nvSpPr>
          <p:cNvPr id="70" name="Ellipse 70"/>
          <p:cNvSpPr/>
          <p:nvPr/>
        </p:nvSpPr>
        <p:spPr>
          <a:xfrm>
            <a:off x="11372850" y="6038850"/>
            <a:ext cx="114300" cy="1143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4"/>
            </a:solidFill>
          </a:ln>
        </p:spPr>
      </p:sp>
      <p:sp>
        <p:nvSpPr>
          <p:cNvPr id="71" name="Ellipse 71"/>
          <p:cNvSpPr/>
          <p:nvPr/>
        </p:nvSpPr>
        <p:spPr>
          <a:xfrm>
            <a:off x="10953750" y="6096000"/>
            <a:ext cx="190500" cy="1905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4"/>
            </a:solidFill>
          </a:ln>
        </p:spPr>
      </p:sp>
      <p:sp>
        <p:nvSpPr>
          <p:cNvPr id="72" name="Freeform 72"/>
          <p:cNvSpPr/>
          <p:nvPr/>
        </p:nvSpPr>
        <p:spPr>
          <a:xfrm>
            <a:off x="10953750" y="5461000"/>
            <a:ext cx="762000" cy="127000"/>
          </a:xfrm>
          <a:custGeom>
            <a:avLst/>
            <a:gdLst/>
            <a:ahLst/>
            <a:cxnLst/>
            <a:rect l="l" t="t" r="r" b="b"/>
            <a:pathLst>
              <a:path w="762000" h="127000">
                <a:moveTo>
                  <a:pt x="0" y="63500"/>
                </a:moveTo>
                <a:cubicBezTo>
                  <a:pt x="127000" y="0"/>
                  <a:pt x="254000" y="0"/>
                  <a:pt x="381000" y="63500"/>
                </a:cubicBezTo>
                <a:cubicBezTo>
                  <a:pt x="508000" y="127000"/>
                  <a:pt x="635000" y="127000"/>
                  <a:pt x="762000" y="63500"/>
                </a:cubicBezTo>
              </a:path>
            </a:pathLst>
          </a:custGeom>
          <a:noFill/>
          <a:ln w="28575" cap="rnd">
            <a:solidFill>
              <a:schemeClr val="accent2"/>
            </a:solidFill>
          </a:ln>
        </p:spPr>
      </p:sp>
      <p:sp>
        <p:nvSpPr>
          <p:cNvPr id="73" name="Polygon 73"/>
          <p:cNvSpPr/>
          <p:nvPr/>
        </p:nvSpPr>
        <p:spPr>
          <a:xfrm>
            <a:off x="11672936" y="3816491"/>
            <a:ext cx="368018" cy="417323"/>
          </a:xfrm>
          <a:custGeom>
            <a:avLst/>
            <a:gdLst/>
            <a:ahLst/>
            <a:cxnLst/>
            <a:rect l="l" t="t" r="r" b="b"/>
            <a:pathLst>
              <a:path w="368018" h="417323">
                <a:moveTo>
                  <a:pt x="282619" y="0"/>
                </a:moveTo>
                <a:lnTo>
                  <a:pt x="368018" y="417323"/>
                </a:lnTo>
                <a:lnTo>
                  <a:pt x="0" y="318713"/>
                </a:lnTo>
                <a:close/>
              </a:path>
            </a:pathLst>
          </a:custGeom>
          <a:solidFill>
            <a:schemeClr val="accent3"/>
          </a:solidFill>
          <a:ln w="19050">
            <a:solidFill>
              <a:schemeClr val="accent4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11537423" y="660177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381000" y="4953000"/>
            <a:ext cx="1524000" cy="1524000"/>
          </a:xfrm>
          <a:prstGeom prst="ellipse">
            <a:avLst/>
          </a:prstGeom>
          <a:solidFill>
            <a:schemeClr val="accent3">
              <a:alpha val="30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668000" y="571500"/>
            <a:ext cx="1143000" cy="1143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76300" y="8763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33475" y="752475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47750" y="1095375"/>
            <a:ext cx="95250" cy="952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790575" y="1028700"/>
            <a:ext cx="133350" cy="1333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295400" y="962025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571500" y="476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chemeClr val="accent4"/>
            </a:solidFill>
          </a:ln>
        </p:spPr>
      </p:sp>
      <p:sp>
        <p:nvSpPr>
          <p:cNvPr id="10" name="Line 10"/>
          <p:cNvSpPr/>
          <p:nvPr/>
        </p:nvSpPr>
        <p:spPr>
          <a:xfrm>
            <a:off x="10287000" y="63817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28575">
            <a:solidFill>
              <a:schemeClr val="accent4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571500" y="666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171450" y="0"/>
                </a:moveTo>
                <a:lnTo>
                  <a:pt x="971550" y="0"/>
                </a:lnTo>
                <a:cubicBezTo>
                  <a:pt x="1066239" y="0"/>
                  <a:pt x="1143000" y="76761"/>
                  <a:pt x="1143000" y="171450"/>
                </a:cubicBezTo>
                <a:lnTo>
                  <a:pt x="1143000" y="171450"/>
                </a:lnTo>
                <a:cubicBezTo>
                  <a:pt x="1143000" y="266139"/>
                  <a:pt x="1066239" y="342900"/>
                  <a:pt x="9715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chemeClr val="accent3"/>
          </a:solidFill>
          <a:ln w="19050">
            <a:solidFill>
              <a:schemeClr val="accent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13816" y="765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信号贴纸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3212" y="1135380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客户实证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4642" y="1711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真实数据，有力证明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2190750"/>
            <a:ext cx="3429000" cy="3810000"/>
            <a:chOff x="571500" y="2190750"/>
            <a:chExt cx="3429000" cy="3810000"/>
          </a:xfrm>
        </p:grpSpPr>
        <p:sp>
          <p:nvSpPr>
            <p:cNvPr id="15" name="Freeform 15"/>
            <p:cNvSpPr/>
            <p:nvPr/>
          </p:nvSpPr>
          <p:spPr>
            <a:xfrm>
              <a:off x="571500" y="2190750"/>
              <a:ext cx="3429000" cy="3810000"/>
            </a:xfrm>
            <a:custGeom>
              <a:avLst/>
              <a:gdLst/>
              <a:ahLst/>
              <a:cxnLst/>
              <a:rect l="l" t="t" r="r" b="b"/>
              <a:pathLst>
                <a:path w="3429000" h="3810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695700"/>
                  </a:lnTo>
                  <a:cubicBezTo>
                    <a:pt x="3429000" y="3758826"/>
                    <a:pt x="3377826" y="3810000"/>
                    <a:pt x="3314700" y="3810000"/>
                  </a:cubicBezTo>
                  <a:lnTo>
                    <a:pt x="114300" y="3810000"/>
                  </a:lnTo>
                  <a:cubicBezTo>
                    <a:pt x="51174" y="3810000"/>
                    <a:pt x="0" y="3758826"/>
                    <a:pt x="0" y="3695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2190750"/>
              <a:ext cx="3429000" cy="571500"/>
            </a:xfrm>
            <a:custGeom>
              <a:avLst/>
              <a:gdLst/>
              <a:ahLst/>
              <a:cxnLst/>
              <a:rect l="l" t="t" r="r" b="b"/>
              <a:pathLst>
                <a:path w="3429000" h="571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57200"/>
                  </a:lnTo>
                  <a:cubicBezTo>
                    <a:pt x="3429000" y="520326"/>
                    <a:pt x="3377826" y="571500"/>
                    <a:pt x="33147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476500"/>
              <a:ext cx="342900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4380" y="2428875"/>
              <a:ext cx="701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证据 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4612" y="2655570"/>
              <a:ext cx="178277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+34%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4500" y="3442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大促转化率提升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810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>
                  <a:alpha val="30000"/>
                </a:scheme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285" y="3974306"/>
              <a:ext cx="1473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接入AI工作台 4个月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438150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2416" y="436340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客服人力节省 45%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09625" y="4667250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2416" y="4649152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会员复购周期缩短 12天</a:t>
              </a:r>
            </a:p>
          </p:txBody>
        </p:sp>
        <p:sp>
          <p:nvSpPr>
            <p:cNvPr id="27" name="Polygon 27"/>
            <p:cNvSpPr/>
            <p:nvPr/>
          </p:nvSpPr>
          <p:spPr>
            <a:xfrm>
              <a:off x="3429000" y="55245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285750"/>
                  </a:lnTo>
                  <a:lnTo>
                    <a:pt x="0" y="2857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accent4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4381500" y="2190750"/>
            <a:ext cx="3429000" cy="3810000"/>
            <a:chOff x="4381500" y="2190750"/>
            <a:chExt cx="3429000" cy="3810000"/>
          </a:xfrm>
        </p:grpSpPr>
        <p:sp>
          <p:nvSpPr>
            <p:cNvPr id="29" name="Freeform 29"/>
            <p:cNvSpPr/>
            <p:nvPr/>
          </p:nvSpPr>
          <p:spPr>
            <a:xfrm>
              <a:off x="4381500" y="2190750"/>
              <a:ext cx="3429000" cy="3810000"/>
            </a:xfrm>
            <a:custGeom>
              <a:avLst/>
              <a:gdLst/>
              <a:ahLst/>
              <a:cxnLst/>
              <a:rect l="l" t="t" r="r" b="b"/>
              <a:pathLst>
                <a:path w="3429000" h="3810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695700"/>
                  </a:lnTo>
                  <a:cubicBezTo>
                    <a:pt x="3429000" y="3758826"/>
                    <a:pt x="3377826" y="3810000"/>
                    <a:pt x="3314700" y="3810000"/>
                  </a:cubicBezTo>
                  <a:lnTo>
                    <a:pt x="114300" y="3810000"/>
                  </a:lnTo>
                  <a:cubicBezTo>
                    <a:pt x="51174" y="3810000"/>
                    <a:pt x="0" y="3758826"/>
                    <a:pt x="0" y="3695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381500" y="2190750"/>
              <a:ext cx="3429000" cy="571500"/>
            </a:xfrm>
            <a:custGeom>
              <a:avLst/>
              <a:gdLst/>
              <a:ahLst/>
              <a:cxnLst/>
              <a:rect l="l" t="t" r="r" b="b"/>
              <a:pathLst>
                <a:path w="3429000" h="571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57200"/>
                  </a:lnTo>
                  <a:cubicBezTo>
                    <a:pt x="3429000" y="520326"/>
                    <a:pt x="3377826" y="571500"/>
                    <a:pt x="33147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2476500"/>
              <a:ext cx="3429000" cy="285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64380" y="2428875"/>
              <a:ext cx="701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证据 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77307" y="2655570"/>
              <a:ext cx="16373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2.1×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24500" y="3442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用户活跃度提升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572000" y="3810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>
                  <a:alpha val="30000"/>
                </a:scheme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66285" y="3974306"/>
              <a:ext cx="1283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私域运营自动化后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4619625" y="43815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52416" y="43634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线索转化成本下降 28%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619625" y="4667250"/>
              <a:ext cx="95250" cy="952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52416" y="46491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内容生产成本降低 60%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048500" y="5492750"/>
              <a:ext cx="762000" cy="254000"/>
            </a:xfrm>
            <a:custGeom>
              <a:avLst/>
              <a:gdLst/>
              <a:ahLst/>
              <a:cxnLst/>
              <a:rect l="l" t="t" r="r" b="b"/>
              <a:pathLst>
                <a:path w="762000" h="254000">
                  <a:moveTo>
                    <a:pt x="0" y="127000"/>
                  </a:moveTo>
                  <a:cubicBezTo>
                    <a:pt x="127000" y="0"/>
                    <a:pt x="254000" y="0"/>
                    <a:pt x="381000" y="127000"/>
                  </a:cubicBezTo>
                  <a:cubicBezTo>
                    <a:pt x="508000" y="254000"/>
                    <a:pt x="635000" y="254000"/>
                    <a:pt x="762000" y="12700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8191500" y="2190750"/>
            <a:ext cx="3429000" cy="3810000"/>
            <a:chOff x="8191500" y="2190750"/>
            <a:chExt cx="3429000" cy="3810000"/>
          </a:xfrm>
        </p:grpSpPr>
        <p:sp>
          <p:nvSpPr>
            <p:cNvPr id="43" name="Freeform 43"/>
            <p:cNvSpPr/>
            <p:nvPr/>
          </p:nvSpPr>
          <p:spPr>
            <a:xfrm>
              <a:off x="8191500" y="2190750"/>
              <a:ext cx="3429000" cy="3810000"/>
            </a:xfrm>
            <a:custGeom>
              <a:avLst/>
              <a:gdLst/>
              <a:ahLst/>
              <a:cxnLst/>
              <a:rect l="l" t="t" r="r" b="b"/>
              <a:pathLst>
                <a:path w="3429000" h="3810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3695700"/>
                  </a:lnTo>
                  <a:cubicBezTo>
                    <a:pt x="3429000" y="3758826"/>
                    <a:pt x="3377826" y="3810000"/>
                    <a:pt x="3314700" y="3810000"/>
                  </a:cubicBezTo>
                  <a:lnTo>
                    <a:pt x="114300" y="3810000"/>
                  </a:lnTo>
                  <a:cubicBezTo>
                    <a:pt x="51174" y="3810000"/>
                    <a:pt x="0" y="3758826"/>
                    <a:pt x="0" y="3695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91500" y="2190750"/>
              <a:ext cx="3429000" cy="571500"/>
            </a:xfrm>
            <a:custGeom>
              <a:avLst/>
              <a:gdLst/>
              <a:ahLst/>
              <a:cxnLst/>
              <a:rect l="l" t="t" r="r" b="b"/>
              <a:pathLst>
                <a:path w="3429000" h="571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57200"/>
                  </a:lnTo>
                  <a:cubicBezTo>
                    <a:pt x="3429000" y="520326"/>
                    <a:pt x="3377826" y="571500"/>
                    <a:pt x="33147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2476500"/>
              <a:ext cx="342900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4380" y="2428875"/>
              <a:ext cx="701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8EE"/>
                  </a:solidFill>
                  <a:latin typeface="+mj-lt"/>
                  <a:ea typeface="+mj-ea"/>
                  <a:cs typeface="+mj-cs"/>
                </a:rPr>
                <a:t>证据 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14523" y="2655570"/>
              <a:ext cx="138295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89%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65946" y="3442335"/>
              <a:ext cx="1480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促销ROI预测准确率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82000" y="3810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>
                  <a:alpha val="30000"/>
                </a:scheme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76285" y="3974306"/>
              <a:ext cx="1124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门店营销数字化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429625" y="438150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62416" y="4363402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活动上线 2周 → 3天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429625" y="466725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62416" y="46491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区域活动响应极速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1144250" y="54292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0" y="285750"/>
                  </a:lnTo>
                  <a:lnTo>
                    <a:pt x="285750" y="28575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</p:grpSp>
      <p:sp>
        <p:nvSpPr>
          <p:cNvPr id="57" name="Ellipse 57"/>
          <p:cNvSpPr/>
          <p:nvPr/>
        </p:nvSpPr>
        <p:spPr>
          <a:xfrm>
            <a:off x="5981700" y="63627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6305550" y="6448425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6524625" y="6362700"/>
            <a:ext cx="190500" cy="190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6800850" y="6496050"/>
            <a:ext cx="114300" cy="11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4596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62" name="Line 62"/>
          <p:cNvSpPr/>
          <p:nvPr/>
        </p:nvSpPr>
        <p:spPr>
          <a:xfrm>
            <a:off x="10953750" y="61912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  <p:sp>
        <p:nvSpPr>
          <p:cNvPr id="63" name="Line 63"/>
          <p:cNvSpPr/>
          <p:nvPr/>
        </p:nvSpPr>
        <p:spPr>
          <a:xfrm>
            <a:off x="10953750" y="6286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chemeClr val="accent4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Ellipse 2"/>
            <p:cNvSpPr/>
            <p:nvPr/>
          </p:nvSpPr>
          <p:spPr>
            <a:xfrm>
              <a:off x="647700" y="457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23925" y="3524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14350" y="7524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11104682" y="387491"/>
              <a:ext cx="552027" cy="441975"/>
            </a:xfrm>
            <a:custGeom>
              <a:avLst/>
              <a:gdLst/>
              <a:ahLst/>
              <a:cxnLst/>
              <a:rect l="l" t="t" r="r" b="b"/>
              <a:pathLst>
                <a:path w="552027" h="441975">
                  <a:moveTo>
                    <a:pt x="374623" y="0"/>
                  </a:moveTo>
                  <a:lnTo>
                    <a:pt x="552027" y="441975"/>
                  </a:lnTo>
                  <a:lnTo>
                    <a:pt x="0" y="294060"/>
                  </a:lnTo>
                  <a:close/>
                </a:path>
              </a:pathLst>
            </a:custGeom>
            <a:solidFill>
              <a:schemeClr val="accent5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 rot="2700000">
              <a:off x="10953750" y="285750"/>
              <a:ext cx="190500" cy="190500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6350000"/>
              <a:ext cx="12192000" cy="508000"/>
            </a:xfrm>
            <a:custGeom>
              <a:avLst/>
              <a:gdLst/>
              <a:ahLst/>
              <a:cxnLst/>
              <a:rect l="l" t="t" r="r" b="b"/>
              <a:pathLst>
                <a:path w="12192000" h="508000">
                  <a:moveTo>
                    <a:pt x="0" y="127000"/>
                  </a:moveTo>
                  <a:cubicBezTo>
                    <a:pt x="508000" y="0"/>
                    <a:pt x="1016000" y="0"/>
                    <a:pt x="1524000" y="127000"/>
                  </a:cubicBezTo>
                  <a:cubicBezTo>
                    <a:pt x="2032000" y="254000"/>
                    <a:pt x="2540000" y="254000"/>
                    <a:pt x="3048000" y="127000"/>
                  </a:cubicBezTo>
                  <a:cubicBezTo>
                    <a:pt x="3556000" y="0"/>
                    <a:pt x="4064000" y="0"/>
                    <a:pt x="4572000" y="127000"/>
                  </a:cubicBezTo>
                  <a:cubicBezTo>
                    <a:pt x="5080000" y="254000"/>
                    <a:pt x="5588000" y="254000"/>
                    <a:pt x="6096000" y="127000"/>
                  </a:cubicBezTo>
                  <a:cubicBezTo>
                    <a:pt x="6604000" y="0"/>
                    <a:pt x="7112000" y="0"/>
                    <a:pt x="7620000" y="127000"/>
                  </a:cubicBezTo>
                  <a:cubicBezTo>
                    <a:pt x="8128000" y="254000"/>
                    <a:pt x="8636000" y="254000"/>
                    <a:pt x="9144000" y="127000"/>
                  </a:cubicBezTo>
                  <a:cubicBezTo>
                    <a:pt x="9652000" y="0"/>
                    <a:pt x="10160000" y="0"/>
                    <a:pt x="10668000" y="127000"/>
                  </a:cubicBezTo>
                  <a:cubicBezTo>
                    <a:pt x="11176000" y="254000"/>
                    <a:pt x="11684000" y="254000"/>
                    <a:pt x="12192000" y="127000"/>
                  </a:cubicBezTo>
                  <a:lnTo>
                    <a:pt x="12192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6477000"/>
              <a:ext cx="12192000" cy="190500"/>
            </a:xfrm>
            <a:custGeom>
              <a:avLst/>
              <a:gdLst/>
              <a:ahLst/>
              <a:cxnLst/>
              <a:rect l="l" t="t" r="r" b="b"/>
              <a:pathLst>
                <a:path w="12192000" h="190500">
                  <a:moveTo>
                    <a:pt x="0" y="95250"/>
                  </a:moveTo>
                  <a:cubicBezTo>
                    <a:pt x="508000" y="0"/>
                    <a:pt x="1016000" y="0"/>
                    <a:pt x="1524000" y="95250"/>
                  </a:cubicBezTo>
                  <a:cubicBezTo>
                    <a:pt x="2032000" y="190500"/>
                    <a:pt x="2540000" y="190500"/>
                    <a:pt x="3048000" y="95250"/>
                  </a:cubicBezTo>
                  <a:cubicBezTo>
                    <a:pt x="3556000" y="0"/>
                    <a:pt x="4064000" y="0"/>
                    <a:pt x="4572000" y="95250"/>
                  </a:cubicBezTo>
                  <a:cubicBezTo>
                    <a:pt x="5080000" y="190500"/>
                    <a:pt x="5588000" y="190500"/>
                    <a:pt x="6096000" y="95250"/>
                  </a:cubicBezTo>
                  <a:cubicBezTo>
                    <a:pt x="6604000" y="0"/>
                    <a:pt x="7112000" y="0"/>
                    <a:pt x="7620000" y="95250"/>
                  </a:cubicBezTo>
                  <a:cubicBezTo>
                    <a:pt x="8128000" y="190500"/>
                    <a:pt x="8636000" y="190500"/>
                    <a:pt x="9144000" y="95250"/>
                  </a:cubicBezTo>
                  <a:cubicBezTo>
                    <a:pt x="9652000" y="0"/>
                    <a:pt x="10160000" y="0"/>
                    <a:pt x="10668000" y="95250"/>
                  </a:cubicBezTo>
                  <a:cubicBezTo>
                    <a:pt x="11176000" y="190500"/>
                    <a:pt x="11684000" y="190500"/>
                    <a:pt x="12192000" y="9525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0" y="0"/>
              <a:ext cx="762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2115800" y="5715000"/>
              <a:ext cx="7620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3212" y="362902"/>
            <a:ext cx="3478149" cy="1218248"/>
            <a:chOff x="553212" y="362902"/>
            <a:chExt cx="3478149" cy="1218248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3629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数字蹦点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3212" y="65913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核心指标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642" y="123539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提炼会直接影响决策的关键数字与压力指标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157162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71500" y="1794510"/>
            <a:ext cx="11049000" cy="4682490"/>
            <a:chOff x="571500" y="1794510"/>
            <a:chExt cx="11049000" cy="468249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794510"/>
              <a:ext cx="5238750" cy="2205990"/>
              <a:chOff x="571500" y="1794510"/>
              <a:chExt cx="5238750" cy="220599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71500" y="1905000"/>
                <a:ext cx="5238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2095500">
                    <a:moveTo>
                      <a:pt x="152400" y="0"/>
                    </a:moveTo>
                    <a:lnTo>
                      <a:pt x="5086350" y="0"/>
                    </a:lnTo>
                    <a:cubicBezTo>
                      <a:pt x="5170518" y="0"/>
                      <a:pt x="5238750" y="68232"/>
                      <a:pt x="5238750" y="152400"/>
                    </a:cubicBezTo>
                    <a:lnTo>
                      <a:pt x="5238750" y="1943100"/>
                    </a:lnTo>
                    <a:cubicBezTo>
                      <a:pt x="5238750" y="2027268"/>
                      <a:pt x="5170518" y="2095500"/>
                      <a:pt x="508635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685800" y="2209800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73387" y="23583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⚡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9700" y="1794510"/>
                <a:ext cx="1104290" cy="1390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2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8x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07308" y="22174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响应速度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6404" y="30137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活动调整周期压缩至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1832" y="3154680"/>
                <a:ext cx="74222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4小时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71500" y="3762375"/>
                <a:ext cx="5238750" cy="238125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571500" y="3762375"/>
                <a:ext cx="1314450" cy="2381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381750" y="1794510"/>
              <a:ext cx="5238750" cy="2205990"/>
              <a:chOff x="6381750" y="1794510"/>
              <a:chExt cx="5238750" cy="220599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381750" y="1905000"/>
                <a:ext cx="5238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2095500">
                    <a:moveTo>
                      <a:pt x="152400" y="0"/>
                    </a:moveTo>
                    <a:lnTo>
                      <a:pt x="5086350" y="0"/>
                    </a:lnTo>
                    <a:cubicBezTo>
                      <a:pt x="5170518" y="0"/>
                      <a:pt x="5238750" y="68232"/>
                      <a:pt x="5238750" y="152400"/>
                    </a:cubicBezTo>
                    <a:lnTo>
                      <a:pt x="5238750" y="1943100"/>
                    </a:lnTo>
                    <a:cubicBezTo>
                      <a:pt x="5238750" y="2027268"/>
                      <a:pt x="5170518" y="2095500"/>
                      <a:pt x="508635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6496050" y="2209800"/>
                <a:ext cx="533400" cy="5334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83637" y="23583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📉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19950" y="1794510"/>
                <a:ext cx="2364334" cy="1390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2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-40%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512808" y="22174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营销成本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756654" y="301371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人力与投放浪费大幅削减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381750" y="3762375"/>
                <a:ext cx="5238750" cy="238125"/>
              </a:xfrm>
              <a:prstGeom prst="rect">
                <a:avLst/>
              </a:prstGeom>
              <a:solidFill>
                <a:schemeClr val="accent5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381750" y="3762375"/>
                <a:ext cx="2095500" cy="23812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4271010"/>
              <a:ext cx="5238750" cy="2205990"/>
              <a:chOff x="571500" y="4271010"/>
              <a:chExt cx="5238750" cy="220599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71500" y="4381500"/>
                <a:ext cx="5238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2095500">
                    <a:moveTo>
                      <a:pt x="152400" y="0"/>
                    </a:moveTo>
                    <a:lnTo>
                      <a:pt x="5086350" y="0"/>
                    </a:lnTo>
                    <a:cubicBezTo>
                      <a:pt x="5170518" y="0"/>
                      <a:pt x="5238750" y="68232"/>
                      <a:pt x="5238750" y="152400"/>
                    </a:cubicBezTo>
                    <a:lnTo>
                      <a:pt x="5238750" y="1943100"/>
                    </a:lnTo>
                    <a:cubicBezTo>
                      <a:pt x="5238750" y="2027268"/>
                      <a:pt x="5170518" y="2095500"/>
                      <a:pt x="508635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685800" y="4686300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73387" y="48348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409700" y="4271010"/>
                <a:ext cx="1831238" cy="1390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72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89%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607308" y="4693920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预测准确率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6404" y="5490210"/>
                <a:ext cx="16507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ROI与转化率预测均值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571500" y="6238875"/>
                <a:ext cx="5238750" cy="238125"/>
              </a:xfrm>
              <a:prstGeom prst="rec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571500" y="6238875"/>
                <a:ext cx="4657725" cy="2381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6381750" y="4271010"/>
              <a:ext cx="5238750" cy="2205990"/>
              <a:chOff x="6381750" y="4271010"/>
              <a:chExt cx="5238750" cy="220599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81750" y="4381500"/>
                <a:ext cx="523875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2095500">
                    <a:moveTo>
                      <a:pt x="152400" y="0"/>
                    </a:moveTo>
                    <a:lnTo>
                      <a:pt x="5086350" y="0"/>
                    </a:lnTo>
                    <a:cubicBezTo>
                      <a:pt x="5170518" y="0"/>
                      <a:pt x="5238750" y="68232"/>
                      <a:pt x="5238750" y="152400"/>
                    </a:cubicBezTo>
                    <a:lnTo>
                      <a:pt x="5238750" y="1943100"/>
                    </a:lnTo>
                    <a:cubicBezTo>
                      <a:pt x="5238750" y="2027268"/>
                      <a:pt x="5170518" y="2095500"/>
                      <a:pt x="508635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6496050" y="4686300"/>
                <a:ext cx="533400" cy="533400"/>
              </a:xfrm>
              <a:prstGeom prst="ellipse">
                <a:avLst/>
              </a:prstGeom>
              <a:solidFill>
                <a:schemeClr val="accent3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83637" y="48348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📅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219950" y="4271010"/>
                <a:ext cx="2509723" cy="1390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200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6个月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703308" y="4693920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回本周期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756654" y="549021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标准部署节奏下的测算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381750" y="6238875"/>
                <a:ext cx="5238750" cy="238125"/>
              </a:xfrm>
              <a:prstGeom prst="rect">
                <a:avLst/>
              </a:pr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6381750" y="6238875"/>
                <a:ext cx="1571625" cy="2381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63" name="Group 63"/>
          <p:cNvGrpSpPr/>
          <p:nvPr/>
        </p:nvGrpSpPr>
        <p:grpSpPr>
          <a:xfrm>
            <a:off x="566738" y="6570345"/>
            <a:ext cx="11058524" cy="176212"/>
            <a:chOff x="566738" y="6570345"/>
            <a:chExt cx="110585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566738" y="6570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响应速度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614488" y="6570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04988" y="6570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营销成本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852738" y="6570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43238" y="65703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预测准确率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281488" y="6570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71988" y="6570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回本周期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43132" y="65703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1353800" y="6858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572875" y="523875"/>
            <a:ext cx="95250" cy="952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182350" y="561975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772900" y="771525"/>
            <a:ext cx="76200" cy="76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04825" y="6029325"/>
            <a:ext cx="133350" cy="1333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381000" y="6238875"/>
            <a:ext cx="95250" cy="952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704850" y="6181725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65404" y="3943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2"/>
                </a:solidFill>
                <a:latin typeface="+mj-lt"/>
                <a:ea typeface="+mj-ea"/>
                <a:cs typeface="+mj-cs"/>
              </a:rPr>
              <a:t>扩散图谱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736" y="643890"/>
            <a:ext cx="18993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能力架构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4642" y="1140142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把影响链条压缩成一眼能看懂的扩散结构或图示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2714625"/>
            <a:ext cx="2714625" cy="1809750"/>
            <a:chOff x="571500" y="2714625"/>
            <a:chExt cx="2714625" cy="1809750"/>
          </a:xfrm>
        </p:grpSpPr>
        <p:sp>
          <p:nvSpPr>
            <p:cNvPr id="12" name="Line 12"/>
            <p:cNvSpPr/>
            <p:nvPr/>
          </p:nvSpPr>
          <p:spPr>
            <a:xfrm>
              <a:off x="571500" y="3619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  <a:prstDash val="lgDash"/>
            </a:ln>
          </p:spPr>
        </p:sp>
        <p:sp>
          <p:nvSpPr>
            <p:cNvPr id="13" name="Polygon 13"/>
            <p:cNvSpPr/>
            <p:nvPr/>
          </p:nvSpPr>
          <p:spPr>
            <a:xfrm>
              <a:off x="1524000" y="35433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476375" y="2714625"/>
              <a:ext cx="1809750" cy="180975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619250" y="2857500"/>
              <a:ext cx="15240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83087" y="29451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2744" y="3664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07208" y="4006691"/>
              <a:ext cx="74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全域数据源50+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2242" y="4178141"/>
              <a:ext cx="8980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自动清洗与标签化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33750" y="3524250"/>
            <a:ext cx="1381125" cy="190500"/>
            <a:chOff x="3333750" y="3524250"/>
            <a:chExt cx="1381125" cy="190500"/>
          </a:xfrm>
        </p:grpSpPr>
        <p:sp>
          <p:nvSpPr>
            <p:cNvPr id="21" name="Line 21"/>
            <p:cNvSpPr/>
            <p:nvPr/>
          </p:nvSpPr>
          <p:spPr>
            <a:xfrm>
              <a:off x="3333750" y="36195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524375" y="3524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524375" y="2809875"/>
            <a:ext cx="1619250" cy="1619250"/>
            <a:chOff x="4524375" y="2809875"/>
            <a:chExt cx="1619250" cy="1619250"/>
          </a:xfrm>
        </p:grpSpPr>
        <p:sp>
          <p:nvSpPr>
            <p:cNvPr id="24" name="Ellipse 24"/>
            <p:cNvSpPr/>
            <p:nvPr/>
          </p:nvSpPr>
          <p:spPr>
            <a:xfrm>
              <a:off x="4524375" y="2809875"/>
              <a:ext cx="1619250" cy="161925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667250" y="2952750"/>
              <a:ext cx="1333500" cy="13335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73107" y="30413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2512" y="3680460"/>
              <a:ext cx="522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AI分析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54450" y="3987641"/>
              <a:ext cx="9591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实时洞察+预测模型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76573" y="4159091"/>
              <a:ext cx="514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+归因引擎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91250" y="3524250"/>
            <a:ext cx="1381125" cy="190500"/>
            <a:chOff x="6191250" y="3524250"/>
            <a:chExt cx="1381125" cy="190500"/>
          </a:xfrm>
        </p:grpSpPr>
        <p:sp>
          <p:nvSpPr>
            <p:cNvPr id="31" name="Line 31"/>
            <p:cNvSpPr/>
            <p:nvPr/>
          </p:nvSpPr>
          <p:spPr>
            <a:xfrm>
              <a:off x="6191250" y="36195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381875" y="3524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572375" y="2905125"/>
            <a:ext cx="1428750" cy="1428750"/>
            <a:chOff x="7572375" y="2905125"/>
            <a:chExt cx="1428750" cy="1428750"/>
          </a:xfrm>
        </p:grpSpPr>
        <p:sp>
          <p:nvSpPr>
            <p:cNvPr id="34" name="Ellipse 34"/>
            <p:cNvSpPr/>
            <p:nvPr/>
          </p:nvSpPr>
          <p:spPr>
            <a:xfrm>
              <a:off x="7572375" y="2905125"/>
              <a:ext cx="1428750" cy="142875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715250" y="3048000"/>
              <a:ext cx="1143000" cy="1143000"/>
            </a:xfrm>
            <a:prstGeom prst="ellipse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50704" y="3102292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D4A800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83485" y="3669506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99880" y="3967162"/>
              <a:ext cx="97374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多渠道推送+智能素材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4600" y="4129088"/>
              <a:ext cx="8843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生成+A/B自动决策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048750" y="3524250"/>
            <a:ext cx="1381125" cy="190500"/>
            <a:chOff x="9048750" y="3524250"/>
            <a:chExt cx="1381125" cy="190500"/>
          </a:xfrm>
        </p:grpSpPr>
        <p:sp>
          <p:nvSpPr>
            <p:cNvPr id="41" name="Line 41"/>
            <p:cNvSpPr/>
            <p:nvPr/>
          </p:nvSpPr>
          <p:spPr>
            <a:xfrm>
              <a:off x="9048750" y="36195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0239375" y="35242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9382125" y="3000375"/>
            <a:ext cx="2238375" cy="1238250"/>
            <a:chOff x="9382125" y="3000375"/>
            <a:chExt cx="2238375" cy="1238250"/>
          </a:xfrm>
        </p:grpSpPr>
        <p:sp>
          <p:nvSpPr>
            <p:cNvPr id="44" name="Line 44"/>
            <p:cNvSpPr/>
            <p:nvPr/>
          </p:nvSpPr>
          <p:spPr>
            <a:xfrm>
              <a:off x="11191875" y="3619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  <a:prstDash val="lgDash"/>
            </a:ln>
          </p:spPr>
        </p:sp>
        <p:sp>
          <p:nvSpPr>
            <p:cNvPr id="45" name="Ellipse 45"/>
            <p:cNvSpPr/>
            <p:nvPr/>
          </p:nvSpPr>
          <p:spPr>
            <a:xfrm>
              <a:off x="9382125" y="3000375"/>
              <a:ext cx="1238250" cy="123825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9505950" y="3124200"/>
              <a:ext cx="990600" cy="990600"/>
            </a:xfrm>
            <a:prstGeom prst="ellipse">
              <a:avLst/>
            </a:prstGeom>
            <a:solidFill>
              <a:schemeClr val="accent5">
                <a:alpha val="25000"/>
              </a:scheme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90051" y="313467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46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99079" y="36490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08426" y="3919538"/>
              <a:ext cx="9856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全链路归因+ROI看板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66792" y="4071938"/>
              <a:ext cx="46891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+异常预警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24000" y="5048250"/>
            <a:ext cx="2095500" cy="666750"/>
            <a:chOff x="1524000" y="5048250"/>
            <a:chExt cx="2095500" cy="666750"/>
          </a:xfrm>
        </p:grpSpPr>
        <p:sp>
          <p:nvSpPr>
            <p:cNvPr id="52" name="Freeform 52"/>
            <p:cNvSpPr/>
            <p:nvPr/>
          </p:nvSpPr>
          <p:spPr>
            <a:xfrm>
              <a:off x="1524000" y="5048250"/>
              <a:ext cx="2095500" cy="666750"/>
            </a:xfrm>
            <a:custGeom>
              <a:avLst/>
              <a:gdLst/>
              <a:ahLst/>
              <a:cxnLst/>
              <a:rect l="l" t="t" r="r" b="b"/>
              <a:pathLst>
                <a:path w="2095500" h="6667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590550"/>
                  </a:lnTo>
                  <a:cubicBezTo>
                    <a:pt x="2095500" y="632634"/>
                    <a:pt x="2061384" y="666750"/>
                    <a:pt x="2019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2">
                <a:alpha val="15000"/>
              </a:schemeClr>
            </a:solidFill>
            <a:ln w="19050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087882" y="5209699"/>
              <a:ext cx="9677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全域数据源 50+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22742" y="5416391"/>
              <a:ext cx="8980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自动清洗与标签化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095750" y="5048250"/>
            <a:ext cx="2476500" cy="666750"/>
            <a:chOff x="4095750" y="5048250"/>
            <a:chExt cx="2476500" cy="666750"/>
          </a:xfrm>
        </p:grpSpPr>
        <p:sp>
          <p:nvSpPr>
            <p:cNvPr id="56" name="Freeform 56"/>
            <p:cNvSpPr/>
            <p:nvPr/>
          </p:nvSpPr>
          <p:spPr>
            <a:xfrm>
              <a:off x="4095750" y="5048250"/>
              <a:ext cx="2476500" cy="666750"/>
            </a:xfrm>
            <a:custGeom>
              <a:avLst/>
              <a:gdLst/>
              <a:ahLst/>
              <a:cxnLst/>
              <a:rect l="l" t="t" r="r" b="b"/>
              <a:pathLst>
                <a:path w="2476500" h="6667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590550"/>
                  </a:lnTo>
                  <a:cubicBezTo>
                    <a:pt x="2476500" y="632634"/>
                    <a:pt x="2442384" y="666750"/>
                    <a:pt x="2400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9050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698533" y="5209699"/>
              <a:ext cx="1270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实时洞察 + 预测模型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59913" y="5416391"/>
              <a:ext cx="5481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 归因引擎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048500" y="5048250"/>
            <a:ext cx="2667000" cy="666750"/>
            <a:chOff x="7048500" y="5048250"/>
            <a:chExt cx="2667000" cy="666750"/>
          </a:xfrm>
        </p:grpSpPr>
        <p:sp>
          <p:nvSpPr>
            <p:cNvPr id="60" name="Freeform 60"/>
            <p:cNvSpPr/>
            <p:nvPr/>
          </p:nvSpPr>
          <p:spPr>
            <a:xfrm>
              <a:off x="7048500" y="5048250"/>
              <a:ext cx="2667000" cy="666750"/>
            </a:xfrm>
            <a:custGeom>
              <a:avLst/>
              <a:gdLst/>
              <a:ahLst/>
              <a:cxnLst/>
              <a:rect l="l" t="t" r="r" b="b"/>
              <a:pathLst>
                <a:path w="2667000" h="666750">
                  <a:moveTo>
                    <a:pt x="76200" y="0"/>
                  </a:moveTo>
                  <a:lnTo>
                    <a:pt x="2590800" y="0"/>
                  </a:lnTo>
                  <a:cubicBezTo>
                    <a:pt x="2632884" y="0"/>
                    <a:pt x="2667000" y="34116"/>
                    <a:pt x="2667000" y="76200"/>
                  </a:cubicBezTo>
                  <a:lnTo>
                    <a:pt x="2667000" y="590550"/>
                  </a:lnTo>
                  <a:cubicBezTo>
                    <a:pt x="2667000" y="632634"/>
                    <a:pt x="2632884" y="666750"/>
                    <a:pt x="25908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19050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39807" y="5209699"/>
              <a:ext cx="16843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多渠道推送 + 智能素材生成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78254" y="5416391"/>
              <a:ext cx="807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 A/B 自动决策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191750" y="5048250"/>
            <a:ext cx="1714500" cy="666750"/>
            <a:chOff x="10191750" y="5048250"/>
            <a:chExt cx="1714500" cy="666750"/>
          </a:xfrm>
        </p:grpSpPr>
        <p:sp>
          <p:nvSpPr>
            <p:cNvPr id="64" name="Freeform 64"/>
            <p:cNvSpPr/>
            <p:nvPr/>
          </p:nvSpPr>
          <p:spPr>
            <a:xfrm>
              <a:off x="10191750" y="5048250"/>
              <a:ext cx="1714500" cy="666750"/>
            </a:xfrm>
            <a:custGeom>
              <a:avLst/>
              <a:gdLst/>
              <a:ahLst/>
              <a:cxnLst/>
              <a:rect l="l" t="t" r="r" b="b"/>
              <a:pathLst>
                <a:path w="1714500" h="666750">
                  <a:moveTo>
                    <a:pt x="76200" y="0"/>
                  </a:moveTo>
                  <a:lnTo>
                    <a:pt x="1638300" y="0"/>
                  </a:lnTo>
                  <a:cubicBezTo>
                    <a:pt x="1680384" y="0"/>
                    <a:pt x="1714500" y="34116"/>
                    <a:pt x="1714500" y="76200"/>
                  </a:cubicBezTo>
                  <a:lnTo>
                    <a:pt x="1714500" y="590550"/>
                  </a:lnTo>
                  <a:cubicBezTo>
                    <a:pt x="1714500" y="632634"/>
                    <a:pt x="1680384" y="666750"/>
                    <a:pt x="1638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5">
                <a:alpha val="15000"/>
              </a:schemeClr>
            </a:solidFill>
            <a:ln w="19050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699504" y="5209699"/>
              <a:ext cx="6989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全链路归因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513238" y="5416391"/>
              <a:ext cx="10715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ROI 看板 + 异常预警</a:t>
              </a:r>
            </a:p>
          </p:txBody>
        </p:sp>
      </p:grpSp>
      <p:sp>
        <p:nvSpPr>
          <p:cNvPr id="68" name="Line 68"/>
          <p:cNvSpPr/>
          <p:nvPr/>
        </p:nvSpPr>
        <p:spPr>
          <a:xfrm>
            <a:off x="2381250" y="4524375"/>
            <a:ext cx="190500" cy="523875"/>
          </a:xfrm>
          <a:custGeom>
            <a:avLst/>
            <a:gdLst/>
            <a:ahLst/>
            <a:cxnLst/>
            <a:rect l="l" t="t" r="r" b="b"/>
            <a:pathLst>
              <a:path w="190500" h="523875">
                <a:moveTo>
                  <a:pt x="0" y="0"/>
                </a:moveTo>
                <a:lnTo>
                  <a:pt x="190500" y="523875"/>
                </a:lnTo>
              </a:path>
            </a:pathLst>
          </a:custGeom>
          <a:noFill/>
          <a:ln w="19050">
            <a:solidFill>
              <a:schemeClr val="accent4"/>
            </a:solidFill>
            <a:custDash>
              <a:ds d="200000" sp="150000"/>
            </a:custDash>
          </a:ln>
        </p:spPr>
      </p:sp>
      <p:sp>
        <p:nvSpPr>
          <p:cNvPr id="69" name="Line 69"/>
          <p:cNvSpPr/>
          <p:nvPr/>
        </p:nvSpPr>
        <p:spPr>
          <a:xfrm>
            <a:off x="5334000" y="4429125"/>
            <a:ext cx="9525" cy="619125"/>
          </a:xfrm>
          <a:custGeom>
            <a:avLst/>
            <a:gdLst/>
            <a:ahLst/>
            <a:cxnLst/>
            <a:rect l="l" t="t" r="r" b="b"/>
            <a:pathLst>
              <a:path w="952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/>
          <a:ln w="19050">
            <a:solidFill>
              <a:schemeClr val="accent4"/>
            </a:solidFill>
            <a:custDash>
              <a:ds d="200000" sp="150000"/>
            </a:custDash>
          </a:ln>
        </p:spPr>
      </p:sp>
      <p:sp>
        <p:nvSpPr>
          <p:cNvPr id="70" name="Line 70"/>
          <p:cNvSpPr/>
          <p:nvPr/>
        </p:nvSpPr>
        <p:spPr>
          <a:xfrm>
            <a:off x="8286750" y="4333875"/>
            <a:ext cx="95250" cy="714375"/>
          </a:xfrm>
          <a:custGeom>
            <a:avLst/>
            <a:gdLst/>
            <a:ahLst/>
            <a:cxnLst/>
            <a:rect l="l" t="t" r="r" b="b"/>
            <a:pathLst>
              <a:path w="95250" h="714375">
                <a:moveTo>
                  <a:pt x="0" y="0"/>
                </a:moveTo>
                <a:lnTo>
                  <a:pt x="95250" y="714375"/>
                </a:lnTo>
              </a:path>
            </a:pathLst>
          </a:custGeom>
          <a:noFill/>
          <a:ln w="19050">
            <a:solidFill>
              <a:schemeClr val="accent4"/>
            </a:solidFill>
            <a:custDash>
              <a:ds d="200000" sp="150000"/>
            </a:custDash>
          </a:ln>
        </p:spPr>
      </p:sp>
      <p:sp>
        <p:nvSpPr>
          <p:cNvPr id="71" name="Line 71"/>
          <p:cNvSpPr/>
          <p:nvPr/>
        </p:nvSpPr>
        <p:spPr>
          <a:xfrm>
            <a:off x="10001250" y="4238625"/>
            <a:ext cx="1047750" cy="809625"/>
          </a:xfrm>
          <a:custGeom>
            <a:avLst/>
            <a:gdLst/>
            <a:ahLst/>
            <a:cxnLst/>
            <a:rect l="l" t="t" r="r" b="b"/>
            <a:pathLst>
              <a:path w="1047750" h="809625">
                <a:moveTo>
                  <a:pt x="0" y="0"/>
                </a:moveTo>
                <a:lnTo>
                  <a:pt x="1047750" y="809625"/>
                </a:lnTo>
              </a:path>
            </a:pathLst>
          </a:custGeom>
          <a:noFill/>
          <a:ln w="19050">
            <a:solidFill>
              <a:schemeClr val="accent4"/>
            </a:solidFill>
            <a:custDash>
              <a:ds d="200000" sp="150000"/>
            </a:custDash>
          </a:ln>
        </p:spPr>
      </p:sp>
      <p:sp>
        <p:nvSpPr>
          <p:cNvPr id="72" name="Polyline 72"/>
          <p:cNvSpPr/>
          <p:nvPr/>
        </p:nvSpPr>
        <p:spPr>
          <a:xfrm>
            <a:off x="10953750" y="952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190500"/>
                </a:moveTo>
                <a:lnTo>
                  <a:pt x="142875" y="0"/>
                </a:lnTo>
                <a:lnTo>
                  <a:pt x="285750" y="190500"/>
                </a:lnTo>
                <a:lnTo>
                  <a:pt x="428625" y="0"/>
                </a:lnTo>
                <a:lnTo>
                  <a:pt x="571500" y="190500"/>
                </a:lnTo>
              </a:path>
            </a:pathLst>
          </a:custGeom>
          <a:noFill/>
          <a:ln w="28575" cap="rnd">
            <a:solidFill>
              <a:schemeClr val="accent3"/>
            </a:solidFill>
          </a:ln>
        </p:spPr>
      </p:sp>
      <p:sp>
        <p:nvSpPr>
          <p:cNvPr id="73" name="Polygon 73"/>
          <p:cNvSpPr/>
          <p:nvPr/>
        </p:nvSpPr>
        <p:spPr>
          <a:xfrm>
            <a:off x="11477625" y="5905500"/>
            <a:ext cx="476250" cy="571500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238125" y="0"/>
                </a:moveTo>
                <a:lnTo>
                  <a:pt x="476250" y="571500"/>
                </a:lnTo>
                <a:lnTo>
                  <a:pt x="0" y="571500"/>
                </a:lnTo>
                <a:close/>
              </a:path>
            </a:pathLst>
          </a:custGeom>
          <a:solidFill>
            <a:schemeClr val="accent6">
              <a:alpha val="60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74" name="Freeform 74"/>
          <p:cNvSpPr/>
          <p:nvPr/>
        </p:nvSpPr>
        <p:spPr>
          <a:xfrm>
            <a:off x="8572500" y="6350000"/>
            <a:ext cx="1143000" cy="254000"/>
          </a:xfrm>
          <a:custGeom>
            <a:avLst/>
            <a:gdLst/>
            <a:ahLst/>
            <a:cxnLst/>
            <a:rect l="l" t="t" r="r" b="b"/>
            <a:pathLst>
              <a:path w="1143000" h="254000">
                <a:moveTo>
                  <a:pt x="0" y="127000"/>
                </a:moveTo>
                <a:cubicBezTo>
                  <a:pt x="127000" y="0"/>
                  <a:pt x="254000" y="0"/>
                  <a:pt x="381000" y="127000"/>
                </a:cubicBezTo>
                <a:cubicBezTo>
                  <a:pt x="508000" y="254000"/>
                  <a:pt x="635000" y="254000"/>
                  <a:pt x="762000" y="127000"/>
                </a:cubicBezTo>
                <a:cubicBezTo>
                  <a:pt x="889000" y="0"/>
                  <a:pt x="1016000" y="0"/>
                  <a:pt x="1143000" y="127000"/>
                </a:cubicBezTo>
              </a:path>
            </a:pathLst>
          </a:custGeom>
          <a:noFill/>
          <a:ln w="28575" cap="rnd">
            <a:solidFill>
              <a:schemeClr val="accent2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297126" y="664940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7 / 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85750" y="285750"/>
            <a:ext cx="11668125" cy="6461125"/>
            <a:chOff x="285750" y="285750"/>
            <a:chExt cx="11668125" cy="6461125"/>
          </a:xfrm>
        </p:grpSpPr>
        <p:sp>
          <p:nvSpPr>
            <p:cNvPr id="5" name="Ellipse 5"/>
            <p:cNvSpPr/>
            <p:nvPr/>
          </p:nvSpPr>
          <p:spPr>
            <a:xfrm>
              <a:off x="11125200" y="457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449050" y="3524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287125" y="7620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85750" y="6350000"/>
              <a:ext cx="1714500" cy="254000"/>
            </a:xfrm>
            <a:custGeom>
              <a:avLst/>
              <a:gdLst/>
              <a:ahLst/>
              <a:cxnLst/>
              <a:rect l="l" t="t" r="r" b="b"/>
              <a:pathLst>
                <a:path w="1714500" h="254000">
                  <a:moveTo>
                    <a:pt x="0" y="127000"/>
                  </a:moveTo>
                  <a:cubicBezTo>
                    <a:pt x="190500" y="0"/>
                    <a:pt x="381000" y="0"/>
                    <a:pt x="571500" y="127000"/>
                  </a:cubicBezTo>
                  <a:cubicBezTo>
                    <a:pt x="762000" y="254000"/>
                    <a:pt x="952500" y="254000"/>
                    <a:pt x="1143000" y="127000"/>
                  </a:cubicBezTo>
                  <a:cubicBezTo>
                    <a:pt x="1333500" y="0"/>
                    <a:pt x="1524000" y="0"/>
                    <a:pt x="1714500" y="1270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1000" y="6492875"/>
              <a:ext cx="1143000" cy="254000"/>
            </a:xfrm>
            <a:custGeom>
              <a:avLst/>
              <a:gdLst/>
              <a:ahLst/>
              <a:cxnLst/>
              <a:rect l="l" t="t" r="r" b="b"/>
              <a:pathLst>
                <a:path w="1143000" h="254000">
                  <a:moveTo>
                    <a:pt x="0" y="127000"/>
                  </a:moveTo>
                  <a:cubicBezTo>
                    <a:pt x="190500" y="0"/>
                    <a:pt x="381000" y="0"/>
                    <a:pt x="571500" y="127000"/>
                  </a:cubicBezTo>
                  <a:cubicBezTo>
                    <a:pt x="762000" y="254000"/>
                    <a:pt x="952500" y="254000"/>
                    <a:pt x="1143000" y="127000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762000" y="2857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3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811000" y="2095500"/>
              <a:ext cx="142875" cy="762000"/>
            </a:xfrm>
            <a:custGeom>
              <a:avLst/>
              <a:gdLst/>
              <a:ahLst/>
              <a:cxnLst/>
              <a:rect l="l" t="t" r="r" b="b"/>
              <a:pathLst>
                <a:path w="142875" h="762000">
                  <a:moveTo>
                    <a:pt x="0" y="762000"/>
                  </a:moveTo>
                  <a:lnTo>
                    <a:pt x="142875" y="571500"/>
                  </a:lnTo>
                  <a:lnTo>
                    <a:pt x="0" y="381000"/>
                  </a:lnTo>
                  <a:lnTo>
                    <a:pt x="142875" y="190500"/>
                  </a:ln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chemeClr val="accent5"/>
              </a:solidFill>
              <a:round/>
            </a:ln>
          </p:spPr>
        </p:sp>
        <p:sp>
          <p:nvSpPr>
            <p:cNvPr id="12" name="Ellipse 12"/>
            <p:cNvSpPr/>
            <p:nvPr/>
          </p:nvSpPr>
          <p:spPr>
            <a:xfrm>
              <a:off x="11353800" y="6115050"/>
              <a:ext cx="152400" cy="15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610975" y="62293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144250" y="62865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65404" y="381000"/>
            <a:ext cx="1092129" cy="676656"/>
            <a:chOff x="565404" y="381000"/>
            <a:chExt cx="1092129" cy="676656"/>
          </a:xfrm>
        </p:grpSpPr>
        <p:sp>
          <p:nvSpPr>
            <p:cNvPr id="16" name="Rectangle 16"/>
            <p:cNvSpPr/>
            <p:nvPr/>
          </p:nvSpPr>
          <p:spPr>
            <a:xfrm>
              <a:off x="571500" y="381000"/>
              <a:ext cx="762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3618" y="488632"/>
              <a:ext cx="903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PAGE 08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404" y="822960"/>
              <a:ext cx="1061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AI 营销工作台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2500" y="1070610"/>
            <a:ext cx="10096500" cy="4644390"/>
            <a:chOff x="952500" y="1070610"/>
            <a:chExt cx="10096500" cy="4644390"/>
          </a:xfrm>
        </p:grpSpPr>
        <p:sp>
          <p:nvSpPr>
            <p:cNvPr id="20" name="TextBox 20"/>
            <p:cNvSpPr txBox="1"/>
            <p:nvPr/>
          </p:nvSpPr>
          <p:spPr>
            <a:xfrm>
              <a:off x="4889602" y="1070610"/>
              <a:ext cx="24127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行动路径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05160" y="174307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接下来的 12 周，我们这样推进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143000" y="3810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 cap="rnd">
              <a:solidFill>
                <a:schemeClr val="accent4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858500" y="3695700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52500" y="3619500"/>
              <a:ext cx="1905000" cy="2095500"/>
              <a:chOff x="952500" y="3619500"/>
              <a:chExt cx="1905000" cy="20955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1714500" y="3619500"/>
                <a:ext cx="381000" cy="3810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56192" y="3730942"/>
                <a:ext cx="4976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8EE"/>
                    </a:solidFill>
                    <a:latin typeface="+mj-lt"/>
                    <a:ea typeface="+mj-ea"/>
                    <a:cs typeface="+mj-cs"/>
                  </a:rPr>
                  <a:t>W1-2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952500" y="4191000"/>
                <a:ext cx="1905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524000">
                    <a:moveTo>
                      <a:pt x="114300" y="0"/>
                    </a:moveTo>
                    <a:lnTo>
                      <a:pt x="1790700" y="0"/>
                    </a:lnTo>
                    <a:cubicBezTo>
                      <a:pt x="1853826" y="0"/>
                      <a:pt x="1905000" y="51174"/>
                      <a:pt x="1905000" y="114300"/>
                    </a:cubicBezTo>
                    <a:lnTo>
                      <a:pt x="1905000" y="1409700"/>
                    </a:lnTo>
                    <a:cubicBezTo>
                      <a:pt x="1905000" y="1472826"/>
                      <a:pt x="1853826" y="1524000"/>
                      <a:pt x="17907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473327" y="4362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启动阶段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75816" y="47282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需求对齐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575816" y="49568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数据审计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1238250" y="5191125"/>
                <a:ext cx="1333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42900">
                    <a:moveTo>
                      <a:pt x="76200" y="0"/>
                    </a:moveTo>
                    <a:lnTo>
                      <a:pt x="1257300" y="0"/>
                    </a:lnTo>
                    <a:cubicBezTo>
                      <a:pt x="1299384" y="0"/>
                      <a:pt x="1333500" y="34116"/>
                      <a:pt x="1333500" y="76200"/>
                    </a:cubicBezTo>
                    <a:lnTo>
                      <a:pt x="1333500" y="266700"/>
                    </a:lnTo>
                    <a:cubicBezTo>
                      <a:pt x="1333500" y="308784"/>
                      <a:pt x="1299384" y="342900"/>
                      <a:pt x="1257300" y="342900"/>
                    </a:cubicBezTo>
                    <a:lnTo>
                      <a:pt x="76200" y="342900"/>
                    </a:lnTo>
                    <a:cubicBezTo>
                      <a:pt x="34116" y="342900"/>
                      <a:pt x="0" y="308784"/>
                      <a:pt x="0" y="2667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454410" y="5306378"/>
                <a:ext cx="901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确认接入范围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238500" y="3619500"/>
              <a:ext cx="1905000" cy="2095500"/>
              <a:chOff x="3238500" y="3619500"/>
              <a:chExt cx="1905000" cy="20955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4000500" y="361950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942192" y="3730942"/>
                <a:ext cx="4976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8EE"/>
                    </a:solidFill>
                    <a:latin typeface="+mj-lt"/>
                    <a:ea typeface="+mj-ea"/>
                    <a:cs typeface="+mj-cs"/>
                  </a:rPr>
                  <a:t>W3-4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238500" y="4191000"/>
                <a:ext cx="1905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524000">
                    <a:moveTo>
                      <a:pt x="114300" y="0"/>
                    </a:moveTo>
                    <a:lnTo>
                      <a:pt x="1790700" y="0"/>
                    </a:lnTo>
                    <a:cubicBezTo>
                      <a:pt x="1853826" y="0"/>
                      <a:pt x="1905000" y="51174"/>
                      <a:pt x="1905000" y="114300"/>
                    </a:cubicBezTo>
                    <a:lnTo>
                      <a:pt x="1905000" y="1409700"/>
                    </a:lnTo>
                    <a:cubicBezTo>
                      <a:pt x="1905000" y="1472826"/>
                      <a:pt x="1853826" y="1524000"/>
                      <a:pt x="17907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759327" y="4362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对接阶段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861816" y="47282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系统对接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700272" y="49568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标签体系搭建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3524250" y="5191125"/>
                <a:ext cx="1333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42900">
                    <a:moveTo>
                      <a:pt x="76200" y="0"/>
                    </a:moveTo>
                    <a:lnTo>
                      <a:pt x="1257300" y="0"/>
                    </a:lnTo>
                    <a:cubicBezTo>
                      <a:pt x="1299384" y="0"/>
                      <a:pt x="1333500" y="34116"/>
                      <a:pt x="1333500" y="76200"/>
                    </a:cubicBezTo>
                    <a:lnTo>
                      <a:pt x="1333500" y="266700"/>
                    </a:lnTo>
                    <a:cubicBezTo>
                      <a:pt x="1333500" y="308784"/>
                      <a:pt x="1299384" y="342900"/>
                      <a:pt x="1257300" y="342900"/>
                    </a:cubicBezTo>
                    <a:lnTo>
                      <a:pt x="76200" y="342900"/>
                    </a:lnTo>
                    <a:cubicBezTo>
                      <a:pt x="34116" y="342900"/>
                      <a:pt x="0" y="308784"/>
                      <a:pt x="0" y="2667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740410" y="5306378"/>
                <a:ext cx="901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完成数据贯通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524500" y="3619500"/>
              <a:ext cx="1905000" cy="2095500"/>
              <a:chOff x="5524500" y="3619500"/>
              <a:chExt cx="1905000" cy="20955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286500" y="3619500"/>
                <a:ext cx="381000" cy="381000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228192" y="3730942"/>
                <a:ext cx="4976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W5-8</a:t>
                </a:r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5524500" y="4191000"/>
                <a:ext cx="1905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524000">
                    <a:moveTo>
                      <a:pt x="114300" y="0"/>
                    </a:moveTo>
                    <a:lnTo>
                      <a:pt x="1790700" y="0"/>
                    </a:lnTo>
                    <a:cubicBezTo>
                      <a:pt x="1853826" y="0"/>
                      <a:pt x="1905000" y="51174"/>
                      <a:pt x="1905000" y="114300"/>
                    </a:cubicBezTo>
                    <a:lnTo>
                      <a:pt x="1905000" y="1409700"/>
                    </a:lnTo>
                    <a:cubicBezTo>
                      <a:pt x="1905000" y="1472826"/>
                      <a:pt x="1853826" y="1524000"/>
                      <a:pt x="17907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045327" y="4362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验证阶段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056986" y="4728210"/>
                <a:ext cx="8400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AI模型调优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905500" y="49568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自动化流程上线</a:t>
                </a:r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5810250" y="5191125"/>
                <a:ext cx="1333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42900">
                    <a:moveTo>
                      <a:pt x="76200" y="0"/>
                    </a:moveTo>
                    <a:lnTo>
                      <a:pt x="1257300" y="0"/>
                    </a:lnTo>
                    <a:cubicBezTo>
                      <a:pt x="1299384" y="0"/>
                      <a:pt x="1333500" y="34116"/>
                      <a:pt x="1333500" y="76200"/>
                    </a:cubicBezTo>
                    <a:lnTo>
                      <a:pt x="1333500" y="266700"/>
                    </a:lnTo>
                    <a:cubicBezTo>
                      <a:pt x="1333500" y="308784"/>
                      <a:pt x="1299384" y="342900"/>
                      <a:pt x="1257300" y="342900"/>
                    </a:cubicBezTo>
                    <a:lnTo>
                      <a:pt x="76200" y="342900"/>
                    </a:lnTo>
                    <a:cubicBezTo>
                      <a:pt x="34116" y="342900"/>
                      <a:pt x="0" y="308784"/>
                      <a:pt x="0" y="2667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100620" y="5306378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小范围验证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810500" y="3619500"/>
              <a:ext cx="1905000" cy="2095500"/>
              <a:chOff x="7810500" y="3619500"/>
              <a:chExt cx="1905000" cy="2095500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8572500" y="3619500"/>
                <a:ext cx="381000" cy="381000"/>
              </a:xfrm>
              <a:prstGeom prst="ellipse">
                <a:avLst/>
              </a:prstGeom>
              <a:solidFill>
                <a:schemeClr val="accent5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458745" y="3730942"/>
                <a:ext cx="608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8EE"/>
                    </a:solidFill>
                    <a:latin typeface="+mj-lt"/>
                    <a:ea typeface="+mj-ea"/>
                    <a:cs typeface="+mj-cs"/>
                  </a:rPr>
                  <a:t>W9-12</a:t>
                </a:r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7810500" y="4191000"/>
                <a:ext cx="1905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524000">
                    <a:moveTo>
                      <a:pt x="114300" y="0"/>
                    </a:moveTo>
                    <a:lnTo>
                      <a:pt x="1790700" y="0"/>
                    </a:lnTo>
                    <a:cubicBezTo>
                      <a:pt x="1853826" y="0"/>
                      <a:pt x="1905000" y="51174"/>
                      <a:pt x="1905000" y="114300"/>
                    </a:cubicBezTo>
                    <a:lnTo>
                      <a:pt x="1905000" y="1409700"/>
                    </a:lnTo>
                    <a:cubicBezTo>
                      <a:pt x="1905000" y="1472826"/>
                      <a:pt x="1853826" y="1524000"/>
                      <a:pt x="17907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225314" y="4362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规模化阶段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353044" y="47282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全渠道切换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33816" y="49568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效果评估</a:t>
                </a:r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8096250" y="5191125"/>
                <a:ext cx="13335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342900">
                    <a:moveTo>
                      <a:pt x="76200" y="0"/>
                    </a:moveTo>
                    <a:lnTo>
                      <a:pt x="1257300" y="0"/>
                    </a:lnTo>
                    <a:cubicBezTo>
                      <a:pt x="1299384" y="0"/>
                      <a:pt x="1333500" y="34116"/>
                      <a:pt x="1333500" y="76200"/>
                    </a:cubicBezTo>
                    <a:lnTo>
                      <a:pt x="1333500" y="266700"/>
                    </a:lnTo>
                    <a:cubicBezTo>
                      <a:pt x="1333500" y="308784"/>
                      <a:pt x="1299384" y="342900"/>
                      <a:pt x="1257300" y="342900"/>
                    </a:cubicBezTo>
                    <a:lnTo>
                      <a:pt x="76200" y="342900"/>
                    </a:lnTo>
                    <a:cubicBezTo>
                      <a:pt x="34116" y="342900"/>
                      <a:pt x="0" y="308784"/>
                      <a:pt x="0" y="2667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9050">
                <a:solidFill>
                  <a:schemeClr val="accent4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238201" y="5306378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8EE"/>
                    </a:solidFill>
                    <a:latin typeface="+mn-lt"/>
                    <a:ea typeface="+mn-ea"/>
                    <a:cs typeface="+mn-cs"/>
                  </a:rPr>
                  <a:t>准备规模化推广</a:t>
                </a:r>
              </a:p>
            </p:txBody>
          </p:sp>
        </p:grpSp>
        <p:sp>
          <p:nvSpPr>
            <p:cNvPr id="60" name="Freeform 60"/>
            <p:cNvSpPr/>
            <p:nvPr/>
          </p:nvSpPr>
          <p:spPr>
            <a:xfrm>
              <a:off x="2381250" y="3810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61" name="Freeform 61"/>
            <p:cNvSpPr/>
            <p:nvPr/>
          </p:nvSpPr>
          <p:spPr>
            <a:xfrm>
              <a:off x="4667250" y="3810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62" name="Freeform 62"/>
            <p:cNvSpPr/>
            <p:nvPr/>
          </p:nvSpPr>
          <p:spPr>
            <a:xfrm>
              <a:off x="6953250" y="3810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657922" y="32842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需求对齐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657922" y="3408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数据审计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943922" y="32842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系统对接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943922" y="3408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标签体系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61799" y="3284220"/>
              <a:ext cx="6304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AI模型调优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69342" y="34080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自动化上线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55342" y="32842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全渠道切换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15922" y="3408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效果评估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6477000"/>
            <a:ext cx="10668000" cy="330137"/>
            <a:chOff x="571500" y="6477000"/>
            <a:chExt cx="10668000" cy="330137"/>
          </a:xfrm>
        </p:grpSpPr>
        <p:sp>
          <p:nvSpPr>
            <p:cNvPr id="72" name="Line 72"/>
            <p:cNvSpPr/>
            <p:nvPr/>
          </p:nvSpPr>
          <p:spPr>
            <a:xfrm>
              <a:off x="5715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075072" y="6601778"/>
              <a:ext cx="2041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 AI 营销工作台 · 行动路径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668000" y="5905500"/>
            <a:ext cx="571500" cy="571500"/>
            <a:chOff x="10668000" y="5905500"/>
            <a:chExt cx="571500" cy="571500"/>
          </a:xfrm>
        </p:grpSpPr>
        <p:sp>
          <p:nvSpPr>
            <p:cNvPr id="75" name="Rectangle 75"/>
            <p:cNvSpPr/>
            <p:nvPr/>
          </p:nvSpPr>
          <p:spPr>
            <a:xfrm>
              <a:off x="10668000" y="5905500"/>
              <a:ext cx="571500" cy="571500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  <a:prstDash val="lgDash"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1A2E"/>
      </a:dk1>
      <a:lt1>
        <a:srgbClr val="FFF8EE"/>
      </a:lt1>
      <a:dk2>
        <a:srgbClr val="5C5C7A"/>
      </a:dk2>
      <a:lt2>
        <a:srgbClr val="FFE9C7"/>
      </a:lt2>
      <a:accent1>
        <a:srgbClr val="FF3DA5"/>
      </a:accent1>
      <a:accent2>
        <a:srgbClr val="00B8D9"/>
      </a:accent2>
      <a:accent3>
        <a:srgbClr val="FFD93D"/>
      </a:accent3>
      <a:accent4>
        <a:srgbClr val="1A1A2E"/>
      </a:accent4>
      <a:accent5>
        <a:srgbClr val="00C896"/>
      </a:accent5>
      <a:accent6>
        <a:srgbClr val="FF6B4A"/>
      </a:accent6>
      <a:hlink>
        <a:srgbClr val="00B8D9"/>
      </a:hlink>
      <a:folHlink>
        <a:srgbClr val="FFD93D"/>
      </a:folHlink>
    </a:clrScheme>
    <a:fontScheme name="PPT Master">
      <a:majorFont>
        <a:latin typeface="Impact"/>
        <a:ea typeface="Microsoft YaHei"/>
        <a:cs typeface="Impac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1A2E"/>
      </a:dk1>
      <a:lt1>
        <a:srgbClr val="FFF8EE"/>
      </a:lt1>
      <a:dk2>
        <a:srgbClr val="5C5C7A"/>
      </a:dk2>
      <a:lt2>
        <a:srgbClr val="FFE9C7"/>
      </a:lt2>
      <a:accent1>
        <a:srgbClr val="FF3DA5"/>
      </a:accent1>
      <a:accent2>
        <a:srgbClr val="00B8D9"/>
      </a:accent2>
      <a:accent3>
        <a:srgbClr val="FFD93D"/>
      </a:accent3>
      <a:accent4>
        <a:srgbClr val="1A1A2E"/>
      </a:accent4>
      <a:accent5>
        <a:srgbClr val="00C896"/>
      </a:accent5>
      <a:accent6>
        <a:srgbClr val="FF6B4A"/>
      </a:accent6>
      <a:hlink>
        <a:srgbClr val="00B8D9"/>
      </a:hlink>
      <a:folHlink>
        <a:srgbClr val="FFD93D"/>
      </a:folHlink>
    </a:clrScheme>
    <a:fontScheme name="PPT Master">
      <a:majorFont>
        <a:latin typeface="Impact"/>
        <a:ea typeface="Microsoft YaHei"/>
        <a:cs typeface="Impac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2026-07-11T09:43:26Z</dcterms:created>
  <dcterms:modified xsi:type="dcterms:W3CDTF">2026-07-11T09:43:26Z</dcterms:modified>
  <cp:category/>
  <cp:contentStatus/>
</cp:coreProperties>
</file>