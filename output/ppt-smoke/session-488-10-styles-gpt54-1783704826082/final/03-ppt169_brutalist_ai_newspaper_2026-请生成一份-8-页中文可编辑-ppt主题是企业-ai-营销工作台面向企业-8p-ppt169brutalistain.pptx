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把分散的数据、分析、执行与度量收进一个工作台，核心价值不是多一个工具，而是把营销决策周期从周缩短到天。</a:t>
            </a:r>
          </a:p>
          <a:p>
            <a:endParaRPr lang="en-US" dirty="0"/>
          </a:p>
          <a:p>
            <a:r>
              <a:rPr lang="zh-CN" dirty="0"/>
              <a:t>• 客户触点统一进入一套经营视图</a:t>
            </a:r>
          </a:p>
          <a:p>
            <a:r>
              <a:rPr lang="zh-CN" dirty="0"/>
              <a:t>• AI直接参与洞察、编排与复盘</a:t>
            </a:r>
          </a:p>
          <a:p>
            <a:r>
              <a:rPr lang="zh-CN" dirty="0"/>
              <a:t>• 先解决增长效率，再扩大自动化范围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本次判断</a:t>
            </a:r>
          </a:p>
          <a:p>
            <a:endParaRPr lang="en-US" dirty="0"/>
          </a:p>
          <a:p>
            <a:r>
              <a:rPr lang="zh-CN" dirty="0"/>
              <a:t>这不是单点AI功能堆叠，而是一套把营销经营闭环标准化的平台能力。</a:t>
            </a:r>
          </a:p>
          <a:p>
            <a:endParaRPr lang="en-US" dirty="0"/>
          </a:p>
          <a:p>
            <a:r>
              <a:rPr lang="zh-CN" dirty="0"/>
              <a:t>• 先看为什么现在要上</a:t>
            </a:r>
          </a:p>
          <a:p>
            <a:r>
              <a:rPr lang="zh-CN" dirty="0"/>
              <a:t>• 再看四个模块如何闭环</a:t>
            </a:r>
          </a:p>
          <a:p>
            <a:r>
              <a:rPr lang="zh-CN" dirty="0"/>
              <a:t>• 最后给出上线边界与推进节奏</a:t>
            </a:r>
          </a:p>
          <a:p>
            <a:r>
              <a:rPr lang="zh-CN" dirty="0"/>
              <a:t>• 业务现状与判断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增长损耗</a:t>
            </a:r>
          </a:p>
          <a:p>
            <a:endParaRPr lang="en-US" dirty="0"/>
          </a:p>
          <a:p>
            <a:r>
              <a:rPr lang="zh-CN" dirty="0"/>
              <a:t>大多数企业并不缺营销动作，缺的是把数据、策略、内容和转化放进同一套决策回路的能力。</a:t>
            </a:r>
          </a:p>
          <a:p>
            <a:endParaRPr lang="en-US" dirty="0"/>
          </a:p>
          <a:p>
            <a:r>
              <a:rPr lang="zh-CN" dirty="0"/>
              <a:t>• 数据分散，口径长期不一</a:t>
            </a:r>
          </a:p>
          <a:p>
            <a:r>
              <a:rPr lang="zh-CN" dirty="0"/>
              <a:t>• 分析靠人工串表，反应慢</a:t>
            </a:r>
          </a:p>
          <a:p>
            <a:r>
              <a:rPr lang="zh-CN" dirty="0"/>
              <a:t>• 执行与复盘脱节，难以复用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四段闭环</a:t>
            </a:r>
          </a:p>
          <a:p>
            <a:endParaRPr lang="en-US" dirty="0"/>
          </a:p>
          <a:p>
            <a:r>
              <a:rPr lang="zh-CN" dirty="0"/>
              <a:t>这套SaaS的价值在于四个模块共用同一工作台，而不是各模块各自最强。</a:t>
            </a:r>
          </a:p>
          <a:p>
            <a:endParaRPr lang="en-US" dirty="0"/>
          </a:p>
          <a:p>
            <a:r>
              <a:rPr lang="zh-CN" dirty="0"/>
              <a:t>• 每个模块都直接服务经营动作</a:t>
            </a:r>
          </a:p>
          <a:p>
            <a:r>
              <a:rPr lang="zh-CN" dirty="0"/>
              <a:t>• 模块之间共享数据与反馈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业务证据</a:t>
            </a:r>
          </a:p>
          <a:p>
            <a:endParaRPr lang="en-US" dirty="0"/>
          </a:p>
          <a:p>
            <a:r>
              <a:rPr lang="zh-CN" dirty="0"/>
              <a:t>管理层真正买单的不是AI本身，而是线索质量、投放效率和复购经营的可见改善。</a:t>
            </a:r>
          </a:p>
          <a:p>
            <a:endParaRPr lang="en-US" dirty="0"/>
          </a:p>
          <a:p>
            <a:r>
              <a:rPr lang="zh-CN" dirty="0"/>
              <a:t>• 优先验证能直接反映经营结果的场景</a:t>
            </a:r>
          </a:p>
          <a:p>
            <a:r>
              <a:rPr lang="zh-CN" dirty="0"/>
              <a:t>• 先跑高频、可量化、可复制的流程</a:t>
            </a:r>
          </a:p>
          <a:p>
            <a:r>
              <a:rPr lang="zh-CN" dirty="0"/>
              <a:t>• 事实锚点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管理指标</a:t>
            </a:r>
          </a:p>
          <a:p>
            <a:endParaRPr lang="en-US" dirty="0"/>
          </a:p>
          <a:p>
            <a:r>
              <a:rPr lang="zh-CN" dirty="0"/>
              <a:t>项目成败应由经营指标衡量，而不是由接入系统数量衡量。</a:t>
            </a:r>
          </a:p>
          <a:p>
            <a:endParaRPr lang="en-US" dirty="0"/>
          </a:p>
          <a:p>
            <a:r>
              <a:rPr lang="zh-CN" dirty="0"/>
              <a:t>• 上线首期先盯效率与转化</a:t>
            </a:r>
          </a:p>
          <a:p>
            <a:r>
              <a:rPr lang="zh-CN" dirty="0"/>
              <a:t>• 第二阶段再追求规模放大</a:t>
            </a:r>
          </a:p>
          <a:p>
            <a:r>
              <a:rPr lang="zh-CN" dirty="0"/>
              <a:t>• 关键数字</a:t>
            </a:r>
          </a:p>
          <a:p>
            <a:r>
              <a:rPr lang="zh-CN" dirty="0"/>
              <a:t>• 压力指标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价值释放曲线</a:t>
            </a:r>
          </a:p>
          <a:p>
            <a:endParaRPr lang="en-US" dirty="0"/>
          </a:p>
          <a:p>
            <a:r>
              <a:rPr lang="zh-CN" dirty="0"/>
              <a:t>该项目的回报通常先体现在效率，再体现在收入，因此推进方式必须按价值爬坡来设计。</a:t>
            </a:r>
          </a:p>
          <a:p>
            <a:endParaRPr lang="en-US" dirty="0"/>
          </a:p>
          <a:p>
            <a:r>
              <a:rPr lang="zh-CN" dirty="0"/>
              <a:t>• 前90天重在打通与看清</a:t>
            </a:r>
          </a:p>
          <a:p>
            <a:r>
              <a:rPr lang="zh-CN" dirty="0"/>
              <a:t>• 180天后进入自动优化</a:t>
            </a:r>
          </a:p>
          <a:p>
            <a:r>
              <a:rPr lang="zh-CN" dirty="0"/>
              <a:t>• 主轴关系</a:t>
            </a:r>
          </a:p>
          <a:p>
            <a:r>
              <a:rPr lang="zh-CN" dirty="0"/>
              <a:t>• 外溢路径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</a:t>
            </a:r>
          </a:p>
          <a:p>
            <a:endParaRPr lang="en-US" dirty="0"/>
          </a:p>
          <a:p>
            <a:r>
              <a:rPr lang="zh-CN" dirty="0"/>
              <a:t>建议以一条重点业务线先行，90天交付首版，确认效果后再扩展到多渠道与多区域。</a:t>
            </a:r>
          </a:p>
          <a:p>
            <a:endParaRPr lang="en-US" dirty="0"/>
          </a:p>
          <a:p>
            <a:r>
              <a:rPr lang="zh-CN" dirty="0"/>
              <a:t>• 先做可验证样板，再做全域复制</a:t>
            </a:r>
          </a:p>
          <a:p>
            <a:r>
              <a:rPr lang="zh-CN" dirty="0"/>
              <a:t>• 项目治理必须由业务负责人牵头</a:t>
            </a:r>
          </a:p>
          <a:p>
            <a:r>
              <a:rPr lang="zh-CN" dirty="0"/>
              <a:t>• 收束判断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c4e001565e9c75ba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54000"/>
              </a:scheme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>
                <a:alpha val="18000"/>
              </a:scheme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12192000" cy="6442234"/>
            <a:chOff x="0" y="0"/>
            <a:chExt cx="12192000" cy="6442234"/>
          </a:xfrm>
        </p:grpSpPr>
        <p:sp>
          <p:nvSpPr>
            <p:cNvPr id="7" name="Rectangle 7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876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57200" y="6172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86750" y="10287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9580" y="523875"/>
              <a:ext cx="1065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7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长桌主议题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1805" y="604838"/>
              <a:ext cx="34775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 / 08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438" y="6308884"/>
              <a:ext cx="203537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PRODUCT-LAUNCH · SAAS · MANAGEMENT BRIEF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9474" y="6308884"/>
              <a:ext cx="13200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PPT MASTER EDITORIAL COVER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77250" y="1181100"/>
            <a:ext cx="5671185" cy="4930711"/>
            <a:chOff x="8477250" y="1181100"/>
            <a:chExt cx="5671185" cy="4930711"/>
          </a:xfrm>
        </p:grpSpPr>
        <p:sp>
          <p:nvSpPr>
            <p:cNvPr id="16" name="Rectangle 16"/>
            <p:cNvSpPr/>
            <p:nvPr/>
          </p:nvSpPr>
          <p:spPr>
            <a:xfrm>
              <a:off x="8496300" y="1181100"/>
              <a:ext cx="28575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86597" y="1228249"/>
              <a:ext cx="27435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rPr>
                <a:t>ENTERPRISE AI MARKETING WORKBENCH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77250" y="1641158"/>
              <a:ext cx="2563216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150" spc="7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企业AI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77250" y="2441258"/>
              <a:ext cx="4218051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150" spc="7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496300" y="32956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87537" y="3547586"/>
              <a:ext cx="56608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把分散的数据、分析、执行与度量收进一个工作台，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87537" y="3871436"/>
              <a:ext cx="56608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核心价值不是多一个工具，而是把营销决策周期从周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7537" y="4195286"/>
              <a:ext cx="124434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缩短到天。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496300" y="4629150"/>
              <a:ext cx="2857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89823" y="4796314"/>
              <a:ext cx="259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Georgia"/>
                  <a:ea typeface="SimSun"/>
                  <a:cs typeface="Georgia"/>
                </a:rPr>
                <a:t>“先把经营视图合成一张桌面，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89823" y="5043964"/>
              <a:ext cx="27877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Georgia"/>
                  <a:ea typeface="SimSun"/>
                  <a:cs typeface="Georgia"/>
                </a:rPr>
                <a:t>再让 AI 进入判断与动作。”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90966" y="5449252"/>
              <a:ext cx="2101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客户触点统一进入一套经营视图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90966" y="5677852"/>
              <a:ext cx="2341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AI直接参与洞察、编排与复盘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90966" y="5906452"/>
              <a:ext cx="2400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先解决增长效率，再扩大自动化范围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52438" y="1081088"/>
            <a:ext cx="7929562" cy="4871751"/>
            <a:chOff x="452438" y="1081088"/>
            <a:chExt cx="7929562" cy="4871751"/>
          </a:xfrm>
        </p:grpSpPr>
        <p:sp>
          <p:nvSpPr>
            <p:cNvPr id="31" name="Rectangle 31"/>
            <p:cNvSpPr/>
            <p:nvPr/>
          </p:nvSpPr>
          <p:spPr>
            <a:xfrm>
              <a:off x="457200" y="5219700"/>
              <a:ext cx="3067050" cy="685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57200" y="5219700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5216" y="5334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本页主轴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5597" y="5571649"/>
              <a:ext cx="20901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面向管理层定义一个统一工作台：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5597" y="5762149"/>
              <a:ext cx="32600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 → AI分析 → 自动化执行 → 效果度量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924800" y="1676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7981950" y="173355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2438" y="1081088"/>
              <a:ext cx="29912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COVER / EDITORIAL NEWSPAPER / BRUTALIST REPORTING TONE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8763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62103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8286750" y="1123950"/>
              <a:ext cx="3448050" cy="476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49580" y="242888"/>
            <a:ext cx="11289983" cy="6408896"/>
            <a:chOff x="449580" y="242888"/>
            <a:chExt cx="11289983" cy="6408896"/>
          </a:xfrm>
        </p:grpSpPr>
        <p:sp>
          <p:nvSpPr>
            <p:cNvPr id="8" name="TextBox 8"/>
            <p:cNvSpPr txBox="1"/>
            <p:nvPr/>
          </p:nvSpPr>
          <p:spPr>
            <a:xfrm>
              <a:off x="452438" y="242888"/>
              <a:ext cx="20364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P02 / AGENDA-LEDGER / PRODUCT-LAUNCH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28591" y="242888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企业 AI 营销工作台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9580" y="56197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7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议程清单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618976" y="6429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438" y="6518434"/>
              <a:ext cx="177134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SAAS GO-TO-MARKET / EXECUTIVE BRIEF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03447" y="6518434"/>
              <a:ext cx="153611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PPT MASTER BRUTALIST NEWSPAPER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38150" y="1048702"/>
            <a:ext cx="10972800" cy="5047298"/>
            <a:chOff x="438150" y="1048702"/>
            <a:chExt cx="10972800" cy="5047298"/>
          </a:xfrm>
        </p:grpSpPr>
        <p:sp>
          <p:nvSpPr>
            <p:cNvPr id="15" name="TextBox 15"/>
            <p:cNvSpPr txBox="1"/>
            <p:nvPr/>
          </p:nvSpPr>
          <p:spPr>
            <a:xfrm>
              <a:off x="438150" y="1048702"/>
              <a:ext cx="223408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spc="38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本次判断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8442" y="1702118"/>
              <a:ext cx="604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这不是单点AI功能堆叠，而是一套把营销经营闭环标准化的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8442" y="193071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平台能力。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7200" y="2190750"/>
              <a:ext cx="76581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8150" y="1834515"/>
              <a:ext cx="50455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spc="1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29868" y="2336482"/>
              <a:ext cx="1612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7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SECTION PATH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2916" y="2629852"/>
              <a:ext cx="3512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从动因 → 能力 → 落地 → 管理视角，按经营闭环展开。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57200" y="3124200"/>
              <a:ext cx="7658100" cy="9525"/>
            </a:xfrm>
            <a:custGeom>
              <a:avLst/>
              <a:gdLst/>
              <a:ahLst/>
              <a:cxnLst/>
              <a:rect l="l" t="t" r="r" b="b"/>
              <a:pathLst>
                <a:path w="7658100" h="9525">
                  <a:moveTo>
                    <a:pt x="0" y="0"/>
                  </a:moveTo>
                  <a:lnTo>
                    <a:pt x="7658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7200" y="3314700"/>
              <a:ext cx="7658100" cy="552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1782" y="34499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8156" y="33585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先看为什么现在要上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52347" y="3657124"/>
              <a:ext cx="52051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增长窗口、组织压力与数据碎片同时出现，AI投入已具备经营必要性。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3867150"/>
              <a:ext cx="7658100" cy="9525"/>
            </a:xfrm>
            <a:custGeom>
              <a:avLst/>
              <a:gdLst/>
              <a:ahLst/>
              <a:cxnLst/>
              <a:rect l="l" t="t" r="r" b="b"/>
              <a:pathLst>
                <a:path w="7658100" h="9525">
                  <a:moveTo>
                    <a:pt x="0" y="0"/>
                  </a:moveTo>
                  <a:lnTo>
                    <a:pt x="7658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7200" y="4057650"/>
              <a:ext cx="7658100" cy="552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1782" y="41929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48156" y="41014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再看四个模块如何闭环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2347" y="4400074"/>
              <a:ext cx="5036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数据整合、AI分析、自动化执行、效果度量串成一条可运营主链路。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" y="4610100"/>
              <a:ext cx="7658100" cy="9525"/>
            </a:xfrm>
            <a:custGeom>
              <a:avLst/>
              <a:gdLst/>
              <a:ahLst/>
              <a:cxnLst/>
              <a:rect l="l" t="t" r="r" b="b"/>
              <a:pathLst>
                <a:path w="7658100" h="9525">
                  <a:moveTo>
                    <a:pt x="0" y="0"/>
                  </a:moveTo>
                  <a:lnTo>
                    <a:pt x="7658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7200" y="4800600"/>
              <a:ext cx="7658100" cy="552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1782" y="49358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48156" y="48444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最后给出上线边界与推进节奏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52347" y="5143024"/>
              <a:ext cx="403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先聚焦高频场景与可量化目标，再逐步放大模型自治与预算协同。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57200" y="5353050"/>
              <a:ext cx="7658100" cy="9525"/>
            </a:xfrm>
            <a:custGeom>
              <a:avLst/>
              <a:gdLst/>
              <a:ahLst/>
              <a:cxnLst/>
              <a:rect l="l" t="t" r="r" b="b"/>
              <a:pathLst>
                <a:path w="7658100" h="9525">
                  <a:moveTo>
                    <a:pt x="0" y="0"/>
                  </a:moveTo>
                  <a:lnTo>
                    <a:pt x="7658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7200" y="5543550"/>
              <a:ext cx="7658100" cy="552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1782" y="5678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55873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业务现状与判断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52347" y="5885974"/>
              <a:ext cx="4309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先识别损耗与瓶颈，再判断哪些动作适合平台化、哪些仍需人工决策。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39150" y="1295400"/>
              <a:ext cx="2971800" cy="666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86216" y="1410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81644" y="15706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关键模块与价值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591550" y="22288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854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四个模块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591550" y="2628900"/>
              <a:ext cx="2819400" cy="438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18042" y="2749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数据整合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06294" y="2798445"/>
              <a:ext cx="11616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统一客户与投放口径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91550" y="3162300"/>
              <a:ext cx="2819400" cy="438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18042" y="3283268"/>
              <a:ext cx="560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AI分析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06294" y="3331845"/>
              <a:ext cx="11616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生成洞察与分群策略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591550" y="3695700"/>
              <a:ext cx="2819400" cy="438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718042" y="38166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自动化执行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78278" y="3865245"/>
              <a:ext cx="1289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编排触达、内容与预算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591550" y="4229100"/>
              <a:ext cx="2819400" cy="438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718042" y="4350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效果度量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06294" y="4398645"/>
              <a:ext cx="11616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归因复盘与经营纠偏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0001250" y="30670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10001250" y="36004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10001250" y="41338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85454" y="4918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推进提示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86597" y="5181124"/>
              <a:ext cx="1363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2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先看为什么现在要上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86597" y="5390674"/>
              <a:ext cx="1501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2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再看四个模块如何闭环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86597" y="5600224"/>
              <a:ext cx="19180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2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最后给出上线边界与推进节奏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86597" y="5809774"/>
              <a:ext cx="1085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2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业务现状与判断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52438" y="1457325"/>
            <a:ext cx="10787062" cy="4673441"/>
            <a:chOff x="452438" y="1457325"/>
            <a:chExt cx="10787062" cy="4673441"/>
          </a:xfrm>
        </p:grpSpPr>
        <p:sp>
          <p:nvSpPr>
            <p:cNvPr id="68" name="Ellipse 68"/>
            <p:cNvSpPr/>
            <p:nvPr/>
          </p:nvSpPr>
          <p:spPr>
            <a:xfrm>
              <a:off x="11087100" y="14573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10858500" y="15335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52438" y="2919412"/>
              <a:ext cx="74028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READING ORDER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86788" y="5816441"/>
              <a:ext cx="2016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目录页强调“路径感”，不是功能罗列。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86788" y="5968841"/>
              <a:ext cx="21217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管理层先理解判断，再进入模块与节奏。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144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62103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943850" y="1143000"/>
              <a:ext cx="3790950" cy="476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44246" y="162878"/>
            <a:ext cx="11295316" cy="6393656"/>
            <a:chOff x="444246" y="162878"/>
            <a:chExt cx="11295316" cy="6393656"/>
          </a:xfrm>
        </p:grpSpPr>
        <p:sp>
          <p:nvSpPr>
            <p:cNvPr id="8" name="TextBox 8"/>
            <p:cNvSpPr txBox="1"/>
            <p:nvPr/>
          </p:nvSpPr>
          <p:spPr>
            <a:xfrm>
              <a:off x="444246" y="162878"/>
              <a:ext cx="51401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ENTERPRISE AI MARKETING DESK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1866" y="629602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Arial Black"/>
                  <a:ea typeface="Arial Black"/>
                  <a:cs typeface="Arial Black"/>
                </a:rPr>
                <a:t>PRODUCT-LAUNCH ISSUE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91131" y="6538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73397" y="653891"/>
              <a:ext cx="8661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QUOTE-VERDICT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438" y="6423184"/>
              <a:ext cx="25714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PPT MASTER · BRUTALIST EDITORIAL LAYOUT · CLIENT SaaS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18736" y="6423184"/>
              <a:ext cx="82082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企业 AI 营销工作台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8150" y="1168718"/>
            <a:ext cx="10820400" cy="4670488"/>
            <a:chOff x="438150" y="1168718"/>
            <a:chExt cx="10820400" cy="4670488"/>
          </a:xfrm>
        </p:grpSpPr>
        <p:sp>
          <p:nvSpPr>
            <p:cNvPr id="15" name="TextBox 15"/>
            <p:cNvSpPr txBox="1"/>
            <p:nvPr/>
          </p:nvSpPr>
          <p:spPr>
            <a:xfrm>
              <a:off x="450342" y="1168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案头判断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8150" y="1393508"/>
              <a:ext cx="4965192" cy="176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增长损耗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95300" y="2657475"/>
              <a:ext cx="51625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10250" y="2657475"/>
              <a:ext cx="17907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4820" y="3071812"/>
              <a:ext cx="41833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Georgia"/>
                  <a:ea typeface="SimSun"/>
                  <a:cs typeface="Georgia"/>
                </a:rPr>
                <a:t>大多数企业并不缺营销动作，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820" y="3481388"/>
              <a:ext cx="48234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Georgia"/>
                  <a:ea typeface="SimSun"/>
                  <a:cs typeface="Georgia"/>
                </a:rPr>
                <a:t>缺的是把数据、策略、内容和转化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820" y="3890962"/>
              <a:ext cx="41833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Georgia"/>
                  <a:ea typeface="SimSun"/>
                  <a:cs typeface="Georgia"/>
                </a:rPr>
                <a:t>放进同一套决策回路的能力。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4762500"/>
              <a:ext cx="69913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7992" y="50453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 Black"/>
                  <a:ea typeface="SimHei"/>
                  <a:cs typeface="Arial Black"/>
                </a:rPr>
                <a:t>主判断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944" y="5333048"/>
              <a:ext cx="78415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问题不在于“投放不够多”，而在于“每一次投放都像重新开局”。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2742" y="1359218"/>
              <a:ext cx="1492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</a:rPr>
                <a:t>AUXILIARY NOTES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29600" y="1647825"/>
              <a:ext cx="104775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10550" y="1768792"/>
              <a:ext cx="68225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4986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数据分散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52154" y="2223135"/>
              <a:ext cx="2261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渠道、CRM、内容与线索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52154" y="2442210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长期不在同一口径上。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29600" y="2590800"/>
              <a:ext cx="30289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10550" y="2807018"/>
              <a:ext cx="68225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49868" y="29556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分析靠人工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52154" y="3261360"/>
              <a:ext cx="2060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串表、汇总、复核链路长，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52154" y="3480435"/>
              <a:ext cx="2060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反应速度跟不上市场变化。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29600" y="3629025"/>
              <a:ext cx="30289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10550" y="3845242"/>
              <a:ext cx="68225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49868" y="39938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执行与复盘脱节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52154" y="4299585"/>
              <a:ext cx="2231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策略无法沉淀为可复用动作，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52154" y="4518660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经验难以规模化复制。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29600" y="5067300"/>
              <a:ext cx="3028950" cy="609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95335" y="5183981"/>
              <a:ext cx="587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Arial Black"/>
                  <a:ea typeface="Arial Black"/>
                  <a:cs typeface="Arial Black"/>
                </a:rPr>
                <a:t>VERDICT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94954" y="5394960"/>
              <a:ext cx="2060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企业需要的不是更多工具，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94954" y="5604510"/>
              <a:ext cx="2572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而是一套闭环运行的营销工作台。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7200" y="1042988"/>
            <a:ext cx="11282363" cy="4862512"/>
            <a:chOff x="457200" y="1042988"/>
            <a:chExt cx="11282363" cy="4862512"/>
          </a:xfrm>
        </p:grpSpPr>
        <p:sp>
          <p:nvSpPr>
            <p:cNvPr id="46" name="Line 46"/>
            <p:cNvSpPr/>
            <p:nvPr/>
          </p:nvSpPr>
          <p:spPr>
            <a:xfrm>
              <a:off x="7715250" y="11430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457200" y="11430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953816" y="1042988"/>
              <a:ext cx="17857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INSIGHT PAGE · SINGLE VERDICT ZONE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14400"/>
              <a:ext cx="11277600" cy="533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5334000"/>
              <a:ext cx="11277600" cy="914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44246" y="273368"/>
            <a:ext cx="11295888" cy="5070157"/>
            <a:chOff x="444246" y="273368"/>
            <a:chExt cx="11295888" cy="5070157"/>
          </a:xfrm>
        </p:grpSpPr>
        <p:sp>
          <p:nvSpPr>
            <p:cNvPr id="7" name="Line 7"/>
            <p:cNvSpPr/>
            <p:nvPr/>
          </p:nvSpPr>
          <p:spPr>
            <a:xfrm>
              <a:off x="457200" y="609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9144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57200" y="5334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276600" y="9144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9144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15400" y="9144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0342" y="273368"/>
              <a:ext cx="1742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91805" y="338138"/>
              <a:ext cx="34775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 / 08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866" y="705802"/>
              <a:ext cx="6215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12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路径并置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246" y="1039178"/>
              <a:ext cx="14141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spc="38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四段闭环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37242" y="1201102"/>
              <a:ext cx="1802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同一工作台，不做四套孤岛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09600" y="1644968"/>
            <a:ext cx="12660630" cy="4295393"/>
            <a:chOff x="609600" y="1644968"/>
            <a:chExt cx="12660630" cy="4295393"/>
          </a:xfrm>
        </p:grpSpPr>
        <p:sp>
          <p:nvSpPr>
            <p:cNvPr id="19" name="TextBox 19"/>
            <p:cNvSpPr txBox="1"/>
            <p:nvPr/>
          </p:nvSpPr>
          <p:spPr>
            <a:xfrm>
              <a:off x="678942" y="1644968"/>
              <a:ext cx="4648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这套 SaaS 的价值在于四个模块共用同一工作台，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8942" y="1873568"/>
              <a:ext cx="2125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而不是各模块各自最强。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2038350"/>
              <a:ext cx="2514600" cy="3028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6656" y="2129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1006" y="2129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数据整合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24384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942" y="257841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把底座打通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085" y="2888456"/>
              <a:ext cx="2119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接入广告、CRM、私域、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085" y="3098006"/>
              <a:ext cx="1611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电商与官网行为，统一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085" y="3307556"/>
              <a:ext cx="1771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客户、活动、转化口径。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85800" y="3714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0847" y="3838099"/>
              <a:ext cx="5646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经营动作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04747" y="3838099"/>
              <a:ext cx="151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先把来源看成同一套数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798" y="3984308"/>
              <a:ext cx="10177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44767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1038" y="4703445"/>
              <a:ext cx="1801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统一主键、渠道口径、事件定义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29000" y="2038350"/>
              <a:ext cx="2514600" cy="3028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96056" y="2129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</a:rPr>
                <a:t>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10406" y="2129790"/>
              <a:ext cx="824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AI 分析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505200" y="24384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98342" y="257841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把判断前置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99485" y="2888456"/>
              <a:ext cx="1611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自动识别高价值人群、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99485" y="3098006"/>
              <a:ext cx="1611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异常波动、内容机会与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99485" y="3307556"/>
              <a:ext cx="1931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预算偏移，减少人工找数。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505200" y="3714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00247" y="3838099"/>
              <a:ext cx="5646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经营动作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24147" y="3838099"/>
              <a:ext cx="1237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先知道哪里值得动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89198" y="3984308"/>
              <a:ext cx="1443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MODEL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3505200" y="44767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00438" y="4703445"/>
              <a:ext cx="1801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人群评分、异常检测、预算建议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038350"/>
              <a:ext cx="2514600" cy="3028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15456" y="2129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</a:rPr>
                <a:t>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29806" y="2129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自动化执行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324600" y="24384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17742" y="25784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把动作跑起来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18885" y="2888456"/>
              <a:ext cx="1931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基于规则与模型联动投放、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18885" y="3098006"/>
              <a:ext cx="2091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触达、内容生成和线索分配，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18885" y="3307556"/>
              <a:ext cx="1131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提高响应速度。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324600" y="3714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19647" y="3838099"/>
              <a:ext cx="5646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经营动作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43547" y="3838099"/>
              <a:ext cx="13759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决策直接进入执行链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08598" y="3984308"/>
              <a:ext cx="14881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ACTION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324600" y="447675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19838" y="4703445"/>
              <a:ext cx="1801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投放联动、内容生成、线索流转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67800" y="2038350"/>
              <a:ext cx="2514600" cy="3028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4856" y="2129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</a:rPr>
                <a:t>04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49206" y="2129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效果度量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144000" y="24384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137142" y="25784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把结果看明白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38285" y="2888456"/>
              <a:ext cx="1771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统一看板衡量获客成本、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38285" y="3098006"/>
              <a:ext cx="1771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转化率、复购贡献和渠道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38285" y="3307556"/>
              <a:ext cx="1611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增量，支撑持续优化。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9144000" y="3714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139047" y="3838099"/>
              <a:ext cx="5646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经营动作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62947" y="3838099"/>
              <a:ext cx="13759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把回收结果送回前端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27998" y="3984308"/>
              <a:ext cx="18466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MEASURE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144000" y="447675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139238" y="4703445"/>
              <a:ext cx="16737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归因、增量、复购、成本效率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3124200" y="35433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5943600" y="35433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8763000" y="35433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3219450" y="35052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6038850" y="35052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8858250" y="35052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0847" y="5514499"/>
              <a:ext cx="4238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对照一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80466" y="5735002"/>
              <a:ext cx="1952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每个模块都直接服务经营动作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728847" y="5514499"/>
              <a:ext cx="4238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对照二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728466" y="5735002"/>
              <a:ext cx="1653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模块之间共享数据与反馈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76847" y="5514499"/>
              <a:ext cx="565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关键变量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776466" y="5735002"/>
              <a:ext cx="2915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统一口径 → 前置判断 → 自动执行 → 闭环复盘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24847" y="5514499"/>
              <a:ext cx="847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不同路径影响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824466" y="5735002"/>
              <a:ext cx="34457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孤立部署只会局部提效，联动部署才会形成增长飞轮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52438" y="6438900"/>
            <a:ext cx="11287125" cy="238126"/>
            <a:chOff x="452438" y="6438900"/>
            <a:chExt cx="11287125" cy="238126"/>
          </a:xfrm>
        </p:grpSpPr>
        <p:sp>
          <p:nvSpPr>
            <p:cNvPr id="92" name="Line 92"/>
            <p:cNvSpPr/>
            <p:nvPr/>
          </p:nvSpPr>
          <p:spPr>
            <a:xfrm>
              <a:off x="457200" y="6438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52438" y="6529388"/>
              <a:ext cx="29565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Featured comparison — 四模块不是并排售卖，而是同台闭环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124694" y="6529388"/>
              <a:ext cx="161486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ppt169 brutalist editorial layout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144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60960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8286750" y="1143000"/>
              <a:ext cx="3448050" cy="476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0342" y="254318"/>
            <a:ext cx="11139107" cy="6511766"/>
            <a:chOff x="450342" y="254318"/>
            <a:chExt cx="11139107" cy="6511766"/>
          </a:xfrm>
        </p:grpSpPr>
        <p:sp>
          <p:nvSpPr>
            <p:cNvPr id="8" name="TextBox 8"/>
            <p:cNvSpPr txBox="1"/>
            <p:nvPr/>
          </p:nvSpPr>
          <p:spPr>
            <a:xfrm>
              <a:off x="450342" y="254318"/>
              <a:ext cx="3496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8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ENTERPRISE AI MARKETING WORKBENCH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91688" y="319088"/>
              <a:ext cx="189776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PRODUCT LAUNCH / EVIDENCE PAGE / 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104" y="6705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证据摘录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438" y="6632734"/>
              <a:ext cx="2232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PPT MASTER · SAAS SOLUTION · MANAGEMENT VIEW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77978" y="6632734"/>
              <a:ext cx="31393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05 / 08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438150" y="934402"/>
            <a:ext cx="12061850" cy="4986909"/>
            <a:chOff x="438150" y="934402"/>
            <a:chExt cx="12061850" cy="4986909"/>
          </a:xfrm>
        </p:grpSpPr>
        <p:sp>
          <p:nvSpPr>
            <p:cNvPr id="14" name="TextBox 14"/>
            <p:cNvSpPr txBox="1"/>
            <p:nvPr/>
          </p:nvSpPr>
          <p:spPr>
            <a:xfrm>
              <a:off x="438150" y="934402"/>
              <a:ext cx="223711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spc="4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业务证据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7680" y="1590675"/>
              <a:ext cx="93032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管理层真正买单的不是AI本身，而是线索质量、投放效率和复购经营的可见改善。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2019300"/>
              <a:ext cx="763905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0342" y="2197418"/>
              <a:ext cx="1309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</a:rPr>
                <a:t>THREE PROOFS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7200" y="2552700"/>
              <a:ext cx="2362200" cy="281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" y="2552700"/>
              <a:ext cx="2362200" cy="28194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7200" y="2552700"/>
              <a:ext cx="23622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5404" y="264223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 Black"/>
                  <a:ea typeface="SimHei"/>
                  <a:cs typeface="Arial Black"/>
                </a:rPr>
                <a:t>01 / 线索分层更准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4835" y="3059906"/>
              <a:ext cx="273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系统将线索评分、来源质量与销售反馈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4835" y="3269456"/>
              <a:ext cx="273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联动，形成统一优先级。销售不再凭经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4835" y="3479006"/>
              <a:ext cx="273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验平均分配时间，而是优先跟进高成交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4835" y="3688556"/>
              <a:ext cx="811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概率客户。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90550" y="4191000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118" y="4193858"/>
              <a:ext cx="732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LEAD 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5597" y="4609624"/>
              <a:ext cx="2783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事实锚点：评分、来源、跟进结果统一入表，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5597" y="4790599"/>
              <a:ext cx="2228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销售动作与成交反馈反向修正模型。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095625" y="2552700"/>
              <a:ext cx="2362200" cy="281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95625" y="2552700"/>
              <a:ext cx="2362200" cy="28194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95625" y="2552700"/>
              <a:ext cx="23622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203829" y="264223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 Black"/>
                  <a:ea typeface="SimHei"/>
                  <a:cs typeface="Arial Black"/>
                </a:rPr>
                <a:t>02 / 投放调优更快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3260" y="3059906"/>
              <a:ext cx="3285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AI按素材、受众与渠道表现自动提示预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3260" y="3269456"/>
              <a:ext cx="273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算迁移，减少低效曝光持续消耗。预算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23260" y="3479006"/>
              <a:ext cx="273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调整从周报会议后置执行，变成日内可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23260" y="3688556"/>
              <a:ext cx="1291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追踪的快速响应。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28975" y="419100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582543" y="4193858"/>
              <a:ext cx="849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MEDIA 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24022" y="4609624"/>
              <a:ext cx="2644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事实锚点：素材表现、受众分层与渠道成本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24022" y="4790599"/>
              <a:ext cx="2506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在同一视图联动，低效消耗被快速识别。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34050" y="2552700"/>
              <a:ext cx="2362200" cy="281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734050" y="2552700"/>
              <a:ext cx="2362200" cy="28194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34050" y="2552700"/>
              <a:ext cx="23622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42254" y="264223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 Black"/>
                  <a:ea typeface="SimHei"/>
                  <a:cs typeface="Arial Black"/>
                </a:rPr>
                <a:t>03 / 复购经营更稳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61685" y="3059906"/>
              <a:ext cx="2571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根据生命周期和购买倾向生成触达策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61685" y="3269456"/>
              <a:ext cx="273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略，把活动触发从人工排期改为事件驱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61685" y="3479006"/>
              <a:ext cx="2427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动。客户经营从“发一次活动”转向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61685" y="3688556"/>
              <a:ext cx="1787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“持续触发下一次购买”。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67400" y="4191000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20968" y="4193858"/>
              <a:ext cx="6504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CRM 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62447" y="4609624"/>
              <a:ext cx="2644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事实锚点：生命周期阶段、购买倾向与事件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62447" y="4790599"/>
              <a:ext cx="2228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触发规则直接进入自动化执行引擎。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57200" y="5619750"/>
              <a:ext cx="76390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79892" y="13211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管理层判断口径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86750" y="1619250"/>
              <a:ext cx="344805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90585" y="1897856"/>
              <a:ext cx="99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Arial Black"/>
                  <a:ea typeface="Arial Black"/>
                  <a:cs typeface="Arial Black"/>
                </a:rPr>
                <a:t>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57285" y="1897856"/>
              <a:ext cx="2571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优先验证能直接反映经营结果的场景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58047" y="2142649"/>
              <a:ext cx="2506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先看成单率、获客成本、复购触达，不先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8047" y="2314099"/>
              <a:ext cx="19514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看模型炫技与单点自动化演示。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96300" y="2514600"/>
              <a:ext cx="30289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90585" y="2774156"/>
              <a:ext cx="99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Arial Black"/>
                  <a:ea typeface="Arial Black"/>
                  <a:cs typeface="Arial Black"/>
                </a:rPr>
                <a:t>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57285" y="2774156"/>
              <a:ext cx="2411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先跑高频、可量化、可复制的流程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8047" y="3018949"/>
              <a:ext cx="2506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先在营销链路中选择日日发生、可以沉淀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58047" y="3190399"/>
              <a:ext cx="1812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反馈的动作，缩短验证周期。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496300" y="3390900"/>
              <a:ext cx="30289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90585" y="3650456"/>
              <a:ext cx="99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Arial Black"/>
                  <a:ea typeface="Arial Black"/>
                  <a:cs typeface="Arial Black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57285" y="3650456"/>
              <a:ext cx="1451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事实锚点必须可追溯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58047" y="3895249"/>
              <a:ext cx="2506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每一个判断都要能回到原始数据、动作记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8047" y="4066699"/>
              <a:ext cx="2381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录和结果变化，避免“看起来更智能”。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496300" y="4324350"/>
              <a:ext cx="302895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80298" y="4422458"/>
              <a:ext cx="40197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BUY THE OUTCOME,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80298" y="4803458"/>
              <a:ext cx="352684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NOT THE MODEL.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8496300" y="533400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490966" y="5525452"/>
              <a:ext cx="3084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证据页不是讲“AI能做什么”，而是说明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90966" y="5715952"/>
              <a:ext cx="33113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“哪些经营动作已经被更快、更稳、更准地改写”。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71488" y="5767388"/>
            <a:ext cx="10927461" cy="147638"/>
            <a:chOff x="471488" y="5767388"/>
            <a:chExt cx="10927461" cy="147638"/>
          </a:xfrm>
        </p:grpSpPr>
        <p:sp>
          <p:nvSpPr>
            <p:cNvPr id="78" name="TextBox 78"/>
            <p:cNvSpPr txBox="1"/>
            <p:nvPr/>
          </p:nvSpPr>
          <p:spPr>
            <a:xfrm>
              <a:off x="471488" y="5767388"/>
              <a:ext cx="19777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EVIDENCE MATRIX / SALES · MEDIA · CRM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01238" y="5767388"/>
              <a:ext cx="149771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FACT ANCHORS OVER FEATURES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381000"/>
              <a:ext cx="11277600" cy="60960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62103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267700" y="990600"/>
              <a:ext cx="9525" cy="5219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0342" y="635318"/>
            <a:ext cx="11289220" cy="5845016"/>
            <a:chOff x="450342" y="635318"/>
            <a:chExt cx="11289220" cy="5845016"/>
          </a:xfrm>
        </p:grpSpPr>
        <p:sp>
          <p:nvSpPr>
            <p:cNvPr id="9" name="TextBox 9"/>
            <p:cNvSpPr txBox="1"/>
            <p:nvPr/>
          </p:nvSpPr>
          <p:spPr>
            <a:xfrm>
              <a:off x="450342" y="635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数字记录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67955" y="700088"/>
              <a:ext cx="34775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06 / 08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438" y="6346984"/>
              <a:ext cx="230064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企业 AI 营销工作台 · product-launch · 管理层视角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072355" y="6346984"/>
              <a:ext cx="66720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METRIC LEDGER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40436" y="1091565"/>
            <a:ext cx="11103864" cy="5477446"/>
            <a:chOff x="440436" y="1091565"/>
            <a:chExt cx="11103864" cy="5477446"/>
          </a:xfrm>
        </p:grpSpPr>
        <p:sp>
          <p:nvSpPr>
            <p:cNvPr id="14" name="TextBox 14"/>
            <p:cNvSpPr txBox="1"/>
            <p:nvPr/>
          </p:nvSpPr>
          <p:spPr>
            <a:xfrm>
              <a:off x="440436" y="10915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管理指标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0342" y="1635442"/>
              <a:ext cx="5006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项目成败应由经营指标衡量，而不是由接入系统数量衡量。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2038350"/>
              <a:ext cx="76200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2247900"/>
              <a:ext cx="3714750" cy="16764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0550" y="2072640"/>
              <a:ext cx="16664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30%+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27174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分析提速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304800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266" y="32013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周报与专项分析从多人协作压缩为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266" y="33918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自动生成与人工校验，管理层更快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266" y="3582352"/>
              <a:ext cx="1952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看到异常、机会与行动建议。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62450" y="2247900"/>
              <a:ext cx="3714750" cy="16764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95800" y="2072640"/>
              <a:ext cx="24127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15–25%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6468" y="27174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投放浪费下降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14850" y="304800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09516" y="3201352"/>
              <a:ext cx="2400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通过异常识别与预算迁移，减少低效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09516" y="33918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渠道和低质人群消耗，把预算留给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09516" y="3582352"/>
              <a:ext cx="1056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能转化的组合。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7200" y="4114800"/>
              <a:ext cx="3714750" cy="16764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550" y="3939540"/>
              <a:ext cx="16664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20%+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18" y="4584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线索转化提升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491490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4266" y="5068252"/>
              <a:ext cx="2400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评分、路由与触达协同后，销售接收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4266" y="52587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到更高意向客户，首轮跟进效率与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4266" y="5449252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成单概率同步提高。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62450" y="4114800"/>
              <a:ext cx="3714750" cy="16764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95800" y="3939540"/>
              <a:ext cx="4112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35118" y="42795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06468" y="4584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统一经营入口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514850" y="491490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09516" y="50682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营销、运营与管理层共享同一看板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09516" y="52587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与动作台，减少多系统切换与口径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09516" y="5449252"/>
              <a:ext cx="1653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不一致带来的决策延迟。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23732" y="1221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关键数字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534400" y="156210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27542" y="1873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上线首期先盯效率与转化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29066" y="2134552"/>
              <a:ext cx="269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先证明周报、投放、线索分发等高频流程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29066" y="2325052"/>
              <a:ext cx="2848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能持续产出经营改善，再扩展到更多场景。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27542" y="2654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第二阶段再追求规模放大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29066" y="2915602"/>
              <a:ext cx="269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数据接入数量本身不是目标，只有把模型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29066" y="3106102"/>
              <a:ext cx="2848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能力变成预算与线索结果，规模才有意义。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534400" y="3543300"/>
              <a:ext cx="30099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00516" y="3715702"/>
              <a:ext cx="1086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PRESSURE INDEX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87562" y="378333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12580" y="4010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 Black"/>
                  <a:ea typeface="SimHei"/>
                  <a:cs typeface="Arial Black"/>
                </a:rPr>
                <a:t>类压力指标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00897" y="4257199"/>
              <a:ext cx="1972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效率兑现速度 · 转化改善稳定性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23732" y="4726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压力指标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8534400" y="506730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27542" y="5302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效率是否真的落地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29066" y="5563552"/>
              <a:ext cx="2848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自动化产出是否被团队采纳，是否减少跨岗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29066" y="5754052"/>
              <a:ext cx="2400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等待时间，而不是增加复核与返工。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27542" y="5912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转化改善能否持续复制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29066" y="6173152"/>
              <a:ext cx="269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重点观察预算迁移、线索评分与触达策略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29066" y="63636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是否在不同产品线保持同样增益。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171950" y="3086100"/>
            <a:ext cx="7688009" cy="1876425"/>
            <a:chOff x="4171950" y="3086100"/>
            <a:chExt cx="7688009" cy="1876425"/>
          </a:xfrm>
        </p:grpSpPr>
        <p:sp>
          <p:nvSpPr>
            <p:cNvPr id="68" name="Line 68"/>
            <p:cNvSpPr/>
            <p:nvPr/>
          </p:nvSpPr>
          <p:spPr>
            <a:xfrm>
              <a:off x="4171950" y="30861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4171950" y="4953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11296650" y="37433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406188" y="373999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经营口径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6134100"/>
              <a:ext cx="11277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8610600" y="1143000"/>
              <a:ext cx="3124200" cy="476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44246" y="262414"/>
            <a:ext cx="11295507" cy="6160770"/>
            <a:chOff x="444246" y="262414"/>
            <a:chExt cx="11295507" cy="6160770"/>
          </a:xfrm>
        </p:grpSpPr>
        <p:sp>
          <p:nvSpPr>
            <p:cNvPr id="8" name="TextBox 8"/>
            <p:cNvSpPr txBox="1"/>
            <p:nvPr/>
          </p:nvSpPr>
          <p:spPr>
            <a:xfrm>
              <a:off x="450723" y="262414"/>
              <a:ext cx="2358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spc="75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MARKETING WORKBENCH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4246" y="524828"/>
              <a:ext cx="21108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spc="38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价值释放曲线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00554" y="310991"/>
              <a:ext cx="9483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INDEX BOARD / 07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04829" y="2947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图示展开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438" y="6289834"/>
              <a:ext cx="182826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企业 AI 营销工作台 · 产品发布说明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18811" y="6289834"/>
              <a:ext cx="22075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P.07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51866" y="1124902"/>
            <a:ext cx="10882884" cy="4523137"/>
            <a:chOff x="451866" y="1124902"/>
            <a:chExt cx="10882884" cy="4523137"/>
          </a:xfrm>
        </p:grpSpPr>
        <p:sp>
          <p:nvSpPr>
            <p:cNvPr id="15" name="TextBox 15"/>
            <p:cNvSpPr txBox="1"/>
            <p:nvPr/>
          </p:nvSpPr>
          <p:spPr>
            <a:xfrm>
              <a:off x="451866" y="1124902"/>
              <a:ext cx="5835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该项目的回报通常先体现在效率，再体现在收入，因此推进方式必须按价值爬坡来设计。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1466850"/>
              <a:ext cx="7962900" cy="4076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314450" y="51625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14450" y="213360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30289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 rot="-5400000">
              <a:off x="628745" y="1865567"/>
              <a:ext cx="4789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价值释放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77112" y="5387816"/>
              <a:ext cx="4789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推进周期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952750" y="213360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500000" sp="500000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5334000" y="213360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500000" sp="50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81138" y="5310188"/>
              <a:ext cx="3028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0–90D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86188" y="5310188"/>
              <a:ext cx="42024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90–180D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00788" y="5310188"/>
              <a:ext cx="3028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180D+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314450" y="1695450"/>
              <a:ext cx="6667500" cy="3067050"/>
            </a:xfrm>
            <a:custGeom>
              <a:avLst/>
              <a:gdLst/>
              <a:ahLst/>
              <a:cxnLst/>
              <a:rect l="l" t="t" r="r" b="b"/>
              <a:pathLst>
                <a:path w="6667500" h="3067050">
                  <a:moveTo>
                    <a:pt x="0" y="3067050"/>
                  </a:moveTo>
                  <a:cubicBezTo>
                    <a:pt x="495300" y="2762250"/>
                    <a:pt x="838200" y="2476500"/>
                    <a:pt x="1238250" y="2152650"/>
                  </a:cubicBezTo>
                  <a:cubicBezTo>
                    <a:pt x="1657350" y="1828800"/>
                    <a:pt x="2038350" y="1619250"/>
                    <a:pt x="2457450" y="1390650"/>
                  </a:cubicBezTo>
                  <a:cubicBezTo>
                    <a:pt x="2933700" y="1133475"/>
                    <a:pt x="3400425" y="1000125"/>
                    <a:pt x="3829050" y="838200"/>
                  </a:cubicBezTo>
                  <a:cubicBezTo>
                    <a:pt x="4381500" y="628650"/>
                    <a:pt x="4905375" y="514350"/>
                    <a:pt x="5448300" y="390525"/>
                  </a:cubicBezTo>
                  <a:cubicBezTo>
                    <a:pt x="5876925" y="295275"/>
                    <a:pt x="6267450" y="171450"/>
                    <a:pt x="6667500" y="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314450" y="1695450"/>
              <a:ext cx="6667500" cy="3067050"/>
            </a:xfrm>
            <a:custGeom>
              <a:avLst/>
              <a:gdLst/>
              <a:ahLst/>
              <a:cxnLst/>
              <a:rect l="l" t="t" r="r" b="b"/>
              <a:pathLst>
                <a:path w="6667500" h="3067050">
                  <a:moveTo>
                    <a:pt x="0" y="3067050"/>
                  </a:moveTo>
                  <a:cubicBezTo>
                    <a:pt x="495300" y="2762250"/>
                    <a:pt x="838200" y="2476500"/>
                    <a:pt x="1238250" y="2152650"/>
                  </a:cubicBezTo>
                  <a:cubicBezTo>
                    <a:pt x="1657350" y="1828800"/>
                    <a:pt x="2038350" y="1619250"/>
                    <a:pt x="2457450" y="1390650"/>
                  </a:cubicBezTo>
                  <a:cubicBezTo>
                    <a:pt x="2933700" y="1133475"/>
                    <a:pt x="3400425" y="1000125"/>
                    <a:pt x="3829050" y="838200"/>
                  </a:cubicBezTo>
                  <a:cubicBezTo>
                    <a:pt x="4381500" y="628650"/>
                    <a:pt x="4905375" y="514350"/>
                    <a:pt x="5448300" y="390525"/>
                  </a:cubicBezTo>
                  <a:cubicBezTo>
                    <a:pt x="5876925" y="295275"/>
                    <a:pt x="6267450" y="171450"/>
                    <a:pt x="6667500" y="0"/>
                  </a:cubicBez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276475" y="3905250"/>
              <a:ext cx="209550" cy="2095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343150" y="39719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486275" y="2619375"/>
              <a:ext cx="209550" cy="2095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552950" y="268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29375" y="2028825"/>
              <a:ext cx="209550" cy="2095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496050" y="20955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477125" y="1762125"/>
              <a:ext cx="209550" cy="2095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543800" y="18288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619250" y="3276600"/>
              <a:ext cx="1428750" cy="552450"/>
            </a:xfrm>
            <a:prstGeom prst="rect">
              <a:avLst/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727835" y="3355181"/>
              <a:ext cx="480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前90天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28597" y="3542824"/>
              <a:ext cx="9806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重在打通与看清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46807" y="33147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29050" y="2162175"/>
              <a:ext cx="1504950" cy="552450"/>
            </a:xfrm>
            <a:prstGeom prst="rect">
              <a:avLst/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937635" y="2240756"/>
              <a:ext cx="564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180天后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38397" y="2428399"/>
              <a:ext cx="8420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进入自动优化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51857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74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72150" y="1485900"/>
              <a:ext cx="1257300" cy="552450"/>
            </a:xfrm>
            <a:prstGeom prst="rect">
              <a:avLst/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80735" y="15644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主轴关系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81497" y="1752124"/>
              <a:ext cx="8420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效率先于收入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47307" y="15240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29450" y="1143000"/>
              <a:ext cx="1123950" cy="552450"/>
            </a:xfrm>
            <a:prstGeom prst="rect">
              <a:avLst/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38035" y="12215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外溢路径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38797" y="1409224"/>
              <a:ext cx="703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向营收扩散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71257" y="11811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2495550" y="3838575"/>
              <a:ext cx="781050" cy="476250"/>
            </a:xfrm>
            <a:custGeom>
              <a:avLst/>
              <a:gdLst/>
              <a:ahLst/>
              <a:cxnLst/>
              <a:rect l="l" t="t" r="r" b="b"/>
              <a:pathLst>
                <a:path w="781050" h="476250">
                  <a:moveTo>
                    <a:pt x="0" y="0"/>
                  </a:moveTo>
                  <a:lnTo>
                    <a:pt x="0" y="476250"/>
                  </a:lnTo>
                  <a:lnTo>
                    <a:pt x="781050" y="4762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4686300" y="2724150"/>
              <a:ext cx="1009650" cy="304800"/>
            </a:xfrm>
            <a:custGeom>
              <a:avLst/>
              <a:gdLst/>
              <a:ahLst/>
              <a:cxnLst/>
              <a:rect l="l" t="t" r="r" b="b"/>
              <a:pathLst>
                <a:path w="1009650" h="304800">
                  <a:moveTo>
                    <a:pt x="0" y="0"/>
                  </a:moveTo>
                  <a:lnTo>
                    <a:pt x="1009650" y="0"/>
                  </a:lnTo>
                  <a:lnTo>
                    <a:pt x="1009650" y="3048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648450" y="1695450"/>
              <a:ext cx="762000" cy="438150"/>
            </a:xfrm>
            <a:custGeom>
              <a:avLst/>
              <a:gdLst/>
              <a:ahLst/>
              <a:cxnLst/>
              <a:rect l="l" t="t" r="r" b="b"/>
              <a:pathLst>
                <a:path w="762000" h="438150">
                  <a:moveTo>
                    <a:pt x="0" y="438150"/>
                  </a:moveTo>
                  <a:lnTo>
                    <a:pt x="762000" y="438150"/>
                  </a:ln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01100" y="1371600"/>
              <a:ext cx="2533650" cy="78105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44356" y="1405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85173" y="146256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效率兑现期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48547" y="1704499"/>
              <a:ext cx="1812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先统一数据口径、归因链路和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48547" y="1875949"/>
              <a:ext cx="16741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投放视图，管理层才能看到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48547" y="2047399"/>
              <a:ext cx="1535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效率改善是否真实发生。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801100" y="2343150"/>
              <a:ext cx="2533650" cy="78105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44356" y="23774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85173" y="24341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自动优化期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8547" y="2676049"/>
              <a:ext cx="1812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当素材、分群、预算联动后，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48547" y="2847499"/>
              <a:ext cx="16741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工作台开始把分析结果转成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48547" y="3018949"/>
              <a:ext cx="1119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连续的执行动作。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01100" y="3314700"/>
              <a:ext cx="2533650" cy="990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44356" y="33489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85173" y="34056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价值外溢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48547" y="3647599"/>
              <a:ext cx="21456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主轴关系是“效率 → 转化 → 收入”。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48547" y="3819049"/>
              <a:ext cx="1812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外溢路径会扩展到线索质量、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48547" y="3990499"/>
              <a:ext cx="19514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客单提升与复购运营，但前提是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48547" y="4161949"/>
              <a:ext cx="1812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先把前两段做成可度量闭环。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8801100" y="461010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795004" y="4690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推进提示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96147" y="4942999"/>
              <a:ext cx="15158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前90天重在打通与看清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96147" y="5114449"/>
              <a:ext cx="1453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180天后进入自动优化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796147" y="5285899"/>
              <a:ext cx="164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主轴关系：效率先于收入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796147" y="5457349"/>
              <a:ext cx="19180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251" indent="-105251">
                <a:buClr>
                  <a:schemeClr val="dk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外溢路径：由运营扩散到增长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450342" y="5797868"/>
            <a:ext cx="6369710" cy="834866"/>
            <a:chOff x="450342" y="5797868"/>
            <a:chExt cx="6369710" cy="834866"/>
          </a:xfrm>
        </p:grpSpPr>
        <p:sp>
          <p:nvSpPr>
            <p:cNvPr id="81" name="TextBox 81"/>
            <p:cNvSpPr txBox="1"/>
            <p:nvPr/>
          </p:nvSpPr>
          <p:spPr>
            <a:xfrm>
              <a:off x="450342" y="5797868"/>
              <a:ext cx="6369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Georgia"/>
                  <a:ea typeface="SimSun"/>
                  <a:cs typeface="Georgia"/>
                </a:rPr>
                <a:t>“价值释放不是同时发生，而是沿着可见、可控、可复用的路径逐步抬升。”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52438" y="6499384"/>
              <a:ext cx="254424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READING KEY: 左侧为价值曲线，右侧为阶段含义与推进提示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10750" y="381000"/>
              <a:ext cx="1924050" cy="5829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51866" y="572452"/>
            <a:ext cx="11282934" cy="6060282"/>
            <a:chOff x="451866" y="572452"/>
            <a:chExt cx="11282934" cy="6060282"/>
          </a:xfrm>
        </p:grpSpPr>
        <p:sp>
          <p:nvSpPr>
            <p:cNvPr id="6" name="Line 6"/>
            <p:cNvSpPr/>
            <p:nvPr/>
          </p:nvSpPr>
          <p:spPr>
            <a:xfrm>
              <a:off x="457200" y="952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57200" y="6210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658350" y="952500"/>
              <a:ext cx="9525" cy="5257800"/>
            </a:xfrm>
            <a:custGeom>
              <a:avLst/>
              <a:gdLst/>
              <a:ahLst/>
              <a:cxnLst/>
              <a:rect l="l" t="t" r="r" b="b"/>
              <a:pathLst>
                <a:path w="9525" h="5257800">
                  <a:moveTo>
                    <a:pt x="0" y="0"/>
                  </a:moveTo>
                  <a:lnTo>
                    <a:pt x="0" y="52578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1866" y="57245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执行排期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2438" y="6499384"/>
              <a:ext cx="166573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ENTERPRISE AI MARKETING WORKBENCH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67988" y="6499384"/>
              <a:ext cx="31393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08 / 08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44246" y="1187768"/>
            <a:ext cx="11326749" cy="4832032"/>
            <a:chOff x="444246" y="1187768"/>
            <a:chExt cx="11326749" cy="4832032"/>
          </a:xfrm>
        </p:grpSpPr>
        <p:sp>
          <p:nvSpPr>
            <p:cNvPr id="13" name="TextBox 13"/>
            <p:cNvSpPr txBox="1"/>
            <p:nvPr/>
          </p:nvSpPr>
          <p:spPr>
            <a:xfrm>
              <a:off x="444246" y="12106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下一步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104" y="1680210"/>
              <a:ext cx="6344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建议以一条重点业务线先行，90天交付首版，确认效果后再扩展到多渠道与多区域。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0342" y="2083118"/>
              <a:ext cx="117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90 天落地顺序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276350" y="360045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276350" y="35433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181350" y="35433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086350" y="35433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991350" y="35433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915400" y="35433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104900" y="34290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009900" y="34290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914900" y="34290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819900" y="34290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43950" y="34290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99207" y="355234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04207" y="355234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09207" y="355234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14207" y="355234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38257" y="3552349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276350" y="27241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8763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181350" y="3600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5086350" y="27241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8763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91350" y="3600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915400" y="27241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8763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4850" y="2343150"/>
              <a:ext cx="1143000" cy="3048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7740" y="24217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样板范围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416" y="4763452"/>
              <a:ext cx="269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先做可验证样板，聚焦一条重点业务线，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416" y="4944428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避免首期铺得过宽。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609850" y="4381500"/>
              <a:ext cx="1143000" cy="3048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872740" y="44600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治理牵头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66416" y="131540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项目治理必须由业务负责人牵头，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6416" y="1496378"/>
              <a:ext cx="1952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确保目标、流程与协同一致。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514850" y="2343150"/>
              <a:ext cx="1143000" cy="3048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777740" y="24217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统一接入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71416" y="4763452"/>
              <a:ext cx="3610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先接广告、CRM、官网与私域四类核心数据，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71416" y="4944428"/>
              <a:ext cx="1056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建立统一口径。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19850" y="4381500"/>
              <a:ext cx="1143000" cy="3048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82740" y="44600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阶段验收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76416" y="1315402"/>
              <a:ext cx="2997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以分析效率、投放浪费、线索转化三项指标，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76416" y="1496378"/>
              <a:ext cx="1504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作为首阶段判断标准。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343900" y="2343150"/>
              <a:ext cx="1143000" cy="3048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06790" y="24217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Arial Black"/>
                  <a:ea typeface="SimHei"/>
                  <a:cs typeface="Arial Black"/>
                </a:rPr>
                <a:t>扩展复制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00466" y="4763452"/>
              <a:ext cx="269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首版跑通后，再扩展到多渠道、多区域，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00466" y="4944428"/>
              <a:ext cx="1802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并接入内容与旅程自动化。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56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 Black"/>
                  <a:ea typeface="SimHei"/>
                  <a:cs typeface="Arial Black"/>
                </a:rPr>
                <a:t>决策落点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963150" y="14478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958197" y="1666399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决策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58197" y="1856899"/>
              <a:ext cx="1258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确定首批业务范围、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58197" y="2018824"/>
              <a:ext cx="1258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责任人和预算边界，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58197" y="2180749"/>
              <a:ext cx="1812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把项目定义为增长提效工程。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58197" y="2599849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启动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58197" y="2790349"/>
              <a:ext cx="1668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优先接入广告、CRM、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58197" y="2952274"/>
              <a:ext cx="16741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官网与私域四类核心数据，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58197" y="3114199"/>
              <a:ext cx="9806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建立统一口径。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958197" y="3533299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验收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958197" y="3723799"/>
              <a:ext cx="1535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以分析效率、投放浪费、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58197" y="3885724"/>
              <a:ext cx="1258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线索转化三项指标，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58197" y="4047649"/>
              <a:ext cx="1396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判断首阶段是否成立。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958197" y="4466749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扩展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958197" y="4657249"/>
              <a:ext cx="1258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首版跑通后，再接入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958197" y="4819174"/>
              <a:ext cx="1396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更多渠道、内容生产与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58197" y="4981099"/>
              <a:ext cx="1396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客户旅程自动化能力。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57200" y="5486400"/>
              <a:ext cx="9029700" cy="5334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42366" y="5582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Arial Black"/>
                  <a:ea typeface="SimHei"/>
                  <a:cs typeface="Arial Black"/>
                </a:rPr>
                <a:t>收束判断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613916" y="5582602"/>
              <a:ext cx="4192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先做可验证样板，再做全域复制；治理必须由业务负责人牵头，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613916" y="5763578"/>
              <a:ext cx="38938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项目是否进入扩展期，只看经营指标是否形成可持续改善。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452438" y="1081088"/>
            <a:ext cx="8659749" cy="2871788"/>
            <a:chOff x="452438" y="1081088"/>
            <a:chExt cx="8659749" cy="2871788"/>
          </a:xfrm>
        </p:grpSpPr>
        <p:sp>
          <p:nvSpPr>
            <p:cNvPr id="80" name="TextBox 80"/>
            <p:cNvSpPr txBox="1"/>
            <p:nvPr/>
          </p:nvSpPr>
          <p:spPr>
            <a:xfrm>
              <a:off x="452438" y="1081088"/>
              <a:ext cx="253784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SERVICE-CLOSE / TIMELINE / 90-DAY PILOT → SCALE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9558" y="3805238"/>
              <a:ext cx="47358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WEEK 1–2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944558" y="3233738"/>
              <a:ext cx="47358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WEEK 2–4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849558" y="3805238"/>
              <a:ext cx="47358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WEEK 4–8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25221" y="3233738"/>
              <a:ext cx="5322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WEEK 8–12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718614" y="3805238"/>
              <a:ext cx="39357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DAY 90+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11111"/>
      </a:dk1>
      <a:lt1>
        <a:srgbClr val="FFFFFF"/>
      </a:lt1>
      <a:dk2>
        <a:srgbClr val="3A3A3A"/>
      </a:dk2>
      <a:lt2>
        <a:srgbClr val="FFFFFF"/>
      </a:lt2>
      <a:accent1>
        <a:srgbClr val="111111"/>
      </a:accent1>
      <a:accent2>
        <a:srgbClr val="C8102E"/>
      </a:accent2>
      <a:accent3>
        <a:srgbClr val="3A3A3A"/>
      </a:accent3>
      <a:accent4>
        <a:srgbClr val="000000"/>
      </a:accent4>
      <a:accent5>
        <a:srgbClr val="F4F1EA"/>
      </a:accent5>
      <a:accent6>
        <a:srgbClr val="6B6B6B"/>
      </a:accent6>
      <a:hlink>
        <a:srgbClr val="C8102E"/>
      </a:hlink>
      <a:folHlink>
        <a:srgbClr val="3A3A3A"/>
      </a:folHlink>
    </a:clrScheme>
    <a:fontScheme name="PPT Master">
      <a:majorFont>
        <a:latin typeface="Impact"/>
        <a:ea typeface="SimHei"/>
        <a:cs typeface="Impact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11111"/>
      </a:dk1>
      <a:lt1>
        <a:srgbClr val="FFFFFF"/>
      </a:lt1>
      <a:dk2>
        <a:srgbClr val="3A3A3A"/>
      </a:dk2>
      <a:lt2>
        <a:srgbClr val="FFFFFF"/>
      </a:lt2>
      <a:accent1>
        <a:srgbClr val="111111"/>
      </a:accent1>
      <a:accent2>
        <a:srgbClr val="C8102E"/>
      </a:accent2>
      <a:accent3>
        <a:srgbClr val="3A3A3A"/>
      </a:accent3>
      <a:accent4>
        <a:srgbClr val="000000"/>
      </a:accent4>
      <a:accent5>
        <a:srgbClr val="F4F1EA"/>
      </a:accent5>
      <a:accent6>
        <a:srgbClr val="6B6B6B"/>
      </a:accent6>
      <a:hlink>
        <a:srgbClr val="C8102E"/>
      </a:hlink>
      <a:folHlink>
        <a:srgbClr val="3A3A3A"/>
      </a:folHlink>
    </a:clrScheme>
    <a:fontScheme name="PPT Master">
      <a:majorFont>
        <a:latin typeface="Impact"/>
        <a:ea typeface="SimHei"/>
        <a:cs typeface="Impact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2026-07-11T09:43:26Z</dcterms:created>
  <dcterms:modified xsi:type="dcterms:W3CDTF">2026-07-11T09:43:26Z</dcterms:modified>
  <cp:category/>
  <cp:contentStatus/>
</cp:coreProperties>
</file>