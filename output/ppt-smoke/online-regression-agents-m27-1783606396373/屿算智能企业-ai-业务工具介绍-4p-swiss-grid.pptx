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企业AI业务工作台</a:t>
            </a:r>
          </a:p>
          <a:p>
            <a:endParaRPr lang="en-US" dirty="0"/>
          </a:p>
          <a:p>
            <a:r>
              <a:rPr lang="zh-CN" dirty="0"/>
              <a:t>实用AI大于AI概念；知道AI能写文案、做图片和视频，但接不进真实工作流程。</a:t>
            </a:r>
          </a:p>
          <a:p>
            <a:endParaRPr lang="en-US" dirty="0"/>
          </a:p>
          <a:p>
            <a:r>
              <a:rPr lang="zh-CN" dirty="0"/>
              <a:t>• 17个AI智能体员工进入岗位与流程</a:t>
            </a:r>
          </a:p>
          <a:p>
            <a:r>
              <a:rPr lang="zh-CN" dirty="0"/>
              <a:t>• 40+模型工具聚合为企业专属能力底座</a:t>
            </a:r>
          </a:p>
          <a:p>
            <a:r>
              <a:rPr lang="zh-CN" dirty="0"/>
              <a:t>• 实用AI大于AI概念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作战地图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企业AI落地的100个卡点透视</a:t>
            </a:r>
          </a:p>
          <a:p>
            <a:r>
              <a:rPr lang="zh-CN" dirty="0"/>
              <a:t>• 七层闭环从诊断到资产沉淀</a:t>
            </a:r>
          </a:p>
          <a:p>
            <a:r>
              <a:rPr lang="zh-CN" dirty="0"/>
              <a:t>• 智能体矩阵覆盖核心业务角色</a:t>
            </a:r>
          </a:p>
          <a:p>
            <a:r>
              <a:rPr lang="zh-CN" dirty="0"/>
              <a:t>• 降本·提效·强执行·促增长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企业听懂AI却用不进业务的三大断点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提问失能：打开大模型却无法描述业务、拆解问题、提出有效需求</a:t>
            </a:r>
          </a:p>
          <a:p>
            <a:r>
              <a:rPr lang="zh-CN" dirty="0"/>
              <a:t>• 流程断裂：AI生成内容无法接入真实工作流，结果留在聊天记录</a:t>
            </a:r>
          </a:p>
          <a:p>
            <a:r>
              <a:rPr lang="zh-CN" dirty="0"/>
              <a:t>• 资产流失：员工零散使用工具，方案、内容、知识无法沉淀为企业资产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下一步行动</a:t>
            </a:r>
          </a:p>
          <a:p>
            <a:endParaRPr lang="en-US" dirty="0"/>
          </a:p>
          <a:p>
            <a:r>
              <a:rPr lang="zh-CN" dirty="0"/>
              <a:t>先帮企业问清楚，再进入立项和执行。</a:t>
            </a:r>
          </a:p>
          <a:p>
            <a:endParaRPr lang="en-US" dirty="0"/>
          </a:p>
          <a:p>
            <a:r>
              <a:rPr lang="zh-CN" dirty="0"/>
              <a:t>• 业务梳理清单输出，定位关键断点</a:t>
            </a:r>
          </a:p>
          <a:p>
            <a:r>
              <a:rPr lang="zh-CN" dirty="0"/>
              <a:t>• 行业研究+落地方案+运营策划自动生成</a:t>
            </a:r>
          </a:p>
          <a:p>
            <a:r>
              <a:rPr lang="zh-CN" dirty="0"/>
              <a:t>• 目标看板拆解为每日任务，团队照流程推进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1371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2743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4114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0" y="0"/>
              <a:ext cx="1524000" cy="13716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0" y="1333500"/>
              <a:ext cx="4572000" cy="762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0" y="381000"/>
            <a:ext cx="12192000" cy="6498907"/>
            <a:chOff x="0" y="381000"/>
            <a:chExt cx="12192000" cy="6498907"/>
          </a:xfrm>
        </p:grpSpPr>
        <p:sp>
          <p:nvSpPr>
            <p:cNvPr id="16" name="TextBox 16"/>
            <p:cNvSpPr txBox="1"/>
            <p:nvPr/>
          </p:nvSpPr>
          <p:spPr>
            <a:xfrm>
              <a:off x="375666" y="381952"/>
              <a:ext cx="1049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300" dirty="0">
                  <a:solidFill>
                    <a:srgbClr val="E6FF3D"/>
                  </a:solidFill>
                  <a:latin typeface="Arial"/>
                  <a:ea typeface="Arial"/>
                  <a:cs typeface="Arial"/>
                </a:rPr>
                <a:t>GRIDBRIEF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950" y="1893570"/>
              <a:ext cx="233662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企业AI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950" y="2655570"/>
              <a:ext cx="385457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业务工作台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4142" y="3854768"/>
              <a:ext cx="4535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实用AI大于AI概念；知道AI能写文案、做图片和视频，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4142" y="4140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但接不进真实工作流程。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3048000"/>
              <a:ext cx="4953000" cy="2667000"/>
            </a:xfrm>
            <a:prstGeom prst="rect">
              <a:avLst/>
            </a:prstGeom>
            <a:solidFill>
              <a:srgbClr val="F5F4EF"/>
            </a:solidFill>
            <a:ln w="19050">
              <a:solidFill>
                <a:srgbClr val="CFCFC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58712" y="3421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17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1380" y="3648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3982402"/>
              <a:ext cx="19298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AI智能体员工进入岗位与流程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477000" y="4381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58712" y="4469130"/>
              <a:ext cx="87620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40+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7130" y="46958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1666" y="50301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模型工具聚合为企业专属能力底座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477000" y="54292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7000" y="5572125"/>
              <a:ext cx="1905000" cy="2667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62166" y="5658802"/>
              <a:ext cx="1218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实用AI大于AI概念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1049000" y="381000"/>
              <a:ext cx="762000" cy="762000"/>
            </a:xfrm>
            <a:prstGeom prst="ellipse">
              <a:avLst/>
            </a:prstGeom>
            <a:noFill/>
            <a:ln w="28575">
              <a:solidFill>
                <a:srgbClr val="0A0A0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239500" y="571500"/>
              <a:ext cx="381000" cy="3810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6238" y="6703695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150" dirty="0">
                  <a:solidFill>
                    <a:srgbClr val="F5F4EF"/>
                  </a:solidFill>
                  <a:latin typeface="Arial"/>
                  <a:ea typeface="Microsoft YaHei"/>
                  <a:cs typeface="Arial"/>
                </a:rPr>
                <a:t>屿算智能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00238" y="6703695"/>
              <a:ext cx="45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CFC8"/>
                  </a:solidFill>
                  <a:latin typeface="Arial"/>
                  <a:ea typeface="Arial"/>
                  <a:cs typeface="Arial"/>
                </a:rPr>
                <a:t>|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90738" y="6703695"/>
              <a:ext cx="15457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CFC8"/>
                  </a:solidFill>
                  <a:latin typeface="Arial"/>
                  <a:ea typeface="Arial"/>
                  <a:cs typeface="Arial"/>
                </a:rPr>
                <a:t>AI BUSINESS WORKSTATION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0" y="1524000"/>
            <a:ext cx="6672262" cy="5355907"/>
            <a:chOff x="4572000" y="1524000"/>
            <a:chExt cx="6672262" cy="5355907"/>
          </a:xfrm>
        </p:grpSpPr>
        <p:sp>
          <p:nvSpPr>
            <p:cNvPr id="39" name="TextBox 39"/>
            <p:cNvSpPr txBox="1"/>
            <p:nvPr/>
          </p:nvSpPr>
          <p:spPr>
            <a:xfrm>
              <a:off x="10828858" y="6703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F5F4EF"/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4572000" y="1524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rgbClr val="E6FF3D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5334000" y="1524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201525" cy="6858000"/>
            <a:chOff x="0" y="0"/>
            <a:chExt cx="12201525" cy="6858000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1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0" y="1143000"/>
              <a:ext cx="76200" cy="5715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90550" y="1524000"/>
            <a:ext cx="10991850" cy="4381500"/>
            <a:chOff x="590550" y="1524000"/>
            <a:chExt cx="10991850" cy="4381500"/>
          </a:xfrm>
        </p:grpSpPr>
        <p:grpSp>
          <p:nvGrpSpPr>
            <p:cNvPr id="19" name="Group 19"/>
            <p:cNvGrpSpPr/>
            <p:nvPr/>
          </p:nvGrpSpPr>
          <p:grpSpPr>
            <a:xfrm>
              <a:off x="590550" y="1601152"/>
              <a:ext cx="3091282" cy="1770698"/>
              <a:chOff x="590550" y="1601152"/>
              <a:chExt cx="3091282" cy="177069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04266" y="1601152"/>
                <a:ext cx="6952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spc="225" dirty="0">
                    <a:solidFill>
                      <a:srgbClr val="0A0A0A"/>
                    </a:solidFill>
                    <a:latin typeface="Segoe UI"/>
                    <a:ea typeface="Microsoft YaHei"/>
                    <a:cs typeface="Segoe UI"/>
                  </a:rPr>
                  <a:t>模块目录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0550" y="1893570"/>
                <a:ext cx="3091282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400" b="1" dirty="0">
                    <a:solidFill>
                      <a:srgbClr val="0A0A0A"/>
                    </a:solidFill>
                    <a:latin typeface="Segoe UI"/>
                    <a:ea typeface="Microsoft YaHei"/>
                    <a:cs typeface="Segoe UI"/>
                  </a:rPr>
                  <a:t>作战地图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1980" y="2886075"/>
                <a:ext cx="18714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0A0A0A"/>
                    </a:solidFill>
                    <a:latin typeface="Segoe UI"/>
                    <a:ea typeface="Microsoft YaHei"/>
                    <a:cs typeface="Segoe UI"/>
                  </a:rPr>
                  <a:t>实用AI大于AI概念。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09600" y="3333750"/>
                <a:ext cx="1524000" cy="38100"/>
              </a:xfrm>
              <a:prstGeom prst="rect">
                <a:avLst/>
              </a:prstGeom>
              <a:solidFill>
                <a:srgbClr val="E6FF3D"/>
              </a:solidFill>
              <a:ln>
                <a:noFill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4572000" y="1524000"/>
              <a:ext cx="7010400" cy="4381500"/>
              <a:chOff x="4572000" y="1524000"/>
              <a:chExt cx="7010400" cy="4381500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4572000" y="1524000"/>
                <a:ext cx="7010400" cy="952500"/>
                <a:chOff x="4572000" y="1524000"/>
                <a:chExt cx="7010400" cy="95250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4572000" y="1524000"/>
                  <a:ext cx="7010400" cy="952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4724400" y="1771650"/>
                  <a:ext cx="457200" cy="457200"/>
                </a:xfrm>
                <a:prstGeom prst="ellipse">
                  <a:avLst/>
                </a:prstGeom>
                <a:solidFill>
                  <a:srgbClr val="0A0A0A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841189" y="193071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E6FF3D"/>
                      </a:solidFill>
                      <a:latin typeface="Segoe UI"/>
                      <a:ea typeface="Segoe UI"/>
                      <a:cs typeface="Segoe UI"/>
                    </a:rPr>
                    <a:t>01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364480" y="1743075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0A0A0A"/>
                      </a:solidFill>
                      <a:latin typeface="Segoe UI"/>
                      <a:ea typeface="Microsoft YaHei"/>
                      <a:cs typeface="Segoe UI"/>
                    </a:rPr>
                    <a:t>焦虑解码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366766" y="2058352"/>
                  <a:ext cx="187756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66666"/>
                      </a:solidFill>
                      <a:latin typeface="Segoe UI"/>
                      <a:ea typeface="Microsoft YaHei"/>
                      <a:cs typeface="Segoe UI"/>
                    </a:rPr>
                    <a:t>企业AI落地的100个卡点透视</a:t>
                  </a:r>
                </a:p>
              </p:txBody>
            </p:sp>
            <p:sp>
              <p:nvSpPr>
                <p:cNvPr id="25" name="Line 25"/>
                <p:cNvSpPr/>
                <p:nvPr/>
              </p:nvSpPr>
              <p:spPr>
                <a:xfrm>
                  <a:off x="10820400" y="1714500"/>
                  <a:ext cx="9525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0">
                      <a:moveTo>
                        <a:pt x="0" y="0"/>
                      </a:moveTo>
                      <a:lnTo>
                        <a:pt x="0" y="571500"/>
                      </a:lnTo>
                    </a:path>
                  </a:pathLst>
                </a:custGeom>
                <a:noFill/>
                <a:ln w="28575">
                  <a:solidFill>
                    <a:srgbClr val="E6FF3D"/>
                  </a:solidFill>
                </a:ln>
              </p:spPr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4572000" y="2667000"/>
                <a:ext cx="7010400" cy="952500"/>
                <a:chOff x="4572000" y="2667000"/>
                <a:chExt cx="7010400" cy="952500"/>
              </a:xfrm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4572000" y="2667000"/>
                  <a:ext cx="7010400" cy="952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4724400" y="2914650"/>
                  <a:ext cx="457200" cy="457200"/>
                </a:xfrm>
                <a:prstGeom prst="ellipse">
                  <a:avLst/>
                </a:prstGeom>
                <a:solidFill>
                  <a:srgbClr val="0A0A0A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841189" y="307371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E6FF3D"/>
                      </a:solidFill>
                      <a:latin typeface="Segoe UI"/>
                      <a:ea typeface="Segoe UI"/>
                      <a:cs typeface="Segoe UI"/>
                    </a:rPr>
                    <a:t>02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364480" y="2886075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0A0A0A"/>
                      </a:solidFill>
                      <a:latin typeface="Segoe UI"/>
                      <a:ea typeface="Microsoft YaHei"/>
                      <a:cs typeface="Segoe UI"/>
                    </a:rPr>
                    <a:t>系统入场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366766" y="3201352"/>
                  <a:ext cx="170688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66666"/>
                      </a:solidFill>
                      <a:latin typeface="Segoe UI"/>
                      <a:ea typeface="Microsoft YaHei"/>
                      <a:cs typeface="Segoe UI"/>
                    </a:rPr>
                    <a:t>七层闭环从诊断到资产沉淀</a:t>
                  </a:r>
                </a:p>
              </p:txBody>
            </p:sp>
            <p:sp>
              <p:nvSpPr>
                <p:cNvPr id="32" name="Line 32"/>
                <p:cNvSpPr/>
                <p:nvPr/>
              </p:nvSpPr>
              <p:spPr>
                <a:xfrm>
                  <a:off x="10820400" y="2857500"/>
                  <a:ext cx="9525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0">
                      <a:moveTo>
                        <a:pt x="0" y="0"/>
                      </a:moveTo>
                      <a:lnTo>
                        <a:pt x="0" y="571500"/>
                      </a:lnTo>
                    </a:path>
                  </a:pathLst>
                </a:custGeom>
                <a:noFill/>
                <a:ln w="28575">
                  <a:solidFill>
                    <a:srgbClr val="E6FF3D"/>
                  </a:solidFill>
                </a:ln>
              </p:spPr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4572000" y="3810000"/>
                <a:ext cx="7010400" cy="952500"/>
                <a:chOff x="4572000" y="3810000"/>
                <a:chExt cx="7010400" cy="952500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4572000" y="3810000"/>
                  <a:ext cx="7010400" cy="952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4724400" y="4057650"/>
                  <a:ext cx="457200" cy="457200"/>
                </a:xfrm>
                <a:prstGeom prst="ellipse">
                  <a:avLst/>
                </a:prstGeom>
                <a:solidFill>
                  <a:srgbClr val="0A0A0A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841189" y="421671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E6FF3D"/>
                      </a:solidFill>
                      <a:latin typeface="Segoe UI"/>
                      <a:ea typeface="Segoe UI"/>
                      <a:cs typeface="Segoe UI"/>
                    </a:rPr>
                    <a:t>03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364480" y="4029075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0A0A0A"/>
                      </a:solidFill>
                      <a:latin typeface="Segoe UI"/>
                      <a:ea typeface="Microsoft YaHei"/>
                      <a:cs typeface="Segoe UI"/>
                    </a:rPr>
                    <a:t>岗位渗透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5366766" y="4344352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66666"/>
                      </a:solidFill>
                      <a:latin typeface="Segoe UI"/>
                      <a:ea typeface="Microsoft YaHei"/>
                      <a:cs typeface="Segoe UI"/>
                    </a:rPr>
                    <a:t>智能体矩阵覆盖核心业务角色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10820400" y="4000500"/>
                  <a:ext cx="9525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0">
                      <a:moveTo>
                        <a:pt x="0" y="0"/>
                      </a:moveTo>
                      <a:lnTo>
                        <a:pt x="0" y="571500"/>
                      </a:lnTo>
                    </a:path>
                  </a:pathLst>
                </a:custGeom>
                <a:noFill/>
                <a:ln w="28575">
                  <a:solidFill>
                    <a:srgbClr val="E6FF3D"/>
                  </a:solidFill>
                </a:ln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4572000" y="4953000"/>
                <a:ext cx="7010400" cy="952500"/>
                <a:chOff x="4572000" y="4953000"/>
                <a:chExt cx="7010400" cy="952500"/>
              </a:xfrm>
            </p:grpSpPr>
            <p:sp>
              <p:nvSpPr>
                <p:cNvPr id="41" name="Rectangle 41"/>
                <p:cNvSpPr/>
                <p:nvPr/>
              </p:nvSpPr>
              <p:spPr>
                <a:xfrm>
                  <a:off x="4572000" y="4953000"/>
                  <a:ext cx="7010400" cy="952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4724400" y="5200650"/>
                  <a:ext cx="457200" cy="457200"/>
                </a:xfrm>
                <a:prstGeom prst="ellipse">
                  <a:avLst/>
                </a:prstGeom>
                <a:solidFill>
                  <a:srgbClr val="E6FF3D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841189" y="535971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0A0A0A"/>
                      </a:solidFill>
                      <a:latin typeface="Segoe UI"/>
                      <a:ea typeface="Segoe UI"/>
                      <a:cs typeface="Segoe UI"/>
                    </a:rPr>
                    <a:t>04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5364480" y="5172075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0A0A0A"/>
                      </a:solidFill>
                      <a:latin typeface="Segoe UI"/>
                      <a:ea typeface="Microsoft YaHei"/>
                      <a:cs typeface="Segoe UI"/>
                    </a:rPr>
                    <a:t>结果交付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5366766" y="5487352"/>
                  <a:ext cx="165740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66666"/>
                      </a:solidFill>
                      <a:latin typeface="Segoe UI"/>
                      <a:ea typeface="Microsoft YaHei"/>
                      <a:cs typeface="Segoe UI"/>
                    </a:rPr>
                    <a:t>降本·提效·强执行·促增长</a:t>
                  </a:r>
                </a:p>
              </p:txBody>
            </p:sp>
            <p:sp>
              <p:nvSpPr>
                <p:cNvPr id="46" name="Line 46"/>
                <p:cNvSpPr/>
                <p:nvPr/>
              </p:nvSpPr>
              <p:spPr>
                <a:xfrm>
                  <a:off x="10820400" y="5143500"/>
                  <a:ext cx="9525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0">
                      <a:moveTo>
                        <a:pt x="0" y="0"/>
                      </a:moveTo>
                      <a:lnTo>
                        <a:pt x="0" y="571500"/>
                      </a:lnTo>
                    </a:path>
                  </a:pathLst>
                </a:custGeom>
                <a:noFill/>
                <a:ln w="28575">
                  <a:solidFill>
                    <a:srgbClr val="E6FF3D"/>
                  </a:solidFill>
                </a:ln>
              </p:spPr>
            </p:sp>
          </p:grpSp>
        </p:grpSp>
        <p:grpSp>
          <p:nvGrpSpPr>
            <p:cNvPr id="53" name="Group 53"/>
            <p:cNvGrpSpPr/>
            <p:nvPr/>
          </p:nvGrpSpPr>
          <p:grpSpPr>
            <a:xfrm>
              <a:off x="4343400" y="2000250"/>
              <a:ext cx="228600" cy="3438525"/>
              <a:chOff x="4343400" y="2000250"/>
              <a:chExt cx="228600" cy="3438525"/>
            </a:xfrm>
          </p:grpSpPr>
          <p:sp>
            <p:nvSpPr>
              <p:cNvPr id="49" name="Line 49"/>
              <p:cNvSpPr/>
              <p:nvPr/>
            </p:nvSpPr>
            <p:spPr>
              <a:xfrm>
                <a:off x="4343400" y="20002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4343400" y="31432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4343400" y="42862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4343400" y="54292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E6FF3D"/>
                </a:solidFill>
              </a:ln>
            </p:spPr>
          </p:sp>
        </p:grpSp>
      </p:grpSp>
      <p:grpSp>
        <p:nvGrpSpPr>
          <p:cNvPr id="60" name="Group 60"/>
          <p:cNvGrpSpPr/>
          <p:nvPr/>
        </p:nvGrpSpPr>
        <p:grpSpPr>
          <a:xfrm>
            <a:off x="2628900" y="-38100"/>
            <a:ext cx="9187434" cy="6759511"/>
            <a:chOff x="2628900" y="-38100"/>
            <a:chExt cx="9187434" cy="6759511"/>
          </a:xfrm>
        </p:grpSpPr>
        <p:sp>
          <p:nvSpPr>
            <p:cNvPr id="55" name="TextBox 55"/>
            <p:cNvSpPr txBox="1"/>
            <p:nvPr/>
          </p:nvSpPr>
          <p:spPr>
            <a:xfrm>
              <a:off x="11308464" y="6516052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02 / 04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2628900" y="-381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781300" y="-381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933700" y="-381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3086100" y="-38100"/>
              <a:ext cx="76200" cy="762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1089196" y="219075"/>
            <a:ext cx="3484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00" dirty="0">
                <a:solidFill>
                  <a:srgbClr val="0A0A0A"/>
                </a:solidFill>
                <a:latin typeface="Arial"/>
                <a:ea typeface="Arial"/>
                <a:cs typeface="Arial"/>
              </a:rPr>
              <a:t>3/4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04850" y="762000"/>
            <a:ext cx="10725150" cy="3810000"/>
            <a:chOff x="704850" y="762000"/>
            <a:chExt cx="10725150" cy="3810000"/>
          </a:xfrm>
        </p:grpSpPr>
        <p:sp>
          <p:nvSpPr>
            <p:cNvPr id="30" name="Freeform 30"/>
            <p:cNvSpPr/>
            <p:nvPr/>
          </p:nvSpPr>
          <p:spPr>
            <a:xfrm>
              <a:off x="762000" y="762000"/>
              <a:ext cx="1143000" cy="342900"/>
            </a:xfrm>
            <a:custGeom>
              <a:avLst/>
              <a:gdLst/>
              <a:ahLst/>
              <a:cxnLst/>
              <a:rect l="l" t="t" r="r" b="b"/>
              <a:pathLst>
                <a:path w="1143000" h="342900">
                  <a:moveTo>
                    <a:pt x="38100" y="0"/>
                  </a:moveTo>
                  <a:lnTo>
                    <a:pt x="1104900" y="0"/>
                  </a:lnTo>
                  <a:cubicBezTo>
                    <a:pt x="1125942" y="0"/>
                    <a:pt x="1143000" y="17058"/>
                    <a:pt x="1143000" y="38100"/>
                  </a:cubicBezTo>
                  <a:lnTo>
                    <a:pt x="1143000" y="304800"/>
                  </a:lnTo>
                  <a:cubicBezTo>
                    <a:pt x="1143000" y="325842"/>
                    <a:pt x="1125942" y="342900"/>
                    <a:pt x="11049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6FF3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8162" y="87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关键判断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6760" y="1200150"/>
              <a:ext cx="71321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企业听懂AI却用不进业务的三大断点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856" y="1805940"/>
              <a:ext cx="22457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实用AI大于AI概念。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39000" y="762000"/>
              <a:ext cx="4191000" cy="3810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32377" y="1047750"/>
              <a:ext cx="1204246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0" b="1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04850" y="2990850"/>
              <a:ext cx="114300" cy="1143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118" y="2917508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提问失能：大模型无法描述业务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04850" y="3562350"/>
              <a:ext cx="114300" cy="1143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4118" y="3489008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流程断裂：结果无法接入工作流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4850" y="4133850"/>
              <a:ext cx="114300" cy="1143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4118" y="4060508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资产流失：知识无法沉淀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2476500"/>
            <a:ext cx="4953000" cy="9525"/>
            <a:chOff x="762000" y="2476500"/>
            <a:chExt cx="4953000" cy="9525"/>
          </a:xfrm>
        </p:grpSpPr>
        <p:sp>
          <p:nvSpPr>
            <p:cNvPr id="43" name="Line 43"/>
            <p:cNvSpPr/>
            <p:nvPr/>
          </p:nvSpPr>
          <p:spPr>
            <a:xfrm>
              <a:off x="762000" y="2476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38100">
              <a:solidFill>
                <a:srgbClr val="E6FF3D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CEC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9525">
              <a:solidFill>
                <a:srgbClr val="CFCFC8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192000" cy="771525"/>
            <a:chOff x="0" y="0"/>
            <a:chExt cx="12192000" cy="77152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F5F4EF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346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屿算智能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06626" y="362902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4 / 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3712" y="1238250"/>
            <a:ext cx="10686288" cy="5238750"/>
            <a:chOff x="743712" y="1238250"/>
            <a:chExt cx="10686288" cy="5238750"/>
          </a:xfrm>
        </p:grpSpPr>
        <p:grpSp>
          <p:nvGrpSpPr>
            <p:cNvPr id="12" name="Group 12"/>
            <p:cNvGrpSpPr/>
            <p:nvPr/>
          </p:nvGrpSpPr>
          <p:grpSpPr>
            <a:xfrm>
              <a:off x="762000" y="1238250"/>
              <a:ext cx="1143000" cy="343281"/>
              <a:chOff x="762000" y="1238250"/>
              <a:chExt cx="1143000" cy="343281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1238250"/>
                <a:ext cx="1143000" cy="342900"/>
              </a:xfrm>
              <a:prstGeom prst="rect">
                <a:avLst/>
              </a:prstGeom>
              <a:solidFill>
                <a:srgbClr val="E6FF3D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8162" y="134683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推进序列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743712" y="1802130"/>
              <a:ext cx="25808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下一步行动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380" y="25050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先帮企业问清楚，再进入立项和执行。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62000" y="3810000"/>
              <a:ext cx="10668000" cy="1905000"/>
              <a:chOff x="762000" y="3810000"/>
              <a:chExt cx="10668000" cy="1905000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762000" y="40005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38100">
                <a:solidFill>
                  <a:srgbClr val="CFCFC8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952500" y="3810000"/>
                <a:ext cx="1905000" cy="1905000"/>
                <a:chOff x="952500" y="3810000"/>
                <a:chExt cx="1905000" cy="1905000"/>
              </a:xfrm>
            </p:grpSpPr>
            <p:sp>
              <p:nvSpPr>
                <p:cNvPr id="16" name="Ellipse 16"/>
                <p:cNvSpPr/>
                <p:nvPr/>
              </p:nvSpPr>
              <p:spPr>
                <a:xfrm>
                  <a:off x="1714500" y="3810000"/>
                  <a:ext cx="381000" cy="381000"/>
                </a:xfrm>
                <a:prstGeom prst="ellipse">
                  <a:avLst/>
                </a:prstGeom>
                <a:solidFill>
                  <a:srgbClr val="E6FF3D"/>
                </a:solidFill>
                <a:ln w="28575">
                  <a:solidFill>
                    <a:srgbClr val="0A0A0A"/>
                  </a:solidFill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845665" y="393096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0A0A0A"/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18" name="Rectangle 18"/>
                <p:cNvSpPr/>
                <p:nvPr/>
              </p:nvSpPr>
              <p:spPr>
                <a:xfrm>
                  <a:off x="952500" y="4381500"/>
                  <a:ext cx="1905000" cy="1333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707318" y="4569142"/>
                  <a:ext cx="39536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诊断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375029" y="4895374"/>
                  <a:ext cx="105994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业务梳理清单输出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506283" y="5114449"/>
                  <a:ext cx="7974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定位关键断点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3333750" y="3810000"/>
                <a:ext cx="1905000" cy="1905000"/>
                <a:chOff x="3333750" y="3810000"/>
                <a:chExt cx="1905000" cy="1905000"/>
              </a:xfrm>
            </p:grpSpPr>
            <p:sp>
              <p:nvSpPr>
                <p:cNvPr id="23" name="Ellipse 23"/>
                <p:cNvSpPr/>
                <p:nvPr/>
              </p:nvSpPr>
              <p:spPr>
                <a:xfrm>
                  <a:off x="4095750" y="3810000"/>
                  <a:ext cx="381000" cy="381000"/>
                </a:xfrm>
                <a:prstGeom prst="ellipse">
                  <a:avLst/>
                </a:prstGeom>
                <a:solidFill>
                  <a:srgbClr val="E6FF3D"/>
                </a:solidFill>
                <a:ln w="28575">
                  <a:solidFill>
                    <a:srgbClr val="0A0A0A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226915" y="393096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0A0A0A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25" name="Rectangle 25"/>
                <p:cNvSpPr/>
                <p:nvPr/>
              </p:nvSpPr>
              <p:spPr>
                <a:xfrm>
                  <a:off x="3333750" y="4381500"/>
                  <a:ext cx="1905000" cy="1333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088568" y="4569142"/>
                  <a:ext cx="39536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立项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720184" y="4895374"/>
                  <a:ext cx="113213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行业研究+落地方案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756279" y="5114449"/>
                  <a:ext cx="105994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运营策划自动生成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5715000" y="3810000"/>
                <a:ext cx="1905000" cy="1905000"/>
                <a:chOff x="5715000" y="3810000"/>
                <a:chExt cx="1905000" cy="1905000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6477000" y="3810000"/>
                  <a:ext cx="381000" cy="381000"/>
                </a:xfrm>
                <a:prstGeom prst="ellipse">
                  <a:avLst/>
                </a:prstGeom>
                <a:solidFill>
                  <a:srgbClr val="E6FF3D"/>
                </a:solidFill>
                <a:ln w="28575">
                  <a:solidFill>
                    <a:srgbClr val="0A0A0A"/>
                  </a:solidFill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608165" y="393096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0A0A0A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5715000" y="4381500"/>
                  <a:ext cx="1905000" cy="1333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469818" y="4569142"/>
                  <a:ext cx="39536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执行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203156" y="4895374"/>
                  <a:ext cx="92868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目标看板拆解为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875020" y="5114449"/>
                  <a:ext cx="158496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每日任务，团队照流程推进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8096250" y="3810000"/>
                <a:ext cx="1905000" cy="1905000"/>
                <a:chOff x="8096250" y="3810000"/>
                <a:chExt cx="1905000" cy="1905000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8858250" y="3810000"/>
                  <a:ext cx="381000" cy="381000"/>
                </a:xfrm>
                <a:prstGeom prst="ellipse">
                  <a:avLst/>
                </a:prstGeom>
                <a:solidFill>
                  <a:srgbClr val="E6FF3D"/>
                </a:solidFill>
                <a:ln w="28575">
                  <a:solidFill>
                    <a:srgbClr val="0A0A0A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989415" y="393096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0A0A0A"/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</a:p>
              </p:txBody>
            </p:sp>
            <p:sp>
              <p:nvSpPr>
                <p:cNvPr id="39" name="Rectangle 39"/>
                <p:cNvSpPr/>
                <p:nvPr/>
              </p:nvSpPr>
              <p:spPr>
                <a:xfrm>
                  <a:off x="8096250" y="4381500"/>
                  <a:ext cx="1905000" cy="1333500"/>
                </a:xfrm>
                <a:prstGeom prst="rect">
                  <a:avLst/>
                </a:prstGeom>
                <a:solidFill>
                  <a:srgbClr val="F5F4EF"/>
                </a:solidFill>
                <a:ln w="19050">
                  <a:solidFill>
                    <a:srgbClr val="CFCFC8"/>
                  </a:solidFill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851068" y="4569142"/>
                  <a:ext cx="39536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沉淀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518779" y="4895374"/>
                  <a:ext cx="105994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内容、方案、知识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190643" y="5114449"/>
                  <a:ext cx="171621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rgbClr val="0A0A0A"/>
                      </a:solidFill>
                      <a:latin typeface="Arial"/>
                      <a:ea typeface="Microsoft YaHei"/>
                      <a:cs typeface="Arial"/>
                    </a:rPr>
                    <a:t>进入企业资产库，越用越完整</a:t>
                  </a:r>
                </a:p>
              </p:txBody>
            </p:sp>
          </p:grpSp>
          <p:sp>
            <p:nvSpPr>
              <p:cNvPr id="44" name="Polygon 44"/>
              <p:cNvSpPr/>
              <p:nvPr/>
            </p:nvSpPr>
            <p:spPr>
              <a:xfrm>
                <a:off x="10287000" y="38576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lnTo>
                      <a:pt x="285750" y="0"/>
                    </a:lnTo>
                    <a:lnTo>
                      <a:pt x="285750" y="285750"/>
                    </a:ln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762000" y="6096000"/>
              <a:ext cx="3810000" cy="381000"/>
              <a:chOff x="762000" y="6096000"/>
              <a:chExt cx="3810000" cy="3810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762000" y="6096000"/>
                <a:ext cx="3810000" cy="3810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834233" y="6239828"/>
                <a:ext cx="16655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6FF3D"/>
                    </a:solidFill>
                    <a:latin typeface="Arial"/>
                    <a:ea typeface="Microsoft YaHei"/>
                    <a:cs typeface="Arial"/>
                  </a:rPr>
                  <a:t>从诊断到沉淀 · 闭环推进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1905000" y="4191000"/>
            <a:ext cx="7153275" cy="171450"/>
            <a:chOff x="1905000" y="4191000"/>
            <a:chExt cx="7153275" cy="171450"/>
          </a:xfrm>
        </p:grpSpPr>
        <p:sp>
          <p:nvSpPr>
            <p:cNvPr id="50" name="Line 50"/>
            <p:cNvSpPr/>
            <p:nvPr/>
          </p:nvSpPr>
          <p:spPr>
            <a:xfrm>
              <a:off x="1905000" y="4191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4286250" y="4191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667500" y="4191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048750" y="4191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2026-07-09T14:18:00Z</dcterms:created>
  <dcterms:modified xsi:type="dcterms:W3CDTF">2026-07-09T14:18:00Z</dcterms:modified>
  <cp:category/>
  <cp:contentStatus/>
</cp:coreProperties>
</file>