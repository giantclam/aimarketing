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霍尔木兹海峡：通了，不等于稳了</a:t>
            </a:r>
          </a:p>
          <a:p>
            <a:endParaRPr lang="en-US" dirty="0"/>
          </a:p>
          <a:p>
            <a:r>
              <a:rPr lang="zh-CN" dirty="0"/>
              <a:t>恢复通航只是第一步，真正的判断已转向高风险、高成本状态会持续多久。</a:t>
            </a:r>
          </a:p>
          <a:p>
            <a:endParaRPr lang="en-US" dirty="0"/>
          </a:p>
          <a:p>
            <a:r>
              <a:rPr lang="zh-CN" dirty="0"/>
              <a:t>• 面向管理层的结论先行</a:t>
            </a:r>
          </a:p>
          <a:p>
            <a:r>
              <a:rPr lang="zh-CN" dirty="0"/>
              <a:t>• 关注成本、交期与供应三重连锁</a:t>
            </a:r>
          </a:p>
          <a:p>
            <a:r>
              <a:rPr lang="zh-CN" dirty="0"/>
              <a:t>• 截至2026年6月24日的…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先看结论，再看代价</a:t>
            </a:r>
          </a:p>
          <a:p>
            <a:endParaRPr lang="en-US" dirty="0"/>
          </a:p>
          <a:p>
            <a:r>
              <a:rPr lang="zh-CN" dirty="0"/>
              <a:t>这不是断航复盘，而是恢复后风险定价如何继续压向全球能源链。</a:t>
            </a:r>
          </a:p>
          <a:p>
            <a:endParaRPr lang="en-US" dirty="0"/>
          </a:p>
          <a:p>
            <a:r>
              <a:rPr lang="zh-CN" dirty="0"/>
              <a:t>• 航道重开，但安全与控制安排仍未完全…</a:t>
            </a:r>
          </a:p>
          <a:p>
            <a:r>
              <a:rPr lang="zh-CN" dirty="0"/>
              <a:t>• 新的军事摩擦仍可能迅速抬高战险、保…</a:t>
            </a:r>
          </a:p>
          <a:p>
            <a:r>
              <a:rPr lang="zh-CN" dirty="0"/>
              <a:t>• 全球约五分之一海运原油仍经由霍尔木…</a:t>
            </a:r>
          </a:p>
          <a:p>
            <a:r>
              <a:rPr lang="zh-CN" dirty="0"/>
              <a:t>• 运价、保险与改道成本已向炼厂、贸易…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恢复通航，不等于风险退场</a:t>
            </a:r>
          </a:p>
          <a:p>
            <a:endParaRPr lang="en-US" dirty="0"/>
          </a:p>
          <a:p>
            <a:r>
              <a:rPr lang="zh-CN" dirty="0"/>
              <a:t>霍尔木兹海峡仍承载全球约20%海运原油，航道一旦反…</a:t>
            </a:r>
          </a:p>
          <a:p>
            <a:endParaRPr lang="en-US" dirty="0"/>
          </a:p>
          <a:p>
            <a:r>
              <a:rPr lang="zh-CN" dirty="0"/>
              <a:t>• 战险与保险条款仍高于冲…</a:t>
            </a:r>
          </a:p>
          <a:p>
            <a:r>
              <a:rPr lang="zh-CN" dirty="0"/>
              <a:t>• LNG船与油轮成本恢复…</a:t>
            </a:r>
          </a:p>
          <a:p>
            <a:r>
              <a:rPr lang="zh-CN" dirty="0"/>
              <a:t>• 延误会直接挤压库存安全…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现在就按高压常态部署</a:t>
            </a:r>
          </a:p>
          <a:p>
            <a:endParaRPr lang="en-US" dirty="0"/>
          </a:p>
          <a:p>
            <a:r>
              <a:rPr lang="zh-CN" dirty="0"/>
              <a:t>管理层当前不该押注快速回归低成本航运，而应把恢…</a:t>
            </a:r>
          </a:p>
          <a:p>
            <a:endParaRPr lang="en-US" dirty="0"/>
          </a:p>
          <a:p>
            <a:r>
              <a:rPr lang="zh-CN" dirty="0"/>
              <a:t>• 提前锁定运价与保险预算…</a:t>
            </a:r>
          </a:p>
          <a:p>
            <a:r>
              <a:rPr lang="zh-CN" dirty="0"/>
              <a:t>• 重排到港窗口与库存阈值…</a:t>
            </a:r>
          </a:p>
          <a:p>
            <a:r>
              <a:rPr lang="zh-CN" dirty="0"/>
              <a:t>• 同步准备改道、替代装港…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800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086850" y="800100"/>
              <a:ext cx="3105150" cy="60579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rgbClr val="151513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685800" y="1371600"/>
              <a:ext cx="7962900" cy="9525"/>
            </a:xfrm>
            <a:custGeom>
              <a:avLst/>
              <a:gdLst/>
              <a:ahLst/>
              <a:cxnLst/>
              <a:rect l="l" t="t" r="r" b="b"/>
              <a:pathLst>
                <a:path w="7962900" h="9525">
                  <a:moveTo>
                    <a:pt x="0" y="0"/>
                  </a:moveTo>
                  <a:lnTo>
                    <a:pt x="7962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85800" y="5829300"/>
              <a:ext cx="7962900" cy="9525"/>
            </a:xfrm>
            <a:custGeom>
              <a:avLst/>
              <a:gdLst/>
              <a:ahLst/>
              <a:cxnLst/>
              <a:rect l="l" t="t" r="r" b="b"/>
              <a:pathLst>
                <a:path w="7962900" h="9525">
                  <a:moveTo>
                    <a:pt x="0" y="0"/>
                  </a:moveTo>
                  <a:lnTo>
                    <a:pt x="7962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86850" y="800100"/>
              <a:ext cx="9525" cy="6057900"/>
            </a:xfrm>
            <a:custGeom>
              <a:avLst/>
              <a:gdLst/>
              <a:ahLst/>
              <a:cxnLst/>
              <a:rect l="l" t="t" r="r" b="b"/>
              <a:pathLst>
                <a:path w="9525" h="6057900">
                  <a:moveTo>
                    <a:pt x="0" y="0"/>
                  </a:moveTo>
                  <a:lnTo>
                    <a:pt x="0" y="60579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0" y="914400"/>
              <a:ext cx="2247900" cy="2247900"/>
            </a:xfrm>
            <a:prstGeom prst="ellipse">
              <a:avLst/>
            </a:prstGeom>
            <a:noFill/>
            <a:ln w="28575">
              <a:solidFill>
                <a:srgbClr val="E85D2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163050" y="1314450"/>
              <a:ext cx="1447800" cy="1447800"/>
            </a:xfrm>
            <a:prstGeom prst="ellipse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239250" y="1390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0" y="647700"/>
                  </a:moveTo>
                  <a:cubicBezTo>
                    <a:pt x="228600" y="342900"/>
                    <a:pt x="476250" y="285750"/>
                    <a:pt x="647700" y="0"/>
                  </a:cubicBezTo>
                  <a:cubicBezTo>
                    <a:pt x="781050" y="342900"/>
                    <a:pt x="1085850" y="400050"/>
                    <a:pt x="1314450" y="647700"/>
                  </a:cubicBezTo>
                  <a:cubicBezTo>
                    <a:pt x="1104900" y="895350"/>
                    <a:pt x="800100" y="990600"/>
                    <a:pt x="647700" y="1314450"/>
                  </a:cubicBezTo>
                  <a:cubicBezTo>
                    <a:pt x="495300" y="990600"/>
                    <a:pt x="209550" y="895350"/>
                    <a:pt x="0" y="647700"/>
                  </a:cubicBezTo>
                  <a:close/>
                </a:path>
              </a:pathLst>
            </a:custGeom>
            <a:noFill/>
            <a:ln w="28575">
              <a:solidFill>
                <a:srgbClr val="F0ECE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886950" y="9144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8282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763000" y="2038350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8282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544050" y="3657600"/>
              <a:ext cx="685800" cy="17526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39400" y="4076700"/>
              <a:ext cx="685800" cy="1333500"/>
            </a:xfrm>
            <a:prstGeom prst="rect">
              <a:avLst/>
            </a:prstGeom>
            <a:solidFill>
              <a:srgbClr val="F0ECE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48700" y="4400550"/>
              <a:ext cx="685800" cy="10096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544050" y="36576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19050">
              <a:solidFill>
                <a:srgbClr val="F0ECE5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439400" y="40767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111111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53415" y="239078"/>
            <a:ext cx="10869930" cy="6285547"/>
            <a:chOff x="653415" y="239078"/>
            <a:chExt cx="10869930" cy="6285547"/>
          </a:xfrm>
        </p:grpSpPr>
        <p:sp>
          <p:nvSpPr>
            <p:cNvPr id="21" name="TextBox 21"/>
            <p:cNvSpPr txBox="1"/>
            <p:nvPr/>
          </p:nvSpPr>
          <p:spPr>
            <a:xfrm>
              <a:off x="653415" y="23907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大字报头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22476" y="368618"/>
              <a:ext cx="667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8655" y="6216968"/>
              <a:ext cx="52985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霍尔木兹海峡现状与全球能源运输影响（截至2026年6月24日）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2839" y="6216968"/>
              <a:ext cx="960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BROADSIDE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6515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11505" y="1111568"/>
            <a:ext cx="10593753" cy="5029676"/>
            <a:chOff x="611505" y="1111568"/>
            <a:chExt cx="10593753" cy="5029676"/>
          </a:xfrm>
        </p:grpSpPr>
        <p:sp>
          <p:nvSpPr>
            <p:cNvPr id="27" name="TextBox 27"/>
            <p:cNvSpPr txBox="1"/>
            <p:nvPr/>
          </p:nvSpPr>
          <p:spPr>
            <a:xfrm>
              <a:off x="611505" y="1330642"/>
              <a:ext cx="5882307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8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1505" y="2206942"/>
              <a:ext cx="67014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8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通了，不等于稳了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" y="3200400"/>
              <a:ext cx="335280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9130" y="3716655"/>
              <a:ext cx="53460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恢复通航只是第一步，真正的判断已转向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130" y="4097655"/>
              <a:ext cx="44638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高风险、高成本状态会持续多久。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940" y="4853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结论先行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4845" y="523208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面向管理层的结论先行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68090" y="4853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三重连锁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69995" y="5232082"/>
              <a:ext cx="32763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关注成本、交期与供应三重连锁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9040" y="4853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时间锚点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0945" y="5232082"/>
              <a:ext cx="2086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9755" y="1111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视觉主轴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4515" y="12487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通航恢复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9755" y="31499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但风险定价仍在高位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70708" y="5615464"/>
              <a:ext cx="12998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恢复的是“能走”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0708" y="5882164"/>
              <a:ext cx="14784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未恢复的是“能稳”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914400"/>
            <a:ext cx="10287000" cy="1819275"/>
            <a:chOff x="685800" y="914400"/>
            <a:chExt cx="10287000" cy="1819275"/>
          </a:xfrm>
        </p:grpSpPr>
        <p:sp>
          <p:nvSpPr>
            <p:cNvPr id="44" name="Rectangle 44"/>
            <p:cNvSpPr/>
            <p:nvPr/>
          </p:nvSpPr>
          <p:spPr>
            <a:xfrm>
              <a:off x="685800" y="1028700"/>
              <a:ext cx="1123950" cy="247650"/>
            </a:xfrm>
            <a:prstGeom prst="rect">
              <a:avLst/>
            </a:prstGeom>
            <a:solidFill>
              <a:srgbClr val="1A1A18"/>
            </a:solidFill>
            <a:ln w="14288">
              <a:solidFill>
                <a:srgbClr val="28282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6765" y="108680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COVER / 告示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72600" y="914400"/>
              <a:ext cx="1600200" cy="285750"/>
            </a:xfrm>
            <a:prstGeom prst="rect">
              <a:avLst/>
            </a:prstGeom>
            <a:solidFill>
              <a:srgbClr val="111111"/>
            </a:solidFill>
            <a:ln w="14288">
              <a:solidFill>
                <a:srgbClr val="28282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93568" y="999649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海峡仍是全球航运阀门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420100" y="20383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8420100" y="2038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6650" y="2428875"/>
              <a:ext cx="19598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恢复通航 ≠ 风险退场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228600"/>
            <a:ext cx="12192000" cy="6400800"/>
            <a:chOff x="0" y="228600"/>
            <a:chExt cx="12192000" cy="6400800"/>
          </a:xfrm>
        </p:grpSpPr>
        <p:sp>
          <p:nvSpPr>
            <p:cNvPr id="3" name="Freeform 3"/>
            <p:cNvSpPr/>
            <p:nvPr/>
          </p:nvSpPr>
          <p:spPr>
            <a:xfrm>
              <a:off x="228600" y="228600"/>
              <a:ext cx="11734800" cy="6400800"/>
            </a:xfrm>
            <a:custGeom>
              <a:avLst/>
              <a:gdLst/>
              <a:ahLst/>
              <a:cxnLst/>
              <a:rect l="l" t="t" r="r" b="b"/>
              <a:pathLst>
                <a:path w="11734800" h="6400800">
                  <a:moveTo>
                    <a:pt x="171450" y="0"/>
                  </a:moveTo>
                  <a:lnTo>
                    <a:pt x="11563350" y="0"/>
                  </a:lnTo>
                  <a:cubicBezTo>
                    <a:pt x="11658039" y="0"/>
                    <a:pt x="11734800" y="76761"/>
                    <a:pt x="11734800" y="171450"/>
                  </a:cubicBezTo>
                  <a:lnTo>
                    <a:pt x="11734800" y="6229350"/>
                  </a:lnTo>
                  <a:cubicBezTo>
                    <a:pt x="11734800" y="6324039"/>
                    <a:pt x="11658039" y="6400800"/>
                    <a:pt x="11563350" y="6400800"/>
                  </a:cubicBezTo>
                  <a:lnTo>
                    <a:pt x="171450" y="6400800"/>
                  </a:lnTo>
                  <a:cubicBezTo>
                    <a:pt x="76761" y="6400800"/>
                    <a:pt x="0" y="6324039"/>
                    <a:pt x="0" y="6229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111111"/>
            </a:solidFill>
            <a:ln w="19050">
              <a:solidFill>
                <a:srgbClr val="28282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361950" y="361950"/>
              <a:ext cx="11468100" cy="6134100"/>
            </a:xfrm>
            <a:custGeom>
              <a:avLst/>
              <a:gdLst/>
              <a:ahLst/>
              <a:cxnLst/>
              <a:rect l="l" t="t" r="r" b="b"/>
              <a:pathLst>
                <a:path w="11468100" h="6134100">
                  <a:moveTo>
                    <a:pt x="114300" y="0"/>
                  </a:moveTo>
                  <a:lnTo>
                    <a:pt x="11353800" y="0"/>
                  </a:lnTo>
                  <a:cubicBezTo>
                    <a:pt x="11416926" y="0"/>
                    <a:pt x="11468100" y="51174"/>
                    <a:pt x="11468100" y="114300"/>
                  </a:cubicBezTo>
                  <a:lnTo>
                    <a:pt x="11468100" y="6019800"/>
                  </a:lnTo>
                  <a:cubicBezTo>
                    <a:pt x="11468100" y="6082926"/>
                    <a:pt x="11416926" y="6134100"/>
                    <a:pt x="11353800" y="6134100"/>
                  </a:cubicBezTo>
                  <a:lnTo>
                    <a:pt x="114300" y="6134100"/>
                  </a:lnTo>
                  <a:cubicBezTo>
                    <a:pt x="51174" y="6134100"/>
                    <a:pt x="0" y="6082926"/>
                    <a:pt x="0" y="6019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838200"/>
              <a:ext cx="12192000" cy="190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5905500"/>
              <a:ext cx="121920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324850" y="228600"/>
              <a:ext cx="3638550" cy="6400800"/>
            </a:xfrm>
            <a:prstGeom prst="rect">
              <a:avLst/>
            </a:prstGeom>
            <a:solidFill>
              <a:srgbClr val="151514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78155" y="444818"/>
            <a:ext cx="10501255" cy="5884544"/>
            <a:chOff x="478155" y="444818"/>
            <a:chExt cx="10501255" cy="5884544"/>
          </a:xfrm>
        </p:grpSpPr>
        <p:sp>
          <p:nvSpPr>
            <p:cNvPr id="9" name="TextBox 9"/>
            <p:cNvSpPr txBox="1"/>
            <p:nvPr/>
          </p:nvSpPr>
          <p:spPr>
            <a:xfrm>
              <a:off x="478155" y="44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栏目排版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86060" y="461010"/>
              <a:ext cx="593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02 / 04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1965" y="6116002"/>
              <a:ext cx="4121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霍尔木兹海峡现状与全球能源运输影响（截至2026年6月24日）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64065" y="6116002"/>
              <a:ext cx="747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8E8A84"/>
                  </a:solidFill>
                  <a:latin typeface="Arial"/>
                  <a:ea typeface="Arial"/>
                  <a:cs typeface="Arial"/>
                </a:rPr>
                <a:t>BROADSIDE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4340" y="910590"/>
            <a:ext cx="12474131" cy="5361622"/>
            <a:chOff x="434340" y="910590"/>
            <a:chExt cx="12474131" cy="5361622"/>
          </a:xfrm>
        </p:grpSpPr>
        <p:sp>
          <p:nvSpPr>
            <p:cNvPr id="14" name="TextBox 14"/>
            <p:cNvSpPr txBox="1"/>
            <p:nvPr/>
          </p:nvSpPr>
          <p:spPr>
            <a:xfrm>
              <a:off x="434340" y="910590"/>
              <a:ext cx="348234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先看结论，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4340" y="1539240"/>
              <a:ext cx="281025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85D26"/>
                  </a:solidFill>
                  <a:latin typeface="Arial Black"/>
                  <a:ea typeface="Microsoft YaHei"/>
                  <a:cs typeface="Arial Black"/>
                </a:rPr>
                <a:t>再看代价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" y="2400300"/>
              <a:ext cx="455295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2440" y="2586990"/>
              <a:ext cx="70065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这不是断航复盘，而是恢复后风险定价如何继续压向全球能源链。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300" y="3219450"/>
              <a:ext cx="7524750" cy="283845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324100" y="32194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152900" y="32194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981700" y="32194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2945" y="32985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185" y="38280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航道重开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185" y="41519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但安全与控制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185" y="44757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安排仍未完全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42950" y="4953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5805" y="51882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恢复 ≠ 稳定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31745" y="32985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46985" y="38280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新的军事摩擦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6985" y="41519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仍可能迅速抬高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6985" y="44757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战险与保费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571750" y="4953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54605" y="5188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冲突仍可定价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60545" y="32985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75785" y="38280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全球约五分之一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75785" y="41519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海运原油仍经由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75785" y="44757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400550" y="4953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83405" y="5188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通道地位未变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89345" y="32985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85D26"/>
                  </a:solidFill>
                  <a:latin typeface="Arial Black"/>
                  <a:ea typeface="Arial Black"/>
                  <a:cs typeface="Arial Black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04585" y="38280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运价、保险与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04585" y="41519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改道成本已向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04585" y="44757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炼厂贸易端传导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229350" y="4953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12205" y="5188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代价开始落地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4880" y="11068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本页路径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591550" y="148590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38100">
              <a:solidFill>
                <a:srgbClr val="E85D2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6310" y="18897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先把结论钉住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59165" y="206787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通了，不等于风险退了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76310" y="29565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再看成本扩散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59165" y="31346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保费、运价、改道继续压价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76310" y="40233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最后导向后文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59165" y="42014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恢复通航，不等于高压解除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591550" y="5124450"/>
              <a:ext cx="2495550" cy="876300"/>
            </a:xfrm>
            <a:prstGeom prst="rect">
              <a:avLst/>
            </a:prstGeom>
            <a:noFill/>
            <a:ln w="19050">
              <a:solidFill>
                <a:srgbClr val="E85D2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66810" y="53187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一句话判断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3475" y="552926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风险已从封锁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53475" y="5815012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转成长期加价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5300" y="1047750"/>
            <a:ext cx="7981950" cy="3238500"/>
            <a:chOff x="495300" y="1047750"/>
            <a:chExt cx="7981950" cy="3238500"/>
          </a:xfrm>
        </p:grpSpPr>
        <p:sp>
          <p:nvSpPr>
            <p:cNvPr id="59" name="Ellipse 59"/>
            <p:cNvSpPr/>
            <p:nvPr/>
          </p:nvSpPr>
          <p:spPr>
            <a:xfrm>
              <a:off x="8210550" y="203835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8267700" y="20955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210550" y="310515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8267700" y="31623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210550" y="417195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8267700" y="42291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95300" y="1047750"/>
              <a:ext cx="133350" cy="12001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95300" y="3219450"/>
              <a:ext cx="75247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42900" y="323850"/>
              <a:ext cx="11506200" cy="62103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42900" y="323850"/>
              <a:ext cx="133350" cy="62103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963150" y="323850"/>
              <a:ext cx="1885950" cy="6210300"/>
            </a:xfrm>
            <a:prstGeom prst="rect">
              <a:avLst/>
            </a:prstGeom>
            <a:solidFill>
              <a:srgbClr val="151513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666750" y="15811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66750" y="45148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781800" y="1581150"/>
              <a:ext cx="9525" cy="4610100"/>
            </a:xfrm>
            <a:custGeom>
              <a:avLst/>
              <a:gdLst/>
              <a:ahLst/>
              <a:cxnLst/>
              <a:rect l="l" t="t" r="r" b="b"/>
              <a:pathLst>
                <a:path w="9525" h="4610100">
                  <a:moveTo>
                    <a:pt x="0" y="0"/>
                  </a:moveTo>
                  <a:lnTo>
                    <a:pt x="0" y="46101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5795" y="641032"/>
            <a:ext cx="10991850" cy="5807393"/>
            <a:chOff x="645795" y="641032"/>
            <a:chExt cx="10991850" cy="5807393"/>
          </a:xfrm>
        </p:grpSpPr>
        <p:sp>
          <p:nvSpPr>
            <p:cNvPr id="11" name="TextBox 11"/>
            <p:cNvSpPr txBox="1"/>
            <p:nvPr/>
          </p:nvSpPr>
          <p:spPr>
            <a:xfrm>
              <a:off x="645795" y="6410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核心宣言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9605" y="1054418"/>
              <a:ext cx="2009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HORMUZ / INSIGHT / 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0126" y="673418"/>
              <a:ext cx="667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03 — 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06052" y="6039802"/>
              <a:ext cx="1327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8912" y="6265545"/>
              <a:ext cx="1283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8F8B84"/>
                  </a:solidFill>
                  <a:latin typeface="Arial"/>
                  <a:ea typeface="Microsoft YaHei"/>
                  <a:cs typeface="Arial"/>
                </a:rPr>
                <a:t>全球能源运输影响观察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6265" y="1143000"/>
            <a:ext cx="11866721" cy="5048250"/>
            <a:chOff x="596265" y="1143000"/>
            <a:chExt cx="11866721" cy="5048250"/>
          </a:xfrm>
        </p:grpSpPr>
        <p:sp>
          <p:nvSpPr>
            <p:cNvPr id="17" name="TextBox 17"/>
            <p:cNvSpPr txBox="1"/>
            <p:nvPr/>
          </p:nvSpPr>
          <p:spPr>
            <a:xfrm>
              <a:off x="596265" y="1667828"/>
              <a:ext cx="4026456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恢复通航，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6265" y="2448878"/>
              <a:ext cx="5580650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不等于风险退场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86600" y="1809750"/>
              <a:ext cx="2266950" cy="23050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76132" y="1761172"/>
              <a:ext cx="2687886" cy="1920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5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5105" y="30251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海运原油仍经此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089" y="33299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全球关键咽喉未变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0080" y="4916805"/>
              <a:ext cx="55959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霍尔木兹海峡仍承载全球约20%海运原油，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0080" y="5297805"/>
              <a:ext cx="53460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航道一旦反复，风险定价就会立刻回潮。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86600" y="4686300"/>
              <a:ext cx="2266950" cy="120015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79005" y="4902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判断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3765" y="51539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通航恢复是表层，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3765" y="54778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高压运营才是常态。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63150" y="1143000"/>
              <a:ext cx="1466850" cy="647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69652" y="13677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代价仍在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31755" y="2197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34650" y="21812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战险与保险条款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34650" y="24479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仍高于冲突前水平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0210800" y="281940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31755" y="32832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34650" y="3267075"/>
              <a:ext cx="16448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LNG船与油轮成本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34650" y="35337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恢复速度并不同步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0210800" y="390525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31755" y="43691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34650" y="43529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延误会直接挤压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34650" y="46196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库存安全与补货节奏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63150" y="5391150"/>
              <a:ext cx="1466850" cy="800100"/>
            </a:xfrm>
            <a:prstGeom prst="rect">
              <a:avLst/>
            </a:prstGeom>
            <a:noFill/>
            <a:ln w="19050">
              <a:solidFill>
                <a:srgbClr val="E85D2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139467" y="5585460"/>
              <a:ext cx="11142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POST-REOPEN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98048" y="58035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风险未清零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086100" y="2057400"/>
            <a:ext cx="6724650" cy="2428875"/>
            <a:chOff x="3086100" y="2057400"/>
            <a:chExt cx="6724650" cy="2428875"/>
          </a:xfrm>
        </p:grpSpPr>
        <p:sp>
          <p:nvSpPr>
            <p:cNvPr id="46" name="Line 46"/>
            <p:cNvSpPr/>
            <p:nvPr/>
          </p:nvSpPr>
          <p:spPr>
            <a:xfrm>
              <a:off x="9353550" y="2057400"/>
              <a:ext cx="457200" cy="190500"/>
            </a:xfrm>
            <a:custGeom>
              <a:avLst/>
              <a:gdLst/>
              <a:ahLst/>
              <a:cxnLst/>
              <a:rect l="l" t="t" r="r" b="b"/>
              <a:pathLst>
                <a:path w="457200" h="190500">
                  <a:moveTo>
                    <a:pt x="0" y="19050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353550" y="3676650"/>
              <a:ext cx="457200" cy="171450"/>
            </a:xfrm>
            <a:custGeom>
              <a:avLst/>
              <a:gdLst/>
              <a:ahLst/>
              <a:cxnLst/>
              <a:rect l="l" t="t" r="r" b="b"/>
              <a:pathLst>
                <a:path w="457200" h="171450">
                  <a:moveTo>
                    <a:pt x="0" y="0"/>
                  </a:moveTo>
                  <a:lnTo>
                    <a:pt x="457200" y="17145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3086100" y="318135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38100">
              <a:solidFill>
                <a:srgbClr val="E85D2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38500" y="393382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真正变化的是成本曲线，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38500" y="41814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不是风险本身。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" y="228600"/>
            <a:ext cx="11734800" cy="6400800"/>
            <a:chOff x="228600" y="228600"/>
            <a:chExt cx="11734800" cy="6400800"/>
          </a:xfrm>
        </p:grpSpPr>
        <p:sp>
          <p:nvSpPr>
            <p:cNvPr id="3" name="Rectangle 3"/>
            <p:cNvSpPr/>
            <p:nvPr/>
          </p:nvSpPr>
          <p:spPr>
            <a:xfrm>
              <a:off x="228600" y="228600"/>
              <a:ext cx="11734800" cy="64008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228600" y="228600"/>
              <a:ext cx="2000250" cy="64008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228850" y="228600"/>
              <a:ext cx="19050" cy="640080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28600" y="5829300"/>
              <a:ext cx="11734800" cy="800100"/>
            </a:xfrm>
            <a:prstGeom prst="rect">
              <a:avLst/>
            </a:prstGeom>
            <a:solidFill>
              <a:srgbClr val="15151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28600" y="5810250"/>
              <a:ext cx="11734800" cy="19050"/>
            </a:xfrm>
            <a:prstGeom prst="rect">
              <a:avLst/>
            </a:prstGeom>
            <a:solidFill>
              <a:srgbClr val="28282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439150" y="228600"/>
              <a:ext cx="3524250" cy="64008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439150" y="228600"/>
              <a:ext cx="3524250" cy="895350"/>
            </a:xfrm>
            <a:prstGeom prst="rect">
              <a:avLst/>
            </a:prstGeom>
            <a:solidFill>
              <a:srgbClr val="161615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36245" y="545782"/>
            <a:ext cx="10602778" cy="5833587"/>
            <a:chOff x="436245" y="545782"/>
            <a:chExt cx="10602778" cy="5833587"/>
          </a:xfrm>
        </p:grpSpPr>
        <p:sp>
          <p:nvSpPr>
            <p:cNvPr id="11" name="TextBox 11"/>
            <p:cNvSpPr txBox="1"/>
            <p:nvPr/>
          </p:nvSpPr>
          <p:spPr>
            <a:xfrm>
              <a:off x="436245" y="545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下一张告示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1960" y="105156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PAGE 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865" y="1467802"/>
              <a:ext cx="151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F6A62"/>
                  </a:solidFill>
                  <a:latin typeface="Arial"/>
                  <a:ea typeface="Arial"/>
                  <a:cs typeface="Arial"/>
                </a:rPr>
                <a:t>BROADSIDE / TIMELINE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1562" y="583406"/>
              <a:ext cx="1422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3468" y="847249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霍尔木兹海峡现状与全球能源运输影响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818" y="6181249"/>
              <a:ext cx="1826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从“恢复通航”转向“高压常态”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80999" y="61812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立即部署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550795" y="564832"/>
            <a:ext cx="9246156" cy="5093018"/>
            <a:chOff x="2550795" y="564832"/>
            <a:chExt cx="9246156" cy="5093018"/>
          </a:xfrm>
        </p:grpSpPr>
        <p:sp>
          <p:nvSpPr>
            <p:cNvPr id="19" name="TextBox 19"/>
            <p:cNvSpPr txBox="1"/>
            <p:nvPr/>
          </p:nvSpPr>
          <p:spPr>
            <a:xfrm>
              <a:off x="2550795" y="564832"/>
              <a:ext cx="4024598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现在就按高压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50795" y="1212532"/>
              <a:ext cx="2722436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常态部署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09850" y="1866900"/>
              <a:ext cx="285750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85085" y="2113598"/>
              <a:ext cx="52371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管理层当前不该押注快速回归低成本航运，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85085" y="2475548"/>
              <a:ext cx="496414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而应把恢复通航后的高价、高险、高波动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5085" y="2837498"/>
              <a:ext cx="44180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视作一段需要主动配置的运营常态。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09850" y="3219450"/>
              <a:ext cx="5334000" cy="1619250"/>
            </a:xfrm>
            <a:prstGeom prst="rect">
              <a:avLst/>
            </a:prstGeom>
            <a:solidFill>
              <a:srgbClr val="161615"/>
            </a:solidFill>
            <a:ln w="19050">
              <a:solidFill>
                <a:srgbClr val="28282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60358" y="34628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三项先手动作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9880" y="3792855"/>
              <a:ext cx="36993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01 提前锁定运价与保险预算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9880" y="4192905"/>
              <a:ext cx="36993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02 重排到港窗口与库存阈值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49880" y="4592955"/>
              <a:ext cx="36993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03 同步准备改道、替代装港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09850" y="5105400"/>
              <a:ext cx="5334000" cy="5334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73680" y="5231130"/>
              <a:ext cx="38758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111"/>
                  </a:solidFill>
                  <a:latin typeface="Arial Black"/>
                  <a:ea typeface="Microsoft YaHei"/>
                  <a:cs typeface="Arial Black"/>
                </a:rPr>
                <a:t>不要等成本回落，再开始动作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05850" y="1409700"/>
              <a:ext cx="2990850" cy="424815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7305" y="1644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推进时间线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296400" y="222885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28575">
              <a:solidFill>
                <a:srgbClr val="F0ECE5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201150" y="2266950"/>
              <a:ext cx="190500" cy="1905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201150" y="3257550"/>
              <a:ext cx="190500" cy="1905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201150" y="4248150"/>
              <a:ext cx="190500" cy="1905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201150" y="4972050"/>
              <a:ext cx="190500" cy="190500"/>
            </a:xfrm>
            <a:prstGeom prst="ellipse">
              <a:avLst/>
            </a:prstGeom>
            <a:solidFill>
              <a:srgbClr val="F0ECE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49765" y="21917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现在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40240" y="23393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预算先锁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46908" y="26627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运价与战险先按高位编列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49765" y="3182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接着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40240" y="3329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排程重算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6908" y="36533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用延误情景重设到港与库存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49765" y="41729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随后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40240" y="4320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改道备份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46908" y="4643914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替代装港与绕航方案并行准备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49765" y="48968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34525" y="499586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把波动变成预案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57200" y="2000250"/>
            <a:ext cx="11125200" cy="4219575"/>
            <a:chOff x="457200" y="2000250"/>
            <a:chExt cx="11125200" cy="4219575"/>
          </a:xfrm>
        </p:grpSpPr>
        <p:sp>
          <p:nvSpPr>
            <p:cNvPr id="51" name="Rectangle 51"/>
            <p:cNvSpPr/>
            <p:nvPr/>
          </p:nvSpPr>
          <p:spPr>
            <a:xfrm>
              <a:off x="457200" y="2000250"/>
              <a:ext cx="1428750" cy="1428750"/>
            </a:xfrm>
            <a:prstGeom prst="rect">
              <a:avLst/>
            </a:prstGeom>
            <a:noFill/>
            <a:ln w="19050">
              <a:solidFill>
                <a:srgbClr val="E85D2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457200" y="20002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142875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457200" y="20002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7158" y="25869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5D26"/>
                  </a:solidFill>
                  <a:latin typeface="Arial Black"/>
                  <a:ea typeface="Microsoft YaHei"/>
                  <a:cs typeface="Arial Black"/>
                </a:rPr>
                <a:t>高压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2247900" y="59626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28282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94420" y="6036945"/>
              <a:ext cx="2039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F6A62"/>
                  </a:solidFill>
                  <a:latin typeface="Arial"/>
                  <a:ea typeface="Microsoft YaHei"/>
                  <a:cs typeface="Arial"/>
                </a:rPr>
                <a:t>结论不是等待恢复，而是按压力运行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2026-06-24T14:10:29Z</dcterms:created>
  <dcterms:modified xsi:type="dcterms:W3CDTF">2026-06-24T14:10:29Z</dcterms:modified>
  <cp:category/>
  <cp:contentStatus/>
</cp:coreProperties>
</file>