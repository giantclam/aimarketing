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霍尔木兹海峡：通航已开，风险未退</a:t>
            </a:r>
          </a:p>
          <a:p>
            <a:endParaRPr lang="en-US" dirty="0"/>
          </a:p>
          <a:p>
            <a:r>
              <a:rPr lang="zh-CN" dirty="0"/>
              <a:t>截至2026年6月24日，海峡已重启通航，但管理层真正要判断的是高成本、高波动与高…</a:t>
            </a:r>
          </a:p>
          <a:p>
            <a:endParaRPr lang="en-US" dirty="0"/>
          </a:p>
          <a:p>
            <a:r>
              <a:rPr lang="zh-CN" dirty="0"/>
              <a:t>• 全球约五分之一海运原油经此…</a:t>
            </a:r>
          </a:p>
          <a:p>
            <a:r>
              <a:rPr lang="zh-CN" dirty="0"/>
              <a:t>• 市场焦点已从断航转向恢复能…</a:t>
            </a:r>
          </a:p>
          <a:p>
            <a:r>
              <a:rPr lang="zh-CN" dirty="0"/>
              <a:t>• 油轮、LNG船与保险溢价仍…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管理层先看这五件事</a:t>
            </a:r>
          </a:p>
          <a:p>
            <a:endParaRPr lang="en-US" dirty="0"/>
          </a:p>
          <a:p>
            <a:r>
              <a:rPr lang="zh-CN" dirty="0"/>
              <a:t>这不是新闻回顾，而是一份关于成本、时效与供应控制权的决策清单。</a:t>
            </a:r>
          </a:p>
          <a:p>
            <a:endParaRPr lang="en-US" dirty="0"/>
          </a:p>
          <a:p>
            <a:r>
              <a:rPr lang="zh-CN" dirty="0"/>
              <a:t>• 航道恢复开放，但运行秩序仍未完全稳定</a:t>
            </a:r>
          </a:p>
          <a:p>
            <a:r>
              <a:rPr lang="zh-CN" dirty="0"/>
              <a:t>• 战险、运价与附加费尚未回落至冲突前</a:t>
            </a:r>
          </a:p>
          <a:p>
            <a:r>
              <a:rPr lang="zh-CN" dirty="0"/>
              <a:t>• 海峡仍是全球能源物流最敏感的关键瓶颈</a:t>
            </a:r>
          </a:p>
          <a:p>
            <a:r>
              <a:rPr lang="zh-CN" dirty="0"/>
              <a:t>• 成本同步压向炼厂、贸易商与进口买方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船能过，不等于链已稳</a:t>
            </a:r>
          </a:p>
          <a:p>
            <a:endParaRPr lang="en-US" dirty="0"/>
          </a:p>
          <a:p>
            <a:r>
              <a:rPr lang="zh-CN" dirty="0"/>
              <a:t>当前最重要的结论不是海峡有没有打开，而是风险溢价、…</a:t>
            </a:r>
          </a:p>
          <a:p>
            <a:endParaRPr lang="en-US" dirty="0"/>
          </a:p>
          <a:p>
            <a:r>
              <a:rPr lang="zh-CN" dirty="0"/>
              <a:t>• 任何扣船、摩擦或临时封…</a:t>
            </a:r>
          </a:p>
          <a:p>
            <a:r>
              <a:rPr lang="zh-CN" dirty="0"/>
              <a:t>• 航运恢复并不等于供给链…</a:t>
            </a:r>
          </a:p>
          <a:p>
            <a:r>
              <a:rPr lang="zh-CN" dirty="0"/>
              <a:t>• 若高费用固化，能源进口…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现在就布防</a:t>
            </a:r>
          </a:p>
          <a:p>
            <a:endParaRPr lang="en-US" dirty="0"/>
          </a:p>
          <a:p>
            <a:r>
              <a:rPr lang="zh-CN" dirty="0"/>
              <a:t>下一步不是等待情绪回落，而是把运输、采购与库存…</a:t>
            </a:r>
          </a:p>
          <a:p>
            <a:endParaRPr lang="en-US" dirty="0"/>
          </a:p>
          <a:p>
            <a:r>
              <a:rPr lang="zh-CN" dirty="0"/>
              <a:t>• 提前重估运价、战险与替…</a:t>
            </a:r>
          </a:p>
          <a:p>
            <a:r>
              <a:rPr lang="zh-CN" dirty="0"/>
              <a:t>• 拉长交期假设，重排到港…</a:t>
            </a:r>
          </a:p>
          <a:p>
            <a:r>
              <a:rPr lang="zh-CN" dirty="0"/>
              <a:t>• 为原油与LNG分别设计…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2095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6610350"/>
              <a:ext cx="12192000" cy="247650"/>
            </a:xfrm>
            <a:prstGeom prst="rect">
              <a:avLst/>
            </a:prstGeom>
            <a:solidFill>
              <a:srgbClr val="F0ECE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858250" y="0"/>
              <a:ext cx="3333750" cy="68580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91550" y="0"/>
              <a:ext cx="7620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04850" y="819150"/>
              <a:ext cx="209550" cy="5334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819150"/>
              <a:ext cx="19050" cy="533400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1314450"/>
              <a:ext cx="121920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0" y="5334000"/>
              <a:ext cx="121920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77350" y="495300"/>
              <a:ext cx="2171700" cy="2171700"/>
            </a:xfrm>
            <a:prstGeom prst="ellipse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544050" y="762000"/>
              <a:ext cx="1638300" cy="1638300"/>
            </a:xfrm>
            <a:prstGeom prst="ellipse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829800" y="10477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E85D2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601200" y="15811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0ECE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363200" y="81915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0ECE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906000" y="11239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8282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906000" y="11239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9144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8282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29700" y="2971800"/>
              <a:ext cx="2590800" cy="30099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29700" y="2971800"/>
              <a:ext cx="2590800" cy="5524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29700" y="3848100"/>
              <a:ext cx="25908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29700" y="4629150"/>
              <a:ext cx="25908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029700" y="5410200"/>
              <a:ext cx="25908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83895" y="374332"/>
            <a:ext cx="10858500" cy="6250306"/>
            <a:chOff x="683895" y="374332"/>
            <a:chExt cx="10858500" cy="6250306"/>
          </a:xfrm>
        </p:grpSpPr>
        <p:sp>
          <p:nvSpPr>
            <p:cNvPr id="25" name="TextBox 25"/>
            <p:cNvSpPr txBox="1"/>
            <p:nvPr/>
          </p:nvSpPr>
          <p:spPr>
            <a:xfrm>
              <a:off x="683895" y="3743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大字报头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60576" y="406718"/>
              <a:ext cx="667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705" y="6350318"/>
              <a:ext cx="52985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霍尔木兹海峡现状与全球能源运输影响（截至2026年6月24日）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81889" y="6350318"/>
              <a:ext cx="960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BROADSIDE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12520" y="1270635"/>
            <a:ext cx="10128885" cy="4877753"/>
            <a:chOff x="1112520" y="1270635"/>
            <a:chExt cx="10128885" cy="4877753"/>
          </a:xfrm>
        </p:grpSpPr>
        <p:sp>
          <p:nvSpPr>
            <p:cNvPr id="30" name="TextBox 30"/>
            <p:cNvSpPr txBox="1"/>
            <p:nvPr/>
          </p:nvSpPr>
          <p:spPr>
            <a:xfrm>
              <a:off x="1127760" y="1270635"/>
              <a:ext cx="5731478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7760" y="2108835"/>
              <a:ext cx="4135279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通航已开，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520" y="2817495"/>
              <a:ext cx="4039743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风险未退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00150" y="4095750"/>
              <a:ext cx="6705600" cy="10287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40180" y="4231005"/>
              <a:ext cx="53018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截至2026年6月24日，海峡已重启通航，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40180" y="4573905"/>
              <a:ext cx="6095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但管理层真正要判断的是高成本、高波动与高…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200150" y="5543550"/>
              <a:ext cx="2190750" cy="4381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543300" y="5543550"/>
              <a:ext cx="2190750" cy="43815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86450" y="5543550"/>
              <a:ext cx="2190750" cy="43815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16355" y="56835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全球约五分之一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6355" y="5874068"/>
              <a:ext cx="12723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海运原油经此…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59505" y="56835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市场焦点已从断航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59505" y="58740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转向恢复能…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02655" y="56835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油轮、LNG船与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02655" y="58740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保险溢价仍…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5435" y="31137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封面判断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37345" y="3993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船道恢复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72429" y="399383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37345" y="4774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风险回落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72429" y="47748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37345" y="55559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成本重定价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30186" y="5555932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!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83005" y="708660"/>
            <a:ext cx="9244203" cy="4811078"/>
            <a:chOff x="1183005" y="708660"/>
            <a:chExt cx="9244203" cy="4811078"/>
          </a:xfrm>
        </p:grpSpPr>
        <p:sp>
          <p:nvSpPr>
            <p:cNvPr id="53" name="TextBox 53"/>
            <p:cNvSpPr txBox="1"/>
            <p:nvPr/>
          </p:nvSpPr>
          <p:spPr>
            <a:xfrm>
              <a:off x="9052560" y="7086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主航道重启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52560" y="8991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风险圈层仍在扩散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9067800" y="116205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0" y="0"/>
                  </a:moveTo>
                  <a:lnTo>
                    <a:pt x="914400" y="2286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85D2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944100" y="1352550"/>
              <a:ext cx="76200" cy="762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83005" y="5073968"/>
              <a:ext cx="714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VERDICT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83005" y="524541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通航重开，只是第一层好消息。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66700" y="266700"/>
            <a:ext cx="11658600" cy="6324600"/>
            <a:chOff x="266700" y="266700"/>
            <a:chExt cx="11658600" cy="6324600"/>
          </a:xfrm>
        </p:grpSpPr>
        <p:sp>
          <p:nvSpPr>
            <p:cNvPr id="3" name="Rectangle 3"/>
            <p:cNvSpPr/>
            <p:nvPr/>
          </p:nvSpPr>
          <p:spPr>
            <a:xfrm>
              <a:off x="266700" y="266700"/>
              <a:ext cx="11658600" cy="63246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38150" y="438150"/>
              <a:ext cx="11315700" cy="5981700"/>
            </a:xfrm>
            <a:prstGeom prst="rect">
              <a:avLst/>
            </a:prstGeom>
            <a:solidFill>
              <a:srgbClr val="1A1A18"/>
            </a:solidFill>
            <a:ln w="14288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38150" y="438150"/>
              <a:ext cx="152400" cy="5981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29900" y="438150"/>
              <a:ext cx="1123950" cy="59817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76300" y="167640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76300" y="440055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695950" y="16764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3435" y="739140"/>
            <a:ext cx="10483215" cy="5461635"/>
            <a:chOff x="813435" y="739140"/>
            <a:chExt cx="10483215" cy="5461635"/>
          </a:xfrm>
        </p:grpSpPr>
        <p:sp>
          <p:nvSpPr>
            <p:cNvPr id="11" name="TextBox 11"/>
            <p:cNvSpPr txBox="1"/>
            <p:nvPr/>
          </p:nvSpPr>
          <p:spPr>
            <a:xfrm>
              <a:off x="853440" y="739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栏目排版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3435" y="875348"/>
              <a:ext cx="636351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管理层先看这五件事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18342" y="7686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29995" y="1083945"/>
              <a:ext cx="418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AGENDA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382250" y="13716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38100">
              <a:solidFill>
                <a:srgbClr val="E85D2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97979" y="601789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2026.06.24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8678" y="1676400"/>
            <a:ext cx="11137892" cy="4343400"/>
            <a:chOff x="848678" y="1676400"/>
            <a:chExt cx="11137892" cy="4343400"/>
          </a:xfrm>
        </p:grpSpPr>
        <p:sp>
          <p:nvSpPr>
            <p:cNvPr id="18" name="TextBox 18"/>
            <p:cNvSpPr txBox="1"/>
            <p:nvPr/>
          </p:nvSpPr>
          <p:spPr>
            <a:xfrm>
              <a:off x="848678" y="1879759"/>
              <a:ext cx="949592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这不是新闻回顾，而是一份关于成本、时效与供应控制权的决策清单。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6300" y="2419350"/>
              <a:ext cx="4324350" cy="16764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76300" y="2419350"/>
              <a:ext cx="876300" cy="16764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1126" y="262985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4052" y="27417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运行状态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2622" y="3101816"/>
              <a:ext cx="233784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航道恢复开放，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2622" y="3463766"/>
              <a:ext cx="3640003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但运行秩序仍未完全稳定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695950" y="2419350"/>
              <a:ext cx="4667250" cy="16764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2419350"/>
              <a:ext cx="876300" cy="1676400"/>
            </a:xfrm>
            <a:prstGeom prst="rect">
              <a:avLst/>
            </a:prstGeom>
            <a:solidFill>
              <a:srgbClr val="F0ECE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70776" y="262985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3702" y="27417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价格压力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2272" y="3101816"/>
              <a:ext cx="2988921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战险、运价与附加费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2272" y="3463766"/>
              <a:ext cx="2663381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尚未回落至冲突前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00" y="4762500"/>
              <a:ext cx="4324350" cy="12573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76300" y="4762500"/>
              <a:ext cx="876300" cy="1257300"/>
            </a:xfrm>
            <a:prstGeom prst="rect">
              <a:avLst/>
            </a:prstGeom>
            <a:solidFill>
              <a:srgbClr val="F0ECE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8039" y="5129212"/>
              <a:ext cx="6728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44052" y="5008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瓶颈判断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34528" y="5346859"/>
              <a:ext cx="553693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海峡仍是全球能源物流最敏感的关键瓶颈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95950" y="4762500"/>
              <a:ext cx="4667250" cy="12573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95950" y="4762500"/>
              <a:ext cx="876300" cy="12573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97689" y="5129212"/>
              <a:ext cx="6728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63702" y="5008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利润挤压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4178" y="5346859"/>
              <a:ext cx="523239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成本同步压向炼厂、贸易商与进口买方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29900" y="1676400"/>
              <a:ext cx="1123950" cy="272415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13907" y="194405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VERDICT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9290" y="221265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96683" y="28451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核心判断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08862" y="3231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通航恢复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24377" y="35366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不等于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93348" y="3841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供应链复原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1060" y="3257550"/>
            <a:ext cx="9768840" cy="3143250"/>
            <a:chOff x="861060" y="3257550"/>
            <a:chExt cx="9768840" cy="3143250"/>
          </a:xfrm>
        </p:grpSpPr>
        <p:sp>
          <p:nvSpPr>
            <p:cNvPr id="49" name="Line 49"/>
            <p:cNvSpPr/>
            <p:nvPr/>
          </p:nvSpPr>
          <p:spPr>
            <a:xfrm>
              <a:off x="5200650" y="3257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5200650" y="53911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0363200" y="32575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0363200" y="53911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1060" y="6156960"/>
              <a:ext cx="25843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从“能不能过”转向“代价由谁承担”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19100" y="400050"/>
              <a:ext cx="11353800" cy="60579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19100" y="400050"/>
              <a:ext cx="171450" cy="60579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857250" y="2019300"/>
              <a:ext cx="10915650" cy="9525"/>
            </a:xfrm>
            <a:custGeom>
              <a:avLst/>
              <a:gdLst/>
              <a:ahLst/>
              <a:cxnLst/>
              <a:rect l="l" t="t" r="r" b="b"/>
              <a:pathLst>
                <a:path w="10915650" h="9525">
                  <a:moveTo>
                    <a:pt x="0" y="0"/>
                  </a:moveTo>
                  <a:lnTo>
                    <a:pt x="1091565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867650" y="2019300"/>
              <a:ext cx="9525" cy="4438650"/>
            </a:xfrm>
            <a:custGeom>
              <a:avLst/>
              <a:gdLst/>
              <a:ahLst/>
              <a:cxnLst/>
              <a:rect l="l" t="t" r="r" b="b"/>
              <a:pathLst>
                <a:path w="9525" h="4438650">
                  <a:moveTo>
                    <a:pt x="0" y="0"/>
                  </a:moveTo>
                  <a:lnTo>
                    <a:pt x="0" y="443865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57250" y="4781550"/>
              <a:ext cx="10915650" cy="9525"/>
            </a:xfrm>
            <a:custGeom>
              <a:avLst/>
              <a:gdLst/>
              <a:ahLst/>
              <a:cxnLst/>
              <a:rect l="l" t="t" r="r" b="b"/>
              <a:pathLst>
                <a:path w="10915650" h="9525">
                  <a:moveTo>
                    <a:pt x="0" y="0"/>
                  </a:moveTo>
                  <a:lnTo>
                    <a:pt x="1091565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496300" y="781050"/>
              <a:ext cx="268605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95350" y="5181600"/>
              <a:ext cx="321945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324350" y="5181600"/>
              <a:ext cx="321945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039100" y="5181600"/>
              <a:ext cx="321945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59155" y="673418"/>
            <a:ext cx="9614535" cy="941070"/>
            <a:chOff x="859155" y="673418"/>
            <a:chExt cx="9614535" cy="941070"/>
          </a:xfrm>
        </p:grpSpPr>
        <p:sp>
          <p:nvSpPr>
            <p:cNvPr id="14" name="TextBox 14"/>
            <p:cNvSpPr txBox="1"/>
            <p:nvPr/>
          </p:nvSpPr>
          <p:spPr>
            <a:xfrm>
              <a:off x="859155" y="673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核心宣言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80340" y="689610"/>
              <a:ext cx="593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4818" y="9534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0ECE5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霍尔木兹海峡现状与全球能源运输影响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87740" y="739140"/>
              <a:ext cx="119275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OPEN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8695" y="1279208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≠ STABLE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7710" y="1096328"/>
            <a:ext cx="11138249" cy="4854416"/>
            <a:chOff x="727710" y="1096328"/>
            <a:chExt cx="11138249" cy="4854416"/>
          </a:xfrm>
        </p:grpSpPr>
        <p:sp>
          <p:nvSpPr>
            <p:cNvPr id="20" name="TextBox 20"/>
            <p:cNvSpPr txBox="1"/>
            <p:nvPr/>
          </p:nvSpPr>
          <p:spPr>
            <a:xfrm>
              <a:off x="805815" y="1096328"/>
              <a:ext cx="3249359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船能过，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5815" y="1858328"/>
              <a:ext cx="4803553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不等于链已稳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0582" y="2981801"/>
              <a:ext cx="515507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当前最重要的结论不是海峡有没有打开，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0582" y="3343751"/>
              <a:ext cx="572214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而是风险溢价、恢复节奏与高费用是否固化。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710" y="3175635"/>
              <a:ext cx="1198193" cy="2377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70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47925" y="38528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47925" y="427196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只是第一层信号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0" y="1592580"/>
              <a:ext cx="983132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34475" y="238601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个直接判断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2445" y="30603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9645" y="30603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任何扣船、摩擦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89645" y="3346132"/>
              <a:ext cx="32763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或临时封控，都能迅速推高溢价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32445" y="38604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89645" y="38604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航运恢复并不等于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89645" y="41462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供给链恢复到冲突前状态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2445" y="46605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89645" y="46605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若高费用固化，能源进口方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89645" y="49463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将长期承受成本挤压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0610" y="5347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信号一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2038" y="5569744"/>
              <a:ext cx="112401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“能走船”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33650" y="56102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不等于风险已回落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9610" y="5347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信号二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91038" y="5569744"/>
              <a:ext cx="112401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“有航次”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62650" y="56102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不等于节奏已稳定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14360" y="5347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信号三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5788" y="5569744"/>
              <a:ext cx="112401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“有供给”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7400" y="56102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不等于成本可控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62965" y="1371600"/>
            <a:ext cx="7328535" cy="5338762"/>
            <a:chOff x="862965" y="1371600"/>
            <a:chExt cx="7328535" cy="5338762"/>
          </a:xfrm>
        </p:grpSpPr>
        <p:sp>
          <p:nvSpPr>
            <p:cNvPr id="48" name="Line 48"/>
            <p:cNvSpPr/>
            <p:nvPr/>
          </p:nvSpPr>
          <p:spPr>
            <a:xfrm>
              <a:off x="7429500" y="13716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7448550" y="29908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448550" y="37909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448550" y="45910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2965" y="6497002"/>
              <a:ext cx="32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判断重点已从“是否重开”转向“高成本是否留下来”。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90500" y="190500"/>
            <a:ext cx="11811000" cy="6477000"/>
            <a:chOff x="190500" y="190500"/>
            <a:chExt cx="11811000" cy="6477000"/>
          </a:xfrm>
        </p:grpSpPr>
        <p:sp>
          <p:nvSpPr>
            <p:cNvPr id="3" name="Rectangle 3"/>
            <p:cNvSpPr/>
            <p:nvPr/>
          </p:nvSpPr>
          <p:spPr>
            <a:xfrm>
              <a:off x="190500" y="190500"/>
              <a:ext cx="11811000" cy="64770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342900" y="342900"/>
              <a:ext cx="11506200" cy="6172200"/>
            </a:xfrm>
            <a:prstGeom prst="rect">
              <a:avLst/>
            </a:prstGeom>
            <a:solidFill>
              <a:srgbClr val="1A1A18"/>
            </a:solidFill>
            <a:ln w="14288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42900" y="342900"/>
              <a:ext cx="133350" cy="61722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382250" y="342900"/>
              <a:ext cx="1466850" cy="617220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42900" y="1428750"/>
              <a:ext cx="11506200" cy="9525"/>
            </a:xfrm>
            <a:custGeom>
              <a:avLst/>
              <a:gdLst/>
              <a:ahLst/>
              <a:cxnLst/>
              <a:rect l="l" t="t" r="r" b="b"/>
              <a:pathLst>
                <a:path w="11506200" h="9525">
                  <a:moveTo>
                    <a:pt x="0" y="0"/>
                  </a:moveTo>
                  <a:lnTo>
                    <a:pt x="11506200" y="0"/>
                  </a:lnTo>
                </a:path>
              </a:pathLst>
            </a:custGeom>
            <a:noFill/>
            <a:ln w="14288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42900" y="4514850"/>
              <a:ext cx="11506200" cy="9525"/>
            </a:xfrm>
            <a:custGeom>
              <a:avLst/>
              <a:gdLst/>
              <a:ahLst/>
              <a:cxnLst/>
              <a:rect l="l" t="t" r="r" b="b"/>
              <a:pathLst>
                <a:path w="11506200" h="9525">
                  <a:moveTo>
                    <a:pt x="0" y="0"/>
                  </a:moveTo>
                  <a:lnTo>
                    <a:pt x="11506200" y="0"/>
                  </a:lnTo>
                </a:path>
              </a:pathLst>
            </a:custGeom>
            <a:noFill/>
            <a:ln w="14288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4514850"/>
              <a:ext cx="8553450" cy="9525"/>
            </a:xfrm>
            <a:custGeom>
              <a:avLst/>
              <a:gdLst/>
              <a:ahLst/>
              <a:cxnLst/>
              <a:rect l="l" t="t" r="r" b="b"/>
              <a:pathLst>
                <a:path w="8553450" h="9525">
                  <a:moveTo>
                    <a:pt x="0" y="0"/>
                  </a:moveTo>
                  <a:lnTo>
                    <a:pt x="8553450" y="0"/>
                  </a:lnTo>
                </a:path>
              </a:pathLst>
            </a:custGeom>
            <a:noFill/>
            <a:ln w="57150">
              <a:solidFill>
                <a:srgbClr val="E85D2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1990" y="605790"/>
            <a:ext cx="9947910" cy="5556885"/>
            <a:chOff x="681990" y="605790"/>
            <a:chExt cx="9947910" cy="5556885"/>
          </a:xfrm>
        </p:grpSpPr>
        <p:sp>
          <p:nvSpPr>
            <p:cNvPr id="11" name="TextBox 11"/>
            <p:cNvSpPr txBox="1"/>
            <p:nvPr/>
          </p:nvSpPr>
          <p:spPr>
            <a:xfrm>
              <a:off x="681990" y="6057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下一张告示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88212" y="638175"/>
              <a:ext cx="741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04 / 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95352" y="991552"/>
              <a:ext cx="1328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BROADSIDE TIMELINE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04476" y="16611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布防清单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29336" y="1990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把波动当作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29336" y="21807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新常态输入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99320" y="2371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而非尾声判断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40115" y="5751195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霍尔木兹海峡现状与全球能源运输影响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8237" y="5979795"/>
              <a:ext cx="10849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0555" y="1463992"/>
            <a:ext cx="9779936" cy="4465320"/>
            <a:chOff x="630555" y="1463992"/>
            <a:chExt cx="9779936" cy="4465320"/>
          </a:xfrm>
        </p:grpSpPr>
        <p:sp>
          <p:nvSpPr>
            <p:cNvPr id="21" name="TextBox 21"/>
            <p:cNvSpPr txBox="1"/>
            <p:nvPr/>
          </p:nvSpPr>
          <p:spPr>
            <a:xfrm>
              <a:off x="630555" y="1463992"/>
              <a:ext cx="4244102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8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现在就布防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085" y="2437448"/>
              <a:ext cx="64794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下一步不是等待情绪回落，而是把运输、采购与库存…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3067050"/>
              <a:ext cx="2857500" cy="100965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14750" y="3067050"/>
              <a:ext cx="2857500" cy="100965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24650" y="3067050"/>
              <a:ext cx="2857500" cy="1009650"/>
            </a:xfrm>
            <a:prstGeom prst="rect">
              <a:avLst/>
            </a:prstGeom>
            <a:noFill/>
            <a:ln w="14288">
              <a:solidFill>
                <a:srgbClr val="28282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2965" y="32585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STEP 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7725" y="345281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提前重估运价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7725" y="3738562"/>
              <a:ext cx="14905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战险与替…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2865" y="32585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STEP 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57625" y="345281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拉长交期假设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57625" y="3738562"/>
              <a:ext cx="14905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重排到港…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2765" y="325850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STEP 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67525" y="3452812"/>
              <a:ext cx="18371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为原油与LNG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7525" y="3738562"/>
              <a:ext cx="14905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分别设计…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1019175" y="4391025"/>
              <a:ext cx="247650" cy="2476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029075" y="4391025"/>
              <a:ext cx="247650" cy="2476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038975" y="4391025"/>
              <a:ext cx="247650" cy="2476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572625" y="4391025"/>
              <a:ext cx="247650" cy="2476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1143000" y="45148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4152900" y="45148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162800" y="45148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696450" y="45148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296" y="5073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运费与保险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0569" y="53620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先改预算参数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63196" y="54168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交期与港口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50469" y="57049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再改排船节奏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6175" y="5073968"/>
              <a:ext cx="9132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原油与LNG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60369" y="53620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分开准备预案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82408" y="53844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别等市场平静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83028" y="57159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先把供应链防线画出来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04850" y="2857500"/>
            <a:ext cx="10833359" cy="3448050"/>
            <a:chOff x="704850" y="2857500"/>
            <a:chExt cx="10833359" cy="3448050"/>
          </a:xfrm>
        </p:grpSpPr>
        <p:sp>
          <p:nvSpPr>
            <p:cNvPr id="52" name="Rectangle 52"/>
            <p:cNvSpPr/>
            <p:nvPr/>
          </p:nvSpPr>
          <p:spPr>
            <a:xfrm>
              <a:off x="10382250" y="2857500"/>
              <a:ext cx="1066800" cy="1257300"/>
            </a:xfrm>
            <a:prstGeom prst="rect">
              <a:avLst/>
            </a:prstGeom>
            <a:noFill/>
            <a:ln w="14288">
              <a:solidFill>
                <a:srgbClr val="E85D2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03218" y="3037999"/>
              <a:ext cx="1034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POSTER VERDICT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92740" y="32727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先改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92740" y="35585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92740" y="3844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再赌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" y="5981700"/>
              <a:ext cx="4095750" cy="3048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2960" y="6061710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恢复通航，不等于恢复原有经营假设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2026-06-24T13:16:31Z</dcterms:created>
  <dcterms:modified xsi:type="dcterms:W3CDTF">2026-06-24T13:16:31Z</dcterms:modified>
  <cp:category/>
  <cp:contentStatus/>
</cp:coreProperties>
</file>