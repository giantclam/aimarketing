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霍尔木兹：通航恢复≠风险消散</a:t>
            </a:r>
          </a:p>
          <a:p>
            <a:endParaRPr lang="en-US" dirty="0"/>
          </a:p>
          <a:p>
            <a:r>
              <a:rPr lang="zh-CN" dirty="0"/>
              <a:t>截至2026年6月24日，霍尔木兹海峡重启通航，但安全形势、费用机制与控制权安排仍…</a:t>
            </a:r>
          </a:p>
          <a:p>
            <a:endParaRPr lang="en-US" dirty="0"/>
          </a:p>
          <a:p>
            <a:r>
              <a:rPr lang="zh-CN" dirty="0"/>
              <a:t>• 重启通航≠稳定通航，安全机…</a:t>
            </a:r>
          </a:p>
          <a:p>
            <a:r>
              <a:rPr lang="zh-CN" dirty="0"/>
              <a:t>• 航运恢复不等于供应链恢复，…</a:t>
            </a:r>
          </a:p>
          <a:p>
            <a:r>
              <a:rPr lang="zh-CN" dirty="0"/>
              <a:t>• 截至2026年6月24日，…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议程：风险溢价新常态下的决策框架</a:t>
            </a:r>
          </a:p>
          <a:p>
            <a:endParaRPr lang="en-US" dirty="0"/>
          </a:p>
          <a:p>
            <a:r>
              <a:rPr lang="zh-CN" dirty="0"/>
              <a:t>截至2026年6月24日，霍尔木兹海峡重启通航，但安全形势、费用机制与控制权安…</a:t>
            </a:r>
          </a:p>
          <a:p>
            <a:endParaRPr lang="en-US" dirty="0"/>
          </a:p>
          <a:p>
            <a:r>
              <a:rPr lang="zh-CN" dirty="0"/>
              <a:t>• 海峡重启但控制权安排未稳，安全溢价…</a:t>
            </a:r>
          </a:p>
          <a:p>
            <a:r>
              <a:rPr lang="zh-CN" dirty="0"/>
              <a:t>• 从“是否断航”到“恢复是否可持续、…</a:t>
            </a:r>
          </a:p>
          <a:p>
            <a:r>
              <a:rPr lang="zh-CN" dirty="0"/>
              <a:t>• 五分之一全球海运原油途经此处，风险…</a:t>
            </a:r>
          </a:p>
          <a:p>
            <a:r>
              <a:rPr lang="zh-CN" dirty="0"/>
              <a:t>• 运价、战险保费、替代航线成本同步向…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核心判断</a:t>
            </a:r>
          </a:p>
          <a:p>
            <a:endParaRPr lang="en-US" dirty="0"/>
          </a:p>
          <a:p>
            <a:r>
              <a:rPr lang="zh-CN" dirty="0"/>
              <a:t>截至2026年6月24日，霍尔木兹海峡重启通航，但…</a:t>
            </a:r>
          </a:p>
          <a:p>
            <a:endParaRPr lang="en-US" dirty="0"/>
          </a:p>
          <a:p>
            <a:r>
              <a:rPr lang="zh-CN" dirty="0"/>
              <a:t>• 油轮、LNG船及保险条…</a:t>
            </a:r>
          </a:p>
          <a:p>
            <a:r>
              <a:rPr lang="zh-CN" dirty="0"/>
              <a:t>• 任何新的军事摩擦、扣船…</a:t>
            </a:r>
          </a:p>
          <a:p>
            <a:r>
              <a:rPr lang="zh-CN" dirty="0"/>
              <a:t>• 买方库存与采购节奏将持…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管理层布防清单</a:t>
            </a:r>
          </a:p>
          <a:p>
            <a:endParaRPr lang="en-US" dirty="0"/>
          </a:p>
          <a:p>
            <a:r>
              <a:rPr lang="zh-CN" dirty="0"/>
              <a:t>管理层需要同时准备运价抬升、交期变长和供应改道…</a:t>
            </a:r>
          </a:p>
          <a:p>
            <a:endParaRPr lang="en-US" dirty="0"/>
          </a:p>
          <a:p>
            <a:r>
              <a:rPr lang="zh-CN" dirty="0"/>
              <a:t>• 审查现有保险合同的战险…</a:t>
            </a:r>
          </a:p>
          <a:p>
            <a:r>
              <a:rPr lang="zh-CN" dirty="0"/>
              <a:t>• 建立替代航线成本监测机…</a:t>
            </a:r>
          </a:p>
          <a:p>
            <a:r>
              <a:rPr lang="zh-CN" dirty="0"/>
              <a:t>• 重新校准采购节奏与库存…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A1A18">
                    <a:alpha val="30000"/>
                  </a:srgbClr>
                </a:gs>
                <a:gs pos="100000">
                  <a:srgbClr val="111111">
                    <a:alpha val="300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Polygon 4"/>
            <p:cNvSpPr/>
            <p:nvPr/>
          </p:nvSpPr>
          <p:spPr>
            <a:xfrm>
              <a:off x="0" y="5715000"/>
              <a:ext cx="1905000" cy="1143000"/>
            </a:xfrm>
            <a:custGeom>
              <a:avLst/>
              <a:gdLst/>
              <a:ahLst/>
              <a:cxnLst/>
              <a:rect l="l" t="t" r="r" b="b"/>
              <a:pathLst>
                <a:path w="1905000" h="1143000">
                  <a:moveTo>
                    <a:pt x="0" y="1143000"/>
                  </a:moveTo>
                  <a:lnTo>
                    <a:pt x="0" y="0"/>
                  </a:lnTo>
                  <a:lnTo>
                    <a:pt x="1905000" y="1143000"/>
                  </a:lnTo>
                  <a:close/>
                </a:path>
              </a:pathLst>
            </a:custGeom>
            <a:solidFill>
              <a:srgbClr val="1A1A18"/>
            </a:solidFill>
            <a:ln>
              <a:noFill/>
            </a:ln>
          </p:spPr>
        </p:sp>
        <p:sp>
          <p:nvSpPr>
            <p:cNvPr id="5" name="Polygon 5"/>
            <p:cNvSpPr/>
            <p:nvPr/>
          </p:nvSpPr>
          <p:spPr>
            <a:xfrm>
              <a:off x="10287000" y="0"/>
              <a:ext cx="1905000" cy="1143000"/>
            </a:xfrm>
            <a:custGeom>
              <a:avLst/>
              <a:gdLst/>
              <a:ahLst/>
              <a:cxnLst/>
              <a:rect l="l" t="t" r="r" b="b"/>
              <a:pathLst>
                <a:path w="1905000" h="1143000">
                  <a:moveTo>
                    <a:pt x="1905000" y="0"/>
                  </a:moveTo>
                  <a:lnTo>
                    <a:pt x="1905000" y="1143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8000"/>
                  </a:moveTo>
                  <a:lnTo>
                    <a:pt x="12192000" y="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381000"/>
              <a:ext cx="12192000" cy="6096000"/>
            </a:xfrm>
            <a:custGeom>
              <a:avLst/>
              <a:gdLst/>
              <a:ahLst/>
              <a:cxnLst/>
              <a:rect l="l" t="t" r="r" b="b"/>
              <a:pathLst>
                <a:path w="12192000" h="6096000">
                  <a:moveTo>
                    <a:pt x="0" y="609600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82826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476250"/>
            <a:ext cx="3238500" cy="581025"/>
            <a:chOff x="571500" y="476250"/>
            <a:chExt cx="3238500" cy="581025"/>
          </a:xfrm>
        </p:grpSpPr>
        <p:sp>
          <p:nvSpPr>
            <p:cNvPr id="9" name="Rectangle 9"/>
            <p:cNvSpPr/>
            <p:nvPr/>
          </p:nvSpPr>
          <p:spPr>
            <a:xfrm>
              <a:off x="571500" y="476250"/>
              <a:ext cx="76200" cy="5715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4855" y="7305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大字报头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762000" y="10477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19050">
              <a:solidFill>
                <a:srgbClr val="E85D26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93420" y="1512570"/>
            <a:ext cx="8590788" cy="2740342"/>
            <a:chOff x="693420" y="1512570"/>
            <a:chExt cx="8590788" cy="2740342"/>
          </a:xfrm>
        </p:grpSpPr>
        <p:sp>
          <p:nvSpPr>
            <p:cNvPr id="13" name="TextBox 13"/>
            <p:cNvSpPr txBox="1"/>
            <p:nvPr/>
          </p:nvSpPr>
          <p:spPr>
            <a:xfrm>
              <a:off x="693420" y="1512570"/>
              <a:ext cx="3917632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霍尔木兹：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93420" y="2274570"/>
              <a:ext cx="3161538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通航恢复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360670" y="2274570"/>
              <a:ext cx="553012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rgbClr val="E85D26"/>
                  </a:solidFill>
                  <a:latin typeface="Arial"/>
                  <a:ea typeface="Arial"/>
                  <a:cs typeface="Arial"/>
                </a:rPr>
                <a:t>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22670" y="2274570"/>
              <a:ext cx="3161538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风险消散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3238500"/>
              <a:ext cx="5715000" cy="28575"/>
            </a:xfrm>
            <a:prstGeom prst="rect">
              <a:avLst/>
            </a:prstGeom>
            <a:gradFill>
              <a:gsLst>
                <a:gs pos="0">
                  <a:srgbClr val="E85D26"/>
                </a:gs>
                <a:gs pos="100000">
                  <a:srgbClr val="C44A1C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1045" y="3631882"/>
              <a:ext cx="46294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0ECE5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截至2026年6月24日，霍尔木兹海峡重启通航，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1045" y="3917632"/>
              <a:ext cx="554259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0ECE5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但安全形势、费用机制与控制权安排仍存在结构性分歧。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8665" y="4572000"/>
            <a:ext cx="10694670" cy="1719262"/>
            <a:chOff x="748665" y="4572000"/>
            <a:chExt cx="10694670" cy="1719262"/>
          </a:xfrm>
        </p:grpSpPr>
        <p:grpSp>
          <p:nvGrpSpPr>
            <p:cNvPr id="25" name="Group 25"/>
            <p:cNvGrpSpPr/>
            <p:nvPr/>
          </p:nvGrpSpPr>
          <p:grpSpPr>
            <a:xfrm>
              <a:off x="762000" y="4572000"/>
              <a:ext cx="3238500" cy="857250"/>
              <a:chOff x="762000" y="4572000"/>
              <a:chExt cx="3238500" cy="8572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762000" y="4572000"/>
                <a:ext cx="3238500" cy="857250"/>
              </a:xfrm>
              <a:prstGeom prst="rect">
                <a:avLst/>
              </a:prstGeom>
              <a:solidFill>
                <a:srgbClr val="1A1A18"/>
              </a:solidFill>
              <a:ln w="9525">
                <a:solidFill>
                  <a:srgbClr val="282826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39165" y="4744402"/>
                <a:ext cx="70575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5D26"/>
                    </a:solidFill>
                    <a:latin typeface="Arial"/>
                    <a:ea typeface="Microsoft YaHei"/>
                    <a:cs typeface="Arial"/>
                  </a:rPr>
                  <a:t>⚡ 关键警示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37260" y="4966335"/>
                <a:ext cx="139865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0ECE5"/>
                    </a:solidFill>
                    <a:latin typeface="Arial"/>
                    <a:ea typeface="Microsoft YaHei"/>
                    <a:cs typeface="Arial"/>
                  </a:rPr>
                  <a:t>重启通航≠稳定通航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37260" y="5185410"/>
                <a:ext cx="13106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0ECE5">
                        <a:alphaMod val="70000"/>
                      </a:srgbClr>
                    </a:solidFill>
                    <a:latin typeface="Arial"/>
                    <a:ea typeface="Microsoft YaHei"/>
                    <a:cs typeface="Arial"/>
                  </a:rPr>
                  <a:t>安全机制尚待重建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4191000" y="4572000"/>
              <a:ext cx="3238500" cy="857250"/>
              <a:chOff x="4191000" y="4572000"/>
              <a:chExt cx="3238500" cy="8572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4191000" y="4572000"/>
                <a:ext cx="3238500" cy="857250"/>
              </a:xfrm>
              <a:prstGeom prst="rect">
                <a:avLst/>
              </a:prstGeom>
              <a:solidFill>
                <a:srgbClr val="1A1A18"/>
              </a:solidFill>
              <a:ln w="9525">
                <a:solidFill>
                  <a:srgbClr val="282826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4368165" y="4744402"/>
                <a:ext cx="70575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5D26"/>
                    </a:solidFill>
                    <a:latin typeface="Arial"/>
                    <a:ea typeface="Microsoft YaHei"/>
                    <a:cs typeface="Arial"/>
                  </a:rPr>
                  <a:t>⚡ 关键警示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366260" y="4966335"/>
                <a:ext cx="155867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0ECE5"/>
                    </a:solidFill>
                    <a:latin typeface="Arial"/>
                    <a:ea typeface="Microsoft YaHei"/>
                    <a:cs typeface="Arial"/>
                  </a:rPr>
                  <a:t>航运恢复≠供应链恢复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366260" y="5185410"/>
                <a:ext cx="14706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0ECE5">
                        <a:alphaMod val="70000"/>
                      </a:srgbClr>
                    </a:solidFill>
                    <a:latin typeface="Arial"/>
                    <a:ea typeface="Microsoft YaHei"/>
                    <a:cs typeface="Arial"/>
                  </a:rPr>
                  <a:t>成本与合规压力并存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7620000" y="4572000"/>
              <a:ext cx="3238500" cy="857250"/>
              <a:chOff x="7620000" y="4572000"/>
              <a:chExt cx="3238500" cy="8572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7620000" y="4572000"/>
                <a:ext cx="3238500" cy="857250"/>
              </a:xfrm>
              <a:prstGeom prst="rect">
                <a:avLst/>
              </a:prstGeom>
              <a:solidFill>
                <a:srgbClr val="1A1A18"/>
              </a:solidFill>
              <a:ln w="9525">
                <a:solidFill>
                  <a:srgbClr val="282826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797165" y="4744402"/>
                <a:ext cx="70575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5D26"/>
                    </a:solidFill>
                    <a:latin typeface="Arial"/>
                    <a:ea typeface="Microsoft YaHei"/>
                    <a:cs typeface="Arial"/>
                  </a:rPr>
                  <a:t>⚡ 时间节点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795260" y="4966335"/>
                <a:ext cx="144665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0ECE5"/>
                    </a:solidFill>
                    <a:latin typeface="Arial"/>
                    <a:ea typeface="Microsoft YaHei"/>
                    <a:cs typeface="Arial"/>
                  </a:rPr>
                  <a:t>截至2026年6月24日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795260" y="5185410"/>
                <a:ext cx="14706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0ECE5">
                        <a:alphaMod val="70000"/>
                      </a:srgbClr>
                    </a:solidFill>
                    <a:latin typeface="Arial"/>
                    <a:ea typeface="Microsoft YaHei"/>
                    <a:cs typeface="Arial"/>
                  </a:rPr>
                  <a:t>风险溢价进入新常态</a:t>
                </a:r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748665" y="6077902"/>
              <a:ext cx="28340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0ECE5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Deck: 霍尔木兹海峡现状与全球能源运输影响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101626" y="6077902"/>
              <a:ext cx="3417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F0ECE5">
                      <a:alphaMod val="50000"/>
                    </a:srgbClr>
                  </a:solidFill>
                  <a:latin typeface="Arial"/>
                  <a:ea typeface="Arial"/>
                  <a:cs typeface="Arial"/>
                </a:rPr>
                <a:t>1 / 4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334500" y="762000"/>
            <a:ext cx="2286000" cy="2286000"/>
            <a:chOff x="9334500" y="762000"/>
            <a:chExt cx="2286000" cy="2286000"/>
          </a:xfrm>
        </p:grpSpPr>
        <p:sp>
          <p:nvSpPr>
            <p:cNvPr id="39" name="Ellipse 39"/>
            <p:cNvSpPr/>
            <p:nvPr/>
          </p:nvSpPr>
          <p:spPr>
            <a:xfrm>
              <a:off x="9334500" y="762000"/>
              <a:ext cx="2286000" cy="2286000"/>
            </a:xfrm>
            <a:prstGeom prst="ellipse">
              <a:avLst/>
            </a:prstGeom>
            <a:noFill/>
            <a:ln w="19050">
              <a:solidFill>
                <a:srgbClr val="E85D26">
                  <a:alpha val="30000"/>
                </a:srgbClr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9620250" y="1047750"/>
              <a:ext cx="1714500" cy="1714500"/>
            </a:xfrm>
            <a:prstGeom prst="ellipse">
              <a:avLst/>
            </a:prstGeom>
            <a:noFill/>
            <a:ln w="19050">
              <a:solidFill>
                <a:srgbClr val="E85D26">
                  <a:alpha val="50000"/>
                </a:srgbClr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9906000" y="1333500"/>
              <a:ext cx="1143000" cy="1143000"/>
            </a:xfrm>
            <a:prstGeom prst="ellipse">
              <a:avLst/>
            </a:prstGeom>
            <a:noFill/>
            <a:ln w="28575">
              <a:solidFill>
                <a:srgbClr val="E85D26">
                  <a:alpha val="70000"/>
                </a:srgbClr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906000" y="133350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0" y="571500"/>
                  </a:moveTo>
                  <a:lnTo>
                    <a:pt x="1143000" y="571500"/>
                  </a:lnTo>
                  <a:moveTo>
                    <a:pt x="571500" y="0"/>
                  </a:moveTo>
                  <a:lnTo>
                    <a:pt x="571500" y="11430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E85D26">
                  <a:alpha val="40000"/>
                </a:srgbClr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10401300" y="1828800"/>
              <a:ext cx="152400" cy="152400"/>
            </a:xfrm>
            <a:prstGeom prst="ellipse">
              <a:avLst/>
            </a:prstGeom>
            <a:solidFill>
              <a:srgbClr val="E85D26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06666" cy="6858000"/>
            <a:chOff x="0" y="0"/>
            <a:chExt cx="12106666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5715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6477000"/>
              <a:ext cx="10477500" cy="9525"/>
            </a:xfrm>
            <a:custGeom>
              <a:avLst/>
              <a:gdLst/>
              <a:ahLst/>
              <a:cxnLst/>
              <a:rect l="l" t="t" r="r" b="b"/>
              <a:pathLst>
                <a:path w="10477500" h="9525">
                  <a:moveTo>
                    <a:pt x="0" y="0"/>
                  </a:moveTo>
                  <a:lnTo>
                    <a:pt x="10477500" y="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216640" y="6473190"/>
              <a:ext cx="89002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E85D26"/>
                  </a:solidFill>
                  <a:latin typeface="Segoe UI"/>
                  <a:ea typeface="Segoe UI"/>
                  <a:cs typeface="Segoe UI"/>
                </a:rPr>
                <a:t>02 / 04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10540" y="752475"/>
            <a:ext cx="10919460" cy="5457825"/>
            <a:chOff x="510540" y="752475"/>
            <a:chExt cx="10919460" cy="5457825"/>
          </a:xfrm>
        </p:grpSpPr>
        <p:sp>
          <p:nvSpPr>
            <p:cNvPr id="8" name="TextBox 8"/>
            <p:cNvSpPr txBox="1"/>
            <p:nvPr/>
          </p:nvSpPr>
          <p:spPr>
            <a:xfrm>
              <a:off x="552450" y="7524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5D26"/>
                  </a:solidFill>
                  <a:latin typeface="Segoe UI"/>
                  <a:ea typeface="Microsoft YaHei"/>
                  <a:cs typeface="Segoe UI"/>
                </a:rPr>
                <a:t>栏目排版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0540" y="967740"/>
              <a:ext cx="6842760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0ECE5"/>
                  </a:solidFill>
                  <a:latin typeface="Segoe UI"/>
                  <a:ea typeface="Microsoft YaHei"/>
                  <a:cs typeface="Segoe UI"/>
                </a:rPr>
                <a:t>议程：风险溢价新常态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0540" y="1577340"/>
              <a:ext cx="4154424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0ECE5"/>
                  </a:solidFill>
                  <a:latin typeface="Segoe UI"/>
                  <a:ea typeface="Microsoft YaHei"/>
                  <a:cs typeface="Segoe UI"/>
                </a:rPr>
                <a:t>下的决策框架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0545" y="2488882"/>
              <a:ext cx="59496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0ECE5">
                      <a:alphaMod val="85000"/>
                    </a:srgbClr>
                  </a:solidFill>
                  <a:latin typeface="Segoe UI"/>
                  <a:ea typeface="Microsoft YaHei"/>
                  <a:cs typeface="Segoe UI"/>
                </a:rPr>
                <a:t>截至2026年6月24日，霍尔木兹海峡重启通航，但安全形势、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0545" y="2774632"/>
              <a:ext cx="53225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0ECE5">
                      <a:alphaMod val="85000"/>
                    </a:srgbClr>
                  </a:solidFill>
                  <a:latin typeface="Segoe UI"/>
                  <a:ea typeface="Microsoft YaHei"/>
                  <a:cs typeface="Segoe UI"/>
                </a:rPr>
                <a:t>费用机制与控制权安排仍未稳定，安全溢价持续高企。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533400" y="3619500"/>
              <a:ext cx="10896600" cy="2590800"/>
              <a:chOff x="533400" y="3619500"/>
              <a:chExt cx="10896600" cy="2590800"/>
            </a:xfrm>
          </p:grpSpPr>
          <p:grpSp>
            <p:nvGrpSpPr>
              <p:cNvPr id="17" name="Group 17"/>
              <p:cNvGrpSpPr/>
              <p:nvPr/>
            </p:nvGrpSpPr>
            <p:grpSpPr>
              <a:xfrm>
                <a:off x="533400" y="3619500"/>
                <a:ext cx="10896600" cy="533400"/>
                <a:chOff x="533400" y="3619500"/>
                <a:chExt cx="10896600" cy="533400"/>
              </a:xfrm>
            </p:grpSpPr>
            <p:sp>
              <p:nvSpPr>
                <p:cNvPr id="13" name="Rectangle 13"/>
                <p:cNvSpPr/>
                <p:nvPr/>
              </p:nvSpPr>
              <p:spPr>
                <a:xfrm>
                  <a:off x="571500" y="3619500"/>
                  <a:ext cx="10858500" cy="533400"/>
                </a:xfrm>
                <a:prstGeom prst="rect">
                  <a:avLst/>
                </a:prstGeom>
                <a:solidFill>
                  <a:srgbClr val="1A1A18"/>
                </a:solidFill>
                <a:ln>
                  <a:noFill/>
                </a:ln>
              </p:spPr>
            </p:sp>
            <p:sp>
              <p:nvSpPr>
                <p:cNvPr id="14" name="Rectangle 14"/>
                <p:cNvSpPr/>
                <p:nvPr/>
              </p:nvSpPr>
              <p:spPr>
                <a:xfrm>
                  <a:off x="533400" y="3619500"/>
                  <a:ext cx="38100" cy="533400"/>
                </a:xfrm>
                <a:prstGeom prst="rect">
                  <a:avLst/>
                </a:prstGeom>
                <a:solidFill>
                  <a:srgbClr val="282826"/>
                </a:solidFill>
                <a:ln>
                  <a:noFill/>
                </a:ln>
              </p:spPr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784860" y="3851910"/>
                  <a:ext cx="215303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rgbClr val="E85D26"/>
                      </a:solidFill>
                      <a:latin typeface="Segoe UI"/>
                      <a:ea typeface="Segoe UI"/>
                      <a:cs typeface="Segoe UI"/>
                    </a:rPr>
                    <a:t>01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1316355" y="3835718"/>
                  <a:ext cx="2595560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F0ECE5"/>
                      </a:solidFill>
                      <a:latin typeface="Segoe UI"/>
                      <a:ea typeface="Microsoft YaHei"/>
                      <a:cs typeface="Segoe UI"/>
                    </a:rPr>
                    <a:t>霍尔木兹：通航恢复≠风险消散</a:t>
                  </a:r>
                </a:p>
              </p:txBody>
            </p:sp>
          </p:grpSp>
          <p:grpSp>
            <p:nvGrpSpPr>
              <p:cNvPr id="22" name="Group 22"/>
              <p:cNvGrpSpPr/>
              <p:nvPr/>
            </p:nvGrpSpPr>
            <p:grpSpPr>
              <a:xfrm>
                <a:off x="533400" y="4305300"/>
                <a:ext cx="10896600" cy="533400"/>
                <a:chOff x="533400" y="4305300"/>
                <a:chExt cx="10896600" cy="533400"/>
              </a:xfrm>
            </p:grpSpPr>
            <p:sp>
              <p:nvSpPr>
                <p:cNvPr id="18" name="Rectangle 18"/>
                <p:cNvSpPr/>
                <p:nvPr/>
              </p:nvSpPr>
              <p:spPr>
                <a:xfrm>
                  <a:off x="571500" y="4305300"/>
                  <a:ext cx="10858500" cy="533400"/>
                </a:xfrm>
                <a:prstGeom prst="rect">
                  <a:avLst/>
                </a:prstGeom>
                <a:solidFill>
                  <a:srgbClr val="1A1A18"/>
                </a:solidFill>
                <a:ln>
                  <a:noFill/>
                </a:ln>
              </p:spPr>
            </p:sp>
            <p:sp>
              <p:nvSpPr>
                <p:cNvPr id="19" name="Rectangle 19"/>
                <p:cNvSpPr/>
                <p:nvPr/>
              </p:nvSpPr>
              <p:spPr>
                <a:xfrm>
                  <a:off x="533400" y="4305300"/>
                  <a:ext cx="38100" cy="533400"/>
                </a:xfrm>
                <a:prstGeom prst="rect">
                  <a:avLst/>
                </a:prstGeom>
                <a:solidFill>
                  <a:srgbClr val="282826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784860" y="4537710"/>
                  <a:ext cx="215303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rgbClr val="E85D26"/>
                      </a:solidFill>
                      <a:latin typeface="Segoe UI"/>
                      <a:ea typeface="Segoe UI"/>
                      <a:cs typeface="Segoe UI"/>
                    </a:rPr>
                    <a:t>02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1316355" y="4521518"/>
                  <a:ext cx="4003786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F0ECE5"/>
                      </a:solidFill>
                      <a:latin typeface="Segoe UI"/>
                      <a:ea typeface="Microsoft YaHei"/>
                      <a:cs typeface="Segoe UI"/>
                    </a:rPr>
                    <a:t>海峡重启但控制权安排未稳，安全溢价持续攀升</a:t>
                  </a:r>
                </a:p>
              </p:txBody>
            </p:sp>
          </p:grpSp>
          <p:grpSp>
            <p:nvGrpSpPr>
              <p:cNvPr id="27" name="Group 27"/>
              <p:cNvGrpSpPr/>
              <p:nvPr/>
            </p:nvGrpSpPr>
            <p:grpSpPr>
              <a:xfrm>
                <a:off x="533400" y="4991100"/>
                <a:ext cx="10896600" cy="533400"/>
                <a:chOff x="533400" y="4991100"/>
                <a:chExt cx="10896600" cy="533400"/>
              </a:xfrm>
            </p:grpSpPr>
            <p:sp>
              <p:nvSpPr>
                <p:cNvPr id="23" name="Rectangle 23"/>
                <p:cNvSpPr/>
                <p:nvPr/>
              </p:nvSpPr>
              <p:spPr>
                <a:xfrm>
                  <a:off x="571500" y="4991100"/>
                  <a:ext cx="10858500" cy="533400"/>
                </a:xfrm>
                <a:prstGeom prst="rect">
                  <a:avLst/>
                </a:prstGeom>
                <a:solidFill>
                  <a:srgbClr val="1A1A18"/>
                </a:solidFill>
                <a:ln>
                  <a:noFill/>
                </a:ln>
              </p:spPr>
            </p:sp>
            <p:sp>
              <p:nvSpPr>
                <p:cNvPr id="24" name="Rectangle 24"/>
                <p:cNvSpPr/>
                <p:nvPr/>
              </p:nvSpPr>
              <p:spPr>
                <a:xfrm>
                  <a:off x="533400" y="4991100"/>
                  <a:ext cx="38100" cy="533400"/>
                </a:xfrm>
                <a:prstGeom prst="rect">
                  <a:avLst/>
                </a:prstGeom>
                <a:solidFill>
                  <a:srgbClr val="282826"/>
                </a:solidFill>
                <a:ln>
                  <a:noFill/>
                </a:ln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784860" y="5223510"/>
                  <a:ext cx="215303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rgbClr val="E85D26"/>
                      </a:solidFill>
                      <a:latin typeface="Segoe UI"/>
                      <a:ea typeface="Segoe UI"/>
                      <a:cs typeface="Segoe UI"/>
                    </a:rPr>
                    <a:t>03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1316355" y="5207318"/>
                  <a:ext cx="3852567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F0ECE5"/>
                      </a:solidFill>
                      <a:latin typeface="Segoe UI"/>
                      <a:ea typeface="Microsoft YaHei"/>
                      <a:cs typeface="Segoe UI"/>
                    </a:rPr>
                    <a:t>从“是否断航”到“恢复是否可持续”的范式转移</a:t>
                  </a:r>
                </a:p>
              </p:txBody>
            </p:sp>
          </p:grpSp>
          <p:grpSp>
            <p:nvGrpSpPr>
              <p:cNvPr id="32" name="Group 32"/>
              <p:cNvGrpSpPr/>
              <p:nvPr/>
            </p:nvGrpSpPr>
            <p:grpSpPr>
              <a:xfrm>
                <a:off x="533400" y="5676900"/>
                <a:ext cx="10896600" cy="533400"/>
                <a:chOff x="533400" y="5676900"/>
                <a:chExt cx="10896600" cy="533400"/>
              </a:xfrm>
            </p:grpSpPr>
            <p:sp>
              <p:nvSpPr>
                <p:cNvPr id="28" name="Rectangle 28"/>
                <p:cNvSpPr/>
                <p:nvPr/>
              </p:nvSpPr>
              <p:spPr>
                <a:xfrm>
                  <a:off x="571500" y="5676900"/>
                  <a:ext cx="10858500" cy="533400"/>
                </a:xfrm>
                <a:prstGeom prst="rect">
                  <a:avLst/>
                </a:prstGeom>
                <a:solidFill>
                  <a:srgbClr val="1A1A18"/>
                </a:solidFill>
                <a:ln>
                  <a:noFill/>
                </a:ln>
              </p:spPr>
            </p:sp>
            <p:sp>
              <p:nvSpPr>
                <p:cNvPr id="29" name="Rectangle 29"/>
                <p:cNvSpPr/>
                <p:nvPr/>
              </p:nvSpPr>
              <p:spPr>
                <a:xfrm>
                  <a:off x="533400" y="5676900"/>
                  <a:ext cx="38100" cy="533400"/>
                </a:xfrm>
                <a:prstGeom prst="rect">
                  <a:avLst/>
                </a:prstGeom>
                <a:solidFill>
                  <a:srgbClr val="282826"/>
                </a:solidFill>
                <a:ln>
                  <a:noFill/>
                </a:ln>
              </p:spPr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784860" y="5909310"/>
                  <a:ext cx="215303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rgbClr val="E85D26"/>
                      </a:solidFill>
                      <a:latin typeface="Segoe UI"/>
                      <a:ea typeface="Segoe UI"/>
                      <a:cs typeface="Segoe UI"/>
                    </a:rPr>
                    <a:t>04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1316355" y="5893118"/>
                  <a:ext cx="3436715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F0ECE5"/>
                      </a:solidFill>
                      <a:latin typeface="Segoe UI"/>
                      <a:ea typeface="Microsoft YaHei"/>
                      <a:cs typeface="Segoe UI"/>
                    </a:rPr>
                    <a:t>运价、战险保费、替代航线成本同步向上</a:t>
                  </a:r>
                </a:p>
              </p:txBody>
            </p:sp>
          </p:grpSp>
        </p:grpSp>
      </p:grpSp>
      <p:grpSp>
        <p:nvGrpSpPr>
          <p:cNvPr id="37" name="Group 37"/>
          <p:cNvGrpSpPr/>
          <p:nvPr/>
        </p:nvGrpSpPr>
        <p:grpSpPr>
          <a:xfrm>
            <a:off x="10820400" y="6172200"/>
            <a:ext cx="228600" cy="190500"/>
            <a:chOff x="10820400" y="6172200"/>
            <a:chExt cx="228600" cy="190500"/>
          </a:xfrm>
        </p:grpSpPr>
        <p:sp>
          <p:nvSpPr>
            <p:cNvPr id="35" name="Rectangle 35"/>
            <p:cNvSpPr/>
            <p:nvPr/>
          </p:nvSpPr>
          <p:spPr>
            <a:xfrm>
              <a:off x="10820400" y="6248400"/>
              <a:ext cx="228600" cy="381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896600" y="6172200"/>
              <a:ext cx="38100" cy="1905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>
              <a:solidFill>
                <a:srgbClr val="282826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381000" y="381000"/>
              <a:ext cx="11430000" cy="6096000"/>
            </a:xfrm>
            <a:prstGeom prst="rect">
              <a:avLst/>
            </a:prstGeom>
            <a:noFill/>
            <a:ln w="9525">
              <a:solidFill>
                <a:srgbClr val="282826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457200" y="457200"/>
              <a:ext cx="11277600" cy="5943600"/>
            </a:xfrm>
            <a:prstGeom prst="rect">
              <a:avLst/>
            </a:prstGeom>
            <a:noFill/>
            <a:ln w="9525">
              <a:solidFill>
                <a:srgbClr val="282826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133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1371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75">
              <a:solidFill>
                <a:srgbClr val="E85D2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552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0" y="5562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85D26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744855" y="902018"/>
            <a:ext cx="10494645" cy="5003482"/>
            <a:chOff x="744855" y="902018"/>
            <a:chExt cx="10494645" cy="5003482"/>
          </a:xfrm>
        </p:grpSpPr>
        <p:sp>
          <p:nvSpPr>
            <p:cNvPr id="11" name="TextBox 11"/>
            <p:cNvSpPr txBox="1"/>
            <p:nvPr/>
          </p:nvSpPr>
          <p:spPr>
            <a:xfrm>
              <a:off x="744855" y="9020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核心宣言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762000" y="1714500"/>
              <a:ext cx="4953000" cy="2667000"/>
              <a:chOff x="762000" y="1714500"/>
              <a:chExt cx="4953000" cy="26670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762000" y="1714500"/>
                <a:ext cx="4953000" cy="2667000"/>
              </a:xfrm>
              <a:prstGeom prst="rect">
                <a:avLst/>
              </a:prstGeom>
              <a:solidFill>
                <a:srgbClr val="1A1A18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762000" y="1714500"/>
                <a:ext cx="4953000" cy="2667000"/>
              </a:xfrm>
              <a:prstGeom prst="rect">
                <a:avLst/>
              </a:prstGeom>
              <a:noFill/>
              <a:ln w="19050">
                <a:solidFill>
                  <a:srgbClr val="E85D26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074420" y="2084070"/>
                <a:ext cx="553012" cy="1097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5400" b="1" dirty="0">
                    <a:solidFill>
                      <a:srgbClr val="E85D26"/>
                    </a:solidFill>
                    <a:latin typeface="Arial Black"/>
                    <a:ea typeface="Arial Black"/>
                    <a:cs typeface="Arial Black"/>
                  </a:rPr>
                  <a:t>≠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870710" y="2375535"/>
                <a:ext cx="1580769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F0ECE5"/>
                    </a:solidFill>
                    <a:latin typeface="Arial"/>
                    <a:ea typeface="Microsoft YaHei"/>
                    <a:cs typeface="Arial"/>
                  </a:rPr>
                  <a:t>风险消散</a:t>
                </a:r>
              </a:p>
            </p:txBody>
          </p:sp>
          <p:sp>
            <p:nvSpPr>
              <p:cNvPr id="16" name="Line 16"/>
              <p:cNvSpPr/>
              <p:nvPr/>
            </p:nvSpPr>
            <p:spPr>
              <a:xfrm>
                <a:off x="1143000" y="3048000"/>
                <a:ext cx="419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9525">
                    <a:moveTo>
                      <a:pt x="0" y="0"/>
                    </a:moveTo>
                    <a:lnTo>
                      <a:pt x="4191000" y="0"/>
                    </a:lnTo>
                  </a:path>
                </a:pathLst>
              </a:custGeom>
              <a:noFill/>
              <a:ln w="9525">
                <a:solidFill>
                  <a:srgbClr val="E85D26"/>
                </a:solidFill>
                <a:prstDash val="dash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123950" y="326707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0ECE5">
                        <a:alphaMod val="90000"/>
                      </a:srgbClr>
                    </a:solidFill>
                    <a:latin typeface="Arial"/>
                    <a:ea typeface="Microsoft YaHei"/>
                    <a:cs typeface="Arial"/>
                  </a:rPr>
                  <a:t>重启通航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16330" y="3583305"/>
                <a:ext cx="21506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F0ECE5"/>
                    </a:solidFill>
                    <a:latin typeface="Arial"/>
                    <a:ea typeface="Arial"/>
                    <a:cs typeface="Arial"/>
                  </a:rPr>
                  <a:t>≠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504950" y="364807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0ECE5">
                        <a:alphaMod val="90000"/>
                      </a:srgbClr>
                    </a:solidFill>
                    <a:latin typeface="Arial"/>
                    <a:ea typeface="Microsoft YaHei"/>
                    <a:cs typeface="Arial"/>
                  </a:rPr>
                  <a:t>稳定通航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127760" y="4061460"/>
                <a:ext cx="144665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0ECE5">
                        <a:alphaMod val="60000"/>
                      </a:srgbClr>
                    </a:solidFill>
                    <a:latin typeface="Arial"/>
                    <a:ea typeface="Microsoft YaHei"/>
                    <a:cs typeface="Arial"/>
                  </a:rPr>
                  <a:t>截至2026年6月24日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096000" y="1714500"/>
              <a:ext cx="5143500" cy="2667000"/>
              <a:chOff x="6096000" y="1714500"/>
              <a:chExt cx="5143500" cy="26670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096000" y="1714500"/>
                <a:ext cx="5143500" cy="266700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456045" y="201263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0ECE5"/>
                    </a:solidFill>
                    <a:latin typeface="Arial Black"/>
                    <a:ea typeface="Microsoft YaHei"/>
                    <a:cs typeface="Arial Black"/>
                  </a:rPr>
                  <a:t>核心判断</a:t>
                </a:r>
              </a:p>
            </p:txBody>
          </p:sp>
          <p:sp>
            <p:nvSpPr>
              <p:cNvPr id="24" name="Line 24"/>
              <p:cNvSpPr/>
              <p:nvPr/>
            </p:nvSpPr>
            <p:spPr>
              <a:xfrm>
                <a:off x="6477000" y="2381250"/>
                <a:ext cx="1143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9525">
                    <a:moveTo>
                      <a:pt x="0" y="0"/>
                    </a:moveTo>
                    <a:lnTo>
                      <a:pt x="1143000" y="0"/>
                    </a:lnTo>
                  </a:path>
                </a:pathLst>
              </a:custGeom>
              <a:noFill/>
              <a:ln w="38100">
                <a:solidFill>
                  <a:srgbClr val="E85D26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461760" y="2727960"/>
                <a:ext cx="19507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0ECE5">
                        <a:alphaMod val="80000"/>
                      </a:srgbClr>
                    </a:solidFill>
                    <a:latin typeface="Arial"/>
                    <a:ea typeface="Microsoft YaHei"/>
                    <a:cs typeface="Arial"/>
                  </a:rPr>
                  <a:t>霍尔木兹海峡重启通航，但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454140" y="3044190"/>
                <a:ext cx="155790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E85D26"/>
                    </a:solidFill>
                    <a:latin typeface="Arial"/>
                    <a:ea typeface="Microsoft YaHei"/>
                    <a:cs typeface="Arial"/>
                  </a:rPr>
                  <a:t>安全形势未稳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454140" y="3425190"/>
                <a:ext cx="155790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E85D26"/>
                    </a:solidFill>
                    <a:latin typeface="Arial"/>
                    <a:ea typeface="Microsoft YaHei"/>
                    <a:cs typeface="Arial"/>
                  </a:rPr>
                  <a:t>费用机制未定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454140" y="3806190"/>
                <a:ext cx="1809941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E85D26"/>
                    </a:solidFill>
                    <a:latin typeface="Arial"/>
                    <a:ea typeface="Microsoft YaHei"/>
                    <a:cs typeface="Arial"/>
                  </a:rPr>
                  <a:t>控制权安排未明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419850" y="4793456"/>
              <a:ext cx="3562350" cy="800100"/>
              <a:chOff x="6419850" y="4793456"/>
              <a:chExt cx="3562350" cy="800100"/>
            </a:xfrm>
          </p:grpSpPr>
          <p:grpSp>
            <p:nvGrpSpPr>
              <p:cNvPr id="32" name="Group 32"/>
              <p:cNvGrpSpPr/>
              <p:nvPr/>
            </p:nvGrpSpPr>
            <p:grpSpPr>
              <a:xfrm>
                <a:off x="6419850" y="4793456"/>
                <a:ext cx="2909768" cy="228600"/>
                <a:chOff x="6419850" y="4793456"/>
                <a:chExt cx="2909768" cy="228600"/>
              </a:xfrm>
            </p:grpSpPr>
            <p:sp>
              <p:nvSpPr>
                <p:cNvPr id="30" name="Ellipse 30"/>
                <p:cNvSpPr/>
                <p:nvPr/>
              </p:nvSpPr>
              <p:spPr>
                <a:xfrm>
                  <a:off x="6419850" y="4800600"/>
                  <a:ext cx="114300" cy="114300"/>
                </a:xfrm>
                <a:prstGeom prst="ellipse">
                  <a:avLst/>
                </a:prstGeom>
                <a:solidFill>
                  <a:srgbClr val="E85D26"/>
                </a:solidFill>
                <a:ln>
                  <a:noFill/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6653212" y="4793456"/>
                  <a:ext cx="2676406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rgbClr val="F0ECE5"/>
                      </a:solidFill>
                      <a:latin typeface="Arial"/>
                      <a:ea typeface="Microsoft YaHei"/>
                      <a:cs typeface="Arial"/>
                    </a:rPr>
                    <a:t>油轮、LNG船及保险条款面临结构性重置</a:t>
                  </a:r>
                </a:p>
              </p:txBody>
            </p:sp>
          </p:grpSp>
          <p:grpSp>
            <p:nvGrpSpPr>
              <p:cNvPr id="35" name="Group 35"/>
              <p:cNvGrpSpPr/>
              <p:nvPr/>
            </p:nvGrpSpPr>
            <p:grpSpPr>
              <a:xfrm>
                <a:off x="6419850" y="5079206"/>
                <a:ext cx="3562350" cy="228600"/>
                <a:chOff x="6419850" y="5079206"/>
                <a:chExt cx="3562350" cy="228600"/>
              </a:xfrm>
            </p:grpSpPr>
            <p:sp>
              <p:nvSpPr>
                <p:cNvPr id="33" name="Ellipse 33"/>
                <p:cNvSpPr/>
                <p:nvPr/>
              </p:nvSpPr>
              <p:spPr>
                <a:xfrm>
                  <a:off x="6419850" y="5086350"/>
                  <a:ext cx="114300" cy="114300"/>
                </a:xfrm>
                <a:prstGeom prst="ellipse">
                  <a:avLst/>
                </a:prstGeom>
                <a:solidFill>
                  <a:srgbClr val="E85D26"/>
                </a:solidFill>
                <a:ln>
                  <a:noFill/>
                </a:ln>
              </p:spPr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6653212" y="5079206"/>
                  <a:ext cx="3328988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rgbClr val="F0ECE5"/>
                      </a:solidFill>
                      <a:latin typeface="Arial"/>
                      <a:ea typeface="Microsoft YaHei"/>
                      <a:cs typeface="Arial"/>
                    </a:rPr>
                    <a:t>任何新的军事摩擦、扣船事件将即时触发市场恐慌</a:t>
                  </a:r>
                </a:p>
              </p:txBody>
            </p:sp>
          </p:grpSp>
          <p:grpSp>
            <p:nvGrpSpPr>
              <p:cNvPr id="38" name="Group 38"/>
              <p:cNvGrpSpPr/>
              <p:nvPr/>
            </p:nvGrpSpPr>
            <p:grpSpPr>
              <a:xfrm>
                <a:off x="6419850" y="5364956"/>
                <a:ext cx="2362200" cy="228600"/>
                <a:chOff x="6419850" y="5364956"/>
                <a:chExt cx="2362200" cy="228600"/>
              </a:xfrm>
            </p:grpSpPr>
            <p:sp>
              <p:nvSpPr>
                <p:cNvPr id="36" name="Ellipse 36"/>
                <p:cNvSpPr/>
                <p:nvPr/>
              </p:nvSpPr>
              <p:spPr>
                <a:xfrm>
                  <a:off x="6419850" y="5372100"/>
                  <a:ext cx="114300" cy="114300"/>
                </a:xfrm>
                <a:prstGeom prst="ellipse">
                  <a:avLst/>
                </a:prstGeom>
                <a:solidFill>
                  <a:srgbClr val="E85D26"/>
                </a:solidFill>
                <a:ln>
                  <a:noFill/>
                </a:ln>
              </p:spPr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6653212" y="5364956"/>
                  <a:ext cx="2128838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rgbClr val="F0ECE5"/>
                      </a:solidFill>
                      <a:latin typeface="Arial"/>
                      <a:ea typeface="Microsoft YaHei"/>
                      <a:cs typeface="Arial"/>
                    </a:rPr>
                    <a:t>买方库存与采购节奏将持续承压</a:t>
                  </a:r>
                </a:p>
              </p:txBody>
            </p:sp>
          </p:grpSp>
        </p:grpSp>
        <p:grpSp>
          <p:nvGrpSpPr>
            <p:cNvPr id="43" name="Group 43"/>
            <p:cNvGrpSpPr/>
            <p:nvPr/>
          </p:nvGrpSpPr>
          <p:grpSpPr>
            <a:xfrm>
              <a:off x="9525000" y="4572000"/>
              <a:ext cx="1333500" cy="1333500"/>
              <a:chOff x="9525000" y="4572000"/>
              <a:chExt cx="1333500" cy="13335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9525000" y="4572000"/>
                <a:ext cx="1333500" cy="1333500"/>
              </a:xfrm>
              <a:prstGeom prst="rect">
                <a:avLst/>
              </a:prstGeom>
              <a:noFill/>
              <a:ln w="19050">
                <a:solidFill>
                  <a:srgbClr val="E85D26"/>
                </a:solidFill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9620250" y="4667250"/>
                <a:ext cx="1143000" cy="1143000"/>
              </a:xfrm>
              <a:prstGeom prst="rect">
                <a:avLst/>
              </a:prstGeom>
              <a:solidFill>
                <a:srgbClr val="1A1A18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10070421" y="4945380"/>
                <a:ext cx="242659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3600" b="1" dirty="0">
                    <a:solidFill>
                      <a:srgbClr val="E85D26"/>
                    </a:solidFill>
                    <a:latin typeface="Arial Black"/>
                    <a:ea typeface="Arial Black"/>
                    <a:cs typeface="Arial Black"/>
                  </a:rPr>
                  <a:t>!</a:t>
                </a:r>
              </a:p>
            </p:txBody>
          </p:sp>
        </p:grpSp>
      </p:grpSp>
      <p:grpSp>
        <p:nvGrpSpPr>
          <p:cNvPr id="48" name="Group 48"/>
          <p:cNvGrpSpPr/>
          <p:nvPr/>
        </p:nvGrpSpPr>
        <p:grpSpPr>
          <a:xfrm>
            <a:off x="750570" y="5905500"/>
            <a:ext cx="10690860" cy="466725"/>
            <a:chOff x="750570" y="5905500"/>
            <a:chExt cx="10690860" cy="466725"/>
          </a:xfrm>
        </p:grpSpPr>
        <p:sp>
          <p:nvSpPr>
            <p:cNvPr id="45" name="Rectangle 45"/>
            <p:cNvSpPr/>
            <p:nvPr/>
          </p:nvSpPr>
          <p:spPr>
            <a:xfrm>
              <a:off x="762000" y="5905500"/>
              <a:ext cx="1905000" cy="38100"/>
            </a:xfrm>
            <a:prstGeom prst="rect">
              <a:avLst/>
            </a:prstGeom>
            <a:gradFill>
              <a:gsLst>
                <a:gs pos="0">
                  <a:srgbClr val="E85D26"/>
                </a:gs>
                <a:gs pos="100000">
                  <a:srgbClr val="D14E1E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0570" y="6189345"/>
              <a:ext cx="7729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0ECE5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第3页 / 共4页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378315" y="6189345"/>
              <a:ext cx="20631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0ECE5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霍尔木兹海峡现状与全球能源运输影响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781800"/>
              <a:ext cx="12192000" cy="762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571500"/>
              <a:ext cx="12192000" cy="19050"/>
            </a:xfrm>
            <a:prstGeom prst="rect">
              <a:avLst/>
            </a:prstGeom>
            <a:solidFill>
              <a:srgbClr val="282826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381000" y="6477000"/>
              <a:ext cx="11430000" cy="9525"/>
            </a:xfrm>
            <a:prstGeom prst="rect">
              <a:avLst/>
            </a:prstGeom>
            <a:solidFill>
              <a:srgbClr val="282826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130915" y="6554152"/>
              <a:ext cx="2692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82826"/>
                  </a:solidFill>
                  <a:latin typeface="Arial Black"/>
                  <a:ea typeface="Arial Black"/>
                  <a:cs typeface="Arial Black"/>
                </a:rPr>
                <a:t>P.4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12420" y="0"/>
            <a:ext cx="7688580" cy="5905500"/>
            <a:chOff x="312420" y="0"/>
            <a:chExt cx="7688580" cy="5905500"/>
          </a:xfrm>
        </p:grpSpPr>
        <p:sp>
          <p:nvSpPr>
            <p:cNvPr id="9" name="TextBox 9"/>
            <p:cNvSpPr txBox="1"/>
            <p:nvPr/>
          </p:nvSpPr>
          <p:spPr>
            <a:xfrm>
              <a:off x="363855" y="1092518"/>
              <a:ext cx="12440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85D26"/>
                  </a:solidFill>
                  <a:latin typeface="Arial Black"/>
                  <a:ea typeface="Arial Black"/>
                  <a:cs typeface="Arial Black"/>
                </a:rPr>
                <a:t>NEXT BRIEFING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12420" y="1322070"/>
              <a:ext cx="2405444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F0ECE5"/>
                  </a:solidFill>
                  <a:latin typeface="Arial Black"/>
                  <a:ea typeface="Microsoft YaHei"/>
                  <a:cs typeface="Arial Black"/>
                </a:rPr>
                <a:t>管理层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2420" y="2084070"/>
              <a:ext cx="3161538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F0ECE5"/>
                  </a:solidFill>
                  <a:latin typeface="Arial Black"/>
                  <a:ea typeface="Microsoft YaHei"/>
                  <a:cs typeface="Arial Black"/>
                </a:rPr>
                <a:t>布防清单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81000" y="2952750"/>
              <a:ext cx="2667000" cy="5715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60045" y="3346132"/>
              <a:ext cx="41234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同时准备运价抬升、交期变长和供应改道…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381000" y="0"/>
              <a:ext cx="7620000" cy="5905500"/>
              <a:chOff x="381000" y="0"/>
              <a:chExt cx="7620000" cy="5905500"/>
            </a:xfrm>
          </p:grpSpPr>
          <p:sp>
            <p:nvSpPr>
              <p:cNvPr id="14" name="Line 14"/>
              <p:cNvSpPr/>
              <p:nvPr/>
            </p:nvSpPr>
            <p:spPr>
              <a:xfrm>
                <a:off x="1143000" y="4572000"/>
                <a:ext cx="9525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0">
                    <a:moveTo>
                      <a:pt x="0" y="0"/>
                    </a:moveTo>
                    <a:lnTo>
                      <a:pt x="0" y="1143000"/>
                    </a:lnTo>
                  </a:path>
                </a:pathLst>
              </a:custGeom>
              <a:noFill/>
              <a:ln w="38100">
                <a:solidFill>
                  <a:srgbClr val="282826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952500" y="4095750"/>
                <a:ext cx="381000" cy="381000"/>
              </a:xfrm>
              <a:prstGeom prst="ellipse">
                <a:avLst/>
              </a:prstGeom>
              <a:solidFill>
                <a:srgbClr val="E85D26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050831" y="4168140"/>
                <a:ext cx="18433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111111"/>
                    </a:solidFill>
                    <a:latin typeface="Arial Black"/>
                    <a:ea typeface="Arial Black"/>
                    <a:cs typeface="Arial Black"/>
                  </a:rPr>
                  <a:t>1</a:t>
                </a:r>
              </a:p>
            </p:txBody>
          </p:sp>
          <p:sp>
            <p:nvSpPr>
              <p:cNvPr id="17" name="Line 17"/>
              <p:cNvSpPr/>
              <p:nvPr/>
            </p:nvSpPr>
            <p:spPr>
              <a:xfrm>
                <a:off x="4191000" y="4572000"/>
                <a:ext cx="9525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0">
                    <a:moveTo>
                      <a:pt x="0" y="0"/>
                    </a:moveTo>
                    <a:lnTo>
                      <a:pt x="0" y="1143000"/>
                    </a:lnTo>
                  </a:path>
                </a:pathLst>
              </a:custGeom>
              <a:noFill/>
              <a:ln w="38100">
                <a:solidFill>
                  <a:srgbClr val="282826"/>
                </a:solidFill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4000500" y="4095750"/>
                <a:ext cx="381000" cy="381000"/>
              </a:xfrm>
              <a:prstGeom prst="ellipse">
                <a:avLst/>
              </a:prstGeom>
              <a:solidFill>
                <a:srgbClr val="E85D26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098831" y="4168140"/>
                <a:ext cx="18433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111111"/>
                    </a:solidFill>
                    <a:latin typeface="Arial Black"/>
                    <a:ea typeface="Arial Black"/>
                    <a:cs typeface="Arial Black"/>
                  </a:rPr>
                  <a:t>2</a:t>
                </a: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7239000" y="0"/>
                <a:ext cx="9525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72000">
                    <a:moveTo>
                      <a:pt x="0" y="457200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282826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7048500" y="4095750"/>
                <a:ext cx="381000" cy="381000"/>
              </a:xfrm>
              <a:prstGeom prst="ellipse">
                <a:avLst/>
              </a:prstGeom>
              <a:solidFill>
                <a:srgbClr val="E85D26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146831" y="4168140"/>
                <a:ext cx="18433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111111"/>
                    </a:solidFill>
                    <a:latin typeface="Arial Black"/>
                    <a:ea typeface="Arial Black"/>
                    <a:cs typeface="Arial Black"/>
                  </a:rPr>
                  <a:t>3</a:t>
                </a:r>
              </a:p>
            </p:txBody>
          </p:sp>
          <p:grpSp>
            <p:nvGrpSpPr>
              <p:cNvPr id="27" name="Group 27"/>
              <p:cNvGrpSpPr/>
              <p:nvPr/>
            </p:nvGrpSpPr>
            <p:grpSpPr>
              <a:xfrm>
                <a:off x="381000" y="4762500"/>
                <a:ext cx="1524000" cy="1143000"/>
                <a:chOff x="381000" y="4762500"/>
                <a:chExt cx="1524000" cy="1143000"/>
              </a:xfrm>
            </p:grpSpPr>
            <p:sp>
              <p:nvSpPr>
                <p:cNvPr id="23" name="Rectangle 23"/>
                <p:cNvSpPr/>
                <p:nvPr/>
              </p:nvSpPr>
              <p:spPr>
                <a:xfrm>
                  <a:off x="381000" y="4762500"/>
                  <a:ext cx="1524000" cy="1143000"/>
                </a:xfrm>
                <a:prstGeom prst="rect">
                  <a:avLst/>
                </a:prstGeom>
                <a:solidFill>
                  <a:srgbClr val="1A1A18"/>
                </a:solidFill>
                <a:ln w="19050">
                  <a:solidFill>
                    <a:srgbClr val="282826"/>
                  </a:solidFill>
                </a:ln>
              </p:spPr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971193" y="5022056"/>
                  <a:ext cx="343614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b="1" dirty="0">
                      <a:solidFill>
                        <a:srgbClr val="E85D26"/>
                      </a:solidFill>
                      <a:latin typeface="Arial Black"/>
                      <a:ea typeface="Microsoft YaHei"/>
                      <a:cs typeface="Arial Black"/>
                    </a:rPr>
                    <a:t>审查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740569" y="5323999"/>
                  <a:ext cx="804862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dirty="0">
                      <a:solidFill>
                        <a:srgbClr val="F0ECE5"/>
                      </a:solidFill>
                      <a:latin typeface="Arial"/>
                      <a:ea typeface="Microsoft YaHei"/>
                      <a:cs typeface="Arial"/>
                    </a:rPr>
                    <a:t>现有保险合同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805577" y="5562124"/>
                  <a:ext cx="674846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dirty="0">
                      <a:solidFill>
                        <a:srgbClr val="F0ECE5"/>
                      </a:solidFill>
                      <a:latin typeface="Arial"/>
                      <a:ea typeface="Microsoft YaHei"/>
                      <a:cs typeface="Arial"/>
                    </a:rPr>
                    <a:t>的战险条款</a:t>
                  </a:r>
                </a:p>
              </p:txBody>
            </p:sp>
          </p:grpSp>
          <p:grpSp>
            <p:nvGrpSpPr>
              <p:cNvPr id="32" name="Group 32"/>
              <p:cNvGrpSpPr/>
              <p:nvPr/>
            </p:nvGrpSpPr>
            <p:grpSpPr>
              <a:xfrm>
                <a:off x="3429000" y="4762500"/>
                <a:ext cx="1524000" cy="1143000"/>
                <a:chOff x="3429000" y="4762500"/>
                <a:chExt cx="1524000" cy="1143000"/>
              </a:xfrm>
            </p:grpSpPr>
            <p:sp>
              <p:nvSpPr>
                <p:cNvPr id="28" name="Rectangle 28"/>
                <p:cNvSpPr/>
                <p:nvPr/>
              </p:nvSpPr>
              <p:spPr>
                <a:xfrm>
                  <a:off x="3429000" y="4762500"/>
                  <a:ext cx="1524000" cy="1143000"/>
                </a:xfrm>
                <a:prstGeom prst="rect">
                  <a:avLst/>
                </a:prstGeom>
                <a:solidFill>
                  <a:srgbClr val="1A1A18"/>
                </a:solidFill>
                <a:ln w="19050">
                  <a:solidFill>
                    <a:srgbClr val="282826"/>
                  </a:solidFill>
                </a:ln>
              </p:spPr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4019193" y="5022056"/>
                  <a:ext cx="343614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b="1" dirty="0">
                      <a:solidFill>
                        <a:srgbClr val="E85D26"/>
                      </a:solidFill>
                      <a:latin typeface="Arial Black"/>
                      <a:ea typeface="Microsoft YaHei"/>
                      <a:cs typeface="Arial Black"/>
                    </a:rPr>
                    <a:t>建立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3788569" y="5323999"/>
                  <a:ext cx="804862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dirty="0">
                      <a:solidFill>
                        <a:srgbClr val="F0ECE5"/>
                      </a:solidFill>
                      <a:latin typeface="Arial"/>
                      <a:ea typeface="Microsoft YaHei"/>
                      <a:cs typeface="Arial"/>
                    </a:rPr>
                    <a:t>替代航线成本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3918585" y="5562124"/>
                  <a:ext cx="544830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dirty="0">
                      <a:solidFill>
                        <a:srgbClr val="F0ECE5"/>
                      </a:solidFill>
                      <a:latin typeface="Arial"/>
                      <a:ea typeface="Microsoft YaHei"/>
                      <a:cs typeface="Arial"/>
                    </a:rPr>
                    <a:t>监测机制</a:t>
                  </a:r>
                </a:p>
              </p:txBody>
            </p:sp>
          </p:grpSp>
          <p:grpSp>
            <p:nvGrpSpPr>
              <p:cNvPr id="37" name="Group 37"/>
              <p:cNvGrpSpPr/>
              <p:nvPr/>
            </p:nvGrpSpPr>
            <p:grpSpPr>
              <a:xfrm>
                <a:off x="6477000" y="4762500"/>
                <a:ext cx="1524000" cy="1143000"/>
                <a:chOff x="6477000" y="4762500"/>
                <a:chExt cx="1524000" cy="1143000"/>
              </a:xfrm>
            </p:grpSpPr>
            <p:sp>
              <p:nvSpPr>
                <p:cNvPr id="33" name="Rectangle 33"/>
                <p:cNvSpPr/>
                <p:nvPr/>
              </p:nvSpPr>
              <p:spPr>
                <a:xfrm>
                  <a:off x="6477000" y="4762500"/>
                  <a:ext cx="1524000" cy="1143000"/>
                </a:xfrm>
                <a:prstGeom prst="rect">
                  <a:avLst/>
                </a:prstGeom>
                <a:solidFill>
                  <a:srgbClr val="1A1A18"/>
                </a:solidFill>
                <a:ln w="19050">
                  <a:solidFill>
                    <a:srgbClr val="282826"/>
                  </a:solidFill>
                </a:ln>
              </p:spPr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7067193" y="5022056"/>
                  <a:ext cx="343614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b="1" dirty="0">
                      <a:solidFill>
                        <a:srgbClr val="E85D26"/>
                      </a:solidFill>
                      <a:latin typeface="Arial Black"/>
                      <a:ea typeface="Microsoft YaHei"/>
                      <a:cs typeface="Arial Black"/>
                    </a:rPr>
                    <a:t>校准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6901577" y="5323999"/>
                  <a:ext cx="674846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dirty="0">
                      <a:solidFill>
                        <a:srgbClr val="F0ECE5"/>
                      </a:solidFill>
                      <a:latin typeface="Arial"/>
                      <a:ea typeface="Microsoft YaHei"/>
                      <a:cs typeface="Arial"/>
                    </a:rPr>
                    <a:t>采购节奏与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6966585" y="5562124"/>
                  <a:ext cx="544830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dirty="0">
                      <a:solidFill>
                        <a:srgbClr val="F0ECE5"/>
                      </a:solidFill>
                      <a:latin typeface="Arial"/>
                      <a:ea typeface="Microsoft YaHei"/>
                      <a:cs typeface="Arial"/>
                    </a:rPr>
                    <a:t>库存策略</a:t>
                  </a:r>
                </a:p>
              </p:txBody>
            </p:sp>
          </p:grpSp>
        </p:grpSp>
      </p:grpSp>
      <p:grpSp>
        <p:nvGrpSpPr>
          <p:cNvPr id="46" name="Group 46"/>
          <p:cNvGrpSpPr/>
          <p:nvPr/>
        </p:nvGrpSpPr>
        <p:grpSpPr>
          <a:xfrm>
            <a:off x="8763000" y="4000500"/>
            <a:ext cx="2857500" cy="1905000"/>
            <a:chOff x="8763000" y="4000500"/>
            <a:chExt cx="2857500" cy="1905000"/>
          </a:xfrm>
        </p:grpSpPr>
        <p:sp>
          <p:nvSpPr>
            <p:cNvPr id="40" name="Rectangle 40"/>
            <p:cNvSpPr/>
            <p:nvPr/>
          </p:nvSpPr>
          <p:spPr>
            <a:xfrm>
              <a:off x="8763000" y="4000500"/>
              <a:ext cx="2857500" cy="1905000"/>
            </a:xfrm>
            <a:prstGeom prst="rect">
              <a:avLst/>
            </a:prstGeom>
            <a:solidFill>
              <a:srgbClr val="1A1A18"/>
            </a:solidFill>
            <a:ln w="28575">
              <a:solidFill>
                <a:srgbClr val="E85D2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938260" y="4299585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5D26"/>
                  </a:solidFill>
                  <a:latin typeface="Arial Black"/>
                  <a:ea typeface="Microsoft YaHei"/>
                  <a:cs typeface="Arial Black"/>
                </a:rPr>
                <a:t>执行优先级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940165" y="4696778"/>
              <a:ext cx="11258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⚡ 立即：保险审查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40165" y="4982528"/>
              <a:ext cx="11258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⚡ 本周：成本监测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40165" y="5268278"/>
              <a:ext cx="11258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⚡ 月内：采购校准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942070" y="5617845"/>
              <a:ext cx="9229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82826"/>
                  </a:solidFill>
                  <a:latin typeface="Arial Black"/>
                  <a:ea typeface="Microsoft YaHei"/>
                  <a:cs typeface="Arial Black"/>
                </a:rPr>
                <a:t>截至2026.06.24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2026-06-24T13:07:50Z</dcterms:created>
  <dcterms:modified xsi:type="dcterms:W3CDTF">2026-06-24T13:07:50Z</dcterms:modified>
  <cp:category/>
  <cp:contentStatus/>
</cp:coreProperties>
</file>