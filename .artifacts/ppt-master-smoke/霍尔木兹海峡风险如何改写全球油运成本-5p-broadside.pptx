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霍尔木兹海峡已从单点通道变成全球油运风险定…</a:t>
            </a:r>
          </a:p>
          <a:p>
            <a:endParaRPr lang="en-US" dirty="0"/>
          </a:p>
          <a:p>
            <a:r>
              <a:rPr lang="zh-CN" dirty="0"/>
              <a:t>真正抬升成本的不是一次性停航，而是保险、备航和库存预期被同步改写。</a:t>
            </a:r>
          </a:p>
          <a:p>
            <a:endParaRPr lang="en-US" dirty="0"/>
          </a:p>
          <a:p>
            <a:r>
              <a:rPr lang="zh-CN" dirty="0"/>
              <a:t>• 保费前置抬升</a:t>
            </a:r>
          </a:p>
          <a:p>
            <a:r>
              <a:rPr lang="zh-CN" dirty="0"/>
              <a:t>• 备航时间拉长</a:t>
            </a:r>
          </a:p>
          <a:p>
            <a:r>
              <a:rPr lang="zh-CN" dirty="0"/>
              <a:t>• 库存策略前移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先看卡口现状，再看保费外溢、替代航线、买方…</a:t>
            </a:r>
          </a:p>
          <a:p>
            <a:endParaRPr lang="en-US" dirty="0"/>
          </a:p>
          <a:p>
            <a:r>
              <a:rPr lang="zh-CN" dirty="0"/>
              <a:t>这不是单纯的地缘事件复述，而是围绕运输成本、交付节奏与采购响应的结构化拆解。</a:t>
            </a:r>
          </a:p>
          <a:p>
            <a:endParaRPr lang="en-US" dirty="0"/>
          </a:p>
          <a:p>
            <a:r>
              <a:rPr lang="zh-CN" dirty="0"/>
              <a:t>• 卡口现状</a:t>
            </a:r>
          </a:p>
          <a:p>
            <a:r>
              <a:rPr lang="zh-CN" dirty="0"/>
              <a:t>• 保费外溢</a:t>
            </a:r>
          </a:p>
          <a:p>
            <a:r>
              <a:rPr lang="zh-CN" dirty="0"/>
              <a:t>• 替代航线</a:t>
            </a:r>
          </a:p>
          <a:p>
            <a:r>
              <a:rPr lang="zh-CN" dirty="0"/>
              <a:t>• 买方暴露</a:t>
            </a:r>
          </a:p>
          <a:p>
            <a:r>
              <a:rPr lang="zh-CN" dirty="0"/>
              <a:t>• 行动顺序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现货油轮与长期合同买家面对的不是同一种…</a:t>
            </a:r>
          </a:p>
          <a:p>
            <a:endParaRPr lang="en-US" dirty="0"/>
          </a:p>
          <a:p>
            <a:r>
              <a:rPr lang="zh-CN" dirty="0"/>
              <a:t>风险上升后，最先抬升的是现货油轮的保费和等待时间，而长期合同买家更依赖…</a:t>
            </a:r>
          </a:p>
          <a:p>
            <a:endParaRPr lang="en-US" dirty="0"/>
          </a:p>
          <a:p>
            <a:r>
              <a:rPr lang="zh-CN" dirty="0"/>
              <a:t>• 现货油轮先暴露</a:t>
            </a:r>
          </a:p>
          <a:p>
            <a:r>
              <a:rPr lang="zh-CN" dirty="0"/>
              <a:t>• 长期合同靠库存对冲</a:t>
            </a:r>
          </a:p>
          <a:p>
            <a:r>
              <a:rPr lang="zh-CN" dirty="0"/>
              <a:t>• 采购节奏被迫前移</a:t>
            </a:r>
          </a:p>
          <a:p>
            <a:r>
              <a:rPr lang="zh-CN" dirty="0"/>
              <a:t>• 现金流压力分化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替代航线不是免费选项，时间成本和保险成…</a:t>
            </a:r>
          </a:p>
          <a:p>
            <a:endParaRPr lang="en-US" dirty="0"/>
          </a:p>
          <a:p>
            <a:r>
              <a:rPr lang="zh-CN" dirty="0"/>
              <a:t>一旦绕航成为现实选项，企业面对的不只是更长里程，而是更复杂的船期、…</a:t>
            </a:r>
          </a:p>
          <a:p>
            <a:endParaRPr lang="en-US" dirty="0"/>
          </a:p>
          <a:p>
            <a:r>
              <a:rPr lang="zh-CN" dirty="0"/>
              <a:t>• 绕航拉长交付周期</a:t>
            </a:r>
          </a:p>
          <a:p>
            <a:r>
              <a:rPr lang="zh-CN" dirty="0"/>
              <a:t>• 保险与燃油同步上升</a:t>
            </a:r>
          </a:p>
          <a:p>
            <a:r>
              <a:rPr lang="zh-CN" dirty="0"/>
              <a:t>• 下游安全库存被迫提高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应急动作必须先锁油运，再看炼厂与下游库存</a:t>
            </a:r>
          </a:p>
          <a:p>
            <a:endParaRPr lang="en-US" dirty="0"/>
          </a:p>
          <a:p>
            <a:r>
              <a:rPr lang="zh-CN" dirty="0"/>
              <a:t>处置顺序错误会让运输问题迅速转化成采购和现金流问题，因此应急决策必…</a:t>
            </a:r>
          </a:p>
          <a:p>
            <a:endParaRPr lang="en-US" dirty="0"/>
          </a:p>
          <a:p>
            <a:r>
              <a:rPr lang="zh-CN" dirty="0"/>
              <a:t>• 先锁定船期</a:t>
            </a:r>
          </a:p>
          <a:p>
            <a:r>
              <a:rPr lang="zh-CN" dirty="0"/>
              <a:t>• 再重排库存</a:t>
            </a:r>
          </a:p>
          <a:p>
            <a:r>
              <a:rPr lang="zh-CN" dirty="0"/>
              <a:t>• 最后调整采购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52450" y="552450"/>
            <a:ext cx="11087100" cy="5753100"/>
          </a:xfrm>
          <a:custGeom>
            <a:avLst/>
            <a:gdLst/>
            <a:ahLst/>
            <a:cxnLst/>
            <a:rect l="l" t="t" r="r" b="b"/>
            <a:pathLst>
              <a:path w="11087100" h="5753100">
                <a:moveTo>
                  <a:pt x="228600" y="0"/>
                </a:moveTo>
                <a:lnTo>
                  <a:pt x="10858500" y="0"/>
                </a:lnTo>
                <a:cubicBezTo>
                  <a:pt x="10984752" y="0"/>
                  <a:pt x="11087100" y="102348"/>
                  <a:pt x="11087100" y="228600"/>
                </a:cubicBezTo>
                <a:lnTo>
                  <a:pt x="11087100" y="5524500"/>
                </a:lnTo>
                <a:cubicBezTo>
                  <a:pt x="11087100" y="5650752"/>
                  <a:pt x="10984752" y="5753100"/>
                  <a:pt x="10858500" y="5753100"/>
                </a:cubicBezTo>
                <a:lnTo>
                  <a:pt x="228600" y="5753100"/>
                </a:lnTo>
                <a:cubicBezTo>
                  <a:pt x="102348" y="5753100"/>
                  <a:pt x="0" y="5650752"/>
                  <a:pt x="0" y="55245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1E5D8"/>
          </a:solidFill>
          <a:ln w="28575">
            <a:solidFill>
              <a:srgbClr val="5F4B4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55345" y="9648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436"/>
                </a:solidFill>
                <a:latin typeface="Arial"/>
                <a:ea typeface="Microsoft YaHei"/>
                <a:cs typeface="Arial"/>
              </a:rPr>
              <a:t>测试用例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295" y="1698308"/>
            <a:ext cx="958474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霍尔木兹海峡已从单点通道变成全球油运风险定…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345" y="2603182"/>
            <a:ext cx="73028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真正抬升成本的不是一次性停航，而是保险、备航和库存预期被同步改写。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571875"/>
            <a:ext cx="42686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• 保费前置抬升 • 备航时间拉长 • 库存策略前移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52450" y="552450"/>
            <a:ext cx="11087100" cy="5753100"/>
          </a:xfrm>
          <a:custGeom>
            <a:avLst/>
            <a:gdLst/>
            <a:ahLst/>
            <a:cxnLst/>
            <a:rect l="l" t="t" r="r" b="b"/>
            <a:pathLst>
              <a:path w="11087100" h="5753100">
                <a:moveTo>
                  <a:pt x="228600" y="0"/>
                </a:moveTo>
                <a:lnTo>
                  <a:pt x="10858500" y="0"/>
                </a:lnTo>
                <a:cubicBezTo>
                  <a:pt x="10984752" y="0"/>
                  <a:pt x="11087100" y="102348"/>
                  <a:pt x="11087100" y="228600"/>
                </a:cubicBezTo>
                <a:lnTo>
                  <a:pt x="11087100" y="5524500"/>
                </a:lnTo>
                <a:cubicBezTo>
                  <a:pt x="11087100" y="5650752"/>
                  <a:pt x="10984752" y="5753100"/>
                  <a:pt x="10858500" y="5753100"/>
                </a:cubicBezTo>
                <a:lnTo>
                  <a:pt x="228600" y="5753100"/>
                </a:lnTo>
                <a:cubicBezTo>
                  <a:pt x="102348" y="5753100"/>
                  <a:pt x="0" y="5650752"/>
                  <a:pt x="0" y="55245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1E5D8"/>
          </a:solidFill>
          <a:ln w="28575">
            <a:solidFill>
              <a:srgbClr val="5F4B4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55345" y="9648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436"/>
                </a:solidFill>
                <a:latin typeface="Arial"/>
                <a:ea typeface="Microsoft YaHei"/>
                <a:cs typeface="Arial"/>
              </a:rPr>
              <a:t>测试用例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295" y="1698308"/>
            <a:ext cx="958474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先看卡口现状，再看保费外溢、替代航线、买方…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345" y="2603182"/>
            <a:ext cx="84029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这不是单纯的地缘事件复述，而是围绕运输成本、交付节奏与采购响应的结构化拆解。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571875"/>
            <a:ext cx="51287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• 卡口现状 • 保费外溢 • 替代航线 • 买方暴露 • 行动顺序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52450" y="552450"/>
            <a:ext cx="11087100" cy="5753100"/>
          </a:xfrm>
          <a:custGeom>
            <a:avLst/>
            <a:gdLst/>
            <a:ahLst/>
            <a:cxnLst/>
            <a:rect l="l" t="t" r="r" b="b"/>
            <a:pathLst>
              <a:path w="11087100" h="5753100">
                <a:moveTo>
                  <a:pt x="228600" y="0"/>
                </a:moveTo>
                <a:lnTo>
                  <a:pt x="10858500" y="0"/>
                </a:lnTo>
                <a:cubicBezTo>
                  <a:pt x="10984752" y="0"/>
                  <a:pt x="11087100" y="102348"/>
                  <a:pt x="11087100" y="228600"/>
                </a:cubicBezTo>
                <a:lnTo>
                  <a:pt x="11087100" y="5524500"/>
                </a:lnTo>
                <a:cubicBezTo>
                  <a:pt x="11087100" y="5650752"/>
                  <a:pt x="10984752" y="5753100"/>
                  <a:pt x="10858500" y="5753100"/>
                </a:cubicBezTo>
                <a:lnTo>
                  <a:pt x="228600" y="5753100"/>
                </a:lnTo>
                <a:cubicBezTo>
                  <a:pt x="102348" y="5753100"/>
                  <a:pt x="0" y="5650752"/>
                  <a:pt x="0" y="55245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1E5D8"/>
          </a:solidFill>
          <a:ln w="28575">
            <a:solidFill>
              <a:srgbClr val="5F4B4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55345" y="9648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436"/>
                </a:solidFill>
                <a:latin typeface="Arial"/>
                <a:ea typeface="Microsoft YaHei"/>
                <a:cs typeface="Arial"/>
              </a:rPr>
              <a:t>测试用例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295" y="1698308"/>
            <a:ext cx="870263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现货油轮与长期合同买家面对的不是同一种…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345" y="2603182"/>
            <a:ext cx="78638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风险上升后，最先抬升的是现货油轮的保费和等待时间，而长期合同买家更依赖…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571875"/>
            <a:ext cx="70989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• 现货油轮先暴露 • 长期合同靠库存对冲 • 采购节奏被迫前移 • 现金流压力分化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52450" y="552450"/>
            <a:ext cx="11087100" cy="5753100"/>
          </a:xfrm>
          <a:custGeom>
            <a:avLst/>
            <a:gdLst/>
            <a:ahLst/>
            <a:cxnLst/>
            <a:rect l="l" t="t" r="r" b="b"/>
            <a:pathLst>
              <a:path w="11087100" h="5753100">
                <a:moveTo>
                  <a:pt x="228600" y="0"/>
                </a:moveTo>
                <a:lnTo>
                  <a:pt x="10858500" y="0"/>
                </a:lnTo>
                <a:cubicBezTo>
                  <a:pt x="10984752" y="0"/>
                  <a:pt x="11087100" y="102348"/>
                  <a:pt x="11087100" y="228600"/>
                </a:cubicBezTo>
                <a:lnTo>
                  <a:pt x="11087100" y="5524500"/>
                </a:lnTo>
                <a:cubicBezTo>
                  <a:pt x="11087100" y="5650752"/>
                  <a:pt x="10984752" y="5753100"/>
                  <a:pt x="10858500" y="5753100"/>
                </a:cubicBezTo>
                <a:lnTo>
                  <a:pt x="228600" y="5753100"/>
                </a:lnTo>
                <a:cubicBezTo>
                  <a:pt x="102348" y="5753100"/>
                  <a:pt x="0" y="5650752"/>
                  <a:pt x="0" y="55245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1E5D8"/>
          </a:solidFill>
          <a:ln w="28575">
            <a:solidFill>
              <a:srgbClr val="5F4B4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55345" y="9648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436"/>
                </a:solidFill>
                <a:latin typeface="Arial"/>
                <a:ea typeface="Microsoft YaHei"/>
                <a:cs typeface="Arial"/>
              </a:rPr>
              <a:t>测试用例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295" y="1698308"/>
            <a:ext cx="870263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替代航线不是免费选项，时间成本和保险成…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345" y="2603182"/>
            <a:ext cx="742383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一旦绕航成为现实选项，企业面对的不只是更长里程，而是更复杂的船期、…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571875"/>
            <a:ext cx="60688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• 绕航拉长交付周期 • 保险与燃油同步上升 • 下游安全库存被迫提高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F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52450" y="552450"/>
            <a:ext cx="11087100" cy="5753100"/>
          </a:xfrm>
          <a:custGeom>
            <a:avLst/>
            <a:gdLst/>
            <a:ahLst/>
            <a:cxnLst/>
            <a:rect l="l" t="t" r="r" b="b"/>
            <a:pathLst>
              <a:path w="11087100" h="5753100">
                <a:moveTo>
                  <a:pt x="228600" y="0"/>
                </a:moveTo>
                <a:lnTo>
                  <a:pt x="10858500" y="0"/>
                </a:lnTo>
                <a:cubicBezTo>
                  <a:pt x="10984752" y="0"/>
                  <a:pt x="11087100" y="102348"/>
                  <a:pt x="11087100" y="228600"/>
                </a:cubicBezTo>
                <a:lnTo>
                  <a:pt x="11087100" y="5524500"/>
                </a:lnTo>
                <a:cubicBezTo>
                  <a:pt x="11087100" y="5650752"/>
                  <a:pt x="10984752" y="5753100"/>
                  <a:pt x="10858500" y="5753100"/>
                </a:cubicBezTo>
                <a:lnTo>
                  <a:pt x="228600" y="5753100"/>
                </a:lnTo>
                <a:cubicBezTo>
                  <a:pt x="102348" y="5753100"/>
                  <a:pt x="0" y="5650752"/>
                  <a:pt x="0" y="55245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1E5D8"/>
          </a:solidFill>
          <a:ln w="28575">
            <a:solidFill>
              <a:srgbClr val="5F4B4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55345" y="9648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436"/>
                </a:solidFill>
                <a:latin typeface="Arial"/>
                <a:ea typeface="Microsoft YaHei"/>
                <a:cs typeface="Arial"/>
              </a:rPr>
              <a:t>测试用例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295" y="1698308"/>
            <a:ext cx="890111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应急动作必须先锁油运，再看炼厂与下游库存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345" y="2603182"/>
            <a:ext cx="742383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处置顺序错误会让运输问题迅速转化成采购和现金流问题，因此应急决策必…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571875"/>
            <a:ext cx="3868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71312"/>
                </a:solidFill>
                <a:latin typeface="Arial"/>
                <a:ea typeface="Microsoft YaHei"/>
                <a:cs typeface="Arial"/>
              </a:rPr>
              <a:t>• 先锁定船期 • 再重排库存 • 最后调整采购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2026-06-24T03:21:13Z</dcterms:created>
  <dcterms:modified xsi:type="dcterms:W3CDTF">2026-06-24T03:21:13Z</dcterms:modified>
  <cp:category/>
  <cp:contentStatus/>
</cp:coreProperties>
</file>