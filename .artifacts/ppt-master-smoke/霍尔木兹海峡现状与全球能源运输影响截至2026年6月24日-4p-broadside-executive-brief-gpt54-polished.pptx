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霍尔木兹海峡重开，不等于风险退场</a:t>
            </a:r>
          </a:p>
          <a:p>
            <a:endParaRPr lang="en-US" dirty="0"/>
          </a:p>
          <a:p>
            <a:r>
              <a:rPr lang="zh-CN" dirty="0"/>
              <a:t>截至2026年6月24日，通航已重启，但真正进入决策面的，是高成本、高波动与高不确…</a:t>
            </a:r>
          </a:p>
          <a:p>
            <a:endParaRPr lang="en-US" dirty="0"/>
          </a:p>
          <a:p>
            <a:r>
              <a:rPr lang="zh-CN" dirty="0"/>
              <a:t>• 管理层判断已从“会不会断”…</a:t>
            </a:r>
          </a:p>
          <a:p>
            <a:r>
              <a:rPr lang="zh-CN" dirty="0"/>
              <a:t>• 全球约五分之一海运原油仍押…</a:t>
            </a:r>
          </a:p>
          <a:p>
            <a:r>
              <a:rPr lang="zh-CN" dirty="0"/>
              <a:t>• 恢复的是船流，未恢复的是定…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本次只看五件大事</a:t>
            </a:r>
          </a:p>
          <a:p>
            <a:endParaRPr lang="en-US" dirty="0"/>
          </a:p>
          <a:p>
            <a:r>
              <a:rPr lang="zh-CN" dirty="0"/>
              <a:t>这不是新闻复盘，而是一次关于利润、交付与供应安全的管理层告示。</a:t>
            </a:r>
          </a:p>
          <a:p>
            <a:endParaRPr lang="en-US" dirty="0"/>
          </a:p>
          <a:p>
            <a:r>
              <a:rPr lang="zh-CN" dirty="0"/>
              <a:t>• 海峡恢复通航，但安全与控制安排仍未…</a:t>
            </a:r>
          </a:p>
          <a:p>
            <a:r>
              <a:rPr lang="zh-CN" dirty="0"/>
              <a:t>• 核心问题不再是封不封，而是恢复能否…</a:t>
            </a:r>
          </a:p>
          <a:p>
            <a:r>
              <a:rPr lang="zh-CN" dirty="0"/>
              <a:t>• 油轮、LNG船与相关保险条款仍高于…</a:t>
            </a:r>
          </a:p>
          <a:p>
            <a:r>
              <a:rPr lang="zh-CN" dirty="0"/>
              <a:t>• 运价、战险与替代航线成本同步传导至…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断航风险缓了，成本风险坐实了</a:t>
            </a:r>
          </a:p>
          <a:p>
            <a:endParaRPr lang="en-US" dirty="0"/>
          </a:p>
          <a:p>
            <a:r>
              <a:rPr lang="zh-CN" dirty="0"/>
              <a:t>霍尔木兹海峡的当下结论很明确：物理通道恢复，不代表…</a:t>
            </a:r>
          </a:p>
          <a:p>
            <a:endParaRPr lang="en-US" dirty="0"/>
          </a:p>
          <a:p>
            <a:r>
              <a:rPr lang="zh-CN" dirty="0"/>
              <a:t>• 数字信号：全球约20%…</a:t>
            </a:r>
          </a:p>
          <a:p>
            <a:r>
              <a:rPr lang="zh-CN" dirty="0"/>
              <a:t>• 风险链条：新的军事摩擦…</a:t>
            </a:r>
          </a:p>
          <a:p>
            <a:r>
              <a:rPr lang="zh-CN" dirty="0"/>
              <a:t>• 经营含义：库存会更保守…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现在就执行三道布防</a:t>
            </a:r>
          </a:p>
          <a:p>
            <a:endParaRPr lang="en-US" dirty="0"/>
          </a:p>
          <a:p>
            <a:r>
              <a:rPr lang="zh-CN" dirty="0"/>
              <a:t>下一步不是等待局势平静，而是把高波动运输环境当…</a:t>
            </a:r>
          </a:p>
          <a:p>
            <a:endParaRPr lang="en-US" dirty="0"/>
          </a:p>
          <a:p>
            <a:r>
              <a:rPr lang="zh-CN" dirty="0"/>
              <a:t>• 立即重估海运、LNG与…</a:t>
            </a:r>
          </a:p>
          <a:p>
            <a:r>
              <a:rPr lang="zh-CN" dirty="0"/>
              <a:t>• 上调安全库存与到港缓冲…</a:t>
            </a:r>
          </a:p>
          <a:p>
            <a:r>
              <a:rPr lang="zh-CN" dirty="0"/>
              <a:t>• 准备改道与替代来源清单…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61950" y="342900"/>
              <a:ext cx="11468100" cy="61722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514350" y="495300"/>
              <a:ext cx="11163300" cy="5867400"/>
            </a:xfrm>
            <a:prstGeom prst="rect">
              <a:avLst/>
            </a:prstGeom>
            <a:noFill/>
            <a:ln w="9525">
              <a:solidFill>
                <a:srgbClr val="28282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191500" y="0"/>
              <a:ext cx="4000500" cy="68580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943850" y="0"/>
              <a:ext cx="17145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5562600"/>
              <a:ext cx="12192000" cy="1295400"/>
            </a:xfrm>
            <a:prstGeom prst="rect">
              <a:avLst/>
            </a:prstGeom>
            <a:solidFill>
              <a:srgbClr val="15151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5486400"/>
              <a:ext cx="12192000" cy="762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914400" y="14478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38100">
              <a:solidFill>
                <a:srgbClr val="E85D2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14400" y="4629150"/>
              <a:ext cx="6819900" cy="9525"/>
            </a:xfrm>
            <a:custGeom>
              <a:avLst/>
              <a:gdLst/>
              <a:ahLst/>
              <a:cxnLst/>
              <a:rect l="l" t="t" r="r" b="b"/>
              <a:pathLst>
                <a:path w="6819900" h="9525">
                  <a:moveTo>
                    <a:pt x="0" y="0"/>
                  </a:moveTo>
                  <a:lnTo>
                    <a:pt x="68199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610600" y="14478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610600" y="44577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89635" y="684848"/>
            <a:ext cx="10401300" cy="5625464"/>
            <a:chOff x="889635" y="684848"/>
            <a:chExt cx="10401300" cy="5625464"/>
          </a:xfrm>
        </p:grpSpPr>
        <p:sp>
          <p:nvSpPr>
            <p:cNvPr id="15" name="TextBox 15"/>
            <p:cNvSpPr txBox="1"/>
            <p:nvPr/>
          </p:nvSpPr>
          <p:spPr>
            <a:xfrm>
              <a:off x="889635" y="6848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大字报头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1426" y="749618"/>
              <a:ext cx="6675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7255" y="5816918"/>
              <a:ext cx="32476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霍尔木兹海峡现状与全球能源运输影响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1065" y="6096952"/>
              <a:ext cx="1327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E8A84"/>
                  </a:solidFill>
                  <a:latin typeface="Arial"/>
                  <a:ea typeface="Microsoft YaHei"/>
                  <a:cs typeface="Arial"/>
                </a:rPr>
                <a:t>截至2026年6月24日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43875" y="6096952"/>
              <a:ext cx="747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8E8A84"/>
                  </a:solidFill>
                  <a:latin typeface="Arial"/>
                  <a:ea typeface="Arial"/>
                  <a:cs typeface="Arial"/>
                </a:rPr>
                <a:t>BROADSIDE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43915" y="1553528"/>
            <a:ext cx="11997299" cy="4428172"/>
            <a:chOff x="843915" y="1553528"/>
            <a:chExt cx="11997299" cy="4428172"/>
          </a:xfrm>
        </p:grpSpPr>
        <p:sp>
          <p:nvSpPr>
            <p:cNvPr id="21" name="TextBox 21"/>
            <p:cNvSpPr txBox="1"/>
            <p:nvPr/>
          </p:nvSpPr>
          <p:spPr>
            <a:xfrm>
              <a:off x="843915" y="1553528"/>
              <a:ext cx="7134844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霍尔木兹海峡重开，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3915" y="2372678"/>
              <a:ext cx="5580650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5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不等于风险退场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6780" y="3449955"/>
              <a:ext cx="765419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截至2026年6月24日，通航已重启，但真正进入决策面的，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780" y="3811905"/>
              <a:ext cx="44638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是高成本、高波动与高不确定性。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610600" y="1752600"/>
              <a:ext cx="2628900" cy="7239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5858" y="1919764"/>
              <a:ext cx="11838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POST-REOPEN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51570" y="210312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111"/>
                  </a:solidFill>
                  <a:latin typeface="Arial Black"/>
                  <a:ea typeface="Microsoft YaHei"/>
                  <a:cs typeface="Arial Black"/>
                </a:rPr>
                <a:t>风险没有出场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87740" y="273939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管理层判断已从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76310" y="2966085"/>
              <a:ext cx="19966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5D26"/>
                  </a:solidFill>
                  <a:latin typeface="Arial Black"/>
                  <a:ea typeface="Microsoft YaHei"/>
                  <a:cs typeface="Arial Black"/>
                </a:rPr>
                <a:t>“会不会断”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87740" y="34061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转向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76310" y="3651885"/>
              <a:ext cx="42649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0ECE5"/>
                  </a:solidFill>
                  <a:latin typeface="Arial Black"/>
                  <a:ea typeface="Microsoft YaHei"/>
                  <a:cs typeface="Arial Black"/>
                </a:rPr>
                <a:t>“要为多久的贵与乱买单”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610600" y="4857750"/>
              <a:ext cx="2628900" cy="112395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1095" y="50034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全球约五分之一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61095" y="53082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海运原油仍押注此处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61095" y="5632132"/>
              <a:ext cx="3045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恢复的是船流，不是定价秩序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4400" y="800100"/>
            <a:ext cx="7848600" cy="5257800"/>
            <a:chOff x="914400" y="800100"/>
            <a:chExt cx="7848600" cy="5257800"/>
          </a:xfrm>
        </p:grpSpPr>
        <p:sp>
          <p:nvSpPr>
            <p:cNvPr id="37" name="Rectangle 37"/>
            <p:cNvSpPr/>
            <p:nvPr/>
          </p:nvSpPr>
          <p:spPr>
            <a:xfrm>
              <a:off x="914400" y="4972050"/>
              <a:ext cx="247650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87755" y="5121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判断切换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5850" y="54006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断航概率回落，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5850" y="563880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但成本中枢抬升。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00450" y="4972050"/>
              <a:ext cx="247650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73805" y="5121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运输现实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71900" y="54006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恢复的是船流，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71900" y="563880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未恢复的是定价锚。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86500" y="4972050"/>
              <a:ext cx="247650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59855" y="5121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一线结论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57950" y="54006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重开不是清零，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57950" y="563880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只是风险换形态。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115300" y="800100"/>
              <a:ext cx="9525" cy="5257800"/>
            </a:xfrm>
            <a:custGeom>
              <a:avLst/>
              <a:gdLst/>
              <a:ahLst/>
              <a:cxnLst/>
              <a:rect l="l" t="t" r="r" b="b"/>
              <a:pathLst>
                <a:path w="9525" h="5257800">
                  <a:moveTo>
                    <a:pt x="0" y="0"/>
                  </a:moveTo>
                  <a:lnTo>
                    <a:pt x="0" y="52578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905750" y="2076450"/>
              <a:ext cx="152400" cy="1524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905750" y="3200400"/>
              <a:ext cx="152400" cy="1524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905750" y="5334000"/>
              <a:ext cx="152400" cy="1524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0F0F"/>
                </a:gs>
                <a:gs pos="100000">
                  <a:srgbClr val="16151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5D26">
                    <a:alpha val="16000"/>
                  </a:srgbClr>
                </a:gs>
                <a:gs pos="100000">
                  <a:srgbClr val="E85D2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71450" y="171450"/>
              <a:ext cx="11849100" cy="6515100"/>
            </a:xfrm>
            <a:prstGeom prst="rect">
              <a:avLst/>
            </a:prstGeom>
            <a:noFill/>
            <a:ln w="9525">
              <a:solidFill>
                <a:srgbClr val="28282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4457700"/>
              <a:ext cx="11049000" cy="1943100"/>
            </a:xfrm>
            <a:prstGeom prst="rect">
              <a:avLst/>
            </a:prstGeom>
            <a:solidFill>
              <a:srgbClr val="141413"/>
            </a:solidFill>
            <a:ln w="19050">
              <a:solidFill>
                <a:srgbClr val="28282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4533900"/>
              <a:ext cx="2209800" cy="1866900"/>
            </a:xfrm>
            <a:prstGeom prst="rect">
              <a:avLst/>
            </a:prstGeom>
            <a:solidFill>
              <a:srgbClr val="16161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781300" y="4533900"/>
              <a:ext cx="2209800" cy="18669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991100" y="4533900"/>
              <a:ext cx="2209800" cy="1866900"/>
            </a:xfrm>
            <a:prstGeom prst="rect">
              <a:avLst/>
            </a:prstGeom>
            <a:solidFill>
              <a:srgbClr val="16161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0" y="4533900"/>
              <a:ext cx="2209800" cy="18669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410700" y="4533900"/>
              <a:ext cx="2209800" cy="1866900"/>
            </a:xfrm>
            <a:prstGeom prst="rect">
              <a:avLst/>
            </a:prstGeom>
            <a:solidFill>
              <a:srgbClr val="161615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57200" y="228600"/>
            <a:ext cx="11277600" cy="6172200"/>
            <a:chOff x="457200" y="228600"/>
            <a:chExt cx="11277600" cy="6172200"/>
          </a:xfrm>
        </p:grpSpPr>
        <p:sp>
          <p:nvSpPr>
            <p:cNvPr id="13" name="Line 13"/>
            <p:cNvSpPr/>
            <p:nvPr/>
          </p:nvSpPr>
          <p:spPr>
            <a:xfrm>
              <a:off x="457200" y="495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28600"/>
              <a:ext cx="1428750" cy="3048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6278" y="2843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11111"/>
                  </a:solidFill>
                  <a:latin typeface="Segoe UI"/>
                  <a:ea typeface="Microsoft YaHei"/>
                  <a:cs typeface="Segoe UI"/>
                </a:rPr>
                <a:t>栏目排版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61730" y="268129"/>
              <a:ext cx="77877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80" b="1" dirty="0">
                  <a:solidFill>
                    <a:srgbClr val="F0ECE5"/>
                  </a:solidFill>
                  <a:latin typeface="Segoe UI"/>
                  <a:ea typeface="Segoe UI"/>
                  <a:cs typeface="Segoe UI"/>
                </a:rPr>
                <a:t>02 / 04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781300" y="45339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91100" y="45339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200900" y="45339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410700" y="45339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4457700"/>
              <a:ext cx="11049000" cy="762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30530" y="1083945"/>
            <a:ext cx="11189970" cy="5204936"/>
            <a:chOff x="430530" y="1083945"/>
            <a:chExt cx="11189970" cy="5204936"/>
          </a:xfrm>
        </p:grpSpPr>
        <p:sp>
          <p:nvSpPr>
            <p:cNvPr id="23" name="TextBox 23"/>
            <p:cNvSpPr txBox="1"/>
            <p:nvPr/>
          </p:nvSpPr>
          <p:spPr>
            <a:xfrm>
              <a:off x="521970" y="1083945"/>
              <a:ext cx="228333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本次只看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0530" y="1583055"/>
              <a:ext cx="6964975" cy="2255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1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五件</a:t>
              </a:r>
              <a:r>
                <a:rPr lang="en-US" sz="11100" b="1" dirty="0">
                  <a:solidFill>
                    <a:srgbClr val="000000"/>
                  </a:solidFill>
                  <a:latin typeface="Segoe UI"/>
                  <a:ea typeface="Segoe UI"/>
                  <a:cs typeface="Segoe UI"/>
                </a:rPr>
                <a:t xml:space="preserve"> </a:t>
              </a:r>
              <a:r>
                <a:rPr lang="zh-CN" sz="11100" b="1" dirty="0">
                  <a:solidFill>
                    <a:srgbClr val="E85D26"/>
                  </a:solidFill>
                  <a:latin typeface="Segoe UI"/>
                  <a:ea typeface="Microsoft YaHei"/>
                  <a:cs typeface="Segoe UI"/>
                </a:rPr>
                <a:t>大事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2914650"/>
              <a:ext cx="552450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3276600"/>
              <a:ext cx="1104900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3276600"/>
              <a:ext cx="114300" cy="8763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2480" y="3430905"/>
              <a:ext cx="59340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这不是新闻复盘，而是一次关于利润、交付与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2480" y="3754755"/>
              <a:ext cx="3287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供应安全的管理层告示。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3900" y="4648200"/>
              <a:ext cx="457200" cy="2667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92" y="4692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11111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4372" y="4911566"/>
              <a:ext cx="1035677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这不是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4372" y="5273516"/>
              <a:ext cx="136121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新闻复盘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5802" y="57516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利润、交付与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5802" y="59993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供应安全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933700" y="4648200"/>
              <a:ext cx="457200" cy="2667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41192" y="4692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11111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10840" y="49682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海峡恢复通航，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10840" y="52730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但安全与控制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10840" y="5577840"/>
              <a:ext cx="11924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安排仍未…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4648200"/>
              <a:ext cx="457200" cy="2667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50992" y="4692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11111"/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20640" y="49682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核心问题不再是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20640" y="52730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封不封，而是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20640" y="5577840"/>
              <a:ext cx="11924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恢复能否…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53300" y="4648200"/>
              <a:ext cx="457200" cy="2667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60792" y="4692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11111"/>
                  </a:solidFill>
                  <a:latin typeface="Segoe UI"/>
                  <a:ea typeface="Segoe UI"/>
                  <a:cs typeface="Segoe UI"/>
                </a:rPr>
                <a:t>04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30440" y="4968240"/>
              <a:ext cx="17217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油轮、LNG船与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30440" y="52730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相关保险条款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30440" y="5577840"/>
              <a:ext cx="9404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仍高于…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563100" y="4648200"/>
              <a:ext cx="457200" cy="2667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70592" y="46929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11111"/>
                  </a:solidFill>
                  <a:latin typeface="Segoe UI"/>
                  <a:ea typeface="Segoe UI"/>
                  <a:cs typeface="Segoe UI"/>
                </a:rPr>
                <a:t>05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40240" y="49682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运价、战险与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40240" y="52730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替代航线成本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40240" y="5577840"/>
              <a:ext cx="14444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Segoe UI"/>
                  <a:ea typeface="Microsoft YaHei"/>
                  <a:cs typeface="Segoe UI"/>
                </a:rPr>
                <a:t>同步传导至…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62025" y="-228600"/>
            <a:ext cx="11733847" cy="6562725"/>
            <a:chOff x="962025" y="-228600"/>
            <a:chExt cx="11733847" cy="6562725"/>
          </a:xfrm>
        </p:grpSpPr>
        <p:sp>
          <p:nvSpPr>
            <p:cNvPr id="57" name="TextBox 57"/>
            <p:cNvSpPr txBox="1"/>
            <p:nvPr/>
          </p:nvSpPr>
          <p:spPr>
            <a:xfrm>
              <a:off x="8229600" y="-228600"/>
              <a:ext cx="4466272" cy="548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0" b="1" dirty="0">
                  <a:ln w="38100">
                    <a:solidFill>
                      <a:srgbClr val="E85D26">
                        <a:alphaMod val="18000"/>
                      </a:srgbClr>
                    </a:solidFill>
                  </a:ln>
                  <a:noFill/>
                  <a:latin typeface="Times New Roman"/>
                  <a:ea typeface="SimSun"/>
                  <a:cs typeface="Times New Roman"/>
                </a:rPr>
                <a:t>五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210300" y="2962275"/>
              <a:ext cx="3600450" cy="9525"/>
            </a:xfrm>
            <a:custGeom>
              <a:avLst/>
              <a:gdLst/>
              <a:ahLst/>
              <a:cxnLst/>
              <a:rect l="l" t="t" r="r" b="b"/>
              <a:pathLst>
                <a:path w="3600450" h="9525">
                  <a:moveTo>
                    <a:pt x="0" y="0"/>
                  </a:moveTo>
                  <a:lnTo>
                    <a:pt x="3600450" y="0"/>
                  </a:lnTo>
                </a:path>
              </a:pathLst>
            </a:custGeom>
            <a:noFill/>
            <a:ln w="19050">
              <a:solidFill>
                <a:srgbClr val="E85D2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 rot="-300000">
              <a:off x="9886950" y="2247900"/>
              <a:ext cx="1638300" cy="742950"/>
            </a:xfrm>
            <a:prstGeom prst="rect">
              <a:avLst/>
            </a:prstGeom>
            <a:noFill/>
            <a:ln w="38100">
              <a:solidFill>
                <a:srgbClr val="E85D2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 rot="-300000">
              <a:off x="9952308" y="2497107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5D26"/>
                  </a:solidFill>
                  <a:latin typeface="Segoe UI"/>
                  <a:ea typeface="Microsoft YaHei"/>
                  <a:cs typeface="Segoe UI"/>
                </a:rPr>
                <a:t>管理层告示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1009650" y="6286500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28575">
              <a:solidFill>
                <a:srgbClr val="E85D2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62025" y="6238875"/>
              <a:ext cx="9525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171825" y="6238875"/>
              <a:ext cx="9525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81625" y="6238875"/>
              <a:ext cx="9525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591425" y="6238875"/>
              <a:ext cx="9525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801225" y="6238875"/>
              <a:ext cx="9525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134725" y="6238875"/>
              <a:ext cx="95250" cy="952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533400"/>
              <a:ext cx="11125200" cy="5791200"/>
            </a:xfrm>
            <a:prstGeom prst="rect">
              <a:avLst/>
            </a:prstGeom>
            <a:noFill/>
            <a:ln w="19050">
              <a:solidFill>
                <a:srgbClr val="28282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1658600" y="0"/>
              <a:ext cx="533400" cy="68580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33400" y="1600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33400" y="4953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810500" y="1600200"/>
              <a:ext cx="9525" cy="4724400"/>
            </a:xfrm>
            <a:custGeom>
              <a:avLst/>
              <a:gdLst/>
              <a:ahLst/>
              <a:cxnLst/>
              <a:rect l="l" t="t" r="r" b="b"/>
              <a:pathLst>
                <a:path w="9525" h="4724400">
                  <a:moveTo>
                    <a:pt x="0" y="0"/>
                  </a:moveTo>
                  <a:lnTo>
                    <a:pt x="0" y="472440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64845" y="717232"/>
            <a:ext cx="10492740" cy="5497830"/>
            <a:chOff x="664845" y="717232"/>
            <a:chExt cx="10492740" cy="5497830"/>
          </a:xfrm>
        </p:grpSpPr>
        <p:sp>
          <p:nvSpPr>
            <p:cNvPr id="11" name="TextBox 11"/>
            <p:cNvSpPr txBox="1"/>
            <p:nvPr/>
          </p:nvSpPr>
          <p:spPr>
            <a:xfrm>
              <a:off x="664845" y="7172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核心宣言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0476" y="749618"/>
              <a:ext cx="6675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03 / 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25531" y="6001702"/>
              <a:ext cx="298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6F6A63"/>
                  </a:solidFill>
                  <a:latin typeface="Arial"/>
                  <a:ea typeface="Arial"/>
                  <a:cs typeface="Arial"/>
                </a:rPr>
                <a:t>HOR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58931" y="6001702"/>
              <a:ext cx="298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6F6A63"/>
                  </a:solidFill>
                  <a:latin typeface="Arial"/>
                  <a:ea typeface="Arial"/>
                  <a:cs typeface="Arial"/>
                </a:rPr>
                <a:t>MUZ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1673542"/>
            <a:ext cx="10838640" cy="4422458"/>
            <a:chOff x="533400" y="1673542"/>
            <a:chExt cx="10838640" cy="4422458"/>
          </a:xfrm>
        </p:grpSpPr>
        <p:sp>
          <p:nvSpPr>
            <p:cNvPr id="16" name="TextBox 16"/>
            <p:cNvSpPr txBox="1"/>
            <p:nvPr/>
          </p:nvSpPr>
          <p:spPr>
            <a:xfrm>
              <a:off x="630555" y="1673542"/>
              <a:ext cx="5882307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8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断航风险缓了，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9125" y="2357438"/>
              <a:ext cx="6787277" cy="1371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成本风险坐实了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990" y="3520440"/>
              <a:ext cx="6178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霍尔木兹海峡的当下结论很明确：物理通道恢复，不代表…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0" y="1866900"/>
              <a:ext cx="3067050" cy="17907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E85D2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26755" y="22355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F6A63"/>
                  </a:solidFill>
                  <a:latin typeface="Arial"/>
                  <a:ea typeface="Microsoft YaHei"/>
                  <a:cs typeface="Arial"/>
                </a:rPr>
                <a:t>主判断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4840" y="2167890"/>
              <a:ext cx="2218573" cy="158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800" b="1" dirty="0">
                  <a:solidFill>
                    <a:srgbClr val="F0ECE5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19135" y="3142298"/>
              <a:ext cx="305290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全球约五分之一海运原油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219700"/>
              <a:ext cx="342900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4855" y="5378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数字信号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9140" y="5654040"/>
              <a:ext cx="14066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全球约20%…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71950" y="5219700"/>
              <a:ext cx="342900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83405" y="5378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风险链条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77690" y="5654040"/>
              <a:ext cx="1696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新的军事摩擦…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810500" y="5219700"/>
              <a:ext cx="3429000" cy="8763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28282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21955" y="5378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经营含义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16240" y="5654040"/>
              <a:ext cx="1696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库存会更保守…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9610" y="3905250"/>
            <a:ext cx="10473690" cy="590550"/>
            <a:chOff x="689610" y="3905250"/>
            <a:chExt cx="10473690" cy="590550"/>
          </a:xfrm>
        </p:grpSpPr>
        <p:sp>
          <p:nvSpPr>
            <p:cNvPr id="33" name="Line 33"/>
            <p:cNvSpPr/>
            <p:nvPr/>
          </p:nvSpPr>
          <p:spPr>
            <a:xfrm>
              <a:off x="8096250" y="3905250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81010" y="4042410"/>
              <a:ext cx="27188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F6A63"/>
                  </a:solidFill>
                  <a:latin typeface="Arial"/>
                  <a:ea typeface="Microsoft YaHei"/>
                  <a:cs typeface="Arial"/>
                </a:rPr>
                <a:t>恢复的是通行能力，不是风险定价。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04850" y="4000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57150">
              <a:solidFill>
                <a:srgbClr val="E85D2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9610" y="4251960"/>
              <a:ext cx="3760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F6A63"/>
                  </a:solidFill>
                  <a:latin typeface="Arial"/>
                  <a:ea typeface="Microsoft YaHei"/>
                  <a:cs typeface="Arial"/>
                </a:rPr>
                <a:t>判读重心已经从“会不会封”转向“成本会抬多久”。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704850" y="685800"/>
              <a:ext cx="10782300" cy="5391150"/>
            </a:xfrm>
            <a:custGeom>
              <a:avLst/>
              <a:gdLst/>
              <a:ahLst/>
              <a:cxnLst/>
              <a:rect l="l" t="t" r="r" b="b"/>
              <a:pathLst>
                <a:path w="10782300" h="5391150">
                  <a:moveTo>
                    <a:pt x="247650" y="0"/>
                  </a:moveTo>
                  <a:lnTo>
                    <a:pt x="10534650" y="0"/>
                  </a:lnTo>
                  <a:cubicBezTo>
                    <a:pt x="10671423" y="0"/>
                    <a:pt x="10782300" y="110877"/>
                    <a:pt x="10782300" y="247650"/>
                  </a:cubicBezTo>
                  <a:lnTo>
                    <a:pt x="10782300" y="5143500"/>
                  </a:lnTo>
                  <a:cubicBezTo>
                    <a:pt x="10782300" y="5280273"/>
                    <a:pt x="10671423" y="5391150"/>
                    <a:pt x="10534650" y="5391150"/>
                  </a:cubicBezTo>
                  <a:lnTo>
                    <a:pt x="247650" y="5391150"/>
                  </a:lnTo>
                  <a:cubicBezTo>
                    <a:pt x="110877" y="5391150"/>
                    <a:pt x="0" y="5280273"/>
                    <a:pt x="0" y="51435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1A1A18">
                <a:alpha val="72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4850" y="685800"/>
              <a:ext cx="10782300" cy="5391150"/>
            </a:xfrm>
            <a:custGeom>
              <a:avLst/>
              <a:gdLst/>
              <a:ahLst/>
              <a:cxnLst/>
              <a:rect l="l" t="t" r="r" b="b"/>
              <a:pathLst>
                <a:path w="10782300" h="5391150">
                  <a:moveTo>
                    <a:pt x="247650" y="0"/>
                  </a:moveTo>
                  <a:lnTo>
                    <a:pt x="10534650" y="0"/>
                  </a:lnTo>
                  <a:cubicBezTo>
                    <a:pt x="10671423" y="0"/>
                    <a:pt x="10782300" y="110877"/>
                    <a:pt x="10782300" y="247650"/>
                  </a:cubicBezTo>
                  <a:lnTo>
                    <a:pt x="10782300" y="5143500"/>
                  </a:lnTo>
                  <a:cubicBezTo>
                    <a:pt x="10782300" y="5280273"/>
                    <a:pt x="10671423" y="5391150"/>
                    <a:pt x="10534650" y="5391150"/>
                  </a:cubicBezTo>
                  <a:lnTo>
                    <a:pt x="247650" y="5391150"/>
                  </a:lnTo>
                  <a:cubicBezTo>
                    <a:pt x="110877" y="5391150"/>
                    <a:pt x="0" y="5280273"/>
                    <a:pt x="0" y="51435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0" y="571500"/>
              <a:ext cx="1219200" cy="1219200"/>
            </a:xfrm>
            <a:prstGeom prst="ellipse">
              <a:avLst/>
            </a:prstGeom>
            <a:solidFill>
              <a:srgbClr val="E85D26">
                <a:alpha val="14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314450" y="990600"/>
              <a:ext cx="2057400" cy="95250"/>
            </a:xfrm>
            <a:prstGeom prst="rect">
              <a:avLst/>
            </a:prstGeom>
            <a:solidFill>
              <a:srgbClr val="E85D26">
                <a:alpha val="85000"/>
              </a:srgbClr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083165" y="743902"/>
            <a:ext cx="7470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0ECE5">
                    <a:alphaMod val="70000"/>
                  </a:srgbClr>
                </a:solidFill>
                <a:latin typeface="Arial"/>
                <a:ea typeface="Arial"/>
                <a:cs typeface="Arial"/>
              </a:rPr>
              <a:t>BROADSIDE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43000" y="937260"/>
            <a:ext cx="9429750" cy="4772978"/>
            <a:chOff x="1143000" y="937260"/>
            <a:chExt cx="9429750" cy="4772978"/>
          </a:xfrm>
        </p:grpSpPr>
        <p:sp>
          <p:nvSpPr>
            <p:cNvPr id="9" name="TextBox 9"/>
            <p:cNvSpPr txBox="1"/>
            <p:nvPr/>
          </p:nvSpPr>
          <p:spPr>
            <a:xfrm>
              <a:off x="1280160" y="9372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下一张告示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63015" y="13249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现在就执行三道布防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62100" y="3505200"/>
              <a:ext cx="9010650" cy="9525"/>
            </a:xfrm>
            <a:custGeom>
              <a:avLst/>
              <a:gdLst/>
              <a:ahLst/>
              <a:cxnLst/>
              <a:rect l="l" t="t" r="r" b="b"/>
              <a:pathLst>
                <a:path w="9010650" h="9525">
                  <a:moveTo>
                    <a:pt x="0" y="0"/>
                  </a:moveTo>
                  <a:lnTo>
                    <a:pt x="9010650" y="0"/>
                  </a:lnTo>
                </a:path>
              </a:pathLst>
            </a:custGeom>
            <a:noFill/>
            <a:ln w="38100">
              <a:solidFill>
                <a:srgbClr val="E85D26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143000" y="3390900"/>
              <a:ext cx="1750911" cy="1390650"/>
              <a:chOff x="1143000" y="3390900"/>
              <a:chExt cx="1750911" cy="139065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600200" y="3390900"/>
                <a:ext cx="228600" cy="228600"/>
              </a:xfrm>
              <a:prstGeom prst="ellipse">
                <a:avLst/>
              </a:prstGeom>
              <a:solidFill>
                <a:srgbClr val="E85D26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43000" y="3886200"/>
                <a:ext cx="161925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895350">
                    <a:moveTo>
                      <a:pt x="171450" y="0"/>
                    </a:moveTo>
                    <a:lnTo>
                      <a:pt x="1447800" y="0"/>
                    </a:lnTo>
                    <a:cubicBezTo>
                      <a:pt x="1542489" y="0"/>
                      <a:pt x="1619250" y="76761"/>
                      <a:pt x="1619250" y="171450"/>
                    </a:cubicBezTo>
                    <a:lnTo>
                      <a:pt x="1619250" y="723900"/>
                    </a:lnTo>
                    <a:cubicBezTo>
                      <a:pt x="1619250" y="818589"/>
                      <a:pt x="1542489" y="895350"/>
                      <a:pt x="1447800" y="895350"/>
                    </a:cubicBezTo>
                    <a:lnTo>
                      <a:pt x="171450" y="895350"/>
                    </a:lnTo>
                    <a:cubicBezTo>
                      <a:pt x="76761" y="895350"/>
                      <a:pt x="0" y="818589"/>
                      <a:pt x="0" y="7239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1A1A18"/>
              </a:solidFill>
              <a:ln w="19050">
                <a:solidFill>
                  <a:srgbClr val="28282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317308" y="4110514"/>
                <a:ext cx="157660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立即重估海运、LNG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317308" y="4320064"/>
                <a:ext cx="3090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与…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333750" y="3390900"/>
              <a:ext cx="1991916" cy="1390650"/>
              <a:chOff x="3333750" y="3390900"/>
              <a:chExt cx="1991916" cy="139065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3790950" y="3390900"/>
                <a:ext cx="228600" cy="228600"/>
              </a:xfrm>
              <a:prstGeom prst="ellipse">
                <a:avLst/>
              </a:prstGeom>
              <a:solidFill>
                <a:srgbClr val="E85D26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333750" y="3886200"/>
                <a:ext cx="161925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895350">
                    <a:moveTo>
                      <a:pt x="171450" y="0"/>
                    </a:moveTo>
                    <a:lnTo>
                      <a:pt x="1447800" y="0"/>
                    </a:lnTo>
                    <a:cubicBezTo>
                      <a:pt x="1542489" y="0"/>
                      <a:pt x="1619250" y="76761"/>
                      <a:pt x="1619250" y="171450"/>
                    </a:cubicBezTo>
                    <a:lnTo>
                      <a:pt x="1619250" y="723900"/>
                    </a:lnTo>
                    <a:cubicBezTo>
                      <a:pt x="1619250" y="818589"/>
                      <a:pt x="1542489" y="895350"/>
                      <a:pt x="1447800" y="895350"/>
                    </a:cubicBezTo>
                    <a:lnTo>
                      <a:pt x="171450" y="895350"/>
                    </a:lnTo>
                    <a:cubicBezTo>
                      <a:pt x="76761" y="895350"/>
                      <a:pt x="0" y="818589"/>
                      <a:pt x="0" y="7239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1A1A18"/>
              </a:solidFill>
              <a:ln w="19050">
                <a:solidFill>
                  <a:srgbClr val="28282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508058" y="4110514"/>
                <a:ext cx="181760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上调安全库存与到港缓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08058" y="4320064"/>
                <a:ext cx="3090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冲…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524500" y="3390900"/>
              <a:ext cx="1991916" cy="1390650"/>
              <a:chOff x="5524500" y="3390900"/>
              <a:chExt cx="1991916" cy="13906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981700" y="3390900"/>
                <a:ext cx="228600" cy="228600"/>
              </a:xfrm>
              <a:prstGeom prst="ellipse">
                <a:avLst/>
              </a:prstGeom>
              <a:solidFill>
                <a:srgbClr val="E85D26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524500" y="3886200"/>
                <a:ext cx="161925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895350">
                    <a:moveTo>
                      <a:pt x="171450" y="0"/>
                    </a:moveTo>
                    <a:lnTo>
                      <a:pt x="1447800" y="0"/>
                    </a:lnTo>
                    <a:cubicBezTo>
                      <a:pt x="1542489" y="0"/>
                      <a:pt x="1619250" y="76761"/>
                      <a:pt x="1619250" y="171450"/>
                    </a:cubicBezTo>
                    <a:lnTo>
                      <a:pt x="1619250" y="723900"/>
                    </a:lnTo>
                    <a:cubicBezTo>
                      <a:pt x="1619250" y="818589"/>
                      <a:pt x="1542489" y="895350"/>
                      <a:pt x="1447800" y="895350"/>
                    </a:cubicBezTo>
                    <a:lnTo>
                      <a:pt x="171450" y="895350"/>
                    </a:lnTo>
                    <a:cubicBezTo>
                      <a:pt x="76761" y="895350"/>
                      <a:pt x="0" y="818589"/>
                      <a:pt x="0" y="7239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1A1A18"/>
              </a:solidFill>
              <a:ln w="19050">
                <a:solidFill>
                  <a:srgbClr val="28282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698808" y="4110514"/>
                <a:ext cx="181760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准备改道与替代来源清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98808" y="4320064"/>
                <a:ext cx="3090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单…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278255" y="5435918"/>
              <a:ext cx="42738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下一步不是等待局势平静，而是把高波动运输环境当…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656570" y="6322695"/>
            <a:ext cx="220885" cy="182880"/>
            <a:chOff x="10656570" y="6322695"/>
            <a:chExt cx="220885" cy="182880"/>
          </a:xfrm>
        </p:grpSpPr>
        <p:sp>
          <p:nvSpPr>
            <p:cNvPr id="29" name="TextBox 29"/>
            <p:cNvSpPr txBox="1"/>
            <p:nvPr/>
          </p:nvSpPr>
          <p:spPr>
            <a:xfrm>
              <a:off x="10656570" y="632269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F0ECE5">
                      <a:alphaMod val="55000"/>
                    </a:srgbClr>
                  </a:solidFill>
                  <a:latin typeface="Arial"/>
                  <a:ea typeface="Arial"/>
                  <a:cs typeface="Arial"/>
                </a:rPr>
                <a:t>4/4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2026-06-24T13:53:35Z</dcterms:created>
  <dcterms:modified xsi:type="dcterms:W3CDTF">2026-06-24T13:53:35Z</dcterms:modified>
  <cp:category/>
  <cp:contentStatus/>
</cp:coreProperties>
</file>